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64" autoAdjust="0"/>
  </p:normalViewPr>
  <p:slideViewPr>
    <p:cSldViewPr snapToGrid="0" snapToObjects="1">
      <p:cViewPr varScale="1">
        <p:scale>
          <a:sx n="135" d="100"/>
          <a:sy n="135" d="100"/>
        </p:scale>
        <p:origin x="12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这次汇报分三部分：先确认 Fast-WAM Optional-IDM 的起点和两篇论文的 LIBERO 结果；再看我们自己的 LIBERO-Plus 子集与 A4 诊断；最后说明 action-sensitive weight VQ 的下一步方案。所有论文截图与本地数据分别标注来源。后面的 VQ 架构和 codebook 几何示例是 proposal，不是已完成结果。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先用</a:t>
            </a:r>
            <a:r>
              <a:rPr dirty="0"/>
              <a:t> Fast-WAM </a:t>
            </a:r>
            <a:r>
              <a:rPr dirty="0" err="1"/>
              <a:t>的独立</a:t>
            </a:r>
            <a:r>
              <a:rPr dirty="0"/>
              <a:t> </a:t>
            </a:r>
            <a:r>
              <a:rPr dirty="0" err="1"/>
              <a:t>ActionDiT</a:t>
            </a:r>
            <a:r>
              <a:rPr dirty="0"/>
              <a:t> </a:t>
            </a:r>
            <a:r>
              <a:rPr dirty="0" err="1"/>
              <a:t>做可控、范围小的</a:t>
            </a:r>
            <a:r>
              <a:rPr dirty="0"/>
              <a:t> weight VQ </a:t>
            </a:r>
            <a:r>
              <a:rPr dirty="0" err="1"/>
              <a:t>pilot。当前</a:t>
            </a:r>
            <a:r>
              <a:rPr dirty="0"/>
              <a:t> Optional-IDM </a:t>
            </a:r>
            <a:r>
              <a:rPr dirty="0" err="1"/>
              <a:t>实现分两段：先</a:t>
            </a:r>
            <a:r>
              <a:rPr dirty="0"/>
              <a:t> denoise </a:t>
            </a:r>
            <a:r>
              <a:rPr dirty="0" err="1"/>
              <a:t>video，然后将完整</a:t>
            </a:r>
            <a:r>
              <a:rPr dirty="0"/>
              <a:t> denoised video </a:t>
            </a:r>
            <a:r>
              <a:rPr dirty="0" err="1"/>
              <a:t>固定为条件，prefill</a:t>
            </a:r>
            <a:r>
              <a:rPr dirty="0"/>
              <a:t> video K/</a:t>
            </a:r>
            <a:r>
              <a:rPr dirty="0" err="1"/>
              <a:t>V，再</a:t>
            </a:r>
            <a:r>
              <a:rPr dirty="0"/>
              <a:t> denoise </a:t>
            </a:r>
            <a:r>
              <a:rPr dirty="0" err="1"/>
              <a:t>action。图按当前实现绘制，不把论文的</a:t>
            </a:r>
            <a:r>
              <a:rPr dirty="0"/>
              <a:t> first-frame-only </a:t>
            </a:r>
            <a:r>
              <a:rPr dirty="0" err="1"/>
              <a:t>快速路径混入本地</a:t>
            </a:r>
            <a:r>
              <a:rPr dirty="0"/>
              <a:t> </a:t>
            </a:r>
            <a:r>
              <a:rPr dirty="0" err="1"/>
              <a:t>Optional-IDM。第一轮</a:t>
            </a:r>
            <a:r>
              <a:rPr dirty="0"/>
              <a:t> VQ </a:t>
            </a:r>
            <a:r>
              <a:rPr dirty="0" err="1"/>
              <a:t>只改</a:t>
            </a:r>
            <a:r>
              <a:rPr dirty="0"/>
              <a:t> </a:t>
            </a:r>
            <a:r>
              <a:rPr dirty="0" err="1"/>
              <a:t>ActionDiT，video</a:t>
            </a:r>
            <a:r>
              <a:rPr dirty="0"/>
              <a:t> branch </a:t>
            </a:r>
            <a:r>
              <a:rPr dirty="0" err="1"/>
              <a:t>保留</a:t>
            </a:r>
            <a:r>
              <a:rPr dirty="0"/>
              <a:t> BF16，并不等同于前面的现有四臂联合 Linear </a:t>
            </a:r>
            <a:r>
              <a:rPr dirty="0" err="1"/>
              <a:t>量化配置</a:t>
            </a:r>
            <a:r>
              <a:rPr dirty="0"/>
              <a:t>。</a:t>
            </a:r>
          </a:p>
          <a:p>
            <a:r>
              <a:rPr dirty="0" err="1"/>
              <a:t>之后推广到</a:t>
            </a:r>
            <a:r>
              <a:rPr dirty="0"/>
              <a:t> </a:t>
            </a:r>
            <a:r>
              <a:rPr dirty="0" err="1"/>
              <a:t>LingBot</a:t>
            </a:r>
            <a:r>
              <a:rPr dirty="0"/>
              <a:t>-VA 和 </a:t>
            </a:r>
            <a:r>
              <a:rPr dirty="0" err="1"/>
              <a:t>Cosmos-Policy；共享</a:t>
            </a:r>
            <a:r>
              <a:rPr dirty="0"/>
              <a:t> backbone </a:t>
            </a:r>
            <a:r>
              <a:rPr dirty="0" err="1"/>
              <a:t>模型应称</a:t>
            </a:r>
            <a:r>
              <a:rPr dirty="0"/>
              <a:t> </a:t>
            </a:r>
            <a:r>
              <a:rPr dirty="0" err="1"/>
              <a:t>action-targeted，不能假设仍是完全独立的</a:t>
            </a:r>
            <a:r>
              <a:rPr dirty="0"/>
              <a:t> action-only </a:t>
            </a:r>
            <a:r>
              <a:rPr dirty="0" err="1"/>
              <a:t>模块</a:t>
            </a:r>
            <a:r>
              <a:rPr dirty="0"/>
              <a:t>。</a:t>
            </a:r>
          </a:p>
          <a:p>
            <a:r>
              <a:rPr dirty="0" err="1"/>
              <a:t>来源：Fast-WAM</a:t>
            </a:r>
            <a:r>
              <a:rPr dirty="0"/>
              <a:t> arXiv:2603.16666v2；本地 </a:t>
            </a:r>
            <a:r>
              <a:rPr dirty="0" err="1"/>
              <a:t>FastWAM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fastwam</a:t>
            </a:r>
            <a:r>
              <a:rPr dirty="0"/>
              <a:t>/models/wan22/</a:t>
            </a:r>
            <a:r>
              <a:rPr dirty="0" err="1"/>
              <a:t>fastwam_idm.py，Stage</a:t>
            </a:r>
            <a:r>
              <a:rPr dirty="0"/>
              <a:t> 1/2 inference implementation。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 QuantWAMs Table 1 原始截图，Fast-WAM 所在 panel。LIBERO 平均 success：FP16 97.6±0.2%，SVDQuant W4A4 73.7±0.7%，SVDQuant* 75.3±0.6%，Atom 76.2±0.7%，Atom* 82.1±0.5%，QuantWAMs 97.4±0.2%。星号行按论文用于匹配 mixed-precision budget，不能当成与另一篇完全相同的运行 recipe。论文报告 LIBERO 每个 protocol seed 2,000 episodes，3 seeds 合计 6,000；截图中的 ± 是论文报告值。Speedup 与 memory 是该论文的实验口径，不是本地结果。</a:t>
            </a:r>
          </a:p>
          <a:p>
            <a:r>
              <a:t>来源：QuantWAMs: Calibrating at the Right Granularity for World Action Models, arXiv:2607.28405v1, Table 1, PDF physical p.7。https://arxiv.org/abs/2607.28405v1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 SteerQuant Table 1 的 FastWAMJoint 部分，保留原 PDF pixels。为了可读性，zoom 从同一页拼接左侧 Precision/Method 与右侧 FastWAMJoint panel，聚焦 header 与 W4A4 rows，没有改写数字。红圈标出 SVDQuant W4A4 的 Avg 98.2%。上一页 QuantWAMs 同名 baseline 是 73.7±0.7%，mean 相差 24.5 个百分点；Atom 也存在较大差异。现阶段把它作为 cross-paper protocol alignment 问题，不能仅凭两个表宣称论文或数据有误。需要先对齐模型变体 / checkpoint、量化范围、calibration、mixed precision 和 evaluation seeds。SteerQuant caption 报告 2,000 LIBERO rollouts。</a:t>
            </a:r>
          </a:p>
          <a:p>
            <a:r>
              <a:t>来源：SteerQuant: Steering Quantization Error with Action-Guided Scaling in World-Action Models, arXiv:2609.39056v1, Table 1, PDF physical p.7。https://arxiv.org/abs/2609.39056v1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这是用户本地 frozen-checkpoint Fast-WAM Optional-IDM LIBERO-Plus 四臂闭环测量，不是 paper-reported 数值。预注册计划是 4 suites × 7 dimensions，每格 n=50，共 1,400 variants、5,600 arm episodes。最新 all-completed 聚合覆盖 78 个保留 shards、300 个 paired Spatial variants 和 1,200 个 arm episodes。总表分母每臂都是 300：BF16 243/300 (81%)，W4A8 252/300 (84%)，W4A4 与 W4A4KV4 各 0/300；两个 W4A4 臂的已完成 episode 都以 400-step control_step_timeout 结束。W4A8 对 BF16 的配对差为 +3.0 个百分点（19 个仅 W4A8 成功、10 个仅 BF16 成功）。逐维表只放有数据的 6 个 libero_spatial dimension，每格 n=50；其他 22 个 cell 在当前聚合中缺失，不要补成 0。12 个已取消 children（indices 78–89）从聚合排除。结论仅限该 observed subset，不说完整 Plus 或“所有 A4”均失败。W4A4KV4是 W4+A4+KV4 组合，没有 BF16KV4 arm，不能独立归因 KV4。</a:t>
            </a:r>
          </a:p>
          <a:p>
            <a:r>
              <a:t>现有四臂使用相同 W4 G128 weight bank 与 dynamic per-row RTN A8/A4，量化614个Linear（video/action/proprio），不是前页拟议的 ActionDiT-only VQ。Text/VAE、norm、非Linear和attention运算保持BF16。没有完整benchmark结论，也没有正式部署latency。</a:t>
            </a:r>
          </a:p>
          <a:p>
            <a:r>
              <a:t>本地来源：D:/Downloads/Final Year Project/experiment/idea-validation/fastwam-libero-plus-pilot/artifacts/25699421.pbs101/results/analysis.json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这页放两种不同分母、不同目的的 fixed-observation 证据，务必分成两个视觉区域。左侧是 all-completed 聚合中的 n=300 个 paired reset-observation 动作对比：动作块前 10 个 motor action 的 median normalized RMSE，W4A8 vs BF16 为 0.02283，W4A4 vs BF16 为 0.32219，W4A4KV4 vs BF16 为 0.32173，KV4 臂 vs W4A4 为 0.03870。该误差在闭环 rollout 之前已出现。右侧仅为 diagnose_a4 的一个 observation、四次 arm/reference 查询、0 个环境步，不计 episode：native W4A4 vs BF16 的前10 motor RMSE 为 0.2853；native 与独立 FP32 解量化参考在整个 32×7 action chunk 上 RMSE 为 0.04068；INT4 计数器增加 6,436。前10位置离散 gripper command 与 BF16 相同（0/10 flips），但连续 gripper RMSE 仍是 0.1322。诊断数组的 action位置 0–9 与10–31 motor RMSE是0.2853与0.2737；这里的 index 是 32-step action chunk 的位置，不是 10 个 diffusion denoising iterations；逐扩散步误差没有保存。W4A8与W4A4共用W4权重，分别切换A8/A4；没有W4-only或W16A4臂，所以不能把下降归结为activation或weight的单独效应。Kernel gate、native counter和FP32 reference只支持本诊断中存在真实执行且未见明显kernel实现异常，不能证明泛化精度。该 diagnose_a4 脚本标记 measure=False、timing_claim=none；其查询wall seconds不是native latency或deployment slowdown。</a:t>
            </a:r>
          </a:p>
          <a:p>
            <a:r>
              <a:t>本地来源：D:/Downloads/Final Year Project/experiment/idea-validation/fastwam-libero-plus-pilot/artifacts/25699421.pbs101/results/analysis.json</a:t>
            </a:r>
          </a:p>
          <a:p>
            <a:r>
              <a:t>本地来源：D:/Downloads/Final Year Project/experiment/idea-validation/fastwam-libero-plus-pilot/artifacts/25698767.pbs101/diagnostic/diagnose_a4.json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主要 figure 是 QuantWAMs Figure 2 原图。可按左中右说明：shared-basis calibration 只在 coordinate-compatible modules 合并activation statistics，不能随意把Q/K/V跨private streams合并；co-training-guided saliency 用joint video-action objective排序层，配置mixed precision；real-rollout counterfactual audit 用固定干预对denoising-step protection做closed-loop验证。启发是：量化误差的重要性要按系统结构与控制结果判断，不能只用activation amplitude。</a:t>
            </a:r>
          </a:p>
          <a:p>
            <a:r>
              <a:t>来源：QuantWAMs, arXiv:2607.28405v1, Figure 2。https://arxiv.org/abs/2607.28405v1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Q-WAM Figure 2 原图。AOG（Action Observability Gramian）估计layer输入误差经过后续denoising传播到最终action的敏感方向；ASP把最敏感子空间留在16-bit branch，剩余部分4-bit。图中的95% action mass/17% action-expert parameters是论文对应设置下的统计，不是所有WAM通用常数。其benchmark主要是RoboTwin与real-world，不把这篇列成Fast-WAM LIBERO表的来源。</a:t>
            </a:r>
          </a:p>
          <a:p>
            <a:r>
              <a:t>对于我们的VQ方案，action sensitivity已有先例，不能把“关注action敏感方向”单独视作novelty。下一步要验证敏感度是否能指导weight codebook，而不是机械复制一个高精度残差branch。</a:t>
            </a:r>
          </a:p>
          <a:p>
            <a:r>
              <a:t>来源：Q-WAM: 4-Bit Quantization of World Action Models with Action-Subspace Protection, arXiv:2609.33269v1, Figure 2。https://arxiv.org/abs/2609.33269v1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SteerQuant Figure 2 原图。先估计layer × denoising timestep × stream的action-impact map，再用shared-weight scaling与stream-specific activation modulation把量化误差转移到较低action-impact的stream。Online inference 的 Rudder 把 scaling、量化/反量化或output compensation与low-bit GEMM融合。它不是已实现的VQ lookup kernel，后续我们若做VQ需要设计codebook/index表示和lookup/decode/GEMM的路径。</a:t>
            </a:r>
          </a:p>
          <a:p>
            <a:r>
              <a:t>来源：SteerQuant: Steering Quantization Error with Action-Guided Scaling in World-Action Models, arXiv:2609.39056v1, Figure 2。https://arxiv.org/abs/2609.39056v1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这是待验证方案，不是实测结论。第一阶段先做weight VQ，activation维持BF16，使codebook效果可单独评估；之后再试A8/A4。SmoothQuant式D缩放与Hadamard H作用于同一个输入feature维度：若Y=XWᵀ，设X̃=XD⁻¹H、W̃=WDH，并满足D可逆、HHᵀ=I，则量化前X̃W̃ᵀ=XWᵀ。这个配对变换把缩放的负担转到weight branch，再用VQ处理变换后的weight groups。Hadamard只保证正交与norm保持，不能直接保证每个operator的outlier下降；需测activation tails、weight tails和operator placement。</a:t>
            </a:r>
          </a:p>
          <a:p>
            <a:r>
              <a:t>Action sensitivity M从calibration估计，用于偏向保护敏感方向的codebook与assignment。必须和uniform/L2 codebook在相同bit/byte预算下比较，并记录closed-loop success，避免仅看weight reconstruction MSE。图中decode是概念路径，第一轮可先做fidelity验证；performance需要packed表示与native kernel。</a:t>
            </a:r>
          </a:p>
          <a:p>
            <a:r>
              <a:t>来源：SmoothQuant https://proceedings.mlr.press/v202/xiao23c.html ; QuaRot https://papers.nips.cc/paper_files/paper/2024/hash/b5b939436789f76f08b9d0da5e81af7c-Abstract-Conference.html ; VPTQ https://aclanthology.org/2024.emnlp-main.467/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这是人工构造的二维示意图，不是实验点或论文结果。权重block w=(0,0)，两个候选codewords：c₁=(0.3,0)、c₂=(0,0.6)。普通Euclidean distortion分别为0.09与0.36，会选择c₁。设action sensitivity metric M=diag(9,1)，action-weighted distortion分别为0.81与0.36，选择c₂。尽管c₂的Euclidean距离更远，它沿更不敏感方向引入误差。椭圆表示固定action-weighted error水平集；敏感方向容许更小偏差。</a:t>
            </a:r>
          </a:p>
          <a:p>
            <a:r>
              <a:t>实际codebook需优化Σⱼ(w̃ⱼ−c_zj)ᵀMⱼ(w̃ⱼ−c_zj)。可用M≈E[JᵀJ]（J从变换后weight group到最终action的Jacobian，包含denoising），或低秩/梯度PSD proxy。逐组求和忽略cross-group terms，是local approximation。所有metric与codebook必须在同一transformed coordinates中定义。</a:t>
            </a:r>
          </a:p>
          <a:p>
            <a:r>
              <a:t>第一轮消融：L2 VQ → +D/H → +action metric，固定storage预算与paired protocol。只有weight误差小不保证控制更好；需看action fidelity和paired closed-loop outcomes。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先完成weight VQ的fidelity与closed-loop gate，再扩展：</a:t>
            </a:r>
          </a:p>
          <a:p>
            <a:r>
              <a:t>1. KV cache quantization：把K/V视为persistent activation，量化对象与weight不同。先分开测试，避免沿用A4已经崩溃时的组合臂来归因KV4。验证cache error、packed bytes与控制结果。</a:t>
            </a:r>
          </a:p>
          <a:p>
            <a:r>
              <a:t>2. Rudder-inspired VQ kernel：学习其融合思路，但重新设计codebook/index packed representation、lookup/decode、GEMM、scaling compensation以及模型集成。fake quant或离线压缩不等于native speedup；正式结论需paired native end-to-end latency与relevant fidelity。</a:t>
            </a:r>
          </a:p>
          <a:p>
            <a:r>
              <a:t>3. QAT：resource-dependent extension。已核对的QuantWAMs、Q-WAM、SteerQuant都是PTQ。当前不宣称“全球没有人做WAM QAT”或已经证明novelty。若有GPU且PTQ诊断支持，先在Fast-WAM独立ActionDiT做小范围quantization-aware codebook/weight tuning，再推广到共享模型。需要训练预算和可复现的held-out control evaluation。</a:t>
            </a:r>
          </a:p>
          <a:p>
            <a:r>
              <a:t>顺序：先数学变换和error mechanism → bounded fidelity pilot → paired closed-loop → packed/native performance。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pic>
        <p:nvPicPr>
          <p:cNvPr id="8" name="Pictur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4872762"/>
            <a:ext cx="9144000" cy="285750"/>
          </a:xfrm>
          <a:prstGeom prst="rect">
            <a:avLst/>
          </a:prstGeom>
        </p:spPr>
      </p:pic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12"/>
          <a:srcRect l="18865" t="17198"/>
          <a:stretch/>
        </p:blipFill>
        <p:spPr>
          <a:xfrm>
            <a:off x="6631259" y="4936272"/>
            <a:ext cx="1801682" cy="158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dt="0"/>
  <p:txStyles>
    <p:titleStyle>
      <a:lvl1pPr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ver title">
            <a:extLst>
              <a:ext uri="{FF2B5EF4-FFF2-40B4-BE49-F238E27FC236}">
                <a16:creationId xmlns:a16="http://schemas.microsoft.com/office/drawing/2014/main" id="{62492C6F-1E8B-498B-9A0F-F2A3C2138B1F}"/>
              </a:ext>
            </a:extLst>
          </p:cNvPr>
          <p:cNvSpPr>
            <a:spLocks noGrp="1"/>
          </p:cNvSpPr>
          <p:nvPr/>
        </p:nvSpPr>
        <p:spPr>
          <a:xfrm>
            <a:off x="2756726" y="1866900"/>
            <a:ext cx="59531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  <p:sp>
        <p:nvSpPr>
          <p:cNvPr id="2" name="Cover subtitle">
            <a:extLst>
              <a:ext uri="{FF2B5EF4-FFF2-40B4-BE49-F238E27FC236}">
                <a16:creationId xmlns:a16="http://schemas.microsoft.com/office/drawing/2014/main" id="{F97138CD-21DD-47ED-B3D1-9142E1A12E91}"/>
              </a:ext>
            </a:extLst>
          </p:cNvPr>
          <p:cNvSpPr>
            <a:spLocks noGrp="1"/>
          </p:cNvSpPr>
          <p:nvPr/>
        </p:nvSpPr>
        <p:spPr>
          <a:xfrm>
            <a:off x="2756726" y="2476500"/>
            <a:ext cx="59531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 &amp; Next Steps</a:t>
            </a:r>
          </a:p>
        </p:txBody>
      </p:sp>
      <p:sp>
        <p:nvSpPr>
          <p:cNvPr id="4" name="Meeting details">
            <a:extLst>
              <a:ext uri="{FF2B5EF4-FFF2-40B4-BE49-F238E27FC236}">
                <a16:creationId xmlns:a16="http://schemas.microsoft.com/office/drawing/2014/main" id="{3842C009-6D23-44A1-9AAA-C289070B8438}"/>
              </a:ext>
            </a:extLst>
          </p:cNvPr>
          <p:cNvSpPr>
            <a:spLocks noGrp="1"/>
          </p:cNvSpPr>
          <p:nvPr/>
        </p:nvSpPr>
        <p:spPr>
          <a:xfrm>
            <a:off x="2756726" y="4000500"/>
            <a:ext cx="5953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Group Meeting</a:t>
            </a:r>
          </a:p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uo Yichen </a:t>
            </a: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Baseline: Fast-WAM Optional-IDM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stage1">
            <a:extLst>
              <a:ext uri="{FF2B5EF4-FFF2-40B4-BE49-F238E27FC236}">
                <a16:creationId xmlns:a16="http://schemas.microsoft.com/office/drawing/2014/main" id="{8C07ABEA-4522-4DFA-8330-56A0F39E733F}"/>
              </a:ext>
            </a:extLst>
          </p:cNvPr>
          <p:cNvSpPr>
            <a:spLocks noGrp="1"/>
          </p:cNvSpPr>
          <p:nvPr/>
        </p:nvSpPr>
        <p:spPr>
          <a:xfrm>
            <a:off x="523875" y="1000125"/>
            <a:ext cx="3857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1  ·  Imagine future video</a:t>
            </a:r>
          </a:p>
        </p:txBody>
      </p:sp>
      <p:sp>
        <p:nvSpPr>
          <p:cNvPr id="5" name="stage2">
            <a:extLst>
              <a:ext uri="{FF2B5EF4-FFF2-40B4-BE49-F238E27FC236}">
                <a16:creationId xmlns:a16="http://schemas.microsoft.com/office/drawing/2014/main" id="{CC35E0A5-85C5-4938-BFAB-780D93FA0B83}"/>
              </a:ext>
            </a:extLst>
          </p:cNvPr>
          <p:cNvSpPr>
            <a:spLocks noGrp="1"/>
          </p:cNvSpPr>
          <p:nvPr/>
        </p:nvSpPr>
        <p:spPr>
          <a:xfrm>
            <a:off x="4686300" y="1000125"/>
            <a:ext cx="39338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2  ·  Infer actions from frozen video</a:t>
            </a:r>
          </a:p>
        </p:txBody>
      </p:sp>
      <p:sp>
        <p:nvSpPr>
          <p:cNvPr id="6" name="obs">
            <a:extLst>
              <a:ext uri="{FF2B5EF4-FFF2-40B4-BE49-F238E27FC236}">
                <a16:creationId xmlns:a16="http://schemas.microsoft.com/office/drawing/2014/main" id="{26ADB065-B48B-41AE-AD8C-F2A69652B62B}"/>
              </a:ext>
            </a:extLst>
          </p:cNvPr>
          <p:cNvSpPr>
            <a:spLocks noGrp="1"/>
          </p:cNvSpPr>
          <p:nvPr/>
        </p:nvSpPr>
        <p:spPr>
          <a:xfrm>
            <a:off x="523875" y="1638300"/>
            <a:ext cx="1181100" cy="657225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Observation</a:t>
            </a:r>
          </a:p>
          <a:p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+ instruction</a:t>
            </a:r>
          </a:p>
        </p:txBody>
      </p:sp>
      <p:sp>
        <p:nvSpPr>
          <p:cNvPr id="7" name="video">
            <a:extLst>
              <a:ext uri="{FF2B5EF4-FFF2-40B4-BE49-F238E27FC236}">
                <a16:creationId xmlns:a16="http://schemas.microsoft.com/office/drawing/2014/main" id="{3FDDEF1E-C1BC-42B9-9B72-D0A37D11E156}"/>
              </a:ext>
            </a:extLst>
          </p:cNvPr>
          <p:cNvSpPr>
            <a:spLocks noGrp="1"/>
          </p:cNvSpPr>
          <p:nvPr/>
        </p:nvSpPr>
        <p:spPr>
          <a:xfrm>
            <a:off x="2095500" y="1571625"/>
            <a:ext cx="1762125" cy="790575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VideoDiT</a:t>
            </a:r>
          </a:p>
          <a:p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 denoising</a:t>
            </a:r>
          </a:p>
        </p:txBody>
      </p:sp>
      <p:sp>
        <p:nvSpPr>
          <p:cNvPr id="8" name="cache">
            <a:extLst>
              <a:ext uri="{FF2B5EF4-FFF2-40B4-BE49-F238E27FC236}">
                <a16:creationId xmlns:a16="http://schemas.microsoft.com/office/drawing/2014/main" id="{23B0CD57-DF18-4799-9759-411BD6DE039E}"/>
              </a:ext>
            </a:extLst>
          </p:cNvPr>
          <p:cNvSpPr>
            <a:spLocks noGrp="1"/>
          </p:cNvSpPr>
          <p:nvPr/>
        </p:nvSpPr>
        <p:spPr>
          <a:xfrm>
            <a:off x="4686300" y="1571625"/>
            <a:ext cx="1638300" cy="790575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3569A9"/>
                </a:solidFill>
                <a:latin typeface="Arial"/>
                <a:ea typeface="Arial"/>
                <a:cs typeface="Arial"/>
              </a:rPr>
              <a:t>Frozen video</a:t>
            </a:r>
          </a:p>
          <a:p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3569A9"/>
                </a:solidFill>
                <a:latin typeface="Arial"/>
                <a:ea typeface="Arial"/>
                <a:cs typeface="Arial"/>
              </a:rPr>
              <a:t>K / V context</a:t>
            </a:r>
          </a:p>
        </p:txBody>
      </p:sp>
      <p:sp>
        <p:nvSpPr>
          <p:cNvPr id="9" name="actiondit">
            <a:extLst>
              <a:ext uri="{FF2B5EF4-FFF2-40B4-BE49-F238E27FC236}">
                <a16:creationId xmlns:a16="http://schemas.microsoft.com/office/drawing/2014/main" id="{2EB21BFD-B454-4601-8A52-9F81E658EBDE}"/>
              </a:ext>
            </a:extLst>
          </p:cNvPr>
          <p:cNvSpPr>
            <a:spLocks noGrp="1"/>
          </p:cNvSpPr>
          <p:nvPr/>
        </p:nvSpPr>
        <p:spPr>
          <a:xfrm>
            <a:off x="4686300" y="2943225"/>
            <a:ext cx="1638300" cy="790575"/>
          </a:xfrm>
          <a:prstGeom prst="rect">
            <a:avLst/>
          </a:prstGeom>
          <a:solidFill>
            <a:srgbClr val="E9F4F0"/>
          </a:solidFill>
          <a:ln w="12859">
            <a:solidFill>
              <a:srgbClr val="237F7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ActionDiT</a:t>
            </a:r>
          </a:p>
          <a:p>
            <a:pPr algn="ctr"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 denoising</a:t>
            </a:r>
          </a:p>
        </p:txBody>
      </p:sp>
      <p:sp>
        <p:nvSpPr>
          <p:cNvPr id="11" name="frozen">
            <a:extLst>
              <a:ext uri="{FF2B5EF4-FFF2-40B4-BE49-F238E27FC236}">
                <a16:creationId xmlns:a16="http://schemas.microsoft.com/office/drawing/2014/main" id="{C4BB41AA-9636-4E44-AA08-8A6742E2BB0C}"/>
              </a:ext>
            </a:extLst>
          </p:cNvPr>
          <p:cNvSpPr>
            <a:spLocks noGrp="1"/>
          </p:cNvSpPr>
          <p:nvPr/>
        </p:nvSpPr>
        <p:spPr>
          <a:xfrm>
            <a:off x="523875" y="2524125"/>
            <a:ext cx="36099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3569A9"/>
                </a:solidFill>
                <a:latin typeface="Arial"/>
                <a:ea typeface="Arial"/>
                <a:cs typeface="Arial"/>
              </a:rPr>
              <a:t>Hold the video branch in BF16 for the first pilot</a:t>
            </a:r>
          </a:p>
        </p:txBody>
      </p:sp>
      <p:sp>
        <p:nvSpPr>
          <p:cNvPr id="12" name="proprio">
            <a:extLst>
              <a:ext uri="{FF2B5EF4-FFF2-40B4-BE49-F238E27FC236}">
                <a16:creationId xmlns:a16="http://schemas.microsoft.com/office/drawing/2014/main" id="{CB42BCE8-9B93-4C7D-BB97-4E60E11ECA18}"/>
              </a:ext>
            </a:extLst>
          </p:cNvPr>
          <p:cNvSpPr>
            <a:spLocks noGrp="1"/>
          </p:cNvSpPr>
          <p:nvPr/>
        </p:nvSpPr>
        <p:spPr>
          <a:xfrm>
            <a:off x="2095500" y="3009900"/>
            <a:ext cx="1762125" cy="657225"/>
          </a:xfrm>
          <a:prstGeom prst="rect">
            <a:avLst/>
          </a:prstGeom>
          <a:solidFill>
            <a:srgbClr val="F5F6F8"/>
          </a:solidFill>
          <a:ln w="12859">
            <a:solidFill>
              <a:srgbClr val="26344B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Proprioception</a:t>
            </a:r>
          </a:p>
          <a:p>
            <a:pPr algn="ctr"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+ action noise</a:t>
            </a:r>
          </a:p>
        </p:txBody>
      </p:sp>
      <p:sp>
        <p:nvSpPr>
          <p:cNvPr id="13" name="out">
            <a:extLst>
              <a:ext uri="{FF2B5EF4-FFF2-40B4-BE49-F238E27FC236}">
                <a16:creationId xmlns:a16="http://schemas.microsoft.com/office/drawing/2014/main" id="{D4185CD6-17D9-4D75-8239-3BF7C0875B3E}"/>
              </a:ext>
            </a:extLst>
          </p:cNvPr>
          <p:cNvSpPr>
            <a:spLocks noGrp="1"/>
          </p:cNvSpPr>
          <p:nvPr/>
        </p:nvSpPr>
        <p:spPr>
          <a:xfrm>
            <a:off x="6781800" y="3028950"/>
            <a:ext cx="1838325" cy="619125"/>
          </a:xfrm>
          <a:prstGeom prst="rect">
            <a:avLst/>
          </a:prstGeom>
          <a:solidFill>
            <a:srgbClr val="F5F6F8"/>
          </a:solidFill>
          <a:ln w="12859">
            <a:solidFill>
              <a:srgbClr val="26344B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7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 chunk</a:t>
            </a:r>
          </a:p>
        </p:txBody>
      </p:sp>
      <p:sp>
        <p:nvSpPr>
          <p:cNvPr id="14" name="extension">
            <a:extLst>
              <a:ext uri="{FF2B5EF4-FFF2-40B4-BE49-F238E27FC236}">
                <a16:creationId xmlns:a16="http://schemas.microsoft.com/office/drawing/2014/main" id="{EC9A969B-1308-4919-BEB3-3D933C569A11}"/>
              </a:ext>
            </a:extLst>
          </p:cNvPr>
          <p:cNvSpPr>
            <a:spLocks noGrp="1"/>
          </p:cNvSpPr>
          <p:nvPr/>
        </p:nvSpPr>
        <p:spPr>
          <a:xfrm>
            <a:off x="523875" y="388620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26344B"/>
                </a:solidFill>
                <a:latin typeface="Arial"/>
                <a:ea typeface="Arial"/>
                <a:cs typeface="Arial"/>
              </a:rPr>
              <a:t>Transfer after the Fast-WAM pilot:   </a:t>
            </a:r>
            <a:r>
              <a:rPr sz="1575" b="1" dirty="0" err="1">
                <a:solidFill>
                  <a:srgbClr val="26344B"/>
                </a:solidFill>
                <a:latin typeface="Arial"/>
                <a:ea typeface="Arial"/>
                <a:cs typeface="Arial"/>
              </a:rPr>
              <a:t>LingBot</a:t>
            </a:r>
            <a:r>
              <a:rPr sz="1575" b="1" dirty="0">
                <a:solidFill>
                  <a:srgbClr val="26344B"/>
                </a:solidFill>
                <a:latin typeface="Arial"/>
                <a:ea typeface="Arial"/>
                <a:cs typeface="Arial"/>
              </a:rPr>
              <a:t>-VA  </a:t>
            </a:r>
            <a:r>
              <a:rPr lang="en-US" sz="1575" b="1" dirty="0">
                <a:solidFill>
                  <a:srgbClr val="26344B"/>
                </a:solidFill>
                <a:latin typeface="Arial"/>
                <a:ea typeface="Arial"/>
                <a:cs typeface="Arial"/>
              </a:rPr>
              <a:t>,</a:t>
            </a:r>
            <a:r>
              <a:rPr sz="1575" b="1" dirty="0">
                <a:solidFill>
                  <a:srgbClr val="26344B"/>
                </a:solidFill>
                <a:latin typeface="Arial"/>
                <a:ea typeface="Arial"/>
                <a:cs typeface="Arial"/>
              </a:rPr>
              <a:t> Cosmos-Policy</a:t>
            </a:r>
          </a:p>
        </p:txBody>
      </p:sp>
      <p:cxnSp>
        <p:nvCxnSpPr>
          <p:cNvPr id="35" name="直接箭头连接符 34"/>
          <p:cNvCxnSpPr>
            <a:stCxn id="6" idx="3"/>
            <a:endCxn id="7" idx="1"/>
          </p:cNvCxnSpPr>
          <p:nvPr/>
        </p:nvCxnSpPr>
        <p:spPr>
          <a:xfrm>
            <a:off x="1704975" y="1966913"/>
            <a:ext cx="390525" cy="0"/>
          </a:xfrm>
          <a:prstGeom prst="straightConnector1">
            <a:avLst/>
          </a:prstGeom>
          <a:ln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36" name="直接箭头连接符 35"/>
          <p:cNvCxnSpPr>
            <a:stCxn id="7" idx="3"/>
            <a:endCxn id="8" idx="1"/>
          </p:cNvCxnSpPr>
          <p:nvPr/>
        </p:nvCxnSpPr>
        <p:spPr>
          <a:xfrm>
            <a:off x="3857625" y="1966913"/>
            <a:ext cx="828675" cy="0"/>
          </a:xfrm>
          <a:prstGeom prst="straightConnector1">
            <a:avLst/>
          </a:prstGeom>
          <a:ln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37" name="直接箭头连接符 36"/>
          <p:cNvCxnSpPr>
            <a:stCxn id="8" idx="2"/>
            <a:endCxn id="9" idx="0"/>
          </p:cNvCxnSpPr>
          <p:nvPr/>
        </p:nvCxnSpPr>
        <p:spPr>
          <a:xfrm>
            <a:off x="5505450" y="2362200"/>
            <a:ext cx="0" cy="581025"/>
          </a:xfrm>
          <a:prstGeom prst="straightConnector1">
            <a:avLst/>
          </a:prstGeom>
          <a:ln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38" name="直接箭头连接符 37"/>
          <p:cNvCxnSpPr>
            <a:stCxn id="12" idx="3"/>
            <a:endCxn id="9" idx="1"/>
          </p:cNvCxnSpPr>
          <p:nvPr/>
        </p:nvCxnSpPr>
        <p:spPr>
          <a:xfrm>
            <a:off x="3857625" y="3338513"/>
            <a:ext cx="828675" cy="0"/>
          </a:xfrm>
          <a:prstGeom prst="straightConnector1">
            <a:avLst/>
          </a:prstGeom>
          <a:ln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39" name="直接箭头连接符 38"/>
          <p:cNvCxnSpPr>
            <a:stCxn id="9" idx="3"/>
            <a:endCxn id="13" idx="1"/>
          </p:cNvCxnSpPr>
          <p:nvPr/>
        </p:nvCxnSpPr>
        <p:spPr>
          <a:xfrm>
            <a:off x="6324600" y="3338513"/>
            <a:ext cx="457200" cy="0"/>
          </a:xfrm>
          <a:prstGeom prst="straightConnector1">
            <a:avLst/>
          </a:prstGeom>
          <a:ln w="16193">
            <a:solidFill>
              <a:srgbClr val="237F79"/>
            </a:solidFill>
            <a:prstDash val="solid"/>
            <a:tailEnd type="triangle" w="sm" len="sm"/>
          </a:ln>
        </p:spPr>
      </p:cxnSp>
      <p:sp>
        <p:nvSpPr>
          <p:cNvPr id="20" name="Evidence source">
            <a:extLst>
              <a:ext uri="{FF2B5EF4-FFF2-40B4-BE49-F238E27FC236}">
                <a16:creationId xmlns:a16="http://schemas.microsoft.com/office/drawing/2014/main" id="{DC578DA8-A9C4-4F80-AA31-E5DD53F9EA56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Architecture follows the current Optional-IDM implementation; first VQ pilot targets ActionDiT.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922A2D70-5158-47E5-A6CF-351B429B1D66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QuantWAMs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Paper evidence label">
            <a:extLst>
              <a:ext uri="{FF2B5EF4-FFF2-40B4-BE49-F238E27FC236}">
                <a16:creationId xmlns:a16="http://schemas.microsoft.com/office/drawing/2014/main" id="{99B08BB3-A804-4030-AF80-5B166632335D}"/>
              </a:ext>
            </a:extLst>
          </p:cNvPr>
          <p:cNvSpPr>
            <a:spLocks noGrp="1"/>
          </p:cNvSpPr>
          <p:nvPr/>
        </p:nvSpPr>
        <p:spPr>
          <a:xfrm>
            <a:off x="523875" y="819150"/>
            <a:ext cx="804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Table 1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3375" y="1394232"/>
            <a:ext cx="8477250" cy="1964511"/>
          </a:xfrm>
          <a:prstGeom prst="rect">
            <a:avLst/>
          </a:prstGeom>
        </p:spPr>
      </p:pic>
      <p:sp>
        <p:nvSpPr>
          <p:cNvPr id="6" name="SVDQuant reference">
            <a:extLst>
              <a:ext uri="{FF2B5EF4-FFF2-40B4-BE49-F238E27FC236}">
                <a16:creationId xmlns:a16="http://schemas.microsoft.com/office/drawing/2014/main" id="{E8B65658-3319-4696-BBBC-81AB1D406E7E}"/>
              </a:ext>
            </a:extLst>
          </p:cNvPr>
          <p:cNvSpPr>
            <a:spLocks noGrp="1"/>
          </p:cNvSpPr>
          <p:nvPr/>
        </p:nvSpPr>
        <p:spPr>
          <a:xfrm>
            <a:off x="523875" y="3752850"/>
            <a:ext cx="8096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SVDQuant W4A4: 73.7 ± 0.7% LIBERO Avg</a:t>
            </a:r>
          </a:p>
        </p:txBody>
      </p:sp>
      <p:sp>
        <p:nvSpPr>
          <p:cNvPr id="7" name="QuantWAM result">
            <a:extLst>
              <a:ext uri="{FF2B5EF4-FFF2-40B4-BE49-F238E27FC236}">
                <a16:creationId xmlns:a16="http://schemas.microsoft.com/office/drawing/2014/main" id="{8160A404-9210-408E-B8EA-214B97FD8E48}"/>
              </a:ext>
            </a:extLst>
          </p:cNvPr>
          <p:cNvSpPr>
            <a:spLocks noGrp="1"/>
          </p:cNvSpPr>
          <p:nvPr/>
        </p:nvSpPr>
        <p:spPr>
          <a:xfrm>
            <a:off x="523875" y="4171950"/>
            <a:ext cx="809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QuantWAMs W4A4: 97.4 ± 0.2%</a:t>
            </a:r>
          </a:p>
        </p:txBody>
      </p:sp>
      <p:sp>
        <p:nvSpPr>
          <p:cNvPr id="8" name="Evidence source">
            <a:extLst>
              <a:ext uri="{FF2B5EF4-FFF2-40B4-BE49-F238E27FC236}">
                <a16:creationId xmlns:a16="http://schemas.microsoft.com/office/drawing/2014/main" id="{04D22951-FF94-4233-BF46-CB62A50D2108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Table 1, p.7 · Original PDF pixels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0E50A5AB-21FF-4D34-A2FB-6FE2ACC2D1AB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SteerQuant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Paper evidence label">
            <a:extLst>
              <a:ext uri="{FF2B5EF4-FFF2-40B4-BE49-F238E27FC236}">
                <a16:creationId xmlns:a16="http://schemas.microsoft.com/office/drawing/2014/main" id="{0E9F0E6D-966A-4C81-BF8C-91256CC866B8}"/>
              </a:ext>
            </a:extLst>
          </p:cNvPr>
          <p:cNvSpPr>
            <a:spLocks noGrp="1"/>
          </p:cNvSpPr>
          <p:nvPr/>
        </p:nvSpPr>
        <p:spPr>
          <a:xfrm>
            <a:off x="523875" y="800100"/>
            <a:ext cx="809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FastWAMJoint W4A4 rows, Table 1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284975"/>
            <a:ext cx="8096250" cy="2573550"/>
          </a:xfrm>
          <a:prstGeom prst="rect">
            <a:avLst/>
          </a:prstGeom>
        </p:spPr>
      </p:pic>
      <p:sp>
        <p:nvSpPr>
          <p:cNvPr id="6" name="Circle SVDQuant W4A4 Avg 98.2">
            <a:extLst>
              <a:ext uri="{FF2B5EF4-FFF2-40B4-BE49-F238E27FC236}">
                <a16:creationId xmlns:a16="http://schemas.microsoft.com/office/drawing/2014/main" id="{A3519226-F6AD-46DE-A8C1-7A560ACFC09E}"/>
              </a:ext>
            </a:extLst>
          </p:cNvPr>
          <p:cNvSpPr>
            <a:spLocks noGrp="1"/>
          </p:cNvSpPr>
          <p:nvPr/>
        </p:nvSpPr>
        <p:spPr>
          <a:xfrm>
            <a:off x="7917615" y="3114282"/>
            <a:ext cx="528621" cy="243444"/>
          </a:xfrm>
          <a:prstGeom prst="ellipse">
            <a:avLst/>
          </a:prstGeom>
          <a:noFill/>
          <a:ln w="26670">
            <a:solidFill>
              <a:srgbClr val="CB3141"/>
            </a:solidFill>
          </a:ln>
        </p:spPr>
        <p:txBody>
          <a:bodyPr/>
          <a:lstStyle/>
          <a:p>
            <a:endParaRPr lang="zh-SG" altLang="en-US"/>
          </a:p>
        </p:txBody>
      </p:sp>
      <p:sp>
        <p:nvSpPr>
          <p:cNvPr id="7" name="Cross-paper discrepancy">
            <a:extLst>
              <a:ext uri="{FF2B5EF4-FFF2-40B4-BE49-F238E27FC236}">
                <a16:creationId xmlns:a16="http://schemas.microsoft.com/office/drawing/2014/main" id="{0C3F7F18-1B8A-4A75-B026-45F24672A308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CB31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B3141"/>
                </a:solidFill>
                <a:latin typeface="Arial"/>
                <a:ea typeface="Arial"/>
                <a:cs typeface="Arial"/>
              </a:rPr>
              <a:t>SVDQuant W4A4: 98.2% here vs 73.7% in QuantWAMs</a:t>
            </a:r>
          </a:p>
        </p:txBody>
      </p:sp>
      <p:sp>
        <p:nvSpPr>
          <p:cNvPr id="8" name="Alignment question">
            <a:extLst>
              <a:ext uri="{FF2B5EF4-FFF2-40B4-BE49-F238E27FC236}">
                <a16:creationId xmlns:a16="http://schemas.microsoft.com/office/drawing/2014/main" id="{3B72F683-B50C-41AC-9610-C523B5042348}"/>
              </a:ext>
            </a:extLst>
          </p:cNvPr>
          <p:cNvSpPr>
            <a:spLocks noGrp="1"/>
          </p:cNvSpPr>
          <p:nvPr/>
        </p:nvSpPr>
        <p:spPr>
          <a:xfrm>
            <a:off x="523875" y="44291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Check model variant, quantization scope and evaluation protocol.</a:t>
            </a:r>
          </a:p>
        </p:txBody>
      </p:sp>
      <p:sp>
        <p:nvSpPr>
          <p:cNvPr id="9" name="Evidence source">
            <a:extLst>
              <a:ext uri="{FF2B5EF4-FFF2-40B4-BE49-F238E27FC236}">
                <a16:creationId xmlns:a16="http://schemas.microsoft.com/office/drawing/2014/main" id="{53D11A6C-CECC-482C-8499-4A1EFC19C327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Table 1, p.7 · Same-page pixel zoom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C968BFB-26FB-4055-8916-57E0F1E00C38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Our LIBERO-Plus pilot: observed subset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Pilot subtitle">
            <a:extLst>
              <a:ext uri="{FF2B5EF4-FFF2-40B4-BE49-F238E27FC236}">
                <a16:creationId xmlns:a16="http://schemas.microsoft.com/office/drawing/2014/main" id="{F531BE61-EC53-4569-88F1-746E8BC15DC5}"/>
              </a:ext>
            </a:extLst>
          </p:cNvPr>
          <p:cNvSpPr>
            <a:spLocks noGrp="1"/>
          </p:cNvSpPr>
          <p:nvPr/>
        </p:nvSpPr>
        <p:spPr>
          <a:xfrm>
            <a:off x="523875" y="781050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26344B"/>
                </a:solidFill>
                <a:latin typeface="Arial"/>
                <a:ea typeface="Arial"/>
                <a:cs typeface="Arial"/>
              </a:rPr>
              <a:t>300 paired variants · </a:t>
            </a:r>
            <a:r>
              <a:rPr lang="en-US" sz="1650" b="1" dirty="0">
                <a:solidFill>
                  <a:srgbClr val="26344B"/>
                </a:solidFill>
                <a:latin typeface="Arial"/>
                <a:ea typeface="Arial"/>
                <a:cs typeface="Arial"/>
              </a:rPr>
              <a:t>L</a:t>
            </a:r>
            <a:r>
              <a:rPr lang="en-US" altLang="zh-CN" sz="1650" b="1" dirty="0">
                <a:solidFill>
                  <a:srgbClr val="26344B"/>
                </a:solidFill>
                <a:latin typeface="Arial"/>
                <a:ea typeface="Arial"/>
                <a:cs typeface="Arial"/>
              </a:rPr>
              <a:t>ibero </a:t>
            </a:r>
            <a:r>
              <a:rPr sz="1650" b="1" dirty="0">
                <a:solidFill>
                  <a:srgbClr val="26344B"/>
                </a:solidFill>
                <a:latin typeface="Arial"/>
                <a:ea typeface="Arial"/>
                <a:cs typeface="Arial"/>
              </a:rPr>
              <a:t>Spatial only · 6 of 28 planned cells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523875" y="1285875"/>
          <a:ext cx="8096250" cy="2781304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 dimension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W4A8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W4A4KV4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Background textures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44/50 (88%)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45/50 (90%)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Camera viewpoints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Language instructions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Light conditions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48/50 (96%)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Objects layout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Robot initial states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33/50 (66%)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40/50 (80%)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Overall (n=300)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243/300 (81%)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252/300 (84%)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Pilot observation">
            <a:extLst>
              <a:ext uri="{FF2B5EF4-FFF2-40B4-BE49-F238E27FC236}">
                <a16:creationId xmlns:a16="http://schemas.microsoft.com/office/drawing/2014/main" id="{51CFA6DA-8B91-4D73-A2C4-30E800F9BBC6}"/>
              </a:ext>
            </a:extLst>
          </p:cNvPr>
          <p:cNvSpPr>
            <a:spLocks noGrp="1"/>
          </p:cNvSpPr>
          <p:nvPr/>
        </p:nvSpPr>
        <p:spPr>
          <a:xfrm>
            <a:off x="523875" y="421957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W4A8: +3 pp descriptively; both A4 arms: 0/300.</a:t>
            </a:r>
          </a:p>
        </p:txBody>
      </p:sp>
      <p:sp>
        <p:nvSpPr>
          <p:cNvPr id="7" name="Evidence source">
            <a:extLst>
              <a:ext uri="{FF2B5EF4-FFF2-40B4-BE49-F238E27FC236}">
                <a16:creationId xmlns:a16="http://schemas.microsoft.com/office/drawing/2014/main" id="{D94BB871-B35F-40D0-8185-B36DD43C6E8F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Local snapshot: 6 Oct 2026 · All completed shards · Joint Linear quantization · 22 cells have no results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777292C-C66E-4FCB-893B-6A9CED9CBDF7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7CE04E0C-2344-8A03-F545-886373FF03EC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76200"/>
            <ns1:ext cx="8382000" cy="552450"/>
          </ns1:xfrm>
          <ns1:prstGeom prst="rect">
            <ns1:avLst/>
          </ns1:prstGeom>
        </ns0:spPr>
        <ns0:txBody>
          <ns1:bodyPr vert="horz" lIns="0" tIns="0" rIns="0" bIns="0" anchor="ctr">
            <ns1:noAutofit/>
          </ns1:bodyPr>
          <ns1:lstStyle>
            <ns1:lvl1pPr algn="l" defTabSz="457200">
              <ns1:spcBef>
                <ns1:spcPct val="0"/>
              </ns1:spcBef>
              <ns1:buNone/>
              <ns1:defRPr sz="4400" kern="1200">
                <ns1:solidFill>
                  <ns1:schemeClr val="tx1"/>
                </ns1:solidFill>
                <ns1:latin typeface="Arial"/>
                <ns1:ea typeface="Arial"/>
                <ns1:cs typeface="Arial"/>
              </ns1:defRPr>
            </ns1:lvl1pPr>
          </ns1:lstStyle>
          <ns1:p>
            <ns1:pPr algn="l">
              <ns1:buNone/>
              <ns1:defRPr sz="2800" b="1">
                <ns1:solidFill>
                  <ns1:srgbClr val="4C88DE"/>
                </ns1:solidFill>
                <ns1:latin typeface="Arial"/>
                <ns1:ea typeface="Arial"/>
                <ns1:cs typeface="Arial"/>
              </ns1:defRPr>
            </ns1:pPr>
            <ns1:r>
              <ns1:rPr sz="2800" b="1">
                <ns1:solidFill>
                  <ns1:srgbClr val="4C88DE"/>
                </ns1:solidFill>
                <ns1:latin typeface="Arial"/>
                <ns1:ea typeface="Arial"/>
                <ns1:cs typeface="Arial"/>
              </ns1:rPr>
              <ns1:t>A4 diagnosis: error appears before rollout</ns1:t>
            </ns1:r>
          </ns1:p>
        </ns0:txBody>
      </ns0:sp>
      <ns0:sp>
        <ns0:nvSpPr>
          <ns0:cNvPr id="3" name="矩形 2">
            <ns1:extLst>
              <ns1:ext uri="{FF2B5EF4-FFF2-40B4-BE49-F238E27FC236}">
                <ns2:creationId id="{6754DF9A-DFF8-8EA1-8B8E-942236D43D83}"/>
              </ns1:ext>
            </ns1:extLst>
          </ns0:cNvPr>
          <ns0:cNvSpPr>
            <ns1:spLocks noGrp="1"/>
          </ns0:cNvSpPr>
          <ns0:nvPr/>
        </ns0:nvSpPr>
        <ns0:spPr>
          <ns1:xfrm>
            <ns1:off x="187036" y="124691"/>
            <ns1:ext cx="152400" cy="353291"/>
          </ns1:xfrm>
          <ns1:prstGeom prst="rect">
            <ns1:avLst/>
          </ns1:prstGeom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>
              <ns1:buNone/>
            </ns1:pPr>
            <ns1:endParaRPr/>
          </ns1:p>
        </ns0:txBody>
      </ns0:sp>
      <ns0:sp>
        <ns0:nvSpPr>
          <ns0:cNvPr id="4" name="Reset panel title">
            <ns1:extLst>
              <ns1:ext uri="{FF2B5EF4-FFF2-40B4-BE49-F238E27FC236}">
                <ns2:creationId id="{C90A950A-8DB3-4FAE-B359-F9EFDDA30DDB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19150"/>
            <ns1:ext cx="38671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725" b="1">
                <ns1:solidFill>
                  <ns1:srgbClr val="3569A9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3569A9"/>
                </ns1:solidFill>
                <ns1:latin typeface="Arial"/>
                <ns1:ea typeface="Arial"/>
                <ns1:cs typeface="Arial"/>
              </ns1:rPr>
              <ns1:t>300 reset-observation pairs</ns1:t>
            </ns1:r>
          </ns1:p>
        </ns0:txBody>
      </ns0:sp>
      <ns0:sp>
        <ns0:nvSpPr>
          <ns0:cNvPr id="5" name="Reset panel definition">
            <ns1:extLst>
              <ns1:ext uri="{FF2B5EF4-FFF2-40B4-BE49-F238E27FC236}">
                <ns2:creationId id="{B597E100-9D76-4FAC-BB30-9CCC3F2E21F1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1162050"/>
            <ns1:ext cx="386715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75" b="0">
                <ns1:solidFill>
                  <ns1:srgbClr val="697386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697386"/>
                </ns1:solidFill>
                <ns1:latin typeface="Arial"/>
                <ns1:ea typeface="Arial"/>
                <ns1:cs typeface="Arial"/>
              </ns1:rPr>
              <ns1:t>Median normalized motor RMSE · first 10 actions</ns1:t>
            </ns1:r>
          </ns1:p>
        </ns0:txBody>
      </ns0:sp>
      <ns0:sp>
        <ns0:nvSpPr>
          <ns0:cNvPr id="7" name="Native panel title">
            <ns1:extLst>
              <ns1:ext uri="{FF2B5EF4-FFF2-40B4-BE49-F238E27FC236}">
                <ns2:creationId id="{FCB98519-955E-4649-8871-B45842B155D7}"/>
              </ns1:ext>
            </ns1:extLst>
          </ns0:cNvPr>
          <ns0:cNvSpPr>
            <ns1:spLocks noGrp="1"/>
          </ns0:cNvSpPr>
          <ns0:nvPr/>
        </ns0:nvSpPr>
        <ns0:spPr>
          <ns1:xfrm>
            <ns1:off x="4714875" y="819150"/>
            <ns1:ext cx="39052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725" b="1">
                <ns1:solidFill>
                  <ns1:srgbClr val="237F79"/>
                </ns1:solidFill>
                <ns1:latin typeface="Arial"/>
                <ns1:ea typeface="Arial"/>
                <ns1:cs typeface="Arial"/>
              </ns1:defRPr>
            </ns1:pPr>
            <ns1:r>
              <ns1:rPr sz="1725" b="1">
                <ns1:solidFill>
                  <ns1:srgbClr val="237F79"/>
                </ns1:solidFill>
                <ns1:latin typeface="Arial"/>
                <ns1:ea typeface="Arial"/>
                <ns1:cs typeface="Arial"/>
              </ns1:rPr>
              <ns1:t>One-input native-path check</ns1:t>
            </ns1:r>
          </ns1:p>
        </ns0:txBody>
      </ns0:sp>
      <ns0:sp>
        <ns0:nvSpPr>
          <ns0:cNvPr id="8" name="Native panel definition">
            <ns1:extLst>
              <ns1:ext uri="{FF2B5EF4-FFF2-40B4-BE49-F238E27FC236}">
                <ns2:creationId id="{ADB40E0A-5508-4630-806B-2D2AF366A2F6}"/>
              </ns1:ext>
            </ns1:extLst>
          </ns0:cNvPr>
          <ns0:cNvSpPr>
            <ns1:spLocks noGrp="1"/>
          </ns0:cNvSpPr>
          <ns0:nvPr/>
        </ns0:nvSpPr>
        <ns0:spPr>
          <ns1:xfrm>
            <ns1:off x="4714875" y="1162050"/>
            <ns1:ext cx="390525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75" b="0">
                <ns1:solidFill>
                  <ns1:srgbClr val="697386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697386"/>
                </ns1:solidFill>
                <ns1:latin typeface="Arial"/>
                <ns1:ea typeface="Arial"/>
                <ns1:cs typeface="Arial"/>
              </ns1:rPr>
              <ns1:t>Same input · 4 queries · no rollout steps</ns1:t>
            </ns1:r>
          </ns1:p>
        </ns0:txBody>
      </ns0:sp>
      <ns0:sp>
        <ns0:nvSpPr>
          <ns0:cNvPr id="10" name="Diagnosis interpretation">
            <ns1:extLst>
              <ns1:ext uri="{FF2B5EF4-FFF2-40B4-BE49-F238E27FC236}">
                <ns2:creationId id="{3199DC9B-409B-4D87-A5E9-41B141388077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4095750"/>
            <ns1:ext cx="8096250" cy="4476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1">
                <ns1:solidFill>
                  <ns1:srgbClr val="26344B"/>
                </ns1:solidFill>
                <ns1:latin typeface="Arial"/>
                <ns1:ea typeface="Arial"/>
                <ns1:cs typeface="Arial"/>
              </ns1:defRPr>
            </ns1:pPr>
            <ns1:r>
              <ns1:rPr sz="1575" b="1" dirty="0">
                <ns1:solidFill>
                  <ns1:srgbClr val="26344B"/>
                </ns1:solidFill>
                <ns1:latin typeface="Arial"/>
                <ns1:ea typeface="Arial"/>
                <ns1:cs typeface="Arial"/>
              </ns1:rPr>
              <ns1:t>The A4 recipe needs diagnosis; current controls do not isolate W-only or A-only effects.</ns1:t>
            </ns1:r>
          </ns1:p>
        </ns0:txBody>
      </ns0:sp>
      <ns0:sp>
        <ns0:nvSpPr>
          <ns0:cNvPr id="11" name="Evidence source">
            <ns1:extLst>
              <ns1:ext uri="{FF2B5EF4-FFF2-40B4-BE49-F238E27FC236}">
                <ns2:creationId id="{DB2C4105-457D-4F34-8135-A2B6FAA00ECF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4619625"/>
            <ns1:ext cx="8172450" cy="190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38" b="0">
                <ns1:solidFill>
                  <ns1:srgbClr val="697386"/>
                </ns1:solidFill>
                <ns1:latin typeface="Arial"/>
                <ns1:ea typeface="Arial"/>
                <ns1:cs typeface="Arial"/>
              </ns1:defRPr>
            </ns1:pPr>
            <ns1:r>
              <ns1:rPr sz="938" b="0">
                <ns1:solidFill>
                  <ns1:srgbClr val="697386"/>
                </ns1:solidFill>
                <ns1:latin typeface="Arial"/>
                <ns1:ea typeface="Arial"/>
                <ns1:cs typeface="Arial"/>
              </ns1:rPr>
              <ns1:t>¹ First 10 action positions. ² Full 32×7 chunk, all channels. Fixed-input fidelity; no timing claim.</ns1:t>
            </ns1:r>
          </ns1:p>
        </ns0:txBody>
      </ns0:sp>
      <ns0:sp>
        <ns0:nvSpPr>
          <ns0:cNvPr id="12" name="Slide number">
            <ns1:extLst>
              <ns1:ext uri="{FF2B5EF4-FFF2-40B4-BE49-F238E27FC236}">
                <ns2:creationId id="{2C971028-11F3-49A2-9097-76D4B55E8103}"/>
              </ns1:ext>
            </ns1:extLst>
          </ns0:cNvPr>
          <ns0:cNvSpPr>
            <ns1:spLocks noGrp="1"/>
          </ns0:cNvSpPr>
          <ns0:nvPr/>
        </ns0:nvSpPr>
        <ns0:spPr>
          <ns1:xfrm>
            <ns1:off x="8715375" y="4619625"/>
            <ns1:ext cx="247650" cy="190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00" b="0">
                <ns1:solidFill>
                  <ns1:srgbClr val="697386"/>
                </ns1:solidFill>
                <ns1:latin typeface="Arial"/>
                <ns1:ea typeface="Arial"/>
                <ns1:cs typeface="Arial"/>
              </ns1:defRPr>
            </ns1:pPr>
            <ns1:r>
              <ns1:rPr sz="900" b="0">
                <ns1:solidFill>
                  <ns1:srgbClr val="697386"/>
                </ns1:solidFill>
                <ns1:latin typeface="Arial"/>
                <ns1:ea typeface="Arial"/>
                <ns1:cs typeface="Arial"/>
              </ns1:rPr>
              <ns1:t>06</ns1:t>
            </ns1:r>
          </ns1:p>
        </ns0:txBody>
      </ns0:sp>
    </ns0:spTree>
    <ns0:extLst>
      <ns0:ext uri="{BB962C8B-B14F-4D97-AF65-F5344CB8AC3E}">
        <ns3:creationId val="3510779972"/>
      </ns0:ext>
    </ns0:extLst>
  </ns0:cSld>
  <ns0:clrMapOvr>
    <ns1:masterClrMapping/>
  </ns0:clrMapOvr>
</ns0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QuantWAMs: calibrate at the right granularity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3748" y="809625"/>
            <a:ext cx="8316503" cy="3524250"/>
          </a:xfrm>
          <a:prstGeom prst="rect">
            <a:avLst/>
          </a:prstGeom>
        </p:spPr>
      </p:pic>
      <p:sp>
        <p:nvSpPr>
          <p:cNvPr id="5" name="Paper takeaway">
            <a:extLst>
              <a:ext uri="{FF2B5EF4-FFF2-40B4-BE49-F238E27FC236}">
                <a16:creationId xmlns:a16="http://schemas.microsoft.com/office/drawing/2014/main" id="{75D32FF0-CAF1-4992-8413-0D69BA730A16}"/>
              </a:ext>
            </a:extLst>
          </p:cNvPr>
          <p:cNvSpPr>
            <a:spLocks noGrp="1"/>
          </p:cNvSpPr>
          <p:nvPr/>
        </p:nvSpPr>
        <p:spPr>
          <a:xfrm>
            <a:off x="523875" y="43529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Structure-aware calibration + joint saliency + rollout validation</a:t>
            </a:r>
          </a:p>
        </p:txBody>
      </p:sp>
      <p:sp>
        <p:nvSpPr>
          <p:cNvPr id="6" name="Evidence source">
            <a:extLst>
              <a:ext uri="{FF2B5EF4-FFF2-40B4-BE49-F238E27FC236}">
                <a16:creationId xmlns:a16="http://schemas.microsoft.com/office/drawing/2014/main" id="{6FB42BBA-201B-4C41-A64F-88A5AA7524A1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Figure 2 · Figure crop from original PDF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FCB8D44-04A7-46CF-A22B-1A3F822FE0D4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Q-WAM: protect action-sensitive subspaces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8986" y="781050"/>
            <a:ext cx="6886027" cy="3609975"/>
          </a:xfrm>
          <a:prstGeom prst="rect">
            <a:avLst/>
          </a:prstGeom>
        </p:spPr>
      </p:pic>
      <p:sp>
        <p:nvSpPr>
          <p:cNvPr id="5" name="Paper takeaway">
            <a:extLst>
              <a:ext uri="{FF2B5EF4-FFF2-40B4-BE49-F238E27FC236}">
                <a16:creationId xmlns:a16="http://schemas.microsoft.com/office/drawing/2014/main" id="{42FACF11-262E-4F9C-A270-A5DADA7CEACB}"/>
              </a:ext>
            </a:extLst>
          </p:cNvPr>
          <p:cNvSpPr>
            <a:spLocks noGrp="1"/>
          </p:cNvSpPr>
          <p:nvPr/>
        </p:nvSpPr>
        <p:spPr>
          <a:xfrm>
            <a:off x="523875" y="43529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Measure action sensitivity; preserve the most influential directions.</a:t>
            </a:r>
          </a:p>
        </p:txBody>
      </p:sp>
      <p:sp>
        <p:nvSpPr>
          <p:cNvPr id="6" name="Evidence source">
            <a:extLst>
              <a:ext uri="{FF2B5EF4-FFF2-40B4-BE49-F238E27FC236}">
                <a16:creationId xmlns:a16="http://schemas.microsoft.com/office/drawing/2014/main" id="{22B6E645-C983-4453-98E9-131CA653895E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Q-WAM · arXiv:2609.33269v1 · Figure 2 · Figure crop from original PDF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32B974F-421D-4A9F-B21C-1E7F51A3331C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SteerQuant: route error away from actions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17735" y="771525"/>
            <a:ext cx="6708531" cy="3619500"/>
          </a:xfrm>
          <a:prstGeom prst="rect">
            <a:avLst/>
          </a:prstGeom>
        </p:spPr>
      </p:pic>
      <p:sp>
        <p:nvSpPr>
          <p:cNvPr id="5" name="Paper takeaway">
            <a:extLst>
              <a:ext uri="{FF2B5EF4-FFF2-40B4-BE49-F238E27FC236}">
                <a16:creationId xmlns:a16="http://schemas.microsoft.com/office/drawing/2014/main" id="{3B3E668A-1E00-4462-81F2-8D375BC0A33A}"/>
              </a:ext>
            </a:extLst>
          </p:cNvPr>
          <p:cNvSpPr>
            <a:spLocks noGrp="1"/>
          </p:cNvSpPr>
          <p:nvPr/>
        </p:nvSpPr>
        <p:spPr>
          <a:xfrm>
            <a:off x="523875" y="43529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Action-impact calibration → error routing → fused low-bit inference</a:t>
            </a:r>
          </a:p>
        </p:txBody>
      </p:sp>
      <p:sp>
        <p:nvSpPr>
          <p:cNvPr id="6" name="Evidence source">
            <a:extLst>
              <a:ext uri="{FF2B5EF4-FFF2-40B4-BE49-F238E27FC236}">
                <a16:creationId xmlns:a16="http://schemas.microsoft.com/office/drawing/2014/main" id="{9D4F522F-E97A-438E-A1A8-7C401805C573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Figure 2 · Figure crop from original PDF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42BE811-48BC-42B2-8A0F-529CBFE14FB0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Next step: action-sensitive weight VQ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a">
            <a:extLst>
              <a:ext uri="{FF2B5EF4-FFF2-40B4-BE49-F238E27FC236}">
                <a16:creationId xmlns:a16="http://schemas.microsoft.com/office/drawing/2014/main" id="{93123462-5031-4166-ABCD-B767796D474C}"/>
              </a:ext>
            </a:extLst>
          </p:cNvPr>
          <p:cNvSpPr>
            <a:spLocks noGrp="1"/>
          </p:cNvSpPr>
          <p:nvPr/>
        </p:nvSpPr>
        <p:spPr>
          <a:xfrm>
            <a:off x="523875" y="809625"/>
            <a:ext cx="26289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(a) Equivalent reparameterization</a:t>
            </a:r>
          </a:p>
        </p:txBody>
      </p:sp>
      <p:sp>
        <p:nvSpPr>
          <p:cNvPr id="5" name="b">
            <a:extLst>
              <a:ext uri="{FF2B5EF4-FFF2-40B4-BE49-F238E27FC236}">
                <a16:creationId xmlns:a16="http://schemas.microsoft.com/office/drawing/2014/main" id="{95BCECAD-23E8-4199-82CE-37EB184B26FB}"/>
              </a:ext>
            </a:extLst>
          </p:cNvPr>
          <p:cNvSpPr>
            <a:spLocks noGrp="1"/>
          </p:cNvSpPr>
          <p:nvPr/>
        </p:nvSpPr>
        <p:spPr>
          <a:xfrm>
            <a:off x="3476625" y="809625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(b) Weight VQ</a:t>
            </a:r>
          </a:p>
        </p:txBody>
      </p:sp>
      <p:sp>
        <p:nvSpPr>
          <p:cNvPr id="6" name="c">
            <a:extLst>
              <a:ext uri="{FF2B5EF4-FFF2-40B4-BE49-F238E27FC236}">
                <a16:creationId xmlns:a16="http://schemas.microsoft.com/office/drawing/2014/main" id="{3A56173C-A764-417F-BEE2-CD811D971356}"/>
              </a:ext>
            </a:extLst>
          </p:cNvPr>
          <p:cNvSpPr>
            <a:spLocks noGrp="1"/>
          </p:cNvSpPr>
          <p:nvPr/>
        </p:nvSpPr>
        <p:spPr>
          <a:xfrm>
            <a:off x="6553200" y="809625"/>
            <a:ext cx="2047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(c) Action inference</a:t>
            </a:r>
          </a:p>
        </p:txBody>
      </p:sp>
      <p:sp>
        <p:nvSpPr>
          <p:cNvPr id="7" name="x">
            <a:extLst>
              <a:ext uri="{FF2B5EF4-FFF2-40B4-BE49-F238E27FC236}">
                <a16:creationId xmlns:a16="http://schemas.microsoft.com/office/drawing/2014/main" id="{C39CC2D2-3D51-4CD3-9D98-BA20B3924C08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514350" cy="514350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" name="xs">
            <a:extLst>
              <a:ext uri="{FF2B5EF4-FFF2-40B4-BE49-F238E27FC236}">
                <a16:creationId xmlns:a16="http://schemas.microsoft.com/office/drawing/2014/main" id="{751FB2CC-87EF-46DD-A1B0-4D67F36EA70C}"/>
              </a:ext>
            </a:extLst>
          </p:cNvPr>
          <p:cNvSpPr>
            <a:spLocks noGrp="1"/>
          </p:cNvSpPr>
          <p:nvPr/>
        </p:nvSpPr>
        <p:spPr>
          <a:xfrm>
            <a:off x="1352550" y="1371600"/>
            <a:ext cx="1752600" cy="628650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Scale + Hadamard</a:t>
            </a:r>
          </a:p>
          <a:p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X̃ = XD⁻¹H</a:t>
            </a:r>
          </a:p>
        </p:txBody>
      </p:sp>
      <p:sp>
        <p:nvSpPr>
          <p:cNvPr id="9" name="aq">
            <a:extLst>
              <a:ext uri="{FF2B5EF4-FFF2-40B4-BE49-F238E27FC236}">
                <a16:creationId xmlns:a16="http://schemas.microsoft.com/office/drawing/2014/main" id="{6A0F0AEA-E9E9-4D47-B222-71D3929A1D68}"/>
              </a:ext>
            </a:extLst>
          </p:cNvPr>
          <p:cNvSpPr>
            <a:spLocks noGrp="1"/>
          </p:cNvSpPr>
          <p:nvPr/>
        </p:nvSpPr>
        <p:spPr>
          <a:xfrm>
            <a:off x="3562350" y="1371600"/>
            <a:ext cx="1314450" cy="628650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2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BF16 first</a:t>
            </a:r>
          </a:p>
          <a:p>
            <a:pPr algn="ctr">
              <a:defRPr sz="12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A8 / A4 later</a:t>
            </a:r>
          </a:p>
        </p:txBody>
      </p:sp>
      <p:sp>
        <p:nvSpPr>
          <p:cNvPr id="10" name="w">
            <a:extLst>
              <a:ext uri="{FF2B5EF4-FFF2-40B4-BE49-F238E27FC236}">
                <a16:creationId xmlns:a16="http://schemas.microsoft.com/office/drawing/2014/main" id="{0C7A147E-2022-43E5-8A0B-B006B518CB10}"/>
              </a:ext>
            </a:extLst>
          </p:cNvPr>
          <p:cNvSpPr>
            <a:spLocks noGrp="1"/>
          </p:cNvSpPr>
          <p:nvPr/>
        </p:nvSpPr>
        <p:spPr>
          <a:xfrm>
            <a:off x="523875" y="2628900"/>
            <a:ext cx="514350" cy="514350"/>
          </a:xfrm>
          <a:prstGeom prst="rect">
            <a:avLst/>
          </a:prstGeom>
          <a:solidFill>
            <a:srgbClr val="FCF2E6"/>
          </a:solidFill>
          <a:ln w="12859">
            <a:solidFill>
              <a:srgbClr val="B26A2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1" name="ws">
            <a:extLst>
              <a:ext uri="{FF2B5EF4-FFF2-40B4-BE49-F238E27FC236}">
                <a16:creationId xmlns:a16="http://schemas.microsoft.com/office/drawing/2014/main" id="{B5BF427C-A310-4C01-BF61-C711034E673F}"/>
              </a:ext>
            </a:extLst>
          </p:cNvPr>
          <p:cNvSpPr>
            <a:spLocks noGrp="1"/>
          </p:cNvSpPr>
          <p:nvPr/>
        </p:nvSpPr>
        <p:spPr>
          <a:xfrm>
            <a:off x="1352550" y="2571750"/>
            <a:ext cx="1752600" cy="628650"/>
          </a:xfrm>
          <a:prstGeom prst="rect">
            <a:avLst/>
          </a:prstGeom>
          <a:solidFill>
            <a:srgbClr val="FCF2E6"/>
          </a:solidFill>
          <a:ln w="12859">
            <a:solidFill>
              <a:srgbClr val="B26A2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Paired transform</a:t>
            </a:r>
          </a:p>
          <a:p>
            <a:pPr algn="ctr"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W̃ = WDH</a:t>
            </a:r>
          </a:p>
        </p:txBody>
      </p:sp>
      <p:sp>
        <p:nvSpPr>
          <p:cNvPr id="12" name="vq">
            <a:extLst>
              <a:ext uri="{FF2B5EF4-FFF2-40B4-BE49-F238E27FC236}">
                <a16:creationId xmlns:a16="http://schemas.microsoft.com/office/drawing/2014/main" id="{0A99C55B-3F63-4919-AC8E-CA2588435E67}"/>
              </a:ext>
            </a:extLst>
          </p:cNvPr>
          <p:cNvSpPr>
            <a:spLocks noGrp="1"/>
          </p:cNvSpPr>
          <p:nvPr/>
        </p:nvSpPr>
        <p:spPr>
          <a:xfrm>
            <a:off x="3562350" y="2514600"/>
            <a:ext cx="1790700" cy="742950"/>
          </a:xfrm>
          <a:prstGeom prst="rect">
            <a:avLst/>
          </a:prstGeom>
          <a:solidFill>
            <a:srgbClr val="E9F4F0"/>
          </a:solidFill>
          <a:ln w="12859">
            <a:solidFill>
              <a:srgbClr val="237F7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Sensitive codebook</a:t>
            </a:r>
          </a:p>
          <a:p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 + vector indices</a:t>
            </a:r>
          </a:p>
        </p:txBody>
      </p:sp>
      <p:sp>
        <p:nvSpPr>
          <p:cNvPr id="13" name="decode">
            <a:extLst>
              <a:ext uri="{FF2B5EF4-FFF2-40B4-BE49-F238E27FC236}">
                <a16:creationId xmlns:a16="http://schemas.microsoft.com/office/drawing/2014/main" id="{2F06726C-A5DA-483F-961A-4E4ED4733154}"/>
              </a:ext>
            </a:extLst>
          </p:cNvPr>
          <p:cNvSpPr>
            <a:spLocks noGrp="1"/>
          </p:cNvSpPr>
          <p:nvPr/>
        </p:nvSpPr>
        <p:spPr>
          <a:xfrm>
            <a:off x="5686425" y="2581275"/>
            <a:ext cx="1066800" cy="619125"/>
          </a:xfrm>
          <a:prstGeom prst="rect">
            <a:avLst/>
          </a:prstGeom>
          <a:solidFill>
            <a:srgbClr val="E9F4F0"/>
          </a:solidFill>
          <a:ln w="12859">
            <a:solidFill>
              <a:srgbClr val="237F7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Reconstruct</a:t>
            </a:r>
          </a:p>
          <a:p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Ŵ</a:t>
            </a:r>
          </a:p>
        </p:txBody>
      </p:sp>
      <p:sp>
        <p:nvSpPr>
          <p:cNvPr id="14" name="linear">
            <a:extLst>
              <a:ext uri="{FF2B5EF4-FFF2-40B4-BE49-F238E27FC236}">
                <a16:creationId xmlns:a16="http://schemas.microsoft.com/office/drawing/2014/main" id="{175DE7E6-9CD9-4439-A96E-4E2D92E1EC6C}"/>
              </a:ext>
            </a:extLst>
          </p:cNvPr>
          <p:cNvSpPr>
            <a:spLocks noGrp="1"/>
          </p:cNvSpPr>
          <p:nvPr/>
        </p:nvSpPr>
        <p:spPr>
          <a:xfrm>
            <a:off x="7134225" y="1924050"/>
            <a:ext cx="752475" cy="571500"/>
          </a:xfrm>
          <a:prstGeom prst="rect">
            <a:avLst/>
          </a:prstGeom>
          <a:solidFill>
            <a:srgbClr val="F5F6F8"/>
          </a:solidFill>
          <a:ln w="12859">
            <a:solidFill>
              <a:srgbClr val="26344B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15" name="action">
            <a:extLst>
              <a:ext uri="{FF2B5EF4-FFF2-40B4-BE49-F238E27FC236}">
                <a16:creationId xmlns:a16="http://schemas.microsoft.com/office/drawing/2014/main" id="{0419B9D5-6FCA-456C-9BE4-F04E9B63A553}"/>
              </a:ext>
            </a:extLst>
          </p:cNvPr>
          <p:cNvSpPr>
            <a:spLocks noGrp="1"/>
          </p:cNvSpPr>
          <p:nvPr/>
        </p:nvSpPr>
        <p:spPr>
          <a:xfrm>
            <a:off x="8039100" y="1943100"/>
            <a:ext cx="581025" cy="542925"/>
          </a:xfrm>
          <a:prstGeom prst="rect">
            <a:avLst/>
          </a:prstGeom>
          <a:solidFill>
            <a:srgbClr val="FFFFFF"/>
          </a:solidFill>
          <a:ln w="12859">
            <a:solidFill>
              <a:srgbClr val="26344B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metric">
            <a:extLst>
              <a:ext uri="{FF2B5EF4-FFF2-40B4-BE49-F238E27FC236}">
                <a16:creationId xmlns:a16="http://schemas.microsoft.com/office/drawing/2014/main" id="{608835F7-A0ED-4446-9A4D-636C2D683B59}"/>
              </a:ext>
            </a:extLst>
          </p:cNvPr>
          <p:cNvSpPr>
            <a:spLocks noGrp="1"/>
          </p:cNvSpPr>
          <p:nvPr/>
        </p:nvSpPr>
        <p:spPr>
          <a:xfrm>
            <a:off x="3562350" y="3543300"/>
            <a:ext cx="1790700" cy="523875"/>
          </a:xfrm>
          <a:prstGeom prst="rect">
            <a:avLst/>
          </a:prstGeom>
          <a:solidFill>
            <a:srgbClr val="FFFFFF"/>
          </a:solidFill>
          <a:ln w="12859">
            <a:solidFill>
              <a:srgbClr val="237F7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 sensitivity</a:t>
            </a:r>
          </a:p>
          <a:p>
            <a:pPr algn="ctr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M from calibration</a:t>
            </a:r>
          </a:p>
        </p:txBody>
      </p:sp>
      <p:sp>
        <p:nvSpPr>
          <p:cNvPr id="17" name="acttag">
            <a:extLst>
              <a:ext uri="{FF2B5EF4-FFF2-40B4-BE49-F238E27FC236}">
                <a16:creationId xmlns:a16="http://schemas.microsoft.com/office/drawing/2014/main" id="{86493A85-92FD-4186-9642-2DF8BD47D866}"/>
              </a:ext>
            </a:extLst>
          </p:cNvPr>
          <p:cNvSpPr>
            <a:spLocks noGrp="1"/>
          </p:cNvSpPr>
          <p:nvPr/>
        </p:nvSpPr>
        <p:spPr>
          <a:xfrm>
            <a:off x="1352550" y="21145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Aim: reduce activation outliers</a:t>
            </a:r>
          </a:p>
        </p:txBody>
      </p:sp>
      <p:sp>
        <p:nvSpPr>
          <p:cNvPr id="18" name="wtag">
            <a:extLst>
              <a:ext uri="{FF2B5EF4-FFF2-40B4-BE49-F238E27FC236}">
                <a16:creationId xmlns:a16="http://schemas.microsoft.com/office/drawing/2014/main" id="{7236212B-56DE-4C8C-9091-567E7B8AC7D1}"/>
              </a:ext>
            </a:extLst>
          </p:cNvPr>
          <p:cNvSpPr>
            <a:spLocks noGrp="1"/>
          </p:cNvSpPr>
          <p:nvPr/>
        </p:nvSpPr>
        <p:spPr>
          <a:xfrm>
            <a:off x="1352550" y="3314700"/>
            <a:ext cx="22574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Scale shift to the weight branch</a:t>
            </a:r>
          </a:p>
        </p:txBody>
      </p:sp>
      <p:sp>
        <p:nvSpPr>
          <p:cNvPr id="19" name="cal">
            <a:extLst>
              <a:ext uri="{FF2B5EF4-FFF2-40B4-BE49-F238E27FC236}">
                <a16:creationId xmlns:a16="http://schemas.microsoft.com/office/drawing/2014/main" id="{B45DA62B-6355-4389-B5B1-93C7D0C29CB9}"/>
              </a:ext>
            </a:extLst>
          </p:cNvPr>
          <p:cNvSpPr>
            <a:spLocks noGrp="1"/>
          </p:cNvSpPr>
          <p:nvPr/>
        </p:nvSpPr>
        <p:spPr>
          <a:xfrm>
            <a:off x="5819775" y="3600450"/>
            <a:ext cx="2800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Dashed path: offline calibration</a:t>
            </a:r>
          </a:p>
        </p:txBody>
      </p:sp>
      <p:cxnSp>
        <p:nvCxnSpPr>
          <p:cNvPr id="50" name="直接箭头连接符 49"/>
          <p:cNvCxnSpPr>
            <a:stCxn id="7" idx="3"/>
            <a:endCxn id="8" idx="1"/>
          </p:cNvCxnSpPr>
          <p:nvPr/>
        </p:nvCxnSpPr>
        <p:spPr>
          <a:xfrm>
            <a:off x="1038225" y="1685925"/>
            <a:ext cx="314325" cy="0"/>
          </a:xfrm>
          <a:prstGeom prst="straightConnector1">
            <a:avLst/>
          </a:prstGeom>
          <a:ln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8" idx="3"/>
            <a:endCxn id="9" idx="1"/>
          </p:cNvCxnSpPr>
          <p:nvPr/>
        </p:nvCxnSpPr>
        <p:spPr>
          <a:xfrm>
            <a:off x="3105150" y="1685925"/>
            <a:ext cx="457200" cy="0"/>
          </a:xfrm>
          <a:prstGeom prst="straightConnector1">
            <a:avLst/>
          </a:prstGeom>
          <a:ln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52" name="连接符: 肘形 51"/>
          <p:cNvCxnSpPr>
            <a:stCxn id="9" idx="3"/>
            <a:endCxn id="14" idx="0"/>
          </p:cNvCxnSpPr>
          <p:nvPr/>
        </p:nvCxnSpPr>
        <p:spPr>
          <a:xfrm>
            <a:off x="4876800" y="1685925"/>
            <a:ext cx="2633663" cy="238125"/>
          </a:xfrm>
          <a:prstGeom prst="bentConnector2">
            <a:avLst/>
          </a:prstGeom>
          <a:ln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53" name="直接箭头连接符 52"/>
          <p:cNvCxnSpPr>
            <a:stCxn id="10" idx="3"/>
            <a:endCxn id="11" idx="1"/>
          </p:cNvCxnSpPr>
          <p:nvPr/>
        </p:nvCxnSpPr>
        <p:spPr>
          <a:xfrm>
            <a:off x="1038225" y="2886075"/>
            <a:ext cx="314325" cy="0"/>
          </a:xfrm>
          <a:prstGeom prst="straightConnector1">
            <a:avLst/>
          </a:prstGeom>
          <a:ln w="16193">
            <a:solidFill>
              <a:srgbClr val="B26A23"/>
            </a:solidFill>
            <a:prstDash val="solid"/>
            <a:tailEnd type="triangle" w="sm" len="sm"/>
          </a:ln>
        </p:spPr>
      </p:cxnSp>
      <p:cxnSp>
        <p:nvCxnSpPr>
          <p:cNvPr id="54" name="直接箭头连接符 53"/>
          <p:cNvCxnSpPr>
            <a:stCxn id="11" idx="3"/>
            <a:endCxn id="12" idx="1"/>
          </p:cNvCxnSpPr>
          <p:nvPr/>
        </p:nvCxnSpPr>
        <p:spPr>
          <a:xfrm>
            <a:off x="3105150" y="2886075"/>
            <a:ext cx="457200" cy="0"/>
          </a:xfrm>
          <a:prstGeom prst="straightConnector1">
            <a:avLst/>
          </a:prstGeom>
          <a:ln w="16193">
            <a:solidFill>
              <a:srgbClr val="B26A23"/>
            </a:solidFill>
            <a:prstDash val="solid"/>
            <a:tailEnd type="triangle" w="sm" len="sm"/>
          </a:ln>
        </p:spPr>
      </p:cxnSp>
      <p:cxnSp>
        <p:nvCxnSpPr>
          <p:cNvPr id="55" name="直接箭头连接符 54"/>
          <p:cNvCxnSpPr>
            <a:stCxn id="12" idx="3"/>
            <a:endCxn id="13" idx="1"/>
          </p:cNvCxnSpPr>
          <p:nvPr/>
        </p:nvCxnSpPr>
        <p:spPr>
          <a:xfrm>
            <a:off x="5353050" y="2886075"/>
            <a:ext cx="333375" cy="4763"/>
          </a:xfrm>
          <a:prstGeom prst="straightConnector1">
            <a:avLst/>
          </a:prstGeom>
          <a:ln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56" name="连接符: 肘形 55"/>
          <p:cNvCxnSpPr>
            <a:stCxn id="13" idx="3"/>
            <a:endCxn id="14" idx="2"/>
          </p:cNvCxnSpPr>
          <p:nvPr/>
        </p:nvCxnSpPr>
        <p:spPr>
          <a:xfrm flipV="1">
            <a:off x="6753225" y="2495550"/>
            <a:ext cx="757238" cy="395288"/>
          </a:xfrm>
          <a:prstGeom prst="bentConnector2">
            <a:avLst/>
          </a:prstGeom>
          <a:ln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57" name="直接箭头连接符 56"/>
          <p:cNvCxnSpPr>
            <a:stCxn id="14" idx="3"/>
            <a:endCxn id="15" idx="1"/>
          </p:cNvCxnSpPr>
          <p:nvPr/>
        </p:nvCxnSpPr>
        <p:spPr>
          <a:xfrm>
            <a:off x="7886700" y="2209800"/>
            <a:ext cx="152400" cy="4763"/>
          </a:xfrm>
          <a:prstGeom prst="straightConnector1">
            <a:avLst/>
          </a:prstGeom>
          <a:ln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58" name="直接箭头连接符 57"/>
          <p:cNvCxnSpPr>
            <a:stCxn id="16" idx="0"/>
            <a:endCxn id="12" idx="2"/>
          </p:cNvCxnSpPr>
          <p:nvPr/>
        </p:nvCxnSpPr>
        <p:spPr>
          <a:xfrm flipV="1">
            <a:off x="4457700" y="3257550"/>
            <a:ext cx="0" cy="285750"/>
          </a:xfrm>
          <a:prstGeom prst="straightConnector1">
            <a:avLst/>
          </a:prstGeom>
          <a:ln w="16193">
            <a:solidFill>
              <a:srgbClr val="237F79"/>
            </a:solidFill>
            <a:prstDash val="dash"/>
            <a:tailEnd type="triangle" w="sm" len="sm"/>
          </a:ln>
        </p:spPr>
      </p:cxnSp>
      <p:sp>
        <p:nvSpPr>
          <p:cNvPr id="29" name="Equivalent identity">
            <a:extLst>
              <a:ext uri="{FF2B5EF4-FFF2-40B4-BE49-F238E27FC236}">
                <a16:creationId xmlns:a16="http://schemas.microsoft.com/office/drawing/2014/main" id="{FD3D2E14-0C9C-4B0B-AABC-09FB65B7181C}"/>
              </a:ext>
            </a:extLst>
          </p:cNvPr>
          <p:cNvSpPr>
            <a:spLocks noGrp="1"/>
          </p:cNvSpPr>
          <p:nvPr/>
        </p:nvSpPr>
        <p:spPr>
          <a:xfrm>
            <a:off x="523875" y="4191000"/>
            <a:ext cx="809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Before quantization:   X̃W̃ᵀ = XWᵀ   when HHᵀ = I and D is invertible.</a:t>
            </a:r>
          </a:p>
        </p:txBody>
      </p:sp>
      <p:sp>
        <p:nvSpPr>
          <p:cNvPr id="30" name="Evidence source">
            <a:extLst>
              <a:ext uri="{FF2B5EF4-FFF2-40B4-BE49-F238E27FC236}">
                <a16:creationId xmlns:a16="http://schemas.microsoft.com/office/drawing/2014/main" id="{354D997C-39EF-4800-BBDB-83A40F7FACE1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Proposed method · BF16 activations first; A8/A4 later · Outlier reduction must be measured</a:t>
            </a:r>
          </a:p>
        </p:txBody>
      </p:sp>
      <p:sp>
        <p:nvSpPr>
          <p:cNvPr id="31" name="Slide number">
            <a:extLst>
              <a:ext uri="{FF2B5EF4-FFF2-40B4-BE49-F238E27FC236}">
                <a16:creationId xmlns:a16="http://schemas.microsoft.com/office/drawing/2014/main" id="{98A073CB-0B8D-4356-912B-E4FADF9107A2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Action-sensitive codebook geometry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ga">
            <a:extLst>
              <a:ext uri="{FF2B5EF4-FFF2-40B4-BE49-F238E27FC236}">
                <a16:creationId xmlns:a16="http://schemas.microsoft.com/office/drawing/2014/main" id="{50187CCD-0AB5-4302-A27D-E30C837980C2}"/>
              </a:ext>
            </a:extLst>
          </p:cNvPr>
          <p:cNvSpPr>
            <a:spLocks noGrp="1"/>
          </p:cNvSpPr>
          <p:nvPr/>
        </p:nvSpPr>
        <p:spPr>
          <a:xfrm>
            <a:off x="523875" y="828675"/>
            <a:ext cx="4133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(a) A two-dimensional weight block</a:t>
            </a:r>
          </a:p>
        </p:txBody>
      </p:sp>
      <p:sp>
        <p:nvSpPr>
          <p:cNvPr id="5" name="gb">
            <a:extLst>
              <a:ext uri="{FF2B5EF4-FFF2-40B4-BE49-F238E27FC236}">
                <a16:creationId xmlns:a16="http://schemas.microsoft.com/office/drawing/2014/main" id="{F4F1D063-7AD0-4737-B2BB-B1C0F4087D52}"/>
              </a:ext>
            </a:extLst>
          </p:cNvPr>
          <p:cNvSpPr>
            <a:spLocks noGrp="1"/>
          </p:cNvSpPr>
          <p:nvPr/>
        </p:nvSpPr>
        <p:spPr>
          <a:xfrm>
            <a:off x="5114925" y="828675"/>
            <a:ext cx="3505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(b) Action-weighted distortion</a:t>
            </a:r>
          </a:p>
        </p:txBody>
      </p:sp>
      <p:sp>
        <p:nvSpPr>
          <p:cNvPr id="6" name="region">
            <a:extLst>
              <a:ext uri="{FF2B5EF4-FFF2-40B4-BE49-F238E27FC236}">
                <a16:creationId xmlns:a16="http://schemas.microsoft.com/office/drawing/2014/main" id="{D7EC5DBA-4740-4AEA-B681-CC6A2435D192}"/>
              </a:ext>
            </a:extLst>
          </p:cNvPr>
          <p:cNvSpPr>
            <a:spLocks noGrp="1"/>
          </p:cNvSpPr>
          <p:nvPr/>
        </p:nvSpPr>
        <p:spPr>
          <a:xfrm>
            <a:off x="1571625" y="1562100"/>
            <a:ext cx="781050" cy="2343150"/>
          </a:xfrm>
          <a:prstGeom prst="ellipse">
            <a:avLst/>
          </a:prstGeom>
          <a:solidFill>
            <a:srgbClr val="EFF8F5"/>
          </a:solidFill>
          <a:ln w="12859">
            <a:solidFill>
              <a:srgbClr val="86BFB2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endParaRPr/>
          </a:p>
        </p:txBody>
      </p:sp>
      <p:sp>
        <p:nvSpPr>
          <p:cNvPr id="7" name="w0">
            <a:extLst>
              <a:ext uri="{FF2B5EF4-FFF2-40B4-BE49-F238E27FC236}">
                <a16:creationId xmlns:a16="http://schemas.microsoft.com/office/drawing/2014/main" id="{9129B708-DA3F-4DDA-95D5-392002CE3984}"/>
              </a:ext>
            </a:extLst>
          </p:cNvPr>
          <p:cNvSpPr>
            <a:spLocks noGrp="1"/>
          </p:cNvSpPr>
          <p:nvPr/>
        </p:nvSpPr>
        <p:spPr>
          <a:xfrm>
            <a:off x="1905000" y="2676525"/>
            <a:ext cx="123825" cy="123825"/>
          </a:xfrm>
          <a:prstGeom prst="ellipse">
            <a:avLst/>
          </a:prstGeom>
          <a:solidFill>
            <a:srgbClr val="26344B"/>
          </a:solidFill>
          <a:ln w="12859">
            <a:solidFill>
              <a:srgbClr val="26344B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endParaRPr/>
          </a:p>
        </p:txBody>
      </p:sp>
      <p:sp>
        <p:nvSpPr>
          <p:cNvPr id="8" name="cL2">
            <a:extLst>
              <a:ext uri="{FF2B5EF4-FFF2-40B4-BE49-F238E27FC236}">
                <a16:creationId xmlns:a16="http://schemas.microsoft.com/office/drawing/2014/main" id="{855E0AB9-E1BA-45C1-8E72-6277F4AFC4C5}"/>
              </a:ext>
            </a:extLst>
          </p:cNvPr>
          <p:cNvSpPr>
            <a:spLocks noGrp="1"/>
          </p:cNvSpPr>
          <p:nvPr/>
        </p:nvSpPr>
        <p:spPr>
          <a:xfrm>
            <a:off x="2466975" y="2676525"/>
            <a:ext cx="123825" cy="123825"/>
          </a:xfrm>
          <a:prstGeom prst="ellipse">
            <a:avLst/>
          </a:prstGeom>
          <a:solidFill>
            <a:srgbClr val="B26A23"/>
          </a:solidFill>
          <a:ln w="12859">
            <a:solidFill>
              <a:srgbClr val="B26A2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endParaRPr/>
          </a:p>
        </p:txBody>
      </p:sp>
      <p:sp>
        <p:nvSpPr>
          <p:cNvPr id="9" name="cM">
            <a:extLst>
              <a:ext uri="{FF2B5EF4-FFF2-40B4-BE49-F238E27FC236}">
                <a16:creationId xmlns:a16="http://schemas.microsoft.com/office/drawing/2014/main" id="{613BF9E3-042B-4564-A9F5-2F8854A73937}"/>
              </a:ext>
            </a:extLst>
          </p:cNvPr>
          <p:cNvSpPr>
            <a:spLocks noGrp="1"/>
          </p:cNvSpPr>
          <p:nvPr/>
        </p:nvSpPr>
        <p:spPr>
          <a:xfrm>
            <a:off x="1905000" y="1552575"/>
            <a:ext cx="123825" cy="123825"/>
          </a:xfrm>
          <a:prstGeom prst="ellipse">
            <a:avLst/>
          </a:prstGeom>
          <a:solidFill>
            <a:srgbClr val="237F79"/>
          </a:solidFill>
          <a:ln w="12859">
            <a:solidFill>
              <a:srgbClr val="237F7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endParaRPr/>
          </a:p>
        </p:txBody>
      </p:sp>
      <p:sp>
        <p:nvSpPr>
          <p:cNvPr id="10" name="wlabel">
            <a:extLst>
              <a:ext uri="{FF2B5EF4-FFF2-40B4-BE49-F238E27FC236}">
                <a16:creationId xmlns:a16="http://schemas.microsoft.com/office/drawing/2014/main" id="{1B1995A3-EACD-43DF-A049-E6DCDEDB11E8}"/>
              </a:ext>
            </a:extLst>
          </p:cNvPr>
          <p:cNvSpPr>
            <a:spLocks noGrp="1"/>
          </p:cNvSpPr>
          <p:nvPr/>
        </p:nvSpPr>
        <p:spPr>
          <a:xfrm>
            <a:off x="695325" y="3019425"/>
            <a:ext cx="14573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w = (0, 0)</a:t>
            </a:r>
          </a:p>
        </p:txBody>
      </p:sp>
      <p:sp>
        <p:nvSpPr>
          <p:cNvPr id="11" name="l2label">
            <a:extLst>
              <a:ext uri="{FF2B5EF4-FFF2-40B4-BE49-F238E27FC236}">
                <a16:creationId xmlns:a16="http://schemas.microsoft.com/office/drawing/2014/main" id="{2739340C-50F7-4687-9473-5BF405B09766}"/>
              </a:ext>
            </a:extLst>
          </p:cNvPr>
          <p:cNvSpPr>
            <a:spLocks noGrp="1"/>
          </p:cNvSpPr>
          <p:nvPr/>
        </p:nvSpPr>
        <p:spPr>
          <a:xfrm>
            <a:off x="2743200" y="3114675"/>
            <a:ext cx="2095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c₁ = (0.3, 0)</a:t>
            </a:r>
          </a:p>
          <a:p>
            <a:pPr algn="l">
              <a:defRPr sz="1275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Euclidean nearest</a:t>
            </a:r>
          </a:p>
        </p:txBody>
      </p:sp>
      <p:sp>
        <p:nvSpPr>
          <p:cNvPr id="12" name="mlabel">
            <a:extLst>
              <a:ext uri="{FF2B5EF4-FFF2-40B4-BE49-F238E27FC236}">
                <a16:creationId xmlns:a16="http://schemas.microsoft.com/office/drawing/2014/main" id="{282CD149-AF68-43BB-AA1F-2AB974F5AE9B}"/>
              </a:ext>
            </a:extLst>
          </p:cNvPr>
          <p:cNvSpPr>
            <a:spLocks noGrp="1"/>
          </p:cNvSpPr>
          <p:nvPr/>
        </p:nvSpPr>
        <p:spPr>
          <a:xfrm>
            <a:off x="2667000" y="1495425"/>
            <a:ext cx="22764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c₂ = (0, 0.6)</a:t>
            </a:r>
          </a:p>
          <a:p>
            <a:pPr algn="l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Action-weighted nearest</a:t>
            </a:r>
          </a:p>
        </p:txBody>
      </p:sp>
      <p:sp>
        <p:nvSpPr>
          <p:cNvPr id="13" name="xaxis">
            <a:extLst>
              <a:ext uri="{FF2B5EF4-FFF2-40B4-BE49-F238E27FC236}">
                <a16:creationId xmlns:a16="http://schemas.microsoft.com/office/drawing/2014/main" id="{56BCAE22-11C3-49F3-A8A7-80F9AF062859}"/>
              </a:ext>
            </a:extLst>
          </p:cNvPr>
          <p:cNvSpPr>
            <a:spLocks noGrp="1"/>
          </p:cNvSpPr>
          <p:nvPr/>
        </p:nvSpPr>
        <p:spPr>
          <a:xfrm>
            <a:off x="2847975" y="2381250"/>
            <a:ext cx="19907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Sensitive direction</a:t>
            </a:r>
          </a:p>
        </p:txBody>
      </p:sp>
      <p:sp>
        <p:nvSpPr>
          <p:cNvPr id="14" name="yaxis">
            <a:extLst>
              <a:ext uri="{FF2B5EF4-FFF2-40B4-BE49-F238E27FC236}">
                <a16:creationId xmlns:a16="http://schemas.microsoft.com/office/drawing/2014/main" id="{8FFB8423-A105-40CC-96E7-336386F19912}"/>
              </a:ext>
            </a:extLst>
          </p:cNvPr>
          <p:cNvSpPr>
            <a:spLocks noGrp="1"/>
          </p:cNvSpPr>
          <p:nvPr/>
        </p:nvSpPr>
        <p:spPr>
          <a:xfrm>
            <a:off x="523875" y="1181100"/>
            <a:ext cx="1847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Less sensitive</a:t>
            </a:r>
          </a:p>
        </p:txBody>
      </p:sp>
      <p:sp>
        <p:nvSpPr>
          <p:cNvPr id="15" name="formula">
            <a:extLst>
              <a:ext uri="{FF2B5EF4-FFF2-40B4-BE49-F238E27FC236}">
                <a16:creationId xmlns:a16="http://schemas.microsoft.com/office/drawing/2014/main" id="{A62A147F-5E34-41EE-AD8E-8589A075DBCE}"/>
              </a:ext>
            </a:extLst>
          </p:cNvPr>
          <p:cNvSpPr>
            <a:spLocks noGrp="1"/>
          </p:cNvSpPr>
          <p:nvPr/>
        </p:nvSpPr>
        <p:spPr>
          <a:xfrm>
            <a:off x="5114925" y="1428750"/>
            <a:ext cx="35052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dₘ(v,c) = (v−c)ᵀM(v−c)</a:t>
            </a:r>
          </a:p>
        </p:txBody>
      </p:sp>
      <p:sp>
        <p:nvSpPr>
          <p:cNvPr id="16" name="metricnote">
            <a:extLst>
              <a:ext uri="{FF2B5EF4-FFF2-40B4-BE49-F238E27FC236}">
                <a16:creationId xmlns:a16="http://schemas.microsoft.com/office/drawing/2014/main" id="{49002203-4279-4329-AE9E-642C5B5669F5}"/>
              </a:ext>
            </a:extLst>
          </p:cNvPr>
          <p:cNvSpPr>
            <a:spLocks noGrp="1"/>
          </p:cNvSpPr>
          <p:nvPr/>
        </p:nvSpPr>
        <p:spPr>
          <a:xfrm>
            <a:off x="5114925" y="1952625"/>
            <a:ext cx="350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M = diag(9, 1) in this illustration</a:t>
            </a:r>
          </a:p>
        </p:txBody>
      </p:sp>
      <p:sp>
        <p:nvSpPr>
          <p:cNvPr id="17" name="l2dist">
            <a:extLst>
              <a:ext uri="{FF2B5EF4-FFF2-40B4-BE49-F238E27FC236}">
                <a16:creationId xmlns:a16="http://schemas.microsoft.com/office/drawing/2014/main" id="{F3FB47EA-F030-44B9-9CE3-A3FFC3E9E363}"/>
              </a:ext>
            </a:extLst>
          </p:cNvPr>
          <p:cNvSpPr>
            <a:spLocks noGrp="1"/>
          </p:cNvSpPr>
          <p:nvPr/>
        </p:nvSpPr>
        <p:spPr>
          <a:xfrm>
            <a:off x="5114925" y="2505075"/>
            <a:ext cx="3505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Euclidean distortion</a:t>
            </a:r>
          </a:p>
          <a:p>
            <a:pPr algn="l">
              <a:defRPr sz="16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c₁: 0.09       c₂: 0.36</a:t>
            </a:r>
          </a:p>
        </p:txBody>
      </p:sp>
      <p:sp>
        <p:nvSpPr>
          <p:cNvPr id="18" name="mdist">
            <a:extLst>
              <a:ext uri="{FF2B5EF4-FFF2-40B4-BE49-F238E27FC236}">
                <a16:creationId xmlns:a16="http://schemas.microsoft.com/office/drawing/2014/main" id="{25C5B531-0807-42C8-AD1E-EEC1CBF95CCA}"/>
              </a:ext>
            </a:extLst>
          </p:cNvPr>
          <p:cNvSpPr>
            <a:spLocks noGrp="1"/>
          </p:cNvSpPr>
          <p:nvPr/>
        </p:nvSpPr>
        <p:spPr>
          <a:xfrm>
            <a:off x="5114925" y="3381375"/>
            <a:ext cx="3505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Action-weighted distortion</a:t>
            </a:r>
          </a:p>
          <a:p>
            <a:pPr algn="l">
              <a:defRPr sz="16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c₁: 0.81       c₂: 0.36</a:t>
            </a:r>
          </a:p>
        </p:txBody>
      </p:sp>
      <p:sp>
        <p:nvSpPr>
          <p:cNvPr id="19" name="ellipsenote">
            <a:extLst>
              <a:ext uri="{FF2B5EF4-FFF2-40B4-BE49-F238E27FC236}">
                <a16:creationId xmlns:a16="http://schemas.microsoft.com/office/drawing/2014/main" id="{41EF2246-9C1D-427E-88EF-E6DE6ED6BA01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4352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Ellipse: equal action-weighted error</a:t>
            </a:r>
          </a:p>
        </p:txBody>
      </p:sp>
      <p:sp>
        <p:nvSpPr>
          <p:cNvPr id="20" name="xstart">
            <a:extLst>
              <a:ext uri="{FF2B5EF4-FFF2-40B4-BE49-F238E27FC236}">
                <a16:creationId xmlns:a16="http://schemas.microsoft.com/office/drawing/2014/main" id="{FD58854C-C6B4-487D-AC36-D5C247B06095}"/>
              </a:ext>
            </a:extLst>
          </p:cNvPr>
          <p:cNvSpPr>
            <a:spLocks noGrp="1"/>
          </p:cNvSpPr>
          <p:nvPr/>
        </p:nvSpPr>
        <p:spPr>
          <a:xfrm>
            <a:off x="1962150" y="27336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21" name="xend">
            <a:extLst>
              <a:ext uri="{FF2B5EF4-FFF2-40B4-BE49-F238E27FC236}">
                <a16:creationId xmlns:a16="http://schemas.microsoft.com/office/drawing/2014/main" id="{7034370A-B032-41F6-ADBE-50CA8E376296}"/>
              </a:ext>
            </a:extLst>
          </p:cNvPr>
          <p:cNvSpPr>
            <a:spLocks noGrp="1"/>
          </p:cNvSpPr>
          <p:nvPr/>
        </p:nvSpPr>
        <p:spPr>
          <a:xfrm>
            <a:off x="4752975" y="27336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22" name="ystart">
            <a:extLst>
              <a:ext uri="{FF2B5EF4-FFF2-40B4-BE49-F238E27FC236}">
                <a16:creationId xmlns:a16="http://schemas.microsoft.com/office/drawing/2014/main" id="{304B3294-6A2C-4CBE-9D88-C604E7426ACC}"/>
              </a:ext>
            </a:extLst>
          </p:cNvPr>
          <p:cNvSpPr>
            <a:spLocks noGrp="1"/>
          </p:cNvSpPr>
          <p:nvPr/>
        </p:nvSpPr>
        <p:spPr>
          <a:xfrm>
            <a:off x="1962150" y="27336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23" name="yend">
            <a:extLst>
              <a:ext uri="{FF2B5EF4-FFF2-40B4-BE49-F238E27FC236}">
                <a16:creationId xmlns:a16="http://schemas.microsoft.com/office/drawing/2014/main" id="{D139B1A7-ABFA-443F-83D7-49600E670319}"/>
              </a:ext>
            </a:extLst>
          </p:cNvPr>
          <p:cNvSpPr>
            <a:spLocks noGrp="1"/>
          </p:cNvSpPr>
          <p:nvPr/>
        </p:nvSpPr>
        <p:spPr>
          <a:xfrm>
            <a:off x="1962150" y="11715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cxnSp>
        <p:nvCxnSpPr>
          <p:cNvPr id="53" name="直接箭头连接符 52"/>
          <p:cNvCxnSpPr>
            <a:stCxn id="20" idx="3"/>
            <a:endCxn id="21" idx="1"/>
          </p:cNvCxnSpPr>
          <p:nvPr/>
        </p:nvCxnSpPr>
        <p:spPr>
          <a:xfrm>
            <a:off x="1971675" y="2738438"/>
            <a:ext cx="2781300" cy="0"/>
          </a:xfrm>
          <a:prstGeom prst="straightConnector1">
            <a:avLst/>
          </a:prstGeom>
          <a:ln w="9525">
            <a:solidFill>
              <a:srgbClr val="8895A4"/>
            </a:solidFill>
            <a:prstDash val="solid"/>
            <a:tailEnd type="triangle" w="sm" len="sm"/>
          </a:ln>
        </p:spPr>
      </p:cxnSp>
      <p:cxnSp>
        <p:nvCxnSpPr>
          <p:cNvPr id="54" name="直接箭头连接符 53"/>
          <p:cNvCxnSpPr>
            <a:stCxn id="22" idx="3"/>
            <a:endCxn id="23" idx="1"/>
          </p:cNvCxnSpPr>
          <p:nvPr/>
        </p:nvCxnSpPr>
        <p:spPr>
          <a:xfrm flipH="1" flipV="1">
            <a:off x="1962150" y="1176338"/>
            <a:ext cx="9525" cy="1562100"/>
          </a:xfrm>
          <a:prstGeom prst="straightConnector1">
            <a:avLst/>
          </a:prstGeom>
          <a:ln w="9525">
            <a:solidFill>
              <a:srgbClr val="8895A4"/>
            </a:solidFill>
            <a:prstDash val="solid"/>
            <a:tailEnd type="triangle" w="sm" len="sm"/>
          </a:ln>
        </p:spPr>
      </p:cxnSp>
      <p:cxnSp>
        <p:nvCxnSpPr>
          <p:cNvPr id="55" name="直接箭头连接符 54"/>
          <p:cNvCxnSpPr>
            <a:stCxn id="7" idx="6"/>
            <a:endCxn id="8" idx="2"/>
          </p:cNvCxnSpPr>
          <p:nvPr/>
        </p:nvCxnSpPr>
        <p:spPr>
          <a:xfrm>
            <a:off x="2028825" y="2738438"/>
            <a:ext cx="438150" cy="0"/>
          </a:xfrm>
          <a:prstGeom prst="straightConnector1">
            <a:avLst/>
          </a:prstGeom>
          <a:ln w="19050">
            <a:solidFill>
              <a:srgbClr val="B26A23"/>
            </a:solidFill>
            <a:prstDash val="solid"/>
            <a:tailEnd type="triangle" w="sm" len="sm"/>
          </a:ln>
        </p:spPr>
      </p:cxnSp>
      <p:cxnSp>
        <p:nvCxnSpPr>
          <p:cNvPr id="56" name="直接箭头连接符 55"/>
          <p:cNvCxnSpPr>
            <a:stCxn id="7" idx="0"/>
            <a:endCxn id="9" idx="4"/>
          </p:cNvCxnSpPr>
          <p:nvPr/>
        </p:nvCxnSpPr>
        <p:spPr>
          <a:xfrm flipV="1">
            <a:off x="1966913" y="1676400"/>
            <a:ext cx="0" cy="1000125"/>
          </a:xfrm>
          <a:prstGeom prst="straightConnector1">
            <a:avLst/>
          </a:prstGeom>
          <a:ln w="19050">
            <a:solidFill>
              <a:srgbClr val="237F79"/>
            </a:solidFill>
            <a:prstDash val="solid"/>
            <a:tailEnd type="triangle" w="sm" len="sm"/>
          </a:ln>
        </p:spPr>
      </p:cxnSp>
      <p:sp>
        <p:nvSpPr>
          <p:cNvPr id="28" name="Codebook objective">
            <a:extLst>
              <a:ext uri="{FF2B5EF4-FFF2-40B4-BE49-F238E27FC236}">
                <a16:creationId xmlns:a16="http://schemas.microsoft.com/office/drawing/2014/main" id="{7B57ABF6-7B32-4B56-9F90-CEEA00B25970}"/>
              </a:ext>
            </a:extLst>
          </p:cNvPr>
          <p:cNvSpPr>
            <a:spLocks noGrp="1"/>
          </p:cNvSpPr>
          <p:nvPr/>
        </p:nvSpPr>
        <p:spPr>
          <a:xfrm>
            <a:off x="523875" y="4200525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L = Σⱼ (w̃ⱼ − C[zⱼ])ᵀ Mⱼ (w̃ⱼ − C[zⱼ])</a:t>
            </a:r>
          </a:p>
        </p:txBody>
      </p:sp>
      <p:sp>
        <p:nvSpPr>
          <p:cNvPr id="29" name="Evidence source">
            <a:extLst>
              <a:ext uri="{FF2B5EF4-FFF2-40B4-BE49-F238E27FC236}">
                <a16:creationId xmlns:a16="http://schemas.microsoft.com/office/drawing/2014/main" id="{D8E50F77-3E82-4778-B8E7-9CD58041F97C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Illustrative geometry, not measured data · M is an estimated PSD action-sensitivity metric</a:t>
            </a:r>
          </a:p>
        </p:txBody>
      </p:sp>
      <p:sp>
        <p:nvSpPr>
          <p:cNvPr id="30" name="Slide number">
            <a:extLst>
              <a:ext uri="{FF2B5EF4-FFF2-40B4-BE49-F238E27FC236}">
                <a16:creationId xmlns:a16="http://schemas.microsoft.com/office/drawing/2014/main" id="{2B7DC776-E994-4E9A-8005-26FA36C07B7A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After VQ: cache, kernels and QAT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ache heading">
            <a:extLst>
              <a:ext uri="{FF2B5EF4-FFF2-40B4-BE49-F238E27FC236}">
                <a16:creationId xmlns:a16="http://schemas.microsoft.com/office/drawing/2014/main" id="{450A193D-9839-44FA-964E-EF208C9D837E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1   KV cache quantization</a:t>
            </a:r>
          </a:p>
        </p:txBody>
      </p:sp>
      <p:sp>
        <p:nvSpPr>
          <p:cNvPr id="5" name="Cache body">
            <a:extLst>
              <a:ext uri="{FF2B5EF4-FFF2-40B4-BE49-F238E27FC236}">
                <a16:creationId xmlns:a16="http://schemas.microsoft.com/office/drawing/2014/main" id="{0F26C6FC-AE49-4B0C-A726-80A6700AFF58}"/>
              </a:ext>
            </a:extLst>
          </p:cNvPr>
          <p:cNvSpPr>
            <a:spLocks noGrp="1"/>
          </p:cNvSpPr>
          <p:nvPr/>
        </p:nvSpPr>
        <p:spPr>
          <a:xfrm>
            <a:off x="952500" y="1381125"/>
            <a:ext cx="7524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6344B"/>
                </a:solidFill>
                <a:latin typeface="Arial"/>
                <a:ea typeface="Arial"/>
                <a:cs typeface="Arial"/>
              </a:rPr>
              <a:t>Test K/V precision after weight VQ; measure cache bytes and control fidelity.</a:t>
            </a:r>
          </a:p>
        </p:txBody>
      </p:sp>
      <p:sp>
        <p:nvSpPr>
          <p:cNvPr id="6" name="Kernel heading">
            <a:extLst>
              <a:ext uri="{FF2B5EF4-FFF2-40B4-BE49-F238E27FC236}">
                <a16:creationId xmlns:a16="http://schemas.microsoft.com/office/drawing/2014/main" id="{50B6569D-12E0-4905-A300-C54801179897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237F79"/>
                </a:solidFill>
                <a:latin typeface="Arial"/>
                <a:ea typeface="Arial"/>
                <a:cs typeface="Arial"/>
              </a:rPr>
              <a:t>2   Rudder-inspired VQ kernels</a:t>
            </a:r>
          </a:p>
        </p:txBody>
      </p:sp>
      <p:sp>
        <p:nvSpPr>
          <p:cNvPr id="7" name="Kernel body">
            <a:extLst>
              <a:ext uri="{FF2B5EF4-FFF2-40B4-BE49-F238E27FC236}">
                <a16:creationId xmlns:a16="http://schemas.microsoft.com/office/drawing/2014/main" id="{4B706CD7-6052-4F33-8DD1-8A9C6C002D97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Fuse codebook lookup / decode with GEMM and scaling; test native end-to-end latency.</a:t>
            </a:r>
          </a:p>
        </p:txBody>
      </p:sp>
      <p:sp>
        <p:nvSpPr>
          <p:cNvPr id="8" name="QAT heading">
            <a:extLst>
              <a:ext uri="{FF2B5EF4-FFF2-40B4-BE49-F238E27FC236}">
                <a16:creationId xmlns:a16="http://schemas.microsoft.com/office/drawing/2014/main" id="{43BEC1F8-5F25-41BB-A155-987436865E68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3   QAT, if GPU budget permits</a:t>
            </a:r>
          </a:p>
        </p:txBody>
      </p:sp>
      <p:sp>
        <p:nvSpPr>
          <p:cNvPr id="9" name="QAT body">
            <a:extLst>
              <a:ext uri="{FF2B5EF4-FFF2-40B4-BE49-F238E27FC236}">
                <a16:creationId xmlns:a16="http://schemas.microsoft.com/office/drawing/2014/main" id="{CA797E0A-CB0A-4E50-9C9E-AF0A63785DF9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Start with an ActionDiT pilot; direct WAM-control QAT remains a direction to investigate.</a:t>
            </a:r>
          </a:p>
        </p:txBody>
      </p:sp>
      <p:sp>
        <p:nvSpPr>
          <p:cNvPr id="10" name="Evidence source">
            <a:extLst>
              <a:ext uri="{FF2B5EF4-FFF2-40B4-BE49-F238E27FC236}">
                <a16:creationId xmlns:a16="http://schemas.microsoft.com/office/drawing/2014/main" id="{A77459B9-DBFD-487A-BACA-9F63136D13D4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Order: weight-VQ fidelity → paired closed-loop evaluation → packed kernels → resource-dependent QAT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DCD19109-4212-4C3B-9E19-37F4968AC061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2572</Words>
  <Application>Microsoft Office PowerPoint</Application>
  <DocSecurity>0</DocSecurity>
  <PresentationFormat>全屏显示(16:9)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Yichen Guo</cp:lastModifiedBy>
  <cp:revision>2</cp:revision>
  <dcterms:created xsi:type="dcterms:W3CDTF">2026-10-06T12:32:11Z</dcterms:created>
  <dcterms:modified xsi:type="dcterms:W3CDTF">2026-10-06T12:41:38Z</dcterms:modified>
</cp:coreProperties>
</file>