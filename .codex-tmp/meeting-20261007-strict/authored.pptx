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83e223e4dd4ba9" /><Relationship Type="http://schemas.openxmlformats.org/officeDocument/2006/relationships/extended-properties" Target="/docProps/app.xml" Id="R512447ba461046fe" /><Relationship Type="http://schemas.openxmlformats.org/officeDocument/2006/relationships/officeDocument" Target="/ppt/presentation.xml" Id="Rfda9f6e25d5e49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da7c66b3c940dd"/>
  </p:sldMasterIdLst>
  <p:notesMasterIdLst>
    <p:notesMasterId xmlns:r="http://schemas.openxmlformats.org/officeDocument/2006/relationships" r:id="R8163ad1d350d460a"/>
  </p:notesMasterIdLst>
  <p:sldIdLst>
    <p:sldId xmlns:r="http://schemas.openxmlformats.org/officeDocument/2006/relationships" id="256" r:id="R94932d9665b6457d"/>
    <p:sldId xmlns:r="http://schemas.openxmlformats.org/officeDocument/2006/relationships" id="257" r:id="Rc9c865162a304ddb"/>
    <p:sldId xmlns:r="http://schemas.openxmlformats.org/officeDocument/2006/relationships" id="258" r:id="R21efe980c774408f"/>
    <p:sldId xmlns:r="http://schemas.openxmlformats.org/officeDocument/2006/relationships" id="259" r:id="Ra365a388661c4b1c"/>
    <p:sldId xmlns:r="http://schemas.openxmlformats.org/officeDocument/2006/relationships" id="260" r:id="Rbe4c254520354ea4"/>
    <p:sldId xmlns:r="http://schemas.openxmlformats.org/officeDocument/2006/relationships" id="261" r:id="Rfd5c6714b29d4c3b"/>
    <p:sldId xmlns:r="http://schemas.openxmlformats.org/officeDocument/2006/relationships" id="262" r:id="Rb82a7a136fe04775"/>
    <p:sldId xmlns:r="http://schemas.openxmlformats.org/officeDocument/2006/relationships" id="263" r:id="Rdfad321422744522"/>
    <p:sldId xmlns:r="http://schemas.openxmlformats.org/officeDocument/2006/relationships" id="264" r:id="R2293ced89a304a5d"/>
    <p:sldId xmlns:r="http://schemas.openxmlformats.org/officeDocument/2006/relationships" id="265" r:id="Rb35c135a87ce4028"/>
    <p:sldId xmlns:r="http://schemas.openxmlformats.org/officeDocument/2006/relationships" id="266" r:id="Rb8a08fba1b1b47eb"/>
    <p:sldId xmlns:r="http://schemas.openxmlformats.org/officeDocument/2006/relationships" id="267" r:id="Rdea1e3a0331e4191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a588170f2f42c0" /><Relationship Type="http://schemas.openxmlformats.org/officeDocument/2006/relationships/slideMaster" Target="/ppt/slideMasters/slideMaster1.xml" Id="Rffda7c66b3c940dd" /><Relationship Type="http://schemas.openxmlformats.org/officeDocument/2006/relationships/notesMaster" Target="/ppt/notesMasters/notesMaster1.xml" Id="R8163ad1d350d460a" /><Relationship Type="http://schemas.openxmlformats.org/officeDocument/2006/relationships/presProps" Target="/ppt/presProps.xml" Id="R10abe97497804fcb" /><Relationship Type="http://schemas.openxmlformats.org/officeDocument/2006/relationships/viewProps" Target="/ppt/viewProps.xml" Id="R9e5035af5f4c4ab8" /><Relationship Type="http://schemas.openxmlformats.org/officeDocument/2006/relationships/tableStyles" Target="/ppt/tableStyles.xml" Id="R758d0d479f5f42e4" /><Relationship Type="http://schemas.openxmlformats.org/officeDocument/2006/relationships/slide" Target="/ppt/slides/slide1.xml" Id="R94932d9665b6457d" /><Relationship Type="http://schemas.openxmlformats.org/officeDocument/2006/relationships/slide" Target="/ppt/slides/slide2.xml" Id="Rc9c865162a304ddb" /><Relationship Type="http://schemas.openxmlformats.org/officeDocument/2006/relationships/slide" Target="/ppt/slides/slide3.xml" Id="R21efe980c774408f" /><Relationship Type="http://schemas.openxmlformats.org/officeDocument/2006/relationships/slide" Target="/ppt/slides/slide4.xml" Id="Ra365a388661c4b1c" /><Relationship Type="http://schemas.openxmlformats.org/officeDocument/2006/relationships/slide" Target="/ppt/slides/slide5.xml" Id="Rbe4c254520354ea4" /><Relationship Type="http://schemas.openxmlformats.org/officeDocument/2006/relationships/slide" Target="/ppt/slides/slide6.xml" Id="Rfd5c6714b29d4c3b" /><Relationship Type="http://schemas.openxmlformats.org/officeDocument/2006/relationships/slide" Target="/ppt/slides/slide7.xml" Id="Rb82a7a136fe04775" /><Relationship Type="http://schemas.openxmlformats.org/officeDocument/2006/relationships/slide" Target="/ppt/slides/slide8.xml" Id="Rdfad321422744522" /><Relationship Type="http://schemas.openxmlformats.org/officeDocument/2006/relationships/slide" Target="/ppt/slides/slide9.xml" Id="R2293ced89a304a5d" /><Relationship Type="http://schemas.openxmlformats.org/officeDocument/2006/relationships/slide" Target="/ppt/slides/slide10.xml" Id="Rb35c135a87ce4028" /><Relationship Type="http://schemas.openxmlformats.org/officeDocument/2006/relationships/slide" Target="/ppt/slides/slide11.xml" Id="Rb8a08fba1b1b47eb" /><Relationship Type="http://schemas.openxmlformats.org/officeDocument/2006/relationships/slide" Target="/ppt/slides/slide12.xml" Id="Rdea1e3a0331e41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d4f5b0a6144d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3de5dfb0b84c8c" /><Relationship Type="http://schemas.openxmlformats.org/officeDocument/2006/relationships/notesMaster" Target="/ppt/notesMasters/notesMaster1.xml" Id="R9f13eb16a7194c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7ee8ec98ff4220" /><Relationship Type="http://schemas.openxmlformats.org/officeDocument/2006/relationships/notesMaster" Target="/ppt/notesMasters/notesMaster1.xml" Id="R350ebb57f7b649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9c5f87f72b4e6b" /><Relationship Type="http://schemas.openxmlformats.org/officeDocument/2006/relationships/notesMaster" Target="/ppt/notesMasters/notesMaster1.xml" Id="R641deb38106b4d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87143b314d4ded" /><Relationship Type="http://schemas.openxmlformats.org/officeDocument/2006/relationships/notesMaster" Target="/ppt/notesMasters/notesMaster1.xml" Id="R6a8bdd03b08c4b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cb870cf7ef4992" /><Relationship Type="http://schemas.openxmlformats.org/officeDocument/2006/relationships/notesMaster" Target="/ppt/notesMasters/notesMaster1.xml" Id="Rab7fa527fcd442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66d726c56c4f8c" /><Relationship Type="http://schemas.openxmlformats.org/officeDocument/2006/relationships/notesMaster" Target="/ppt/notesMasters/notesMaster1.xml" Id="R8303e0ead2204d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6c33bf1d0e4883" /><Relationship Type="http://schemas.openxmlformats.org/officeDocument/2006/relationships/notesMaster" Target="/ppt/notesMasters/notesMaster1.xml" Id="R328e89cae6ab4b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1d798c5f434919" /><Relationship Type="http://schemas.openxmlformats.org/officeDocument/2006/relationships/notesMaster" Target="/ppt/notesMasters/notesMaster1.xml" Id="R6ac0d877e31e4b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efd36ad64c4d06" /><Relationship Type="http://schemas.openxmlformats.org/officeDocument/2006/relationships/notesMaster" Target="/ppt/notesMasters/notesMaster1.xml" Id="R3423fb6d53074e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064f17243a4744" /><Relationship Type="http://schemas.openxmlformats.org/officeDocument/2006/relationships/notesMaster" Target="/ppt/notesMasters/notesMaster1.xml" Id="Rafc4abc0eadd48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b75de56ec1448e" /><Relationship Type="http://schemas.openxmlformats.org/officeDocument/2006/relationships/notesMaster" Target="/ppt/notesMasters/notesMaster1.xml" Id="R04955b3afeda47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80c97ce6c5466b" /><Relationship Type="http://schemas.openxmlformats.org/officeDocument/2006/relationships/notesMaster" Target="/ppt/notesMasters/notesMaster1.xml" Id="Rd6069c0f9a7d47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这次汇报分三部分：先确认 Fast-WAM Optional-IDM 的起点和两篇论文的 LIBERO 结果；再看我们自己的 LIBERO-Plus 子集与 A4 诊断；最后说明 action-sensitive weight VQ 的下一步方案。所有论文截图与本地数据分别标注来源。后面的 VQ 架构和 codebook 几何示例是 proposal，不是已完成结果。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 Fast-WAM 的独立 ActionDiT 做可控、范围小的 weight VQ pilot。当前 Optional-IDM 实现分两段：先 denoise video，然后将完整 denoised video 固定为条件，prefill video K/V，再 denoise action。图按当前实现绘制，不把论文的 first-frame-only 快速路径混入本地 Optional-IDM。第一轮 VQ 只改 ActionDiT，video branch 保留 BF16，并不等同于前面的现有四臂联合 Linear 量化配置。</a:t>
            </a:r>
          </a:p>
          <a:p xmlns:a="http://schemas.openxmlformats.org/drawingml/2006/main">
            <a:r>
              <a:t>之后推广到 LingBot-VA 和 Cosmos-Policy；共享 backbone 模型应称 action-targeted，不能假设仍是完全独立的 action-only 模块。</a:t>
            </a:r>
          </a:p>
          <a:p xmlns:a="http://schemas.openxmlformats.org/drawingml/2006/main">
            <a:r>
              <a:t>来源：Fast-WAM arXiv:2603.16666v2；本地 FastWAM/src/fastwam/models/wan22/fastwam_idm.py，Stage 1/2 inference implementation。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 QuantWAMs Table 1 原始截图，Fast-WAM 所在 panel。LIBERO 平均 success：FP16 97.6±0.2%，SVDQuant W4A4 73.7±0.7%，SVDQuant* 75.3±0.6%，Atom 76.2±0.7%，Atom* 82.1±0.5%，QuantWAMs 97.4±0.2%。星号行按论文用于匹配 mixed-precision budget，不能当成与另一篇完全相同的运行 recipe。论文报告 LIBERO 每个 protocol seed 2,000 episodes，3 seeds 合计 6,000；截图中的 ± 是论文报告值。Speedup 与 memory 是该论文的实验口径，不是本地结果。</a:t>
            </a:r>
          </a:p>
          <a:p xmlns:a="http://schemas.openxmlformats.org/drawingml/2006/main">
            <a:r>
              <a:t>来源：QuantWAMs: Calibrating at the Right Granularity for World Action Models, arXiv:2607.28405v1, Table 1, PDF physical p.7。https://arxiv.org/abs/2607.28405v1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 SteerQuant Table 1 的 FastWAMJoint 部分，保留原 PDF pixels。为了可读性，zoom 从同一页拼接左侧 Precision/Method 与右侧 FastWAMJoint panel，聚焦 header 与 W4A4 rows，没有改写数字。红圈标出 SVDQuant W4A4 的 Avg 98.2%。上一页 QuantWAMs 同名 baseline 是 73.7±0.7%，mean 相差 24.5 个百分点；Atom 也存在较大差异。现阶段把它作为 cross-paper protocol alignment 问题，不能仅凭两个表宣称论文或数据有误。需要先对齐模型变体 / checkpoint、量化范围、calibration、mixed precision 和 evaluation seeds。SteerQuant caption 报告 2,000 LIBERO rollouts。</a:t>
            </a:r>
          </a:p>
          <a:p xmlns:a="http://schemas.openxmlformats.org/drawingml/2006/main">
            <a:r>
              <a:t>来源：SteerQuant: Steering Quantization Error with Action-Guided Scaling in World-Action Models, arXiv:2609.39056v1, Table 1, PDF physical p.7。https://arxiv.org/abs/2609.39056v1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这是用户本地 frozen-checkpoint Fast-WAM Optional-IDM LIBERO-Plus 四臂闭环测量，不是 paper-reported 数值。预注册计划是 4 suites × 7 dimensions，每格 n=50，共 1,400 variants、5,600 arm episodes。最新 all-completed 聚合覆盖 78 个保留 shards、300 个 paired Spatial variants 和 1,200 个 arm episodes。总表分母每臂都是 300：BF16 243/300 (81%)，W4A8 252/300 (84%)，W4A4 与 W4A4KV4 各 0/300；两个 W4A4 臂的已完成 episode 都以 400-step control_step_timeout 结束。W4A8 对 BF16 的配对差为 +3.0 个百分点（19 个仅 W4A8 成功、10 个仅 BF16 成功）。逐维表只放有数据的 6 个 libero_spatial dimension，每格 n=50；其他 22 个 cell 在当前聚合中缺失，不要补成 0。12 个已取消 children（indices 78–89）从聚合排除。结论仅限该 observed subset，不说完整 Plus 或“所有 A4”均失败。W4A4KV4是 W4+A4+KV4 组合，没有 BF16KV4 arm，不能独立归因 KV4。</a:t>
            </a:r>
          </a:p>
          <a:p xmlns:a="http://schemas.openxmlformats.org/drawingml/2006/main">
            <a:r>
              <a:t>现有四臂使用相同 W4 G128 weight bank 与 dynamic per-row RTN A8/A4，量化614个Linear（video/action/proprio），不是前页拟议的 ActionDiT-only VQ。Text/VAE、norm、非Linear和attention运算保持BF16。没有完整benchmark结论，也没有正式部署latency。</a:t>
            </a:r>
          </a:p>
          <a:p xmlns:a="http://schemas.openxmlformats.org/drawingml/2006/main">
            <a:r>
              <a:t>本地来源：D:/Downloads/Final Year Project/experiment/idea-validation/fastwam-libero-plus-pilot/artifacts/25699421.pbs101/results/analysis.json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左侧保留原 n=300 paired reset-observation action-output evidence，motor RMSE 是前10个action位置的 median normalized RMSE。右侧按照用户提供的截图逐值转录，表中量化调用区域分别为 Video conditioning prefill、Video denoising step 0/9、Action denoising step 0/9、Proprio conditioning。所有百分比与截图保持一致；缩短行名只为版面，step 0/9 是 diffusion denoising iterations，与左侧动作块前10位置不同。零编码比例是量化为zero code的比例，不能直接等同于整个输入张量都为零。输入relative RMSE是截图中的activation/input指标，不能与左侧action-output RMSE混为一个指标或假定同一分母。截图没有给样本数、聚合范围或reference细节，因此不补造这些定义，也不将右侧标成 n=300。观察是这些调用中A4的zero-code ratio与input error都明显大于A8，支持进一步检验activation quantizer的动态范围和尺度分配。</a:t>
            </a:r>
          </a:p>
          <a:p xmlns:a="http://schemas.openxmlformats.org/drawingml/2006/main">
            <a:r>
              <a:t>右表来源：用户截图 D:/Downloads/Final Year Project/Weekly Slides/2026-10-07_Figure_Designs/activation-diagnostic-reference.png。左表来源：experiment/idea-validation/fastwam-libero-plus-pilot/artifacts/25699421.pbs101/results/analysis.json#/supplementary/first_action。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 figure 是 QuantWAMs Figure 2 原图。可按左中右说明：shared-basis calibration 只在 coordinate-compatible modules 合并activation statistics，不能随意把Q/K/V跨private streams合并；co-training-guided saliency 用joint video-action objective排序层，配置mixed precision；real-rollout counterfactual audit 用固定干预对denoising-step protection做closed-loop验证。启发是：量化误差的重要性要按系统结构与控制结果判断，不能只用activation amplitude。</a:t>
            </a:r>
          </a:p>
          <a:p xmlns:a="http://schemas.openxmlformats.org/drawingml/2006/main">
            <a:r>
              <a:t>来源：QuantWAMs, arXiv:2607.28405v1, Figure 2。https://arxiv.org/abs/2607.28405v1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Q-WAM Figure 2 原图。AOG（Action Observability Gramian）估计layer输入误差经过后续denoising传播到最终action的敏感方向；ASP把最敏感子空间留在16-bit branch，剩余部分4-bit。图中的95% action mass/17% action-expert parameters是论文对应设置下的统计，不是所有WAM通用常数。其benchmark主要是RoboTwin与real-world，不把这篇列成Fast-WAM LIBERO表的来源。</a:t>
            </a:r>
          </a:p>
          <a:p xmlns:a="http://schemas.openxmlformats.org/drawingml/2006/main">
            <a:r>
              <a:t>对于我们的VQ方案，action sensitivity已有先例，不能把“关注action敏感方向”单独视作novelty。下一步要验证敏感度是否能指导weight codebook，而不是机械复制一个高精度残差branch。</a:t>
            </a:r>
          </a:p>
          <a:p xmlns:a="http://schemas.openxmlformats.org/drawingml/2006/main">
            <a:r>
              <a:t>来源：Q-WAM: 4-Bit Quantization of World Action Models with Action-Subspace Protection, arXiv:2609.33269v1, Figure 2。https://arxiv.org/abs/2609.33269v1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SteerQuant Figure 2 原图。先估计layer × denoising timestep × stream的action-impact map，再用shared-weight scaling与stream-specific activation modulation把量化误差转移到较低action-impact的stream。Online inference 的 Rudder 把 scaling、量化/反量化或output compensation与low-bit GEMM融合。它不是已实现的VQ lookup kernel，后续我们若做VQ需要设计codebook/index表示和lookup/decode/GEMM的路径。</a:t>
            </a:r>
          </a:p>
          <a:p xmlns:a="http://schemas.openxmlformats.org/drawingml/2006/main">
            <a:r>
              <a:t>来源：SteerQuant: Steering Quantization Error with Action-Guided Scaling in World-Action Models, arXiv:2609.39056v1, Figure 2。https://arxiv.org/abs/2609.39056v1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Row-vector convention: Y=XWᵀ. With D invertible and HHᵀ=I, X′=XD⁻¹H and W′=WDH preserve the unquantized linear output. The displayed Linear output is an intermediate feature unless the remaining ActionDiT/denoising steps are also included. Final-action sensitivity must propagate through those steps.</a:t>
            </a:r>
          </a:p>
          <a:p xmlns:a="http://schemas.openxmlformats.org/drawingml/2006/main">
            <a:r>
              <a:t>Figure source: D:\Downloads\Final Year Project\Weekly Slides\2026-10-07_Figure_Designs\imagegen-method-reference.png.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values: w=(0,0), c₁=(0.3,0), c₂=(0,0.6). Euclidean squared distances are 0.09 and 0.36. For M=diag(9,1), weighted squared distances are 0.81 and 0.36. The reference L₂ contour label 0.6 is inconsistent with the circle through c₁, whose radius is 0.3. A weighted level-0.36 ellipse has radii 0.2 and 0.6. The geometry is explanatory, not measured experimental data.</a:t>
            </a:r>
          </a:p>
          <a:p xmlns:a="http://schemas.openxmlformats.org/drawingml/2006/main">
            <a:r>
              <a:t>Figure source: D:\Downloads\Final Year Project\Weekly Slides\2026-10-07_Figure_Designs\imagegen-geometry-reference.png.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先完成weight VQ的fidelity与closed-loop gate，再扩展：</a:t>
            </a:r>
          </a:p>
          <a:p xmlns:a="http://schemas.openxmlformats.org/drawingml/2006/main">
            <a:r>
              <a:t>1. KV cache quantization：把K/V视为persistent activation，量化对象与weight不同。先分开测试，避免沿用A4已经崩溃时的组合臂来归因KV4。验证cache error、packed bytes与控制结果。</a:t>
            </a:r>
          </a:p>
          <a:p xmlns:a="http://schemas.openxmlformats.org/drawingml/2006/main">
            <a:r>
              <a:t>2. Rudder-inspired VQ kernel：学习其融合思路，但重新设计codebook/index packed representation、lookup/decode、GEMM、scaling compensation以及模型集成。fake quant或离线压缩不等于native speedup；正式结论需paired native end-to-end latency与relevant fidelity。</a:t>
            </a:r>
          </a:p>
          <a:p xmlns:a="http://schemas.openxmlformats.org/drawingml/2006/main">
            <a:r>
              <a:t>3. QAT：resource-dependent extension。已核对的QuantWAMs、Q-WAM、SteerQuant都是PTQ。当前不宣称“全球没有人做WAM QAT”或已经证明novelty。若有GPU且PTQ诊断支持，先在Fast-WAM独立ActionDiT做小范围quantization-aware codebook/weight tuning，再推广到共享模型。需要训练预算和可复现的held-out control evaluation。</a:t>
            </a:r>
          </a:p>
          <a:p xmlns:a="http://schemas.openxmlformats.org/drawingml/2006/main">
            <a:r>
              <a:t>顺序：先数学变换和error mechanism → bounded fidelity pilot → paired closed-loop → packed/native performance。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0b68bd9e414f4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635a1af3764c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ac840b170b497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b0c50c66af4b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ada8b1a9c24f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4bc441d5864b1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8ccfdcf34842e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f310c5dca1445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c10dc108544b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67E4D5-1401-482F-824F-C33E6DAD42E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19"/>
            <a:ext cx="7772400" cy="1102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C9DA456-77A2-4F05-8F53-B1015A42FF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65B20-DB7A-4E51-BDDD-F1E3661198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F0FC19-7CD1-4C5E-9D12-7101DE1BF6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90510C-4C19-4FE0-8DA9-7229F499F1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BF198EF-FD8E-41F1-8392-0092717B84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043A2F-A458-4BF9-9A6B-ECA5398A5F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86712C-7A8C-4850-ABB7-72B0976171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8FA4E-C023-4087-9D88-B5D2B11A9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305176"/>
            <a:ext cx="8229600" cy="1021556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9CBBE51-BF9B-479E-837F-C1249B4001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180035"/>
            <a:ext cx="8229600" cy="1125140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6BFA5-E349-4AA9-A828-67F3F8EE71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761213-466E-4A18-9A2D-FA531E3AF8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A682A3-93C9-4E65-AD95-C099AA896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E94EA7-F60A-43F7-883F-D4D838C2F8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BC68976-4F83-40FF-B880-217C31AF55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11FA47A-3F46-4786-AB1F-69D4DC3B16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B9A0069-3F99-43D6-A8C8-D5412265F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1FC5CB-D2D4-43E7-8C65-7178534203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C60BA59-5BCC-428F-85D9-EAC3988BAB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91245"/>
            <a:ext cx="4040188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B3967BE-A7E4-47CC-A22E-05E18BE43CE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1871068"/>
            <a:ext cx="4040188" cy="272130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0BE56DE-BEB5-40F3-A275-6B0B062CB9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6" y="1391245"/>
            <a:ext cx="4041775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CE93E0D-26AC-4B95-AB48-AB5E4CB6D44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6" y="1871068"/>
            <a:ext cx="4041775" cy="272130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03CDD95-9DE6-4D95-A298-A3A2D7B8B3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A89A6D4-1FA9-42F1-A8EA-A0F3881D0D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4BF2ED-1876-4366-8432-BE90789CF4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0A0D750-AF6A-405F-A48C-702E658994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7567AD3-2BE6-4B01-9DF0-11AFE1511D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ECF8CDE-FB10-4D61-AC43-F0D39D27CA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D3D842A-DC9C-4997-969A-2B90CFD1A6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30A6BB-F0EC-4011-AEB3-B100E6E565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1" y="591463"/>
            <a:ext cx="3008313" cy="8715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7B2BBF9-06F3-4FE5-ACBD-3D051029214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591464"/>
            <a:ext cx="5111750" cy="404865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FBEAFEE-0F58-4084-961F-355B90BA39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1" y="1593860"/>
            <a:ext cx="3008313" cy="3046254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0EFEEC3-5CA8-46D5-8CCB-0BB120EF82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D6525AA-7A6F-4DA1-BC06-C7838B4FF8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8FF091-C265-404D-826D-A64539B60C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3600450"/>
            <a:ext cx="5486400" cy="425054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1A89DF-DC8E-4EA7-9690-78284340DE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459581"/>
            <a:ext cx="5486400" cy="30861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3695CD0-D070-4047-AB37-E4A116E843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4025503"/>
            <a:ext cx="5486400" cy="60364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7DC239-BE29-4FC5-8613-9827BC3231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centre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F5C7963-707A-4635-8E8A-F13F66E56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c5bd5a14e338435d" /><Relationship Type="http://schemas.openxmlformats.org/officeDocument/2006/relationships/image" Target="/ppt/media/image2.png" Id="R4ec6be79a36d418a" /><Relationship Type="http://schemas.openxmlformats.org/officeDocument/2006/relationships/theme" Target="/ppt/slideMasters/theme/theme2.xml" Id="R39d56541342f486a" /><Relationship Type="http://schemas.openxmlformats.org/officeDocument/2006/relationships/slideLayout" Target="/ppt/slideLayouts/slideLayout1.xml" Id="Re04fab21dcfc4e68" /><Relationship Type="http://schemas.openxmlformats.org/officeDocument/2006/relationships/slideLayout" Target="/ppt/slideLayouts/slideLayout2.xml" Id="R5d431700c1fe45f5" /><Relationship Type="http://schemas.openxmlformats.org/officeDocument/2006/relationships/slideLayout" Target="/ppt/slideLayouts/slideLayout3.xml" Id="R69af56ed75b54cbe" /><Relationship Type="http://schemas.openxmlformats.org/officeDocument/2006/relationships/slideLayout" Target="/ppt/slideLayouts/slideLayout4.xml" Id="R7466a774dd084e2b" /><Relationship Type="http://schemas.openxmlformats.org/officeDocument/2006/relationships/slideLayout" Target="/ppt/slideLayouts/slideLayout5.xml" Id="R2f2f90ae4fd2445a" /><Relationship Type="http://schemas.openxmlformats.org/officeDocument/2006/relationships/slideLayout" Target="/ppt/slideLayouts/slideLayout6.xml" Id="Re115fb8ec6324356" /><Relationship Type="http://schemas.openxmlformats.org/officeDocument/2006/relationships/slideLayout" Target="/ppt/slideLayouts/slideLayout7.xml" Id="R5ba073e7111c419e" /><Relationship Type="http://schemas.openxmlformats.org/officeDocument/2006/relationships/slideLayout" Target="/ppt/slideLayouts/slideLayout8.xml" Id="R252ba8f1d3214c3d" /><Relationship Type="http://schemas.openxmlformats.org/officeDocument/2006/relationships/slideLayout" Target="/ppt/slideLayouts/slideLayout9.xml" Id="R49fc800ec86e448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E56AA3D-92F6-4927-BD04-0D4F734192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22724"/>
            <a:ext cx="82296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49BCCB1-1071-4616-A735-701F5247F4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416896"/>
            <a:ext cx="8229600" cy="29070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pic>
        <p:nvPicPr>
          <p:cNvPr id="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d5a14e33843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872762"/>
            <a:ext cx="9144000" cy="285750"/>
          </a:xfrm>
          <a:prstGeom xmlns:a="http://schemas.openxmlformats.org/drawingml/2006/main" prst="rect">
            <a:avLst/>
          </a:prstGeom>
        </p:spPr>
      </p:pic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ec6be79a36d418a"/>
          <a:srcRect xmlns:a="http://schemas.openxmlformats.org/drawingml/2006/main" l="18865" t="17198" r="0" b="0"/>
          <a:stretch xmlns:a="http://schemas.openxmlformats.org/drawingml/2006/main"/>
        </p:blipFill>
        <p:spPr>
          <a:xfrm xmlns:a="http://schemas.openxmlformats.org/drawingml/2006/main">
            <a:off x="6631259" y="4936272"/>
            <a:ext cx="1801682" cy="15801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4fab21dcfc4e68"/>
    <p:sldLayoutId xmlns:r="http://schemas.openxmlformats.org/officeDocument/2006/relationships" id="2147483650" r:id="R5d431700c1fe45f5"/>
    <p:sldLayoutId xmlns:r="http://schemas.openxmlformats.org/officeDocument/2006/relationships" id="2147483651" r:id="R69af56ed75b54cbe"/>
    <p:sldLayoutId xmlns:r="http://schemas.openxmlformats.org/officeDocument/2006/relationships" id="2147483652" r:id="R7466a774dd084e2b"/>
    <p:sldLayoutId xmlns:r="http://schemas.openxmlformats.org/officeDocument/2006/relationships" id="2147483653" r:id="R2f2f90ae4fd2445a"/>
    <p:sldLayoutId xmlns:r="http://schemas.openxmlformats.org/officeDocument/2006/relationships" id="2147483654" r:id="Re115fb8ec6324356"/>
    <p:sldLayoutId xmlns:r="http://schemas.openxmlformats.org/officeDocument/2006/relationships" id="2147483655" r:id="R5ba073e7111c419e"/>
    <p:sldLayoutId xmlns:r="http://schemas.openxmlformats.org/officeDocument/2006/relationships" id="2147483656" r:id="R252ba8f1d3214c3d"/>
    <p:sldLayoutId xmlns:r="http://schemas.openxmlformats.org/officeDocument/2006/relationships" id="2147483657" r:id="R49fc800ec86e4483"/>
  </p:sldLayoutIdLst>
  <p:hf sldNum="0" hdr="0" dt="0"/>
  <p:txStyles>
    <p:titleStyle>
      <a:lvl1pPr xmlns:a="http://schemas.openxmlformats.org/drawingml/2006/main" algn="l" defTabSz="457200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088b9f0df46ad" /><Relationship Type="http://schemas.openxmlformats.org/officeDocument/2006/relationships/image" Target="/ppt/media/image.jpeg" Id="R543c727f28fe4f60" /><Relationship Type="http://schemas.openxmlformats.org/officeDocument/2006/relationships/notesSlide" Target="/ppt/notesSlides/notesSlide1.xml" Id="R968a8044c0f048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14c0a1b8724a19" /><Relationship Type="http://schemas.openxmlformats.org/officeDocument/2006/relationships/notesSlide" Target="/ppt/notesSlides/notesSlide2.xml" Id="Rfd73839fef454d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630eea65b34a67" /><Relationship Type="http://schemas.openxmlformats.org/officeDocument/2006/relationships/image" Target="/ppt/media/image3.png" Id="R6db6291ba4bb4161" /><Relationship Type="http://schemas.openxmlformats.org/officeDocument/2006/relationships/notesSlide" Target="/ppt/notesSlides/notesSlide3.xml" Id="R91605a8774eb41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7a90e1f0b241f8" /><Relationship Type="http://schemas.openxmlformats.org/officeDocument/2006/relationships/image" Target="/ppt/media/image4.png" Id="R0ad2e8c8b72f450a" /><Relationship Type="http://schemas.openxmlformats.org/officeDocument/2006/relationships/notesSlide" Target="/ppt/notesSlides/notesSlide4.xml" Id="R357484e489f744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2d40426a9d4e3d" /><Relationship Type="http://schemas.openxmlformats.org/officeDocument/2006/relationships/notesSlide" Target="/ppt/notesSlides/notesSlide5.xml" Id="R32974ed78d0f4a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77fc57df3542b5" /><Relationship Type="http://schemas.openxmlformats.org/officeDocument/2006/relationships/notesSlide" Target="/ppt/notesSlides/notesSlide6.xml" Id="Rc336c241f59745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3284a2dcda42da" /><Relationship Type="http://schemas.openxmlformats.org/officeDocument/2006/relationships/image" Target="/ppt/media/image5.png" Id="Rd7b6448700b74be7" /><Relationship Type="http://schemas.openxmlformats.org/officeDocument/2006/relationships/notesSlide" Target="/ppt/notesSlides/notesSlide7.xml" Id="Rcc14aa2e40f446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06da52aa3f4dab" /><Relationship Type="http://schemas.openxmlformats.org/officeDocument/2006/relationships/image" Target="/ppt/media/image6.png" Id="Ra15669880bb440da" /><Relationship Type="http://schemas.openxmlformats.org/officeDocument/2006/relationships/notesSlide" Target="/ppt/notesSlides/notesSlide8.xml" Id="R663ad025e7994b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6ea49fff7a43de" /><Relationship Type="http://schemas.openxmlformats.org/officeDocument/2006/relationships/image" Target="/ppt/media/image7.png" Id="Ref3a49c866a04a78" /><Relationship Type="http://schemas.openxmlformats.org/officeDocument/2006/relationships/notesSlide" Target="/ppt/notesSlides/notesSlide9.xml" Id="R0c4366204a584d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12ceb345504a2a" /><Relationship Type="http://schemas.openxmlformats.org/officeDocument/2006/relationships/notesSlide" Target="/ppt/notesSlides/notesSlide10.xml" Id="R3316babffe0f43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887755f21748ce" /><Relationship Type="http://schemas.openxmlformats.org/officeDocument/2006/relationships/notesSlide" Target="/ppt/notesSlides/notesSlide11.xml" Id="Ra8b6c271e98f43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9c8b8b0de74221" /><Relationship Type="http://schemas.openxmlformats.org/officeDocument/2006/relationships/notesSlide" Target="/ppt/notesSlides/notesSlide12.xml" Id="R5f16b119656740a6" /></Relationships>
</file>

<file path=ppt/slides/slide1.xml><?xml version="1.0" encoding="utf-8"?>
<p:sld xmlns:p="http://schemas.openxmlformats.org/presentationml/2006/main" showMasterSp="0">
  <p:cSld>
    <p:bg>
      <p:bgPr>
        <a:blipFill xmlns:a="http://schemas.openxmlformats.org/drawingml/2006/main" rotWithShape="1">
          <a:blip xmlns:r="http://schemas.openxmlformats.org/officeDocument/2006/relationships" r:embed="R543c727f28fe4f6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 title">
            <a:extLst xmlns:a="http://schemas.openxmlformats.org/drawingml/2006/main">
              <a:ext uri="{FF2B5EF4-FFF2-40B4-BE49-F238E27FC236}">
                <a16:creationId xmlns:a16="http://schemas.microsoft.com/office/drawing/2014/main" id="{62492C6F-1E8B-498B-9A0F-F2A3C213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726" y="1866900"/>
            <a:ext cx="5953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WAM Quantization</a:t>
            </a:r>
          </a:p>
        </p:txBody>
      </p:sp>
      <p:sp>
        <p:nvSpPr>
          <p:cNvPr id="2" name="Cover subtitle">
            <a:extLst xmlns:a="http://schemas.openxmlformats.org/drawingml/2006/main">
              <a:ext uri="{FF2B5EF4-FFF2-40B4-BE49-F238E27FC236}">
                <a16:creationId xmlns:a16="http://schemas.microsoft.com/office/drawing/2014/main" id="{F97138CD-21DD-47ED-B3D1-9142E1A1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726" y="2476500"/>
            <a:ext cx="595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Progress &amp; Next Steps</a:t>
            </a:r>
          </a:p>
        </p:txBody>
      </p:sp>
      <p:sp>
        <p:nvSpPr>
          <p:cNvPr id="4" name="Meeting details">
            <a:extLst xmlns:a="http://schemas.openxmlformats.org/drawingml/2006/main">
              <a:ext uri="{FF2B5EF4-FFF2-40B4-BE49-F238E27FC236}">
                <a16:creationId xmlns:a16="http://schemas.microsoft.com/office/drawing/2014/main" id="{3842C009-6D23-44A1-9AAA-C289070B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726" y="4000500"/>
            <a:ext cx="5953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Weekly Group Meeting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Guo Yichen 7 October 2026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Baseline: Fast-WAM Optional-IDM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stage1">
            <a:extLst xmlns:a="http://schemas.openxmlformats.org/drawingml/2006/main">
              <a:ext uri="{FF2B5EF4-FFF2-40B4-BE49-F238E27FC236}">
                <a16:creationId xmlns:a16="http://schemas.microsoft.com/office/drawing/2014/main" id="{8C07ABEA-4522-4DFA-8330-56A0F39E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3857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Stage 1  ·  Imagine future video</a:t>
            </a:r>
          </a:p>
        </p:txBody>
      </p:sp>
      <p:sp>
        <p:nvSpPr>
          <p:cNvPr id="5" name="stage2">
            <a:extLst xmlns:a="http://schemas.openxmlformats.org/drawingml/2006/main">
              <a:ext uri="{FF2B5EF4-FFF2-40B4-BE49-F238E27FC236}">
                <a16:creationId xmlns:a16="http://schemas.microsoft.com/office/drawing/2014/main" id="{CC35E0A5-85C5-4938-BFAB-780D93FA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000125"/>
            <a:ext cx="3933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Stage 2  ·  Infer actions from frozen video</a:t>
            </a:r>
          </a:p>
        </p:txBody>
      </p:sp>
      <p:sp>
        <p:nvSpPr>
          <p:cNvPr id="6" name="obs">
            <a:extLst xmlns:a="http://schemas.openxmlformats.org/drawingml/2006/main">
              <a:ext uri="{FF2B5EF4-FFF2-40B4-BE49-F238E27FC236}">
                <a16:creationId xmlns:a16="http://schemas.microsoft.com/office/drawing/2014/main" id="{26ADB065-B48B-41AE-AD8C-F2A69652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38300"/>
            <a:ext cx="11811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2859">
            <a:solidFill>
              <a:srgbClr val="3569A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Observation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+ instruction</a:t>
            </a:r>
          </a:p>
        </p:txBody>
      </p:sp>
      <p:sp>
        <p:nvSpPr>
          <p:cNvPr id="7" name="video">
            <a:extLst xmlns:a="http://schemas.openxmlformats.org/drawingml/2006/main">
              <a:ext uri="{FF2B5EF4-FFF2-40B4-BE49-F238E27FC236}">
                <a16:creationId xmlns:a16="http://schemas.microsoft.com/office/drawing/2014/main" id="{3FDDEF1E-C1BC-42B9-9B72-D0A37D11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571625"/>
            <a:ext cx="17621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2859">
            <a:solidFill>
              <a:srgbClr val="3569A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VideoDiT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video denoising</a:t>
            </a:r>
          </a:p>
        </p:txBody>
      </p:sp>
      <p:sp>
        <p:nvSpPr>
          <p:cNvPr id="8" name="cache">
            <a:extLst xmlns:a="http://schemas.openxmlformats.org/drawingml/2006/main">
              <a:ext uri="{FF2B5EF4-FFF2-40B4-BE49-F238E27FC236}">
                <a16:creationId xmlns:a16="http://schemas.microsoft.com/office/drawing/2014/main" id="{23B0CD57-DF18-4799-9759-411BD6DE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71625"/>
            <a:ext cx="16383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2859">
            <a:solidFill>
              <a:srgbClr val="3569A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Frozen video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K / V context</a:t>
            </a:r>
          </a:p>
        </p:txBody>
      </p:sp>
      <p:sp>
        <p:nvSpPr>
          <p:cNvPr id="9" name="actiondit">
            <a:extLst xmlns:a="http://schemas.openxmlformats.org/drawingml/2006/main">
              <a:ext uri="{FF2B5EF4-FFF2-40B4-BE49-F238E27FC236}">
                <a16:creationId xmlns:a16="http://schemas.microsoft.com/office/drawing/2014/main" id="{2EB21BFD-B454-4601-8A52-9F81E658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43225"/>
            <a:ext cx="16383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0"/>
          </a:solidFill>
          <a:ln xmlns:a="http://schemas.openxmlformats.org/drawingml/2006/main" w="12859">
            <a:solidFill>
              <a:srgbClr val="237F7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ActionDiT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 denoising</a:t>
            </a:r>
          </a:p>
        </p:txBody>
      </p:sp>
      <p:sp>
        <p:nvSpPr>
          <p:cNvPr id="11" name="frozen">
            <a:extLst xmlns:a="http://schemas.openxmlformats.org/drawingml/2006/main">
              <a:ext uri="{FF2B5EF4-FFF2-40B4-BE49-F238E27FC236}">
                <a16:creationId xmlns:a16="http://schemas.microsoft.com/office/drawing/2014/main" id="{C4BB41AA-9636-4E44-AA08-8A6742E2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3609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Hold the video branch in BF16 for the first pilot</a:t>
            </a:r>
          </a:p>
        </p:txBody>
      </p:sp>
      <p:sp>
        <p:nvSpPr>
          <p:cNvPr id="12" name="proprio">
            <a:extLst xmlns:a="http://schemas.openxmlformats.org/drawingml/2006/main">
              <a:ext uri="{FF2B5EF4-FFF2-40B4-BE49-F238E27FC236}">
                <a16:creationId xmlns:a16="http://schemas.microsoft.com/office/drawing/2014/main" id="{CB42BCE8-9B93-4C7D-BB97-4E60E11E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9900"/>
            <a:ext cx="17621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859">
            <a:solidFill>
              <a:srgbClr val="26344B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Proprioception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+ action noise</a:t>
            </a:r>
          </a:p>
        </p:txBody>
      </p:sp>
      <p:sp>
        <p:nvSpPr>
          <p:cNvPr id="13" name="out">
            <a:extLst xmlns:a="http://schemas.openxmlformats.org/drawingml/2006/main">
              <a:ext uri="{FF2B5EF4-FFF2-40B4-BE49-F238E27FC236}">
                <a16:creationId xmlns:a16="http://schemas.microsoft.com/office/drawing/2014/main" id="{D4185CD6-17D9-4D75-8239-3BF7C087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28950"/>
            <a:ext cx="18383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859">
            <a:solidFill>
              <a:srgbClr val="26344B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Action chunk</a:t>
            </a:r>
          </a:p>
        </p:txBody>
      </p:sp>
      <p:sp>
        <p:nvSpPr>
          <p:cNvPr id="14" name="extension">
            <a:extLst xmlns:a="http://schemas.openxmlformats.org/drawingml/2006/main">
              <a:ext uri="{FF2B5EF4-FFF2-40B4-BE49-F238E27FC236}">
                <a16:creationId xmlns:a16="http://schemas.microsoft.com/office/drawing/2014/main" id="{EC9A969B-1308-4919-BEB3-3D933C56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862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Transfer after the Fast-WAM pilot:   LingBot-VA  , Cosmos-Policy</a:t>
            </a:r>
          </a:p>
        </p:txBody>
      </p:sp>
      <p:cxnSp>
        <p:nvCxnSpPr>
          <p:cNvPr id="69" name="直接箭头连接符 34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704975" y="1966913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569A9"/>
            </a:solidFill>
            <a:prstDash val="solid"/>
            <a:tailEnd type="triangle" w="sm" len="sm"/>
          </a:ln>
        </p:spPr>
      </p:cxnSp>
      <p:cxnSp>
        <p:nvCxnSpPr>
          <p:cNvPr id="70" name="直接箭头连接符 35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57625" y="1966913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569A9"/>
            </a:solidFill>
            <a:prstDash val="solid"/>
            <a:tailEnd type="triangle" w="sm" len="sm"/>
          </a:ln>
        </p:spPr>
      </p:cxnSp>
      <p:cxnSp>
        <p:nvCxnSpPr>
          <p:cNvPr id="71" name="直接箭头连接符 36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5505450" y="2362200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37F79"/>
            </a:solidFill>
            <a:prstDash val="solid"/>
            <a:tailEnd type="triangle" w="sm" len="sm"/>
          </a:ln>
        </p:spPr>
      </p:cxnSp>
      <p:cxnSp>
        <p:nvCxnSpPr>
          <p:cNvPr id="72" name="直接箭头连接符 37"/>
          <p:cNvCxnSpPr>
            <a:stCxn xmlns:a="http://schemas.openxmlformats.org/drawingml/2006/main" id="12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857625" y="3338513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6344B"/>
            </a:solidFill>
            <a:prstDash val="solid"/>
            <a:tailEnd type="triangle" w="sm" len="sm"/>
          </a:ln>
        </p:spPr>
      </p:cxnSp>
      <p:cxnSp>
        <p:nvCxnSpPr>
          <p:cNvPr id="73" name="直接箭头连接符 38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324600" y="333851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37F79"/>
            </a:solidFill>
            <a:prstDash val="solid"/>
            <a:tailEnd type="triangle" w="sm" len="sm"/>
          </a:ln>
        </p:spPr>
      </p:cxnSp>
      <p:sp>
        <p:nvSpPr>
          <p:cNvPr id="20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DC578DA8-A9C4-4F80-AA31-E5DD53F9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Architecture follows the current Optional-IDM implementation; first VQ pilot targets ActionDiT.</a:t>
            </a:r>
          </a:p>
        </p:txBody>
      </p:sp>
      <p:sp>
        <p:nvSpPr>
          <p:cNvPr id="2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22A2D70-5158-47E5-A6CF-351B429B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 on LIBERO: QuantWAMs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aper evidence label">
            <a:extLst xmlns:a="http://schemas.openxmlformats.org/drawingml/2006/main">
              <a:ext uri="{FF2B5EF4-FFF2-40B4-BE49-F238E27FC236}">
                <a16:creationId xmlns:a16="http://schemas.microsoft.com/office/drawing/2014/main" id="{99B08BB3-A804-4030-AF80-5B166632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19150"/>
            <a:ext cx="804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Paper-reported result · Table 1</a:t>
            </a:r>
          </a:p>
        </p:txBody>
      </p:sp>
      <p:pic>
        <p:nvPicPr>
          <p:cNvPr id="1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6291ba4bb4161"/>
          <a:stretch xmlns:a="http://schemas.openxmlformats.org/drawingml/2006/main"/>
        </p:blipFill>
        <p:spPr>
          <a:xfrm xmlns:a="http://schemas.openxmlformats.org/drawingml/2006/main">
            <a:off x="333375" y="1394232"/>
            <a:ext cx="8477250" cy="1964511"/>
          </a:xfrm>
          <a:prstGeom xmlns:a="http://schemas.openxmlformats.org/drawingml/2006/main" prst="rect">
            <a:avLst/>
          </a:prstGeom>
        </p:spPr>
      </p:pic>
      <p:sp>
        <p:nvSpPr>
          <p:cNvPr id="6" name="SVDQuant reference">
            <a:extLst xmlns:a="http://schemas.openxmlformats.org/drawingml/2006/main">
              <a:ext uri="{FF2B5EF4-FFF2-40B4-BE49-F238E27FC236}">
                <a16:creationId xmlns:a16="http://schemas.microsoft.com/office/drawing/2014/main" id="{E8B65658-3319-4696-BBBC-81AB1D40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52850"/>
            <a:ext cx="809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26A23"/>
                </a:solidFill>
                <a:latin typeface="Arial"/>
                <a:ea typeface="Arial"/>
                <a:cs typeface="Arial"/>
              </a:rPr>
              <a:t>SVDQuant W4A4: 73.7 ± 0.7% LIBERO Avg</a:t>
            </a:r>
          </a:p>
        </p:txBody>
      </p:sp>
      <p:sp>
        <p:nvSpPr>
          <p:cNvPr id="7" name="QuantWAM result">
            <a:extLst xmlns:a="http://schemas.openxmlformats.org/drawingml/2006/main">
              <a:ext uri="{FF2B5EF4-FFF2-40B4-BE49-F238E27FC236}">
                <a16:creationId xmlns:a16="http://schemas.microsoft.com/office/drawing/2014/main" id="{8160A404-9210-408E-B8EA-214B97FD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7195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QuantWAMs W4A4: 97.4 ± 0.2%</a:t>
            </a:r>
          </a:p>
        </p:txBody>
      </p:sp>
      <p:sp>
        <p:nvSpPr>
          <p:cNvPr id="8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04D22951-FF94-4233-BF46-CB62A50D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QuantWAMs · arXiv:2607.28405v1 · Table 1, p.7 · Original PDF pixels</a:t>
            </a:r>
          </a:p>
        </p:txBody>
      </p:sp>
      <p:sp>
        <p:nvSpPr>
          <p:cNvPr id="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E50A5AB-21FF-4D34-A2FB-6FE2ACC2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 on LIBERO: SteerQuant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aper evidence label">
            <a:extLst xmlns:a="http://schemas.openxmlformats.org/drawingml/2006/main">
              <a:ext uri="{FF2B5EF4-FFF2-40B4-BE49-F238E27FC236}">
                <a16:creationId xmlns:a16="http://schemas.microsoft.com/office/drawing/2014/main" id="{0E9F0E6D-966A-4C81-BF8C-91256CC8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00100"/>
            <a:ext cx="809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Paper-reported result · FastWAMJoint W4A4 rows, Table 1</a:t>
            </a:r>
          </a:p>
        </p:txBody>
      </p:sp>
      <p:pic>
        <p:nvPicPr>
          <p:cNvPr id="15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2e8c8b72f450a"/>
          <a:stretch xmlns:a="http://schemas.openxmlformats.org/drawingml/2006/main"/>
        </p:blipFill>
        <p:spPr>
          <a:xfrm xmlns:a="http://schemas.openxmlformats.org/drawingml/2006/main">
            <a:off x="523875" y="1284975"/>
            <a:ext cx="8096250" cy="2573550"/>
          </a:xfrm>
          <a:prstGeom xmlns:a="http://schemas.openxmlformats.org/drawingml/2006/main" prst="rect">
            <a:avLst/>
          </a:prstGeom>
        </p:spPr>
      </p:pic>
      <p:sp>
        <p:nvSpPr>
          <p:cNvPr id="6" name="Circle SVDQuant W4A4 Avg 98.2">
            <a:extLst xmlns:a="http://schemas.openxmlformats.org/drawingml/2006/main">
              <a:ext uri="{FF2B5EF4-FFF2-40B4-BE49-F238E27FC236}">
                <a16:creationId xmlns:a16="http://schemas.microsoft.com/office/drawing/2014/main" id="{A3519226-F6AD-46DE-A8C1-7A560ACF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615" y="3114282"/>
            <a:ext cx="528621" cy="24344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CB314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Cross-paper discrepancy">
            <a:extLst xmlns:a="http://schemas.openxmlformats.org/drawingml/2006/main">
              <a:ext uri="{FF2B5EF4-FFF2-40B4-BE49-F238E27FC236}">
                <a16:creationId xmlns:a16="http://schemas.microsoft.com/office/drawing/2014/main" id="{0C3F7F18-1B8A-4A75-B026-45F24672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809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CB314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B3141"/>
                </a:solidFill>
                <a:latin typeface="Arial"/>
                <a:ea typeface="Arial"/>
                <a:cs typeface="Arial"/>
              </a:rPr>
              <a:t>SVDQuant W4A4: 98.2% here vs 73.7% in QuantWAMs</a:t>
            </a:r>
          </a:p>
        </p:txBody>
      </p:sp>
      <p:sp>
        <p:nvSpPr>
          <p:cNvPr id="8" name="Alignment question">
            <a:extLst xmlns:a="http://schemas.openxmlformats.org/drawingml/2006/main">
              <a:ext uri="{FF2B5EF4-FFF2-40B4-BE49-F238E27FC236}">
                <a16:creationId xmlns:a16="http://schemas.microsoft.com/office/drawing/2014/main" id="{3B72F683-B50C-41AC-9610-C523B504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291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Check model variant, quantization scope and evaluation protocol.</a:t>
            </a:r>
          </a:p>
        </p:txBody>
      </p:sp>
      <p:sp>
        <p:nvSpPr>
          <p:cNvPr id="9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53D11A6C-CECC-482C-8499-4A1EFC19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SteerQuant · arXiv:2609.39056v1 · Table 1, p.7 · Same-page pixel zoom</a:t>
            </a:r>
          </a:p>
        </p:txBody>
      </p:sp>
      <p:sp>
        <p:nvSpPr>
          <p:cNvPr id="1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C968BFB-26FB-4055-8916-57E0F1E0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Our LIBERO-Plus pilot: observed subset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ilot subtitle">
            <a:extLst xmlns:a="http://schemas.openxmlformats.org/drawingml/2006/main">
              <a:ext uri="{FF2B5EF4-FFF2-40B4-BE49-F238E27FC236}">
                <a16:creationId xmlns:a16="http://schemas.microsoft.com/office/drawing/2014/main" id="{F531BE61-EC53-4569-88F1-746E8BC1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810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300 paired variants · Libero Spatial only · 6 of 28 planned cells</a:t>
            </a:r>
          </a:p>
        </p:txBody>
      </p:sp>
      <p:graphicFrame>
        <p:nvGraphicFramePr>
          <p:cNvPr id="13" name="表格 11"/>
          <p:cNvGraphicFramePr/>
          <p:nvPr/>
        </p:nvGraphicFramePr>
        <p:xfrm>
          <a:off xmlns:a="http://schemas.openxmlformats.org/drawingml/2006/main" x="523875" y="1285875"/>
          <a:ext xmlns:a="http://schemas.openxmlformats.org/drawingml/2006/main" cx="8096250" cy="278130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352550"/>
                <a:gridCol w="1352550"/>
                <a:gridCol w="1219200"/>
                <a:gridCol w="1219200"/>
              </a:tblGrid>
              <a:tr h="347663"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Spatial dimension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W4A8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W4A4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W4A4KV4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Background textures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44/50 (88%)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45/50 (90%)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Camera viewpoints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26/50 (52%)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26/50 (52%)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Language instructions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46/50 (92%)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46/50 (92%)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Light conditions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47/50 (94%)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48/50 (96%)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Objects layout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47/50 (94%)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47/50 (94%)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Robot initial states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33/50 (66%)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40/50 (80%)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Overall (n=300)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243/300 (81%)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252/300 (84%)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0/300 (0%)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0/300 (0%)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</a:tr>
            </a:tbl>
          </a:graphicData>
        </a:graphic>
      </p:graphicFrame>
      <p:sp>
        <p:nvSpPr>
          <p:cNvPr id="6" name="Pilot observation">
            <a:extLst xmlns:a="http://schemas.openxmlformats.org/drawingml/2006/main">
              <a:ext uri="{FF2B5EF4-FFF2-40B4-BE49-F238E27FC236}">
                <a16:creationId xmlns:a16="http://schemas.microsoft.com/office/drawing/2014/main" id="{51CFA6DA-8B91-4D73-A2C4-30E800F9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1957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W4A8: +3 pp descriptively; both A4 arms: 0/300.</a:t>
            </a:r>
          </a:p>
        </p:txBody>
      </p:sp>
      <p:sp>
        <p:nvSpPr>
          <p:cNvPr id="7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D94BB871-B35F-40D0-8185-B36DD43C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Local snapshot: 6 Oct 2026 · All completed shards · Joint Linear quantization · 22 cells have no results</a:t>
            </a:r>
          </a:p>
        </p:txBody>
      </p:sp>
      <p:sp>
        <p:nvSpPr>
          <p:cNvPr id="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777292C-C66E-4FCB-893B-6A9CED9C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A4 diagnosis: error appears before rollout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set panel title">
            <a:extLst xmlns:a="http://schemas.openxmlformats.org/drawingml/2006/main">
              <a:ext uri="{FF2B5EF4-FFF2-40B4-BE49-F238E27FC236}">
                <a16:creationId xmlns:a16="http://schemas.microsoft.com/office/drawing/2014/main" id="{C90A950A-8DB3-4FAE-B359-F9EFDDA3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191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569A9"/>
                </a:solidFill>
                <a:latin typeface="Arial"/>
                <a:ea typeface="Arial"/>
                <a:cs typeface="Arial"/>
              </a:rPr>
              <a:t>300 reset-observation pairs</a:t>
            </a:r>
          </a:p>
        </p:txBody>
      </p:sp>
      <p:sp>
        <p:nvSpPr>
          <p:cNvPr id="5" name="Reset panel definition">
            <a:extLst xmlns:a="http://schemas.openxmlformats.org/drawingml/2006/main">
              <a:ext uri="{FF2B5EF4-FFF2-40B4-BE49-F238E27FC236}">
                <a16:creationId xmlns:a16="http://schemas.microsoft.com/office/drawing/2014/main" id="{B597E100-9D76-4FAC-BB30-9CCC3F2E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62050"/>
            <a:ext cx="314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Median normalized motor RMSE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First 10 action positions</a:t>
            </a:r>
          </a:p>
        </p:txBody>
      </p:sp>
      <p:sp>
        <p:nvSpPr>
          <p:cNvPr id="7" name="Native panel title">
            <a:extLst xmlns:a="http://schemas.openxmlformats.org/drawingml/2006/main">
              <a:ext uri="{FF2B5EF4-FFF2-40B4-BE49-F238E27FC236}">
                <a16:creationId xmlns:a16="http://schemas.microsoft.com/office/drawing/2014/main" id="{FCB98519-955E-4649-8871-B45842B1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819150"/>
            <a:ext cx="477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Activation encoding: A4 vs A8</a:t>
            </a:r>
          </a:p>
        </p:txBody>
      </p:sp>
      <p:sp>
        <p:nvSpPr>
          <p:cNvPr id="8" name="Native panel definition">
            <a:extLst xmlns:a="http://schemas.openxmlformats.org/drawingml/2006/main">
              <a:ext uri="{FF2B5EF4-FFF2-40B4-BE49-F238E27FC236}">
                <a16:creationId xmlns:a16="http://schemas.microsoft.com/office/drawing/2014/main" id="{ADB40E0A-5508-4630-806B-2D2AF366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162050"/>
            <a:ext cx="4772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Zero-code ratio and input relative RMSE</a:t>
            </a:r>
          </a:p>
        </p:txBody>
      </p:sp>
      <p:sp>
        <p:nvSpPr>
          <p:cNvPr id="10" name="Diagnosis interpretation">
            <a:extLst xmlns:a="http://schemas.openxmlformats.org/drawingml/2006/main">
              <a:ext uri="{FF2B5EF4-FFF2-40B4-BE49-F238E27FC236}">
                <a16:creationId xmlns:a16="http://schemas.microsoft.com/office/drawing/2014/main" id="{3199DC9B-409B-4D87-A5E9-41B14138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053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330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3044"/>
                </a:solidFill>
                <a:latin typeface="Arial"/>
                <a:ea typeface="Arial"/>
                <a:cs typeface="Arial"/>
              </a:rPr>
              <a:t>High A4 zero-code ratios accompany larger input RMSE in these calls.</a:t>
            </a:r>
          </a:p>
        </p:txBody>
      </p:sp>
      <p:sp>
        <p:nvSpPr>
          <p:cNvPr id="11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DB2C4105-457D-4F34-8135-A2B6FAA0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Right: user-provided activation diagnostic. Step 0/9 denotes denoising iterations.</a:t>
            </a:r>
          </a:p>
        </p:txBody>
      </p:sp>
      <p:sp>
        <p:nvSpPr>
          <p:cNvPr id="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C971028-11F3-49A2-9097-76D4B55E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mlns:a="http://schemas.openxmlformats.org/drawingml/2006/main" x="523875" y="1714500"/>
          <a:ext xmlns:a="http://schemas.openxmlformats.org/drawingml/2006/main" cx="314325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05050"/>
                <a:gridCol w="838200"/>
              </a:tblGrid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W4A8 vs BF16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0.0228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W4A4 vs BF16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0.3222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W4A4KV4 vs BF16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0.3217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KV4 addition vs W4A4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0.0387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表格 24"/>
          <p:cNvGraphicFramePr/>
          <p:nvPr/>
        </p:nvGraphicFramePr>
        <p:xfrm>
          <a:off xmlns:a="http://schemas.openxmlformats.org/drawingml/2006/main" x="3848100" y="1590675"/>
          <a:ext xmlns:a="http://schemas.openxmlformats.org/drawingml/2006/main" cx="4772025" cy="2645899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57325"/>
                <a:gridCol w="828675"/>
                <a:gridCol w="828675"/>
                <a:gridCol w="828675"/>
                <a:gridCol w="828675"/>
              </a:tblGrid>
              <a:tr h="366032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Call region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A4 zero</a:t>
                      </a:r>
                    </a:p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codes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A8 zero</a:t>
                      </a:r>
                    </a:p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codes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A4 rel.</a:t>
                      </a:r>
                    </a:p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A8 rel.</a:t>
                      </a:r>
                    </a:p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</a:tr>
              <a:tr h="366032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Video prefill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71.52%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8.52%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41.54%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2.97%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366032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Video step 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69.37%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8.45%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38.69%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2.88%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366032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Video step 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65.39%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7.97%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37.39%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2.79%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366032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Action step 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55.98%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6.07%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31.49%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2.03%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366032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Action step 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58.77%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6.32%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31.49%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1.97%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366032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Proprio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13.64%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0.57%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6.50%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0.33%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QuantWAMs: calibrate at the right granularity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1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6448700b74be7"/>
          <a:stretch xmlns:a="http://schemas.openxmlformats.org/drawingml/2006/main"/>
        </p:blipFill>
        <p:spPr>
          <a:xfrm xmlns:a="http://schemas.openxmlformats.org/drawingml/2006/main">
            <a:off x="413748" y="809625"/>
            <a:ext cx="8316503" cy="3524250"/>
          </a:xfrm>
          <a:prstGeom xmlns:a="http://schemas.openxmlformats.org/drawingml/2006/main" prst="rect">
            <a:avLst/>
          </a:prstGeom>
        </p:spPr>
      </p:pic>
      <p:sp>
        <p:nvSpPr>
          <p:cNvPr id="5" name="Paper takeaway">
            <a:extLst xmlns:a="http://schemas.openxmlformats.org/drawingml/2006/main">
              <a:ext uri="{FF2B5EF4-FFF2-40B4-BE49-F238E27FC236}">
                <a16:creationId xmlns:a16="http://schemas.microsoft.com/office/drawing/2014/main" id="{75D32FF0-CAF1-4992-8413-0D69BA73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52925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Structure-aware calibration + joint saliency + rollout validation</a:t>
            </a:r>
          </a:p>
        </p:txBody>
      </p:sp>
      <p:sp>
        <p:nvSpPr>
          <p:cNvPr id="6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6FB42BBA-201B-4C41-A64F-88A5AA75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QuantWAMs · arXiv:2607.28405v1 · Figure 2 · Figure crop from original PDF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FCB8D44-04A7-46CF-A22B-1A3F822F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Q-WAM: protect action-sensitive subspaces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1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669880bb440da"/>
          <a:stretch xmlns:a="http://schemas.openxmlformats.org/drawingml/2006/main"/>
        </p:blipFill>
        <p:spPr>
          <a:xfrm xmlns:a="http://schemas.openxmlformats.org/drawingml/2006/main">
            <a:off x="1128986" y="781050"/>
            <a:ext cx="6886027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Paper takeaway">
            <a:extLst xmlns:a="http://schemas.openxmlformats.org/drawingml/2006/main">
              <a:ext uri="{FF2B5EF4-FFF2-40B4-BE49-F238E27FC236}">
                <a16:creationId xmlns:a16="http://schemas.microsoft.com/office/drawing/2014/main" id="{42FACF11-262E-4F9C-A270-A5DADA7C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52925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Measure action sensitivity; preserve the most influential directions.</a:t>
            </a:r>
          </a:p>
        </p:txBody>
      </p:sp>
      <p:sp>
        <p:nvSpPr>
          <p:cNvPr id="6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22B6E645-C983-4453-98E9-131CA653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Q-WAM · arXiv:2609.33269v1 · Figure 2 · Figure crop from original PDF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32B974F-421D-4A9F-B21C-1E7F51A3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SteerQuant: route error away from actions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1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a49c866a04a78"/>
          <a:stretch xmlns:a="http://schemas.openxmlformats.org/drawingml/2006/main"/>
        </p:blipFill>
        <p:spPr>
          <a:xfrm xmlns:a="http://schemas.openxmlformats.org/drawingml/2006/main">
            <a:off x="1217735" y="771525"/>
            <a:ext cx="6708531" cy="3619500"/>
          </a:xfrm>
          <a:prstGeom xmlns:a="http://schemas.openxmlformats.org/drawingml/2006/main" prst="rect">
            <a:avLst/>
          </a:prstGeom>
        </p:spPr>
      </p:pic>
      <p:sp>
        <p:nvSpPr>
          <p:cNvPr id="5" name="Paper takeaway">
            <a:extLst xmlns:a="http://schemas.openxmlformats.org/drawingml/2006/main">
              <a:ext uri="{FF2B5EF4-FFF2-40B4-BE49-F238E27FC236}">
                <a16:creationId xmlns:a16="http://schemas.microsoft.com/office/drawing/2014/main" id="{3B3E668A-1E00-4462-81F2-8D375BC0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52925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Action-impact calibration → error routing → fused low-bit inference</a:t>
            </a:r>
          </a:p>
        </p:txBody>
      </p:sp>
      <p:sp>
        <p:nvSpPr>
          <p:cNvPr id="6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9D4F522F-E97A-438E-A1A8-7C401805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SteerQuant · arXiv:2609.39056v1 · Figure 2 · Figure crop from original PDF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42BE811-48BC-42B2-8A0F-529CBFE1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</a:rPr>
              <a:t>Next step: action-sensitive weight VQ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871DDC9-3C19-4EF1-A0C7-2F9A9CE0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772025"/>
            <a:ext cx="2381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97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F7FF06B9-7394-4F03-9B69-9298F0E5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65954" y="819662"/>
            <a:ext cx="95" cy="38400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A5B5C6"/>
            </a:solidFill>
            <a:prstDash val="dash"/>
          </a:ln>
        </p:spPr>
      </p:sp>
      <p:sp>
        <p:nvSpPr>
          <p:cNvPr id="298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3BBABCA7-3DA9-42B3-A4EB-D7F48843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75065" y="819662"/>
            <a:ext cx="95" cy="38400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A5B5C6"/>
            </a:solidFill>
            <a:prstDash val="dash"/>
          </a:ln>
        </p:spPr>
      </p:sp>
      <p:sp>
        <p:nvSpPr>
          <p:cNvPr id="299" name="Editable reference text: (a) Equivalent conditioning">
            <a:extLst xmlns:a="http://schemas.openxmlformats.org/drawingml/2006/main">
              <a:ext uri="{FF2B5EF4-FFF2-40B4-BE49-F238E27FC236}">
                <a16:creationId xmlns:a16="http://schemas.microsoft.com/office/drawing/2014/main" id="{1B84D783-61B4-4D69-9090-A3B9A8E7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14" y="805297"/>
            <a:ext cx="3160131" cy="21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(a) Equivalent conditioning</a:t>
            </a:r>
          </a:p>
        </p:txBody>
      </p:sp>
      <p:sp>
        <p:nvSpPr>
          <p:cNvPr id="300" name="Editable reference text: Reparameterize activations and weights (no change ">
            <a:extLst xmlns:a="http://schemas.openxmlformats.org/drawingml/2006/main">
              <a:ext uri="{FF2B5EF4-FFF2-40B4-BE49-F238E27FC236}">
                <a16:creationId xmlns:a16="http://schemas.microsoft.com/office/drawing/2014/main" id="{B3F5A710-12B3-404F-8F2D-5EE3D45A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14" y="1015973"/>
            <a:ext cx="3160131" cy="148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7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Reparameterize activations and weights (no change before quantization)</a:t>
            </a:r>
          </a:p>
        </p:txBody>
      </p:sp>
      <p:sp>
        <p:nvSpPr>
          <p:cNvPr id="301" name="Editable reference text: (b) Action-sensitive weight VQ">
            <a:extLst xmlns:a="http://schemas.openxmlformats.org/drawingml/2006/main">
              <a:ext uri="{FF2B5EF4-FFF2-40B4-BE49-F238E27FC236}">
                <a16:creationId xmlns:a16="http://schemas.microsoft.com/office/drawing/2014/main" id="{E1E14E9F-BFE6-40E0-8544-F99EE2C3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656" y="805297"/>
            <a:ext cx="3112250" cy="21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(b) Action-sensitive weight VQ</a:t>
            </a:r>
          </a:p>
        </p:txBody>
      </p:sp>
      <p:sp>
        <p:nvSpPr>
          <p:cNvPr id="302" name="Editable reference text: Quantize transformed weights with an action-aware ">
            <a:extLst xmlns:a="http://schemas.openxmlformats.org/drawingml/2006/main">
              <a:ext uri="{FF2B5EF4-FFF2-40B4-BE49-F238E27FC236}">
                <a16:creationId xmlns:a16="http://schemas.microsoft.com/office/drawing/2014/main" id="{8DFD6D6E-50E5-4479-AF41-61B01717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656" y="1015973"/>
            <a:ext cx="3208012" cy="148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7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Quantize transformed weights with an action-aware metric</a:t>
            </a:r>
          </a:p>
        </p:txBody>
      </p:sp>
      <p:sp>
        <p:nvSpPr>
          <p:cNvPr id="303" name="Editable reference text: (c) Action inference">
            <a:extLst xmlns:a="http://schemas.openxmlformats.org/drawingml/2006/main">
              <a:ext uri="{FF2B5EF4-FFF2-40B4-BE49-F238E27FC236}">
                <a16:creationId xmlns:a16="http://schemas.microsoft.com/office/drawing/2014/main" id="{73707A7D-528D-4331-8DA9-D0EAFA75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191" y="805297"/>
            <a:ext cx="1963112" cy="21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(c) Action inference</a:t>
            </a:r>
          </a:p>
        </p:txBody>
      </p:sp>
      <p:sp>
        <p:nvSpPr>
          <p:cNvPr id="304" name="Editable reference text: Quantized weights for low-bit inference">
            <a:extLst xmlns:a="http://schemas.openxmlformats.org/drawingml/2006/main">
              <a:ext uri="{FF2B5EF4-FFF2-40B4-BE49-F238E27FC236}">
                <a16:creationId xmlns:a16="http://schemas.microsoft.com/office/drawing/2014/main" id="{89DD76CF-25BF-4536-9F23-4A248BE2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191" y="1015973"/>
            <a:ext cx="1963112" cy="148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7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Quantized weights for low-bit inference</a:t>
            </a:r>
          </a:p>
        </p:txBody>
      </p:sp>
      <p:sp>
        <p:nvSpPr>
          <p:cNvPr id="305" name="Editable reference text: Activations  X ∈ ℝᵀˣᵈ">
            <a:extLst xmlns:a="http://schemas.openxmlformats.org/drawingml/2006/main">
              <a:ext uri="{FF2B5EF4-FFF2-40B4-BE49-F238E27FC236}">
                <a16:creationId xmlns:a16="http://schemas.microsoft.com/office/drawing/2014/main" id="{86BA2479-1A5D-4398-89C6-59B0C3F2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18" y="1312834"/>
            <a:ext cx="1613582" cy="153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Activations  X ∈ ℝᵀˣᵈ</a:t>
            </a:r>
          </a:p>
        </p:txBody>
      </p:sp>
      <p:sp>
        <p:nvSpPr>
          <p:cNvPr id="306" name="Editable reference text: outlier&#10;channels">
            <a:extLst xmlns:a="http://schemas.openxmlformats.org/drawingml/2006/main">
              <a:ext uri="{FF2B5EF4-FFF2-40B4-BE49-F238E27FC236}">
                <a16:creationId xmlns:a16="http://schemas.microsoft.com/office/drawing/2014/main" id="{31679E0E-BE84-454D-BC1C-FBA84322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16" y="1456476"/>
            <a:ext cx="488384" cy="205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4" b="1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1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outlier</a:t>
            </a:r>
          </a:p>
          <a:p xmlns:a="http://schemas.openxmlformats.org/drawingml/2006/main">
            <a:pPr algn="ctr">
              <a:defRPr sz="754" b="1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1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channels</a:t>
            </a:r>
          </a:p>
        </p:txBody>
      </p:sp>
      <p:sp>
        <p:nvSpPr>
          <p:cNvPr id="307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DB872E0A-B7A1-4D74-8F91-AECF02A0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6452" y="1719820"/>
            <a:ext cx="95" cy="28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A7600C"/>
            </a:solidFill>
            <a:prstDash val="solid"/>
          </a:ln>
        </p:spPr>
      </p:sp>
      <p:sp>
        <p:nvSpPr>
          <p:cNvPr id="308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D51A09BE-5647-4299-BBEE-8DF63693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6452" y="1700668"/>
            <a:ext cx="296861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A7600C"/>
            </a:solidFill>
            <a:prstDash val="dash"/>
          </a:ln>
        </p:spPr>
      </p:sp>
      <p:sp>
        <p:nvSpPr>
          <p:cNvPr id="309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5A465FD4-891D-48AD-A8FA-D29E3264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3313" y="1700668"/>
            <a:ext cx="95" cy="478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A7600C"/>
            </a:solidFill>
            <a:prstDash val="solid"/>
          </a:ln>
        </p:spPr>
      </p:sp>
      <p:sp>
        <p:nvSpPr>
          <p:cNvPr id="31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E86CDEDD-556B-44BC-A078-A21A4C3F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18" y="1758125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3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1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FF66ACF-8102-4043-91B8-A241F923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31" y="1758125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F5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1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A46BAD8-817A-4811-B0BF-AE646276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45" y="1758125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B5E2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1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F101679-54C8-4CD6-A2B2-BBCAAA55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58" y="1758125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1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11A6D73-7AFC-4DF7-B523-D8727F30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72" y="1758125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7A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1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D7E20A34-04C2-4FE3-BD77-D488AA5C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86" y="1758125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A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1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E31227E8-0CC9-4A81-A7F1-7D3C6D70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99" y="1758125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DBB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1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7CFCA75-46A5-46CA-BC79-C9D3E7B0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18" y="1849098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0E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1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7214A16A-F633-44CB-9B5A-D9B07FFF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31" y="1849098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3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1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D9E5B47-8E42-47FA-9AE2-B3038588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45" y="1849098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2E6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2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A56D01A2-38BD-468C-9195-DF9214A9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58" y="1849098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4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2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D0519175-D624-45C3-A6D2-CDED2E0D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72" y="1849098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DB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2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0F70065-16A3-4C52-89D8-0210DE05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86" y="1849098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D6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2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A7FDC9E-D623-4F4D-8804-FCF36E41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99" y="1849098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8B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2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57007BB-DCDA-4CEA-97FF-B508C00D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18" y="1940072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EF2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2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9D76E51-A82A-480C-910F-379025CD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31" y="1940072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AF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2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4629409A-FD28-437A-B352-787E4906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45" y="1940072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BEB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2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01190CD-92CF-4CD5-9316-EF2CE917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58" y="1940072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2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0308B935-F576-46DB-8F00-CB7D1719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72" y="1940072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1BF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2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CABE46BA-D94B-435C-B4C1-A630076F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86" y="1940072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4D2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3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4B4210E-AFA7-469D-9D79-D392F834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99" y="1940072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0B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3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3341DCC-B4F4-4710-BD18-C87F868C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18" y="2031045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4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3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84B4BB0-CB32-4BCC-8C4E-BEA3DB9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31" y="2031045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3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DCB9D4B-24C3-4283-BAFF-9FC06C87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45" y="2031045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5E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3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D7A5027-46BC-454B-9C48-92E702B5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58" y="2031045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EF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3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89EE179-670D-4C0D-89A8-A4D3EAFE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72" y="2031045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C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3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C8B48FBC-7F7A-4160-8B2D-7633526F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86" y="2031045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6D4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3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1EF94A00-B129-4108-9AA1-F235FE46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99" y="2031045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2B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3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739E812-2DDC-40BD-8359-B440E70D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18" y="2122019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5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3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C3ABAA43-6C6D-4650-B5DD-2F19AC07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31" y="2122019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F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4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394EF69-9C91-40DF-8C8B-8DC6EC17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45" y="2122019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E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4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B285B44-826B-4D23-9A0B-564083F3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58" y="2122019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4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4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E2EEE68-AAE1-410B-9A54-5AF7CA43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72" y="2122019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FBA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4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0FA4850-EB05-41E2-9A20-540859B4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86" y="2122019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1E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4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A6ED491-96B9-425F-B74E-4D3E90FE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99" y="2122019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3C3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4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78E9A74-3906-4CAC-9F47-9131BE0A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18" y="2212992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BF1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4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161AE137-4DAF-49C4-B057-381ED839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31" y="2212992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5E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4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AB69FD5-76DB-4FDE-A0F9-A0B9F65C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45" y="2212992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B2E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4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F0DCED3-1E49-4985-8691-AB08323D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58" y="2212992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4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C74B13E-AE90-40CE-9FF3-7C8744A2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72" y="2212992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C46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5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4EA10BF9-5A62-4345-90BF-65592EFF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86" y="2212992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B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5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A51506F-7EE4-4DEC-8FE4-73A576BF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99" y="2212992"/>
            <a:ext cx="9781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D093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5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AC7EE744-7470-4A58-AC95-920D4831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18" y="1758125"/>
            <a:ext cx="684695" cy="545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6885A5"/>
            </a:solidFill>
            <a:prstDash val="solid"/>
          </a:ln>
        </p:spPr>
      </p:sp>
      <p:sp>
        <p:nvSpPr>
          <p:cNvPr id="353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A8E46AAC-B290-410B-9862-116845FD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1585" y="1753337"/>
            <a:ext cx="95" cy="5697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354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6B81F1FE-F326-44F2-8589-756B148C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87220" y="2289601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8CE7300F-9841-4648-95EB-38A61345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01585" y="1753337"/>
            <a:ext cx="95" cy="5697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356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082C6101-D4C3-4CC9-AB08-0290170F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220" y="1753337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Editable reference text: T (tokens)">
            <a:extLst xmlns:a="http://schemas.openxmlformats.org/drawingml/2006/main">
              <a:ext uri="{FF2B5EF4-FFF2-40B4-BE49-F238E27FC236}">
                <a16:creationId xmlns:a16="http://schemas.microsoft.com/office/drawing/2014/main" id="{25C149E9-2CD3-4CAA-B16D-0BDF018D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28664" y="1949648"/>
            <a:ext cx="531477" cy="12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T (tokens)</a:t>
            </a:r>
          </a:p>
        </p:txBody>
      </p:sp>
      <p:sp>
        <p:nvSpPr>
          <p:cNvPr id="358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40E83504-D47C-4C39-B6B1-A0F7405C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8618" y="2370999"/>
            <a:ext cx="68469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359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E9C9F593-D237-47F2-9BCE-0BC7EA1E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2190" y="2354240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D9E35E65-66A2-4C68-936B-5AE2873B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68618" y="2370999"/>
            <a:ext cx="68469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361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EE4721CF-5845-42F7-BF6C-6298EA54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71012" y="2354240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Editable reference text: d (channels)">
            <a:extLst xmlns:a="http://schemas.openxmlformats.org/drawingml/2006/main">
              <a:ext uri="{FF2B5EF4-FFF2-40B4-BE49-F238E27FC236}">
                <a16:creationId xmlns:a16="http://schemas.microsoft.com/office/drawing/2014/main" id="{A78EB374-1E0E-4A91-A9EA-09B8F8A6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67" y="2404515"/>
            <a:ext cx="723000" cy="12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d (channels)</a:t>
            </a:r>
          </a:p>
        </p:txBody>
      </p:sp>
      <p:sp>
        <p:nvSpPr>
          <p:cNvPr id="363" name="Editable reference text: ⋯">
            <a:extLst xmlns:a="http://schemas.openxmlformats.org/drawingml/2006/main">
              <a:ext uri="{FF2B5EF4-FFF2-40B4-BE49-F238E27FC236}">
                <a16:creationId xmlns:a16="http://schemas.microsoft.com/office/drawing/2014/main" id="{02B187E3-AE3B-49DC-98A1-12EE28A1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617" y="1940072"/>
            <a:ext cx="201099" cy="119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36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D6FE3F6E-B7BF-4AF8-8820-4D96834F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12" y="1806005"/>
            <a:ext cx="833125" cy="426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D"/>
          </a:solidFill>
          <a:ln xmlns:a="http://schemas.openxmlformats.org/drawingml/2006/main" w="6703">
            <a:solidFill>
              <a:srgbClr val="7DA6D3"/>
            </a:solidFill>
            <a:prstDash val="solid"/>
          </a:ln>
        </p:spPr>
      </p:sp>
      <p:sp>
        <p:nvSpPr>
          <p:cNvPr id="365" name="Editable reference text: Scale + Hadamard">
            <a:extLst xmlns:a="http://schemas.openxmlformats.org/drawingml/2006/main">
              <a:ext uri="{FF2B5EF4-FFF2-40B4-BE49-F238E27FC236}">
                <a16:creationId xmlns:a16="http://schemas.microsoft.com/office/drawing/2014/main" id="{A436DA49-8DA3-40FC-B4E7-5AF6E88F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233" y="1877827"/>
            <a:ext cx="718212" cy="148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7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Scale + Hadamard</a:t>
            </a:r>
          </a:p>
        </p:txBody>
      </p:sp>
      <p:sp>
        <p:nvSpPr>
          <p:cNvPr id="366" name="Editable reference text: X′ = XD⁻¹H">
            <a:extLst xmlns:a="http://schemas.openxmlformats.org/drawingml/2006/main">
              <a:ext uri="{FF2B5EF4-FFF2-40B4-BE49-F238E27FC236}">
                <a16:creationId xmlns:a16="http://schemas.microsoft.com/office/drawing/2014/main" id="{CC0F8ECA-756A-4277-B6E8-B7DCAA63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174" y="2035833"/>
            <a:ext cx="713424" cy="162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80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X′ = XD⁻¹H</a:t>
            </a:r>
          </a:p>
        </p:txBody>
      </p:sp>
      <p:sp>
        <p:nvSpPr>
          <p:cNvPr id="367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133F0BE6-95AB-4835-AD17-CD48D40C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92326" y="2026257"/>
            <a:ext cx="13406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152">
            <a:solidFill>
              <a:srgbClr val="7DA6D3"/>
            </a:solidFill>
            <a:prstDash val="solid"/>
          </a:ln>
        </p:spPr>
      </p:sp>
      <p:sp>
        <p:nvSpPr>
          <p:cNvPr id="368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2D157A21-29A5-46A0-BE40-CB16237A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56486" y="1987952"/>
            <a:ext cx="63203" cy="7660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DA6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Editable reference text: Conditioned activations">
            <a:extLst xmlns:a="http://schemas.openxmlformats.org/drawingml/2006/main">
              <a:ext uri="{FF2B5EF4-FFF2-40B4-BE49-F238E27FC236}">
                <a16:creationId xmlns:a16="http://schemas.microsoft.com/office/drawing/2014/main" id="{3048CC27-6067-457E-A71D-C33CC33F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173" y="1312834"/>
            <a:ext cx="1240112" cy="153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Conditioned activations</a:t>
            </a:r>
          </a:p>
        </p:txBody>
      </p:sp>
      <p:sp>
        <p:nvSpPr>
          <p:cNvPr id="370" name="Editable reference text: X′ ∈ ℝᵀˣᵈ">
            <a:extLst xmlns:a="http://schemas.openxmlformats.org/drawingml/2006/main">
              <a:ext uri="{FF2B5EF4-FFF2-40B4-BE49-F238E27FC236}">
                <a16:creationId xmlns:a16="http://schemas.microsoft.com/office/drawing/2014/main" id="{4B7D7276-D4E4-4DEE-89E4-61DF4FD7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173" y="1456476"/>
            <a:ext cx="1168291" cy="153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3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X′ ∈ ℝᵀˣᵈ</a:t>
            </a:r>
          </a:p>
        </p:txBody>
      </p:sp>
      <p:sp>
        <p:nvSpPr>
          <p:cNvPr id="37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889EB5B7-AED0-4B00-86CD-6410ECB2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7491" y="1758125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B6DF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7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F771CA8-5DF1-42EA-9455-94E4F9F7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412" y="1758125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F2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7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707256D2-B721-4548-9FE4-20E80BBF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334" y="1758125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8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7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EC8A9385-7411-43A8-8FCA-1A6495E9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255" y="1758125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AE9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7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E562577-2671-463D-AD89-C21AF431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177" y="1758125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BAE2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7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74347D7-22DF-4890-81DE-322D5E85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098" y="1758125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0E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7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44DFA73B-0EC1-49B2-99F0-9AFE1A31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020" y="1758125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7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D7B205E8-CC25-44CC-A2D0-E9560DCF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7491" y="1849098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F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7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C78A9306-1BC5-4F60-BBD5-190AE446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412" y="1849098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0D5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8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C93C5D57-26ED-4DA1-9339-5AB57F67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334" y="1849098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6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8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C452C9DC-16CD-4D00-89FD-E37FF6C4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255" y="1849098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F3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8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0F358590-6DE8-47DB-A654-5224E932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177" y="1849098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ED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8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EDF7DF4B-BDE8-4C62-9585-3383EE22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098" y="1849098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8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CB51633A-F693-4237-96B5-9A46B2ED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020" y="1849098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BF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8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A094B9B3-8251-45C6-8B82-D534A4A1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7491" y="1940072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F1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8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0BA4EA1-80DC-4EDC-BDAB-D617D298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412" y="1940072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EF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8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44E75981-FB4D-4DBD-96C5-BE0159F8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334" y="1940072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F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8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8DC8E0AA-2D0F-49C6-BCC0-943F9A63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255" y="1940072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F1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8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E7C3DBDE-B529-4B12-944A-FE9BDB2D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177" y="1940072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9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9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E2D2731A-86BE-4D91-A5EC-29A4189C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098" y="1940072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F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9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8321A84B-0FCB-4845-8257-6AFD4218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020" y="1940072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BF1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9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535728D-476A-471A-82C9-4E871C59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7491" y="2031045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F5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9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760059A-7C5A-4A5E-B57C-73139AF0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412" y="2031045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2DA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9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0257926-EE83-4680-AF0B-A1A5B476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334" y="2031045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0F8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9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A813174-BF2D-4445-9FDB-6B40AB26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255" y="2031045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F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9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3F76EDE-18B4-41D4-B916-6C82742B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177" y="2031045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5E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9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CE3E848A-DCC2-454E-9C0A-D8A1FD1E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098" y="2031045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F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9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EF644A9-D761-4D51-89DF-B2BD7B47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020" y="2031045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AF5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39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BA57A7D-3375-4A0C-991F-6AC0373A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7491" y="2122019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0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3F25CB8-FF61-420B-A4A7-7D07F58C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412" y="2122019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DF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0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B72220E-2F54-4C68-968A-C7150BEB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334" y="2122019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8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0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EB89A48-A68F-4698-92B4-FD534BCC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255" y="2122019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0D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0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03B8A25E-67C9-473D-8154-A842AE3F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177" y="2122019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E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0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8E2BE3A8-0BE2-4032-8883-33EA0EAF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098" y="2122019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F2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0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F41B7C5-3628-4D57-A4D6-8DB29FF5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020" y="2122019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A9DB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0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F4B06D6-19A8-4397-AA04-B9AC9DDF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7491" y="2212992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DE3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0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7CCBAF3-4DED-440F-9732-76134A8A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412" y="2212992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9F5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0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8A3E5AD5-AAE6-4309-BD65-BD5A2B3F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334" y="2212992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F6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0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C0E40EFD-BBFA-405F-A0E4-56D3C73A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255" y="2212992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D3E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1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D118F949-F486-4F72-BF60-93E756E8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177" y="2212992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9AD1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1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F3B66E6-0196-4CD1-92A1-B28BFE9B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098" y="2212992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1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23C391C-1184-43E9-A7D8-FD16EFFC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020" y="2212992"/>
            <a:ext cx="88921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E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1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F5D92D4-FC88-4C7B-94FF-AAB73D63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7491" y="1758125"/>
            <a:ext cx="622450" cy="545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6885A5"/>
            </a:solidFill>
            <a:prstDash val="solid"/>
          </a:ln>
        </p:spPr>
      </p:sp>
      <p:sp>
        <p:nvSpPr>
          <p:cNvPr id="414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BDEB4A72-D27F-48A1-BAE8-DE19F18B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55670" y="1753337"/>
            <a:ext cx="95" cy="5697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415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60B250DA-920A-4CBD-B105-0BCF01FD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441306" y="2289601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E9073AD1-B4C9-4CC9-BA74-5A07718A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55670" y="1753337"/>
            <a:ext cx="95" cy="5697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417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4BC806D0-B2B3-40CC-9BF2-16B5EF98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1306" y="1753337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" name="Editable reference text: T">
            <a:extLst xmlns:a="http://schemas.openxmlformats.org/drawingml/2006/main">
              <a:ext uri="{FF2B5EF4-FFF2-40B4-BE49-F238E27FC236}">
                <a16:creationId xmlns:a16="http://schemas.microsoft.com/office/drawing/2014/main" id="{EE38A6F5-09BF-4F9F-B281-03E13D4C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180" y="2045409"/>
            <a:ext cx="95762" cy="12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419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C5CD6644-4169-495B-A79E-3ECC4070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27491" y="2370999"/>
            <a:ext cx="622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420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07DF4ECA-6C0F-4D20-A962-74FAA274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18819" y="2354240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1D91A907-3CAC-440B-AE9D-18853A59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527491" y="2370999"/>
            <a:ext cx="622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422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E724CDC3-2939-428F-BE5F-2FDC7C5F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529885" y="2354240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Editable reference text: d">
            <a:extLst xmlns:a="http://schemas.openxmlformats.org/drawingml/2006/main">
              <a:ext uri="{FF2B5EF4-FFF2-40B4-BE49-F238E27FC236}">
                <a16:creationId xmlns:a16="http://schemas.microsoft.com/office/drawing/2014/main" id="{25F9D154-63D5-4316-9A6E-D5D91271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921" y="2404515"/>
            <a:ext cx="272920" cy="12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424" name="Editable reference text: ⋯">
            <a:extLst xmlns:a="http://schemas.openxmlformats.org/drawingml/2006/main">
              <a:ext uri="{FF2B5EF4-FFF2-40B4-BE49-F238E27FC236}">
                <a16:creationId xmlns:a16="http://schemas.microsoft.com/office/drawing/2014/main" id="{031483AD-4BA0-432E-B74F-2BD2D415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246" y="1940072"/>
            <a:ext cx="201099" cy="119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425" name="Editable reference text: Weights  W ∈ ℝⁿˣᵈ">
            <a:extLst xmlns:a="http://schemas.openxmlformats.org/drawingml/2006/main">
              <a:ext uri="{FF2B5EF4-FFF2-40B4-BE49-F238E27FC236}">
                <a16:creationId xmlns:a16="http://schemas.microsoft.com/office/drawing/2014/main" id="{759A8EC9-CDE6-440D-B658-324913AF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18" y="2725316"/>
            <a:ext cx="1771589" cy="153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3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Weights  W ∈ ℝⁿˣᵈ</a:t>
            </a:r>
          </a:p>
        </p:txBody>
      </p:sp>
      <p:sp>
        <p:nvSpPr>
          <p:cNvPr id="42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31CF031-2F35-4406-A5BF-6F2E10CF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18" y="3041329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BF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2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74305DA-61FD-4DE4-8DFA-B7A41E19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02" y="3041329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AC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2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077D7691-0CCF-459B-B414-ACC03C8B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86" y="3041329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DA9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2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DEFC752-71A8-4AD7-AA95-5F403B78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69" y="3041329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D85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3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CDEF8F6-69FB-4147-BFFF-8E71C2F5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53" y="3041329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772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3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DCFAE85F-8103-458D-A274-D6A5DE1A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37" y="3041329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C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3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042C66C-86C5-41E6-8B7D-4BF5F258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21" y="3041329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E6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3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CE262508-0ECA-43FD-B2C5-2B3F30FF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105" y="3041329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FA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3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AAB500CA-7CA2-4A59-8150-213A3527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18" y="3132303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F9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3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770FB3D-C21E-4CE0-B720-A163FF4E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02" y="3132303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AA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3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5520498-6D32-45D4-B192-4A2C0DA7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86" y="3132303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6C8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3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4627399-2B53-4593-9ED2-BD7119E3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69" y="3132303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9A6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3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5170670-2C7A-4D50-A821-63ED4DDA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53" y="3132303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499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3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0858B63F-93D6-4E53-A66C-73B59FF5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37" y="3132303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E63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4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6522AF9-12FB-4B0B-8D1A-66556A32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21" y="3132303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B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4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AED46A4E-F58F-47E0-A9C0-4CB222C5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105" y="3132303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A7A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4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661D8EB-AAC8-42CF-B017-1B4B8748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18" y="3223276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295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4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34495B0-CA59-4786-8918-2138AC86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02" y="3223276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468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4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D3E5CF4A-6D6F-4D13-8586-384EE832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86" y="3223276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29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4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AC9E994-C8C7-4147-97E6-BAE3C6C7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69" y="3223276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8A2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4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A571BCD8-06A9-4F7E-A739-07E66E4F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53" y="3223276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1B8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4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06736E8A-0587-47D9-BEBD-0C557BCE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37" y="3223276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B86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4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0EC890C-AFE8-4FF1-9B07-E5627CDA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21" y="3223276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AA2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4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CF0EAFAA-119A-4D76-A991-4023A837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105" y="3223276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BAB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5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D61D8FC5-FD52-472E-9FF3-4C86A65C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18" y="3314250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D2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5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70BAADC1-BEE6-4714-812F-C03B30BF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02" y="3314250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D4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5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DCC3C0DE-73F5-4DA5-BCA5-79E1A8B0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86" y="3314250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08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5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7E97DD20-DB38-42E6-9767-05D25BB1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69" y="3314250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E3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5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54B8F5F-9FEA-4987-97A8-E32AE861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53" y="3314250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D6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5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1A81149A-C930-4071-99C8-B1496F9C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37" y="3314250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D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5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8EA35E10-51BD-46C0-B294-81F4DCA1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21" y="3314250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3BB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5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485C08B8-7407-4594-876D-8641E94C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105" y="3314250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D8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5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7499745A-F50E-4D09-AE3B-315CBA53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18" y="3405223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79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5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B3C052A-9035-4CD6-944D-49185B0D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02" y="3405223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0D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6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C37DB02-42B6-4090-B2FD-0A02707A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86" y="3405223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D5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6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9F70895-BF60-416D-9CD7-B7F01F9E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69" y="3405223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4E8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6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10D58E9-C85A-462C-8C72-674FE644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53" y="3405223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76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6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815D07FE-61B0-4F8E-A249-59DDCE49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37" y="3405223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0D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6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7B64B39B-7021-4B75-BC69-C00DD4C1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21" y="3405223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E5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6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D147B10-F1F7-46BB-BC6E-702CD8A1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105" y="3405223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3BA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6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7300C5AC-35B8-4FE4-BDB6-75287797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18" y="3496197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D3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6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33F87D3-DE26-4D05-9A3E-998ED54F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02" y="3496197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08A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6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D0B6E917-5DB6-48ED-949C-0ECF0449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86" y="3496197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7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6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EF81B40E-4CD4-42E8-9840-8B45AFA7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69" y="3496197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1E1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7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3986FB6-5F8C-416C-B36F-BD2E0248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53" y="3496197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292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7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E05E5EBF-F359-4095-BD5A-00238F9D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37" y="3496197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D82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7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1CE07193-3218-4993-9B77-628C84D2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21" y="3496197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C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7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75A6A8BC-EB25-4B45-85B6-1ECE7355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105" y="3496197"/>
            <a:ext cx="86784" cy="90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C3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7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93F22ED-3B9B-415B-9E25-BAEB9C7E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18" y="3041329"/>
            <a:ext cx="694271" cy="545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AC7526"/>
            </a:solidFill>
            <a:prstDash val="solid"/>
          </a:ln>
        </p:spPr>
      </p:sp>
      <p:sp>
        <p:nvSpPr>
          <p:cNvPr id="475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6DFED4AF-0AC1-4317-A156-22558073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1585" y="3041329"/>
            <a:ext cx="95" cy="560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476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D346DAA1-15CB-4611-9D6E-A28BA799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87220" y="3568018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6F814234-6F62-456C-B5E7-CA2D221F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01585" y="3041329"/>
            <a:ext cx="95" cy="560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478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55D02B11-678E-4947-970B-97A82197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220" y="3041329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" name="Editable reference text: n (output dim)">
            <a:extLst xmlns:a="http://schemas.openxmlformats.org/drawingml/2006/main">
              <a:ext uri="{FF2B5EF4-FFF2-40B4-BE49-F238E27FC236}">
                <a16:creationId xmlns:a16="http://schemas.microsoft.com/office/drawing/2014/main" id="{3A45EC21-AFCD-46B7-99F6-685C615C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80783" y="3261581"/>
            <a:ext cx="636814" cy="12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n (output dim)</a:t>
            </a:r>
          </a:p>
        </p:txBody>
      </p:sp>
      <p:sp>
        <p:nvSpPr>
          <p:cNvPr id="480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78DB04D8-C515-4A17-8C4F-AB466508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8618" y="3649415"/>
            <a:ext cx="694271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481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2FD8F67C-5820-49E1-8E4C-9A488E4F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31766" y="3632657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B57E4090-E358-4A3F-85F4-392B4F4E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68618" y="3649415"/>
            <a:ext cx="694271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483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20D923E9-80E9-466B-9C33-71847F96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71012" y="3632657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" name="Editable reference text: d (input dim)">
            <a:extLst xmlns:a="http://schemas.openxmlformats.org/drawingml/2006/main">
              <a:ext uri="{FF2B5EF4-FFF2-40B4-BE49-F238E27FC236}">
                <a16:creationId xmlns:a16="http://schemas.microsoft.com/office/drawing/2014/main" id="{33B85932-72EE-413A-B9E2-EF67F362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710" y="3687720"/>
            <a:ext cx="818761" cy="12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d (input dim)</a:t>
            </a:r>
          </a:p>
        </p:txBody>
      </p:sp>
      <p:sp>
        <p:nvSpPr>
          <p:cNvPr id="485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9863BE37-E730-4911-989C-3829FF9A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20346" y="3309462"/>
            <a:ext cx="119702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152">
            <a:solidFill>
              <a:srgbClr val="E7A07D"/>
            </a:solidFill>
            <a:prstDash val="solid"/>
          </a:ln>
        </p:spPr>
      </p:sp>
      <p:sp>
        <p:nvSpPr>
          <p:cNvPr id="486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C00DC092-F34C-4065-806E-A444F84B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0142" y="3271157"/>
            <a:ext cx="63203" cy="7660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7A0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1359C2D-7642-4E71-9E9E-B376355C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12" y="3089210"/>
            <a:ext cx="833125" cy="4309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7182">
            <a:solidFill>
              <a:srgbClr val="E7A07D"/>
            </a:solidFill>
            <a:prstDash val="solid"/>
          </a:ln>
        </p:spPr>
      </p:sp>
      <p:sp>
        <p:nvSpPr>
          <p:cNvPr id="488" name="Editable reference text: Paired transform">
            <a:extLst xmlns:a="http://schemas.openxmlformats.org/drawingml/2006/main">
              <a:ext uri="{FF2B5EF4-FFF2-40B4-BE49-F238E27FC236}">
                <a16:creationId xmlns:a16="http://schemas.microsoft.com/office/drawing/2014/main" id="{8DA316E2-F726-409B-B56B-286AEC0C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869" y="3151455"/>
            <a:ext cx="732576" cy="143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7" b="0" i="0">
                <a:solidFill>
                  <a:srgbClr val="9C420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9C420D"/>
                </a:solidFill>
                <a:latin typeface="Times New Roman"/>
                <a:ea typeface="Times New Roman"/>
                <a:cs typeface="Times New Roman"/>
              </a:rPr>
              <a:t>Paired transform</a:t>
            </a:r>
          </a:p>
        </p:txBody>
      </p:sp>
      <p:sp>
        <p:nvSpPr>
          <p:cNvPr id="489" name="Editable reference text: W′ = WDH">
            <a:extLst xmlns:a="http://schemas.openxmlformats.org/drawingml/2006/main">
              <a:ext uri="{FF2B5EF4-FFF2-40B4-BE49-F238E27FC236}">
                <a16:creationId xmlns:a16="http://schemas.microsoft.com/office/drawing/2014/main" id="{76081E62-D8CE-43F3-A988-69497955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962" y="3314250"/>
            <a:ext cx="703847" cy="158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80" b="0" i="1">
                <a:solidFill>
                  <a:srgbClr val="9C420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0" i="1">
                <a:solidFill>
                  <a:srgbClr val="9C420D"/>
                </a:solidFill>
                <a:latin typeface="Times New Roman"/>
                <a:ea typeface="Times New Roman"/>
                <a:cs typeface="Times New Roman"/>
              </a:rPr>
              <a:t>W′ = WDH</a:t>
            </a:r>
          </a:p>
        </p:txBody>
      </p:sp>
      <p:sp>
        <p:nvSpPr>
          <p:cNvPr id="490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EBC8F881-5A91-4DE6-879C-305CDF24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92326" y="3309462"/>
            <a:ext cx="13406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152">
            <a:solidFill>
              <a:srgbClr val="E7A07D"/>
            </a:solidFill>
            <a:prstDash val="solid"/>
          </a:ln>
        </p:spPr>
      </p:sp>
      <p:sp>
        <p:nvSpPr>
          <p:cNvPr id="491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EB4F9B4A-E06C-411A-A274-75E2E3D4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56486" y="3271157"/>
            <a:ext cx="63203" cy="7660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7A0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" name="Editable reference text: Transformed weights">
            <a:extLst xmlns:a="http://schemas.openxmlformats.org/drawingml/2006/main">
              <a:ext uri="{FF2B5EF4-FFF2-40B4-BE49-F238E27FC236}">
                <a16:creationId xmlns:a16="http://schemas.microsoft.com/office/drawing/2014/main" id="{C66D26A8-3F5A-4924-99B0-F35AC865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604" y="2725316"/>
            <a:ext cx="1086894" cy="153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Transformed weights</a:t>
            </a:r>
          </a:p>
        </p:txBody>
      </p:sp>
      <p:sp>
        <p:nvSpPr>
          <p:cNvPr id="493" name="Editable reference text: W′ ∈ ℝⁿˣᵈ">
            <a:extLst xmlns:a="http://schemas.openxmlformats.org/drawingml/2006/main">
              <a:ext uri="{FF2B5EF4-FFF2-40B4-BE49-F238E27FC236}">
                <a16:creationId xmlns:a16="http://schemas.microsoft.com/office/drawing/2014/main" id="{4A9F8B2E-9CFD-46F2-95EC-0E247048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604" y="2864171"/>
            <a:ext cx="991132" cy="162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3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W′ ∈ ℝⁿˣᵈ</a:t>
            </a:r>
          </a:p>
        </p:txBody>
      </p:sp>
      <p:sp>
        <p:nvSpPr>
          <p:cNvPr id="49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016A211B-B48B-4EC5-BFE6-56086FFD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915" y="3065270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16A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9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85DCA13A-E386-4A36-AFFC-F8B7177F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08" y="3065270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196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9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0D8B4812-F849-4F1E-A4DC-095AE3DB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301" y="3065270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9D2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9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FF865D0-D466-439E-9420-481B3D9F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493" y="3065270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9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46A908F0-656D-4571-A804-2E4436A5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0686" y="3065270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F86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49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CB7A65B3-33B2-429A-8951-B9B8B199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879" y="3065270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ACF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0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50DF24B-8A4F-451D-8156-5488A616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072" y="3065270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F96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0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4B1D82AA-401B-4A50-869E-5908FC0A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265" y="3065270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AC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0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F316178-23ED-419A-9B3C-D186C4CA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915" y="3165819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E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0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4D4B321D-DEBD-44EE-86C9-5C21597A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08" y="3165819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D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0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CEB6B969-75E2-4945-8D52-BBE26758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301" y="3165819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1D1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0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73F51330-C099-4D84-AD18-E4D676BA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493" y="3165819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AF5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0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00370A0B-D52B-4C12-9372-8BD1BDC8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0686" y="3165819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876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0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E3BEAD7F-6F7A-4F43-AACA-651289C2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879" y="3165819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D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0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56B9B39-6524-4C5E-AE6F-7BC6F1D7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072" y="3165819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49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0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AA954BB-8EDC-4687-8E87-EC8018F1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265" y="3165819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4A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1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3524386-4C57-4488-AF53-FEB5528A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915" y="3266369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D9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1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01998AFD-E1A8-4B7F-8F67-D7109294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08" y="3266369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B472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1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1B7BFF7E-088B-426A-ABAC-E8327D2F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301" y="3266369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6E2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1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6762630-A7A2-4E26-9994-62CE94FD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493" y="3266369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D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1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DADF1C5-CADF-46DC-BD13-E8720328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0686" y="3266369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6C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1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CDE5E82-1670-445A-85A9-F0A558CA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879" y="3266369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AAA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1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43AD6DB-C1C3-4019-A7C3-138BD29A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072" y="3266369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B6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1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A3C98B5-8548-4EA8-85C5-BDBEE0BC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265" y="3266369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CAF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1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B1F242D-6F22-46CD-B10F-7E4B1E8D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915" y="3366919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ED8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1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303EA9F-7857-42EE-9260-42939534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08" y="3366919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5A1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2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8FC9ECCB-FADF-4934-8DCB-48A96B33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301" y="3366919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EA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2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17DBCF83-F71F-4627-B618-FAC661F8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493" y="3366919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5E6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2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AC084D82-4744-47AE-9C75-22232CDC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0686" y="3366919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5F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2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CDCA1C0-F9CC-493A-A29B-A73207AC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879" y="3366919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8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2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7417B2B1-5037-485B-B4BE-10D3D3D0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072" y="3366919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FD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2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A12AD00-F9BB-4F98-9E5D-2C18DDCE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265" y="3366919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5B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2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1FE0BDBB-D9AA-423F-9911-108B62A1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915" y="3467468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3B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2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77010D77-55ED-428A-A4EE-F9C01206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08" y="3467468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46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2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FB2607E-5A25-4ACF-A4DD-15421D15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301" y="3467468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8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2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86A5411-2722-45A2-B04D-8B0C5A49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493" y="3467468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3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61DFC3D-4630-4357-AB52-2ED69D12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0686" y="3467468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E6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3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950969C-831F-4328-A4A6-8C462804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879" y="3467468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D5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3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78DCD174-EE35-4DE6-BDCA-75162AF5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072" y="3467468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AE65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3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D61288C-139D-404B-8BFE-08F8D076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265" y="3467468"/>
            <a:ext cx="83193" cy="1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ED9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3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4100EDD9-6715-4442-86EA-660E7671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915" y="3065270"/>
            <a:ext cx="665543" cy="502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AC7526"/>
            </a:solidFill>
            <a:prstDash val="solid"/>
          </a:ln>
        </p:spPr>
      </p:sp>
      <p:sp>
        <p:nvSpPr>
          <p:cNvPr id="535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EE5495B6-E7A7-4C4A-8766-BA3A5D4A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50882" y="3065270"/>
            <a:ext cx="95" cy="5171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536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2F01EFF6-0113-4CCD-81F2-D5136A22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436518" y="3548866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A635E142-A326-4E72-95EB-A4C4A81B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50882" y="3065270"/>
            <a:ext cx="95" cy="5171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538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D1D3F757-CF75-4E91-A95E-70C6F4FE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6518" y="3065270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9" name="Editable reference text: n">
            <a:extLst xmlns:a="http://schemas.openxmlformats.org/drawingml/2006/main">
              <a:ext uri="{FF2B5EF4-FFF2-40B4-BE49-F238E27FC236}">
                <a16:creationId xmlns:a16="http://schemas.microsoft.com/office/drawing/2014/main" id="{D5791005-31F6-4747-9FDA-6B1FF740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604" y="3285521"/>
            <a:ext cx="110126" cy="12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540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BCCDAA0C-7484-4147-95C4-9D1E9F4C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17915" y="3639839"/>
            <a:ext cx="665543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541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499A35BC-BAA7-4FC3-AA87-BC32DD51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52335" y="3623081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D5C522AB-53AF-4B7A-8E60-8ED929AC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517915" y="3639839"/>
            <a:ext cx="665543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543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695C094F-595B-487A-9CFD-A8907937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520309" y="3623081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Editable reference text: d">
            <a:extLst xmlns:a="http://schemas.openxmlformats.org/drawingml/2006/main">
              <a:ext uri="{FF2B5EF4-FFF2-40B4-BE49-F238E27FC236}">
                <a16:creationId xmlns:a16="http://schemas.microsoft.com/office/drawing/2014/main" id="{81450637-B08D-4AD6-96F3-123494D8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3802" y="3673356"/>
            <a:ext cx="306437" cy="12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545" name="Editable reference text: ⋯">
            <a:extLst xmlns:a="http://schemas.openxmlformats.org/drawingml/2006/main">
              <a:ext uri="{FF2B5EF4-FFF2-40B4-BE49-F238E27FC236}">
                <a16:creationId xmlns:a16="http://schemas.microsoft.com/office/drawing/2014/main" id="{46E508B4-C993-433E-90F7-031FB813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974" y="3218488"/>
            <a:ext cx="201099" cy="119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54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D60B245-BDC8-46AF-873D-3D39F8E7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14" y="4003733"/>
            <a:ext cx="3160131" cy="569781"/>
          </a:xfrm>
          <a:prstGeom xmlns:a="http://schemas.openxmlformats.org/drawingml/2006/main" prst="roundRect">
            <a:avLst>
              <a:gd name="adj" fmla="val 13374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Editable reference text: X′W′ᵀ = XWᵀ   when  HHᵀ = I  and D is invertible.">
            <a:extLst xmlns:a="http://schemas.openxmlformats.org/drawingml/2006/main">
              <a:ext uri="{FF2B5EF4-FFF2-40B4-BE49-F238E27FC236}">
                <a16:creationId xmlns:a16="http://schemas.microsoft.com/office/drawing/2014/main" id="{3CD5D651-0D01-4694-BBEC-51CCF035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585" y="4113859"/>
            <a:ext cx="2882423" cy="181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8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8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X′W′ᵀ = XWᵀ   when  HHᵀ = I  and D is invertible.</a:t>
            </a:r>
          </a:p>
        </p:txBody>
      </p:sp>
      <p:sp>
        <p:nvSpPr>
          <p:cNvPr id="548" name="Editable reference text: Row-vector convention:   Y = XWᵀ.">
            <a:extLst xmlns:a="http://schemas.openxmlformats.org/drawingml/2006/main">
              <a:ext uri="{FF2B5EF4-FFF2-40B4-BE49-F238E27FC236}">
                <a16:creationId xmlns:a16="http://schemas.microsoft.com/office/drawing/2014/main" id="{2BD415E9-27D8-4E7D-AF52-06E6C106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22" y="4343686"/>
            <a:ext cx="2729204" cy="167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43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Row-vector convention:   Y = XWᵀ.</a:t>
            </a:r>
          </a:p>
        </p:txBody>
      </p:sp>
      <p:sp>
        <p:nvSpPr>
          <p:cNvPr id="549" name="Editable reference text: Row-wise vector quantization (per output row)">
            <a:extLst xmlns:a="http://schemas.openxmlformats.org/drawingml/2006/main">
              <a:ext uri="{FF2B5EF4-FFF2-40B4-BE49-F238E27FC236}">
                <a16:creationId xmlns:a16="http://schemas.microsoft.com/office/drawing/2014/main" id="{215DE295-339B-4896-926F-FE04580B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596" y="1269741"/>
            <a:ext cx="3198436" cy="167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Row-wise vector quantization (per output row)</a:t>
            </a:r>
          </a:p>
        </p:txBody>
      </p:sp>
      <p:sp>
        <p:nvSpPr>
          <p:cNvPr id="550" name="Editable reference text: wᵢ′ ∈ ℝ¹ˣᵈ">
            <a:extLst xmlns:a="http://schemas.openxmlformats.org/drawingml/2006/main">
              <a:ext uri="{FF2B5EF4-FFF2-40B4-BE49-F238E27FC236}">
                <a16:creationId xmlns:a16="http://schemas.microsoft.com/office/drawing/2014/main" id="{4578EFFD-5BC3-495A-B0B6-18D53EF5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696" y="1456476"/>
            <a:ext cx="1177867" cy="148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wᵢ′ ∈ ℝ¹ˣᵈ</a:t>
            </a:r>
          </a:p>
        </p:txBody>
      </p:sp>
      <p:sp>
        <p:nvSpPr>
          <p:cNvPr id="55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112BBEF7-D5E5-4633-9BF9-B3D6929C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120" y="1624059"/>
            <a:ext cx="93846" cy="110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DA9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5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A25EE467-5C1D-44B3-B9E3-49F31F1E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966" y="1624059"/>
            <a:ext cx="93846" cy="110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99B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5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F1BB882-E065-4CFE-9638-21F98FC6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812" y="1624059"/>
            <a:ext cx="93846" cy="110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DDA5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5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4AE8F1B-C346-438A-B27C-2C8A2CD8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658" y="1624059"/>
            <a:ext cx="93846" cy="110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AA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5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6B0269F-333C-4BA1-BF9B-71976E59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6505" y="1624059"/>
            <a:ext cx="93846" cy="110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FA9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5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5912C5E-E804-4409-A475-65A3054A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120" y="1624059"/>
            <a:ext cx="469232" cy="110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AC7526"/>
            </a:solidFill>
            <a:prstDash val="solid"/>
          </a:ln>
        </p:spPr>
      </p:sp>
      <p:sp>
        <p:nvSpPr>
          <p:cNvPr id="55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4A41746-6204-4B99-AD13-50CD8AB8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503" y="1624059"/>
            <a:ext cx="93846" cy="110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A4A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5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5301E67-6AFC-4B56-AA63-138A28D6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350" y="1624059"/>
            <a:ext cx="93846" cy="110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A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5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E5A7577B-4655-4F89-9CDE-79A55388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7196" y="1624059"/>
            <a:ext cx="93846" cy="110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B9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6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143BABCA-2BDA-4E3F-85A1-43FE0C1B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042" y="1624059"/>
            <a:ext cx="93846" cy="110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A9B1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6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13D201CC-0C00-46A9-904B-97035545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4889" y="1624059"/>
            <a:ext cx="93846" cy="110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9B1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6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C1456403-2FBB-458F-B52D-E0807B6D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503" y="1624059"/>
            <a:ext cx="469232" cy="110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6885A5"/>
            </a:solidFill>
            <a:prstDash val="solid"/>
          </a:ln>
        </p:spPr>
      </p:sp>
      <p:sp>
        <p:nvSpPr>
          <p:cNvPr id="56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1E82DA3F-8391-41EC-AF97-1BAC98AC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172" y="1624059"/>
            <a:ext cx="93846" cy="110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CAB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6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DF85CBA6-4DF7-4BDD-BDA0-C15B7A89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018" y="1624059"/>
            <a:ext cx="93846" cy="110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C8B6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6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5EF58EA-F2EF-4568-AAD5-CFA2FC48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2865" y="1624059"/>
            <a:ext cx="93846" cy="110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D0B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6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E9895E3-9355-4A9B-845D-5076E10E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1" y="1624059"/>
            <a:ext cx="93846" cy="110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BB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6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088D594-305A-4D77-B82E-ED0E1E90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557" y="1624059"/>
            <a:ext cx="93846" cy="110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8B4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6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A486DE48-6533-4709-B752-8089D129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172" y="1624059"/>
            <a:ext cx="469232" cy="110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6885A5"/>
            </a:solidFill>
            <a:prstDash val="solid"/>
          </a:ln>
        </p:spPr>
      </p:sp>
      <p:sp>
        <p:nvSpPr>
          <p:cNvPr id="569" name="Editable reference text: ⋯">
            <a:extLst xmlns:a="http://schemas.openxmlformats.org/drawingml/2006/main">
              <a:ext uri="{FF2B5EF4-FFF2-40B4-BE49-F238E27FC236}">
                <a16:creationId xmlns:a16="http://schemas.microsoft.com/office/drawing/2014/main" id="{C26BBA96-69AD-4AA1-B779-7FF08FAE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4920" y="1580966"/>
            <a:ext cx="201099" cy="119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570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D7F63D21-FEB4-4663-9463-7B383F1C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01120" y="1772489"/>
            <a:ext cx="28728" cy="430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0B2255"/>
            </a:solidFill>
            <a:prstDash val="solid"/>
          </a:ln>
        </p:spPr>
      </p:sp>
      <p:sp>
        <p:nvSpPr>
          <p:cNvPr id="571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5A7A48F4-EA71-4B7C-B12D-197C4093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29848" y="1815582"/>
            <a:ext cx="4117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0B2255"/>
            </a:solidFill>
            <a:prstDash val="solid"/>
          </a:ln>
        </p:spPr>
      </p:sp>
      <p:sp>
        <p:nvSpPr>
          <p:cNvPr id="572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5A85B5F9-F789-42D1-BB88-56584995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241623" y="1772489"/>
            <a:ext cx="28728" cy="430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0B2255"/>
            </a:solidFill>
            <a:prstDash val="solid"/>
          </a:ln>
        </p:spPr>
      </p:sp>
      <p:sp>
        <p:nvSpPr>
          <p:cNvPr id="573" name="Editable reference text: block 1">
            <a:extLst xmlns:a="http://schemas.openxmlformats.org/drawingml/2006/main">
              <a:ext uri="{FF2B5EF4-FFF2-40B4-BE49-F238E27FC236}">
                <a16:creationId xmlns:a16="http://schemas.microsoft.com/office/drawing/2014/main" id="{753472C6-8DAE-4979-ACB9-53A0EB8B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120" y="1858674"/>
            <a:ext cx="469232" cy="138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block 1</a:t>
            </a:r>
          </a:p>
        </p:txBody>
      </p:sp>
      <p:sp>
        <p:nvSpPr>
          <p:cNvPr id="574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BF570E52-F3CB-474C-A634-593883FA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89503" y="1772489"/>
            <a:ext cx="28728" cy="430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0B2255"/>
            </a:solidFill>
            <a:prstDash val="solid"/>
          </a:ln>
        </p:spPr>
      </p:sp>
      <p:sp>
        <p:nvSpPr>
          <p:cNvPr id="575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33D84436-A8A8-408E-BADC-F95414DD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18232" y="1815582"/>
            <a:ext cx="4117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0B2255"/>
            </a:solidFill>
            <a:prstDash val="solid"/>
          </a:ln>
        </p:spPr>
      </p:sp>
      <p:sp>
        <p:nvSpPr>
          <p:cNvPr id="576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10083DE2-70F6-4B7E-A5C9-8F6CCF6B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730007" y="1772489"/>
            <a:ext cx="28728" cy="430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0B2255"/>
            </a:solidFill>
            <a:prstDash val="solid"/>
          </a:ln>
        </p:spPr>
      </p:sp>
      <p:sp>
        <p:nvSpPr>
          <p:cNvPr id="577" name="Editable reference text: block 2">
            <a:extLst xmlns:a="http://schemas.openxmlformats.org/drawingml/2006/main">
              <a:ext uri="{FF2B5EF4-FFF2-40B4-BE49-F238E27FC236}">
                <a16:creationId xmlns:a16="http://schemas.microsoft.com/office/drawing/2014/main" id="{B3525ACD-FC40-439D-AB1E-F6A23A0B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503" y="1858674"/>
            <a:ext cx="469232" cy="138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block 2</a:t>
            </a:r>
          </a:p>
        </p:txBody>
      </p:sp>
      <p:sp>
        <p:nvSpPr>
          <p:cNvPr id="578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79792BD6-A212-4701-8AF0-D1A5C2B3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65172" y="1772489"/>
            <a:ext cx="28728" cy="430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0B2255"/>
            </a:solidFill>
            <a:prstDash val="solid"/>
          </a:ln>
        </p:spPr>
      </p:sp>
      <p:sp>
        <p:nvSpPr>
          <p:cNvPr id="579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E95D3D60-6ECD-4D14-A5EB-FF42B4EE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93900" y="1815582"/>
            <a:ext cx="4117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0B2255"/>
            </a:solidFill>
            <a:prstDash val="solid"/>
          </a:ln>
        </p:spPr>
      </p:sp>
      <p:sp>
        <p:nvSpPr>
          <p:cNvPr id="580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54D56407-9FFE-4D10-B6D8-B9D76F33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505675" y="1772489"/>
            <a:ext cx="28728" cy="430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0B2255"/>
            </a:solidFill>
            <a:prstDash val="solid"/>
          </a:ln>
        </p:spPr>
      </p:sp>
      <p:sp>
        <p:nvSpPr>
          <p:cNvPr id="581" name="Editable reference text: block K">
            <a:extLst xmlns:a="http://schemas.openxmlformats.org/drawingml/2006/main">
              <a:ext uri="{FF2B5EF4-FFF2-40B4-BE49-F238E27FC236}">
                <a16:creationId xmlns:a16="http://schemas.microsoft.com/office/drawing/2014/main" id="{E8AAC736-022C-4FCC-B559-60669BEE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172" y="1858674"/>
            <a:ext cx="469232" cy="138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block K</a:t>
            </a:r>
          </a:p>
        </p:txBody>
      </p:sp>
      <p:sp>
        <p:nvSpPr>
          <p:cNvPr id="582" name="Editable reference text: Split each row into K small vectors">
            <a:extLst xmlns:a="http://schemas.openxmlformats.org/drawingml/2006/main">
              <a:ext uri="{FF2B5EF4-FFF2-40B4-BE49-F238E27FC236}">
                <a16:creationId xmlns:a16="http://schemas.microsoft.com/office/drawing/2014/main" id="{277F3588-FEA0-43F1-B1EB-E7D897EE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305" y="1987952"/>
            <a:ext cx="1781165" cy="148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9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Split each row into K small vectors</a:t>
            </a:r>
          </a:p>
        </p:txBody>
      </p:sp>
      <p:sp>
        <p:nvSpPr>
          <p:cNvPr id="583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BBC7EB44-CDE9-4656-896B-0FDA0365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77338" y="2131595"/>
            <a:ext cx="95" cy="1197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152">
            <a:solidFill>
              <a:srgbClr val="165689"/>
            </a:solidFill>
            <a:prstDash val="solid"/>
          </a:ln>
        </p:spPr>
      </p:sp>
      <p:sp>
        <p:nvSpPr>
          <p:cNvPr id="584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DEB6673B-1306-4E87-B219-872D82C8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645736" y="2174687"/>
            <a:ext cx="63203" cy="7660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56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9FA1E40-C70F-470A-A13F-D6DDC21E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2987" y="2284813"/>
            <a:ext cx="2245608" cy="1115622"/>
          </a:xfrm>
          <a:prstGeom xmlns:a="http://schemas.openxmlformats.org/drawingml/2006/main" prst="roundRect">
            <a:avLst>
              <a:gd name="adj" fmla="val 6830"/>
            </a:avLst>
          </a:prstGeom>
          <a:solidFill xmlns:a="http://schemas.openxmlformats.org/drawingml/2006/main">
            <a:srgbClr val="EDF7F8"/>
          </a:solidFill>
          <a:ln xmlns:a="http://schemas.openxmlformats.org/drawingml/2006/main" w="5746">
            <a:solidFill>
              <a:srgbClr val="3E9EAC"/>
            </a:solidFill>
            <a:prstDash val="dash"/>
          </a:ln>
        </p:spPr>
      </p:sp>
      <p:sp>
        <p:nvSpPr>
          <p:cNvPr id="586" name="Editable reference text: Sensitive codebook C + vector indices z">
            <a:extLst xmlns:a="http://schemas.openxmlformats.org/drawingml/2006/main">
              <a:ext uri="{FF2B5EF4-FFF2-40B4-BE49-F238E27FC236}">
                <a16:creationId xmlns:a16="http://schemas.microsoft.com/office/drawing/2014/main" id="{683A8554-391F-4B83-B2F2-D0412D0C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385" y="2337482"/>
            <a:ext cx="2092390" cy="148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5" b="1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1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Sensitive codebook C + vector indices z</a:t>
            </a:r>
          </a:p>
        </p:txBody>
      </p:sp>
      <p:sp>
        <p:nvSpPr>
          <p:cNvPr id="587" name="Editable reference text: w ∈ ℝ¹ˣᵐ">
            <a:extLst xmlns:a="http://schemas.openxmlformats.org/drawingml/2006/main">
              <a:ext uri="{FF2B5EF4-FFF2-40B4-BE49-F238E27FC236}">
                <a16:creationId xmlns:a16="http://schemas.microsoft.com/office/drawing/2014/main" id="{66F675D0-C414-4B00-9EE5-02417D08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961" y="2720528"/>
            <a:ext cx="593722" cy="143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w ∈ ℝ¹ˣᵐ</a:t>
            </a:r>
          </a:p>
        </p:txBody>
      </p:sp>
      <p:sp>
        <p:nvSpPr>
          <p:cNvPr id="58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C03485C7-B5B3-4396-9513-86AC6668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961" y="2868959"/>
            <a:ext cx="86185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4B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8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94AD711-7BB9-47B2-9A72-177E2B4C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146" y="2868959"/>
            <a:ext cx="86185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0B1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9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A6A1AC86-6A35-4D3A-B015-97814DD1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6331" y="2868959"/>
            <a:ext cx="86185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2B8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9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DBAB895C-F9F0-4C5A-AF28-3247809A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517" y="2868959"/>
            <a:ext cx="86185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1B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9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16169901-8D29-49C8-8802-818FC80F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702" y="2868959"/>
            <a:ext cx="86185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C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59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04BA0E2A-3EE4-48F7-B299-37098A19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961" y="2868959"/>
            <a:ext cx="430927" cy="105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AC7526"/>
            </a:solidFill>
            <a:prstDash val="solid"/>
          </a:ln>
        </p:spPr>
      </p:sp>
      <p:sp>
        <p:nvSpPr>
          <p:cNvPr id="594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78FF3A37-FEFE-4C8A-B6C2-580E45E3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79378" y="2916839"/>
            <a:ext cx="37825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76">
            <a:solidFill>
              <a:srgbClr val="1876A4"/>
            </a:solidFill>
            <a:prstDash val="solid"/>
          </a:ln>
        </p:spPr>
      </p:sp>
      <p:sp>
        <p:nvSpPr>
          <p:cNvPr id="595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6328562B-91B1-4D82-9355-CE51BDCA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22683" y="2897687"/>
            <a:ext cx="31601" cy="3830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76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" name="Editable reference text: arg min">
            <a:extLst xmlns:a="http://schemas.openxmlformats.org/drawingml/2006/main">
              <a:ext uri="{FF2B5EF4-FFF2-40B4-BE49-F238E27FC236}">
                <a16:creationId xmlns:a16="http://schemas.microsoft.com/office/drawing/2014/main" id="{22B48AFD-D267-4473-88B1-1F553C4F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530" y="2758833"/>
            <a:ext cx="354318" cy="105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4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arg min</a:t>
            </a:r>
          </a:p>
        </p:txBody>
      </p:sp>
      <p:sp>
        <p:nvSpPr>
          <p:cNvPr id="597" name="Editable reference text: z">
            <a:extLst xmlns:a="http://schemas.openxmlformats.org/drawingml/2006/main">
              <a:ext uri="{FF2B5EF4-FFF2-40B4-BE49-F238E27FC236}">
                <a16:creationId xmlns:a16="http://schemas.microsoft.com/office/drawing/2014/main" id="{0197608A-10C9-4995-BBA4-44E67FE2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232" y="2854594"/>
            <a:ext cx="105338" cy="81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8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28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598" name="Editable reference text: (w−c_z)ᵀM(w−c_z)">
            <a:extLst xmlns:a="http://schemas.openxmlformats.org/drawingml/2006/main">
              <a:ext uri="{FF2B5EF4-FFF2-40B4-BE49-F238E27FC236}">
                <a16:creationId xmlns:a16="http://schemas.microsoft.com/office/drawing/2014/main" id="{2D27E815-0C62-4763-8579-0261EE0B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9974" y="3017389"/>
            <a:ext cx="780457" cy="13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4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(w−c_z)ᵀM(w−c_z)</a:t>
            </a:r>
          </a:p>
        </p:txBody>
      </p:sp>
      <p:sp>
        <p:nvSpPr>
          <p:cNvPr id="599" name="Editable reference text: C ∈ ℝⱽˣᵐ">
            <a:extLst xmlns:a="http://schemas.openxmlformats.org/drawingml/2006/main">
              <a:ext uri="{FF2B5EF4-FFF2-40B4-BE49-F238E27FC236}">
                <a16:creationId xmlns:a16="http://schemas.microsoft.com/office/drawing/2014/main" id="{E1E601C9-6CA7-434C-83E3-093D7293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5642" y="2524217"/>
            <a:ext cx="703847" cy="12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C ∈ ℝⱽˣᵐ</a:t>
            </a:r>
          </a:p>
        </p:txBody>
      </p:sp>
      <p:sp>
        <p:nvSpPr>
          <p:cNvPr id="60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872CD5BC-F3DC-46A8-AFD2-0DC3803D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854" y="2653495"/>
            <a:ext cx="95762" cy="1292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8E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0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72858EE-29BE-49F1-94AF-8B326EC1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616" y="2653495"/>
            <a:ext cx="95762" cy="1292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F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0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52452E5-CAAD-48BA-8013-44BB2FB9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377" y="2653495"/>
            <a:ext cx="95762" cy="1292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0E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0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4F1E49E-0685-497D-B3E4-B9266E44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139" y="2653495"/>
            <a:ext cx="95762" cy="1292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B5E1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0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74E4992-9460-4994-97E0-1FBD31C8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00" y="2653495"/>
            <a:ext cx="95762" cy="1292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B8E2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0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4D32A30-349F-4CC4-A89C-1345F46E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854" y="2782773"/>
            <a:ext cx="95762" cy="1292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B4E1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0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40B9C0BC-1EF8-47D3-A688-35CE5ADD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616" y="2782773"/>
            <a:ext cx="95762" cy="1292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0E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0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751820FC-9FB9-4E4D-8595-C3AEC40F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377" y="2782773"/>
            <a:ext cx="95762" cy="1292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FD9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0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066BD4DA-E100-43CE-AB8B-D04138CA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139" y="2782773"/>
            <a:ext cx="95762" cy="1292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E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0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EFA71BC3-13A5-4827-9F59-2EFF0DD3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00" y="2782773"/>
            <a:ext cx="95762" cy="1292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99D3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1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AA40FFBA-1653-4A5B-919E-C9E26233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854" y="2653495"/>
            <a:ext cx="478808" cy="258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6885A5"/>
            </a:solidFill>
            <a:prstDash val="solid"/>
          </a:ln>
        </p:spPr>
      </p:sp>
      <p:sp>
        <p:nvSpPr>
          <p:cNvPr id="611" name="Editable reference text: ⋯">
            <a:extLst xmlns:a="http://schemas.openxmlformats.org/drawingml/2006/main">
              <a:ext uri="{FF2B5EF4-FFF2-40B4-BE49-F238E27FC236}">
                <a16:creationId xmlns:a16="http://schemas.microsoft.com/office/drawing/2014/main" id="{E280F49A-66A4-4D12-A9C1-36C3577F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437" y="2916839"/>
            <a:ext cx="124490" cy="143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61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0D42320B-2691-4C2A-A80E-757B75DE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854" y="3084422"/>
            <a:ext cx="9576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AE6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1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4AA7F63-D4CF-4A88-859A-4364C1C6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616" y="3084422"/>
            <a:ext cx="9576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CE6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1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ECFA4A31-D872-4564-9BEB-BD63039B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377" y="3084422"/>
            <a:ext cx="9576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CDF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1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41779E83-FA59-45FE-BFC0-12E0AA38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139" y="3084422"/>
            <a:ext cx="9576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0E3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1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ED13410-8315-4CF4-8DF5-646EA744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00" y="3084422"/>
            <a:ext cx="9576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96D4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1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704FD54-ED18-49EE-98F8-F8F1CB88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854" y="3084422"/>
            <a:ext cx="478808" cy="105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6885A5"/>
            </a:solidFill>
            <a:prstDash val="solid"/>
          </a:ln>
        </p:spPr>
      </p:sp>
      <p:sp>
        <p:nvSpPr>
          <p:cNvPr id="618" name="Editable reference text: codebook (V × m)">
            <a:extLst xmlns:a="http://schemas.openxmlformats.org/drawingml/2006/main">
              <a:ext uri="{FF2B5EF4-FFF2-40B4-BE49-F238E27FC236}">
                <a16:creationId xmlns:a16="http://schemas.microsoft.com/office/drawing/2014/main" id="{C254ECC8-7D58-45E1-A464-0CA0A9ED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788" y="3237641"/>
            <a:ext cx="799609" cy="124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codebook (V × m)</a:t>
            </a:r>
          </a:p>
        </p:txBody>
      </p:sp>
      <p:sp>
        <p:nvSpPr>
          <p:cNvPr id="619" name="Editable reference text: index  z">
            <a:extLst xmlns:a="http://schemas.openxmlformats.org/drawingml/2006/main">
              <a:ext uri="{FF2B5EF4-FFF2-40B4-BE49-F238E27FC236}">
                <a16:creationId xmlns:a16="http://schemas.microsoft.com/office/drawing/2014/main" id="{55F9511D-9ED0-45D5-BAD4-87401B4E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821" y="2519429"/>
            <a:ext cx="430927" cy="119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index  z</a:t>
            </a:r>
          </a:p>
        </p:txBody>
      </p:sp>
      <p:sp>
        <p:nvSpPr>
          <p:cNvPr id="62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8A3B0E64-59FE-4A4B-9A1C-3E8732D6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642" y="2653495"/>
            <a:ext cx="181947" cy="1197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F"/>
          </a:solidFill>
          <a:ln xmlns:a="http://schemas.openxmlformats.org/drawingml/2006/main" w="4788">
            <a:solidFill>
              <a:srgbClr val="84AEDB"/>
            </a:solidFill>
            <a:prstDash val="solid"/>
          </a:ln>
        </p:spPr>
      </p:sp>
      <p:sp>
        <p:nvSpPr>
          <p:cNvPr id="621" name="Editable reference text: 3">
            <a:extLst xmlns:a="http://schemas.openxmlformats.org/drawingml/2006/main">
              <a:ext uri="{FF2B5EF4-FFF2-40B4-BE49-F238E27FC236}">
                <a16:creationId xmlns:a16="http://schemas.microsoft.com/office/drawing/2014/main" id="{F56E6264-0492-41A7-88C5-8C6B385D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430" y="2653495"/>
            <a:ext cx="172371" cy="119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4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62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8EDD45F3-0928-43E2-9FAB-48E9BFEB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642" y="2792349"/>
            <a:ext cx="181947" cy="1197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F"/>
          </a:solidFill>
          <a:ln xmlns:a="http://schemas.openxmlformats.org/drawingml/2006/main" w="4788">
            <a:solidFill>
              <a:srgbClr val="84AEDB"/>
            </a:solidFill>
            <a:prstDash val="solid"/>
          </a:ln>
        </p:spPr>
      </p:sp>
      <p:sp>
        <p:nvSpPr>
          <p:cNvPr id="623" name="Editable reference text: 1">
            <a:extLst xmlns:a="http://schemas.openxmlformats.org/drawingml/2006/main">
              <a:ext uri="{FF2B5EF4-FFF2-40B4-BE49-F238E27FC236}">
                <a16:creationId xmlns:a16="http://schemas.microsoft.com/office/drawing/2014/main" id="{B9F400FB-82C0-42F0-8298-31832B6E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430" y="2792349"/>
            <a:ext cx="172371" cy="119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4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62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F9C2F5A-850D-4C7A-8C09-17598856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642" y="3084422"/>
            <a:ext cx="181947" cy="1197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F"/>
          </a:solidFill>
          <a:ln xmlns:a="http://schemas.openxmlformats.org/drawingml/2006/main" w="4788">
            <a:solidFill>
              <a:srgbClr val="84AEDB"/>
            </a:solidFill>
            <a:prstDash val="solid"/>
          </a:ln>
        </p:spPr>
      </p:sp>
      <p:sp>
        <p:nvSpPr>
          <p:cNvPr id="625" name="Editable reference text: 7">
            <a:extLst xmlns:a="http://schemas.openxmlformats.org/drawingml/2006/main">
              <a:ext uri="{FF2B5EF4-FFF2-40B4-BE49-F238E27FC236}">
                <a16:creationId xmlns:a16="http://schemas.microsoft.com/office/drawing/2014/main" id="{8698ABD6-3C8C-4E6A-AC2B-DED35D8B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430" y="3084422"/>
            <a:ext cx="172371" cy="119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4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626" name="Editable reference text: ⋮">
            <a:extLst xmlns:a="http://schemas.openxmlformats.org/drawingml/2006/main">
              <a:ext uri="{FF2B5EF4-FFF2-40B4-BE49-F238E27FC236}">
                <a16:creationId xmlns:a16="http://schemas.microsoft.com/office/drawing/2014/main" id="{6D474E7F-622E-4AA5-8A12-2C7DD9CA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006" y="2926416"/>
            <a:ext cx="148430" cy="13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5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⋮</a:t>
            </a:r>
          </a:p>
        </p:txBody>
      </p:sp>
      <p:sp>
        <p:nvSpPr>
          <p:cNvPr id="62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41AB2A5-B841-4206-A58F-39F83DBE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052" y="1528297"/>
            <a:ext cx="981556" cy="1369390"/>
          </a:xfrm>
          <a:prstGeom xmlns:a="http://schemas.openxmlformats.org/drawingml/2006/main" prst="roundRect">
            <a:avLst>
              <a:gd name="adj" fmla="val 7763"/>
            </a:avLst>
          </a:prstGeom>
          <a:solidFill xmlns:a="http://schemas.openxmlformats.org/drawingml/2006/main">
            <a:srgbClr val="FDEFF2"/>
          </a:solidFill>
          <a:ln xmlns:a="http://schemas.openxmlformats.org/drawingml/2006/main" w="5746">
            <a:solidFill>
              <a:srgbClr val="ED3F64"/>
            </a:solidFill>
            <a:prstDash val="solid"/>
          </a:ln>
        </p:spPr>
      </p:sp>
      <p:sp>
        <p:nvSpPr>
          <p:cNvPr id="628" name="Editable reference text: Anisotropic metric M">
            <a:extLst xmlns:a="http://schemas.openxmlformats.org/drawingml/2006/main">
              <a:ext uri="{FF2B5EF4-FFF2-40B4-BE49-F238E27FC236}">
                <a16:creationId xmlns:a16="http://schemas.microsoft.com/office/drawing/2014/main" id="{79C012AB-791D-4914-AF80-5702ED5C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721" y="1585754"/>
            <a:ext cx="890582" cy="143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73" b="1" i="0">
                <a:solidFill>
                  <a:srgbClr val="C9204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3" b="1" i="0">
                <a:solidFill>
                  <a:srgbClr val="C92048"/>
                </a:solidFill>
                <a:latin typeface="Times New Roman"/>
                <a:ea typeface="Times New Roman"/>
                <a:cs typeface="Times New Roman"/>
              </a:rPr>
              <a:t>Anisotropic metric M</a:t>
            </a:r>
          </a:p>
        </p:txBody>
      </p:sp>
      <p:sp>
        <p:nvSpPr>
          <p:cNvPr id="629" name="Figure element 333">
            <a:extLst xmlns:a="http://schemas.openxmlformats.org/drawingml/2006/main">
              <a:ext uri="{FF2B5EF4-FFF2-40B4-BE49-F238E27FC236}">
                <a16:creationId xmlns:a16="http://schemas.microsoft.com/office/drawing/2014/main" id="{A6931FDF-224C-44A0-8284-2B68D4F8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640000">
            <a:off x="6041940" y="1868250"/>
            <a:ext cx="421351" cy="78524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E86378"/>
            </a:solidFill>
            <a:prstDash val="solid"/>
          </a:ln>
        </p:spPr>
      </p:sp>
      <p:sp>
        <p:nvSpPr>
          <p:cNvPr id="630" name="Figure element 334">
            <a:extLst xmlns:a="http://schemas.openxmlformats.org/drawingml/2006/main">
              <a:ext uri="{FF2B5EF4-FFF2-40B4-BE49-F238E27FC236}">
                <a16:creationId xmlns:a16="http://schemas.microsoft.com/office/drawing/2014/main" id="{4FF8579B-CE85-4855-8DF7-6B978887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640000">
            <a:off x="6104185" y="1954436"/>
            <a:ext cx="296861" cy="61287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ED7384"/>
            </a:solidFill>
            <a:prstDash val="solid"/>
          </a:ln>
        </p:spPr>
      </p:sp>
      <p:sp>
        <p:nvSpPr>
          <p:cNvPr id="631" name="Figure element 335">
            <a:extLst xmlns:a="http://schemas.openxmlformats.org/drawingml/2006/main">
              <a:ext uri="{FF2B5EF4-FFF2-40B4-BE49-F238E27FC236}">
                <a16:creationId xmlns:a16="http://schemas.microsoft.com/office/drawing/2014/main" id="{EB7D5DF3-6828-497B-85EE-35DD035D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640000">
            <a:off x="6176006" y="2069350"/>
            <a:ext cx="153218" cy="3830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CB"/>
          </a:solidFill>
          <a:ln xmlns:a="http://schemas.openxmlformats.org/drawingml/2006/main" w="4788">
            <a:solidFill>
              <a:srgbClr val="F3BBC2"/>
            </a:solidFill>
            <a:prstDash val="solid"/>
          </a:ln>
        </p:spPr>
      </p:sp>
      <p:sp>
        <p:nvSpPr>
          <p:cNvPr id="632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9F209FC7-EFEC-4372-B199-3C452FC4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27026" y="2356634"/>
            <a:ext cx="679907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344F75"/>
            </a:solidFill>
            <a:prstDash val="solid"/>
          </a:ln>
        </p:spPr>
      </p:sp>
      <p:sp>
        <p:nvSpPr>
          <p:cNvPr id="633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B98B058B-F2FE-4E8D-AEC3-269F84EA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575810" y="2339876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44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245AC441-F4AC-4EFC-B139-C66DDBB9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104185" y="1829946"/>
            <a:ext cx="95" cy="6846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344F75"/>
            </a:solidFill>
            <a:prstDash val="solid"/>
          </a:ln>
        </p:spPr>
      </p:sp>
      <p:sp>
        <p:nvSpPr>
          <p:cNvPr id="635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813DDFA4-7A36-4372-8962-7458AFD2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9821" y="1829946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44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ADFAB3C1-7DA9-42E4-9481-AEFA618D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52615" y="2093290"/>
            <a:ext cx="172371" cy="167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76">
            <a:solidFill>
              <a:srgbClr val="603445"/>
            </a:solidFill>
            <a:prstDash val="solid"/>
          </a:ln>
        </p:spPr>
      </p:sp>
      <p:sp>
        <p:nvSpPr>
          <p:cNvPr id="637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E9D27D65-5DED-4AF3-986D-3E557B19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48416">
            <a:off x="6395453" y="2087488"/>
            <a:ext cx="31601" cy="3830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03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" name="Reference point">
            <a:extLst xmlns:a="http://schemas.openxmlformats.org/drawingml/2006/main">
              <a:ext uri="{FF2B5EF4-FFF2-40B4-BE49-F238E27FC236}">
                <a16:creationId xmlns:a16="http://schemas.microsoft.com/office/drawing/2014/main" id="{D29454E1-7950-4FB4-8E34-99D7D122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463" y="2241721"/>
            <a:ext cx="38305" cy="38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5867"/>
          </a:solidFill>
          <a:ln xmlns:a="http://schemas.openxmlformats.org/drawingml/2006/main" w="7620">
            <a:solidFill>
              <a:srgbClr val="9E5867"/>
            </a:solidFill>
            <a:prstDash val="solid"/>
          </a:ln>
        </p:spPr>
      </p:sp>
      <p:sp>
        <p:nvSpPr>
          <p:cNvPr id="639" name="Editable reference text: v₂">
            <a:extLst xmlns:a="http://schemas.openxmlformats.org/drawingml/2006/main">
              <a:ext uri="{FF2B5EF4-FFF2-40B4-BE49-F238E27FC236}">
                <a16:creationId xmlns:a16="http://schemas.microsoft.com/office/drawing/2014/main" id="{9F23EF03-91D8-4DAE-ACE4-AADBB853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549" y="1729396"/>
            <a:ext cx="191523" cy="138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v₂</a:t>
            </a:r>
          </a:p>
        </p:txBody>
      </p:sp>
      <p:sp>
        <p:nvSpPr>
          <p:cNvPr id="640" name="Editable reference text: v₁">
            <a:extLst xmlns:a="http://schemas.openxmlformats.org/drawingml/2006/main">
              <a:ext uri="{FF2B5EF4-FFF2-40B4-BE49-F238E27FC236}">
                <a16:creationId xmlns:a16="http://schemas.microsoft.com/office/drawing/2014/main" id="{2FB1B7CA-328A-4283-BF68-B9E363B0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237" y="2299177"/>
            <a:ext cx="143642" cy="138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v₁</a:t>
            </a:r>
          </a:p>
        </p:txBody>
      </p:sp>
      <p:sp>
        <p:nvSpPr>
          <p:cNvPr id="641" name="Editable reference text: M">
            <a:extLst xmlns:a="http://schemas.openxmlformats.org/drawingml/2006/main">
              <a:ext uri="{FF2B5EF4-FFF2-40B4-BE49-F238E27FC236}">
                <a16:creationId xmlns:a16="http://schemas.microsoft.com/office/drawing/2014/main" id="{436DED9B-0E71-485D-9503-B8DDC7DF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357" y="1868250"/>
            <a:ext cx="158007" cy="143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6" b="0" i="1">
                <a:solidFill>
                  <a:srgbClr val="C9204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1">
                <a:solidFill>
                  <a:srgbClr val="C92048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642" name="Editable reference text: Sensitivity-guided&#10;assignments">
            <a:extLst xmlns:a="http://schemas.openxmlformats.org/drawingml/2006/main">
              <a:ext uri="{FF2B5EF4-FFF2-40B4-BE49-F238E27FC236}">
                <a16:creationId xmlns:a16="http://schemas.microsoft.com/office/drawing/2014/main" id="{4383790A-7D48-49BE-80D1-8A9E4DBA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026" y="2639131"/>
            <a:ext cx="823549" cy="22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9" b="0" i="0">
                <a:solidFill>
                  <a:srgbClr val="C9204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C92048"/>
                </a:solidFill>
                <a:latin typeface="Times New Roman"/>
                <a:ea typeface="Times New Roman"/>
                <a:cs typeface="Times New Roman"/>
              </a:rPr>
              <a:t>Sensitivity-guided</a:t>
            </a:r>
          </a:p>
          <a:p xmlns:a="http://schemas.openxmlformats.org/drawingml/2006/main">
            <a:pPr algn="ctr">
              <a:defRPr sz="829" b="0" i="0">
                <a:solidFill>
                  <a:srgbClr val="C9204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C92048"/>
                </a:solidFill>
                <a:latin typeface="Times New Roman"/>
                <a:ea typeface="Times New Roman"/>
                <a:cs typeface="Times New Roman"/>
              </a:rPr>
              <a:t>assignments</a:t>
            </a:r>
          </a:p>
        </p:txBody>
      </p:sp>
      <p:sp>
        <p:nvSpPr>
          <p:cNvPr id="64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F93CD70-7779-4589-AAAE-044DFBC3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265" y="3620687"/>
            <a:ext cx="1536973" cy="354318"/>
          </a:xfrm>
          <a:prstGeom xmlns:a="http://schemas.openxmlformats.org/drawingml/2006/main" prst="roundRect">
            <a:avLst>
              <a:gd name="adj" fmla="val 21506"/>
            </a:avLst>
          </a:prstGeom>
          <a:solidFill xmlns:a="http://schemas.openxmlformats.org/drawingml/2006/main">
            <a:srgbClr val="EDF7F8"/>
          </a:solidFill>
          <a:ln xmlns:a="http://schemas.openxmlformats.org/drawingml/2006/main" w="6703">
            <a:solidFill>
              <a:srgbClr val="006C78"/>
            </a:solidFill>
            <a:prstDash val="solid"/>
          </a:ln>
        </p:spPr>
      </p:sp>
      <p:sp>
        <p:nvSpPr>
          <p:cNvPr id="644" name="Editable reference text: Action sensitivity  M ∈ ℝᵐˣᵐ">
            <a:extLst xmlns:a="http://schemas.openxmlformats.org/drawingml/2006/main">
              <a:ext uri="{FF2B5EF4-FFF2-40B4-BE49-F238E27FC236}">
                <a16:creationId xmlns:a16="http://schemas.microsoft.com/office/drawing/2014/main" id="{FA04F4FC-F708-46E4-B1BF-6E7DEE8F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8451" y="3682932"/>
            <a:ext cx="1359814" cy="138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9" b="1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1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Action sensitivity  M ∈ ℝᵐˣᵐ</a:t>
            </a:r>
          </a:p>
        </p:txBody>
      </p:sp>
      <p:sp>
        <p:nvSpPr>
          <p:cNvPr id="645" name="Editable reference text: (estimated from calibration)">
            <a:extLst xmlns:a="http://schemas.openxmlformats.org/drawingml/2006/main">
              <a:ext uri="{FF2B5EF4-FFF2-40B4-BE49-F238E27FC236}">
                <a16:creationId xmlns:a16="http://schemas.microsoft.com/office/drawing/2014/main" id="{890E7F5F-33EA-4A37-A9A5-FDA385B1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086" y="3826574"/>
            <a:ext cx="1388542" cy="12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9" b="0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(estimated from calibration)</a:t>
            </a:r>
          </a:p>
        </p:txBody>
      </p:sp>
      <p:sp>
        <p:nvSpPr>
          <p:cNvPr id="646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8ED89A84-7406-4F2B-9064-E147E3A5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28358" y="3414799"/>
            <a:ext cx="95" cy="191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534">
            <a:solidFill>
              <a:srgbClr val="006C78"/>
            </a:solidFill>
            <a:prstDash val="dash"/>
          </a:ln>
        </p:spPr>
      </p:sp>
      <p:sp>
        <p:nvSpPr>
          <p:cNvPr id="647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89E98528-49E1-41CE-A94F-89F188B6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0977" y="3414799"/>
            <a:ext cx="34761" cy="4213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6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86E8A922-7767-4323-BB02-5CB19759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87072" y="3429164"/>
            <a:ext cx="95" cy="1436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152">
            <a:solidFill>
              <a:srgbClr val="13578C"/>
            </a:solidFill>
            <a:prstDash val="solid"/>
          </a:ln>
        </p:spPr>
      </p:sp>
      <p:sp>
        <p:nvSpPr>
          <p:cNvPr id="649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B5DAB1F7-3DC5-41F5-A9F2-C65B3BBC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555471" y="3496197"/>
            <a:ext cx="63203" cy="7660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357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0" name="Editable reference text: Reconstruct quantized weights">
            <a:extLst xmlns:a="http://schemas.openxmlformats.org/drawingml/2006/main">
              <a:ext uri="{FF2B5EF4-FFF2-40B4-BE49-F238E27FC236}">
                <a16:creationId xmlns:a16="http://schemas.microsoft.com/office/drawing/2014/main" id="{C762D10B-D339-4A74-98BD-2510D2B5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761" y="3582382"/>
            <a:ext cx="1445999" cy="158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7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Reconstruct quantized weights</a:t>
            </a:r>
          </a:p>
        </p:txBody>
      </p:sp>
      <p:sp>
        <p:nvSpPr>
          <p:cNvPr id="651" name="Editable reference text: Ŵ′ ∈ ℝⁿˣᵈ">
            <a:extLst xmlns:a="http://schemas.openxmlformats.org/drawingml/2006/main">
              <a:ext uri="{FF2B5EF4-FFF2-40B4-BE49-F238E27FC236}">
                <a16:creationId xmlns:a16="http://schemas.microsoft.com/office/drawing/2014/main" id="{37CDB451-8EEB-4728-AB7C-C540288D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344" y="3721236"/>
            <a:ext cx="1058165" cy="143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3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Ŵ′ ∈ ℝⁿˣᵈ</a:t>
            </a:r>
          </a:p>
        </p:txBody>
      </p:sp>
      <p:sp>
        <p:nvSpPr>
          <p:cNvPr id="65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5133E6F-D839-405A-A33C-5C8F1B89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768" y="3864879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C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5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3518EF0-B96B-4A28-93D3-3548C454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509" y="3864879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A5F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5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2C85AD4-764E-41E3-974C-30894475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251" y="3864879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F6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5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018449C1-DB1C-4E22-9916-46A3BEDD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993" y="3864879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CF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5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D9E8B9E-2C46-4E97-BC06-89B829A7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734" y="3864879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EDB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5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FCC8EDC-DB09-4A36-8FDE-EB677ADB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76" y="3864879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0D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5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656D8EF-F755-44EA-8C13-3CA65C3F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1218" y="3864879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196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5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7F226A1B-A2D4-4DC3-ACD5-5917AD29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4960" y="3864879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0D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6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7BA73A44-A758-4846-905E-F72BC13C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701" y="3864879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59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6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C7D3120-6A36-4AE4-88A1-500B4BD0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768" y="3970216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1D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6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4140028-482D-427A-8C37-CE2AF0B1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509" y="3970216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C3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6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507E3B5-3BE1-4105-BEAF-E664C51B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251" y="3970216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06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6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44C2282-9964-4269-863F-950D3C1D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993" y="3970216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DF3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6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4D0AFA7D-AF8D-4B88-BAA1-0B194B97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734" y="3970216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47F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6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7C8189C2-E89F-4CF2-9225-55BC4849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76" y="3970216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AF64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6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05D7AE1-A985-4C2A-AD0C-B8468027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1218" y="3970216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75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6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D223B70D-1E25-4295-B7BC-4309899D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4960" y="3970216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166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6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B94F833-1100-4328-B4BE-FDF63CE1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701" y="3970216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0E2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7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6F8F517-5045-4FD2-9E31-BEB1D67F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768" y="4075554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E9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7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788DCA05-4852-4DC1-8373-80D74A2A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509" y="4075554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4EA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7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472F7E14-2B96-41CC-97C2-43A19FBB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251" y="4075554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8A5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7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11D48640-3BCA-4E39-9DC5-99B91209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993" y="4075554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CF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7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0B035A8-A8AB-4FB4-B7B7-A37543F3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734" y="4075554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983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7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0DE83300-5CBC-4C2F-A161-A20CABCC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76" y="4075554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9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7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A6E9E8C0-0399-4BDD-AFAF-9B97C525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1218" y="4075554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C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7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42D6EE6-C8A4-4F7D-8081-26A3170D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4960" y="4075554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4E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7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C445BDE8-8C01-4194-8F09-F4F6B50C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701" y="4075554"/>
            <a:ext cx="103742" cy="105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7A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7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16042BEA-8332-44F8-A8CE-11C3FEC7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768" y="3864879"/>
            <a:ext cx="933675" cy="316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AC7526"/>
            </a:solidFill>
            <a:prstDash val="solid"/>
          </a:ln>
        </p:spPr>
      </p:sp>
      <p:sp>
        <p:nvSpPr>
          <p:cNvPr id="680" name="Editable reference text: ⋯">
            <a:extLst xmlns:a="http://schemas.openxmlformats.org/drawingml/2006/main">
              <a:ext uri="{FF2B5EF4-FFF2-40B4-BE49-F238E27FC236}">
                <a16:creationId xmlns:a16="http://schemas.microsoft.com/office/drawing/2014/main" id="{335CA262-2C2F-4EA6-88D8-DE93AB53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840" y="3941488"/>
            <a:ext cx="201099" cy="119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68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0B52BAD2-1F6A-42A2-8C25-37F99856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888" y="4358051"/>
            <a:ext cx="2489800" cy="287285"/>
          </a:xfrm>
          <a:prstGeom xmlns:a="http://schemas.openxmlformats.org/drawingml/2006/main" prst="roundRect">
            <a:avLst>
              <a:gd name="adj" fmla="val 26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61">
            <a:solidFill>
              <a:srgbClr val="006C78"/>
            </a:solidFill>
            <a:prstDash val="dash"/>
          </a:ln>
        </p:spPr>
      </p:sp>
      <p:sp>
        <p:nvSpPr>
          <p:cNvPr id="682" name="Editable reference text: Calibration feedback (offline)">
            <a:extLst xmlns:a="http://schemas.openxmlformats.org/drawingml/2006/main">
              <a:ext uri="{FF2B5EF4-FFF2-40B4-BE49-F238E27FC236}">
                <a16:creationId xmlns:a16="http://schemas.microsoft.com/office/drawing/2014/main" id="{B87A29DB-C129-4D66-954B-79643CC1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821" y="4410720"/>
            <a:ext cx="1891291" cy="124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1" i="0">
                <a:solidFill>
                  <a:srgbClr val="3450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1" i="0">
                <a:solidFill>
                  <a:srgbClr val="345075"/>
                </a:solidFill>
                <a:latin typeface="Times New Roman"/>
                <a:ea typeface="Times New Roman"/>
                <a:cs typeface="Times New Roman"/>
              </a:rPr>
              <a:t>Calibration feedback (offline)</a:t>
            </a:r>
          </a:p>
        </p:txBody>
      </p:sp>
      <p:sp>
        <p:nvSpPr>
          <p:cNvPr id="683" name="Editable reference text: Measure action sensitivity from final actions and ">
            <a:extLst xmlns:a="http://schemas.openxmlformats.org/drawingml/2006/main">
              <a:ext uri="{FF2B5EF4-FFF2-40B4-BE49-F238E27FC236}">
                <a16:creationId xmlns:a16="http://schemas.microsoft.com/office/drawing/2014/main" id="{CB313507-8F94-4573-8D49-726AF48C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9802" y="4535210"/>
            <a:ext cx="2307853" cy="114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4" b="0" i="0">
                <a:solidFill>
                  <a:srgbClr val="4C648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0" i="0">
                <a:solidFill>
                  <a:srgbClr val="4C6483"/>
                </a:solidFill>
                <a:latin typeface="Times New Roman"/>
                <a:ea typeface="Times New Roman"/>
                <a:cs typeface="Times New Roman"/>
              </a:rPr>
              <a:t>Measure action sensitivity from final actions and update M, C</a:t>
            </a:r>
          </a:p>
        </p:txBody>
      </p:sp>
      <p:sp>
        <p:nvSpPr>
          <p:cNvPr id="684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6A905587-BFF9-4382-9787-BF16FABE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23570" y="3989369"/>
            <a:ext cx="95" cy="3638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013">
            <a:solidFill>
              <a:srgbClr val="006C78"/>
            </a:solidFill>
            <a:prstDash val="dash"/>
          </a:ln>
        </p:spPr>
      </p:sp>
      <p:sp>
        <p:nvSpPr>
          <p:cNvPr id="685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D4711F51-EBB4-459D-A4F8-A1263C3B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5399" y="3989369"/>
            <a:ext cx="36342" cy="440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6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6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EBE76E2E-E5A5-4DD6-ACB9-363337B7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49476" y="4501693"/>
            <a:ext cx="73257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013">
            <a:solidFill>
              <a:srgbClr val="006C78"/>
            </a:solidFill>
            <a:prstDash val="dash"/>
          </a:ln>
        </p:spPr>
      </p:sp>
      <p:sp>
        <p:nvSpPr>
          <p:cNvPr id="687" name="Editable reference text: Quantized activations X′">
            <a:extLst xmlns:a="http://schemas.openxmlformats.org/drawingml/2006/main">
              <a:ext uri="{FF2B5EF4-FFF2-40B4-BE49-F238E27FC236}">
                <a16:creationId xmlns:a16="http://schemas.microsoft.com/office/drawing/2014/main" id="{FB24BC98-D19E-4C16-B1FF-1D5FDE1B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860" y="1399019"/>
            <a:ext cx="1000708" cy="13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6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6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Quantized activations X′</a:t>
            </a:r>
          </a:p>
        </p:txBody>
      </p:sp>
      <p:sp>
        <p:nvSpPr>
          <p:cNvPr id="68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A712A2A-64CA-4697-B2E6-2196DDE8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953" y="1523509"/>
            <a:ext cx="813973" cy="287285"/>
          </a:xfrm>
          <a:prstGeom xmlns:a="http://schemas.openxmlformats.org/drawingml/2006/main" prst="roundRect">
            <a:avLst>
              <a:gd name="adj" fmla="val 26524"/>
            </a:avLst>
          </a:prstGeom>
          <a:solidFill xmlns:a="http://schemas.openxmlformats.org/drawingml/2006/main">
            <a:srgbClr val="E7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" name="Editable reference text: BF16 for first pilot&#10;A8 / A4 later">
            <a:extLst xmlns:a="http://schemas.openxmlformats.org/drawingml/2006/main">
              <a:ext uri="{FF2B5EF4-FFF2-40B4-BE49-F238E27FC236}">
                <a16:creationId xmlns:a16="http://schemas.microsoft.com/office/drawing/2014/main" id="{1928A36C-8897-47CB-84B9-7D215058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045" y="1547449"/>
            <a:ext cx="732576" cy="248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BF16 for first pilot</a:t>
            </a:r>
          </a:p>
          <a:p xmlns:a="http://schemas.openxmlformats.org/drawingml/2006/main">
            <a:pPr algn="ctr">
              <a:def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A8 / A4 later</a:t>
            </a:r>
          </a:p>
        </p:txBody>
      </p:sp>
      <p:sp>
        <p:nvSpPr>
          <p:cNvPr id="690" name="Editable reference text: Quantized weights Ŵ′">
            <a:extLst xmlns:a="http://schemas.openxmlformats.org/drawingml/2006/main">
              <a:ext uri="{FF2B5EF4-FFF2-40B4-BE49-F238E27FC236}">
                <a16:creationId xmlns:a16="http://schemas.microsoft.com/office/drawing/2014/main" id="{8879DABD-7BE4-4862-A7BC-1BDDAFD5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813" y="1399019"/>
            <a:ext cx="871430" cy="13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6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6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Quantized weights Ŵ′</a:t>
            </a:r>
          </a:p>
        </p:txBody>
      </p:sp>
      <p:sp>
        <p:nvSpPr>
          <p:cNvPr id="69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43C934D3-3970-4D01-8093-B7104621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562" y="1868250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DF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9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08BFDC39-06D6-4B83-B556-969024F3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770" y="1868250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CF1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9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8E479022-F35A-4547-B99F-BECA664A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977" y="1868250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F2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9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4330D498-8D21-4CA9-8517-46EB874C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185" y="1868250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F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9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530BD7F-51AF-411C-971C-665ABAC0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393" y="1868250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9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C204F06-EDC3-473E-B165-50598E28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600" y="1868250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1E8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9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857B064-3161-4D39-B1DD-B44E668C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808" y="1868250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DE4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9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A4C8BEED-007D-4F8C-B430-1976BA04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016" y="1868250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69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99448DE-F057-4837-A97B-0E8DA7CC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562" y="1953478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EF2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0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0777759-C5B3-4526-A2BB-A7DE3100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770" y="1953478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9D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0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848B378-3102-4640-AE67-21D7CF92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977" y="1953478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2E6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0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E87E8D42-EF6D-4C0D-813C-C1B2CBDC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185" y="1953478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DE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0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6A93F34-3640-4137-8C64-B7D4A2FF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393" y="1953478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0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3E800F0-BEFC-4E10-B398-9654B721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600" y="1953478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F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0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1A7132C0-B88F-4786-8CAC-FCB1DEA7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808" y="1953478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CAEA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0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8F7BE78A-D447-4BB4-893E-9D59B5A3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016" y="1953478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E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0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35A8A34-78DE-4F20-AB5A-B8D526BD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562" y="2038706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0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D1D1CE4E-447B-4CDC-9FA5-8CEE572C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770" y="2038706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F1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0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6EFD976-57D6-4C9F-85F5-10696640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977" y="2038706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AF8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1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3090D1D-F835-4B7E-82D2-B0E2A4B7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185" y="2038706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F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1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68B250E-C7FE-4BB7-90BE-F5C045DC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393" y="2038706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1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D734C29B-ABF7-489C-A1D1-24F4F06A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600" y="2038706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1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CC8F6E6-0DBD-4026-8B16-5AD2681A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808" y="2038706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1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84BC0CB-FD0C-4BCD-B38B-F29F2952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016" y="2038706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1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90811D9-4F84-48E6-9FEF-40687D6B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562" y="2123934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5F4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1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087FBA91-F377-4163-A6E3-0D8E9B75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770" y="2123934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F2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1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C2642CF-6B77-4023-A580-5C43E84E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977" y="2123934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CF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1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E7DE5A9-FE71-47B5-94F3-9E34BE36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185" y="2123934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EF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1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F666098-72D5-404C-83DB-2D8E2EB4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393" y="2123934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2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8B993619-6EFF-489E-AFDE-F554A0CE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600" y="2123934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F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2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6646A9B-4478-4B9E-B838-41FDABAF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808" y="2123934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2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A2BC17E4-11F2-4E2E-8247-BCB171E2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016" y="2123934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BF6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2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BCF611E-B30F-4A1E-AC93-EC96C236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562" y="2209162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F1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2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182686C-F112-4AF2-8E63-2DDF97F6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770" y="2209162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2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D9EAC5B-20B8-4782-9158-DC6A7BD9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977" y="2209162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2DF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2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A603E1B-1A0B-4A61-8479-8896C774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185" y="2209162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3E3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2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54DFFD4-4755-46A5-ACC8-73ECEB9E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393" y="2209162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2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E6D2A3CC-0A32-4BB1-9FBE-06164220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600" y="2209162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1E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2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DD9FE1F-F743-491B-9654-F5385FFC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808" y="2209162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2E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3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8B26D26-B10E-4302-AF2E-5894FDAE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016" y="2209162"/>
            <a:ext cx="77208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0E5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3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A84E78EE-D476-41E6-82F3-A9DD07D7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562" y="1868250"/>
            <a:ext cx="617662" cy="426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6885A5"/>
            </a:solidFill>
            <a:prstDash val="solid"/>
          </a:ln>
        </p:spPr>
      </p:sp>
      <p:sp>
        <p:nvSpPr>
          <p:cNvPr id="73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A1FB5E6-A4B6-4FF0-89A3-EA680864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667" y="1868250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14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3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7947D239-4684-4B9B-A93D-E6B5FCF9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433" y="1868250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D4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3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D071451F-4ED0-4412-B055-BF6CCD55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198" y="1868250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2E3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3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630AB9A-2DBA-46BC-BEAE-6EC860D6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963" y="1868250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254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3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320987F-2C38-4471-9415-5FECFCCF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0729" y="1868250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E3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3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8EA0540E-9BD0-48F9-85B6-AF9630B7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94" y="1868250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59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3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FA6AD6E-FA0A-4674-9ABD-B38DCC9A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259" y="1868250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6A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3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AA953553-F533-449D-867F-17D60B80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667" y="1953478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E92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4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FE2DF91-9258-4407-8DE7-3B12080E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433" y="1953478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E5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4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02B1E4D-699C-44AA-A582-5BC8EB4F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198" y="1953478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2E1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4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D6FF5F2-A0C9-4F67-9DB7-9C74D1D2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963" y="1953478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59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4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D5F72421-4BB3-4A49-937F-9B91F2D8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0729" y="1953478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FDF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4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B8DB752-69BC-4FB3-878C-B372B4FA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94" y="1953478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E96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4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DB5F55C-BF66-415F-95AA-B3074872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259" y="1953478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1E2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4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053BFC8-4B85-4333-AB23-70AA89D7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667" y="2038706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C1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4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DE765AD5-0D95-46E5-923A-20294FBB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433" y="2038706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256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4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036EA017-B0CD-4BC5-8C49-E8C79815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198" y="2038706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0E1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4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7794C43F-6E6F-42B3-8895-726790A1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963" y="2038706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81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5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59730CE-AFAB-4AC7-9B9A-2E7B0297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0729" y="2038706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FD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5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BEE3E76-8D67-414A-A8BC-94315E9D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94" y="2038706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75A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5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8CFAF820-0F50-4F87-9D4D-69194C12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259" y="2038706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D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5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D356608-BFE5-4247-9426-CCEF33DB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667" y="2123934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1E1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5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1336E33-838E-4BFF-ACE0-48FD6FF7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433" y="2123934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CB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5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054384E-076A-40D5-BEBA-29864CE0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198" y="2123934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ACA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5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A28D858-874F-47DD-A413-755230A9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963" y="2123934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EAF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5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5FA15C8-25A8-4348-9E9D-53BC540D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0729" y="2123934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2E4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5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ACB12D5-28D9-4405-B5F3-6B3B4BF8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94" y="2123934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59F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5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B1E23B3-384A-44B5-AF41-E880C4A9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259" y="2123934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ED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6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AB94A38-6DCB-493F-9554-ED6692C7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667" y="2209162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FB4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6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DED0FDC5-8221-4CA9-97D5-CB5E0683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433" y="2209162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05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6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20541C9-ADAD-426F-BC78-14F5C714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198" y="2209162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C3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6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DA69A434-18EB-4F7B-9EE7-A92503E2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963" y="2209162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D4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6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04D57FA-0982-497F-B6A8-BCA0EED4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0729" y="2209162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75E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6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C913DDEB-E2E2-4C7B-B6B8-85C0201A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94" y="2209162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2E3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6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65D34D7-39C3-4CD5-87BA-3ADF9A69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259" y="2209162"/>
            <a:ext cx="82765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9D4B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76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5EF6CC7-721C-40BE-BBCF-527B77F6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667" y="1868250"/>
            <a:ext cx="579357" cy="426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AC7526"/>
            </a:solidFill>
            <a:prstDash val="solid"/>
          </a:ln>
        </p:spPr>
      </p:sp>
      <p:sp>
        <p:nvSpPr>
          <p:cNvPr id="768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784F10C1-0D12-4519-9F1D-B7AAE9BA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95317" y="1868250"/>
            <a:ext cx="95" cy="445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769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5B430762-5845-4521-B9CD-DCE49728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080953" y="2280025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CCE04312-AACD-4C4E-88A1-E90842EA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095317" y="1868250"/>
            <a:ext cx="95" cy="445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771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12A0F77F-5676-42FF-A604-E2185073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0953" y="1868250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" name="Editable reference text: T">
            <a:extLst xmlns:a="http://schemas.openxmlformats.org/drawingml/2006/main">
              <a:ext uri="{FF2B5EF4-FFF2-40B4-BE49-F238E27FC236}">
                <a16:creationId xmlns:a16="http://schemas.microsoft.com/office/drawing/2014/main" id="{1DAA4DF0-2EE8-425B-B14C-DBD0B086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310" y="2054985"/>
            <a:ext cx="134066" cy="12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773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A260F457-7258-43E3-AFD6-CCA09F5E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57562" y="2361422"/>
            <a:ext cx="617662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774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2B35D08E-FC8A-4F6A-9390-58C7FE14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44101" y="2344664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7CCE2854-8EB0-4DBD-BBDB-C30E96C4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157562" y="2361422"/>
            <a:ext cx="617662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776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4635984E-3F33-493E-A9BC-1B0C44BC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159956" y="2344664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" name="Editable reference text: d">
            <a:extLst xmlns:a="http://schemas.openxmlformats.org/drawingml/2006/main">
              <a:ext uri="{FF2B5EF4-FFF2-40B4-BE49-F238E27FC236}">
                <a16:creationId xmlns:a16="http://schemas.microsoft.com/office/drawing/2014/main" id="{F1F0F28C-9F32-4066-A3B4-01A086CA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085" y="2390151"/>
            <a:ext cx="306437" cy="12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778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77ECD8BD-7714-493F-9204-3DAE0FA8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72634" y="1873039"/>
            <a:ext cx="95" cy="4405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779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5CFDE80C-81D6-4A8F-BC26-5B5CF56D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158270" y="2280025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5BAFB185-0CF7-4AE7-9AED-10A2D0EB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172634" y="1873039"/>
            <a:ext cx="95" cy="4405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781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806C1573-A66F-4956-8826-771F6D46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8270" y="1873039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" name="Editable reference text: n">
            <a:extLst xmlns:a="http://schemas.openxmlformats.org/drawingml/2006/main">
              <a:ext uri="{FF2B5EF4-FFF2-40B4-BE49-F238E27FC236}">
                <a16:creationId xmlns:a16="http://schemas.microsoft.com/office/drawing/2014/main" id="{12860384-6573-476A-8D1F-4EF938E5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992" y="2059774"/>
            <a:ext cx="143642" cy="12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783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C3433DFE-EDA8-4F16-8462-18C14CA9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39667" y="2361422"/>
            <a:ext cx="579357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784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025F9036-3956-4EDC-9237-FBDD9CC1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787902" y="2344664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BC4F6902-E9EE-419A-8626-6CFEE7CA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239667" y="2361422"/>
            <a:ext cx="579357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786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69DB556E-FB17-4EF8-8E63-4B381DB5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8242061" y="2344664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" name="Editable reference text: d">
            <a:extLst xmlns:a="http://schemas.openxmlformats.org/drawingml/2006/main">
              <a:ext uri="{FF2B5EF4-FFF2-40B4-BE49-F238E27FC236}">
                <a16:creationId xmlns:a16="http://schemas.microsoft.com/office/drawing/2014/main" id="{DA6C1D93-06E0-4B3B-A17D-14957AB2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1190" y="2390151"/>
            <a:ext cx="229828" cy="12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788" name="Editable reference text: ⋯">
            <a:extLst xmlns:a="http://schemas.openxmlformats.org/drawingml/2006/main">
              <a:ext uri="{FF2B5EF4-FFF2-40B4-BE49-F238E27FC236}">
                <a16:creationId xmlns:a16="http://schemas.microsoft.com/office/drawing/2014/main" id="{C596B7B2-5DE4-4A52-9584-0AA4E2C3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3528" y="2021469"/>
            <a:ext cx="201099" cy="119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789" name="Editable reference text: ⋯">
            <a:extLst xmlns:a="http://schemas.openxmlformats.org/drawingml/2006/main">
              <a:ext uri="{FF2B5EF4-FFF2-40B4-BE49-F238E27FC236}">
                <a16:creationId xmlns:a16="http://schemas.microsoft.com/office/drawing/2014/main" id="{521842CA-F53C-4A7A-B314-2C1C0170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2117" y="2021469"/>
            <a:ext cx="201099" cy="119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790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15A76B4F-6F00-4FAE-8FC4-4B549F32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11330" y="2505065"/>
            <a:ext cx="95" cy="3303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91">
            <a:solidFill>
              <a:srgbClr val="0B2255"/>
            </a:solidFill>
            <a:prstDash val="solid"/>
          </a:ln>
        </p:spPr>
      </p:sp>
      <p:sp>
        <p:nvSpPr>
          <p:cNvPr id="791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A99F6D48-E9D5-4EEA-8FE2-8CD7B4B2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11330" y="2835442"/>
            <a:ext cx="158007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91">
            <a:solidFill>
              <a:srgbClr val="0B2255"/>
            </a:solidFill>
            <a:prstDash val="solid"/>
          </a:ln>
        </p:spPr>
      </p:sp>
      <p:sp>
        <p:nvSpPr>
          <p:cNvPr id="792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5B24E70F-40E7-4D1D-8A95-8CA0BB3C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7393" y="2812459"/>
            <a:ext cx="37922" cy="45966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9AB9DD85-5D83-4C4B-9554-2F1F73D6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9621" y="2505065"/>
            <a:ext cx="95" cy="3303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91">
            <a:solidFill>
              <a:srgbClr val="0B2255"/>
            </a:solidFill>
            <a:prstDash val="solid"/>
          </a:ln>
        </p:spPr>
      </p:sp>
      <p:sp>
        <p:nvSpPr>
          <p:cNvPr id="794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326AB1E3-E124-4382-B61D-FB4B7B4A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421614" y="2835442"/>
            <a:ext cx="158007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91">
            <a:solidFill>
              <a:srgbClr val="0B2255"/>
            </a:solidFill>
            <a:prstDash val="solid"/>
          </a:ln>
        </p:spPr>
      </p:sp>
      <p:sp>
        <p:nvSpPr>
          <p:cNvPr id="795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10DF984A-722B-4CFC-8BAD-F3119F9A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8425636" y="2812459"/>
            <a:ext cx="37922" cy="45966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3E56528-E1CE-46C4-A022-F279A340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489" y="2634343"/>
            <a:ext cx="823549" cy="43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76">
            <a:solidFill>
              <a:srgbClr val="0B2255"/>
            </a:solidFill>
            <a:prstDash val="solid"/>
          </a:ln>
        </p:spPr>
      </p:sp>
      <p:sp>
        <p:nvSpPr>
          <p:cNvPr id="797" name="Editable reference text: Linear">
            <a:extLst xmlns:a="http://schemas.openxmlformats.org/drawingml/2006/main">
              <a:ext uri="{FF2B5EF4-FFF2-40B4-BE49-F238E27FC236}">
                <a16:creationId xmlns:a16="http://schemas.microsoft.com/office/drawing/2014/main" id="{F2A1782F-5D14-4A57-BCB8-ACD816DB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316" y="2720528"/>
            <a:ext cx="392622" cy="148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80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sp>
        <p:nvSpPr>
          <p:cNvPr id="798" name="Editable reference text: Y = X′Ŵ′ᵀ">
            <a:extLst xmlns:a="http://schemas.openxmlformats.org/drawingml/2006/main">
              <a:ext uri="{FF2B5EF4-FFF2-40B4-BE49-F238E27FC236}">
                <a16:creationId xmlns:a16="http://schemas.microsoft.com/office/drawing/2014/main" id="{E922B924-F8BA-443A-B1A6-58BE377D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343" y="2892899"/>
            <a:ext cx="588934" cy="148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43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Y = X′Ŵ′ᵀ</a:t>
            </a:r>
          </a:p>
        </p:txBody>
      </p:sp>
      <p:sp>
        <p:nvSpPr>
          <p:cNvPr id="799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3333AE0C-37E5-4932-A3C7-2E9196F1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0263" y="3084422"/>
            <a:ext cx="95" cy="191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70">
            <a:solidFill>
              <a:srgbClr val="0B2255"/>
            </a:solidFill>
            <a:prstDash val="solid"/>
          </a:ln>
        </p:spPr>
      </p:sp>
      <p:sp>
        <p:nvSpPr>
          <p:cNvPr id="800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D0016ED0-D8EE-49EA-96B5-520329CA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980513" y="3228064"/>
            <a:ext cx="39502" cy="47881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" name="Editable reference text: Action chunk  Y ∈ ℝᵀˣⁿ">
            <a:extLst xmlns:a="http://schemas.openxmlformats.org/drawingml/2006/main">
              <a:ext uri="{FF2B5EF4-FFF2-40B4-BE49-F238E27FC236}">
                <a16:creationId xmlns:a16="http://schemas.microsoft.com/office/drawing/2014/main" id="{525CD8C6-8DE3-4A0B-B747-2A394EFB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118" y="3309462"/>
            <a:ext cx="1436423" cy="148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Action chunk  Y ∈ ℝᵀˣⁿ</a:t>
            </a:r>
          </a:p>
        </p:txBody>
      </p:sp>
      <p:sp>
        <p:nvSpPr>
          <p:cNvPr id="80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08284B22-C0A7-431C-B59A-3E7A96C1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522" y="3524925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A6DA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0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80046AE4-5F4B-4901-9083-AE4A7914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313" y="3524925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1DF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0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E8EFE0CB-58D3-4DBC-ABEC-8DA7CE69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105" y="3524925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0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8F77782-4602-4E09-ABCD-320419CB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896" y="3524925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0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4269F47-0050-4530-8063-431DF723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87" y="3524925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0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C27D3488-DDEB-471B-95A1-B8959EE0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479" y="3524925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3E4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0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34A445E-9737-4FE1-B182-0CC20352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270" y="3524925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B9E3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0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C41182F-4B67-4B5B-8DF8-6AAB0123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061" y="3524925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3D9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1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268E4B8-AA3E-4B9A-B7AD-C8EF0E1E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522" y="3610153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C7E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1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19F333D-86DF-49F4-B4AD-A0DD6427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313" y="3610153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F1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1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E4FF8F72-36D7-470D-AA6D-627CD0E0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105" y="3610153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1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4A917226-EE45-4AE2-BADC-F73E6B3A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896" y="3610153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1F8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1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6472A3B-AA3F-418F-9BE8-F4EF91B8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87" y="3610153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1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EF576BD3-85ED-4D2B-8E94-244ED42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479" y="3610153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5E6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1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28CC731-8260-4B17-B3C6-4EE6A38C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270" y="3610153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7D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1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E856DB7-6BBE-4349-A993-0877ADA4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061" y="3610153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1E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1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47BCED97-3446-4FA6-A938-954DABFF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522" y="3695381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F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1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A7346BF6-27EB-4481-B59D-927B783D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313" y="3695381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6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2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8A9B259-6B00-49BA-B6A1-70C1A340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105" y="3695381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2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8272213A-E9A4-40C7-8161-259CBB99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896" y="3695381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2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E5319ACB-55C3-4FE7-94B4-AAEA3EF6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87" y="3695381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2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352305F-3412-427A-BEE2-9F63243B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479" y="3695381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5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2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49B90F09-26FF-42AD-9E34-B4021A53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270" y="3695381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F2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2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224FDD4-81BC-4457-9DB7-824B0797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061" y="3695381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8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2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4C0C4BA6-9C0C-4A89-8E6C-A31D3943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522" y="3780609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EF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2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EBC39159-3764-4902-A004-05F0AE8C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313" y="3780609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BF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2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1F5A4FE2-CF8B-433D-8A39-BD9FAC3E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105" y="3780609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2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FD1F42E-6F3D-4461-940C-725073C1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896" y="3780609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3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15BE45E6-9C5E-4783-9089-C4279D6E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87" y="3780609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3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8432D50-6EA3-4599-AE73-1EE305BD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479" y="3780609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B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3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CD57B25F-96C7-4AEA-92D7-0A2C1535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270" y="3780609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E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3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91AA535-A80E-420A-B4FA-6C032ACF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061" y="3780609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8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3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18C5D93C-6D81-4402-845A-DB24B2A2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522" y="3865836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1D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3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1F9BA06-AAD5-4C3B-B2E8-92B27C29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313" y="3865836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ABDC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3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D45CCFB6-9BAA-46D6-B33E-80404266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105" y="3865836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9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3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826D5988-FA92-40BC-B0E2-440E7D6C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896" y="3865836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3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0DA7EC9E-E323-4FB5-A7A1-833945A0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87" y="3865836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3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0F116E65-13D7-4819-B051-9C4CDF0E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479" y="3865836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4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110CB210-F5D6-45D4-8325-D29F624A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270" y="3865836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5DA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4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448C78A0-0597-415A-8B25-C05BC234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061" y="3865836"/>
            <a:ext cx="83791" cy="852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B4E0"/>
          </a:solidFill>
          <a:ln xmlns:a="http://schemas.openxmlformats.org/drawingml/2006/main" w="4309">
            <a:solidFill>
              <a:srgbClr val="FFFFFF"/>
            </a:solidFill>
            <a:prstDash val="solid"/>
          </a:ln>
        </p:spPr>
      </p:sp>
      <p:sp>
        <p:nvSpPr>
          <p:cNvPr id="84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041B8688-A8BC-451F-954F-4C05D49C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522" y="3524925"/>
            <a:ext cx="670331" cy="426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6885A5"/>
            </a:solidFill>
            <a:prstDash val="solid"/>
          </a:ln>
        </p:spPr>
      </p:sp>
      <p:sp>
        <p:nvSpPr>
          <p:cNvPr id="843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D46C466E-073B-4C75-9EF4-A8D9E5E2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83701" y="3524925"/>
            <a:ext cx="95" cy="4548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844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C35B4C97-B7EE-4C81-AF12-3E61F20E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569336" y="3946276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5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BC6987DB-3F3D-4C15-98F4-8781AAF5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583701" y="3524925"/>
            <a:ext cx="95" cy="4548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846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C5BEB0EE-749A-4FF9-8A9A-6869FE50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9336" y="3524925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7" name="Editable reference text: T">
            <a:extLst xmlns:a="http://schemas.openxmlformats.org/drawingml/2006/main">
              <a:ext uri="{FF2B5EF4-FFF2-40B4-BE49-F238E27FC236}">
                <a16:creationId xmlns:a16="http://schemas.microsoft.com/office/drawing/2014/main" id="{7DE4369C-4D21-43A5-8CCA-5F606232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846" y="3697296"/>
            <a:ext cx="138854" cy="12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848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ACE95080-2F26-4F81-A4F6-68C116F6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55522" y="4018097"/>
            <a:ext cx="670331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849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BD1791F3-8D08-4870-A61D-131753E8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94730" y="4001339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0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A1270D91-03A6-4A30-98DA-64E76E0D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655522" y="4018097"/>
            <a:ext cx="670331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82">
            <a:solidFill>
              <a:srgbClr val="0B2255"/>
            </a:solidFill>
            <a:prstDash val="solid"/>
          </a:ln>
        </p:spPr>
      </p:sp>
      <p:sp>
        <p:nvSpPr>
          <p:cNvPr id="851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47DB478E-EACF-4E48-AC71-F9E148BB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657916" y="4001339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2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2" name="Editable reference text: n">
            <a:extLst xmlns:a="http://schemas.openxmlformats.org/drawingml/2006/main">
              <a:ext uri="{FF2B5EF4-FFF2-40B4-BE49-F238E27FC236}">
                <a16:creationId xmlns:a16="http://schemas.microsoft.com/office/drawing/2014/main" id="{5452A04D-E43C-4645-9D70-C2E8E127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290" y="4065978"/>
            <a:ext cx="162795" cy="12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853" name="Editable reference text: ⋯">
            <a:extLst xmlns:a="http://schemas.openxmlformats.org/drawingml/2006/main">
              <a:ext uri="{FF2B5EF4-FFF2-40B4-BE49-F238E27FC236}">
                <a16:creationId xmlns:a16="http://schemas.microsoft.com/office/drawing/2014/main" id="{97E11B64-6EA8-41E5-A83B-D0ACBB30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310" y="3682932"/>
            <a:ext cx="201099" cy="119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85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0A82693D-7EDC-460F-B227-3180E891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992" y="4362839"/>
            <a:ext cx="1402907" cy="287285"/>
          </a:xfrm>
          <a:prstGeom xmlns:a="http://schemas.openxmlformats.org/drawingml/2006/main" prst="roundRect">
            <a:avLst>
              <a:gd name="adj" fmla="val 26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61">
            <a:solidFill>
              <a:srgbClr val="006C78"/>
            </a:solidFill>
            <a:prstDash val="dash"/>
          </a:ln>
        </p:spPr>
      </p:sp>
      <p:sp>
        <p:nvSpPr>
          <p:cNvPr id="855" name="Editable reference text: Measure final-action sensitivity">
            <a:extLst xmlns:a="http://schemas.openxmlformats.org/drawingml/2006/main">
              <a:ext uri="{FF2B5EF4-FFF2-40B4-BE49-F238E27FC236}">
                <a16:creationId xmlns:a16="http://schemas.microsoft.com/office/drawing/2014/main" id="{69EC2E3F-13FB-4226-94D3-700EE559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6966" y="4425084"/>
            <a:ext cx="1259264" cy="12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4" b="0" i="0">
                <a:solidFill>
                  <a:srgbClr val="3450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0" i="0">
                <a:solidFill>
                  <a:srgbClr val="345075"/>
                </a:solidFill>
                <a:latin typeface="Times New Roman"/>
                <a:ea typeface="Times New Roman"/>
                <a:cs typeface="Times New Roman"/>
              </a:rPr>
              <a:t>Measure final-action sensitivity</a:t>
            </a:r>
          </a:p>
        </p:txBody>
      </p:sp>
      <p:sp>
        <p:nvSpPr>
          <p:cNvPr id="856" name="Editable reference text: (e.g., ∂a/∂x, rollout-based)">
            <a:extLst xmlns:a="http://schemas.openxmlformats.org/drawingml/2006/main">
              <a:ext uri="{FF2B5EF4-FFF2-40B4-BE49-F238E27FC236}">
                <a16:creationId xmlns:a16="http://schemas.microsoft.com/office/drawing/2014/main" id="{22CF6D2A-8359-41D6-849D-34CDAC8D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330" y="4539998"/>
            <a:ext cx="1235324" cy="114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4" b="0" i="0">
                <a:solidFill>
                  <a:srgbClr val="3450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0" i="0">
                <a:solidFill>
                  <a:srgbClr val="345075"/>
                </a:solidFill>
                <a:latin typeface="Times New Roman"/>
                <a:ea typeface="Times New Roman"/>
                <a:cs typeface="Times New Roman"/>
              </a:rPr>
              <a:t>(e.g., ∂a/∂x, rollout-based)</a:t>
            </a:r>
          </a:p>
        </p:txBody>
      </p:sp>
      <p:sp>
        <p:nvSpPr>
          <p:cNvPr id="857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6EAF15CA-5248-42FC-B3AE-D755A2D9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9416" y="4166528"/>
            <a:ext cx="95" cy="191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534">
            <a:solidFill>
              <a:srgbClr val="006C78"/>
            </a:solidFill>
            <a:prstDash val="dash"/>
          </a:ln>
        </p:spPr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</a:rPr>
              <a:t>Next step: action-sensitive weight VQ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2376B23-3BA5-44D9-94C6-C829F839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772025"/>
            <a:ext cx="2381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53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0A9B4253-867B-4554-ADBB-3372679C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28675" y="790933"/>
            <a:ext cx="95" cy="38304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71849A"/>
            </a:solidFill>
            <a:prstDash val="solid"/>
          </a:ln>
        </p:spPr>
      </p:sp>
      <p:sp>
        <p:nvSpPr>
          <p:cNvPr id="154" name="Editable reference text: (a) Euclidean assignment (L₂)">
            <a:extLst xmlns:a="http://schemas.openxmlformats.org/drawingml/2006/main">
              <a:ext uri="{FF2B5EF4-FFF2-40B4-BE49-F238E27FC236}">
                <a16:creationId xmlns:a16="http://schemas.microsoft.com/office/drawing/2014/main" id="{509AB645-2097-4E6A-AD0E-E41667E8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14" y="786145"/>
            <a:ext cx="2805813" cy="21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(a) Euclidean assignment (L₂)</a:t>
            </a:r>
          </a:p>
        </p:txBody>
      </p:sp>
      <p:sp>
        <p:nvSpPr>
          <p:cNvPr id="155" name="Editable reference text: Nearest in Euclidean distance">
            <a:extLst xmlns:a="http://schemas.openxmlformats.org/drawingml/2006/main">
              <a:ext uri="{FF2B5EF4-FFF2-40B4-BE49-F238E27FC236}">
                <a16:creationId xmlns:a16="http://schemas.microsoft.com/office/drawing/2014/main" id="{8BB82223-4D7B-4FE6-9ADB-2A5CB3A1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46" y="992032"/>
            <a:ext cx="2413191" cy="158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8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8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Nearest in Euclidean distance</a:t>
            </a:r>
          </a:p>
        </p:txBody>
      </p:sp>
      <p:sp>
        <p:nvSpPr>
          <p:cNvPr id="156" name="Editable reference text: (b) Action-weighted assignment">
            <a:extLst xmlns:a="http://schemas.openxmlformats.org/drawingml/2006/main">
              <a:ext uri="{FF2B5EF4-FFF2-40B4-BE49-F238E27FC236}">
                <a16:creationId xmlns:a16="http://schemas.microsoft.com/office/drawing/2014/main" id="{B3D1E68E-6AEF-4441-8047-F7721654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855" y="786145"/>
            <a:ext cx="2891999" cy="21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(b) Action-weighted assignment</a:t>
            </a:r>
          </a:p>
        </p:txBody>
      </p:sp>
      <p:sp>
        <p:nvSpPr>
          <p:cNvPr id="157" name="Editable reference text: Nearest under action-sensitive metric">
            <a:extLst xmlns:a="http://schemas.openxmlformats.org/drawingml/2006/main">
              <a:ext uri="{FF2B5EF4-FFF2-40B4-BE49-F238E27FC236}">
                <a16:creationId xmlns:a16="http://schemas.microsoft.com/office/drawing/2014/main" id="{E030609B-6668-408D-B999-0380E5A2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504" y="992032"/>
            <a:ext cx="2633443" cy="158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8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8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Nearest under action-sensitive metric</a:t>
            </a:r>
          </a:p>
        </p:txBody>
      </p:sp>
      <p:sp>
        <p:nvSpPr>
          <p:cNvPr id="158" name="Editable reference text: (c) Metric and codebook geometry">
            <a:extLst xmlns:a="http://schemas.openxmlformats.org/drawingml/2006/main">
              <a:ext uri="{FF2B5EF4-FFF2-40B4-BE49-F238E27FC236}">
                <a16:creationId xmlns:a16="http://schemas.microsoft.com/office/drawing/2014/main" id="{D3325CDE-59E4-45F5-B81D-FD008C1E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801" y="786145"/>
            <a:ext cx="2633443" cy="21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(c) Metric and codebook geometry</a:t>
            </a:r>
          </a:p>
        </p:txBody>
      </p:sp>
      <p:sp>
        <p:nvSpPr>
          <p:cNvPr id="159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9F9DFA19-067A-4E3B-B456-1847F657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2134" y="3491409"/>
            <a:ext cx="2058873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225">
            <a:solidFill>
              <a:srgbClr val="536477"/>
            </a:solidFill>
            <a:prstDash val="solid"/>
          </a:ln>
        </p:spPr>
      </p:sp>
      <p:sp>
        <p:nvSpPr>
          <p:cNvPr id="160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FAADEDDF-8666-4056-A49F-8EF33759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529885" y="3474650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9B53EBA7-8837-48B9-94C9-9388710F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02134" y="1284105"/>
            <a:ext cx="95" cy="2207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225">
            <a:solidFill>
              <a:srgbClr val="536477"/>
            </a:solidFill>
            <a:prstDash val="solid"/>
          </a:ln>
        </p:spPr>
      </p:sp>
      <p:sp>
        <p:nvSpPr>
          <p:cNvPr id="162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C17DB8D0-1000-44FB-88CC-710D5E15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770" y="1284105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64FFEC3E-478D-4BFD-B4D4-976A940C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64538" y="1360714"/>
            <a:ext cx="95" cy="21211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225">
            <a:solidFill>
              <a:srgbClr val="536477"/>
            </a:solidFill>
            <a:prstDash val="solid"/>
          </a:ln>
        </p:spPr>
      </p:sp>
      <p:sp>
        <p:nvSpPr>
          <p:cNvPr id="164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5B934CB3-523F-4C68-A338-D9897E2A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0174" y="1360714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8BBF2FDD-FAED-4EEF-A833-508061BC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6200" y="3491409"/>
            <a:ext cx="95" cy="335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536477"/>
            </a:solidFill>
            <a:prstDash val="solid"/>
          </a:ln>
        </p:spPr>
      </p:sp>
      <p:sp>
        <p:nvSpPr>
          <p:cNvPr id="166" name="Editable reference text: −0.6">
            <a:extLst xmlns:a="http://schemas.openxmlformats.org/drawingml/2006/main">
              <a:ext uri="{FF2B5EF4-FFF2-40B4-BE49-F238E27FC236}">
                <a16:creationId xmlns:a16="http://schemas.microsoft.com/office/drawing/2014/main" id="{19C72A75-40AB-4BDD-8784-8180CBB9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22" y="3568018"/>
            <a:ext cx="296861" cy="13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−0.6</a:t>
            </a:r>
          </a:p>
        </p:txBody>
      </p:sp>
      <p:sp>
        <p:nvSpPr>
          <p:cNvPr id="167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FB3D8031-1B41-446F-9493-36F95E21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2763" y="3491409"/>
            <a:ext cx="95" cy="335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536477"/>
            </a:solidFill>
            <a:prstDash val="solid"/>
          </a:ln>
        </p:spPr>
      </p:sp>
      <p:sp>
        <p:nvSpPr>
          <p:cNvPr id="168" name="Editable reference text: −0.3">
            <a:extLst xmlns:a="http://schemas.openxmlformats.org/drawingml/2006/main">
              <a:ext uri="{FF2B5EF4-FFF2-40B4-BE49-F238E27FC236}">
                <a16:creationId xmlns:a16="http://schemas.microsoft.com/office/drawing/2014/main" id="{7DB418D9-AF64-4F05-83EA-EC2EFACD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85" y="3568018"/>
            <a:ext cx="296861" cy="13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−0.3</a:t>
            </a:r>
          </a:p>
        </p:txBody>
      </p:sp>
      <p:sp>
        <p:nvSpPr>
          <p:cNvPr id="169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4676BE72-6163-44BD-B222-02375889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64538" y="3491409"/>
            <a:ext cx="95" cy="335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536477"/>
            </a:solidFill>
            <a:prstDash val="solid"/>
          </a:ln>
        </p:spPr>
      </p:sp>
      <p:sp>
        <p:nvSpPr>
          <p:cNvPr id="170" name="Editable reference text: 0">
            <a:extLst xmlns:a="http://schemas.openxmlformats.org/drawingml/2006/main">
              <a:ext uri="{FF2B5EF4-FFF2-40B4-BE49-F238E27FC236}">
                <a16:creationId xmlns:a16="http://schemas.microsoft.com/office/drawing/2014/main" id="{531B2F24-3332-4394-A124-1D789C4F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260" y="3568018"/>
            <a:ext cx="296861" cy="13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71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16840BA2-424C-49FA-B198-EBB0BB55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76312" y="3491409"/>
            <a:ext cx="95" cy="335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536477"/>
            </a:solidFill>
            <a:prstDash val="solid"/>
          </a:ln>
        </p:spPr>
      </p:sp>
      <p:sp>
        <p:nvSpPr>
          <p:cNvPr id="172" name="Editable reference text: 0.3">
            <a:extLst xmlns:a="http://schemas.openxmlformats.org/drawingml/2006/main">
              <a:ext uri="{FF2B5EF4-FFF2-40B4-BE49-F238E27FC236}">
                <a16:creationId xmlns:a16="http://schemas.microsoft.com/office/drawing/2014/main" id="{BD8D4641-C044-4B9D-9669-9536A46D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034" y="3568018"/>
            <a:ext cx="296861" cy="13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173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8D9F20BC-160D-47EF-94B9-BB281F2C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92875" y="3491409"/>
            <a:ext cx="95" cy="335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536477"/>
            </a:solidFill>
            <a:prstDash val="solid"/>
          </a:ln>
        </p:spPr>
      </p:sp>
      <p:sp>
        <p:nvSpPr>
          <p:cNvPr id="174" name="Editable reference text: 0.6">
            <a:extLst xmlns:a="http://schemas.openxmlformats.org/drawingml/2006/main">
              <a:ext uri="{FF2B5EF4-FFF2-40B4-BE49-F238E27FC236}">
                <a16:creationId xmlns:a16="http://schemas.microsoft.com/office/drawing/2014/main" id="{67F2063F-3731-4B67-9C7B-16DFB775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597" y="3568018"/>
            <a:ext cx="296861" cy="13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0.6</a:t>
            </a:r>
          </a:p>
        </p:txBody>
      </p:sp>
      <p:sp>
        <p:nvSpPr>
          <p:cNvPr id="175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4836E25C-ACCD-4474-8A48-419F5606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8618" y="1657575"/>
            <a:ext cx="33517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536477"/>
            </a:solidFill>
            <a:prstDash val="solid"/>
          </a:ln>
        </p:spPr>
      </p:sp>
      <p:sp>
        <p:nvSpPr>
          <p:cNvPr id="176" name="Editable reference text: 0.6">
            <a:extLst xmlns:a="http://schemas.openxmlformats.org/drawingml/2006/main">
              <a:ext uri="{FF2B5EF4-FFF2-40B4-BE49-F238E27FC236}">
                <a16:creationId xmlns:a16="http://schemas.microsoft.com/office/drawing/2014/main" id="{B9ACE8E2-EA6B-4426-A629-9A780976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81" y="1595330"/>
            <a:ext cx="282497" cy="138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0.6</a:t>
            </a:r>
          </a:p>
        </p:txBody>
      </p:sp>
      <p:sp>
        <p:nvSpPr>
          <p:cNvPr id="177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EA610F83-73EC-410F-AC15-1C6D7AC5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8618" y="2064562"/>
            <a:ext cx="33517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536477"/>
            </a:solidFill>
            <a:prstDash val="solid"/>
          </a:ln>
        </p:spPr>
      </p:sp>
      <p:sp>
        <p:nvSpPr>
          <p:cNvPr id="178" name="Editable reference text: 0.3">
            <a:extLst xmlns:a="http://schemas.openxmlformats.org/drawingml/2006/main">
              <a:ext uri="{FF2B5EF4-FFF2-40B4-BE49-F238E27FC236}">
                <a16:creationId xmlns:a16="http://schemas.microsoft.com/office/drawing/2014/main" id="{D60199B3-3E63-4308-B290-3F570364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81" y="2002317"/>
            <a:ext cx="282497" cy="138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179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044D232C-3BD8-48D0-877B-FE6C6508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8618" y="2471548"/>
            <a:ext cx="33517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536477"/>
            </a:solidFill>
            <a:prstDash val="solid"/>
          </a:ln>
        </p:spPr>
      </p:sp>
      <p:sp>
        <p:nvSpPr>
          <p:cNvPr id="180" name="Editable reference text: 0">
            <a:extLst xmlns:a="http://schemas.openxmlformats.org/drawingml/2006/main">
              <a:ext uri="{FF2B5EF4-FFF2-40B4-BE49-F238E27FC236}">
                <a16:creationId xmlns:a16="http://schemas.microsoft.com/office/drawing/2014/main" id="{10FCCCE4-C161-450C-A8BF-4BA87C14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81" y="2409303"/>
            <a:ext cx="282497" cy="138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81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87D792A0-7009-4F89-8C02-F7855F49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8618" y="2873747"/>
            <a:ext cx="33517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536477"/>
            </a:solidFill>
            <a:prstDash val="solid"/>
          </a:ln>
        </p:spPr>
      </p:sp>
      <p:sp>
        <p:nvSpPr>
          <p:cNvPr id="182" name="Editable reference text: −0.3">
            <a:extLst xmlns:a="http://schemas.openxmlformats.org/drawingml/2006/main">
              <a:ext uri="{FF2B5EF4-FFF2-40B4-BE49-F238E27FC236}">
                <a16:creationId xmlns:a16="http://schemas.microsoft.com/office/drawing/2014/main" id="{927E6F0C-2D69-452E-BD43-443899E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81" y="2811502"/>
            <a:ext cx="282497" cy="138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−0.3</a:t>
            </a:r>
          </a:p>
        </p:txBody>
      </p:sp>
      <p:sp>
        <p:nvSpPr>
          <p:cNvPr id="183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BB0F2A65-41EA-4B83-8394-595EC49D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8618" y="3271157"/>
            <a:ext cx="33517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536477"/>
            </a:solidFill>
            <a:prstDash val="solid"/>
          </a:ln>
        </p:spPr>
      </p:sp>
      <p:sp>
        <p:nvSpPr>
          <p:cNvPr id="184" name="Editable reference text: −0.6">
            <a:extLst xmlns:a="http://schemas.openxmlformats.org/drawingml/2006/main">
              <a:ext uri="{FF2B5EF4-FFF2-40B4-BE49-F238E27FC236}">
                <a16:creationId xmlns:a16="http://schemas.microsoft.com/office/drawing/2014/main" id="{D15DD49D-81D6-47D4-9887-76D8C194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81" y="3208912"/>
            <a:ext cx="282497" cy="138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−0.6</a:t>
            </a:r>
          </a:p>
        </p:txBody>
      </p:sp>
      <p:sp>
        <p:nvSpPr>
          <p:cNvPr id="185" name="Editable reference text: Less sensitive&#10;(direction 2)">
            <a:extLst xmlns:a="http://schemas.openxmlformats.org/drawingml/2006/main">
              <a:ext uri="{FF2B5EF4-FFF2-40B4-BE49-F238E27FC236}">
                <a16:creationId xmlns:a16="http://schemas.microsoft.com/office/drawing/2014/main" id="{0BDCB2B3-078B-401F-9417-C40B34D5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227" y="1241012"/>
            <a:ext cx="866642" cy="229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Less sensitive</a:t>
            </a:r>
          </a:p>
          <a:p xmlns:a="http://schemas.openxmlformats.org/drawingml/2006/main">
            <a:pPr algn="l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(direction 2)</a:t>
            </a:r>
          </a:p>
        </p:txBody>
      </p:sp>
      <p:sp>
        <p:nvSpPr>
          <p:cNvPr id="186" name="Editable reference text: More sensitive&#10;(direction 1)">
            <a:extLst xmlns:a="http://schemas.openxmlformats.org/drawingml/2006/main">
              <a:ext uri="{FF2B5EF4-FFF2-40B4-BE49-F238E27FC236}">
                <a16:creationId xmlns:a16="http://schemas.microsoft.com/office/drawing/2014/main" id="{5AC1042E-27B3-438C-98A3-0AA19AA7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756" y="3194548"/>
            <a:ext cx="799609" cy="234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More sensitive</a:t>
            </a:r>
          </a:p>
          <a:p xmlns:a="http://schemas.openxmlformats.org/drawingml/2006/main">
            <a:pPr algn="l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(direction 1)</a:t>
            </a:r>
          </a:p>
        </p:txBody>
      </p:sp>
      <p:sp>
        <p:nvSpPr>
          <p:cNvPr id="187" name="Figure element 596">
            <a:extLst xmlns:a="http://schemas.openxmlformats.org/drawingml/2006/main">
              <a:ext uri="{FF2B5EF4-FFF2-40B4-BE49-F238E27FC236}">
                <a16:creationId xmlns:a16="http://schemas.microsoft.com/office/drawing/2014/main" id="{93598369-4944-4227-BA7E-FA50B052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88" y="1849098"/>
            <a:ext cx="1244900" cy="124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9EC"/>
          </a:solidFill>
          <a:ln xmlns:a="http://schemas.openxmlformats.org/drawingml/2006/main" w="4788">
            <a:solidFill>
              <a:srgbClr val="D0AA4D"/>
            </a:solidFill>
            <a:prstDash val="dash"/>
          </a:ln>
        </p:spPr>
      </p:sp>
      <p:sp>
        <p:nvSpPr>
          <p:cNvPr id="188" name="Editable reference text: ‖v − w‖₂ = 0.6">
            <a:extLst xmlns:a="http://schemas.openxmlformats.org/drawingml/2006/main">
              <a:ext uri="{FF2B5EF4-FFF2-40B4-BE49-F238E27FC236}">
                <a16:creationId xmlns:a16="http://schemas.microsoft.com/office/drawing/2014/main" id="{5045EE32-B182-4EA0-AB03-85EC228F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743" y="1743760"/>
            <a:ext cx="1053377" cy="172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80" b="0" i="1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0" i="1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‖v − w‖₂ = 0.6</a:t>
            </a:r>
          </a:p>
        </p:txBody>
      </p:sp>
      <p:sp>
        <p:nvSpPr>
          <p:cNvPr id="189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19AF02DC-4446-47AB-80FF-BFD37866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876312" y="1863462"/>
            <a:ext cx="119702" cy="1292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225">
            <a:solidFill>
              <a:srgbClr val="C7A754"/>
            </a:solidFill>
            <a:prstDash val="solid"/>
          </a:ln>
        </p:spPr>
      </p:sp>
      <p:sp>
        <p:nvSpPr>
          <p:cNvPr id="190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09ECF481-F850-49F1-B0EF-44D54681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367844">
            <a:off x="1873334" y="1963686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7A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944034B0-7117-4FBC-9BCB-8B719E1E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12419" y="2471548"/>
            <a:ext cx="521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449">
            <a:solidFill>
              <a:srgbClr val="A7600C"/>
            </a:solidFill>
            <a:prstDash val="solid"/>
          </a:ln>
        </p:spPr>
      </p:sp>
      <p:sp>
        <p:nvSpPr>
          <p:cNvPr id="192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8BC56D16-3B7B-4CAD-83EC-BEFD7BF0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988880" y="2446650"/>
            <a:ext cx="41082" cy="49796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760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Reference point">
            <a:extLst xmlns:a="http://schemas.openxmlformats.org/drawingml/2006/main">
              <a:ext uri="{FF2B5EF4-FFF2-40B4-BE49-F238E27FC236}">
                <a16:creationId xmlns:a16="http://schemas.microsoft.com/office/drawing/2014/main" id="{D1BA1BB9-FB3D-4197-A394-502F1528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445" y="2428456"/>
            <a:ext cx="86185" cy="861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83F"/>
          </a:solidFill>
          <a:ln xmlns:a="http://schemas.openxmlformats.org/drawingml/2006/main" w="7620">
            <a:solidFill>
              <a:srgbClr val="16283F"/>
            </a:solidFill>
            <a:prstDash val="solid"/>
          </a:ln>
        </p:spPr>
      </p:sp>
      <p:sp>
        <p:nvSpPr>
          <p:cNvPr id="194" name="Reference point">
            <a:extLst xmlns:a="http://schemas.openxmlformats.org/drawingml/2006/main">
              <a:ext uri="{FF2B5EF4-FFF2-40B4-BE49-F238E27FC236}">
                <a16:creationId xmlns:a16="http://schemas.microsoft.com/office/drawing/2014/main" id="{5BE04C04-44D7-46A1-A96B-9E40B714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107" y="2423667"/>
            <a:ext cx="95762" cy="957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7103"/>
          </a:solidFill>
          <a:ln xmlns:a="http://schemas.openxmlformats.org/drawingml/2006/main" w="7620">
            <a:solidFill>
              <a:srgbClr val="BE7103"/>
            </a:solidFill>
            <a:prstDash val="solid"/>
          </a:ln>
        </p:spPr>
      </p:sp>
      <p:sp>
        <p:nvSpPr>
          <p:cNvPr id="195" name="Reference point">
            <a:extLst xmlns:a="http://schemas.openxmlformats.org/drawingml/2006/main">
              <a:ext uri="{FF2B5EF4-FFF2-40B4-BE49-F238E27FC236}">
                <a16:creationId xmlns:a16="http://schemas.microsoft.com/office/drawing/2014/main" id="{95FFBFA6-F4BD-4FE7-A018-11AB1A64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445" y="1585754"/>
            <a:ext cx="86185" cy="861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C78"/>
          </a:solidFill>
          <a:ln xmlns:a="http://schemas.openxmlformats.org/drawingml/2006/main" w="7620">
            <a:solidFill>
              <a:srgbClr val="006C78"/>
            </a:solidFill>
            <a:prstDash val="solid"/>
          </a:ln>
        </p:spPr>
      </p:sp>
      <p:sp>
        <p:nvSpPr>
          <p:cNvPr id="196" name="Editable reference text: w = (0, 0)">
            <a:extLst xmlns:a="http://schemas.openxmlformats.org/drawingml/2006/main">
              <a:ext uri="{FF2B5EF4-FFF2-40B4-BE49-F238E27FC236}">
                <a16:creationId xmlns:a16="http://schemas.microsoft.com/office/drawing/2014/main" id="{C81CE1A0-501D-41CC-A6C4-B7111BC2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23" y="2552946"/>
            <a:ext cx="809185" cy="148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3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w = (0, 0)</a:t>
            </a:r>
          </a:p>
        </p:txBody>
      </p:sp>
      <p:sp>
        <p:nvSpPr>
          <p:cNvPr id="197" name="Editable reference text: c₁ = (0.3, 0)">
            <a:extLst xmlns:a="http://schemas.openxmlformats.org/drawingml/2006/main">
              <a:ext uri="{FF2B5EF4-FFF2-40B4-BE49-F238E27FC236}">
                <a16:creationId xmlns:a16="http://schemas.microsoft.com/office/drawing/2014/main" id="{AA3E4BE3-8613-40A6-8CB2-DF374370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385" y="2327906"/>
            <a:ext cx="861854" cy="162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3" b="0" i="1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c₁ = (0.3, 0)</a:t>
            </a:r>
          </a:p>
        </p:txBody>
      </p:sp>
      <p:sp>
        <p:nvSpPr>
          <p:cNvPr id="198" name="Editable reference text: c₂ = (0, 0.6)">
            <a:extLst xmlns:a="http://schemas.openxmlformats.org/drawingml/2006/main">
              <a:ext uri="{FF2B5EF4-FFF2-40B4-BE49-F238E27FC236}">
                <a16:creationId xmlns:a16="http://schemas.microsoft.com/office/drawing/2014/main" id="{226C44CC-E865-4C34-B459-23FBD3CD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028" y="1470840"/>
            <a:ext cx="914523" cy="162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3" b="0" i="1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c₂ = (0, 0.6)</a:t>
            </a:r>
          </a:p>
        </p:txBody>
      </p:sp>
      <p:sp>
        <p:nvSpPr>
          <p:cNvPr id="199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7FD60012-08A2-46C6-9379-715343F4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7351" y="3491409"/>
            <a:ext cx="2058873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225">
            <a:solidFill>
              <a:srgbClr val="536477"/>
            </a:solidFill>
            <a:prstDash val="solid"/>
          </a:ln>
        </p:spPr>
      </p:sp>
      <p:sp>
        <p:nvSpPr>
          <p:cNvPr id="200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AE2B6A2A-31A5-40E7-88FD-B9C9A83A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75102" y="3474650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2092ACA1-2050-4AD8-8236-038833D5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547351" y="1284105"/>
            <a:ext cx="95" cy="2207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225">
            <a:solidFill>
              <a:srgbClr val="536477"/>
            </a:solidFill>
            <a:prstDash val="solid"/>
          </a:ln>
        </p:spPr>
      </p:sp>
      <p:sp>
        <p:nvSpPr>
          <p:cNvPr id="202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B49D848D-6799-4F56-BB51-A58B2161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2987" y="1284105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80FC3C51-50D2-47D8-9A99-0051605E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509755" y="1360714"/>
            <a:ext cx="95" cy="21211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225">
            <a:solidFill>
              <a:srgbClr val="536477"/>
            </a:solidFill>
            <a:prstDash val="solid"/>
          </a:ln>
        </p:spPr>
      </p:sp>
      <p:sp>
        <p:nvSpPr>
          <p:cNvPr id="204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FD635BF9-79D2-4B74-BC64-D2B46889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391" y="1360714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BA39534F-A8D2-4151-B45E-E83BA905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1418" y="3491409"/>
            <a:ext cx="95" cy="335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536477"/>
            </a:solidFill>
            <a:prstDash val="solid"/>
          </a:ln>
        </p:spPr>
      </p:sp>
      <p:sp>
        <p:nvSpPr>
          <p:cNvPr id="206" name="Editable reference text: −0.6">
            <a:extLst xmlns:a="http://schemas.openxmlformats.org/drawingml/2006/main">
              <a:ext uri="{FF2B5EF4-FFF2-40B4-BE49-F238E27FC236}">
                <a16:creationId xmlns:a16="http://schemas.microsoft.com/office/drawing/2014/main" id="{B2CF294C-32A0-41DD-BC09-52745279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140" y="3568018"/>
            <a:ext cx="296861" cy="13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−0.6</a:t>
            </a:r>
          </a:p>
        </p:txBody>
      </p:sp>
      <p:sp>
        <p:nvSpPr>
          <p:cNvPr id="207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331D5F2E-EA48-48DA-A493-32744BBC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97980" y="3491409"/>
            <a:ext cx="95" cy="335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536477"/>
            </a:solidFill>
            <a:prstDash val="solid"/>
          </a:ln>
        </p:spPr>
      </p:sp>
      <p:sp>
        <p:nvSpPr>
          <p:cNvPr id="208" name="Editable reference text: −0.3">
            <a:extLst xmlns:a="http://schemas.openxmlformats.org/drawingml/2006/main">
              <a:ext uri="{FF2B5EF4-FFF2-40B4-BE49-F238E27FC236}">
                <a16:creationId xmlns:a16="http://schemas.microsoft.com/office/drawing/2014/main" id="{E9ED40DB-60B5-4E76-895C-75D1F463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702" y="3568018"/>
            <a:ext cx="296861" cy="13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−0.3</a:t>
            </a:r>
          </a:p>
        </p:txBody>
      </p:sp>
      <p:sp>
        <p:nvSpPr>
          <p:cNvPr id="209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40C2BF5C-E9B0-4FA8-87C4-58D64C50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09755" y="3491409"/>
            <a:ext cx="95" cy="335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536477"/>
            </a:solidFill>
            <a:prstDash val="solid"/>
          </a:ln>
        </p:spPr>
      </p:sp>
      <p:sp>
        <p:nvSpPr>
          <p:cNvPr id="210" name="Editable reference text: 0">
            <a:extLst xmlns:a="http://schemas.openxmlformats.org/drawingml/2006/main">
              <a:ext uri="{FF2B5EF4-FFF2-40B4-BE49-F238E27FC236}">
                <a16:creationId xmlns:a16="http://schemas.microsoft.com/office/drawing/2014/main" id="{1848F317-C565-499C-A398-2C2B7735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477" y="3568018"/>
            <a:ext cx="296861" cy="13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11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36C6D97B-3B6B-49C2-B53C-EF02457E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21530" y="3491409"/>
            <a:ext cx="95" cy="335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536477"/>
            </a:solidFill>
            <a:prstDash val="solid"/>
          </a:ln>
        </p:spPr>
      </p:sp>
      <p:sp>
        <p:nvSpPr>
          <p:cNvPr id="212" name="Editable reference text: 0.3">
            <a:extLst xmlns:a="http://schemas.openxmlformats.org/drawingml/2006/main">
              <a:ext uri="{FF2B5EF4-FFF2-40B4-BE49-F238E27FC236}">
                <a16:creationId xmlns:a16="http://schemas.microsoft.com/office/drawing/2014/main" id="{31D242D7-53EA-43E3-9BCF-8C6C3B39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252" y="3568018"/>
            <a:ext cx="296861" cy="13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213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824F4515-7A7E-4A3A-AA83-73B33834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8092" y="3491409"/>
            <a:ext cx="95" cy="335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536477"/>
            </a:solidFill>
            <a:prstDash val="solid"/>
          </a:ln>
        </p:spPr>
      </p:sp>
      <p:sp>
        <p:nvSpPr>
          <p:cNvPr id="214" name="Editable reference text: 0.6">
            <a:extLst xmlns:a="http://schemas.openxmlformats.org/drawingml/2006/main">
              <a:ext uri="{FF2B5EF4-FFF2-40B4-BE49-F238E27FC236}">
                <a16:creationId xmlns:a16="http://schemas.microsoft.com/office/drawing/2014/main" id="{CD74024C-21CE-4DC2-84E9-7AB7B0E9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814" y="3568018"/>
            <a:ext cx="296861" cy="134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0.6</a:t>
            </a:r>
          </a:p>
        </p:txBody>
      </p:sp>
      <p:sp>
        <p:nvSpPr>
          <p:cNvPr id="215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59030420-C0D4-4AD5-8402-229A5D5C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13835" y="1657575"/>
            <a:ext cx="33517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536477"/>
            </a:solidFill>
            <a:prstDash val="solid"/>
          </a:ln>
        </p:spPr>
      </p:sp>
      <p:sp>
        <p:nvSpPr>
          <p:cNvPr id="216" name="Editable reference text: 0.6">
            <a:extLst xmlns:a="http://schemas.openxmlformats.org/drawingml/2006/main">
              <a:ext uri="{FF2B5EF4-FFF2-40B4-BE49-F238E27FC236}">
                <a16:creationId xmlns:a16="http://schemas.microsoft.com/office/drawing/2014/main" id="{26DD5D54-AF92-43AC-916B-5FB98932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398" y="1595330"/>
            <a:ext cx="282497" cy="138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0.6</a:t>
            </a:r>
          </a:p>
        </p:txBody>
      </p:sp>
      <p:sp>
        <p:nvSpPr>
          <p:cNvPr id="217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7737CE0D-FE50-4468-B41C-951629F2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13835" y="2064562"/>
            <a:ext cx="33517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536477"/>
            </a:solidFill>
            <a:prstDash val="solid"/>
          </a:ln>
        </p:spPr>
      </p:sp>
      <p:sp>
        <p:nvSpPr>
          <p:cNvPr id="218" name="Editable reference text: 0.3">
            <a:extLst xmlns:a="http://schemas.openxmlformats.org/drawingml/2006/main">
              <a:ext uri="{FF2B5EF4-FFF2-40B4-BE49-F238E27FC236}">
                <a16:creationId xmlns:a16="http://schemas.microsoft.com/office/drawing/2014/main" id="{D4BA73F1-D7E4-4812-A0B5-249FCED3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398" y="2002317"/>
            <a:ext cx="282497" cy="138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219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49DDD0A7-2FAA-4613-8012-F71EF2D9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13835" y="2471548"/>
            <a:ext cx="33517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536477"/>
            </a:solidFill>
            <a:prstDash val="solid"/>
          </a:ln>
        </p:spPr>
      </p:sp>
      <p:sp>
        <p:nvSpPr>
          <p:cNvPr id="220" name="Editable reference text: 0">
            <a:extLst xmlns:a="http://schemas.openxmlformats.org/drawingml/2006/main">
              <a:ext uri="{FF2B5EF4-FFF2-40B4-BE49-F238E27FC236}">
                <a16:creationId xmlns:a16="http://schemas.microsoft.com/office/drawing/2014/main" id="{BF5B46B2-C97C-4176-9E22-E8E4B75E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398" y="2409303"/>
            <a:ext cx="282497" cy="138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21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FC3B22FD-D8C4-4E6E-B2C6-726047CE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13835" y="2873747"/>
            <a:ext cx="33517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536477"/>
            </a:solidFill>
            <a:prstDash val="solid"/>
          </a:ln>
        </p:spPr>
      </p:sp>
      <p:sp>
        <p:nvSpPr>
          <p:cNvPr id="222" name="Editable reference text: −0.3">
            <a:extLst xmlns:a="http://schemas.openxmlformats.org/drawingml/2006/main">
              <a:ext uri="{FF2B5EF4-FFF2-40B4-BE49-F238E27FC236}">
                <a16:creationId xmlns:a16="http://schemas.microsoft.com/office/drawing/2014/main" id="{164BB710-B3D0-42F6-8F36-07171C19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398" y="2811502"/>
            <a:ext cx="282497" cy="138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−0.3</a:t>
            </a:r>
          </a:p>
        </p:txBody>
      </p:sp>
      <p:sp>
        <p:nvSpPr>
          <p:cNvPr id="223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514EDF28-CB85-463B-BB48-23C572C8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13835" y="3271157"/>
            <a:ext cx="33517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536477"/>
            </a:solidFill>
            <a:prstDash val="solid"/>
          </a:ln>
        </p:spPr>
      </p:sp>
      <p:sp>
        <p:nvSpPr>
          <p:cNvPr id="224" name="Editable reference text: −0.6">
            <a:extLst xmlns:a="http://schemas.openxmlformats.org/drawingml/2006/main">
              <a:ext uri="{FF2B5EF4-FFF2-40B4-BE49-F238E27FC236}">
                <a16:creationId xmlns:a16="http://schemas.microsoft.com/office/drawing/2014/main" id="{5F96E4C6-9079-4CF1-94D2-203E9D16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398" y="3208912"/>
            <a:ext cx="282497" cy="138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−0.6</a:t>
            </a:r>
          </a:p>
        </p:txBody>
      </p:sp>
      <p:sp>
        <p:nvSpPr>
          <p:cNvPr id="225" name="Editable reference text: Less sensitive&#10;(direction 2)">
            <a:extLst xmlns:a="http://schemas.openxmlformats.org/drawingml/2006/main">
              <a:ext uri="{FF2B5EF4-FFF2-40B4-BE49-F238E27FC236}">
                <a16:creationId xmlns:a16="http://schemas.microsoft.com/office/drawing/2014/main" id="{532D9358-4BE7-4E83-A757-4CFD7441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444" y="1241012"/>
            <a:ext cx="866642" cy="229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Less sensitive</a:t>
            </a:r>
          </a:p>
          <a:p xmlns:a="http://schemas.openxmlformats.org/drawingml/2006/main">
            <a:pPr algn="l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(direction 2)</a:t>
            </a:r>
          </a:p>
        </p:txBody>
      </p:sp>
      <p:sp>
        <p:nvSpPr>
          <p:cNvPr id="226" name="Editable reference text: More sensitive&#10;(direction 1)">
            <a:extLst xmlns:a="http://schemas.openxmlformats.org/drawingml/2006/main">
              <a:ext uri="{FF2B5EF4-FFF2-40B4-BE49-F238E27FC236}">
                <a16:creationId xmlns:a16="http://schemas.microsoft.com/office/drawing/2014/main" id="{3F6F93C8-7DF4-4AA1-A8E7-4FC243FD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973" y="3194548"/>
            <a:ext cx="799609" cy="234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More sensitive</a:t>
            </a:r>
          </a:p>
          <a:p xmlns:a="http://schemas.openxmlformats.org/drawingml/2006/main">
            <a:pPr algn="l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(direction 1)</a:t>
            </a:r>
          </a:p>
        </p:txBody>
      </p:sp>
      <p:sp>
        <p:nvSpPr>
          <p:cNvPr id="227" name="Figure element 636">
            <a:extLst xmlns:a="http://schemas.openxmlformats.org/drawingml/2006/main">
              <a:ext uri="{FF2B5EF4-FFF2-40B4-BE49-F238E27FC236}">
                <a16:creationId xmlns:a16="http://schemas.microsoft.com/office/drawing/2014/main" id="{415AE0FF-90C0-417D-9E0B-4333DB4B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861" y="1624059"/>
            <a:ext cx="727788" cy="16949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3F5"/>
          </a:solidFill>
          <a:ln xmlns:a="http://schemas.openxmlformats.org/drawingml/2006/main" w="4788">
            <a:solidFill>
              <a:srgbClr val="3299A6"/>
            </a:solidFill>
            <a:prstDash val="dash"/>
          </a:ln>
        </p:spPr>
      </p:sp>
      <p:sp>
        <p:nvSpPr>
          <p:cNvPr id="228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7D7BA61B-86D1-49ED-9701-CF1DB7DD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509755" y="1681515"/>
            <a:ext cx="95" cy="7469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534">
            <a:solidFill>
              <a:srgbClr val="006C78"/>
            </a:solidFill>
            <a:prstDash val="solid"/>
          </a:ln>
        </p:spPr>
      </p:sp>
      <p:sp>
        <p:nvSpPr>
          <p:cNvPr id="229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43A2B1BE-5423-489B-82B0-67323A57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2374" y="1681515"/>
            <a:ext cx="34761" cy="4213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6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Editable reference text: (v − w)ᵀM(v − w) = 0.36">
            <a:extLst xmlns:a="http://schemas.openxmlformats.org/drawingml/2006/main">
              <a:ext uri="{FF2B5EF4-FFF2-40B4-BE49-F238E27FC236}">
                <a16:creationId xmlns:a16="http://schemas.microsoft.com/office/drawing/2014/main" id="{BB14E3DB-FA8F-4388-BDBB-8280F16F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165" y="1715032"/>
            <a:ext cx="1321509" cy="177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7" b="0" i="1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1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(v − w)ᵀM(v − w) = 0.36</a:t>
            </a:r>
          </a:p>
        </p:txBody>
      </p:sp>
      <p:sp>
        <p:nvSpPr>
          <p:cNvPr id="231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18DF5A7F-CD72-4069-B917-811C599B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820980" y="1868250"/>
            <a:ext cx="172371" cy="1532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703">
            <a:solidFill>
              <a:srgbClr val="68ABB3"/>
            </a:solidFill>
            <a:prstDash val="solid"/>
          </a:ln>
        </p:spPr>
      </p:sp>
      <p:sp>
        <p:nvSpPr>
          <p:cNvPr id="232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59EDAF6B-168D-485A-A862-85723120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701988">
            <a:off x="4819141" y="1993577"/>
            <a:ext cx="28728" cy="3351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AB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E44E2979-1957-4365-8091-4C64236A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57636" y="2471548"/>
            <a:ext cx="521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449">
            <a:solidFill>
              <a:srgbClr val="A7600C"/>
            </a:solidFill>
            <a:prstDash val="solid"/>
          </a:ln>
        </p:spPr>
      </p:sp>
      <p:sp>
        <p:nvSpPr>
          <p:cNvPr id="234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84A8E850-60DC-47D9-A2B5-AD072C4C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34097" y="2446650"/>
            <a:ext cx="41082" cy="49796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760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Reference point">
            <a:extLst xmlns:a="http://schemas.openxmlformats.org/drawingml/2006/main">
              <a:ext uri="{FF2B5EF4-FFF2-40B4-BE49-F238E27FC236}">
                <a16:creationId xmlns:a16="http://schemas.microsoft.com/office/drawing/2014/main" id="{A5FE4094-2FDE-4AD9-9C0A-88935C5E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662" y="2428456"/>
            <a:ext cx="86185" cy="861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83F"/>
          </a:solidFill>
          <a:ln xmlns:a="http://schemas.openxmlformats.org/drawingml/2006/main" w="7620">
            <a:solidFill>
              <a:srgbClr val="16283F"/>
            </a:solidFill>
            <a:prstDash val="solid"/>
          </a:ln>
        </p:spPr>
      </p:sp>
      <p:sp>
        <p:nvSpPr>
          <p:cNvPr id="236" name="Reference point">
            <a:extLst xmlns:a="http://schemas.openxmlformats.org/drawingml/2006/main">
              <a:ext uri="{FF2B5EF4-FFF2-40B4-BE49-F238E27FC236}">
                <a16:creationId xmlns:a16="http://schemas.microsoft.com/office/drawing/2014/main" id="{6479FD9D-2F68-4CA0-900C-CF254133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324" y="2423667"/>
            <a:ext cx="95762" cy="957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7103"/>
          </a:solidFill>
          <a:ln xmlns:a="http://schemas.openxmlformats.org/drawingml/2006/main" w="7620">
            <a:solidFill>
              <a:srgbClr val="BE7103"/>
            </a:solidFill>
            <a:prstDash val="solid"/>
          </a:ln>
        </p:spPr>
      </p:sp>
      <p:sp>
        <p:nvSpPr>
          <p:cNvPr id="237" name="Reference point">
            <a:extLst xmlns:a="http://schemas.openxmlformats.org/drawingml/2006/main">
              <a:ext uri="{FF2B5EF4-FFF2-40B4-BE49-F238E27FC236}">
                <a16:creationId xmlns:a16="http://schemas.microsoft.com/office/drawing/2014/main" id="{CDA98A4D-430B-42B4-AA33-3C19BED2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662" y="1585754"/>
            <a:ext cx="86185" cy="861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C78"/>
          </a:solidFill>
          <a:ln xmlns:a="http://schemas.openxmlformats.org/drawingml/2006/main" w="7620">
            <a:solidFill>
              <a:srgbClr val="006C78"/>
            </a:solidFill>
            <a:prstDash val="solid"/>
          </a:ln>
        </p:spPr>
      </p:sp>
      <p:sp>
        <p:nvSpPr>
          <p:cNvPr id="238" name="Editable reference text: w = (0, 0)">
            <a:extLst xmlns:a="http://schemas.openxmlformats.org/drawingml/2006/main">
              <a:ext uri="{FF2B5EF4-FFF2-40B4-BE49-F238E27FC236}">
                <a16:creationId xmlns:a16="http://schemas.microsoft.com/office/drawing/2014/main" id="{305810E0-6AF2-49BB-A540-26028AF4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040" y="2552946"/>
            <a:ext cx="809185" cy="148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3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w = (0, 0)</a:t>
            </a:r>
          </a:p>
        </p:txBody>
      </p:sp>
      <p:sp>
        <p:nvSpPr>
          <p:cNvPr id="239" name="Editable reference text: c₁ = (0.3, 0)">
            <a:extLst xmlns:a="http://schemas.openxmlformats.org/drawingml/2006/main">
              <a:ext uri="{FF2B5EF4-FFF2-40B4-BE49-F238E27FC236}">
                <a16:creationId xmlns:a16="http://schemas.microsoft.com/office/drawing/2014/main" id="{99D2BF82-8A81-4C9A-BA50-7E0CF352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602" y="2327906"/>
            <a:ext cx="861854" cy="162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3" b="0" i="1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c₁ = (0.3, 0)</a:t>
            </a:r>
          </a:p>
        </p:txBody>
      </p:sp>
      <p:sp>
        <p:nvSpPr>
          <p:cNvPr id="240" name="Editable reference text: c₂ = (0, 0.6)">
            <a:extLst xmlns:a="http://schemas.openxmlformats.org/drawingml/2006/main">
              <a:ext uri="{FF2B5EF4-FFF2-40B4-BE49-F238E27FC236}">
                <a16:creationId xmlns:a16="http://schemas.microsoft.com/office/drawing/2014/main" id="{CBB77B17-EB2A-4F62-A7D8-B82B624B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245" y="1470840"/>
            <a:ext cx="914523" cy="162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3" b="0" i="1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c₂ = (0, 0.6)</a:t>
            </a:r>
          </a:p>
        </p:txBody>
      </p:sp>
      <p:sp>
        <p:nvSpPr>
          <p:cNvPr id="24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BD9D907-9BF9-4F28-A066-E8EE3B82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14" y="3807422"/>
            <a:ext cx="2796237" cy="813973"/>
          </a:xfrm>
          <a:prstGeom xmlns:a="http://schemas.openxmlformats.org/drawingml/2006/main" prst="roundRect">
            <a:avLst>
              <a:gd name="adj" fmla="val 9361"/>
            </a:avLst>
          </a:prstGeom>
          <a:solidFill xmlns:a="http://schemas.openxmlformats.org/drawingml/2006/main">
            <a:srgbClr val="FCF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Editable reference text: Euclidean squared distances">
            <a:extLst xmlns:a="http://schemas.openxmlformats.org/drawingml/2006/main">
              <a:ext uri="{FF2B5EF4-FFF2-40B4-BE49-F238E27FC236}">
                <a16:creationId xmlns:a16="http://schemas.microsoft.com/office/drawing/2014/main" id="{73B321A8-BB58-4879-BCDE-D1509AE6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63" y="3884031"/>
            <a:ext cx="2106754" cy="153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3" b="1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1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Euclidean squared distances</a:t>
            </a:r>
          </a:p>
        </p:txBody>
      </p:sp>
      <p:sp>
        <p:nvSpPr>
          <p:cNvPr id="243" name="Editable reference text: d₂(w, c₁) = ‖w − c₁‖₂² = 0.09">
            <a:extLst xmlns:a="http://schemas.openxmlformats.org/drawingml/2006/main">
              <a:ext uri="{FF2B5EF4-FFF2-40B4-BE49-F238E27FC236}">
                <a16:creationId xmlns:a16="http://schemas.microsoft.com/office/drawing/2014/main" id="{5824EF7B-A812-46D6-BF2F-BF42D0D0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068" y="4128223"/>
            <a:ext cx="1785953" cy="177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3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d₂(w, c₁) = ‖w − c₁‖₂² = 0.09</a:t>
            </a:r>
          </a:p>
        </p:txBody>
      </p:sp>
      <p:sp>
        <p:nvSpPr>
          <p:cNvPr id="244" name="Editable reference text: d₂(w, c₂) = ‖w − c₂‖₂² = 0.36">
            <a:extLst xmlns:a="http://schemas.openxmlformats.org/drawingml/2006/main">
              <a:ext uri="{FF2B5EF4-FFF2-40B4-BE49-F238E27FC236}">
                <a16:creationId xmlns:a16="http://schemas.microsoft.com/office/drawing/2014/main" id="{40DFBE8B-F168-40A4-B9B2-7E5D8C7B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068" y="4353263"/>
            <a:ext cx="1785953" cy="177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3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d₂(w, c₂) = ‖w − c₂‖₂² = 0.36</a:t>
            </a:r>
          </a:p>
        </p:txBody>
      </p:sp>
      <p:sp>
        <p:nvSpPr>
          <p:cNvPr id="245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51970111-88F8-4E19-A2AD-3068144F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82749" y="4042038"/>
            <a:ext cx="95" cy="5027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93A0AE"/>
            </a:solidFill>
            <a:prstDash val="solid"/>
          </a:ln>
        </p:spPr>
      </p:sp>
      <p:sp>
        <p:nvSpPr>
          <p:cNvPr id="246" name="Editable reference text: L₂ chooses">
            <a:extLst xmlns:a="http://schemas.openxmlformats.org/drawingml/2006/main">
              <a:ext uri="{FF2B5EF4-FFF2-40B4-BE49-F238E27FC236}">
                <a16:creationId xmlns:a16="http://schemas.microsoft.com/office/drawing/2014/main" id="{39A39E29-F2A5-419C-AD4C-28725AEF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180" y="4099495"/>
            <a:ext cx="694271" cy="138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3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L₂ chooses</a:t>
            </a:r>
          </a:p>
        </p:txBody>
      </p:sp>
      <p:sp>
        <p:nvSpPr>
          <p:cNvPr id="24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89D99F0-B1D2-44A4-A7D7-678D448D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458" y="4276653"/>
            <a:ext cx="311225" cy="239404"/>
          </a:xfrm>
          <a:prstGeom xmlns:a="http://schemas.openxmlformats.org/drawingml/2006/main" prst="roundRect">
            <a:avLst>
              <a:gd name="adj" fmla="val 31829"/>
            </a:avLst>
          </a:prstGeom>
          <a:solidFill xmlns:a="http://schemas.openxmlformats.org/drawingml/2006/main">
            <a:srgbClr val="F8E9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Editable reference text: c₁">
            <a:extLst xmlns:a="http://schemas.openxmlformats.org/drawingml/2006/main">
              <a:ext uri="{FF2B5EF4-FFF2-40B4-BE49-F238E27FC236}">
                <a16:creationId xmlns:a16="http://schemas.microsoft.com/office/drawing/2014/main" id="{CAC4C88F-DC97-482F-BADC-93F1AA8E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974" y="4271865"/>
            <a:ext cx="268132" cy="215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82" b="1" i="1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2" b="1" i="1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c₁</a:t>
            </a:r>
          </a:p>
        </p:txBody>
      </p:sp>
      <p:sp>
        <p:nvSpPr>
          <p:cNvPr id="24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87249ED-83DA-46EC-B310-E53FFC62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0789" y="3807422"/>
            <a:ext cx="2997336" cy="813973"/>
          </a:xfrm>
          <a:prstGeom xmlns:a="http://schemas.openxmlformats.org/drawingml/2006/main" prst="roundRect">
            <a:avLst>
              <a:gd name="adj" fmla="val 9361"/>
            </a:avLst>
          </a:prstGeom>
          <a:solidFill xmlns:a="http://schemas.openxmlformats.org/drawingml/2006/main">
            <a:srgbClr val="EF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Editable reference text: Action-weighted squared distances (M = diag(9, 1))">
            <a:extLst xmlns:a="http://schemas.openxmlformats.org/drawingml/2006/main">
              <a:ext uri="{FF2B5EF4-FFF2-40B4-BE49-F238E27FC236}">
                <a16:creationId xmlns:a16="http://schemas.microsoft.com/office/drawing/2014/main" id="{1307E58B-0105-44B9-A338-ABB3DD42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338" y="3884031"/>
            <a:ext cx="2829754" cy="167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3" b="1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1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Action-weighted squared distances (M = diag(9, 1))</a:t>
            </a:r>
          </a:p>
        </p:txBody>
      </p:sp>
      <p:sp>
        <p:nvSpPr>
          <p:cNvPr id="251" name="Editable reference text: dₘ(w, c₁) = (w − c₁)ᵀM(w − c₁) = 0.81">
            <a:extLst xmlns:a="http://schemas.openxmlformats.org/drawingml/2006/main">
              <a:ext uri="{FF2B5EF4-FFF2-40B4-BE49-F238E27FC236}">
                <a16:creationId xmlns:a16="http://schemas.microsoft.com/office/drawing/2014/main" id="{46007B73-0C9B-4C37-A2BB-57255A7D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126" y="4133011"/>
            <a:ext cx="2125906" cy="172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5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dₘ(w, c₁) = (w − c₁)ᵀM(w − c₁) = 0.81</a:t>
            </a:r>
          </a:p>
        </p:txBody>
      </p:sp>
      <p:sp>
        <p:nvSpPr>
          <p:cNvPr id="252" name="Editable reference text: dₘ(w, c₂) = (w − c₂)ᵀM(w − c₂) = 0.36">
            <a:extLst xmlns:a="http://schemas.openxmlformats.org/drawingml/2006/main">
              <a:ext uri="{FF2B5EF4-FFF2-40B4-BE49-F238E27FC236}">
                <a16:creationId xmlns:a16="http://schemas.microsoft.com/office/drawing/2014/main" id="{E8A08B0C-D973-4D3D-A042-ADEFEF50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126" y="4358051"/>
            <a:ext cx="2125906" cy="172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5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dₘ(w, c₂) = (w − c₂)ᵀM(w − c₂) = 0.36</a:t>
            </a:r>
          </a:p>
        </p:txBody>
      </p:sp>
      <p:sp>
        <p:nvSpPr>
          <p:cNvPr id="253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9047EAAE-E584-4EEC-B59A-2DDBC073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47669" y="4042038"/>
            <a:ext cx="95" cy="5027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88">
            <a:solidFill>
              <a:srgbClr val="93A0AE"/>
            </a:solidFill>
            <a:prstDash val="solid"/>
          </a:ln>
        </p:spPr>
      </p:sp>
      <p:sp>
        <p:nvSpPr>
          <p:cNvPr id="254" name="Editable reference text: Action-aware&#10;VQ chooses">
            <a:extLst xmlns:a="http://schemas.openxmlformats.org/drawingml/2006/main">
              <a:ext uri="{FF2B5EF4-FFF2-40B4-BE49-F238E27FC236}">
                <a16:creationId xmlns:a16="http://schemas.microsoft.com/office/drawing/2014/main" id="{A47F235F-FE4E-4681-A582-8A039D68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702" y="4075554"/>
            <a:ext cx="651179" cy="22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7" b="1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1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Action-aware</a:t>
            </a:r>
          </a:p>
          <a:p xmlns:a="http://schemas.openxmlformats.org/drawingml/2006/main">
            <a:pPr algn="ctr">
              <a:defRPr sz="867" b="1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1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VQ chooses</a:t>
            </a:r>
          </a:p>
        </p:txBody>
      </p:sp>
      <p:sp>
        <p:nvSpPr>
          <p:cNvPr id="25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B67984C-50C2-4800-8D8F-0F9934E0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437" y="4324534"/>
            <a:ext cx="311225" cy="225040"/>
          </a:xfrm>
          <a:prstGeom xmlns:a="http://schemas.openxmlformats.org/drawingml/2006/main" prst="roundRect">
            <a:avLst>
              <a:gd name="adj" fmla="val 33861"/>
            </a:avLst>
          </a:prstGeom>
          <a:solidFill xmlns:a="http://schemas.openxmlformats.org/drawingml/2006/main">
            <a:srgbClr val="CEE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Editable reference text: c₂">
            <a:extLst xmlns:a="http://schemas.openxmlformats.org/drawingml/2006/main">
              <a:ext uri="{FF2B5EF4-FFF2-40B4-BE49-F238E27FC236}">
                <a16:creationId xmlns:a16="http://schemas.microsoft.com/office/drawing/2014/main" id="{98650CDD-8649-4585-9391-A778B699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377" y="4324534"/>
            <a:ext cx="268132" cy="205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82" b="1" i="1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2" b="1" i="1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c₂</a:t>
            </a:r>
          </a:p>
        </p:txBody>
      </p:sp>
      <p:sp>
        <p:nvSpPr>
          <p:cNvPr id="25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E8CFBCF7-90AE-4AA2-9C1C-DD0EB333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224" y="1068642"/>
            <a:ext cx="2633443" cy="1216172"/>
          </a:xfrm>
          <a:prstGeom xmlns:a="http://schemas.openxmlformats.org/drawingml/2006/main" prst="roundRect">
            <a:avLst>
              <a:gd name="adj" fmla="val 626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Editable reference text: Action-weighted distortion">
            <a:extLst xmlns:a="http://schemas.openxmlformats.org/drawingml/2006/main">
              <a:ext uri="{FF2B5EF4-FFF2-40B4-BE49-F238E27FC236}">
                <a16:creationId xmlns:a16="http://schemas.microsoft.com/office/drawing/2014/main" id="{9A528CEF-38D7-4B9E-877D-23E12945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774" y="1150039"/>
            <a:ext cx="2417979" cy="158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80" b="1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1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Action-weighted distortion</a:t>
            </a:r>
          </a:p>
        </p:txBody>
      </p:sp>
      <p:sp>
        <p:nvSpPr>
          <p:cNvPr id="259" name="Editable reference text: dₘ(v, c) = (v − c)ᵀM(v − c)">
            <a:extLst xmlns:a="http://schemas.openxmlformats.org/drawingml/2006/main">
              <a:ext uri="{FF2B5EF4-FFF2-40B4-BE49-F238E27FC236}">
                <a16:creationId xmlns:a16="http://schemas.microsoft.com/office/drawing/2014/main" id="{07C02234-680F-41B5-B6A6-3E1957F8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774" y="1322410"/>
            <a:ext cx="2427555" cy="215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6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6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dₘ(v, c) = (v − c)ᵀM(v − c)</a:t>
            </a:r>
          </a:p>
        </p:txBody>
      </p:sp>
      <p:sp>
        <p:nvSpPr>
          <p:cNvPr id="260" name="Editable reference text: M =">
            <a:extLst xmlns:a="http://schemas.openxmlformats.org/drawingml/2006/main">
              <a:ext uri="{FF2B5EF4-FFF2-40B4-BE49-F238E27FC236}">
                <a16:creationId xmlns:a16="http://schemas.microsoft.com/office/drawing/2014/main" id="{41B4B118-1E95-47CB-BBB0-0F028E9F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257" y="1758125"/>
            <a:ext cx="316013" cy="181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6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M =</a:t>
            </a:r>
          </a:p>
        </p:txBody>
      </p:sp>
      <p:sp>
        <p:nvSpPr>
          <p:cNvPr id="261" name="Editable reference text: 9     0&#10;0     1">
            <a:extLst xmlns:a="http://schemas.openxmlformats.org/drawingml/2006/main">
              <a:ext uri="{FF2B5EF4-FFF2-40B4-BE49-F238E27FC236}">
                <a16:creationId xmlns:a16="http://schemas.microsoft.com/office/drawing/2014/main" id="{1C71FC28-63DD-4119-9519-B339A8E5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727" y="1624059"/>
            <a:ext cx="349530" cy="359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3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9     0</a:t>
            </a:r>
          </a:p>
          <a:p xmlns:a="http://schemas.openxmlformats.org/drawingml/2006/main">
            <a:pPr algn="l">
              <a:defRPr sz="943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0     1</a:t>
            </a:r>
          </a:p>
        </p:txBody>
      </p:sp>
      <p:sp>
        <p:nvSpPr>
          <p:cNvPr id="262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95109438-5CDB-472F-BC3D-0127E549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0058" y="1633635"/>
            <a:ext cx="95" cy="3543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61">
            <a:solidFill>
              <a:srgbClr val="16283F"/>
            </a:solidFill>
            <a:prstDash val="solid"/>
          </a:ln>
        </p:spPr>
      </p:sp>
      <p:sp>
        <p:nvSpPr>
          <p:cNvPr id="263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2428E762-16C1-4C0D-9656-C0941281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0058" y="1633635"/>
            <a:ext cx="43093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61">
            <a:solidFill>
              <a:srgbClr val="16283F"/>
            </a:solidFill>
            <a:prstDash val="solid"/>
          </a:ln>
        </p:spPr>
      </p:sp>
      <p:sp>
        <p:nvSpPr>
          <p:cNvPr id="264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2DC4B1C4-53C0-4531-8110-B6F529C1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0058" y="1987952"/>
            <a:ext cx="43093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61">
            <a:solidFill>
              <a:srgbClr val="16283F"/>
            </a:solidFill>
            <a:prstDash val="solid"/>
          </a:ln>
        </p:spPr>
      </p:sp>
      <p:sp>
        <p:nvSpPr>
          <p:cNvPr id="265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F3DF0C59-60D0-427F-B005-70C0BA3A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37469" y="1633635"/>
            <a:ext cx="95" cy="3543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61">
            <a:solidFill>
              <a:srgbClr val="16283F"/>
            </a:solidFill>
            <a:prstDash val="solid"/>
          </a:ln>
        </p:spPr>
      </p:sp>
      <p:sp>
        <p:nvSpPr>
          <p:cNvPr id="266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7D9A2BBF-0F56-47FC-A51C-B8DA3D12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99164" y="1633635"/>
            <a:ext cx="3830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61">
            <a:solidFill>
              <a:srgbClr val="16283F"/>
            </a:solidFill>
            <a:prstDash val="solid"/>
          </a:ln>
        </p:spPr>
      </p:sp>
      <p:sp>
        <p:nvSpPr>
          <p:cNvPr id="267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77983B11-7553-498D-BA92-52ADE06D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99164" y="1987952"/>
            <a:ext cx="3830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61">
            <a:solidFill>
              <a:srgbClr val="16283F"/>
            </a:solidFill>
            <a:prstDash val="solid"/>
          </a:ln>
        </p:spPr>
      </p:sp>
      <p:sp>
        <p:nvSpPr>
          <p:cNvPr id="268" name="Editable reference text: higher penalty&#10;(more sensitive)">
            <a:extLst xmlns:a="http://schemas.openxmlformats.org/drawingml/2006/main">
              <a:ext uri="{FF2B5EF4-FFF2-40B4-BE49-F238E27FC236}">
                <a16:creationId xmlns:a16="http://schemas.microsoft.com/office/drawing/2014/main" id="{75135DC1-ECE1-4B6E-9381-198DAC70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41" y="1585754"/>
            <a:ext cx="813973" cy="229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7" b="0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higher penalty</a:t>
            </a:r>
          </a:p>
          <a:p xmlns:a="http://schemas.openxmlformats.org/drawingml/2006/main">
            <a:pPr algn="l">
              <a:defRPr sz="867" b="0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(more sensitive)</a:t>
            </a:r>
          </a:p>
        </p:txBody>
      </p:sp>
      <p:sp>
        <p:nvSpPr>
          <p:cNvPr id="269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C07B210D-6D54-4895-BB33-02A4A5DC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894926" y="1686304"/>
            <a:ext cx="191523" cy="95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91">
            <a:solidFill>
              <a:srgbClr val="A7600C"/>
            </a:solidFill>
            <a:prstDash val="solid"/>
          </a:ln>
        </p:spPr>
      </p:sp>
      <p:sp>
        <p:nvSpPr>
          <p:cNvPr id="270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06866378-380D-475E-A116-2707CB01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028256">
            <a:off x="7898919" y="1671749"/>
            <a:ext cx="37922" cy="45966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760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Editable reference text: lower penalty&#10;(less sensitive)">
            <a:extLst xmlns:a="http://schemas.openxmlformats.org/drawingml/2006/main">
              <a:ext uri="{FF2B5EF4-FFF2-40B4-BE49-F238E27FC236}">
                <a16:creationId xmlns:a16="http://schemas.microsoft.com/office/drawing/2014/main" id="{A241DB70-D4AA-4482-A586-5727B2F8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2210" y="1973588"/>
            <a:ext cx="761304" cy="229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7" b="0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lower penalty</a:t>
            </a:r>
          </a:p>
          <a:p xmlns:a="http://schemas.openxmlformats.org/drawingml/2006/main">
            <a:pPr algn="l">
              <a:defRPr sz="867" b="0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(less sensitive)</a:t>
            </a:r>
          </a:p>
        </p:txBody>
      </p:sp>
      <p:sp>
        <p:nvSpPr>
          <p:cNvPr id="272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C1D99944-EEA6-4B79-831B-6D61F0D2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009840" y="2045409"/>
            <a:ext cx="134066" cy="143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91">
            <a:solidFill>
              <a:srgbClr val="006C78"/>
            </a:solidFill>
            <a:prstDash val="solid"/>
          </a:ln>
        </p:spPr>
      </p:sp>
      <p:sp>
        <p:nvSpPr>
          <p:cNvPr id="273" name="Reference line">
            <a:extLst xmlns:a="http://schemas.openxmlformats.org/drawingml/2006/main">
              <a:ext uri="{FF2B5EF4-FFF2-40B4-BE49-F238E27FC236}">
                <a16:creationId xmlns:a16="http://schemas.microsoft.com/office/drawing/2014/main" id="{7D2B3218-311C-4EF3-A4D6-70B68488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875773" y="1987952"/>
            <a:ext cx="134066" cy="574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91">
            <a:solidFill>
              <a:srgbClr val="006C78"/>
            </a:solidFill>
            <a:prstDash val="solid"/>
          </a:ln>
        </p:spPr>
      </p:sp>
      <p:sp>
        <p:nvSpPr>
          <p:cNvPr id="274" name="Reference arrowhead">
            <a:extLst xmlns:a="http://schemas.openxmlformats.org/drawingml/2006/main">
              <a:ext uri="{FF2B5EF4-FFF2-40B4-BE49-F238E27FC236}">
                <a16:creationId xmlns:a16="http://schemas.microsoft.com/office/drawing/2014/main" id="{15360A0E-7083-4EC6-98F6-729A5B15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008085">
            <a:off x="7877937" y="1974023"/>
            <a:ext cx="37922" cy="45966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6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Editable reference text: Codebook geometry (equal action error)">
            <a:extLst xmlns:a="http://schemas.openxmlformats.org/drawingml/2006/main">
              <a:ext uri="{FF2B5EF4-FFF2-40B4-BE49-F238E27FC236}">
                <a16:creationId xmlns:a16="http://schemas.microsoft.com/office/drawing/2014/main" id="{7EF4B554-1B28-45D2-88BD-D3EE2C64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589" y="2404515"/>
            <a:ext cx="2633443" cy="172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6" b="1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1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Codebook geometry (equal action error)</a:t>
            </a:r>
          </a:p>
        </p:txBody>
      </p:sp>
      <p:sp>
        <p:nvSpPr>
          <p:cNvPr id="27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DC5148D-E3DC-45FB-A1DC-A569DBBC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774" y="2653495"/>
            <a:ext cx="81397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5746">
            <a:solidFill>
              <a:srgbClr val="859FB5"/>
            </a:solidFill>
            <a:prstDash val="solid"/>
          </a:ln>
        </p:spPr>
      </p:sp>
      <p:sp>
        <p:nvSpPr>
          <p:cNvPr id="27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A504A6CD-C057-41A2-8B68-0DC03E3A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661" y="2653495"/>
            <a:ext cx="81397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5746">
            <a:solidFill>
              <a:srgbClr val="859FB5"/>
            </a:solidFill>
            <a:prstDash val="solid"/>
          </a:ln>
        </p:spPr>
      </p:sp>
      <p:sp>
        <p:nvSpPr>
          <p:cNvPr id="27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EBA0F2D9-2676-4B1F-BA2A-57A6AEE1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1549" y="2653495"/>
            <a:ext cx="81397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5746">
            <a:solidFill>
              <a:srgbClr val="859FB5"/>
            </a:solidFill>
            <a:prstDash val="solid"/>
          </a:ln>
        </p:spPr>
      </p:sp>
      <p:sp>
        <p:nvSpPr>
          <p:cNvPr id="27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B6CF00C-5989-4628-981D-46228704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436" y="2653495"/>
            <a:ext cx="81397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5746">
            <a:solidFill>
              <a:srgbClr val="859FB5"/>
            </a:solidFill>
            <a:prstDash val="solid"/>
          </a:ln>
        </p:spPr>
      </p:sp>
      <p:sp>
        <p:nvSpPr>
          <p:cNvPr id="28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8FCA1CB0-B35E-4034-86E6-06F3ABCA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323" y="2653495"/>
            <a:ext cx="81397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5746">
            <a:solidFill>
              <a:srgbClr val="859FB5"/>
            </a:solidFill>
            <a:prstDash val="solid"/>
          </a:ln>
        </p:spPr>
      </p:sp>
      <p:sp>
        <p:nvSpPr>
          <p:cNvPr id="28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FAD3811-426C-4C52-B374-17B3D733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774" y="2845018"/>
            <a:ext cx="81397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5746">
            <a:solidFill>
              <a:srgbClr val="859FB5"/>
            </a:solidFill>
            <a:prstDash val="solid"/>
          </a:ln>
        </p:spPr>
      </p:sp>
      <p:sp>
        <p:nvSpPr>
          <p:cNvPr id="28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C0C79CA-4CEA-48F8-9426-93FC2413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661" y="2845018"/>
            <a:ext cx="81397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5746">
            <a:solidFill>
              <a:srgbClr val="859FB5"/>
            </a:solidFill>
            <a:prstDash val="solid"/>
          </a:ln>
        </p:spPr>
      </p:sp>
      <p:sp>
        <p:nvSpPr>
          <p:cNvPr id="28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B4BDA11-61AC-4F0B-98ED-B09CB5BA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1549" y="2845018"/>
            <a:ext cx="81397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5746">
            <a:solidFill>
              <a:srgbClr val="859FB5"/>
            </a:solidFill>
            <a:prstDash val="solid"/>
          </a:ln>
        </p:spPr>
      </p:sp>
      <p:sp>
        <p:nvSpPr>
          <p:cNvPr id="28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DD9F8A60-917E-444F-B7AE-6CD1A50D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436" y="2845018"/>
            <a:ext cx="81397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5746">
            <a:solidFill>
              <a:srgbClr val="859FB5"/>
            </a:solidFill>
            <a:prstDash val="solid"/>
          </a:ln>
        </p:spPr>
      </p:sp>
      <p:sp>
        <p:nvSpPr>
          <p:cNvPr id="28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B1E217FF-F446-48D1-A315-C5B29685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323" y="2845018"/>
            <a:ext cx="81397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5746">
            <a:solidFill>
              <a:srgbClr val="859FB5"/>
            </a:solidFill>
            <a:prstDash val="solid"/>
          </a:ln>
        </p:spPr>
      </p:sp>
      <p:sp>
        <p:nvSpPr>
          <p:cNvPr id="28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0FAD9748-6BAB-47F4-9DE8-38F8EEDB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774" y="3036541"/>
            <a:ext cx="81397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5746">
            <a:solidFill>
              <a:srgbClr val="859FB5"/>
            </a:solidFill>
            <a:prstDash val="solid"/>
          </a:ln>
        </p:spPr>
      </p:sp>
      <p:sp>
        <p:nvSpPr>
          <p:cNvPr id="28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45E7C6BD-15D9-41EB-B9EB-C983C79A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661" y="3036541"/>
            <a:ext cx="81397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5746">
            <a:solidFill>
              <a:srgbClr val="859FB5"/>
            </a:solidFill>
            <a:prstDash val="solid"/>
          </a:ln>
        </p:spPr>
      </p:sp>
      <p:sp>
        <p:nvSpPr>
          <p:cNvPr id="28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4607DE2-451B-4514-A938-5216605F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1549" y="3036541"/>
            <a:ext cx="81397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5746">
            <a:solidFill>
              <a:srgbClr val="859FB5"/>
            </a:solidFill>
            <a:prstDash val="solid"/>
          </a:ln>
        </p:spPr>
      </p:sp>
      <p:sp>
        <p:nvSpPr>
          <p:cNvPr id="28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DAE6ED2E-B6AE-4D87-A3B7-F23F81FB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436" y="3036541"/>
            <a:ext cx="81397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5746">
            <a:solidFill>
              <a:srgbClr val="859FB5"/>
            </a:solidFill>
            <a:prstDash val="solid"/>
          </a:ln>
        </p:spPr>
      </p:sp>
      <p:sp>
        <p:nvSpPr>
          <p:cNvPr id="29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1DEABDA0-C80C-4B8D-A23F-3E162BCD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323" y="3036541"/>
            <a:ext cx="81397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5746">
            <a:solidFill>
              <a:srgbClr val="859FB5"/>
            </a:solidFill>
            <a:prstDash val="solid"/>
          </a:ln>
        </p:spPr>
      </p:sp>
      <p:sp>
        <p:nvSpPr>
          <p:cNvPr id="291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565F5EDB-837F-46FE-9E55-B7BA9BA7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774" y="3228064"/>
            <a:ext cx="81397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5746">
            <a:solidFill>
              <a:srgbClr val="859FB5"/>
            </a:solidFill>
            <a:prstDash val="solid"/>
          </a:ln>
        </p:spPr>
      </p:sp>
      <p:sp>
        <p:nvSpPr>
          <p:cNvPr id="29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89E5903-733A-4A6A-B06F-F3A26FDA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661" y="3228064"/>
            <a:ext cx="81397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5746">
            <a:solidFill>
              <a:srgbClr val="859FB5"/>
            </a:solidFill>
            <a:prstDash val="solid"/>
          </a:ln>
        </p:spPr>
      </p:sp>
      <p:sp>
        <p:nvSpPr>
          <p:cNvPr id="29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46CD1DC-E06C-4820-AC48-114E5E47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1549" y="3228064"/>
            <a:ext cx="81397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5746">
            <a:solidFill>
              <a:srgbClr val="859FB5"/>
            </a:solidFill>
            <a:prstDash val="solid"/>
          </a:ln>
        </p:spPr>
      </p:sp>
      <p:sp>
        <p:nvSpPr>
          <p:cNvPr id="29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68632F6-6DCC-416D-BA76-8DA4CDAA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436" y="3228064"/>
            <a:ext cx="81397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5746">
            <a:solidFill>
              <a:srgbClr val="859FB5"/>
            </a:solidFill>
            <a:prstDash val="solid"/>
          </a:ln>
        </p:spPr>
      </p:sp>
      <p:sp>
        <p:nvSpPr>
          <p:cNvPr id="295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7CCF165A-6E43-4C8B-9489-F7691BBF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323" y="3228064"/>
            <a:ext cx="81397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5746">
            <a:solidFill>
              <a:srgbClr val="859FB5"/>
            </a:solidFill>
            <a:prstDash val="solid"/>
          </a:ln>
        </p:spPr>
      </p:sp>
      <p:sp>
        <p:nvSpPr>
          <p:cNvPr id="29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351DF489-F875-42F6-9973-9F5A8DE6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774" y="3419588"/>
            <a:ext cx="81397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5746">
            <a:solidFill>
              <a:srgbClr val="859FB5"/>
            </a:solidFill>
            <a:prstDash val="solid"/>
          </a:ln>
        </p:spPr>
      </p:sp>
      <p:sp>
        <p:nvSpPr>
          <p:cNvPr id="297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E93807DE-1C97-4317-BEAC-A2E94FC2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661" y="3419588"/>
            <a:ext cx="81397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5746">
            <a:solidFill>
              <a:srgbClr val="859FB5"/>
            </a:solidFill>
            <a:prstDash val="solid"/>
          </a:ln>
        </p:spPr>
      </p:sp>
      <p:sp>
        <p:nvSpPr>
          <p:cNvPr id="298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69189D98-BDDA-4FF4-A916-12B92E0F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1549" y="3419588"/>
            <a:ext cx="81397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5746">
            <a:solidFill>
              <a:srgbClr val="859FB5"/>
            </a:solidFill>
            <a:prstDash val="solid"/>
          </a:ln>
        </p:spPr>
      </p:sp>
      <p:sp>
        <p:nvSpPr>
          <p:cNvPr id="299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DF84FA88-7D24-4284-9762-DE485FE4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436" y="3419588"/>
            <a:ext cx="81397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5746">
            <a:solidFill>
              <a:srgbClr val="859FB5"/>
            </a:solidFill>
            <a:prstDash val="solid"/>
          </a:ln>
        </p:spPr>
      </p:sp>
      <p:sp>
        <p:nvSpPr>
          <p:cNvPr id="30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70E3EE89-5DD6-4480-BC76-ACD80E3B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323" y="3419588"/>
            <a:ext cx="81397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5746">
            <a:solidFill>
              <a:srgbClr val="859FB5"/>
            </a:solidFill>
            <a:prstDash val="solid"/>
          </a:ln>
        </p:spPr>
      </p:sp>
      <p:sp>
        <p:nvSpPr>
          <p:cNvPr id="301" name="Figure element 710">
            <a:extLst xmlns:a="http://schemas.openxmlformats.org/drawingml/2006/main">
              <a:ext uri="{FF2B5EF4-FFF2-40B4-BE49-F238E27FC236}">
                <a16:creationId xmlns:a16="http://schemas.microsoft.com/office/drawing/2014/main" id="{5182B3CD-51B3-451E-A80B-481AD458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516" y="2605614"/>
            <a:ext cx="220252" cy="9384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7F7"/>
          </a:solidFill>
          <a:ln xmlns:a="http://schemas.openxmlformats.org/drawingml/2006/main" w="4788">
            <a:solidFill>
              <a:srgbClr val="4398A4"/>
            </a:solidFill>
            <a:prstDash val="dash"/>
          </a:ln>
        </p:spPr>
      </p:sp>
      <p:sp>
        <p:nvSpPr>
          <p:cNvPr id="302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26DE3C76-7F70-4AAB-ABC8-263CEC19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1549" y="3036541"/>
            <a:ext cx="86185" cy="81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8C"/>
          </a:solidFill>
          <a:ln xmlns:a="http://schemas.openxmlformats.org/drawingml/2006/main" w="5267">
            <a:solidFill>
              <a:srgbClr val="057380"/>
            </a:solidFill>
            <a:prstDash val="solid"/>
          </a:ln>
        </p:spPr>
      </p:sp>
      <p:sp>
        <p:nvSpPr>
          <p:cNvPr id="303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9F5C4274-D180-49E6-A3CE-ABA62CF8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1549" y="3228064"/>
            <a:ext cx="86185" cy="81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61">
            <a:solidFill>
              <a:srgbClr val="006C78"/>
            </a:solidFill>
            <a:prstDash val="solid"/>
          </a:ln>
        </p:spPr>
      </p:sp>
      <p:sp>
        <p:nvSpPr>
          <p:cNvPr id="304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48236462-4509-40F7-8809-E0785FF7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4972" y="2653495"/>
            <a:ext cx="105338" cy="110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38B"/>
          </a:solidFill>
          <a:ln xmlns:a="http://schemas.openxmlformats.org/drawingml/2006/main" w="4788">
            <a:solidFill>
              <a:srgbClr val="066E79"/>
            </a:solidFill>
            <a:prstDash val="solid"/>
          </a:ln>
        </p:spPr>
      </p:sp>
      <p:sp>
        <p:nvSpPr>
          <p:cNvPr id="305" name="Editable reference text: central codeword  w">
            <a:extLst xmlns:a="http://schemas.openxmlformats.org/drawingml/2006/main">
              <a:ext uri="{FF2B5EF4-FFF2-40B4-BE49-F238E27FC236}">
                <a16:creationId xmlns:a16="http://schemas.microsoft.com/office/drawing/2014/main" id="{66C5A399-6B4A-4F7C-914F-B7FE2819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283" y="2653495"/>
            <a:ext cx="1177867" cy="143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5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central codeword  w</a:t>
            </a:r>
          </a:p>
        </p:txBody>
      </p:sp>
      <p:sp>
        <p:nvSpPr>
          <p:cNvPr id="306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23AD907-B793-4C88-B5B1-D218B95E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4972" y="2864171"/>
            <a:ext cx="105338" cy="110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5F1"/>
          </a:solidFill>
          <a:ln xmlns:a="http://schemas.openxmlformats.org/drawingml/2006/main" w="4788">
            <a:solidFill>
              <a:srgbClr val="82A4C3"/>
            </a:solidFill>
            <a:prstDash val="solid"/>
          </a:ln>
        </p:spPr>
      </p:sp>
      <p:sp>
        <p:nvSpPr>
          <p:cNvPr id="307" name="Editable reference text: other codewords  c">
            <a:extLst xmlns:a="http://schemas.openxmlformats.org/drawingml/2006/main">
              <a:ext uri="{FF2B5EF4-FFF2-40B4-BE49-F238E27FC236}">
                <a16:creationId xmlns:a16="http://schemas.microsoft.com/office/drawing/2014/main" id="{DC3F58B0-A232-40B4-9FF3-51EE6B8C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283" y="2864171"/>
            <a:ext cx="1144350" cy="143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5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other codewords  c</a:t>
            </a:r>
          </a:p>
        </p:txBody>
      </p:sp>
      <p:sp>
        <p:nvSpPr>
          <p:cNvPr id="308" name="Figure element 717">
            <a:extLst xmlns:a="http://schemas.openxmlformats.org/drawingml/2006/main">
              <a:ext uri="{FF2B5EF4-FFF2-40B4-BE49-F238E27FC236}">
                <a16:creationId xmlns:a16="http://schemas.microsoft.com/office/drawing/2014/main" id="{DEEF6AE9-27D6-4F67-AA4D-4ABC8DB4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820" y="3079634"/>
            <a:ext cx="153218" cy="316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AFB"/>
          </a:solidFill>
          <a:ln xmlns:a="http://schemas.openxmlformats.org/drawingml/2006/main" w="4788">
            <a:solidFill>
              <a:srgbClr val="3198A8"/>
            </a:solidFill>
            <a:prstDash val="dash"/>
          </a:ln>
        </p:spPr>
      </p:sp>
      <p:sp>
        <p:nvSpPr>
          <p:cNvPr id="309" name="Editable reference text: (v − w)ᵀM(v − w) = const.&#10;(vertical-to-horizontal&#10;">
            <a:extLst xmlns:a="http://schemas.openxmlformats.org/drawingml/2006/main">
              <a:ext uri="{FF2B5EF4-FFF2-40B4-BE49-F238E27FC236}">
                <a16:creationId xmlns:a16="http://schemas.microsoft.com/office/drawing/2014/main" id="{04E9334F-C798-46B8-91C0-7F77A8DB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5224" y="3127515"/>
            <a:ext cx="1206595" cy="435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7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(v − w)ᵀM(v − w) = const.</a:t>
            </a:r>
          </a:p>
          <a:p xmlns:a="http://schemas.openxmlformats.org/drawingml/2006/main">
            <a:pPr algn="l">
              <a:defRPr sz="867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(vertical-to-horizontal</a:t>
            </a:r>
          </a:p>
          <a:p xmlns:a="http://schemas.openxmlformats.org/drawingml/2006/main">
            <a:pPr algn="l">
              <a:defRPr sz="867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radius ratio = 3)</a:t>
            </a:r>
          </a:p>
        </p:txBody>
      </p:sp>
      <p:sp>
        <p:nvSpPr>
          <p:cNvPr id="310" name="Editable reference element">
            <a:extLst xmlns:a="http://schemas.openxmlformats.org/drawingml/2006/main">
              <a:ext uri="{FF2B5EF4-FFF2-40B4-BE49-F238E27FC236}">
                <a16:creationId xmlns:a16="http://schemas.microsoft.com/office/drawing/2014/main" id="{F6E837B7-65AC-46A2-9EAD-FB3DBF7A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224" y="3706872"/>
            <a:ext cx="2633443" cy="761304"/>
          </a:xfrm>
          <a:prstGeom xmlns:a="http://schemas.openxmlformats.org/drawingml/2006/main" prst="roundRect">
            <a:avLst>
              <a:gd name="adj" fmla="val 10009"/>
            </a:avLst>
          </a:prstGeom>
          <a:solidFill xmlns:a="http://schemas.openxmlformats.org/drawingml/2006/main">
            <a:srgbClr val="F2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Editable reference text: The action-sensitive metric allocates finer&#10;codebo">
            <a:extLst xmlns:a="http://schemas.openxmlformats.org/drawingml/2006/main">
              <a:ext uri="{FF2B5EF4-FFF2-40B4-BE49-F238E27FC236}">
                <a16:creationId xmlns:a16="http://schemas.microsoft.com/office/drawing/2014/main" id="{239CE6B1-F37E-4953-88BC-74295B1E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562" y="3793058"/>
            <a:ext cx="2437131" cy="612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80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The action-sensitive metric allocates finer</a:t>
            </a:r>
          </a:p>
          <a:p xmlns:a="http://schemas.openxmlformats.org/drawingml/2006/main">
            <a:pPr algn="l">
              <a:defRPr sz="980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codebook resolution along the more sensitive</a:t>
            </a:r>
          </a:p>
          <a:p xmlns:a="http://schemas.openxmlformats.org/drawingml/2006/main">
            <a:pPr algn="l">
              <a:defRPr sz="980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direction (horizontal) and coarser resolution</a:t>
            </a:r>
          </a:p>
          <a:p xmlns:a="http://schemas.openxmlformats.org/drawingml/2006/main">
            <a:pPr algn="l">
              <a:defRPr sz="980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along the less sensitive direction (vertical).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After VQ: cache, kernels and QAT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Cache heading">
            <a:extLst xmlns:a="http://schemas.openxmlformats.org/drawingml/2006/main">
              <a:ext uri="{FF2B5EF4-FFF2-40B4-BE49-F238E27FC236}">
                <a16:creationId xmlns:a16="http://schemas.microsoft.com/office/drawing/2014/main" id="{450A193D-9839-44FA-964E-EF208C9D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69A9"/>
                </a:solidFill>
                <a:latin typeface="Arial"/>
                <a:ea typeface="Arial"/>
                <a:cs typeface="Arial"/>
              </a:rPr>
              <a:t>1   KV cache quantization</a:t>
            </a:r>
          </a:p>
        </p:txBody>
      </p:sp>
      <p:sp>
        <p:nvSpPr>
          <p:cNvPr id="5" name="Cache body">
            <a:extLst xmlns:a="http://schemas.openxmlformats.org/drawingml/2006/main">
              <a:ext uri="{FF2B5EF4-FFF2-40B4-BE49-F238E27FC236}">
                <a16:creationId xmlns:a16="http://schemas.microsoft.com/office/drawing/2014/main" id="{0F26C6FC-AE49-4B0C-A726-80A6700A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Test K/V precision after weight VQ; measure cache bytes and control fidelity.</a:t>
            </a:r>
          </a:p>
        </p:txBody>
      </p:sp>
      <p:sp>
        <p:nvSpPr>
          <p:cNvPr id="6" name="Kernel heading">
            <a:extLst xmlns:a="http://schemas.openxmlformats.org/drawingml/2006/main">
              <a:ext uri="{FF2B5EF4-FFF2-40B4-BE49-F238E27FC236}">
                <a16:creationId xmlns:a16="http://schemas.microsoft.com/office/drawing/2014/main" id="{50B6569D-12E0-4905-A300-C5480117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F79"/>
                </a:solidFill>
                <a:latin typeface="Arial"/>
                <a:ea typeface="Arial"/>
                <a:cs typeface="Arial"/>
              </a:rPr>
              <a:t>2   Rudder-inspired VQ kernels</a:t>
            </a:r>
          </a:p>
        </p:txBody>
      </p:sp>
      <p:sp>
        <p:nvSpPr>
          <p:cNvPr id="7" name="Kernel body">
            <a:extLst xmlns:a="http://schemas.openxmlformats.org/drawingml/2006/main">
              <a:ext uri="{FF2B5EF4-FFF2-40B4-BE49-F238E27FC236}">
                <a16:creationId xmlns:a16="http://schemas.microsoft.com/office/drawing/2014/main" id="{4B706CD7-6052-4F33-8DD1-8A9C6C00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Fuse codebook lookup / decode with GEMM and scaling; test native end-to-end latency.</a:t>
            </a:r>
          </a:p>
        </p:txBody>
      </p:sp>
      <p:sp>
        <p:nvSpPr>
          <p:cNvPr id="8" name="QAT heading">
            <a:extLst xmlns:a="http://schemas.openxmlformats.org/drawingml/2006/main">
              <a:ext uri="{FF2B5EF4-FFF2-40B4-BE49-F238E27FC236}">
                <a16:creationId xmlns:a16="http://schemas.microsoft.com/office/drawing/2014/main" id="{43BEC1F8-5F25-41BB-A155-98743686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26A23"/>
                </a:solidFill>
                <a:latin typeface="Arial"/>
                <a:ea typeface="Arial"/>
                <a:cs typeface="Arial"/>
              </a:rPr>
              <a:t>3   QAT, if GPU budget permits</a:t>
            </a:r>
          </a:p>
        </p:txBody>
      </p:sp>
      <p:sp>
        <p:nvSpPr>
          <p:cNvPr id="9" name="QAT body">
            <a:extLst xmlns:a="http://schemas.openxmlformats.org/drawingml/2006/main">
              <a:ext uri="{FF2B5EF4-FFF2-40B4-BE49-F238E27FC236}">
                <a16:creationId xmlns:a16="http://schemas.microsoft.com/office/drawing/2014/main" id="{CA797E0A-CB0A-4E50-9C9E-AF0A6378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Start with an ActionDiT pilot; direct WAM-control QAT remains a direction to investigate.</a:t>
            </a:r>
          </a:p>
        </p:txBody>
      </p:sp>
      <p:sp>
        <p:nvSpPr>
          <p:cNvPr id="10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A77459B9-DBFD-487A-BACA-9F63136D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Order: weight-VQ fidelity → paired closed-loop evaluation → packed kernels → resource-dependent QAT</a:t>
            </a:r>
          </a:p>
        </p:txBody>
      </p:sp>
      <p:sp>
        <p:nvSpPr>
          <p:cNvPr id="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CD19109-4212-4C3B-9E19-37F4968A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2026-10-06T15:36:23.5340000Z</dcterms:created>
  <dcterms:modified xsi:type="dcterms:W3CDTF">2026-10-06T15:36:23.5340000Z</dcterms:modified>
</coreProperties>
</file>