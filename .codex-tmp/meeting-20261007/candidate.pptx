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b3272b91234c37" /><Relationship Type="http://schemas.openxmlformats.org/officeDocument/2006/relationships/extended-properties" Target="/docProps/app.xml" Id="Rd9735b6253264a81" /><Relationship Type="http://schemas.openxmlformats.org/officeDocument/2006/relationships/officeDocument" Target="/ppt/presentation.xml" Id="Re2e4191a2c7f42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af295232d949fb"/>
  </p:sldMasterIdLst>
  <p:notesMasterIdLst>
    <p:notesMasterId xmlns:r="http://schemas.openxmlformats.org/officeDocument/2006/relationships" r:id="Rc76e3a2b5b914dae"/>
  </p:notesMasterIdLst>
  <p:sldIdLst>
    <p:sldId xmlns:r="http://schemas.openxmlformats.org/officeDocument/2006/relationships" id="256" r:id="R2633680466274b71"/>
    <p:sldId xmlns:r="http://schemas.openxmlformats.org/officeDocument/2006/relationships" id="257" r:id="R6c130970004e4f37"/>
    <p:sldId xmlns:r="http://schemas.openxmlformats.org/officeDocument/2006/relationships" id="258" r:id="R5e130b5013254ce8"/>
    <p:sldId xmlns:r="http://schemas.openxmlformats.org/officeDocument/2006/relationships" id="259" r:id="Rbb371f696d624dc6"/>
    <p:sldId xmlns:r="http://schemas.openxmlformats.org/officeDocument/2006/relationships" id="260" r:id="Rd6072b888fb5468b"/>
    <p:sldId xmlns:r="http://schemas.openxmlformats.org/officeDocument/2006/relationships" id="261" r:id="R75cf065dc963470a"/>
    <p:sldId xmlns:r="http://schemas.openxmlformats.org/officeDocument/2006/relationships" id="262" r:id="Raf01187fb76845d6"/>
    <p:sldId xmlns:r="http://schemas.openxmlformats.org/officeDocument/2006/relationships" id="263" r:id="R9b2b11c9866e4e46"/>
    <p:sldId xmlns:r="http://schemas.openxmlformats.org/officeDocument/2006/relationships" id="264" r:id="Rbe1010b889d04e3a"/>
    <p:sldId xmlns:r="http://schemas.openxmlformats.org/officeDocument/2006/relationships" id="265" r:id="Rcc99171c0b554222"/>
    <p:sldId xmlns:r="http://schemas.openxmlformats.org/officeDocument/2006/relationships" id="266" r:id="Re6e0f426a18d4f9a"/>
    <p:sldId xmlns:r="http://schemas.openxmlformats.org/officeDocument/2006/relationships" id="267" r:id="R3fa3f0da7b704f2b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2dbe862a124d71" /><Relationship Type="http://schemas.openxmlformats.org/officeDocument/2006/relationships/slideMaster" Target="/ppt/slideMasters/slideMaster1.xml" Id="Ra7af295232d949fb" /><Relationship Type="http://schemas.openxmlformats.org/officeDocument/2006/relationships/notesMaster" Target="/ppt/notesMasters/notesMaster1.xml" Id="Rc76e3a2b5b914dae" /><Relationship Type="http://schemas.openxmlformats.org/officeDocument/2006/relationships/presProps" Target="/ppt/presProps.xml" Id="Rbdf6007a393649fa" /><Relationship Type="http://schemas.openxmlformats.org/officeDocument/2006/relationships/viewProps" Target="/ppt/viewProps.xml" Id="R0cde4779efdc41f0" /><Relationship Type="http://schemas.openxmlformats.org/officeDocument/2006/relationships/tableStyles" Target="/ppt/tableStyles.xml" Id="R861297460535445a" /><Relationship Type="http://schemas.openxmlformats.org/officeDocument/2006/relationships/slide" Target="/ppt/slides/slide1.xml" Id="R2633680466274b71" /><Relationship Type="http://schemas.openxmlformats.org/officeDocument/2006/relationships/slide" Target="/ppt/slides/slide2.xml" Id="R6c130970004e4f37" /><Relationship Type="http://schemas.openxmlformats.org/officeDocument/2006/relationships/slide" Target="/ppt/slides/slide3.xml" Id="R5e130b5013254ce8" /><Relationship Type="http://schemas.openxmlformats.org/officeDocument/2006/relationships/slide" Target="/ppt/slides/slide4.xml" Id="Rbb371f696d624dc6" /><Relationship Type="http://schemas.openxmlformats.org/officeDocument/2006/relationships/slide" Target="/ppt/slides/slide5.xml" Id="Rd6072b888fb5468b" /><Relationship Type="http://schemas.openxmlformats.org/officeDocument/2006/relationships/slide" Target="/ppt/slides/slide6.xml" Id="R75cf065dc963470a" /><Relationship Type="http://schemas.openxmlformats.org/officeDocument/2006/relationships/slide" Target="/ppt/slides/slide7.xml" Id="Raf01187fb76845d6" /><Relationship Type="http://schemas.openxmlformats.org/officeDocument/2006/relationships/slide" Target="/ppt/slides/slide8.xml" Id="R9b2b11c9866e4e46" /><Relationship Type="http://schemas.openxmlformats.org/officeDocument/2006/relationships/slide" Target="/ppt/slides/slide9.xml" Id="Rbe1010b889d04e3a" /><Relationship Type="http://schemas.openxmlformats.org/officeDocument/2006/relationships/slide" Target="/ppt/slides/slide10.xml" Id="Rcc99171c0b554222" /><Relationship Type="http://schemas.openxmlformats.org/officeDocument/2006/relationships/slide" Target="/ppt/slides/slide11.xml" Id="Re6e0f426a18d4f9a" /><Relationship Type="http://schemas.openxmlformats.org/officeDocument/2006/relationships/slide" Target="/ppt/slides/slide12.xml" Id="R3fa3f0da7b704f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11c3b5381f49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7f752b4b9c461e" /><Relationship Type="http://schemas.openxmlformats.org/officeDocument/2006/relationships/notesMaster" Target="/ppt/notesMasters/notesMaster1.xml" Id="R18a7fefeafd940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a49cef9753457f" /><Relationship Type="http://schemas.openxmlformats.org/officeDocument/2006/relationships/notesMaster" Target="/ppt/notesMasters/notesMaster1.xml" Id="R808179eed83745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6bcf2f33984168" /><Relationship Type="http://schemas.openxmlformats.org/officeDocument/2006/relationships/notesMaster" Target="/ppt/notesMasters/notesMaster1.xml" Id="Rb88168f0593649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4d6c383a3345d3" /><Relationship Type="http://schemas.openxmlformats.org/officeDocument/2006/relationships/notesMaster" Target="/ppt/notesMasters/notesMaster1.xml" Id="R085d6dc233a44f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0516c1d86b4a60" /><Relationship Type="http://schemas.openxmlformats.org/officeDocument/2006/relationships/notesMaster" Target="/ppt/notesMasters/notesMaster1.xml" Id="R0d01779e4a274b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7b7bce34e54309" /><Relationship Type="http://schemas.openxmlformats.org/officeDocument/2006/relationships/notesMaster" Target="/ppt/notesMasters/notesMaster1.xml" Id="Rfab874212c2145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f79d636ef8476f" /><Relationship Type="http://schemas.openxmlformats.org/officeDocument/2006/relationships/notesMaster" Target="/ppt/notesMasters/notesMaster1.xml" Id="Ra6131506e93e40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f01551ce5142af" /><Relationship Type="http://schemas.openxmlformats.org/officeDocument/2006/relationships/notesMaster" Target="/ppt/notesMasters/notesMaster1.xml" Id="Rf745f2d8724c44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b2dd2762f141c6" /><Relationship Type="http://schemas.openxmlformats.org/officeDocument/2006/relationships/notesMaster" Target="/ppt/notesMasters/notesMaster1.xml" Id="R863d2a70f64246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602211444a4d0e" /><Relationship Type="http://schemas.openxmlformats.org/officeDocument/2006/relationships/notesMaster" Target="/ppt/notesMasters/notesMaster1.xml" Id="R6eb9906803744f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7355a649584cfb" /><Relationship Type="http://schemas.openxmlformats.org/officeDocument/2006/relationships/notesMaster" Target="/ppt/notesMasters/notesMaster1.xml" Id="Rae8feaf2fb10435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f902d5ba924a63" /><Relationship Type="http://schemas.openxmlformats.org/officeDocument/2006/relationships/notesMaster" Target="/ppt/notesMasters/notesMaster1.xml" Id="R6c6e8212d91143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这次汇报分三部分：先确认 Fast-WAM Optional-IDM 的起点和两篇论文的 LIBERO 结果；再看我们自己的 LIBERO-Plus 子集与 A4 诊断；最后说明 action-sensitive weight VQ 的下一步方案。所有论文截图与本地数据分别标注来源。后面的 VQ 架构和 codebook 几何示例是 proposal，不是已完成结果。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 Fast-WAM 的独立 ActionDiT 做可控、范围小的 weight VQ pilot。当前 Optional-IDM 实现分两段：先 denoise video，然后将完整 denoised video 固定为条件，prefill video K/V，再 denoise action。图按当前实现绘制，不把论文的 first-frame-only 快速路径混入本地 Optional-IDM。第一轮 VQ 只改 ActionDiT，video branch 保留 BF16，并不等同于前面的现有四臂联合 Linear 量化配置。</a:t>
            </a:r>
          </a:p>
          <a:p xmlns:a="http://schemas.openxmlformats.org/drawingml/2006/main">
            <a:r>
              <a:t>之后推广到 LingBot-VA 和 Cosmos-Policy；共享 backbone 模型应称 action-targeted，不能假设仍是完全独立的 action-only 模块。</a:t>
            </a:r>
          </a:p>
          <a:p xmlns:a="http://schemas.openxmlformats.org/drawingml/2006/main">
            <a:r>
              <a:t>来源：Fast-WAM arXiv:2603.16666v2；本地 FastWAM/src/fastwam/models/wan22/fastwam_idm.py，Stage 1/2 inference implementation。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 QuantWAMs Table 1 原始截图，Fast-WAM 所在 panel。LIBERO 平均 success：FP16 97.6±0.2%，SVDQuant W4A4 73.7±0.7%，SVDQuant* 75.3±0.6%，Atom 76.2±0.7%，Atom* 82.1±0.5%，QuantWAMs 97.4±0.2%。星号行按论文用于匹配 mixed-precision budget，不能当成与另一篇完全相同的运行 recipe。论文报告 LIBERO 每个 protocol seed 2,000 episodes，3 seeds 合计 6,000；截图中的 ± 是论文报告值。Speedup 与 memory 是该论文的实验口径，不是本地结果。</a:t>
            </a:r>
          </a:p>
          <a:p xmlns:a="http://schemas.openxmlformats.org/drawingml/2006/main">
            <a:r>
              <a:t>来源：QuantWAMs: Calibrating at the Right Granularity for World Action Models, arXiv:2607.28405v1, Table 1, PDF physical p.7。https://arxiv.org/abs/2607.28405v1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 SteerQuant Table 1 的 FastWAMJoint 部分，保留原 PDF pixels。为了可读性，zoom 从同一页拼接左侧 Precision/Method 与右侧 FastWAMJoint panel，聚焦 header 与 W4A4 rows，没有改写数字。红圈标出 SVDQuant W4A4 的 Avg 98.2%。上一页 QuantWAMs 同名 baseline 是 73.7±0.7%，mean 相差 24.5 个百分点；Atom 也存在较大差异。现阶段把它作为 cross-paper protocol alignment 问题，不能仅凭两个表宣称论文或数据有误。需要先对齐模型变体 / checkpoint、量化范围、calibration、mixed precision 和 evaluation seeds。SteerQuant caption 报告 2,000 LIBERO rollouts。</a:t>
            </a:r>
          </a:p>
          <a:p xmlns:a="http://schemas.openxmlformats.org/drawingml/2006/main">
            <a:r>
              <a:t>来源：SteerQuant: Steering Quantization Error with Action-Guided Scaling in World-Action Models, arXiv:2609.39056v1, Table 1, PDF physical p.7。https://arxiv.org/abs/2609.39056v1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这是用户本地 frozen-checkpoint Fast-WAM Optional-IDM LIBERO-Plus 四臂闭环测量，不是 paper-reported 数值。预注册计划是 4 suites × 7 dimensions，每格 n=50，共 1,400 variants、5,600 arm episodes。最新 all-completed 聚合覆盖 78 个保留 shards、300 个 paired Spatial variants 和 1,200 个 arm episodes。总表分母每臂都是 300：BF16 243/300 (81%)，W4A8 252/300 (84%)，W4A4 与 W4A4KV4 各 0/300；两个 W4A4 臂的已完成 episode 都以 400-step control_step_timeout 结束。W4A8 对 BF16 的配对差为 +3.0 个百分点（19 个仅 W4A8 成功、10 个仅 BF16 成功）。逐维表只放有数据的 6 个 libero_spatial dimension，每格 n=50；其他 22 个 cell 在当前聚合中缺失，不要补成 0。12 个已取消 children（indices 78–89）从聚合排除。结论仅限该 observed subset，不说完整 Plus 或“所有 A4”均失败。W4A4KV4是 W4+A4+KV4 组合，没有 BF16KV4 arm，不能独立归因 KV4。</a:t>
            </a:r>
          </a:p>
          <a:p xmlns:a="http://schemas.openxmlformats.org/drawingml/2006/main">
            <a:r>
              <a:t>现有四臂使用相同 W4 G128 weight bank 与 dynamic per-row RTN A8/A4，量化614个Linear（video/action/proprio），不是前页拟议的 ActionDiT-only VQ。Text/VAE、norm、非Linear和attention运算保持BF16。没有完整benchmark结论，也没有正式部署latency。</a:t>
            </a:r>
          </a:p>
          <a:p xmlns:a="http://schemas.openxmlformats.org/drawingml/2006/main">
            <a:r>
              <a:t>本地来源：D:/Downloads/Final Year Project/experiment/idea-validation/fastwam-libero-plus-pilot/artifacts/25699421.pbs101/results/analysis.json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这页放两种不同分母、不同目的的 fixed-observation 证据，务必分成两个视觉区域。左侧是 all-completed 聚合中的 n=300 个 paired reset-observation 动作对比：动作块前 10 个 motor action 的 median normalized RMSE，W4A8 vs BF16 为 0.02283，W4A4 vs BF16 为 0.32219，W4A4KV4 vs BF16 为 0.32173，KV4 臂 vs W4A4 为 0.03870。该误差在闭环 rollout 之前已出现。右侧仅为 diagnose_a4 的一个 observation、四次 arm/reference 查询、0 个环境步，不计 episode：native W4A4 vs BF16 的前10 motor RMSE 为 0.2853；native 与独立 FP32 解量化参考在整个 32×7 action chunk 上 RMSE 为 0.04068；INT4 计数器增加 6,436。前10位置离散 gripper command 与 BF16 相同（0/10 flips），但连续 gripper RMSE 仍是 0.1322。诊断数组的 action位置 0–9 与10–31 motor RMSE是0.2853与0.2737；这里的 index 是 32-step action chunk 的位置，不是 10 个 diffusion denoising iterations；逐扩散步误差没有保存。W4A8与W4A4共用W4权重，分别切换A8/A4；没有W4-only或W16A4臂，所以不能把下降归结为activation或weight的单独效应。Kernel gate、native counter和FP32 reference只支持本诊断中存在真实执行且未见明显kernel实现异常，不能证明泛化精度。该 diagnose_a4 脚本标记 measure=False、timing_claim=none；其查询wall seconds不是native latency或deployment slowdown。</a:t>
            </a:r>
          </a:p>
          <a:p xmlns:a="http://schemas.openxmlformats.org/drawingml/2006/main">
            <a:r>
              <a:t>本地来源：D:/Downloads/Final Year Project/experiment/idea-validation/fastwam-libero-plus-pilot/artifacts/25699421.pbs101/results/analysis.json</a:t>
            </a:r>
          </a:p>
          <a:p xmlns:a="http://schemas.openxmlformats.org/drawingml/2006/main">
            <a:r>
              <a:t>本地来源：D:/Downloads/Final Year Project/experiment/idea-validation/fastwam-libero-plus-pilot/artifacts/25698767.pbs101/diagnostic/diagnose_a4.json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主要 figure 是 QuantWAMs Figure 2 原图。可按左中右说明：shared-basis calibration 只在 coordinate-compatible modules 合并activation statistics，不能随意把Q/K/V跨private streams合并；co-training-guided saliency 用joint video-action objective排序层，配置mixed precision；real-rollout counterfactual audit 用固定干预对denoising-step protection做closed-loop验证。启发是：量化误差的重要性要按系统结构与控制结果判断，不能只用activation amplitude。</a:t>
            </a:r>
          </a:p>
          <a:p xmlns:a="http://schemas.openxmlformats.org/drawingml/2006/main">
            <a:r>
              <a:t>来源：QuantWAMs, arXiv:2607.28405v1, Figure 2。https://arxiv.org/abs/2607.28405v1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Q-WAM Figure 2 原图。AOG（Action Observability Gramian）估计layer输入误差经过后续denoising传播到最终action的敏感方向；ASP把最敏感子空间留在16-bit branch，剩余部分4-bit。图中的95% action mass/17% action-expert parameters是论文对应设置下的统计，不是所有WAM通用常数。其benchmark主要是RoboTwin与real-world，不把这篇列成Fast-WAM LIBERO表的来源。</a:t>
            </a:r>
          </a:p>
          <a:p xmlns:a="http://schemas.openxmlformats.org/drawingml/2006/main">
            <a:r>
              <a:t>对于我们的VQ方案，action sensitivity已有先例，不能把“关注action敏感方向”单独视作novelty。下一步要验证敏感度是否能指导weight codebook，而不是机械复制一个高精度残差branch。</a:t>
            </a:r>
          </a:p>
          <a:p xmlns:a="http://schemas.openxmlformats.org/drawingml/2006/main">
            <a:r>
              <a:t>来源：Q-WAM: 4-Bit Quantization of World Action Models with Action-Subspace Protection, arXiv:2609.33269v1, Figure 2。https://arxiv.org/abs/2609.33269v1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SteerQuant Figure 2 原图。先估计layer × denoising timestep × stream的action-impact map，再用shared-weight scaling与stream-specific activation modulation把量化误差转移到较低action-impact的stream。Online inference 的 Rudder 把 scaling、量化/反量化或output compensation与low-bit GEMM融合。它不是已实现的VQ lookup kernel，后续我们若做VQ需要设计codebook/index表示和lookup/decode/GEMM的路径。</a:t>
            </a:r>
          </a:p>
          <a:p xmlns:a="http://schemas.openxmlformats.org/drawingml/2006/main">
            <a:r>
              <a:t>来源：SteerQuant: Steering Quantization Error with Action-Guided Scaling in World-Action Models, arXiv:2609.39056v1, Figure 2。https://arxiv.org/abs/2609.39056v1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这是待验证方案，不是实测结论。第一阶段先做weight VQ，activation维持BF16，使codebook效果可单独评估；之后再试A8/A4。SmoothQuant式D缩放与Hadamard H作用于同一个输入feature维度：若Y=XWᵀ，设X̃=XD⁻¹H、W̃=WDH，并满足D可逆、HHᵀ=I，则量化前X̃W̃ᵀ=XWᵀ。这个配对变换把缩放的负担转到weight branch，再用VQ处理变换后的weight groups。Hadamard只保证正交与norm保持，不能直接保证每个operator的outlier下降；需测activation tails、weight tails和operator placement。</a:t>
            </a:r>
          </a:p>
          <a:p xmlns:a="http://schemas.openxmlformats.org/drawingml/2006/main">
            <a:r>
              <a:t>Action sensitivity M从calibration估计，用于偏向保护敏感方向的codebook与assignment。必须和uniform/L2 codebook在相同bit/byte预算下比较，并记录closed-loop success，避免仅看weight reconstruction MSE。图中decode是概念路径，第一轮可先做fidelity验证；performance需要packed表示与native kernel。</a:t>
            </a:r>
          </a:p>
          <a:p xmlns:a="http://schemas.openxmlformats.org/drawingml/2006/main">
            <a:r>
              <a:t>来源：SmoothQuant https://proceedings.mlr.press/v202/xiao23c.html ; QuaRot https://papers.nips.cc/paper_files/paper/2024/hash/b5b939436789f76f08b9d0da5e81af7c-Abstract-Conference.html ; VPTQ https://aclanthology.org/2024.emnlp-main.467/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这是人工构造的二维示意图，不是实验点或论文结果。权重block w=(0,0)，两个候选codewords：c₁=(0.3,0)、c₂=(0,0.6)。普通Euclidean distortion分别为0.09与0.36，会选择c₁。设action sensitivity metric M=diag(9,1)，action-weighted distortion分别为0.81与0.36，选择c₂。尽管c₂的Euclidean距离更远，它沿更不敏感方向引入误差。椭圆表示固定action-weighted error水平集；敏感方向容许更小偏差。</a:t>
            </a:r>
          </a:p>
          <a:p xmlns:a="http://schemas.openxmlformats.org/drawingml/2006/main">
            <a:r>
              <a:t>实际codebook需优化Σⱼ(w̃ⱼ−c_zj)ᵀMⱼ(w̃ⱼ−c_zj)。可用M≈E[JᵀJ]（J从变换后weight group到最终action的Jacobian，包含denoising），或低秩/梯度PSD proxy。逐组求和忽略cross-group terms，是local approximation。所有metric与codebook必须在同一transformed coordinates中定义。</a:t>
            </a:r>
          </a:p>
          <a:p xmlns:a="http://schemas.openxmlformats.org/drawingml/2006/main">
            <a:r>
              <a:t>第一轮消融：L2 VQ → +D/H → +action metric，固定storage预算与paired protocol。只有weight误差小不保证控制更好；需看action fidelity和paired closed-loop outcomes。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先完成weight VQ的fidelity与closed-loop gate，再扩展：</a:t>
            </a:r>
          </a:p>
          <a:p xmlns:a="http://schemas.openxmlformats.org/drawingml/2006/main">
            <a:r>
              <a:t>1. KV cache quantization：把K/V视为persistent activation，量化对象与weight不同。先分开测试，避免沿用A4已经崩溃时的组合臂来归因KV4。验证cache error、packed bytes与控制结果。</a:t>
            </a:r>
          </a:p>
          <a:p xmlns:a="http://schemas.openxmlformats.org/drawingml/2006/main">
            <a:r>
              <a:t>2. Rudder-inspired VQ kernel：学习其融合思路，但重新设计codebook/index packed representation、lookup/decode、GEMM、scaling compensation以及模型集成。fake quant或离线压缩不等于native speedup；正式结论需paired native end-to-end latency与relevant fidelity。</a:t>
            </a:r>
          </a:p>
          <a:p xmlns:a="http://schemas.openxmlformats.org/drawingml/2006/main">
            <a:r>
              <a:t>3. QAT：resource-dependent extension。已核对的QuantWAMs、Q-WAM、SteerQuant都是PTQ。当前不宣称“全球没有人做WAM QAT”或已经证明novelty。若有GPU且PTQ诊断支持，先在Fast-WAM独立ActionDiT做小范围quantization-aware codebook/weight tuning，再推广到共享模型。需要训练预算和可复现的held-out control evaluation。</a:t>
            </a:r>
          </a:p>
          <a:p xmlns:a="http://schemas.openxmlformats.org/drawingml/2006/main">
            <a:r>
              <a:t>顺序：先数学变换和error mechanism → bounded fidelity pilot → paired closed-loop → packed/native performance。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a0de414cab4b4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d4e3cadd83493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0056873515444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a18c17be8840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16f5de32f54c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e0ba1bc804446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8cb215259d426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e39a4f251d4f7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0c231b4b54414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67E4D5-1401-482F-824F-C33E6DAD42E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597819"/>
            <a:ext cx="7772400" cy="1102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C9DA456-77A2-4F05-8F53-B1015A42FF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14650"/>
            <a:ext cx="6400800" cy="131445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65B20-DB7A-4E51-BDDD-F1E3661198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F0FC19-7CD1-4C5E-9D12-7101DE1BF6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90510C-4C19-4FE0-8DA9-7229F499F1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BF198EF-FD8E-41F1-8392-0092717B84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043A2F-A458-4BF9-9A6B-ECA5398A5F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86712C-7A8C-4850-ABB7-72B0976171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8FA4E-C023-4087-9D88-B5D2B11A9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305176"/>
            <a:ext cx="8229600" cy="1021556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9CBBE51-BF9B-479E-837F-C1249B4001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180035"/>
            <a:ext cx="8229600" cy="1125140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6BFA5-E349-4AA9-A828-67F3F8EE71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761213-466E-4A18-9A2D-FA531E3AF8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A682A3-93C9-4E65-AD95-C099AA896B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E94EA7-F60A-43F7-883F-D4D838C2F8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200151"/>
            <a:ext cx="4038600" cy="3394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BC68976-4F83-40FF-B880-217C31AF55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200151"/>
            <a:ext cx="4038600" cy="3394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11FA47A-3F46-4786-AB1F-69D4DC3B16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B9A0069-3F99-43D6-A8C8-D5412265F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1FC5CB-D2D4-43E7-8C65-7178534203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C60BA59-5BCC-428F-85D9-EAC3988BAB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91245"/>
            <a:ext cx="4040188" cy="4798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B3967BE-A7E4-47CC-A22E-05E18BE43CE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1871068"/>
            <a:ext cx="4040188" cy="272130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0BE56DE-BEB5-40F3-A275-6B0B062CB9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6" y="1391245"/>
            <a:ext cx="4041775" cy="4798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CE93E0D-26AC-4B95-AB48-AB5E4CB6D44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6" y="1871068"/>
            <a:ext cx="4041775" cy="272130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03CDD95-9DE6-4D95-A298-A3A2D7B8B3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A89A6D4-1FA9-42F1-A8EA-A0F3881D0D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4BF2ED-1876-4366-8432-BE90789CF4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0A0D750-AF6A-405F-A48C-702E658994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7567AD3-2BE6-4B01-9DF0-11AFE1511D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ECF8CDE-FB10-4D61-AC43-F0D39D27CA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D3D842A-DC9C-4997-969A-2B90CFD1A6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30A6BB-F0EC-4011-AEB3-B100E6E565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1" y="591463"/>
            <a:ext cx="3008313" cy="8715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7B2BBF9-06F3-4FE5-ACBD-3D051029214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591464"/>
            <a:ext cx="5111750" cy="404865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FBEAFEE-0F58-4084-961F-355B90BA39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1" y="1593860"/>
            <a:ext cx="3008313" cy="3046254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0EFEEC3-5CA8-46D5-8CCB-0BB120EF82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D6525AA-7A6F-4DA1-BC06-C7838B4FF8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8FF091-C265-404D-826D-A64539B60C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3600450"/>
            <a:ext cx="5486400" cy="425054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1A89DF-DC8E-4EA7-9690-78284340DE7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459581"/>
            <a:ext cx="5486400" cy="30861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3695CD0-D070-4047-AB37-E4A116E8439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4025503"/>
            <a:ext cx="5486400" cy="60364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7DC239-BE29-4FC5-8613-9827BC3231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F5C7963-707A-4635-8E8A-F13F66E56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ad8e801702c94b95" /><Relationship Type="http://schemas.openxmlformats.org/officeDocument/2006/relationships/image" Target="/ppt/media/image2.png" Id="R6cb93f3326214ce2" /><Relationship Type="http://schemas.openxmlformats.org/officeDocument/2006/relationships/theme" Target="/ppt/slideMasters/theme/theme2.xml" Id="Rf6468c0f28554c2c" /><Relationship Type="http://schemas.openxmlformats.org/officeDocument/2006/relationships/slideLayout" Target="/ppt/slideLayouts/slideLayout1.xml" Id="Rda307506019044cf" /><Relationship Type="http://schemas.openxmlformats.org/officeDocument/2006/relationships/slideLayout" Target="/ppt/slideLayouts/slideLayout2.xml" Id="R3f27e8c15ea34bf1" /><Relationship Type="http://schemas.openxmlformats.org/officeDocument/2006/relationships/slideLayout" Target="/ppt/slideLayouts/slideLayout3.xml" Id="R45fb2c0237f34ad4" /><Relationship Type="http://schemas.openxmlformats.org/officeDocument/2006/relationships/slideLayout" Target="/ppt/slideLayouts/slideLayout4.xml" Id="R735bd5bf308f4816" /><Relationship Type="http://schemas.openxmlformats.org/officeDocument/2006/relationships/slideLayout" Target="/ppt/slideLayouts/slideLayout5.xml" Id="R993bb31fdc334d8c" /><Relationship Type="http://schemas.openxmlformats.org/officeDocument/2006/relationships/slideLayout" Target="/ppt/slideLayouts/slideLayout6.xml" Id="R5ae2a374bf644a25" /><Relationship Type="http://schemas.openxmlformats.org/officeDocument/2006/relationships/slideLayout" Target="/ppt/slideLayouts/slideLayout7.xml" Id="Rb1748bced12247e4" /><Relationship Type="http://schemas.openxmlformats.org/officeDocument/2006/relationships/slideLayout" Target="/ppt/slideLayouts/slideLayout8.xml" Id="R886ffa141ce34416" /><Relationship Type="http://schemas.openxmlformats.org/officeDocument/2006/relationships/slideLayout" Target="/ppt/slideLayouts/slideLayout9.xml" Id="R42efec79ff4c4c8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E56AA3D-92F6-4927-BD04-0D4F734192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22724"/>
            <a:ext cx="82296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49BCCB1-1071-4616-A735-701F5247F4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416896"/>
            <a:ext cx="8229600" cy="29070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pic>
        <p:nvPicPr>
          <p:cNvPr id="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e801702c94b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872762"/>
            <a:ext cx="9144000" cy="285750"/>
          </a:xfrm>
          <a:prstGeom xmlns:a="http://schemas.openxmlformats.org/drawingml/2006/main" prst="rect">
            <a:avLst/>
          </a:prstGeom>
        </p:spPr>
      </p:pic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cb93f3326214ce2"/>
          <a:srcRect xmlns:a="http://schemas.openxmlformats.org/drawingml/2006/main" l="18865" t="17198" r="0" b="0"/>
          <a:stretch xmlns:a="http://schemas.openxmlformats.org/drawingml/2006/main"/>
        </p:blipFill>
        <p:spPr>
          <a:xfrm xmlns:a="http://schemas.openxmlformats.org/drawingml/2006/main">
            <a:off x="6631259" y="4936272"/>
            <a:ext cx="1801682" cy="158013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307506019044cf"/>
    <p:sldLayoutId xmlns:r="http://schemas.openxmlformats.org/officeDocument/2006/relationships" id="2147483650" r:id="R3f27e8c15ea34bf1"/>
    <p:sldLayoutId xmlns:r="http://schemas.openxmlformats.org/officeDocument/2006/relationships" id="2147483651" r:id="R45fb2c0237f34ad4"/>
    <p:sldLayoutId xmlns:r="http://schemas.openxmlformats.org/officeDocument/2006/relationships" id="2147483652" r:id="R735bd5bf308f4816"/>
    <p:sldLayoutId xmlns:r="http://schemas.openxmlformats.org/officeDocument/2006/relationships" id="2147483653" r:id="R993bb31fdc334d8c"/>
    <p:sldLayoutId xmlns:r="http://schemas.openxmlformats.org/officeDocument/2006/relationships" id="2147483654" r:id="R5ae2a374bf644a25"/>
    <p:sldLayoutId xmlns:r="http://schemas.openxmlformats.org/officeDocument/2006/relationships" id="2147483655" r:id="Rb1748bced12247e4"/>
    <p:sldLayoutId xmlns:r="http://schemas.openxmlformats.org/officeDocument/2006/relationships" id="2147483656" r:id="R886ffa141ce34416"/>
    <p:sldLayoutId xmlns:r="http://schemas.openxmlformats.org/officeDocument/2006/relationships" id="2147483657" r:id="R42efec79ff4c4c87"/>
  </p:sldLayoutIdLst>
  <p:hf sldNum="0" hdr="0" dt="0"/>
  <p:txStyles>
    <p:titleStyle>
      <a:lvl1pPr xmlns:a="http://schemas.openxmlformats.org/drawingml/2006/main" algn="l" defTabSz="457200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dfa6358704690" /><Relationship Type="http://schemas.openxmlformats.org/officeDocument/2006/relationships/image" Target="/ppt/media/image.jpeg" Id="Raefabeddcaf34dad" /><Relationship Type="http://schemas.openxmlformats.org/officeDocument/2006/relationships/notesSlide" Target="/ppt/notesSlides/notesSlide1.xml" Id="R4f9c9116e51f4b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b7dfac98334437" /><Relationship Type="http://schemas.openxmlformats.org/officeDocument/2006/relationships/notesSlide" Target="/ppt/notesSlides/notesSlide2.xml" Id="R12fe62a0ffa144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44468409914f2c" /><Relationship Type="http://schemas.openxmlformats.org/officeDocument/2006/relationships/image" Target="/ppt/media/image3.png" Id="Re95e22370b764573" /><Relationship Type="http://schemas.openxmlformats.org/officeDocument/2006/relationships/notesSlide" Target="/ppt/notesSlides/notesSlide3.xml" Id="R034954915e0443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0b269944b94388" /><Relationship Type="http://schemas.openxmlformats.org/officeDocument/2006/relationships/image" Target="/ppt/media/image4.png" Id="R0f0c3e33ce84443b" /><Relationship Type="http://schemas.openxmlformats.org/officeDocument/2006/relationships/notesSlide" Target="/ppt/notesSlides/notesSlide4.xml" Id="Rfa23a465cbe847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58033cb4f04ca4" /><Relationship Type="http://schemas.openxmlformats.org/officeDocument/2006/relationships/notesSlide" Target="/ppt/notesSlides/notesSlide5.xml" Id="R5998e47c3e2347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351aea3f5c4887" /><Relationship Type="http://schemas.openxmlformats.org/officeDocument/2006/relationships/notesSlide" Target="/ppt/notesSlides/notesSlide6.xml" Id="Rb5732ceef6e04d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ef7ad446944d7e" /><Relationship Type="http://schemas.openxmlformats.org/officeDocument/2006/relationships/image" Target="/ppt/media/image5.png" Id="R678edd0c7a2e4922" /><Relationship Type="http://schemas.openxmlformats.org/officeDocument/2006/relationships/notesSlide" Target="/ppt/notesSlides/notesSlide7.xml" Id="R960443e92e4742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7f25a412cb46a1" /><Relationship Type="http://schemas.openxmlformats.org/officeDocument/2006/relationships/image" Target="/ppt/media/image6.png" Id="R2e002e2afeed4e07" /><Relationship Type="http://schemas.openxmlformats.org/officeDocument/2006/relationships/notesSlide" Target="/ppt/notesSlides/notesSlide8.xml" Id="Ra7ed0e9728e74b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c5173403194956" /><Relationship Type="http://schemas.openxmlformats.org/officeDocument/2006/relationships/image" Target="/ppt/media/image7.png" Id="Re012da73ecda4d17" /><Relationship Type="http://schemas.openxmlformats.org/officeDocument/2006/relationships/notesSlide" Target="/ppt/notesSlides/notesSlide9.xml" Id="Rbedf889936f94c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7d5819c2da4a35" /><Relationship Type="http://schemas.openxmlformats.org/officeDocument/2006/relationships/notesSlide" Target="/ppt/notesSlides/notesSlide10.xml" Id="R8463c27916334f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06ab124ef5435a" /><Relationship Type="http://schemas.openxmlformats.org/officeDocument/2006/relationships/notesSlide" Target="/ppt/notesSlides/notesSlide11.xml" Id="R0ce71ee4785e4e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3bb28546884da4" /><Relationship Type="http://schemas.openxmlformats.org/officeDocument/2006/relationships/notesSlide" Target="/ppt/notesSlides/notesSlide12.xml" Id="R2d6b9299d604456f" /></Relationships>
</file>

<file path=ppt/slides/slide1.xml><?xml version="1.0" encoding="utf-8"?>
<p:sld xmlns:p="http://schemas.openxmlformats.org/presentationml/2006/main" showMasterSp="0">
  <p:cSld>
    <p:bg>
      <p:bgPr>
        <a:blipFill xmlns:a="http://schemas.openxmlformats.org/drawingml/2006/main" rotWithShape="1">
          <a:blip xmlns:r="http://schemas.openxmlformats.org/officeDocument/2006/relationships" r:embed="Raefabeddcaf34dad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 title">
            <a:extLst xmlns:a="http://schemas.openxmlformats.org/drawingml/2006/main">
              <a:ext uri="{FF2B5EF4-FFF2-40B4-BE49-F238E27FC236}">
                <a16:creationId xmlns:a16="http://schemas.microsoft.com/office/drawing/2014/main" id="{62492C6F-1E8B-498B-9A0F-F2A3C213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726" y="1866900"/>
            <a:ext cx="59531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WAM Quantization</a:t>
            </a:r>
          </a:p>
        </p:txBody>
      </p:sp>
      <p:sp>
        <p:nvSpPr>
          <p:cNvPr id="2" name="Cover subtitle">
            <a:extLst xmlns:a="http://schemas.openxmlformats.org/drawingml/2006/main">
              <a:ext uri="{FF2B5EF4-FFF2-40B4-BE49-F238E27FC236}">
                <a16:creationId xmlns:a16="http://schemas.microsoft.com/office/drawing/2014/main" id="{F97138CD-21DD-47ED-B3D1-9142E1A1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726" y="2476500"/>
            <a:ext cx="595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Progress &amp; Next Steps</a:t>
            </a:r>
          </a:p>
        </p:txBody>
      </p:sp>
      <p:sp>
        <p:nvSpPr>
          <p:cNvPr id="3" name="Meeting subtitle">
            <a:extLst xmlns:a="http://schemas.openxmlformats.org/drawingml/2006/main">
              <a:ext uri="{FF2B5EF4-FFF2-40B4-BE49-F238E27FC236}">
                <a16:creationId xmlns:a16="http://schemas.microsoft.com/office/drawing/2014/main" id="{121D6840-673D-4811-AB91-8645818B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726" y="3228975"/>
            <a:ext cx="5953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Fast-WAM baseline → action-sensitive weight VQ</a:t>
            </a:r>
          </a:p>
        </p:txBody>
      </p:sp>
      <p:sp>
        <p:nvSpPr>
          <p:cNvPr id="4" name="Meeting details">
            <a:extLst xmlns:a="http://schemas.openxmlformats.org/drawingml/2006/main">
              <a:ext uri="{FF2B5EF4-FFF2-40B4-BE49-F238E27FC236}">
                <a16:creationId xmlns:a16="http://schemas.microsoft.com/office/drawing/2014/main" id="{3842C009-6D23-44A1-9AAA-C289070B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726" y="4000500"/>
            <a:ext cx="5953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NTU · College of Computing and Data Science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Weekly Group Meeting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October 2026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Baseline: Fast-WAM Optional-IDM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stage1">
            <a:extLst xmlns:a="http://schemas.openxmlformats.org/drawingml/2006/main">
              <a:ext uri="{FF2B5EF4-FFF2-40B4-BE49-F238E27FC236}">
                <a16:creationId xmlns:a16="http://schemas.microsoft.com/office/drawing/2014/main" id="{8C07ABEA-4522-4DFA-8330-56A0F39E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3857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Stage 1  ·  Imagine future video</a:t>
            </a:r>
          </a:p>
        </p:txBody>
      </p:sp>
      <p:sp>
        <p:nvSpPr>
          <p:cNvPr id="5" name="stage2">
            <a:extLst xmlns:a="http://schemas.openxmlformats.org/drawingml/2006/main">
              <a:ext uri="{FF2B5EF4-FFF2-40B4-BE49-F238E27FC236}">
                <a16:creationId xmlns:a16="http://schemas.microsoft.com/office/drawing/2014/main" id="{CC35E0A5-85C5-4938-BFAB-780D93FA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000125"/>
            <a:ext cx="3933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Stage 2  ·  Infer actions from frozen video</a:t>
            </a:r>
          </a:p>
        </p:txBody>
      </p:sp>
      <p:sp>
        <p:nvSpPr>
          <p:cNvPr id="6" name="obs">
            <a:extLst xmlns:a="http://schemas.openxmlformats.org/drawingml/2006/main">
              <a:ext uri="{FF2B5EF4-FFF2-40B4-BE49-F238E27FC236}">
                <a16:creationId xmlns:a16="http://schemas.microsoft.com/office/drawing/2014/main" id="{26ADB065-B48B-41AE-AD8C-F2A69652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38300"/>
            <a:ext cx="11811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2859">
            <a:solidFill>
              <a:srgbClr val="3569A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Observation</a:t>
            </a:r>
          </a:p>
          <a:p xmlns:a="http://schemas.openxmlformats.org/drawingml/2006/main">
            <a:pPr algn="ctr"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+ instruction</a:t>
            </a:r>
          </a:p>
        </p:txBody>
      </p:sp>
      <p:sp>
        <p:nvSpPr>
          <p:cNvPr id="7" name="video">
            <a:extLst xmlns:a="http://schemas.openxmlformats.org/drawingml/2006/main">
              <a:ext uri="{FF2B5EF4-FFF2-40B4-BE49-F238E27FC236}">
                <a16:creationId xmlns:a16="http://schemas.microsoft.com/office/drawing/2014/main" id="{3FDDEF1E-C1BC-42B9-9B72-D0A37D11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571625"/>
            <a:ext cx="17621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2859">
            <a:solidFill>
              <a:srgbClr val="3569A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VideoDiT</a:t>
            </a:r>
          </a:p>
          <a:p xmlns:a="http://schemas.openxmlformats.org/drawingml/2006/main">
            <a:pPr algn="ctr">
              <a:defRPr sz="15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video denoising</a:t>
            </a:r>
          </a:p>
        </p:txBody>
      </p:sp>
      <p:sp>
        <p:nvSpPr>
          <p:cNvPr id="8" name="cache">
            <a:extLst xmlns:a="http://schemas.openxmlformats.org/drawingml/2006/main">
              <a:ext uri="{FF2B5EF4-FFF2-40B4-BE49-F238E27FC236}">
                <a16:creationId xmlns:a16="http://schemas.microsoft.com/office/drawing/2014/main" id="{23B0CD57-DF18-4799-9759-411BD6DE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71625"/>
            <a:ext cx="16383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2859">
            <a:solidFill>
              <a:srgbClr val="3569A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Frozen video</a:t>
            </a:r>
          </a:p>
          <a:p xmlns:a="http://schemas.openxmlformats.org/drawingml/2006/main">
            <a:pPr algn="ctr">
              <a:defRPr sz="15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K / V context</a:t>
            </a:r>
          </a:p>
        </p:txBody>
      </p:sp>
      <p:sp>
        <p:nvSpPr>
          <p:cNvPr id="9" name="actiondit">
            <a:extLst xmlns:a="http://schemas.openxmlformats.org/drawingml/2006/main">
              <a:ext uri="{FF2B5EF4-FFF2-40B4-BE49-F238E27FC236}">
                <a16:creationId xmlns:a16="http://schemas.microsoft.com/office/drawing/2014/main" id="{2EB21BFD-B454-4601-8A52-9F81E658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43225"/>
            <a:ext cx="16383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0"/>
          </a:solidFill>
          <a:ln xmlns:a="http://schemas.openxmlformats.org/drawingml/2006/main" w="12859">
            <a:solidFill>
              <a:srgbClr val="237F7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ActionDiT</a:t>
            </a:r>
          </a:p>
          <a:p xmlns:a="http://schemas.openxmlformats.org/drawingml/2006/main">
            <a:pPr algn="ctr">
              <a:defRPr sz="15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action denoising</a:t>
            </a:r>
          </a:p>
        </p:txBody>
      </p:sp>
      <p:sp>
        <p:nvSpPr>
          <p:cNvPr id="10" name="scope">
            <a:extLst xmlns:a="http://schemas.openxmlformats.org/drawingml/2006/main">
              <a:ext uri="{FF2B5EF4-FFF2-40B4-BE49-F238E27FC236}">
                <a16:creationId xmlns:a16="http://schemas.microsoft.com/office/drawing/2014/main" id="{1D85EAF9-1FFD-47AB-8497-A4A9DDE9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571625"/>
            <a:ext cx="18383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37F79"/>
                </a:solidFill>
                <a:latin typeface="Arial"/>
                <a:ea typeface="Arial"/>
                <a:cs typeface="Arial"/>
              </a:rPr>
              <a:t>First VQ target:</a:t>
            </a:r>
          </a:p>
          <a:p xmlns:a="http://schemas.openxmlformats.org/drawingml/2006/main">
            <a:pPr algn="l">
              <a:defRPr sz="1575" b="1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37F79"/>
                </a:solidFill>
                <a:latin typeface="Arial"/>
                <a:ea typeface="Arial"/>
                <a:cs typeface="Arial"/>
              </a:rPr>
              <a:t>independent</a:t>
            </a:r>
          </a:p>
          <a:p xmlns:a="http://schemas.openxmlformats.org/drawingml/2006/main">
            <a:pPr algn="l">
              <a:defRPr sz="1575" b="1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ActionDiT</a:t>
            </a:r>
          </a:p>
        </p:txBody>
      </p:sp>
      <p:sp>
        <p:nvSpPr>
          <p:cNvPr id="11" name="frozen">
            <a:extLst xmlns:a="http://schemas.openxmlformats.org/drawingml/2006/main">
              <a:ext uri="{FF2B5EF4-FFF2-40B4-BE49-F238E27FC236}">
                <a16:creationId xmlns:a16="http://schemas.microsoft.com/office/drawing/2014/main" id="{C4BB41AA-9636-4E44-AA08-8A6742E2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36099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Hold the video branch in BF16 for the first pilot</a:t>
            </a:r>
          </a:p>
        </p:txBody>
      </p:sp>
      <p:sp>
        <p:nvSpPr>
          <p:cNvPr id="12" name="proprio">
            <a:extLst xmlns:a="http://schemas.openxmlformats.org/drawingml/2006/main">
              <a:ext uri="{FF2B5EF4-FFF2-40B4-BE49-F238E27FC236}">
                <a16:creationId xmlns:a16="http://schemas.microsoft.com/office/drawing/2014/main" id="{CB42BCE8-9B93-4C7D-BB97-4E60E11E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09900"/>
            <a:ext cx="176212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859">
            <a:solidFill>
              <a:srgbClr val="26344B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Proprioception</a:t>
            </a:r>
          </a:p>
          <a:p xmlns:a="http://schemas.openxmlformats.org/drawingml/2006/main">
            <a:pPr algn="ctr">
              <a:defRPr sz="135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+ action noise</a:t>
            </a:r>
          </a:p>
        </p:txBody>
      </p:sp>
      <p:sp>
        <p:nvSpPr>
          <p:cNvPr id="13" name="out">
            <a:extLst xmlns:a="http://schemas.openxmlformats.org/drawingml/2006/main">
              <a:ext uri="{FF2B5EF4-FFF2-40B4-BE49-F238E27FC236}">
                <a16:creationId xmlns:a16="http://schemas.microsoft.com/office/drawing/2014/main" id="{D4185CD6-17D9-4D75-8239-3BF7C087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28950"/>
            <a:ext cx="18383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859">
            <a:solidFill>
              <a:srgbClr val="26344B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Action chunk</a:t>
            </a:r>
          </a:p>
        </p:txBody>
      </p:sp>
      <p:sp>
        <p:nvSpPr>
          <p:cNvPr id="14" name="extension">
            <a:extLst xmlns:a="http://schemas.openxmlformats.org/drawingml/2006/main">
              <a:ext uri="{FF2B5EF4-FFF2-40B4-BE49-F238E27FC236}">
                <a16:creationId xmlns:a16="http://schemas.microsoft.com/office/drawing/2014/main" id="{EC9A969B-1308-4919-BEB3-3D933C56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862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Transfer after the Fast-WAM pilot:   LingBot-VA  →  Cosmos-Policy</a:t>
            </a:r>
          </a:p>
        </p:txBody>
      </p: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704975" y="1966913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569A9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57625" y="1966913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3569A9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5505450" y="2362200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37F79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12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857625" y="3338513"/>
            <a:ext cx="82867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6344B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324600" y="3338513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37F79"/>
            </a:solidFill>
            <a:prstDash val="solid"/>
            <a:tailEnd type="triangle" w="sm" len="sm"/>
          </a:ln>
        </p:spPr>
      </p:cxnSp>
      <p:sp>
        <p:nvSpPr>
          <p:cNvPr id="20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DC578DA8-A9C4-4F80-AA31-E5DD53F9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Architecture follows the current Optional-IDM implementation; first VQ pilot targets ActionDiT.</a:t>
            </a:r>
          </a:p>
        </p:txBody>
      </p:sp>
      <p:sp>
        <p:nvSpPr>
          <p:cNvPr id="2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22A2D70-5158-47E5-A6CF-351B429B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Fast-WAM on LIBERO: QuantWAMs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Paper evidence label">
            <a:extLst xmlns:a="http://schemas.openxmlformats.org/drawingml/2006/main">
              <a:ext uri="{FF2B5EF4-FFF2-40B4-BE49-F238E27FC236}">
                <a16:creationId xmlns:a16="http://schemas.microsoft.com/office/drawing/2014/main" id="{99B08BB3-A804-4030-AF80-5B166632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19150"/>
            <a:ext cx="8048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Paper-reported result · Table 1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5e22370b764573"/>
          <a:stretch xmlns:a="http://schemas.openxmlformats.org/drawingml/2006/main"/>
        </p:blipFill>
        <p:spPr>
          <a:xfrm xmlns:a="http://schemas.openxmlformats.org/drawingml/2006/main">
            <a:off x="333375" y="1394232"/>
            <a:ext cx="8477250" cy="1964511"/>
          </a:xfrm>
          <a:prstGeom xmlns:a="http://schemas.openxmlformats.org/drawingml/2006/main" prst="rect">
            <a:avLst/>
          </a:prstGeom>
        </p:spPr>
      </p:pic>
      <p:sp>
        <p:nvSpPr>
          <p:cNvPr id="6" name="SVDQuant reference">
            <a:extLst xmlns:a="http://schemas.openxmlformats.org/drawingml/2006/main">
              <a:ext uri="{FF2B5EF4-FFF2-40B4-BE49-F238E27FC236}">
                <a16:creationId xmlns:a16="http://schemas.microsoft.com/office/drawing/2014/main" id="{E8B65658-3319-4696-BBBC-81AB1D40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52850"/>
            <a:ext cx="8096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26A23"/>
                </a:solidFill>
                <a:latin typeface="Arial"/>
                <a:ea typeface="Arial"/>
                <a:cs typeface="Arial"/>
              </a:rPr>
              <a:t>SVDQuant W4A4: 73.7 ± 0.7% LIBERO Avg</a:t>
            </a:r>
          </a:p>
        </p:txBody>
      </p:sp>
      <p:sp>
        <p:nvSpPr>
          <p:cNvPr id="7" name="QuantWAM result">
            <a:extLst xmlns:a="http://schemas.openxmlformats.org/drawingml/2006/main">
              <a:ext uri="{FF2B5EF4-FFF2-40B4-BE49-F238E27FC236}">
                <a16:creationId xmlns:a16="http://schemas.microsoft.com/office/drawing/2014/main" id="{8160A404-9210-408E-B8EA-214B97FD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71950"/>
            <a:ext cx="809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QuantWAMs W4A4: 97.4 ± 0.2%</a:t>
            </a:r>
          </a:p>
        </p:txBody>
      </p:sp>
      <p:sp>
        <p:nvSpPr>
          <p:cNvPr id="8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04D22951-FF94-4233-BF46-CB62A50D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QuantWAMs · arXiv:2607.28405v1 · Table 1, p.7 · Original PDF pixels</a:t>
            </a:r>
          </a:p>
        </p:txBody>
      </p:sp>
      <p:sp>
        <p:nvSpPr>
          <p:cNvPr id="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E50A5AB-21FF-4D34-A2FB-6FE2ACC2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Fast-WAM on LIBERO: SteerQuant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Paper evidence label">
            <a:extLst xmlns:a="http://schemas.openxmlformats.org/drawingml/2006/main">
              <a:ext uri="{FF2B5EF4-FFF2-40B4-BE49-F238E27FC236}">
                <a16:creationId xmlns:a16="http://schemas.microsoft.com/office/drawing/2014/main" id="{0E9F0E6D-966A-4C81-BF8C-91256CC8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00100"/>
            <a:ext cx="809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Paper-reported result · FastWAMJoint W4A4 rows, Table 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c3e33ce84443b"/>
          <a:stretch xmlns:a="http://schemas.openxmlformats.org/drawingml/2006/main"/>
        </p:blipFill>
        <p:spPr>
          <a:xfrm xmlns:a="http://schemas.openxmlformats.org/drawingml/2006/main">
            <a:off x="523875" y="1284975"/>
            <a:ext cx="8096250" cy="2573550"/>
          </a:xfrm>
          <a:prstGeom xmlns:a="http://schemas.openxmlformats.org/drawingml/2006/main" prst="rect">
            <a:avLst/>
          </a:prstGeom>
        </p:spPr>
      </p:pic>
      <p:sp>
        <p:nvSpPr>
          <p:cNvPr id="6" name="Circle SVDQuant W4A4 Avg 98.2">
            <a:extLst xmlns:a="http://schemas.openxmlformats.org/drawingml/2006/main">
              <a:ext uri="{FF2B5EF4-FFF2-40B4-BE49-F238E27FC236}">
                <a16:creationId xmlns:a16="http://schemas.microsoft.com/office/drawing/2014/main" id="{A3519226-F6AD-46DE-A8C1-7A560ACF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7615" y="3114282"/>
            <a:ext cx="528621" cy="24344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CB3141"/>
            </a:solidFill>
          </a:ln>
        </p:spPr>
      </p:sp>
      <p:sp>
        <p:nvSpPr>
          <p:cNvPr id="7" name="Cross-paper discrepancy">
            <a:extLst xmlns:a="http://schemas.openxmlformats.org/drawingml/2006/main">
              <a:ext uri="{FF2B5EF4-FFF2-40B4-BE49-F238E27FC236}">
                <a16:creationId xmlns:a16="http://schemas.microsoft.com/office/drawing/2014/main" id="{0C3F7F18-1B8A-4A75-B026-45F24672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809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B314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B3141"/>
                </a:solidFill>
                <a:latin typeface="Arial"/>
                <a:ea typeface="Arial"/>
                <a:cs typeface="Arial"/>
              </a:rPr>
              <a:t>SVDQuant W4A4: 98.2% here vs 73.7% in QuantWAMs</a:t>
            </a:r>
          </a:p>
        </p:txBody>
      </p:sp>
      <p:sp>
        <p:nvSpPr>
          <p:cNvPr id="8" name="Alignment question">
            <a:extLst xmlns:a="http://schemas.openxmlformats.org/drawingml/2006/main">
              <a:ext uri="{FF2B5EF4-FFF2-40B4-BE49-F238E27FC236}">
                <a16:creationId xmlns:a16="http://schemas.microsoft.com/office/drawing/2014/main" id="{3B72F683-B50C-41AC-9610-C523B504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291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Check model variant, quantization scope and evaluation protocol.</a:t>
            </a:r>
          </a:p>
        </p:txBody>
      </p:sp>
      <p:sp>
        <p:nvSpPr>
          <p:cNvPr id="9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53D11A6C-CECC-482C-8499-4A1EFC19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SteerQuant · arXiv:2609.39056v1 · Table 1, p.7 · Same-page pixel zoom</a:t>
            </a:r>
          </a:p>
        </p:txBody>
      </p:sp>
      <p:sp>
        <p:nvSpPr>
          <p:cNvPr id="1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C968BFB-26FB-4055-8916-57E0F1E0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Our LIBERO-Plus pilot: observed subset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Pilot subtitle">
            <a:extLst xmlns:a="http://schemas.openxmlformats.org/drawingml/2006/main">
              <a:ext uri="{FF2B5EF4-FFF2-40B4-BE49-F238E27FC236}">
                <a16:creationId xmlns:a16="http://schemas.microsoft.com/office/drawing/2014/main" id="{F531BE61-EC53-4569-88F1-746E8BC1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810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300 paired variants · Spatial only · 6 of 28 planned cells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23875" y="1285875"/>
          <a:ext xmlns:a="http://schemas.openxmlformats.org/drawingml/2006/main" cx="809625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352550"/>
                <a:gridCol w="1352550"/>
                <a:gridCol w="1219200"/>
                <a:gridCol w="1219200"/>
              </a:tblGrid>
              <a:tr h="347663"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Spatial dimension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BF16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W4A8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W4A4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W4A4KV4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Background textures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44/50 (88%)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45/50 (90%)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Camera viewpoints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26/50 (52%)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26/50 (52%)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Language instructions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46/50 (92%)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46/50 (92%)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Light conditions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47/50 (94%)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48/50 (96%)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Objects layout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47/50 (94%)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47/50 (94%)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Robot initial states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33/50 (66%)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40/50 (80%)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347663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Overall (n=300)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243/300 (81%)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252/300 (84%)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0/300 (0%)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0/300 (0%)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</a:tr>
            </a:tbl>
          </a:graphicData>
        </a:graphic>
      </p:graphicFrame>
      <p:sp>
        <p:nvSpPr>
          <p:cNvPr id="6" name="Pilot observation">
            <a:extLst xmlns:a="http://schemas.openxmlformats.org/drawingml/2006/main">
              <a:ext uri="{FF2B5EF4-FFF2-40B4-BE49-F238E27FC236}">
                <a16:creationId xmlns:a16="http://schemas.microsoft.com/office/drawing/2014/main" id="{51CFA6DA-8B91-4D73-A2C4-30E800F9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1957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W4A8: +3 pp descriptively; both A4 arms: 0/300.</a:t>
            </a:r>
          </a:p>
        </p:txBody>
      </p:sp>
      <p:sp>
        <p:nvSpPr>
          <p:cNvPr id="7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D94BB871-B35F-40D0-8185-B36DD43C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Local snapshot: 6 Oct 2026 · All completed shards · Joint Linear quantization · 22 cells have no results</a:t>
            </a:r>
          </a:p>
        </p:txBody>
      </p:sp>
      <p:sp>
        <p:nvSpPr>
          <p:cNvPr id="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777292C-C66E-4FCB-893B-6A9CED9C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A4 diagnosis: error appears before rollout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set panel title">
            <a:extLst xmlns:a="http://schemas.openxmlformats.org/drawingml/2006/main">
              <a:ext uri="{FF2B5EF4-FFF2-40B4-BE49-F238E27FC236}">
                <a16:creationId xmlns:a16="http://schemas.microsoft.com/office/drawing/2014/main" id="{C90A950A-8DB3-4FAE-B359-F9EFDDA3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19150"/>
            <a:ext cx="3867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569A9"/>
                </a:solidFill>
                <a:latin typeface="Arial"/>
                <a:ea typeface="Arial"/>
                <a:cs typeface="Arial"/>
              </a:rPr>
              <a:t>300 reset-observation pairs</a:t>
            </a:r>
          </a:p>
        </p:txBody>
      </p:sp>
      <p:sp>
        <p:nvSpPr>
          <p:cNvPr id="5" name="Reset panel definition">
            <a:extLst xmlns:a="http://schemas.openxmlformats.org/drawingml/2006/main">
              <a:ext uri="{FF2B5EF4-FFF2-40B4-BE49-F238E27FC236}">
                <a16:creationId xmlns:a16="http://schemas.microsoft.com/office/drawing/2014/main" id="{B597E100-9D76-4FAC-BB30-9CCC3F2E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62050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Median normalized motor RMSE · first 10 actions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23875" y="1724025"/>
          <a:ext xmlns:a="http://schemas.openxmlformats.org/drawingml/2006/main" cx="386715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76525"/>
                <a:gridCol w="1190625"/>
              </a:tblGrid>
              <a:tr h="4286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W4A8 vs BF16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0.0228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W4A4 vs BF16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0.3222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W4A4KV4 vs BF16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0.3217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KV4 addition vs W4A4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0.0387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Native panel title">
            <a:extLst xmlns:a="http://schemas.openxmlformats.org/drawingml/2006/main">
              <a:ext uri="{FF2B5EF4-FFF2-40B4-BE49-F238E27FC236}">
                <a16:creationId xmlns:a16="http://schemas.microsoft.com/office/drawing/2014/main" id="{FCB98519-955E-4649-8871-B45842B1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8191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7F79"/>
                </a:solidFill>
                <a:latin typeface="Arial"/>
                <a:ea typeface="Arial"/>
                <a:cs typeface="Arial"/>
              </a:rPr>
              <a:t>One-input native-path check</a:t>
            </a:r>
          </a:p>
        </p:txBody>
      </p:sp>
      <p:sp>
        <p:nvSpPr>
          <p:cNvPr id="8" name="Native panel definition">
            <a:extLst xmlns:a="http://schemas.openxmlformats.org/drawingml/2006/main">
              <a:ext uri="{FF2B5EF4-FFF2-40B4-BE49-F238E27FC236}">
                <a16:creationId xmlns:a16="http://schemas.microsoft.com/office/drawing/2014/main" id="{ADB40E0A-5508-4630-806B-2D2AF366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1620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Same input · 4 queries · no rollout steps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4714875" y="1724025"/>
          <a:ext xmlns:a="http://schemas.openxmlformats.org/drawingml/2006/main" cx="390525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28925"/>
                <a:gridCol w="1076325"/>
              </a:tblGrid>
              <a:tr h="4286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Diagnostic measure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W4A4 vs BF16 motor RMSE¹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0.2853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Native vs FP32 ref. RMSE²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0.0407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INT4 GEMM calls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6,436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Discrete gripper flips¹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0/10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Diagnosis interpretation">
            <a:extLst xmlns:a="http://schemas.openxmlformats.org/drawingml/2006/main">
              <a:ext uri="{FF2B5EF4-FFF2-40B4-BE49-F238E27FC236}">
                <a16:creationId xmlns:a16="http://schemas.microsoft.com/office/drawing/2014/main" id="{3199DC9B-409B-4D87-A5E9-41B14138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8096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The A4 recipe needs diagnosis; current controls do not isolate W-only or A-only effects.</a:t>
            </a:r>
          </a:p>
        </p:txBody>
      </p:sp>
      <p:sp>
        <p:nvSpPr>
          <p:cNvPr id="11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DB2C4105-457D-4F34-8135-A2B6FAA0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¹ First 10 action positions. ² Full 32×7 chunk, all channels. Fixed-input fidelity; no timing claim.</a:t>
            </a:r>
          </a:p>
        </p:txBody>
      </p:sp>
      <p:sp>
        <p:nvSpPr>
          <p:cNvPr id="1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C971028-11F3-49A2-9097-76D4B55E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QuantWAMs: calibrate at the right granularity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edd0c7a2e4922"/>
          <a:stretch xmlns:a="http://schemas.openxmlformats.org/drawingml/2006/main"/>
        </p:blipFill>
        <p:spPr>
          <a:xfrm xmlns:a="http://schemas.openxmlformats.org/drawingml/2006/main">
            <a:off x="413748" y="809625"/>
            <a:ext cx="8316503" cy="3524250"/>
          </a:xfrm>
          <a:prstGeom xmlns:a="http://schemas.openxmlformats.org/drawingml/2006/main" prst="rect">
            <a:avLst/>
          </a:prstGeom>
        </p:spPr>
      </p:pic>
      <p:sp>
        <p:nvSpPr>
          <p:cNvPr id="5" name="Paper takeaway">
            <a:extLst xmlns:a="http://schemas.openxmlformats.org/drawingml/2006/main">
              <a:ext uri="{FF2B5EF4-FFF2-40B4-BE49-F238E27FC236}">
                <a16:creationId xmlns:a16="http://schemas.microsoft.com/office/drawing/2014/main" id="{75D32FF0-CAF1-4992-8413-0D69BA73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52925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Structure-aware calibration + joint saliency + rollout validation</a:t>
            </a:r>
          </a:p>
        </p:txBody>
      </p:sp>
      <p:sp>
        <p:nvSpPr>
          <p:cNvPr id="6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6FB42BBA-201B-4C41-A64F-88A5AA75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QuantWAMs · arXiv:2607.28405v1 · Figure 2 · Figure crop from original PDF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FCB8D44-04A7-46CF-A22B-1A3F822F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Q-WAM: protect action-sensitive subspaces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02e2afeed4e07"/>
          <a:stretch xmlns:a="http://schemas.openxmlformats.org/drawingml/2006/main"/>
        </p:blipFill>
        <p:spPr>
          <a:xfrm xmlns:a="http://schemas.openxmlformats.org/drawingml/2006/main">
            <a:off x="1128986" y="781050"/>
            <a:ext cx="6886027" cy="3609975"/>
          </a:xfrm>
          <a:prstGeom xmlns:a="http://schemas.openxmlformats.org/drawingml/2006/main" prst="rect">
            <a:avLst/>
          </a:prstGeom>
        </p:spPr>
      </p:pic>
      <p:sp>
        <p:nvSpPr>
          <p:cNvPr id="5" name="Paper takeaway">
            <a:extLst xmlns:a="http://schemas.openxmlformats.org/drawingml/2006/main">
              <a:ext uri="{FF2B5EF4-FFF2-40B4-BE49-F238E27FC236}">
                <a16:creationId xmlns:a16="http://schemas.microsoft.com/office/drawing/2014/main" id="{42FACF11-262E-4F9C-A270-A5DADA7C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52925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Measure action sensitivity; preserve the most influential directions.</a:t>
            </a:r>
          </a:p>
        </p:txBody>
      </p:sp>
      <p:sp>
        <p:nvSpPr>
          <p:cNvPr id="6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22B6E645-C983-4453-98E9-131CA653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Q-WAM · arXiv:2609.33269v1 · Figure 2 · Figure crop from original PDF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32B974F-421D-4A9F-B21C-1E7F51A3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SteerQuant: route error away from actions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2da73ecda4d17"/>
          <a:stretch xmlns:a="http://schemas.openxmlformats.org/drawingml/2006/main"/>
        </p:blipFill>
        <p:spPr>
          <a:xfrm xmlns:a="http://schemas.openxmlformats.org/drawingml/2006/main">
            <a:off x="1217735" y="771525"/>
            <a:ext cx="6708531" cy="3619500"/>
          </a:xfrm>
          <a:prstGeom xmlns:a="http://schemas.openxmlformats.org/drawingml/2006/main" prst="rect">
            <a:avLst/>
          </a:prstGeom>
        </p:spPr>
      </p:pic>
      <p:sp>
        <p:nvSpPr>
          <p:cNvPr id="5" name="Paper takeaway">
            <a:extLst xmlns:a="http://schemas.openxmlformats.org/drawingml/2006/main">
              <a:ext uri="{FF2B5EF4-FFF2-40B4-BE49-F238E27FC236}">
                <a16:creationId xmlns:a16="http://schemas.microsoft.com/office/drawing/2014/main" id="{3B3E668A-1E00-4462-81F2-8D375BC0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52925"/>
            <a:ext cx="809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Action-impact calibration → error routing → fused low-bit inference</a:t>
            </a:r>
          </a:p>
        </p:txBody>
      </p:sp>
      <p:sp>
        <p:nvSpPr>
          <p:cNvPr id="6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9D4F522F-E97A-438E-A1A8-7C401805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SteerQuant · arXiv:2609.39056v1 · Figure 2 · Figure crop from original PDF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42BE811-48BC-42B2-8A0F-529CBFE1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Next step: action-sensitive weight VQ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a">
            <a:extLst xmlns:a="http://schemas.openxmlformats.org/drawingml/2006/main">
              <a:ext uri="{FF2B5EF4-FFF2-40B4-BE49-F238E27FC236}">
                <a16:creationId xmlns:a16="http://schemas.microsoft.com/office/drawing/2014/main" id="{93123462-5031-4166-ABCD-B767796D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09625"/>
            <a:ext cx="2628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(a) Equivalent reparameterization</a:t>
            </a:r>
          </a:p>
        </p:txBody>
      </p:sp>
      <p:sp>
        <p:nvSpPr>
          <p:cNvPr id="5" name="b">
            <a:extLst xmlns:a="http://schemas.openxmlformats.org/drawingml/2006/main">
              <a:ext uri="{FF2B5EF4-FFF2-40B4-BE49-F238E27FC236}">
                <a16:creationId xmlns:a16="http://schemas.microsoft.com/office/drawing/2014/main" id="{95BCECAD-23E8-4199-82CE-37EB184B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8096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(b) Weight VQ</a:t>
            </a:r>
          </a:p>
        </p:txBody>
      </p:sp>
      <p:sp>
        <p:nvSpPr>
          <p:cNvPr id="6" name="c">
            <a:extLst xmlns:a="http://schemas.openxmlformats.org/drawingml/2006/main">
              <a:ext uri="{FF2B5EF4-FFF2-40B4-BE49-F238E27FC236}">
                <a16:creationId xmlns:a16="http://schemas.microsoft.com/office/drawing/2014/main" id="{3A56173C-A764-417F-BEE2-CD811D97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80962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(c) Action inference</a:t>
            </a:r>
          </a:p>
        </p:txBody>
      </p:sp>
      <p:sp>
        <p:nvSpPr>
          <p:cNvPr id="7" name="x">
            <a:extLst xmlns:a="http://schemas.openxmlformats.org/drawingml/2006/main">
              <a:ext uri="{FF2B5EF4-FFF2-40B4-BE49-F238E27FC236}">
                <a16:creationId xmlns:a16="http://schemas.microsoft.com/office/drawing/2014/main" id="{C39CC2D2-3D51-4CD3-9D98-BA20B392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2859">
            <a:solidFill>
              <a:srgbClr val="3569A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8" name="xs">
            <a:extLst xmlns:a="http://schemas.openxmlformats.org/drawingml/2006/main">
              <a:ext uri="{FF2B5EF4-FFF2-40B4-BE49-F238E27FC236}">
                <a16:creationId xmlns:a16="http://schemas.microsoft.com/office/drawing/2014/main" id="{751FB2CC-87EF-46DD-A1B0-4D67F36E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371600"/>
            <a:ext cx="1752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2859">
            <a:solidFill>
              <a:srgbClr val="3569A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Scale + Hadamard</a:t>
            </a:r>
          </a:p>
          <a:p xmlns:a="http://schemas.openxmlformats.org/drawingml/2006/main">
            <a:pPr algn="ctr"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X̃ = XD⁻¹H</a:t>
            </a:r>
          </a:p>
        </p:txBody>
      </p:sp>
      <p:sp>
        <p:nvSpPr>
          <p:cNvPr id="9" name="aq">
            <a:extLst xmlns:a="http://schemas.openxmlformats.org/drawingml/2006/main">
              <a:ext uri="{FF2B5EF4-FFF2-40B4-BE49-F238E27FC236}">
                <a16:creationId xmlns:a16="http://schemas.microsoft.com/office/drawing/2014/main" id="{6A0F0AEA-E9E9-4D47-B222-71D3929A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371600"/>
            <a:ext cx="1314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12859">
            <a:solidFill>
              <a:srgbClr val="3569A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BF16 first</a:t>
            </a:r>
          </a:p>
          <a:p xmlns:a="http://schemas.openxmlformats.org/drawingml/2006/main">
            <a:pPr algn="ctr">
              <a:defRPr sz="12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A8 / A4 later</a:t>
            </a:r>
          </a:p>
        </p:txBody>
      </p:sp>
      <p:sp>
        <p:nvSpPr>
          <p:cNvPr id="10" name="w">
            <a:extLst xmlns:a="http://schemas.openxmlformats.org/drawingml/2006/main">
              <a:ext uri="{FF2B5EF4-FFF2-40B4-BE49-F238E27FC236}">
                <a16:creationId xmlns:a16="http://schemas.microsoft.com/office/drawing/2014/main" id="{0C7A147E-2022-43E5-8A0B-B006B518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289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2E6"/>
          </a:solidFill>
          <a:ln xmlns:a="http://schemas.openxmlformats.org/drawingml/2006/main" w="12859">
            <a:solidFill>
              <a:srgbClr val="B26A2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11" name="ws">
            <a:extLst xmlns:a="http://schemas.openxmlformats.org/drawingml/2006/main">
              <a:ext uri="{FF2B5EF4-FFF2-40B4-BE49-F238E27FC236}">
                <a16:creationId xmlns:a16="http://schemas.microsoft.com/office/drawing/2014/main" id="{B5BF427C-A310-4C01-BF61-C711034E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71750"/>
            <a:ext cx="1752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2E6"/>
          </a:solidFill>
          <a:ln xmlns:a="http://schemas.openxmlformats.org/drawingml/2006/main" w="12859">
            <a:solidFill>
              <a:srgbClr val="B26A2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Paired transform</a:t>
            </a:r>
          </a:p>
          <a:p xmlns:a="http://schemas.openxmlformats.org/drawingml/2006/main">
            <a:pPr algn="ctr">
              <a:defRPr sz="1350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W̃ = WDH</a:t>
            </a:r>
          </a:p>
        </p:txBody>
      </p:sp>
      <p:sp>
        <p:nvSpPr>
          <p:cNvPr id="12" name="vq">
            <a:extLst xmlns:a="http://schemas.openxmlformats.org/drawingml/2006/main">
              <a:ext uri="{FF2B5EF4-FFF2-40B4-BE49-F238E27FC236}">
                <a16:creationId xmlns:a16="http://schemas.microsoft.com/office/drawing/2014/main" id="{0A99C55B-3F63-4919-AC8E-CA258843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14600"/>
            <a:ext cx="1790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0"/>
          </a:solidFill>
          <a:ln xmlns:a="http://schemas.openxmlformats.org/drawingml/2006/main" w="12859">
            <a:solidFill>
              <a:srgbClr val="237F7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Sensitive codebook</a:t>
            </a:r>
          </a:p>
          <a:p xmlns:a="http://schemas.openxmlformats.org/drawingml/2006/main">
            <a:pPr algn="ctr">
              <a:defRPr sz="1350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C + vector indices</a:t>
            </a:r>
          </a:p>
        </p:txBody>
      </p:sp>
      <p:sp>
        <p:nvSpPr>
          <p:cNvPr id="13" name="decode">
            <a:extLst xmlns:a="http://schemas.openxmlformats.org/drawingml/2006/main">
              <a:ext uri="{FF2B5EF4-FFF2-40B4-BE49-F238E27FC236}">
                <a16:creationId xmlns:a16="http://schemas.microsoft.com/office/drawing/2014/main" id="{2F06726C-A5DA-483F-961A-4E4ED473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581275"/>
            <a:ext cx="10668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4F0"/>
          </a:solidFill>
          <a:ln xmlns:a="http://schemas.openxmlformats.org/drawingml/2006/main" w="12859">
            <a:solidFill>
              <a:srgbClr val="237F7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Reconstruct</a:t>
            </a:r>
          </a:p>
          <a:p xmlns:a="http://schemas.openxmlformats.org/drawingml/2006/main">
            <a:pPr algn="ctr">
              <a:defRPr sz="1350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Ŵ</a:t>
            </a:r>
          </a:p>
        </p:txBody>
      </p:sp>
      <p:sp>
        <p:nvSpPr>
          <p:cNvPr id="14" name="linear">
            <a:extLst xmlns:a="http://schemas.openxmlformats.org/drawingml/2006/main">
              <a:ext uri="{FF2B5EF4-FFF2-40B4-BE49-F238E27FC236}">
                <a16:creationId xmlns:a16="http://schemas.microsoft.com/office/drawing/2014/main" id="{175DE7E6-9CD9-4439-A96E-4E2D92E1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924050"/>
            <a:ext cx="7524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12859">
            <a:solidFill>
              <a:srgbClr val="26344B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Linear</a:t>
            </a:r>
          </a:p>
        </p:txBody>
      </p:sp>
      <p:sp>
        <p:nvSpPr>
          <p:cNvPr id="15" name="action">
            <a:extLst xmlns:a="http://schemas.openxmlformats.org/drawingml/2006/main">
              <a:ext uri="{FF2B5EF4-FFF2-40B4-BE49-F238E27FC236}">
                <a16:creationId xmlns:a16="http://schemas.microsoft.com/office/drawing/2014/main" id="{0419B9D5-6FCA-456C-9BE4-F04E9B63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43100"/>
            <a:ext cx="5810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26344B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6" name="metric">
            <a:extLst xmlns:a="http://schemas.openxmlformats.org/drawingml/2006/main">
              <a:ext uri="{FF2B5EF4-FFF2-40B4-BE49-F238E27FC236}">
                <a16:creationId xmlns:a16="http://schemas.microsoft.com/office/drawing/2014/main" id="{608835F7-A0ED-4446-9A4D-636C2D68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43300"/>
            <a:ext cx="17907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859">
            <a:solidFill>
              <a:srgbClr val="237F7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Action sensitivity</a:t>
            </a:r>
          </a:p>
          <a:p xmlns:a="http://schemas.openxmlformats.org/drawingml/2006/main">
            <a:pPr algn="ctr">
              <a:defRPr sz="12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M from calibration</a:t>
            </a:r>
          </a:p>
        </p:txBody>
      </p:sp>
      <p:sp>
        <p:nvSpPr>
          <p:cNvPr id="17" name="acttag">
            <a:extLst xmlns:a="http://schemas.openxmlformats.org/drawingml/2006/main">
              <a:ext uri="{FF2B5EF4-FFF2-40B4-BE49-F238E27FC236}">
                <a16:creationId xmlns:a16="http://schemas.microsoft.com/office/drawing/2014/main" id="{86493A85-92FD-4186-9642-2DF8BD47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145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Aim: reduce activation outliers</a:t>
            </a:r>
          </a:p>
        </p:txBody>
      </p:sp>
      <p:sp>
        <p:nvSpPr>
          <p:cNvPr id="18" name="wtag">
            <a:extLst xmlns:a="http://schemas.openxmlformats.org/drawingml/2006/main">
              <a:ext uri="{FF2B5EF4-FFF2-40B4-BE49-F238E27FC236}">
                <a16:creationId xmlns:a16="http://schemas.microsoft.com/office/drawing/2014/main" id="{7236212B-56DE-4C8C-9091-567E7B8A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14700"/>
            <a:ext cx="2257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Scale shift to the weight branch</a:t>
            </a:r>
          </a:p>
        </p:txBody>
      </p:sp>
      <p:sp>
        <p:nvSpPr>
          <p:cNvPr id="19" name="cal">
            <a:extLst xmlns:a="http://schemas.openxmlformats.org/drawingml/2006/main">
              <a:ext uri="{FF2B5EF4-FFF2-40B4-BE49-F238E27FC236}">
                <a16:creationId xmlns:a16="http://schemas.microsoft.com/office/drawing/2014/main" id="{B45DA62B-6355-4389-B5B1-93C7D0C2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600450"/>
            <a:ext cx="2800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Dashed path: offline calibration</a:t>
            </a:r>
          </a:p>
        </p:txBody>
      </p:sp>
      <p:cxnSp>
        <p:nvCxnSpPr>
          <p:cNvPr id="5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38225" y="168592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6344B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05150" y="16859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6344B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9" idx="3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4876800" y="1685925"/>
            <a:ext cx="2633663" cy="238125"/>
          </a:xfrm>
          <a:prstGeom xmlns:a="http://schemas.openxmlformats.org/drawingml/2006/main" prst="bentConnector2">
            <a:avLst/>
          </a:prstGeom>
          <a:ln xmlns:a="http://schemas.openxmlformats.org/drawingml/2006/main" w="16193">
            <a:solidFill>
              <a:srgbClr val="26344B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038225" y="2886075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B26A23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105150" y="28860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B26A23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353050" y="2886075"/>
            <a:ext cx="333375" cy="4763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37F79"/>
            </a:solidFill>
            <a:prstDash val="soli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3" idx="3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6753225" y="2495550"/>
            <a:ext cx="757238" cy="395288"/>
          </a:xfrm>
          <a:prstGeom xmlns:a="http://schemas.openxmlformats.org/drawingml/2006/main" prst="bentConnector2">
            <a:avLst/>
          </a:prstGeom>
          <a:ln xmlns:a="http://schemas.openxmlformats.org/drawingml/2006/main" w="16193">
            <a:solidFill>
              <a:srgbClr val="237F79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886700" y="2209800"/>
            <a:ext cx="152400" cy="4763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6344B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6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4457700" y="325755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37F79"/>
            </a:solidFill>
            <a:prstDash val="dash"/>
            <a:tailEnd type="triangle" w="sm" len="sm"/>
          </a:ln>
        </p:spPr>
      </p:cxnSp>
      <p:sp>
        <p:nvSpPr>
          <p:cNvPr id="29" name="Equivalent identity">
            <a:extLst xmlns:a="http://schemas.openxmlformats.org/drawingml/2006/main">
              <a:ext uri="{FF2B5EF4-FFF2-40B4-BE49-F238E27FC236}">
                <a16:creationId xmlns:a16="http://schemas.microsoft.com/office/drawing/2014/main" id="{FD3D2E14-0C9C-4B0B-AABC-09FB65B7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91000"/>
            <a:ext cx="809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Before quantization:   X̃W̃ᵀ = XWᵀ   when HHᵀ = I and D is invertible.</a:t>
            </a:r>
          </a:p>
        </p:txBody>
      </p:sp>
      <p:sp>
        <p:nvSpPr>
          <p:cNvPr id="30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354D997C-39EF-4800-BBDB-83A40F7F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Proposed method · BF16 activations first; A8/A4 later · Outlier reduction must be measured</a:t>
            </a:r>
          </a:p>
        </p:txBody>
      </p:sp>
      <p:sp>
        <p:nvSpPr>
          <p:cNvPr id="3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8A073CB-0B8D-4356-912B-E4FADF91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Action-sensitive codebook geometry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ga">
            <a:extLst xmlns:a="http://schemas.openxmlformats.org/drawingml/2006/main">
              <a:ext uri="{FF2B5EF4-FFF2-40B4-BE49-F238E27FC236}">
                <a16:creationId xmlns:a16="http://schemas.microsoft.com/office/drawing/2014/main" id="{50187CCD-0AB5-4302-A27D-E30C8379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28675"/>
            <a:ext cx="413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(a) A two-dimensional weight block</a:t>
            </a:r>
          </a:p>
        </p:txBody>
      </p:sp>
      <p:sp>
        <p:nvSpPr>
          <p:cNvPr id="5" name="gb">
            <a:extLst xmlns:a="http://schemas.openxmlformats.org/drawingml/2006/main">
              <a:ext uri="{FF2B5EF4-FFF2-40B4-BE49-F238E27FC236}">
                <a16:creationId xmlns:a16="http://schemas.microsoft.com/office/drawing/2014/main" id="{F4F1D063-7AD0-4737-B2BB-B1C0F408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828675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(b) Action-weighted distortion</a:t>
            </a:r>
          </a:p>
        </p:txBody>
      </p:sp>
      <p:sp>
        <p:nvSpPr>
          <p:cNvPr id="6" name="region">
            <a:extLst xmlns:a="http://schemas.openxmlformats.org/drawingml/2006/main">
              <a:ext uri="{FF2B5EF4-FFF2-40B4-BE49-F238E27FC236}">
                <a16:creationId xmlns:a16="http://schemas.microsoft.com/office/drawing/2014/main" id="{D7EC5DBA-4740-4AEA-B681-CC6A2435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562100"/>
            <a:ext cx="781050" cy="2343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F8F5"/>
          </a:solidFill>
          <a:ln xmlns:a="http://schemas.openxmlformats.org/drawingml/2006/main" w="12859">
            <a:solidFill>
              <a:srgbClr val="86BFB2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w0">
            <a:extLst xmlns:a="http://schemas.openxmlformats.org/drawingml/2006/main">
              <a:ext uri="{FF2B5EF4-FFF2-40B4-BE49-F238E27FC236}">
                <a16:creationId xmlns:a16="http://schemas.microsoft.com/office/drawing/2014/main" id="{9129B708-DA3F-4DDA-95D5-392002CE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6765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44B"/>
          </a:solidFill>
          <a:ln xmlns:a="http://schemas.openxmlformats.org/drawingml/2006/main" w="12859">
            <a:solidFill>
              <a:srgbClr val="26344B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cL2">
            <a:extLst xmlns:a="http://schemas.openxmlformats.org/drawingml/2006/main">
              <a:ext uri="{FF2B5EF4-FFF2-40B4-BE49-F238E27FC236}">
                <a16:creationId xmlns:a16="http://schemas.microsoft.com/office/drawing/2014/main" id="{855E0AB9-E1BA-45C1-8E72-6277F4AF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6765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6A23"/>
          </a:solidFill>
          <a:ln xmlns:a="http://schemas.openxmlformats.org/drawingml/2006/main" w="12859">
            <a:solidFill>
              <a:srgbClr val="B26A23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cM">
            <a:extLst xmlns:a="http://schemas.openxmlformats.org/drawingml/2006/main">
              <a:ext uri="{FF2B5EF4-FFF2-40B4-BE49-F238E27FC236}">
                <a16:creationId xmlns:a16="http://schemas.microsoft.com/office/drawing/2014/main" id="{613BF9E3-042B-4564-A9F5-2F8854A7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525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7F79"/>
          </a:solidFill>
          <a:ln xmlns:a="http://schemas.openxmlformats.org/drawingml/2006/main" w="12859">
            <a:solidFill>
              <a:srgbClr val="237F79"/>
            </a:solidFill>
          </a:ln>
        </p:spPr>
        <p:txBody>
          <a:bodyPr xmlns:a="http://schemas.openxmlformats.org/drawingml/2006/main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wlabel">
            <a:extLst xmlns:a="http://schemas.openxmlformats.org/drawingml/2006/main">
              <a:ext uri="{FF2B5EF4-FFF2-40B4-BE49-F238E27FC236}">
                <a16:creationId xmlns:a16="http://schemas.microsoft.com/office/drawing/2014/main" id="{1B1995A3-EACD-43DF-A049-E6DCDEDB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19425"/>
            <a:ext cx="1457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w = (0, 0)</a:t>
            </a:r>
          </a:p>
        </p:txBody>
      </p:sp>
      <p:sp>
        <p:nvSpPr>
          <p:cNvPr id="11" name="l2label">
            <a:extLst xmlns:a="http://schemas.openxmlformats.org/drawingml/2006/main">
              <a:ext uri="{FF2B5EF4-FFF2-40B4-BE49-F238E27FC236}">
                <a16:creationId xmlns:a16="http://schemas.microsoft.com/office/drawing/2014/main" id="{2739340C-50F7-4687-9473-5BF405B0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14675"/>
            <a:ext cx="209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c₁ = (0.3, 0)</a:t>
            </a:r>
          </a:p>
          <a:p xmlns:a="http://schemas.openxmlformats.org/drawingml/2006/main">
            <a:pPr algn="l">
              <a:defRPr sz="1275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Euclidean nearest</a:t>
            </a:r>
          </a:p>
        </p:txBody>
      </p:sp>
      <p:sp>
        <p:nvSpPr>
          <p:cNvPr id="12" name="mlabel">
            <a:extLst xmlns:a="http://schemas.openxmlformats.org/drawingml/2006/main">
              <a:ext uri="{FF2B5EF4-FFF2-40B4-BE49-F238E27FC236}">
                <a16:creationId xmlns:a16="http://schemas.microsoft.com/office/drawing/2014/main" id="{282CD149-AF68-43BB-AA1F-2AB974F5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495425"/>
            <a:ext cx="22764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c₂ = (0, 0.6)</a:t>
            </a:r>
          </a:p>
          <a:p xmlns:a="http://schemas.openxmlformats.org/drawingml/2006/main">
            <a:pPr algn="l">
              <a:defRPr sz="12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Action-weighted nearest</a:t>
            </a:r>
          </a:p>
        </p:txBody>
      </p:sp>
      <p:sp>
        <p:nvSpPr>
          <p:cNvPr id="13" name="xaxis">
            <a:extLst xmlns:a="http://schemas.openxmlformats.org/drawingml/2006/main">
              <a:ext uri="{FF2B5EF4-FFF2-40B4-BE49-F238E27FC236}">
                <a16:creationId xmlns:a16="http://schemas.microsoft.com/office/drawing/2014/main" id="{56BCAE22-11C3-49F3-A8A7-80F9AF06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381250"/>
            <a:ext cx="1990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Sensitive direction</a:t>
            </a:r>
          </a:p>
        </p:txBody>
      </p:sp>
      <p:sp>
        <p:nvSpPr>
          <p:cNvPr id="14" name="yaxis">
            <a:extLst xmlns:a="http://schemas.openxmlformats.org/drawingml/2006/main">
              <a:ext uri="{FF2B5EF4-FFF2-40B4-BE49-F238E27FC236}">
                <a16:creationId xmlns:a16="http://schemas.microsoft.com/office/drawing/2014/main" id="{8FFB8423-A105-40CC-96E7-336386F1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811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Less sensitive</a:t>
            </a:r>
          </a:p>
        </p:txBody>
      </p:sp>
      <p:sp>
        <p:nvSpPr>
          <p:cNvPr id="15" name="formula">
            <a:extLst xmlns:a="http://schemas.openxmlformats.org/drawingml/2006/main">
              <a:ext uri="{FF2B5EF4-FFF2-40B4-BE49-F238E27FC236}">
                <a16:creationId xmlns:a16="http://schemas.microsoft.com/office/drawing/2014/main" id="{A62A147F-5E34-41EE-AD8E-8589A075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428750"/>
            <a:ext cx="35052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dₘ(v,c) = (v−c)ᵀM(v−c)</a:t>
            </a:r>
          </a:p>
        </p:txBody>
      </p:sp>
      <p:sp>
        <p:nvSpPr>
          <p:cNvPr id="16" name="metricnote">
            <a:extLst xmlns:a="http://schemas.openxmlformats.org/drawingml/2006/main">
              <a:ext uri="{FF2B5EF4-FFF2-40B4-BE49-F238E27FC236}">
                <a16:creationId xmlns:a16="http://schemas.microsoft.com/office/drawing/2014/main" id="{49002203-4279-4329-AE9E-642C5B56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952625"/>
            <a:ext cx="350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M = diag(9, 1) in this illustration</a:t>
            </a:r>
          </a:p>
        </p:txBody>
      </p:sp>
      <p:sp>
        <p:nvSpPr>
          <p:cNvPr id="17" name="l2dist">
            <a:extLst xmlns:a="http://schemas.openxmlformats.org/drawingml/2006/main">
              <a:ext uri="{FF2B5EF4-FFF2-40B4-BE49-F238E27FC236}">
                <a16:creationId xmlns:a16="http://schemas.microsoft.com/office/drawing/2014/main" id="{F3FB47EA-F030-44B9-9CE3-A3FFC3E9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505075"/>
            <a:ext cx="350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Euclidean distortion</a:t>
            </a:r>
          </a:p>
          <a:p xmlns:a="http://schemas.openxmlformats.org/drawingml/2006/main">
            <a:pPr algn="l">
              <a:defRPr sz="1650" b="0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26A23"/>
                </a:solidFill>
                <a:latin typeface="Arial"/>
                <a:ea typeface="Arial"/>
                <a:cs typeface="Arial"/>
              </a:rPr>
              <a:t>c₁: 0.09       c₂: 0.36</a:t>
            </a:r>
          </a:p>
        </p:txBody>
      </p:sp>
      <p:sp>
        <p:nvSpPr>
          <p:cNvPr id="18" name="mdist">
            <a:extLst xmlns:a="http://schemas.openxmlformats.org/drawingml/2006/main">
              <a:ext uri="{FF2B5EF4-FFF2-40B4-BE49-F238E27FC236}">
                <a16:creationId xmlns:a16="http://schemas.microsoft.com/office/drawing/2014/main" id="{25C5B531-0807-42C8-AD1E-EEC1CBF9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381375"/>
            <a:ext cx="350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Action-weighted distortion</a:t>
            </a:r>
          </a:p>
          <a:p xmlns:a="http://schemas.openxmlformats.org/drawingml/2006/main">
            <a:pPr algn="l">
              <a:defRPr sz="1650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c₁: 0.81       c₂: 0.36</a:t>
            </a:r>
          </a:p>
        </p:txBody>
      </p:sp>
      <p:sp>
        <p:nvSpPr>
          <p:cNvPr id="19" name="ellipsenote">
            <a:extLst xmlns:a="http://schemas.openxmlformats.org/drawingml/2006/main">
              <a:ext uri="{FF2B5EF4-FFF2-40B4-BE49-F238E27FC236}">
                <a16:creationId xmlns:a16="http://schemas.microsoft.com/office/drawing/2014/main" id="{41EF2246-9C1D-427E-88EF-E6DE6ED6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05250"/>
            <a:ext cx="4352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Ellipse: equal action-weighted error</a:t>
            </a:r>
          </a:p>
        </p:txBody>
      </p:sp>
      <p:sp>
        <p:nvSpPr>
          <p:cNvPr id="20" name="xstart">
            <a:extLst xmlns:a="http://schemas.openxmlformats.org/drawingml/2006/main">
              <a:ext uri="{FF2B5EF4-FFF2-40B4-BE49-F238E27FC236}">
                <a16:creationId xmlns:a16="http://schemas.microsoft.com/office/drawing/2014/main" id="{FD58854C-C6B4-487D-AC36-D5C247B0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733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xend">
            <a:extLst xmlns:a="http://schemas.openxmlformats.org/drawingml/2006/main">
              <a:ext uri="{FF2B5EF4-FFF2-40B4-BE49-F238E27FC236}">
                <a16:creationId xmlns:a16="http://schemas.microsoft.com/office/drawing/2014/main" id="{7034370A-B032-41F6-ADBE-50CA8E37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733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ystart">
            <a:extLst xmlns:a="http://schemas.openxmlformats.org/drawingml/2006/main">
              <a:ext uri="{FF2B5EF4-FFF2-40B4-BE49-F238E27FC236}">
                <a16:creationId xmlns:a16="http://schemas.microsoft.com/office/drawing/2014/main" id="{304B3294-6A2C-4CBE-9D88-C604E742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733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yend">
            <a:extLst xmlns:a="http://schemas.openxmlformats.org/drawingml/2006/main">
              <a:ext uri="{FF2B5EF4-FFF2-40B4-BE49-F238E27FC236}">
                <a16:creationId xmlns:a16="http://schemas.microsoft.com/office/drawing/2014/main" id="{D139B1A7-ABFA-443F-83D7-49600E67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1715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5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1971675" y="2738438"/>
            <a:ext cx="27813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895A4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H="1" flipV="1">
            <a:off x="1962150" y="1176338"/>
            <a:ext cx="9525" cy="15621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8895A4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2028825" y="2738438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26A23"/>
            </a:solidFill>
            <a:prstDash val="soli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7" idx="0"/>
            <a:endCxn xmlns:a="http://schemas.openxmlformats.org/drawingml/2006/main" id="9" idx="4"/>
          </p:cNvCxnSpPr>
          <p:nvPr/>
        </p:nvCxnSpPr>
        <p:spPr>
          <a:xfrm xmlns:a="http://schemas.openxmlformats.org/drawingml/2006/main" flipV="1">
            <a:off x="1966913" y="1676400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37F79"/>
            </a:solidFill>
            <a:prstDash val="solid"/>
            <a:tailEnd type="triangle" w="sm" len="sm"/>
          </a:ln>
        </p:spPr>
      </p:cxnSp>
      <p:sp>
        <p:nvSpPr>
          <p:cNvPr id="28" name="Codebook objective">
            <a:extLst xmlns:a="http://schemas.openxmlformats.org/drawingml/2006/main">
              <a:ext uri="{FF2B5EF4-FFF2-40B4-BE49-F238E27FC236}">
                <a16:creationId xmlns:a16="http://schemas.microsoft.com/office/drawing/2014/main" id="{7B57ABF6-7B32-4B56-9F90-CEEA00B2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0052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L = Σⱼ (w̃ⱼ − C[zⱼ])ᵀ Mⱼ (w̃ⱼ − C[zⱼ])</a:t>
            </a:r>
          </a:p>
        </p:txBody>
      </p:sp>
      <p:sp>
        <p:nvSpPr>
          <p:cNvPr id="29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D8E50F77-3E82-4778-B8E7-9CD58041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Illustrative geometry, not measured data · M is an estimated PSD action-sensitivity metric</a:t>
            </a:r>
          </a:p>
        </p:txBody>
      </p:sp>
      <p:sp>
        <p:nvSpPr>
          <p:cNvPr id="3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B7DC776-E994-4E9A-8005-26FA36C0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After VQ: cache, kernels and QAT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Cache heading">
            <a:extLst xmlns:a="http://schemas.openxmlformats.org/drawingml/2006/main">
              <a:ext uri="{FF2B5EF4-FFF2-40B4-BE49-F238E27FC236}">
                <a16:creationId xmlns:a16="http://schemas.microsoft.com/office/drawing/2014/main" id="{450A193D-9839-44FA-964E-EF208C9D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69A9"/>
                </a:solidFill>
                <a:latin typeface="Arial"/>
                <a:ea typeface="Arial"/>
                <a:cs typeface="Arial"/>
              </a:rPr>
              <a:t>1   KV cache quantization</a:t>
            </a:r>
          </a:p>
        </p:txBody>
      </p:sp>
      <p:sp>
        <p:nvSpPr>
          <p:cNvPr id="5" name="Cache body">
            <a:extLst xmlns:a="http://schemas.openxmlformats.org/drawingml/2006/main">
              <a:ext uri="{FF2B5EF4-FFF2-40B4-BE49-F238E27FC236}">
                <a16:creationId xmlns:a16="http://schemas.microsoft.com/office/drawing/2014/main" id="{0F26C6FC-AE49-4B0C-A726-80A6700A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Test K/V precision after weight VQ; measure cache bytes and control fidelity.</a:t>
            </a:r>
          </a:p>
        </p:txBody>
      </p:sp>
      <p:sp>
        <p:nvSpPr>
          <p:cNvPr id="6" name="Kernel heading">
            <a:extLst xmlns:a="http://schemas.openxmlformats.org/drawingml/2006/main">
              <a:ext uri="{FF2B5EF4-FFF2-40B4-BE49-F238E27FC236}">
                <a16:creationId xmlns:a16="http://schemas.microsoft.com/office/drawing/2014/main" id="{50B6569D-12E0-4905-A300-C5480117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7F79"/>
                </a:solidFill>
                <a:latin typeface="Arial"/>
                <a:ea typeface="Arial"/>
                <a:cs typeface="Arial"/>
              </a:rPr>
              <a:t>2   Rudder-inspired VQ kernels</a:t>
            </a:r>
          </a:p>
        </p:txBody>
      </p:sp>
      <p:sp>
        <p:nvSpPr>
          <p:cNvPr id="7" name="Kernel body">
            <a:extLst xmlns:a="http://schemas.openxmlformats.org/drawingml/2006/main">
              <a:ext uri="{FF2B5EF4-FFF2-40B4-BE49-F238E27FC236}">
                <a16:creationId xmlns:a16="http://schemas.microsoft.com/office/drawing/2014/main" id="{4B706CD7-6052-4F33-8DD1-8A9C6C00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Fuse codebook lookup / decode with GEMM and scaling; test native end-to-end latency.</a:t>
            </a:r>
          </a:p>
        </p:txBody>
      </p:sp>
      <p:sp>
        <p:nvSpPr>
          <p:cNvPr id="8" name="QAT heading">
            <a:extLst xmlns:a="http://schemas.openxmlformats.org/drawingml/2006/main">
              <a:ext uri="{FF2B5EF4-FFF2-40B4-BE49-F238E27FC236}">
                <a16:creationId xmlns:a16="http://schemas.microsoft.com/office/drawing/2014/main" id="{43BEC1F8-5F25-41BB-A155-98743686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26A23"/>
                </a:solidFill>
                <a:latin typeface="Arial"/>
                <a:ea typeface="Arial"/>
                <a:cs typeface="Arial"/>
              </a:rPr>
              <a:t>3   QAT, if GPU budget permits</a:t>
            </a:r>
          </a:p>
        </p:txBody>
      </p:sp>
      <p:sp>
        <p:nvSpPr>
          <p:cNvPr id="9" name="QAT body">
            <a:extLst xmlns:a="http://schemas.openxmlformats.org/drawingml/2006/main">
              <a:ext uri="{FF2B5EF4-FFF2-40B4-BE49-F238E27FC236}">
                <a16:creationId xmlns:a16="http://schemas.microsoft.com/office/drawing/2014/main" id="{CA797E0A-CB0A-4E50-9C9E-AF0A6378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Start with an ActionDiT pilot; direct WAM-control QAT remains a direction to investigate.</a:t>
            </a:r>
          </a:p>
        </p:txBody>
      </p:sp>
      <p:sp>
        <p:nvSpPr>
          <p:cNvPr id="10" name="Evidence source">
            <a:extLst xmlns:a="http://schemas.openxmlformats.org/drawingml/2006/main">
              <a:ext uri="{FF2B5EF4-FFF2-40B4-BE49-F238E27FC236}">
                <a16:creationId xmlns:a16="http://schemas.microsoft.com/office/drawing/2014/main" id="{A77459B9-DBFD-487A-BACA-9F63136D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17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Order: weight-VQ fidelity → paired closed-loop evaluation → packed kernels → resource-dependent QAT</a:t>
            </a:r>
          </a:p>
        </p:txBody>
      </p:sp>
      <p:sp>
        <p:nvSpPr>
          <p:cNvPr id="1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CD19109-4212-4C3B-9E19-37F4968A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19625"/>
            <a:ext cx="247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2026-10-06T12:32:11.4530000Z</dcterms:created>
  <dcterms:modified xsi:type="dcterms:W3CDTF">2026-10-06T12:32:11.4530000Z</dcterms:modified>
</coreProperties>
</file>