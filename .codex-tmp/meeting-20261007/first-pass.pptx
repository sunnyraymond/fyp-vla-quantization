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2ef7b599d4ea5" /><Relationship Type="http://schemas.openxmlformats.org/officeDocument/2006/relationships/extended-properties" Target="/docProps/app.xml" Id="R3cca41a9c9a94e46" /><Relationship Type="http://schemas.openxmlformats.org/officeDocument/2006/relationships/officeDocument" Target="/ppt/presentation.xml" Id="Rc0eab88c7454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16e27b41a4616"/>
  </p:sldMasterIdLst>
  <p:notesMasterIdLst>
    <p:notesMasterId xmlns:r="http://schemas.openxmlformats.org/officeDocument/2006/relationships" r:id="R3a3a8efb299b4433"/>
  </p:notesMasterIdLst>
  <p:sldIdLst>
    <p:sldId xmlns:r="http://schemas.openxmlformats.org/officeDocument/2006/relationships" id="256" r:id="R63b1a3d9c6184973"/>
    <p:sldId xmlns:r="http://schemas.openxmlformats.org/officeDocument/2006/relationships" id="257" r:id="Rf1b7a44b4f67456e"/>
    <p:sldId xmlns:r="http://schemas.openxmlformats.org/officeDocument/2006/relationships" id="258" r:id="Reeb3ea005d3b4865"/>
    <p:sldId xmlns:r="http://schemas.openxmlformats.org/officeDocument/2006/relationships" id="259" r:id="R741af35f7ee04c80"/>
    <p:sldId xmlns:r="http://schemas.openxmlformats.org/officeDocument/2006/relationships" id="260" r:id="R303a33c771d64bcc"/>
    <p:sldId xmlns:r="http://schemas.openxmlformats.org/officeDocument/2006/relationships" id="261" r:id="R758258d2333c4ecd"/>
    <p:sldId xmlns:r="http://schemas.openxmlformats.org/officeDocument/2006/relationships" id="262" r:id="R008886cb6a194267"/>
    <p:sldId xmlns:r="http://schemas.openxmlformats.org/officeDocument/2006/relationships" id="263" r:id="R5405236e5163443a"/>
    <p:sldId xmlns:r="http://schemas.openxmlformats.org/officeDocument/2006/relationships" id="264" r:id="Rfd3d15feb3a34f66"/>
    <p:sldId xmlns:r="http://schemas.openxmlformats.org/officeDocument/2006/relationships" id="265" r:id="R6586880e81944936"/>
    <p:sldId xmlns:r="http://schemas.openxmlformats.org/officeDocument/2006/relationships" id="266" r:id="R04ee5dc7648f456a"/>
    <p:sldId xmlns:r="http://schemas.openxmlformats.org/officeDocument/2006/relationships" id="267" r:id="R7732e668435a4db1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26a4d828d24ae7" /><Relationship Type="http://schemas.openxmlformats.org/officeDocument/2006/relationships/slideMaster" Target="/ppt/slideMasters/slideMaster1.xml" Id="Rb9916e27b41a4616" /><Relationship Type="http://schemas.openxmlformats.org/officeDocument/2006/relationships/notesMaster" Target="/ppt/notesMasters/notesMaster1.xml" Id="R3a3a8efb299b4433" /><Relationship Type="http://schemas.openxmlformats.org/officeDocument/2006/relationships/presProps" Target="/ppt/presProps.xml" Id="Rb4bde7815b9a4435" /><Relationship Type="http://schemas.openxmlformats.org/officeDocument/2006/relationships/viewProps" Target="/ppt/viewProps.xml" Id="Rf3ef7f1521564784" /><Relationship Type="http://schemas.openxmlformats.org/officeDocument/2006/relationships/tableStyles" Target="/ppt/tableStyles.xml" Id="R8112364c37304822" /><Relationship Type="http://schemas.openxmlformats.org/officeDocument/2006/relationships/slide" Target="/ppt/slides/slide1.xml" Id="R63b1a3d9c6184973" /><Relationship Type="http://schemas.openxmlformats.org/officeDocument/2006/relationships/slide" Target="/ppt/slides/slide2.xml" Id="Rf1b7a44b4f67456e" /><Relationship Type="http://schemas.openxmlformats.org/officeDocument/2006/relationships/slide" Target="/ppt/slides/slide3.xml" Id="Reeb3ea005d3b4865" /><Relationship Type="http://schemas.openxmlformats.org/officeDocument/2006/relationships/slide" Target="/ppt/slides/slide4.xml" Id="R741af35f7ee04c80" /><Relationship Type="http://schemas.openxmlformats.org/officeDocument/2006/relationships/slide" Target="/ppt/slides/slide5.xml" Id="R303a33c771d64bcc" /><Relationship Type="http://schemas.openxmlformats.org/officeDocument/2006/relationships/slide" Target="/ppt/slides/slide6.xml" Id="R758258d2333c4ecd" /><Relationship Type="http://schemas.openxmlformats.org/officeDocument/2006/relationships/slide" Target="/ppt/slides/slide7.xml" Id="R008886cb6a194267" /><Relationship Type="http://schemas.openxmlformats.org/officeDocument/2006/relationships/slide" Target="/ppt/slides/slide8.xml" Id="R5405236e5163443a" /><Relationship Type="http://schemas.openxmlformats.org/officeDocument/2006/relationships/slide" Target="/ppt/slides/slide9.xml" Id="Rfd3d15feb3a34f66" /><Relationship Type="http://schemas.openxmlformats.org/officeDocument/2006/relationships/slide" Target="/ppt/slides/slide10.xml" Id="R6586880e81944936" /><Relationship Type="http://schemas.openxmlformats.org/officeDocument/2006/relationships/slide" Target="/ppt/slides/slide11.xml" Id="R04ee5dc7648f456a" /><Relationship Type="http://schemas.openxmlformats.org/officeDocument/2006/relationships/slide" Target="/ppt/slides/slide12.xml" Id="R7732e668435a4d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1557a423b6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dc2f252504727" /><Relationship Type="http://schemas.openxmlformats.org/officeDocument/2006/relationships/notesMaster" Target="/ppt/notesMasters/notesMaster1.xml" Id="R2dfad09ec375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ed058ba2b64013" /><Relationship Type="http://schemas.openxmlformats.org/officeDocument/2006/relationships/notesMaster" Target="/ppt/notesMasters/notesMaster1.xml" Id="Rf71968b6cce3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c858d23f846f2" /><Relationship Type="http://schemas.openxmlformats.org/officeDocument/2006/relationships/notesMaster" Target="/ppt/notesMasters/notesMaster1.xml" Id="Rcb89c98f5e2540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07806e5f174e87" /><Relationship Type="http://schemas.openxmlformats.org/officeDocument/2006/relationships/notesMaster" Target="/ppt/notesMasters/notesMaster1.xml" Id="R7096f2326316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0c746a82524220" /><Relationship Type="http://schemas.openxmlformats.org/officeDocument/2006/relationships/notesMaster" Target="/ppt/notesMasters/notesMaster1.xml" Id="R01871ede3d0b45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8f45ef368c4de6" /><Relationship Type="http://schemas.openxmlformats.org/officeDocument/2006/relationships/notesMaster" Target="/ppt/notesMasters/notesMaster1.xml" Id="Rbeab8df4450346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5692052200462b" /><Relationship Type="http://schemas.openxmlformats.org/officeDocument/2006/relationships/notesMaster" Target="/ppt/notesMasters/notesMaster1.xml" Id="Raab105ec375a48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0633e984ec47be" /><Relationship Type="http://schemas.openxmlformats.org/officeDocument/2006/relationships/notesMaster" Target="/ppt/notesMasters/notesMaster1.xml" Id="R5567414e991d41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9ca561ea3e4210" /><Relationship Type="http://schemas.openxmlformats.org/officeDocument/2006/relationships/notesMaster" Target="/ppt/notesMasters/notesMaster1.xml" Id="R9f8ed18630fa4a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f63579beb400e" /><Relationship Type="http://schemas.openxmlformats.org/officeDocument/2006/relationships/notesMaster" Target="/ppt/notesMasters/notesMaster1.xml" Id="Rf849ad54b64c4e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60f40ef19e4386" /><Relationship Type="http://schemas.openxmlformats.org/officeDocument/2006/relationships/notesMaster" Target="/ppt/notesMasters/notesMaster1.xml" Id="Rcff61ba9205441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91c6407daa40e9" /><Relationship Type="http://schemas.openxmlformats.org/officeDocument/2006/relationships/notesMaster" Target="/ppt/notesMasters/notesMaster1.xml" Id="Rf7e834d7d4ae4f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Fast-WAM 的独立 ActionDiT 做可控、范围小的 weight VQ pilot。当前 Optional-IDM 实现分两段：先 denoise video，然后将完整 denoised video 固定为条件，prefill video K/V，再 denoise action。图按当前实现绘制，不把论文的 first-frame-only 快速路径混入本地 Optional-IDM。第一轮 VQ 只改 ActionDiT，video branch 保留 BF16，并不等同于前面的现有四臂联合 Linear 量化配置。</a:t>
            </a:r>
          </a:p>
          <a:p xmlns:a="http://schemas.openxmlformats.org/drawingml/2006/main">
            <a:r>
              <a:t>之后推广到 LingBot-VA 和 Cosmos-Policy；共享 backbone 模型应称 action-targeted，不能假设仍是完全独立的 action-only 模块。</a:t>
            </a:r>
          </a:p>
          <a:p xmlns:a="http://schemas.openxmlformats.org/drawingml/2006/main">
            <a:r>
              <a:t>来源：Fast-WAM arXiv:2603.16666v2；本地 FastWAM/src/fastwam/models/wan22/fastwam_idm.py，Stage 1/2 inference implementation。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 xmlns:a="http://schemas.openxmlformats.org/drawingml/2006/main"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SteerQuant Table 1 的 FastWAMJoint 部分，保留原 PDF pixels。为了可读性，zoom 从同一页拼接左侧 Precision/Method 与右侧 FastWAMJoint panel，没有改写数字。红圈标出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 xmlns:a="http://schemas.openxmlformats.org/drawingml/2006/main"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这页放两种不同分母、不同目的的 fixed-observation 证据，务必分成两个视觉区域。左侧是 all-completed 聚合中的 n=300 个 paired reset-observation 动作对比：动作块前 10 个 motor action 的 median normalized RMSE，W4A8 vs BF16 为 0.02283，W4A4 vs BF16 为 0.32219，W4A4KV4 vs BF16 为 0.32173，KV4 臂 vs W4A4 为 0.03870。该误差在闭环 rollout 之前已出现。右侧仅为 diagnose_a4 的一个 observation、四次 arm/reference 查询、0 个环境步，不计 episode：native W4A4 vs BF16 的前10 motor RMSE 为 0.2853；native 与独立 FP32 解量化参考在整个 32×7 action chunk 上 RMSE 为 0.04068；INT4 计数器增加 6,436。前10位置离散 gripper command 与 BF16 相同（0/10 flips），但连续 gripper RMSE 仍是 0.1322。诊断数组的 action位置 0–9 与10–31 motor RMSE是0.2853与0.2737；这里的 index 是 32-step action chunk 的位置，不是 10 个 diffusion denoising iterations；逐扩散步误差没有保存。W4A8与W4A4共用W4权重，分别切换A8/A4；没有W4-only或W16A4臂，所以不能把下降归结为activation或weight的单独效应。Kernel gate、native counter和FP32 reference只支持本诊断中存在真实执行且未见明显kernel实现异常，不能证明泛化精度。该 diagnose_a4 脚本标记 measure=False、timing_claim=none；其查询wall seconds不是native latency或deployment slowdown。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  <a:p xmlns:a="http://schemas.openxmlformats.org/drawingml/2006/main">
            <a:r>
              <a:t>本地来源：D:/Downloads/Final Year Project/experiment/idea-validation/fastwam-libero-plus-pilot/artifacts/25698767.pbs101/diagnostic/diagnose_a4.json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 xmlns:a="http://schemas.openxmlformats.org/drawingml/2006/main"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 xmlns:a="http://schemas.openxmlformats.org/drawingml/2006/main"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 xmlns:a="http://schemas.openxmlformats.org/drawingml/2006/main"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这是待验证方案，不是实测结论。第一阶段先做weight VQ，activation维持BF16，使codebook效果可单独评估；之后再试A8/A4。SmoothQuant式D缩放与Hadamard H作用于同一个输入feature维度：若Y=XWᵀ，设X̃=XD⁻¹H、W̃=WDH，并满足D可逆、HHᵀ=I，则量化前X̃W̃ᵀ=XWᵀ。这个配对变换把缩放的负担转到weight branch，再用VQ处理变换后的weight groups。Hadamard只保证正交与norm保持，不能直接保证每个operator的outlier下降；需测activation tails、weight tails和operator placement。</a:t>
            </a:r>
          </a:p>
          <a:p xmlns:a="http://schemas.openxmlformats.org/drawingml/2006/main">
            <a:r>
              <a:t>Action sensitivity M从calibration估计，用于偏向保护敏感方向的codebook与assignment。必须和uniform/L2 codebook在相同bit/byte预算下比较，并记录closed-loop success，避免仅看weight reconstruction MSE。图中decode是概念路径，第一轮可先做fidelity验证；performance需要packed表示与native kernel。</a:t>
            </a:r>
          </a:p>
          <a:p xmlns:a="http://schemas.openxmlformats.org/drawingml/2006/main">
            <a:r>
              <a:t>来源：SmoothQuant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这是人工构造的二维示意图，不是实验点或论文结果。权重block w=(0,0)，两个候选codewords：c₁=(0.3,0)、c₂=(0,0.6)。普通Euclidean distortion分别为0.09与0.36，会选择c₁。设action sensitivity metric M=diag(9,1)，action-weighted distortion分别为0.81与0.36，选择c₂。尽管c₂的Euclidean距离更远，它沿更不敏感方向引入误差。椭圆表示固定action-weighted error水平集；敏感方向容许更小偏差。</a:t>
            </a:r>
          </a:p>
          <a:p xmlns:a="http://schemas.openxmlformats.org/drawingml/2006/main">
            <a:r>
              <a:t>实际codebook需优化Σⱼ(w̃ⱼ−c_zj)ᵀMⱼ(w̃ⱼ−c_zj)。可用M≈E[JᵀJ]（J从变换后weight group到最终action的Jacobian，包含denoising），或低秩/梯度PSD proxy。逐组求和忽略cross-group terms，是local approximation。所有metric与codebook必须在同一transformed coordinates中定义。</a:t>
            </a:r>
          </a:p>
          <a:p xmlns:a="http://schemas.openxmlformats.org/drawingml/2006/main">
            <a:r>
              <a:t>第一轮消融：L2 VQ → +D/H → +action metric，固定storage预算与paired protocol。只有weight误差小不保证控制更好；需看action fidelity和paired closed-loop outcomes。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先完成weight VQ的fidelity与closed-loop gate，再扩展：</a:t>
            </a:r>
          </a:p>
          <a:p xmlns:a="http://schemas.openxmlformats.org/drawingml/2006/main"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 xmlns:a="http://schemas.openxmlformats.org/drawingml/2006/main"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 xmlns:a="http://schemas.openxmlformats.org/drawingml/2006/main"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 xmlns:a="http://schemas.openxmlformats.org/drawingml/2006/main"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58bdc455f4c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b2ee35d8d42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47e667d9b414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68b96711e46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40471770946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81e65fec84e4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8bed9812e42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7285cea403408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149830b95407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fa4fc9dff2fb4990" /><Relationship Type="http://schemas.openxmlformats.org/officeDocument/2006/relationships/image" Target="/ppt/media/image2.png" Id="Rfeb69748bff6434d" /><Relationship Type="http://schemas.openxmlformats.org/officeDocument/2006/relationships/theme" Target="/ppt/slideMasters/theme/theme2.xml" Id="R41fd6e6087a140a4" /><Relationship Type="http://schemas.openxmlformats.org/officeDocument/2006/relationships/slideLayout" Target="/ppt/slideLayouts/slideLayout1.xml" Id="Rd35c89b791a2474b" /><Relationship Type="http://schemas.openxmlformats.org/officeDocument/2006/relationships/slideLayout" Target="/ppt/slideLayouts/slideLayout2.xml" Id="R85742d518f3047c3" /><Relationship Type="http://schemas.openxmlformats.org/officeDocument/2006/relationships/slideLayout" Target="/ppt/slideLayouts/slideLayout3.xml" Id="Re98109ee23214854" /><Relationship Type="http://schemas.openxmlformats.org/officeDocument/2006/relationships/slideLayout" Target="/ppt/slideLayouts/slideLayout4.xml" Id="Rfc80c6b622774ce9" /><Relationship Type="http://schemas.openxmlformats.org/officeDocument/2006/relationships/slideLayout" Target="/ppt/slideLayouts/slideLayout5.xml" Id="Rd236a19a83f54337" /><Relationship Type="http://schemas.openxmlformats.org/officeDocument/2006/relationships/slideLayout" Target="/ppt/slideLayouts/slideLayout6.xml" Id="Rbbbabc659abf475c" /><Relationship Type="http://schemas.openxmlformats.org/officeDocument/2006/relationships/slideLayout" Target="/ppt/slideLayouts/slideLayout7.xml" Id="Rfd68502dc32344f2" /><Relationship Type="http://schemas.openxmlformats.org/officeDocument/2006/relationships/slideLayout" Target="/ppt/slideLayouts/slideLayout8.xml" Id="R7b29df02fc3e49d4" /><Relationship Type="http://schemas.openxmlformats.org/officeDocument/2006/relationships/slideLayout" Target="/ppt/slideLayouts/slideLayout9.xml" Id="Rbed8d097842a40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fc9dff2fb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b69748bff6434d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5c89b791a2474b"/>
    <p:sldLayoutId xmlns:r="http://schemas.openxmlformats.org/officeDocument/2006/relationships" id="2147483650" r:id="R85742d518f3047c3"/>
    <p:sldLayoutId xmlns:r="http://schemas.openxmlformats.org/officeDocument/2006/relationships" id="2147483651" r:id="Re98109ee23214854"/>
    <p:sldLayoutId xmlns:r="http://schemas.openxmlformats.org/officeDocument/2006/relationships" id="2147483652" r:id="Rfc80c6b622774ce9"/>
    <p:sldLayoutId xmlns:r="http://schemas.openxmlformats.org/officeDocument/2006/relationships" id="2147483653" r:id="Rd236a19a83f54337"/>
    <p:sldLayoutId xmlns:r="http://schemas.openxmlformats.org/officeDocument/2006/relationships" id="2147483654" r:id="Rbbbabc659abf475c"/>
    <p:sldLayoutId xmlns:r="http://schemas.openxmlformats.org/officeDocument/2006/relationships" id="2147483655" r:id="Rfd68502dc32344f2"/>
    <p:sldLayoutId xmlns:r="http://schemas.openxmlformats.org/officeDocument/2006/relationships" id="2147483656" r:id="R7b29df02fc3e49d4"/>
    <p:sldLayoutId xmlns:r="http://schemas.openxmlformats.org/officeDocument/2006/relationships" id="2147483657" r:id="Rbed8d097842a4054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9e2a1c2fc413e" /><Relationship Type="http://schemas.openxmlformats.org/officeDocument/2006/relationships/image" Target="/ppt/media/image.jpeg" Id="Ra9a97200a85b4e61" /><Relationship Type="http://schemas.openxmlformats.org/officeDocument/2006/relationships/notesSlide" Target="/ppt/notesSlides/notesSlide1.xml" Id="R98f941b82df6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398f87eca94b5e" /><Relationship Type="http://schemas.openxmlformats.org/officeDocument/2006/relationships/notesSlide" Target="/ppt/notesSlides/notesSlide2.xml" Id="R2e7f93483d85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141a4d559c4a3e" /><Relationship Type="http://schemas.openxmlformats.org/officeDocument/2006/relationships/image" Target="/ppt/media/image3.png" Id="R4f3f0ea097a44d30" /><Relationship Type="http://schemas.openxmlformats.org/officeDocument/2006/relationships/notesSlide" Target="/ppt/notesSlides/notesSlide3.xml" Id="R357070f6944644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403b4e35f4908" /><Relationship Type="http://schemas.openxmlformats.org/officeDocument/2006/relationships/image" Target="/ppt/media/image4.png" Id="R52d66c4396d44e22" /><Relationship Type="http://schemas.openxmlformats.org/officeDocument/2006/relationships/notesSlide" Target="/ppt/notesSlides/notesSlide4.xml" Id="Rc29f70562ae743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3367bb867f466f" /><Relationship Type="http://schemas.openxmlformats.org/officeDocument/2006/relationships/notesSlide" Target="/ppt/notesSlides/notesSlide5.xml" Id="R1e1e2aec9b0f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4f0410d1c459a" /><Relationship Type="http://schemas.openxmlformats.org/officeDocument/2006/relationships/notesSlide" Target="/ppt/notesSlides/notesSlide6.xml" Id="R9e98ca8f6bf242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ec3ab5436243b4" /><Relationship Type="http://schemas.openxmlformats.org/officeDocument/2006/relationships/image" Target="/ppt/media/image5.png" Id="R82808175c2684584" /><Relationship Type="http://schemas.openxmlformats.org/officeDocument/2006/relationships/notesSlide" Target="/ppt/notesSlides/notesSlide7.xml" Id="R4c1c803355304c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2cfba80c34a87" /><Relationship Type="http://schemas.openxmlformats.org/officeDocument/2006/relationships/image" Target="/ppt/media/image6.png" Id="Rb7d9df087af842f6" /><Relationship Type="http://schemas.openxmlformats.org/officeDocument/2006/relationships/notesSlide" Target="/ppt/notesSlides/notesSlide8.xml" Id="Raf61185808d44d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a1b3eaf2cf45e8" /><Relationship Type="http://schemas.openxmlformats.org/officeDocument/2006/relationships/image" Target="/ppt/media/image7.png" Id="R4917c07bddf84703" /><Relationship Type="http://schemas.openxmlformats.org/officeDocument/2006/relationships/notesSlide" Target="/ppt/notesSlides/notesSlide9.xml" Id="R2162b47f783b43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16b38c0c374213" /><Relationship Type="http://schemas.openxmlformats.org/officeDocument/2006/relationships/notesSlide" Target="/ppt/notesSlides/notesSlide10.xml" Id="R7b0e52e96d0642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b2ac8dde194681" /><Relationship Type="http://schemas.openxmlformats.org/officeDocument/2006/relationships/notesSlide" Target="/ppt/notesSlides/notesSlide11.xml" Id="R15f633b1eac046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54273995d405a" /><Relationship Type="http://schemas.openxmlformats.org/officeDocument/2006/relationships/notesSlide" Target="/ppt/notesSlides/notesSlide12.xml" Id="Rcb1e7d89be6c4309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a9a97200a85b4e6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56726" y="1743075"/>
            <a:ext cx="5953125" cy="12001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  <a:endParaRPr sz="3200" b="1">
              <a:solidFill>
                <a:schemeClr val="bg1"/>
              </a:solidFill>
            </a:endParaRPr>
          </a:p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6726" y="4000500"/>
            <a:ext cx="5953125" cy="7620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NTU · College of Computing and Data Science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October 2026</a:t>
            </a:r>
          </a:p>
        </p:txBody>
      </p:sp>
      <p:sp>
        <p:nvSpPr>
          <p:cNvPr id="4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9146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</p:txBody>
      </p:sp>
      <p:sp>
        <p:nvSpPr>
          <p:cNvPr id="5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DD459B0F-1992-48AD-9588-868B3455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3105150"/>
            <a:ext cx="595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Fast-WAM baseline → action-sensitive weight VQ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tage1">
            <a:extLst xmlns:a="http://schemas.openxmlformats.org/drawingml/2006/main">
              <a:ext uri="{FF2B5EF4-FFF2-40B4-BE49-F238E27FC236}">
                <a16:creationId xmlns:a16="http://schemas.microsoft.com/office/drawing/2014/main" id="{7C6CD945-270D-45A5-9C83-FFDD563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857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 xmlns:a="http://schemas.openxmlformats.org/drawingml/2006/main">
              <a:ext uri="{FF2B5EF4-FFF2-40B4-BE49-F238E27FC236}">
                <a16:creationId xmlns:a16="http://schemas.microsoft.com/office/drawing/2014/main" id="{5769D4ED-A15F-41FD-92E7-29AD2E1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01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 xmlns:a="http://schemas.openxmlformats.org/drawingml/2006/main">
              <a:ext uri="{FF2B5EF4-FFF2-40B4-BE49-F238E27FC236}">
                <a16:creationId xmlns:a16="http://schemas.microsoft.com/office/drawing/2014/main" id="{37E8E62D-732E-41A1-B823-2BB4F1E7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1181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 xmlns:a="http://schemas.openxmlformats.org/drawingml/2006/main">
              <a:ext uri="{FF2B5EF4-FFF2-40B4-BE49-F238E27FC236}">
                <a16:creationId xmlns:a16="http://schemas.microsoft.com/office/drawing/2014/main" id="{35B3B05B-8283-40F1-980C-1EE4E424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1762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 xmlns:a="http://schemas.openxmlformats.org/drawingml/2006/main">
              <a:ext uri="{FF2B5EF4-FFF2-40B4-BE49-F238E27FC236}">
                <a16:creationId xmlns:a16="http://schemas.microsoft.com/office/drawing/2014/main" id="{B9E60223-25A0-4A98-969B-9CD7D936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 xmlns:a="http://schemas.openxmlformats.org/drawingml/2006/main">
              <a:ext uri="{FF2B5EF4-FFF2-40B4-BE49-F238E27FC236}">
                <a16:creationId xmlns:a16="http://schemas.microsoft.com/office/drawing/2014/main" id="{69501B0E-7F92-43FC-A664-83411B89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 xmlns:a="http://schemas.openxmlformats.org/drawingml/2006/main"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5133F178-124B-446C-91D0-F9F72A72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71625"/>
            <a:ext cx="18383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First VQ target:</a:t>
            </a:r>
          </a:p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</p:txBody>
      </p:sp>
      <p:sp>
        <p:nvSpPr>
          <p:cNvPr id="11" name="frozen">
            <a:extLst xmlns:a="http://schemas.openxmlformats.org/drawingml/2006/main">
              <a:ext uri="{FF2B5EF4-FFF2-40B4-BE49-F238E27FC236}">
                <a16:creationId xmlns:a16="http://schemas.microsoft.com/office/drawing/2014/main" id="{37B266B5-2ADC-4DB6-98C6-7E4E69B3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609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 xmlns:a="http://schemas.openxmlformats.org/drawingml/2006/main">
              <a:ext uri="{FF2B5EF4-FFF2-40B4-BE49-F238E27FC236}">
                <a16:creationId xmlns:a16="http://schemas.microsoft.com/office/drawing/2014/main" id="{CB97ED70-E989-4D94-AD0A-CCEC52D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1762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 xmlns:a="http://schemas.openxmlformats.org/drawingml/2006/main">
              <a:ext uri="{FF2B5EF4-FFF2-40B4-BE49-F238E27FC236}">
                <a16:creationId xmlns:a16="http://schemas.microsoft.com/office/drawing/2014/main" id="{2EA69E00-54B1-4429-989A-CFA9A20E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1838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 xmlns:a="http://schemas.openxmlformats.org/drawingml/2006/main">
              <a:ext uri="{FF2B5EF4-FFF2-40B4-BE49-F238E27FC236}">
                <a16:creationId xmlns:a16="http://schemas.microsoft.com/office/drawing/2014/main" id="{E707152F-B98C-4781-A0AE-DB342EF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LingBot-VA  →  Cosmos-Policy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04975" y="196691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57625" y="19669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head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505450" y="23622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3385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24600" y="33385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headEnd type="triangle" w="sm" len="sm"/>
          </a:ln>
        </p:spPr>
      </p:cxnSp>
      <p:sp>
        <p:nvSpPr>
          <p:cNvPr id="2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7EE0B4F-70D6-4A5B-B66D-F8751FD0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B1C46D1-9A81-49EC-9714-7E226C20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30A77A47-00C7-4D93-8FD1-7164C9C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f0ea097a44d30"/>
          <a:stretch xmlns:a="http://schemas.openxmlformats.org/drawingml/2006/main"/>
        </p:blipFill>
        <p:spPr>
          <a:xfrm xmlns:a="http://schemas.openxmlformats.org/drawingml/2006/main">
            <a:off x="333375" y="1394232"/>
            <a:ext cx="8477250" cy="1964511"/>
          </a:xfrm>
          <a:prstGeom xmlns:a="http://schemas.openxmlformats.org/drawingml/2006/main" prst="rect">
            <a:avLst/>
          </a:prstGeom>
        </p:spPr>
      </p:pic>
      <p:sp>
        <p:nvSpPr>
          <p:cNvPr id="6" name="SVDQuant reference">
            <a:extLst xmlns:a="http://schemas.openxmlformats.org/drawingml/2006/main">
              <a:ext uri="{FF2B5EF4-FFF2-40B4-BE49-F238E27FC236}">
                <a16:creationId xmlns:a16="http://schemas.microsoft.com/office/drawing/2014/main" id="{66DB8687-6D3D-4C07-8303-765B56BE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809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 xmlns:a="http://schemas.openxmlformats.org/drawingml/2006/main">
              <a:ext uri="{FF2B5EF4-FFF2-40B4-BE49-F238E27FC236}">
                <a16:creationId xmlns:a16="http://schemas.microsoft.com/office/drawing/2014/main" id="{52A373AB-8008-4BF1-B290-3C59C833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8096A6E7-1647-4DD8-9BC9-B4AADAA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6DF4BDF-DFF7-4123-8D70-3CE2CFCA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0F776244-85EC-44D8-9957-D8ECB2F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panel of Table 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6c4396d44e22"/>
          <a:stretch xmlns:a="http://schemas.openxmlformats.org/drawingml/2006/main"/>
        </p:blipFill>
        <p:spPr>
          <a:xfrm xmlns:a="http://schemas.openxmlformats.org/drawingml/2006/main">
            <a:off x="2319685" y="1219200"/>
            <a:ext cx="4504630" cy="2705100"/>
          </a:xfrm>
          <a:prstGeom xmlns:a="http://schemas.openxmlformats.org/drawingml/2006/main" prst="rect">
            <a:avLst/>
          </a:prstGeom>
        </p:spPr>
      </p:pic>
      <p:sp>
        <p:nvSpPr>
          <p:cNvPr id="6" name="Circle SVDQuant W4A4 Avg 98.2">
            <a:extLst xmlns:a="http://schemas.openxmlformats.org/drawingml/2006/main">
              <a:ext uri="{FF2B5EF4-FFF2-40B4-BE49-F238E27FC236}">
                <a16:creationId xmlns:a16="http://schemas.microsoft.com/office/drawing/2014/main" id="{71841DD2-596D-43E3-9E93-87EE5CF6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449" y="3347676"/>
            <a:ext cx="294117" cy="13544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CB3141"/>
            </a:solidFill>
          </a:ln>
        </p:spPr>
      </p:sp>
      <p:sp>
        <p:nvSpPr>
          <p:cNvPr id="7" name="Cross-paper discrepancy">
            <a:extLst xmlns:a="http://schemas.openxmlformats.org/drawingml/2006/main">
              <a:ext uri="{FF2B5EF4-FFF2-40B4-BE49-F238E27FC236}">
                <a16:creationId xmlns:a16="http://schemas.microsoft.com/office/drawing/2014/main" id="{363E2B73-3A69-4579-8F5A-275AA3FC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 xmlns:a="http://schemas.openxmlformats.org/drawingml/2006/main">
              <a:ext uri="{FF2B5EF4-FFF2-40B4-BE49-F238E27FC236}">
                <a16:creationId xmlns:a16="http://schemas.microsoft.com/office/drawing/2014/main" id="{6EFA2F52-2E0B-4DFA-A6E2-34EC2364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2E22D6FE-DC37-4BE9-A30F-361A113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2722847-C80F-4190-951F-FE1DC22E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ilot subtitle">
            <a:extLst xmlns:a="http://schemas.openxmlformats.org/drawingml/2006/main">
              <a:ext uri="{FF2B5EF4-FFF2-40B4-BE49-F238E27FC236}">
                <a16:creationId xmlns:a16="http://schemas.microsoft.com/office/drawing/2014/main" id="{B897DD80-57FD-4291-B4AF-281739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Spatial only · 6 of 28 planned cells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80962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90850"/>
                <a:gridCol w="1276350"/>
                <a:gridCol w="1276350"/>
                <a:gridCol w="1276350"/>
                <a:gridCol w="1276350"/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Pilot observation">
            <a:extLst xmlns:a="http://schemas.openxmlformats.org/drawingml/2006/main">
              <a:ext uri="{FF2B5EF4-FFF2-40B4-BE49-F238E27FC236}">
                <a16:creationId xmlns:a16="http://schemas.microsoft.com/office/drawing/2014/main" id="{AD8EA63F-0AD0-4000-AFC9-DCFF671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F5C00978-4CCE-4E28-9151-5BBB92E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A830BB9-57F0-472E-874B-E9D274C5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set panel title">
            <a:extLst xmlns:a="http://schemas.openxmlformats.org/drawingml/2006/main">
              <a:ext uri="{FF2B5EF4-FFF2-40B4-BE49-F238E27FC236}">
                <a16:creationId xmlns:a16="http://schemas.microsoft.com/office/drawing/2014/main" id="{C209D93D-8D43-4B22-A246-70782112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 xmlns:a="http://schemas.openxmlformats.org/drawingml/2006/main">
              <a:ext uri="{FF2B5EF4-FFF2-40B4-BE49-F238E27FC236}">
                <a16:creationId xmlns:a16="http://schemas.microsoft.com/office/drawing/2014/main" id="{806053CA-4284-40EC-8CD1-B41A480A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 · first 10 actions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724025"/>
          <a:ext xmlns:a="http://schemas.openxmlformats.org/drawingml/2006/main" cx="38671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6525"/>
                <a:gridCol w="11906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ative panel title">
            <a:extLst xmlns:a="http://schemas.openxmlformats.org/drawingml/2006/main">
              <a:ext uri="{FF2B5EF4-FFF2-40B4-BE49-F238E27FC236}">
                <a16:creationId xmlns:a16="http://schemas.microsoft.com/office/drawing/2014/main" id="{4793B2EE-ED4F-4FD3-AF44-F9DD340C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819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One-input native-path check</a:t>
            </a:r>
          </a:p>
        </p:txBody>
      </p:sp>
      <p:sp>
        <p:nvSpPr>
          <p:cNvPr id="8" name="Native panel definition">
            <a:extLst xmlns:a="http://schemas.openxmlformats.org/drawingml/2006/main">
              <a:ext uri="{FF2B5EF4-FFF2-40B4-BE49-F238E27FC236}">
                <a16:creationId xmlns:a16="http://schemas.microsoft.com/office/drawing/2014/main" id="{66A8C942-0F8A-46C9-BCEC-85AF9CA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620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Same input · 4 queries · no rollout steps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714875" y="1724025"/>
          <a:ext xmlns:a="http://schemas.openxmlformats.org/drawingml/2006/main" cx="3905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8925"/>
                <a:gridCol w="10763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 measure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 vs BF16 motor RMSE¹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0.2853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Native vs FP32 ref. RMSE²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0.0407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INT4 GEMM calls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6,436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Discrete gripper flips¹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0/10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iagnosis interpretation">
            <a:extLst xmlns:a="http://schemas.openxmlformats.org/drawingml/2006/main">
              <a:ext uri="{FF2B5EF4-FFF2-40B4-BE49-F238E27FC236}">
                <a16:creationId xmlns:a16="http://schemas.microsoft.com/office/drawing/2014/main" id="{0057637A-F106-4196-8D7A-7FD5EB2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The A4 recipe needs diagnosis; current controls do not isolate W-only or A-only effects.</a:t>
            </a:r>
          </a:p>
        </p:txBody>
      </p:sp>
      <p:sp>
        <p:nvSpPr>
          <p:cNvPr id="11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7D2A13B9-8DBD-48C1-9CD1-8BF91436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¹ First 10 action positions. ² Full 32×7 chunk, all channels. Fixed-input fidelity; no timing claim.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1721F7F-2FAC-47E4-8A77-4A57DC13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08175c2684584"/>
          <a:stretch xmlns:a="http://schemas.openxmlformats.org/drawingml/2006/main"/>
        </p:blipFill>
        <p:spPr>
          <a:xfrm xmlns:a="http://schemas.openxmlformats.org/drawingml/2006/main">
            <a:off x="1345197" y="809625"/>
            <a:ext cx="6453607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30B46099-273A-4DE7-BE74-BD02FA1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FC576FE3-205A-4EA1-B74F-E313EF07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F7EF047-2049-467F-A9EF-F7A797D4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9df087af842f6"/>
          <a:stretch xmlns:a="http://schemas.openxmlformats.org/drawingml/2006/main"/>
        </p:blipFill>
        <p:spPr>
          <a:xfrm xmlns:a="http://schemas.openxmlformats.org/drawingml/2006/main">
            <a:off x="1935359" y="781050"/>
            <a:ext cx="5273282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87D70FC8-1481-4D19-B50B-05AF823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42A4CD81-F6B6-42FE-A181-84BFC6AF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0F0BF78-B322-4B56-BDFE-D7D488FE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7c07bddf84703"/>
          <a:stretch xmlns:a="http://schemas.openxmlformats.org/drawingml/2006/main"/>
        </p:blipFill>
        <p:spPr>
          <a:xfrm xmlns:a="http://schemas.openxmlformats.org/drawingml/2006/main">
            <a:off x="2018043" y="771525"/>
            <a:ext cx="5107913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FED453D4-6D5A-4A9F-B7EA-A0B9AF3D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1FA89B72-5528-4E4F-BB5F-5FEDE0B6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20DB37-C852-4D40-ABC0-6CEF16D7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step: action-sensitive weight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E3D2972F-7F70-4C7C-A84D-C07B728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96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Equivalent reparameterization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4D737B82-8BC8-4285-A4B0-1E7E2A2F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09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Weight VQ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39FB8670-A3E6-4252-A87D-A94419C4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9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(c) Action inference</a:t>
            </a:r>
          </a:p>
        </p:txBody>
      </p:sp>
      <p:sp>
        <p:nvSpPr>
          <p:cNvPr id="7" name="x">
            <a:extLst xmlns:a="http://schemas.openxmlformats.org/drawingml/2006/main">
              <a:ext uri="{FF2B5EF4-FFF2-40B4-BE49-F238E27FC236}">
                <a16:creationId xmlns:a16="http://schemas.microsoft.com/office/drawing/2014/main" id="{C883A4AA-8387-4C4F-9923-07D1D9F4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xs">
            <a:extLst xmlns:a="http://schemas.openxmlformats.org/drawingml/2006/main">
              <a:ext uri="{FF2B5EF4-FFF2-40B4-BE49-F238E27FC236}">
                <a16:creationId xmlns:a16="http://schemas.microsoft.com/office/drawing/2014/main" id="{96781B02-B70E-4C83-8A04-EE736B1E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Scale + Hadamard</a:t>
            </a:r>
          </a:p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X̃ = XD⁻¹H</a:t>
            </a:r>
          </a:p>
        </p:txBody>
      </p:sp>
      <p:sp>
        <p:nvSpPr>
          <p:cNvPr id="9" name="aq">
            <a:extLst xmlns:a="http://schemas.openxmlformats.org/drawingml/2006/main">
              <a:ext uri="{FF2B5EF4-FFF2-40B4-BE49-F238E27FC236}">
                <a16:creationId xmlns:a16="http://schemas.microsoft.com/office/drawing/2014/main" id="{17300BAF-DAEA-483E-BFE3-11FABB36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71600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BF16 first</a:t>
            </a:r>
          </a:p>
          <a:p xmlns:a="http://schemas.openxmlformats.org/drawingml/2006/main"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A8 / A4 later</a:t>
            </a:r>
          </a:p>
        </p:txBody>
      </p:sp>
      <p:sp>
        <p:nvSpPr>
          <p:cNvPr id="10" name="w">
            <a:extLst xmlns:a="http://schemas.openxmlformats.org/drawingml/2006/main">
              <a:ext uri="{FF2B5EF4-FFF2-40B4-BE49-F238E27FC236}">
                <a16:creationId xmlns:a16="http://schemas.microsoft.com/office/drawing/2014/main" id="{264DB70C-8185-4390-ADA9-2D67F474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" name="ws">
            <a:extLst xmlns:a="http://schemas.openxmlformats.org/drawingml/2006/main">
              <a:ext uri="{FF2B5EF4-FFF2-40B4-BE49-F238E27FC236}">
                <a16:creationId xmlns:a16="http://schemas.microsoft.com/office/drawing/2014/main" id="{39947456-1334-4A13-98C8-BD2B8AFB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Paired transform</a:t>
            </a:r>
          </a:p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W̃ = WDH</a:t>
            </a:r>
          </a:p>
        </p:txBody>
      </p:sp>
      <p:sp>
        <p:nvSpPr>
          <p:cNvPr id="12" name="vq">
            <a:extLst xmlns:a="http://schemas.openxmlformats.org/drawingml/2006/main">
              <a:ext uri="{FF2B5EF4-FFF2-40B4-BE49-F238E27FC236}">
                <a16:creationId xmlns:a16="http://schemas.microsoft.com/office/drawing/2014/main" id="{FB2F3C12-2EBF-4DC6-BCD1-B7F433D2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Sensitive codebook</a:t>
            </a:r>
          </a:p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 + vector indices</a:t>
            </a:r>
          </a:p>
        </p:txBody>
      </p:sp>
      <p:sp>
        <p:nvSpPr>
          <p:cNvPr id="13" name="decode">
            <a:extLst xmlns:a="http://schemas.openxmlformats.org/drawingml/2006/main">
              <a:ext uri="{FF2B5EF4-FFF2-40B4-BE49-F238E27FC236}">
                <a16:creationId xmlns:a16="http://schemas.microsoft.com/office/drawing/2014/main" id="{10DAD742-444F-4447-BEA4-D5077C5F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81275"/>
            <a:ext cx="1066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Reconstruct</a:t>
            </a:r>
          </a:p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Ŵ</a:t>
            </a:r>
          </a:p>
        </p:txBody>
      </p:sp>
      <p:sp>
        <p:nvSpPr>
          <p:cNvPr id="14" name="linear">
            <a:extLst xmlns:a="http://schemas.openxmlformats.org/drawingml/2006/main">
              <a:ext uri="{FF2B5EF4-FFF2-40B4-BE49-F238E27FC236}">
                <a16:creationId xmlns:a16="http://schemas.microsoft.com/office/drawing/2014/main" id="{51D3A929-6EDD-4C7D-9D6D-C52CAC03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24050"/>
            <a:ext cx="7524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5" name="action">
            <a:extLst xmlns:a="http://schemas.openxmlformats.org/drawingml/2006/main">
              <a:ext uri="{FF2B5EF4-FFF2-40B4-BE49-F238E27FC236}">
                <a16:creationId xmlns:a16="http://schemas.microsoft.com/office/drawing/2014/main" id="{B553022E-ADBB-4CED-85F7-238BAFE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43100"/>
            <a:ext cx="4667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metric">
            <a:extLst xmlns:a="http://schemas.openxmlformats.org/drawingml/2006/main">
              <a:ext uri="{FF2B5EF4-FFF2-40B4-BE49-F238E27FC236}">
                <a16:creationId xmlns:a16="http://schemas.microsoft.com/office/drawing/2014/main" id="{A70B12AC-2E03-4D5B-8376-08F5CEE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1790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sensitivity</a:t>
            </a:r>
          </a:p>
          <a:p xmlns:a="http://schemas.openxmlformats.org/drawingml/2006/main"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M from calibration</a:t>
            </a:r>
          </a:p>
        </p:txBody>
      </p:sp>
      <p:sp>
        <p:nvSpPr>
          <p:cNvPr id="17" name="acttag">
            <a:extLst xmlns:a="http://schemas.openxmlformats.org/drawingml/2006/main">
              <a:ext uri="{FF2B5EF4-FFF2-40B4-BE49-F238E27FC236}">
                <a16:creationId xmlns:a16="http://schemas.microsoft.com/office/drawing/2014/main" id="{BC429753-83B7-4E70-95F3-B8852831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Aim: reduce activation outliers</a:t>
            </a:r>
          </a:p>
        </p:txBody>
      </p:sp>
      <p:sp>
        <p:nvSpPr>
          <p:cNvPr id="18" name="wtag">
            <a:extLst xmlns:a="http://schemas.openxmlformats.org/drawingml/2006/main">
              <a:ext uri="{FF2B5EF4-FFF2-40B4-BE49-F238E27FC236}">
                <a16:creationId xmlns:a16="http://schemas.microsoft.com/office/drawing/2014/main" id="{DB6157C5-5C13-4FB4-85C3-E6F976DD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Scale shift to the weight branch</a:t>
            </a:r>
          </a:p>
        </p:txBody>
      </p:sp>
      <p:sp>
        <p:nvSpPr>
          <p:cNvPr id="19" name="cal">
            <a:extLst xmlns:a="http://schemas.openxmlformats.org/drawingml/2006/main">
              <a:ext uri="{FF2B5EF4-FFF2-40B4-BE49-F238E27FC236}">
                <a16:creationId xmlns:a16="http://schemas.microsoft.com/office/drawing/2014/main" id="{00323339-6557-461E-BBC4-BFB3ED8D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004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Dashed path: offline calibration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8225" y="16859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5150" y="1685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876800" y="1685925"/>
            <a:ext cx="2633663" cy="23812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38225" y="2886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05150" y="2886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353050" y="2886075"/>
            <a:ext cx="3333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753225" y="2495550"/>
            <a:ext cx="757238" cy="395288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86700" y="2209800"/>
            <a:ext cx="2667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6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457700" y="32575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dash"/>
            <a:headEnd type="triangle" w="sm" len="sm"/>
          </a:ln>
        </p:spPr>
      </p:cxnSp>
      <p:sp>
        <p:nvSpPr>
          <p:cNvPr id="29" name="Equivalent identity">
            <a:extLst xmlns:a="http://schemas.openxmlformats.org/drawingml/2006/main">
              <a:ext uri="{FF2B5EF4-FFF2-40B4-BE49-F238E27FC236}">
                <a16:creationId xmlns:a16="http://schemas.microsoft.com/office/drawing/2014/main" id="{0EEFB25E-4FE9-44AC-B2C5-535A5E63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Before quantization:   X̃W̃ᵀ = XWᵀ   when HHᵀ = I and D is invertible.</a:t>
            </a:r>
          </a:p>
        </p:txBody>
      </p:sp>
      <p:sp>
        <p:nvSpPr>
          <p:cNvPr id="3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BD8A0E49-884A-4234-8DFA-39672FA8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 · BF16 activations first; A8/A4 later · Outlier reduction must be measured</a:t>
            </a:r>
          </a:p>
        </p:txBody>
      </p:sp>
      <p:sp>
        <p:nvSpPr>
          <p:cNvPr id="3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FFFA38-5CEC-4C76-AEA7-300A3FF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Codebook geometry: prioritize sensitive directions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ga">
            <a:extLst xmlns:a="http://schemas.openxmlformats.org/drawingml/2006/main">
              <a:ext uri="{FF2B5EF4-FFF2-40B4-BE49-F238E27FC236}">
                <a16:creationId xmlns:a16="http://schemas.microsoft.com/office/drawing/2014/main" id="{B2F1E0A2-E639-4C0E-8AE7-754669D2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A two-dimensional weight block</a:t>
            </a:r>
          </a:p>
        </p:txBody>
      </p:sp>
      <p:sp>
        <p:nvSpPr>
          <p:cNvPr id="5" name="gb">
            <a:extLst xmlns:a="http://schemas.openxmlformats.org/drawingml/2006/main">
              <a:ext uri="{FF2B5EF4-FFF2-40B4-BE49-F238E27FC236}">
                <a16:creationId xmlns:a16="http://schemas.microsoft.com/office/drawing/2014/main" id="{F63983AA-4A80-422F-857D-E72E403D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8286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Action-weighted distortion</a:t>
            </a:r>
          </a:p>
        </p:txBody>
      </p:sp>
      <p:sp>
        <p:nvSpPr>
          <p:cNvPr id="6" name="region">
            <a:extLst xmlns:a="http://schemas.openxmlformats.org/drawingml/2006/main">
              <a:ext uri="{FF2B5EF4-FFF2-40B4-BE49-F238E27FC236}">
                <a16:creationId xmlns:a16="http://schemas.microsoft.com/office/drawing/2014/main" id="{92768933-D326-4262-A20C-4327773E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62100"/>
            <a:ext cx="7810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8F5"/>
          </a:solidFill>
          <a:ln xmlns:a="http://schemas.openxmlformats.org/drawingml/2006/main" w="12859">
            <a:solidFill>
              <a:srgbClr val="86BFB2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w0">
            <a:extLst xmlns:a="http://schemas.openxmlformats.org/drawingml/2006/main">
              <a:ext uri="{FF2B5EF4-FFF2-40B4-BE49-F238E27FC236}">
                <a16:creationId xmlns:a16="http://schemas.microsoft.com/office/drawing/2014/main" id="{78186F82-E1BE-492A-9170-C01EFCD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44B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2">
            <a:extLst xmlns:a="http://schemas.openxmlformats.org/drawingml/2006/main">
              <a:ext uri="{FF2B5EF4-FFF2-40B4-BE49-F238E27FC236}">
                <a16:creationId xmlns:a16="http://schemas.microsoft.com/office/drawing/2014/main" id="{60F5CC35-75C9-4A9B-804A-60BD2AAF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23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cM">
            <a:extLst xmlns:a="http://schemas.openxmlformats.org/drawingml/2006/main">
              <a:ext uri="{FF2B5EF4-FFF2-40B4-BE49-F238E27FC236}">
                <a16:creationId xmlns:a16="http://schemas.microsoft.com/office/drawing/2014/main" id="{47F6E402-0C0E-4093-B7F3-C9B05A5B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F79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wlabel">
            <a:extLst xmlns:a="http://schemas.openxmlformats.org/drawingml/2006/main">
              <a:ext uri="{FF2B5EF4-FFF2-40B4-BE49-F238E27FC236}">
                <a16:creationId xmlns:a16="http://schemas.microsoft.com/office/drawing/2014/main" id="{60F6E6D5-6CBC-4304-920D-5A140804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w = (0, 0)</a:t>
            </a:r>
          </a:p>
        </p:txBody>
      </p:sp>
      <p:sp>
        <p:nvSpPr>
          <p:cNvPr id="11" name="l2label">
            <a:extLst xmlns:a="http://schemas.openxmlformats.org/drawingml/2006/main">
              <a:ext uri="{FF2B5EF4-FFF2-40B4-BE49-F238E27FC236}">
                <a16:creationId xmlns:a16="http://schemas.microsoft.com/office/drawing/2014/main" id="{9FD84035-B510-4279-9F12-8B0E5C6C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1467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 = (0.3, 0)</a:t>
            </a:r>
          </a:p>
          <a:p xmlns:a="http://schemas.openxmlformats.org/drawingml/2006/main"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nearest</a:t>
            </a:r>
          </a:p>
        </p:txBody>
      </p:sp>
      <p:sp>
        <p:nvSpPr>
          <p:cNvPr id="12" name="mlabel">
            <a:extLst xmlns:a="http://schemas.openxmlformats.org/drawingml/2006/main">
              <a:ext uri="{FF2B5EF4-FFF2-40B4-BE49-F238E27FC236}">
                <a16:creationId xmlns:a16="http://schemas.microsoft.com/office/drawing/2014/main" id="{58125A31-5709-4A09-B0DF-89862A1F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95425"/>
            <a:ext cx="22764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c₂ = (0, 0.6)</a:t>
            </a:r>
          </a:p>
          <a:p xmlns:a="http://schemas.openxmlformats.org/drawingml/2006/main"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nearest</a:t>
            </a:r>
          </a:p>
        </p:txBody>
      </p:sp>
      <p:sp>
        <p:nvSpPr>
          <p:cNvPr id="13" name="xaxis">
            <a:extLst xmlns:a="http://schemas.openxmlformats.org/drawingml/2006/main">
              <a:ext uri="{FF2B5EF4-FFF2-40B4-BE49-F238E27FC236}">
                <a16:creationId xmlns:a16="http://schemas.microsoft.com/office/drawing/2014/main" id="{870AFF8E-2E3C-42A8-8E8B-420E185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Sensitive direction</a:t>
            </a:r>
          </a:p>
        </p:txBody>
      </p:sp>
      <p:sp>
        <p:nvSpPr>
          <p:cNvPr id="14" name="yaxis">
            <a:extLst xmlns:a="http://schemas.openxmlformats.org/drawingml/2006/main">
              <a:ext uri="{FF2B5EF4-FFF2-40B4-BE49-F238E27FC236}">
                <a16:creationId xmlns:a16="http://schemas.microsoft.com/office/drawing/2014/main" id="{0DECE69A-2561-43B7-A167-7B7F6C9D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Less sensitive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E801F867-EAB8-4385-B505-070BBB44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28750"/>
            <a:ext cx="3505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dₘ(v,c) = (v−c)ᵀM(v−c)</a:t>
            </a:r>
          </a:p>
        </p:txBody>
      </p:sp>
      <p:sp>
        <p:nvSpPr>
          <p:cNvPr id="16" name="metricnote">
            <a:extLst xmlns:a="http://schemas.openxmlformats.org/drawingml/2006/main">
              <a:ext uri="{FF2B5EF4-FFF2-40B4-BE49-F238E27FC236}">
                <a16:creationId xmlns:a16="http://schemas.microsoft.com/office/drawing/2014/main" id="{1A63D490-74BC-453A-BF01-FD8B9B9A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52625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M = diag(9, 1) in this illustration</a:t>
            </a:r>
          </a:p>
        </p:txBody>
      </p:sp>
      <p:sp>
        <p:nvSpPr>
          <p:cNvPr id="17" name="l2dist">
            <a:extLst xmlns:a="http://schemas.openxmlformats.org/drawingml/2006/main">
              <a:ext uri="{FF2B5EF4-FFF2-40B4-BE49-F238E27FC236}">
                <a16:creationId xmlns:a16="http://schemas.microsoft.com/office/drawing/2014/main" id="{CF71DADB-EE49-4879-A8CE-4CF0BA49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050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distortion</a:t>
            </a:r>
          </a:p>
          <a:p xmlns:a="http://schemas.openxmlformats.org/drawingml/2006/main"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c₁: 0.09       c₂: 0.36</a:t>
            </a:r>
          </a:p>
        </p:txBody>
      </p:sp>
      <p:sp>
        <p:nvSpPr>
          <p:cNvPr id="18" name="mdist">
            <a:extLst xmlns:a="http://schemas.openxmlformats.org/drawingml/2006/main">
              <a:ext uri="{FF2B5EF4-FFF2-40B4-BE49-F238E27FC236}">
                <a16:creationId xmlns:a16="http://schemas.microsoft.com/office/drawing/2014/main" id="{84290C6E-163F-46B1-BB83-40C539E5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813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distortion</a:t>
            </a:r>
          </a:p>
          <a:p xmlns:a="http://schemas.openxmlformats.org/drawingml/2006/main"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c₁: 0.81       c₂: 0.36</a:t>
            </a:r>
          </a:p>
        </p:txBody>
      </p:sp>
      <p:sp>
        <p:nvSpPr>
          <p:cNvPr id="19" name="ellipsenote">
            <a:extLst xmlns:a="http://schemas.openxmlformats.org/drawingml/2006/main">
              <a:ext uri="{FF2B5EF4-FFF2-40B4-BE49-F238E27FC236}">
                <a16:creationId xmlns:a16="http://schemas.microsoft.com/office/drawing/2014/main" id="{211928CC-7BF6-4E78-92F1-03F09C48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435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Ellipse: equal action-weighted error</a:t>
            </a:r>
          </a:p>
        </p:txBody>
      </p:sp>
      <p:sp>
        <p:nvSpPr>
          <p:cNvPr id="20" name="xstart">
            <a:extLst xmlns:a="http://schemas.openxmlformats.org/drawingml/2006/main">
              <a:ext uri="{FF2B5EF4-FFF2-40B4-BE49-F238E27FC236}">
                <a16:creationId xmlns:a16="http://schemas.microsoft.com/office/drawing/2014/main" id="{3CB9CE6E-DE2D-447A-A6C6-3F0E9B10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xend">
            <a:extLst xmlns:a="http://schemas.openxmlformats.org/drawingml/2006/main">
              <a:ext uri="{FF2B5EF4-FFF2-40B4-BE49-F238E27FC236}">
                <a16:creationId xmlns:a16="http://schemas.microsoft.com/office/drawing/2014/main" id="{9E32B65F-FD30-4F51-AE16-67FFEC77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ystart">
            <a:extLst xmlns:a="http://schemas.openxmlformats.org/drawingml/2006/main">
              <a:ext uri="{FF2B5EF4-FFF2-40B4-BE49-F238E27FC236}">
                <a16:creationId xmlns:a16="http://schemas.microsoft.com/office/drawing/2014/main" id="{066AF05F-8055-4637-8124-578908D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yend">
            <a:extLst xmlns:a="http://schemas.openxmlformats.org/drawingml/2006/main">
              <a:ext uri="{FF2B5EF4-FFF2-40B4-BE49-F238E27FC236}">
                <a16:creationId xmlns:a16="http://schemas.microsoft.com/office/drawing/2014/main" id="{F9CD629C-CE8C-4EA8-8003-49AFB5AB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71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971675" y="2738438"/>
            <a:ext cx="278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 flipV="1">
            <a:off x="1962150" y="1176338"/>
            <a:ext cx="9525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028825" y="27384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6A23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1905000" y="1614488"/>
            <a:ext cx="123825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79"/>
            </a:solidFill>
            <a:prstDash val="solid"/>
            <a:headEnd type="triangle" w="sm" len="sm"/>
          </a:ln>
        </p:spPr>
      </p:cxnSp>
      <p:sp>
        <p:nvSpPr>
          <p:cNvPr id="28" name="Codebook objective">
            <a:extLst xmlns:a="http://schemas.openxmlformats.org/drawingml/2006/main">
              <a:ext uri="{FF2B5EF4-FFF2-40B4-BE49-F238E27FC236}">
                <a16:creationId xmlns:a16="http://schemas.microsoft.com/office/drawing/2014/main" id="{583E75F9-7EDF-49D2-9A56-75F19048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Lᵥq = Σⱼ (w̃ⱼ − c_zⱼ)ᵀ Mⱼ (w̃ⱼ − c_zⱼ)</a:t>
            </a:r>
          </a:p>
        </p:txBody>
      </p:sp>
      <p:sp>
        <p:nvSpPr>
          <p:cNvPr id="2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4ABCF2DD-45BA-4004-92B5-C14191C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geometry, not measured data · M is an estimated PSD action-sensitivity metric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35BB12-24D4-44FA-A0F8-449EBB66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ache heading">
            <a:extLst xmlns:a="http://schemas.openxmlformats.org/drawingml/2006/main">
              <a:ext uri="{FF2B5EF4-FFF2-40B4-BE49-F238E27FC236}">
                <a16:creationId xmlns:a16="http://schemas.microsoft.com/office/drawing/2014/main" id="{0A261DB4-A563-4118-BE91-8161693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 xmlns:a="http://schemas.openxmlformats.org/drawingml/2006/main">
              <a:ext uri="{FF2B5EF4-FFF2-40B4-BE49-F238E27FC236}">
                <a16:creationId xmlns:a16="http://schemas.microsoft.com/office/drawing/2014/main" id="{DACB62E0-2BAC-4F28-85C7-6236F8DB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 xmlns:a="http://schemas.openxmlformats.org/drawingml/2006/main">
              <a:ext uri="{FF2B5EF4-FFF2-40B4-BE49-F238E27FC236}">
                <a16:creationId xmlns:a16="http://schemas.microsoft.com/office/drawing/2014/main" id="{D6BA6381-4050-4FE0-81A1-DCB93DC7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 xmlns:a="http://schemas.openxmlformats.org/drawingml/2006/main">
              <a:ext uri="{FF2B5EF4-FFF2-40B4-BE49-F238E27FC236}">
                <a16:creationId xmlns:a16="http://schemas.microsoft.com/office/drawing/2014/main" id="{4C32F5D9-E55B-4797-AFA2-409EE8F8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 xmlns:a="http://schemas.openxmlformats.org/drawingml/2006/main">
              <a:ext uri="{FF2B5EF4-FFF2-40B4-BE49-F238E27FC236}">
                <a16:creationId xmlns:a16="http://schemas.microsoft.com/office/drawing/2014/main" id="{1F8DB1C0-05B6-4618-8CE1-642D5B5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 xmlns:a="http://schemas.openxmlformats.org/drawingml/2006/main">
              <a:ext uri="{FF2B5EF4-FFF2-40B4-BE49-F238E27FC236}">
                <a16:creationId xmlns:a16="http://schemas.microsoft.com/office/drawing/2014/main" id="{3E59CCE9-D5CE-48B6-B283-CAC50B1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5851D0D7-427C-4542-91E3-D5D5102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8704229-237F-4C65-B788-9F3C29F6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2026-10-06T12:27:02.5150000Z</dcterms:created>
  <dcterms:modified xsi:type="dcterms:W3CDTF">2026-10-06T12:27:02.5150000Z</dcterms:modified>
</coreProperties>
</file>