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e1457d986c4a6b" /><Relationship Type="http://schemas.openxmlformats.org/officeDocument/2006/relationships/extended-properties" Target="/docProps/app.xml" Id="R01228be5c47d459a" /><Relationship Type="http://schemas.openxmlformats.org/officeDocument/2006/relationships/officeDocument" Target="/ppt/presentation.xml" Id="R3aa5ecb8dafc40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d80654c96943b6"/>
  </p:sldMasterIdLst>
  <p:notesMasterIdLst>
    <p:notesMasterId xmlns:r="http://schemas.openxmlformats.org/officeDocument/2006/relationships" r:id="Rf83b7d28349a4230"/>
  </p:notesMasterIdLst>
  <p:sldIdLst>
    <p:sldId xmlns:r="http://schemas.openxmlformats.org/officeDocument/2006/relationships" id="256" r:id="R9df20f53ec5045ac"/>
    <p:sldId xmlns:r="http://schemas.openxmlformats.org/officeDocument/2006/relationships" id="257" r:id="R76f3214b79ec4620"/>
  </p:sldIdLst>
  <p:sldSz cx="9144000" cy="5143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c58a3389504f0f" /><Relationship Type="http://schemas.openxmlformats.org/officeDocument/2006/relationships/slideMaster" Target="/ppt/slideMasters/slideMaster1.xml" Id="Rf4d80654c96943b6" /><Relationship Type="http://schemas.openxmlformats.org/officeDocument/2006/relationships/notesMaster" Target="/ppt/notesMasters/notesMaster1.xml" Id="Rf83b7d28349a4230" /><Relationship Type="http://schemas.openxmlformats.org/officeDocument/2006/relationships/presProps" Target="/ppt/presProps.xml" Id="Rb10bed5682154674" /><Relationship Type="http://schemas.openxmlformats.org/officeDocument/2006/relationships/viewProps" Target="/ppt/viewProps.xml" Id="R7e3c9afd5c284453" /><Relationship Type="http://schemas.openxmlformats.org/officeDocument/2006/relationships/tableStyles" Target="/ppt/tableStyles.xml" Id="R2222cd98e17b42e7" /><Relationship Type="http://schemas.openxmlformats.org/officeDocument/2006/relationships/slide" Target="/ppt/slides/slide1.xml" Id="R9df20f53ec5045ac" /><Relationship Type="http://schemas.openxmlformats.org/officeDocument/2006/relationships/slide" Target="/ppt/slides/slide2.xml" Id="R76f3214b79ec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41862b89a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79157d27644f1" /><Relationship Type="http://schemas.openxmlformats.org/officeDocument/2006/relationships/notesMaster" Target="/ppt/notesMasters/notesMaster1.xml" Id="R52293eb04241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b34998e7454210" /><Relationship Type="http://schemas.openxmlformats.org/officeDocument/2006/relationships/notesMaster" Target="/ppt/notesMasters/notesMaster1.xml" Id="Rabce3f715b734b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当前实现：latent+action-aware Microscaling additive VQ，随后进行 per-input-channel D 和 per-Linear clipping ratio 的 refinement。沿用原第21页ImageGen设计，修正生成图中的不规范公式与输入标签；所有文字、公式、矩阵与箭头为PowerPoint原生可编辑对象，全部Times New Roman。Source: Weekly Slides/2026-10-21_assets/method-imagegen-reference.png。L_a为first10x6 motor MSE；L_z为生成future latent NMSE，observed frame0排除；L=L_a+lambda L_z，lambda=rho*c从初始calibration冻结。Student使用自己生成的future，不注入teacher future。Per-token动态A4，gripper不参与监督。当前执行decodedBF16+fakeA4+BF16KV，非nativeVQkernel。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本页严格按原第22页ImageGen设计重建Soft-bin + temporal/spatial relational KL。全部文字、数学文字、矩阵、柱图、网格和箭头均为PowerPoint原生可编辑对象。Source: Weekly Slides/2026-10-21_assets/loss-imagegen-reference.png。柱图和relationmatrix颜色为原图概念示意，不是新增实验观测。实际Gaussian CDF binning、action 3-step windows、两camera分开pooling和spatiotemporal邻接保持原实现。结构KL不估计完整action-latent联合密度；闭环结果仍待验证。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187fd6a2a4e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ac6e5de724c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6b3e41a2a4b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35a3792a646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7f1378b6845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2a98b8eb043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167c2eea74ad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640dad14c4b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bebbd3c334a8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1860d6435cf4ff2" /><Relationship Type="http://schemas.openxmlformats.org/officeDocument/2006/relationships/image" Target="/ppt/media/image2.png" Id="R0d0493c591024365" /><Relationship Type="http://schemas.openxmlformats.org/officeDocument/2006/relationships/theme" Target="/ppt/slideMasters/theme/theme2.xml" Id="R3579f291d7d44a02" /><Relationship Type="http://schemas.openxmlformats.org/officeDocument/2006/relationships/slideLayout" Target="/ppt/slideLayouts/slideLayout1.xml" Id="R3b36aaa82ec74d7c" /><Relationship Type="http://schemas.openxmlformats.org/officeDocument/2006/relationships/slideLayout" Target="/ppt/slideLayouts/slideLayout2.xml" Id="Rf4b00d87ae304baf" /><Relationship Type="http://schemas.openxmlformats.org/officeDocument/2006/relationships/slideLayout" Target="/ppt/slideLayouts/slideLayout3.xml" Id="Rbfaa86fa19094642" /><Relationship Type="http://schemas.openxmlformats.org/officeDocument/2006/relationships/slideLayout" Target="/ppt/slideLayouts/slideLayout4.xml" Id="Ra57a834d18ee49e4" /><Relationship Type="http://schemas.openxmlformats.org/officeDocument/2006/relationships/slideLayout" Target="/ppt/slideLayouts/slideLayout5.xml" Id="R4da451b0ac6a4338" /><Relationship Type="http://schemas.openxmlformats.org/officeDocument/2006/relationships/slideLayout" Target="/ppt/slideLayouts/slideLayout6.xml" Id="R2c971a34faf6496e" /><Relationship Type="http://schemas.openxmlformats.org/officeDocument/2006/relationships/slideLayout" Target="/ppt/slideLayouts/slideLayout7.xml" Id="R9034a55ba3e44907" /><Relationship Type="http://schemas.openxmlformats.org/officeDocument/2006/relationships/slideLayout" Target="/ppt/slideLayouts/slideLayout8.xml" Id="R040ccd12daaa4b18" /><Relationship Type="http://schemas.openxmlformats.org/officeDocument/2006/relationships/slideLayout" Target="/ppt/slideLayouts/slideLayout9.xml" Id="R6e122521ff6843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 xmlns:a="http://schemas.openxmlformats.org/drawingml/2006/main">
              <a:ext uri="{FF2B5EF4-FFF2-40B4-BE49-F238E27FC236}">
                <a16:creationId xmlns:a16="http://schemas.microsoft.com/office/drawing/2014/main" id="{B5C004A9-E19A-43E9-AA52-2D5335DB46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60d6435cf4f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>
            <a:extLst xmlns:a="http://schemas.openxmlformats.org/drawingml/2006/main">
              <a:ext uri="{FF2B5EF4-FFF2-40B4-BE49-F238E27FC236}">
                <a16:creationId xmlns:a16="http://schemas.microsoft.com/office/drawing/2014/main" id="{CC8AB37E-D53B-4EDB-BED9-3BC795C26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0493c591024365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36aaa82ec74d7c"/>
    <p:sldLayoutId xmlns:r="http://schemas.openxmlformats.org/officeDocument/2006/relationships" id="2147483650" r:id="Rf4b00d87ae304baf"/>
    <p:sldLayoutId xmlns:r="http://schemas.openxmlformats.org/officeDocument/2006/relationships" id="2147483651" r:id="Rbfaa86fa19094642"/>
    <p:sldLayoutId xmlns:r="http://schemas.openxmlformats.org/officeDocument/2006/relationships" id="2147483652" r:id="Ra57a834d18ee49e4"/>
    <p:sldLayoutId xmlns:r="http://schemas.openxmlformats.org/officeDocument/2006/relationships" id="2147483653" r:id="R4da451b0ac6a4338"/>
    <p:sldLayoutId xmlns:r="http://schemas.openxmlformats.org/officeDocument/2006/relationships" id="2147483654" r:id="R2c971a34faf6496e"/>
    <p:sldLayoutId xmlns:r="http://schemas.openxmlformats.org/officeDocument/2006/relationships" id="2147483655" r:id="R9034a55ba3e44907"/>
    <p:sldLayoutId xmlns:r="http://schemas.openxmlformats.org/officeDocument/2006/relationships" id="2147483656" r:id="R040ccd12daaa4b18"/>
    <p:sldLayoutId xmlns:r="http://schemas.openxmlformats.org/officeDocument/2006/relationships" id="2147483657" r:id="R6e122521ff6843e6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cf2967d73404c" /><Relationship Type="http://schemas.openxmlformats.org/officeDocument/2006/relationships/notesSlide" Target="/ppt/notesSlides/notesSlide1.xml" Id="Ra14b1d49f1ba4f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9aa46d09984872" /><Relationship Type="http://schemas.openxmlformats.org/officeDocument/2006/relationships/notesSlide" Target="/ppt/notesSlides/notesSlide2.xml" Id="R96c41856b0424a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571C2F1-2757-43E3-9203-6C0DC83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20" y="20645"/>
            <a:ext cx="3643859" cy="3452892"/>
          </a:xfrm>
          <a:prstGeom xmlns:a="http://schemas.openxmlformats.org/drawingml/2006/main" prst="roundRect">
            <a:avLst>
              <a:gd name="adj" fmla="val 1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774">
            <a:solidFill>
              <a:srgbClr val="061A3C"/>
            </a:solidFill>
            <a:prstDash val="solid"/>
          </a:ln>
        </p:spPr>
      </p:sp>
      <p:sp>
        <p:nvSpPr>
          <p:cNvPr id="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5CB4CA1-B59B-470C-A24D-BDE794C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970" y="20645"/>
            <a:ext cx="2467089" cy="3452892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774">
            <a:solidFill>
              <a:srgbClr val="061A3C"/>
            </a:solidFill>
            <a:prstDash val="solid"/>
          </a:ln>
        </p:spPr>
      </p:sp>
      <p:sp>
        <p:nvSpPr>
          <p:cNvPr id="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0AAA7B3-5953-4862-B7B7-B867783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188" y="20645"/>
            <a:ext cx="2399992" cy="3452892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774">
            <a:solidFill>
              <a:srgbClr val="061A3C"/>
            </a:solidFill>
            <a:prstDash val="solid"/>
          </a:ln>
        </p:spPr>
      </p:sp>
      <p:sp>
        <p:nvSpPr>
          <p:cNvPr id="4" name="(a) Latent + action supervision">
            <a:extLst xmlns:a="http://schemas.openxmlformats.org/drawingml/2006/main">
              <a:ext uri="{FF2B5EF4-FFF2-40B4-BE49-F238E27FC236}">
                <a16:creationId xmlns:a16="http://schemas.microsoft.com/office/drawing/2014/main" id="{75C02293-0AB1-4AF6-B098-4837DB7B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7" y="72258"/>
            <a:ext cx="3499344" cy="19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Latent + action supervision</a:t>
            </a:r>
          </a:p>
        </p:txBody>
      </p:sp>
      <p:sp>
        <p:nvSpPr>
          <p:cNvPr id="5" name="(b) Microscaling additive VQ weights">
            <a:extLst xmlns:a="http://schemas.openxmlformats.org/drawingml/2006/main">
              <a:ext uri="{FF2B5EF4-FFF2-40B4-BE49-F238E27FC236}">
                <a16:creationId xmlns:a16="http://schemas.microsoft.com/office/drawing/2014/main" id="{85FE1446-AA53-4EC8-8185-1EA6128E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066" y="72258"/>
            <a:ext cx="2343218" cy="19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Microscaling additive VQ weights</a:t>
            </a:r>
          </a:p>
        </p:txBody>
      </p:sp>
      <p:sp>
        <p:nvSpPr>
          <p:cNvPr id="6" name="(c) Per-channel activation scaling + clipping">
            <a:extLst xmlns:a="http://schemas.openxmlformats.org/drawingml/2006/main">
              <a:ext uri="{FF2B5EF4-FFF2-40B4-BE49-F238E27FC236}">
                <a16:creationId xmlns:a16="http://schemas.microsoft.com/office/drawing/2014/main" id="{66B4D71F-B4F6-4533-9A30-174D9B6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800" y="82580"/>
            <a:ext cx="2307089" cy="1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Per-channel activation scaling + clipping</a:t>
            </a:r>
          </a:p>
        </p:txBody>
      </p:sp>
      <p:sp>
        <p:nvSpPr>
          <p:cNvPr id="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9DF82B1-A8F7-4CC1-BF62-B8B521A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95" y="294193"/>
            <a:ext cx="2028381" cy="1357415"/>
          </a:xfrm>
          <a:prstGeom xmlns:a="http://schemas.openxmlformats.org/drawingml/2006/main" prst="roundRect">
            <a:avLst>
              <a:gd name="adj" fmla="val 2662"/>
            </a:avLst>
          </a:prstGeom>
          <a:gradFill xmlns:a="http://schemas.openxmlformats.org/drawingml/2006/main">
            <a:gsLst>
              <a:gs pos="0">
                <a:srgbClr val="D9EFFF"/>
              </a:gs>
              <a:gs pos="100000">
                <a:srgbClr val="EEF8FF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sp>
        <p:nvSpPr>
          <p:cNvPr id="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2CF882A-B2E3-4880-815D-1D785EFD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95" y="1677414"/>
            <a:ext cx="2028381" cy="1476124"/>
          </a:xfrm>
          <a:prstGeom xmlns:a="http://schemas.openxmlformats.org/drawingml/2006/main" prst="roundRect">
            <a:avLst>
              <a:gd name="adj" fmla="val 2448"/>
            </a:avLst>
          </a:prstGeom>
          <a:gradFill xmlns:a="http://schemas.openxmlformats.org/drawingml/2006/main">
            <a:gsLst>
              <a:gs pos="0">
                <a:srgbClr val="FFE2DC"/>
              </a:gs>
              <a:gs pos="100000">
                <a:srgbClr val="FFF0EA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cxnSp>
        <p:nvCxnSpPr>
          <p:cNvPr id="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04F51EA-B5C4-4364-B80C-D1E4D8C89F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397418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85D0"/>
            </a:solidFill>
            <a:prstDash val="solid"/>
          </a:ln>
        </p:spPr>
      </p:cxnSp>
      <p:cxnSp>
        <p:nvCxnSpPr>
          <p:cNvPr id="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189BB9D-BD9C-4C4E-9274-6A01D38D7A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817" y="348250"/>
            <a:ext cx="56774" cy="98335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85D0"/>
            </a:solidFill>
            <a:prstDash val="solid"/>
          </a:ln>
        </p:spPr>
      </p:cxnSp>
      <p:cxnSp>
        <p:nvCxnSpPr>
          <p:cNvPr id="1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3775FA5-CF5D-4D68-81A2-B1E103B4B24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157817" y="348250"/>
            <a:ext cx="56774" cy="98335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85D0"/>
            </a:solidFill>
            <a:prstDash val="solid"/>
          </a:ln>
        </p:spPr>
      </p:cxnSp>
      <p:sp>
        <p:nvSpPr>
          <p:cNvPr id="12" name="BF16 teacher (frozen)">
            <a:extLst xmlns:a="http://schemas.openxmlformats.org/drawingml/2006/main">
              <a:ext uri="{FF2B5EF4-FFF2-40B4-BE49-F238E27FC236}">
                <a16:creationId xmlns:a16="http://schemas.microsoft.com/office/drawing/2014/main" id="{29A94DF5-65CB-4B79-8BA3-7E02CF45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69" y="340644"/>
            <a:ext cx="1729027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174"/>
          </a:bodyPr>
          <a:lstStyle xmlns:a="http://schemas.openxmlformats.org/drawingml/2006/main">
            <a:def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 (frozen)</a:t>
            </a:r>
          </a:p>
        </p:txBody>
      </p:sp>
      <p:sp>
        <p:nvSpPr>
          <p:cNvPr id="13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F49DFFD3-9BEA-455A-BC36-28EA5DF8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8" y="1703220"/>
            <a:ext cx="144516" cy="185806"/>
          </a:xfrm>
          <a:custGeom xmlns:a="http://schemas.openxmlformats.org/drawingml/2006/main">
            <a:pathLst>
              <a:path w="266700" h="342900">
                <a:moveTo>
                  <a:pt x="114300" y="0"/>
                </a:moveTo>
                <a:lnTo>
                  <a:pt x="171450" y="123825"/>
                </a:lnTo>
                <a:lnTo>
                  <a:pt x="247650" y="200025"/>
                </a:lnTo>
                <a:lnTo>
                  <a:pt x="228600" y="276225"/>
                </a:lnTo>
                <a:lnTo>
                  <a:pt x="180975" y="333375"/>
                </a:lnTo>
                <a:lnTo>
                  <a:pt x="85725" y="333375"/>
                </a:lnTo>
                <a:lnTo>
                  <a:pt x="19050" y="266700"/>
                </a:lnTo>
                <a:lnTo>
                  <a:pt x="19050" y="180975"/>
                </a:lnTo>
                <a:lnTo>
                  <a:pt x="66675" y="95250"/>
                </a:lnTo>
                <a:lnTo>
                  <a:pt x="76200" y="228600"/>
                </a:lnTo>
                <a:lnTo>
                  <a:pt x="123825" y="161925"/>
                </a:lnTo>
                <a:close/>
              </a:path>
            </a:pathLst>
          </a:custGeom>
          <a:solidFill xmlns:a="http://schemas.openxmlformats.org/drawingml/2006/main">
            <a:srgbClr val="FF9C23"/>
          </a:solidFill>
          <a:ln xmlns:a="http://schemas.openxmlformats.org/drawingml/2006/main" w="6194">
            <a:solidFill>
              <a:srgbClr val="EF711C"/>
            </a:solidFill>
          </a:ln>
        </p:spPr>
      </p:sp>
      <p:sp>
        <p:nvSpPr>
          <p:cNvPr id="14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97F485FD-C505-4612-B75C-82665F2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75" y="1759994"/>
            <a:ext cx="98064" cy="129032"/>
          </a:xfrm>
          <a:custGeom xmlns:a="http://schemas.openxmlformats.org/drawingml/2006/main">
            <a:pathLst>
              <a:path w="180975" h="238125">
                <a:moveTo>
                  <a:pt x="85725" y="0"/>
                </a:moveTo>
                <a:lnTo>
                  <a:pt x="114300" y="95250"/>
                </a:lnTo>
                <a:lnTo>
                  <a:pt x="171450" y="133350"/>
                </a:lnTo>
                <a:lnTo>
                  <a:pt x="142875" y="209550"/>
                </a:lnTo>
                <a:lnTo>
                  <a:pt x="76200" y="228600"/>
                </a:lnTo>
                <a:lnTo>
                  <a:pt x="28575" y="180975"/>
                </a:lnTo>
                <a:lnTo>
                  <a:pt x="38100" y="114300"/>
                </a:lnTo>
                <a:close/>
              </a:path>
            </a:pathLst>
          </a:custGeom>
          <a:solidFill xmlns:a="http://schemas.openxmlformats.org/drawingml/2006/main">
            <a:srgbClr val="FFD785"/>
          </a:solidFill>
          <a:ln xmlns:a="http://schemas.openxmlformats.org/drawingml/2006/main" w="6194">
            <a:noFill/>
          </a:ln>
        </p:spPr>
      </p:sp>
      <p:sp>
        <p:nvSpPr>
          <p:cNvPr id="15" name="Quantized WAM (student)">
            <a:extLst xmlns:a="http://schemas.openxmlformats.org/drawingml/2006/main">
              <a:ext uri="{FF2B5EF4-FFF2-40B4-BE49-F238E27FC236}">
                <a16:creationId xmlns:a16="http://schemas.microsoft.com/office/drawing/2014/main" id="{865B876E-B32C-4EE2-930B-B69F169E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69" y="1734188"/>
            <a:ext cx="1780640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174"/>
          </a:bodyPr>
          <a:lstStyle xmlns:a="http://schemas.openxmlformats.org/drawingml/2006/main">
            <a:def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 (student)</a:t>
            </a:r>
          </a:p>
        </p:txBody>
      </p:sp>
      <p:sp>
        <p:nvSpPr>
          <p:cNvPr id="16" name="614 target Linear layers">
            <a:extLst xmlns:a="http://schemas.openxmlformats.org/drawingml/2006/main">
              <a:ext uri="{FF2B5EF4-FFF2-40B4-BE49-F238E27FC236}">
                <a16:creationId xmlns:a16="http://schemas.microsoft.com/office/drawing/2014/main" id="{1A43B9D5-5EF0-43A5-B02F-799405AA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92" y="1852897"/>
            <a:ext cx="1027094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282"/>
          </a:bodyPr>
          <a:lstStyle xmlns:a="http://schemas.openxmlformats.org/drawingml/2006/main">
            <a:def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rPr>
              <a:t>614 target Linear layers</a:t>
            </a:r>
          </a:p>
        </p:txBody>
      </p:sp>
      <p:cxnSp>
        <p:nvCxnSpPr>
          <p:cNvPr id="1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713AD79-3E8B-4299-BA2B-53FD256AEF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7492" y="1971607"/>
            <a:ext cx="1027094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C11B14"/>
            </a:solidFill>
            <a:prstDash val="solid"/>
          </a:ln>
        </p:spPr>
      </p:cxnSp>
      <p:sp>
        <p:nvSpPr>
          <p:cNvPr id="18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D0258F67-D878-415A-8BD0-A2339FF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36" y="531611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6710">
            <a:solidFill>
              <a:srgbClr val="0B579E"/>
            </a:solidFill>
          </a:ln>
        </p:spPr>
      </p:sp>
      <p:sp>
        <p:nvSpPr>
          <p:cNvPr id="19" name="Video DiT&#10;(BF16)">
            <a:extLst xmlns:a="http://schemas.openxmlformats.org/drawingml/2006/main">
              <a:ext uri="{FF2B5EF4-FFF2-40B4-BE49-F238E27FC236}">
                <a16:creationId xmlns:a16="http://schemas.microsoft.com/office/drawing/2014/main" id="{F002576C-B31A-4410-A211-E562824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17" y="660643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0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E051F021-9C64-4F9E-A19D-7650CAC4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201" y="547095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6710">
            <a:solidFill>
              <a:srgbClr val="0B579E"/>
            </a:solidFill>
          </a:ln>
        </p:spPr>
      </p:sp>
      <p:sp>
        <p:nvSpPr>
          <p:cNvPr id="21" name="Action DiT&#10;(BF16)">
            <a:extLst xmlns:a="http://schemas.openxmlformats.org/drawingml/2006/main">
              <a:ext uri="{FF2B5EF4-FFF2-40B4-BE49-F238E27FC236}">
                <a16:creationId xmlns:a16="http://schemas.microsoft.com/office/drawing/2014/main" id="{27F4B570-D2CD-4B3C-A14F-24FCEDD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81" y="676127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2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B7F23763-874B-4C0C-AA38-88D1E451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36" y="1950962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6710">
            <a:solidFill>
              <a:srgbClr val="A92024"/>
            </a:solidFill>
          </a:ln>
        </p:spPr>
      </p:sp>
      <p:sp>
        <p:nvSpPr>
          <p:cNvPr id="23" name="Video DiT&#10;(quantized)">
            <a:extLst xmlns:a="http://schemas.openxmlformats.org/drawingml/2006/main">
              <a:ext uri="{FF2B5EF4-FFF2-40B4-BE49-F238E27FC236}">
                <a16:creationId xmlns:a16="http://schemas.microsoft.com/office/drawing/2014/main" id="{85326C21-309B-4E5F-A4D6-CA41632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17" y="2079993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sp>
        <p:nvSpPr>
          <p:cNvPr id="24" name="native vector shape">
            <a:extLst xmlns:a="http://schemas.openxmlformats.org/drawingml/2006/main">
              <a:ext uri="{FF2B5EF4-FFF2-40B4-BE49-F238E27FC236}">
                <a16:creationId xmlns:a16="http://schemas.microsoft.com/office/drawing/2014/main" id="{05E22AAB-D9C1-4B58-82C1-D668293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201" y="1971607"/>
            <a:ext cx="712256" cy="485160"/>
          </a:xfrm>
          <a:custGeom xmlns:a="http://schemas.openxmlformats.org/drawingml/2006/main"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6710">
            <a:solidFill>
              <a:srgbClr val="A92024"/>
            </a:solidFill>
          </a:ln>
        </p:spPr>
      </p:sp>
      <p:sp>
        <p:nvSpPr>
          <p:cNvPr id="25" name="Action DiT&#10;(quantized)">
            <a:extLst xmlns:a="http://schemas.openxmlformats.org/drawingml/2006/main">
              <a:ext uri="{FF2B5EF4-FFF2-40B4-BE49-F238E27FC236}">
                <a16:creationId xmlns:a16="http://schemas.microsoft.com/office/drawing/2014/main" id="{158DA459-77D5-43E2-BC82-638CCBA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81" y="2100638"/>
            <a:ext cx="562579" cy="27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cxnSp>
        <p:nvCxnSpPr>
          <p:cNvPr id="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62A181A-BD6A-4AA7-B02F-58E708C532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7492" y="769030"/>
            <a:ext cx="278709" cy="0"/>
          </a:xfrm>
          <a:prstGeom xmlns:a="http://schemas.openxmlformats.org/drawingml/2006/main" prst="straightConnector1">
            <a:avLst/>
          </a:prstGeom>
          <a:ln xmlns:a="http://schemas.openxmlformats.org/drawingml/2006/main" w="980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9ED24B5-CB8F-41C0-85A0-7B5F5241BA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7492" y="2193541"/>
            <a:ext cx="278709" cy="0"/>
          </a:xfrm>
          <a:prstGeom xmlns:a="http://schemas.openxmlformats.org/drawingml/2006/main" prst="straightConnector1">
            <a:avLst/>
          </a:prstGeom>
          <a:ln xmlns:a="http://schemas.openxmlformats.org/drawingml/2006/main" w="980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FC1CCDD-41A3-4982-B0C0-7333FF3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10" y="887739"/>
            <a:ext cx="660643" cy="1274835"/>
          </a:xfrm>
          <a:prstGeom xmlns:a="http://schemas.openxmlformats.org/drawingml/2006/main" prst="roundRect">
            <a:avLst>
              <a:gd name="adj" fmla="val 3906"/>
            </a:avLst>
          </a:prstGeom>
          <a:gradFill xmlns:a="http://schemas.openxmlformats.org/drawingml/2006/main">
            <a:gsLst>
              <a:gs pos="0">
                <a:srgbClr val="F0F2F5"/>
              </a:gs>
              <a:gs pos="100000">
                <a:srgbClr val="E8EBEF"/>
              </a:gs>
            </a:gsLst>
            <a:lin ang="5400000"/>
          </a:gradFill>
          <a:ln xmlns:a="http://schemas.openxmlformats.org/drawingml/2006/main" w="5161">
            <a:solidFill>
              <a:srgbClr val="63849E"/>
            </a:solidFill>
            <a:prstDash val="solid"/>
          </a:ln>
        </p:spPr>
      </p:sp>
      <p:sp>
        <p:nvSpPr>
          <p:cNvPr id="29" name="Observation&#10;+ language&#10;+ proprioception">
            <a:extLst xmlns:a="http://schemas.openxmlformats.org/drawingml/2006/main">
              <a:ext uri="{FF2B5EF4-FFF2-40B4-BE49-F238E27FC236}">
                <a16:creationId xmlns:a16="http://schemas.microsoft.com/office/drawing/2014/main" id="{F33A666B-6B17-4920-AE49-46665BB0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1073545"/>
            <a:ext cx="557418" cy="345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9309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language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proprioception</a:t>
            </a:r>
          </a:p>
        </p:txBody>
      </p:sp>
      <p:sp>
        <p:nvSpPr>
          <p:cNvPr id="30" name="o_t, l, p_t">
            <a:extLst xmlns:a="http://schemas.openxmlformats.org/drawingml/2006/main">
              <a:ext uri="{FF2B5EF4-FFF2-40B4-BE49-F238E27FC236}">
                <a16:creationId xmlns:a16="http://schemas.microsoft.com/office/drawing/2014/main" id="{93D7CF78-1CCF-481B-9C99-65190F6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1455479"/>
            <a:ext cx="588385" cy="1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o_t, l, p_t</a:t>
            </a:r>
          </a:p>
        </p:txBody>
      </p:sp>
      <p:sp>
        <p:nvSpPr>
          <p:cNvPr id="31" name="Current images&#10;Instruction&#10;Robot state">
            <a:extLst xmlns:a="http://schemas.openxmlformats.org/drawingml/2006/main">
              <a:ext uri="{FF2B5EF4-FFF2-40B4-BE49-F238E27FC236}">
                <a16:creationId xmlns:a16="http://schemas.microsoft.com/office/drawing/2014/main" id="{297213F1-FC52-4033-B52E-BBED8AD3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00" y="1692898"/>
            <a:ext cx="588385" cy="376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809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Current images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Robot state</a:t>
            </a:r>
          </a:p>
        </p:txBody>
      </p:sp>
      <p:cxnSp>
        <p:nvCxnSpPr>
          <p:cNvPr id="3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DD40D90-85AE-4B29-98D7-5686190A53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9753" y="1187093"/>
            <a:ext cx="149677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757921D-ACC5-4676-BB0B-6C1CA07296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29430" y="769030"/>
            <a:ext cx="0" cy="418063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67F9278-5DED-4C6A-9B94-AB9003044E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769030"/>
            <a:ext cx="185806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171601C-3715-4780-8E36-0728D98F4E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9753" y="2079993"/>
            <a:ext cx="149677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189B610-A54F-4B4A-8994-633810C1C7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2079993"/>
            <a:ext cx="0" cy="139354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</a:ln>
        </p:spPr>
      </p:cxnSp>
      <p:cxnSp>
        <p:nvCxnSpPr>
          <p:cNvPr id="3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323F495-800D-47B9-BFF2-57ED28D414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9430" y="2219348"/>
            <a:ext cx="185806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E1F33E8-B79A-40CD-8399-2F563E64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97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DD553C1-3A1A-44C5-9BD7-D2907595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977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18BF98C-916F-4169-86E5-7BB9CB91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558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E8CE54-1985-434A-9342-B078405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38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956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7ACC246-AC99-45F8-89F9-C43EE731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23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650AA7C-EC77-4261-AF2B-560156B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103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EDBE8B5-FF15-47FF-839A-287D673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84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B417BE9-94E9-4DA2-818F-5CD175D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264" y="1011610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F17E00-4002-4F16-8E57-C891C80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97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A2B20F-12D6-43B9-83EA-4EE4223B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977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6AA42E8-E647-4748-8BC3-1EB3B815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558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294550-F5DC-4796-BFAD-F8D3F8B4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38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C54"/>
          </a:solidFill>
          <a:ln xmlns:a="http://schemas.openxmlformats.org/drawingml/2006/main" w="5161">
            <a:solidFill>
              <a:srgbClr val="C58823"/>
            </a:solidFill>
            <a:prstDash val="solid"/>
          </a:ln>
        </p:spPr>
      </p:sp>
      <p:sp>
        <p:nvSpPr>
          <p:cNvPr id="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178131-8371-4439-A743-D3BDDDA2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23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85A9EE5-8305-46FF-AEBA-611F00FB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103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6878D8-3AA3-4395-ABAF-74B5E148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84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A7B06EE-F8F1-40DB-98C2-D884E90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264" y="2451605"/>
            <a:ext cx="46451" cy="20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9CA"/>
          </a:solidFill>
          <a:ln xmlns:a="http://schemas.openxmlformats.org/drawingml/2006/main" w="5161">
            <a:solidFill>
              <a:srgbClr val="2E8F97"/>
            </a:solidFill>
            <a:prstDash val="solid"/>
          </a:ln>
        </p:spPr>
      </p:sp>
      <p:sp>
        <p:nvSpPr>
          <p:cNvPr id="54" name="Future latent tokens Zᵀ">
            <a:extLst xmlns:a="http://schemas.openxmlformats.org/drawingml/2006/main">
              <a:ext uri="{FF2B5EF4-FFF2-40B4-BE49-F238E27FC236}">
                <a16:creationId xmlns:a16="http://schemas.microsoft.com/office/drawing/2014/main" id="{2DCABF17-AEA3-4BC0-BBA1-47D0C5DF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33" y="1249028"/>
            <a:ext cx="1140642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Zᵀ</a:t>
            </a:r>
          </a:p>
        </p:txBody>
      </p:sp>
      <p:sp>
        <p:nvSpPr>
          <p:cNvPr id="55" name="(teacher-generated future)">
            <a:extLst xmlns:a="http://schemas.openxmlformats.org/drawingml/2006/main">
              <a:ext uri="{FF2B5EF4-FFF2-40B4-BE49-F238E27FC236}">
                <a16:creationId xmlns:a16="http://schemas.microsoft.com/office/drawing/2014/main" id="{72712D57-1E62-4E13-8223-F3B29A1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94" y="1367738"/>
            <a:ext cx="1021932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(teacher-generated future)</a:t>
            </a:r>
          </a:p>
        </p:txBody>
      </p:sp>
      <p:sp>
        <p:nvSpPr>
          <p:cNvPr id="56" name="Action chunk aᵀ">
            <a:extLst xmlns:a="http://schemas.openxmlformats.org/drawingml/2006/main">
              <a:ext uri="{FF2B5EF4-FFF2-40B4-BE49-F238E27FC236}">
                <a16:creationId xmlns:a16="http://schemas.microsoft.com/office/drawing/2014/main" id="{72355920-D1F3-45F6-8007-809C2A07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36" y="1249028"/>
            <a:ext cx="717417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809"/>
          </a:bodyPr>
          <a:lstStyle xmlns:a="http://schemas.openxmlformats.org/drawingml/2006/main"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aᵀ</a:t>
            </a:r>
          </a:p>
        </p:txBody>
      </p:sp>
      <p:sp>
        <p:nvSpPr>
          <p:cNvPr id="57" name="(6 motor dimensions)">
            <a:extLst xmlns:a="http://schemas.openxmlformats.org/drawingml/2006/main">
              <a:ext uri="{FF2B5EF4-FFF2-40B4-BE49-F238E27FC236}">
                <a16:creationId xmlns:a16="http://schemas.microsoft.com/office/drawing/2014/main" id="{04C081E6-DB64-48AD-8CFA-4C05BD0A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13" y="1367738"/>
            <a:ext cx="717417" cy="8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748"/>
          </a:bodyPr>
          <a:lstStyle xmlns:a="http://schemas.openxmlformats.org/drawingml/2006/main"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sp>
        <p:nvSpPr>
          <p:cNvPr id="58" name="Future latent tokens Zˢ">
            <a:extLst xmlns:a="http://schemas.openxmlformats.org/drawingml/2006/main">
              <a:ext uri="{FF2B5EF4-FFF2-40B4-BE49-F238E27FC236}">
                <a16:creationId xmlns:a16="http://schemas.microsoft.com/office/drawing/2014/main" id="{190718B0-B61D-4D07-9981-D4450775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94" y="2714830"/>
            <a:ext cx="1109674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Zˢ</a:t>
            </a:r>
          </a:p>
        </p:txBody>
      </p:sp>
      <p:sp>
        <p:nvSpPr>
          <p:cNvPr id="59" name="(student-generated future)">
            <a:extLst xmlns:a="http://schemas.openxmlformats.org/drawingml/2006/main">
              <a:ext uri="{FF2B5EF4-FFF2-40B4-BE49-F238E27FC236}">
                <a16:creationId xmlns:a16="http://schemas.microsoft.com/office/drawing/2014/main" id="{5A4A1672-2BEF-4C2E-8F1B-9B22014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94" y="2833539"/>
            <a:ext cx="1021932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(student-generated future)</a:t>
            </a:r>
          </a:p>
        </p:txBody>
      </p:sp>
      <p:sp>
        <p:nvSpPr>
          <p:cNvPr id="60" name="Action chunk aˢ">
            <a:extLst xmlns:a="http://schemas.openxmlformats.org/drawingml/2006/main">
              <a:ext uri="{FF2B5EF4-FFF2-40B4-BE49-F238E27FC236}">
                <a16:creationId xmlns:a16="http://schemas.microsoft.com/office/drawing/2014/main" id="{93DBEB2B-66F0-46D9-9228-C35A3229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36" y="2714830"/>
            <a:ext cx="717417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aˢ</a:t>
            </a:r>
          </a:p>
        </p:txBody>
      </p:sp>
      <p:sp>
        <p:nvSpPr>
          <p:cNvPr id="61" name="(6 motor dimensions)">
            <a:extLst xmlns:a="http://schemas.openxmlformats.org/drawingml/2006/main">
              <a:ext uri="{FF2B5EF4-FFF2-40B4-BE49-F238E27FC236}">
                <a16:creationId xmlns:a16="http://schemas.microsoft.com/office/drawing/2014/main" id="{605D01CC-50AF-4549-A108-B4EE59C5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13" y="2833539"/>
            <a:ext cx="717417" cy="8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748"/>
          </a:bodyPr>
          <a:lstStyle xmlns:a="http://schemas.openxmlformats.org/drawingml/2006/main"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cxnSp>
        <p:nvCxnSpPr>
          <p:cNvPr id="6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8C9F60A-B4DE-4576-9751-6EC882D64A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5F1B2FB-8C2D-4F48-9DDA-F28CE55610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1507092"/>
            <a:ext cx="1021932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145083A-B939-47FF-A518-8B14B8419C4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49427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65" name="T tokens (exclude frame 0)">
            <a:extLst xmlns:a="http://schemas.openxmlformats.org/drawingml/2006/main">
              <a:ext uri="{FF2B5EF4-FFF2-40B4-BE49-F238E27FC236}">
                <a16:creationId xmlns:a16="http://schemas.microsoft.com/office/drawing/2014/main" id="{12C82D48-B9FD-4F37-8B1D-54DA6692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66" y="1543221"/>
            <a:ext cx="1099351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6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88A45E6-DF9B-459D-866C-73348D8C4B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212D362-E2AF-4940-9AD8-E06F0332D4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1507092"/>
            <a:ext cx="624514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6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5DC3709-DB45-43CB-9F25-5680CA2A2BC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41037" y="1470963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69" name="H tokens">
            <a:extLst xmlns:a="http://schemas.openxmlformats.org/drawingml/2006/main">
              <a:ext uri="{FF2B5EF4-FFF2-40B4-BE49-F238E27FC236}">
                <a16:creationId xmlns:a16="http://schemas.microsoft.com/office/drawing/2014/main" id="{23C4A01D-0128-4074-8383-DE4FFE5B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94" y="1543221"/>
            <a:ext cx="70193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4EC0CFC-38B0-49FC-875C-54CFC4E3C1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5D3E9A3-1B50-4B25-B94F-A8715F569A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7494" y="2967733"/>
            <a:ext cx="1021932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65631D9-AB8F-4B6B-8B5A-C7FD3B696DC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49427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73" name="T tokens (exclude frame 0)">
            <a:extLst xmlns:a="http://schemas.openxmlformats.org/drawingml/2006/main">
              <a:ext uri="{FF2B5EF4-FFF2-40B4-BE49-F238E27FC236}">
                <a16:creationId xmlns:a16="http://schemas.microsoft.com/office/drawing/2014/main" id="{46BE16C6-638F-45CE-953D-D0B0705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66" y="3003861"/>
            <a:ext cx="1099351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7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EAC82D8-799E-4A63-B3A0-88F3B666C9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B7C6C79-7E15-46EF-BFD6-255FB87FA1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6523" y="2967733"/>
            <a:ext cx="624514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7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BDD476C-5594-4228-B1ED-7C9D1684F93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41037" y="2931604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77" name="H tokens">
            <a:extLst xmlns:a="http://schemas.openxmlformats.org/drawingml/2006/main">
              <a:ext uri="{FF2B5EF4-FFF2-40B4-BE49-F238E27FC236}">
                <a16:creationId xmlns:a16="http://schemas.microsoft.com/office/drawing/2014/main" id="{83BF3D93-49C7-45A8-9E18-0648F1D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94" y="3003861"/>
            <a:ext cx="70193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1495EEF-9ADE-4B5F-8716-505DC66A16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21041" y="1114835"/>
            <a:ext cx="41290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</a:ln>
        </p:spPr>
      </p:cxnSp>
      <p:cxnSp>
        <p:nvCxnSpPr>
          <p:cNvPr id="7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4FDDF86-DE64-486C-9927-5607ACAA3F2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62331" y="954836"/>
            <a:ext cx="0" cy="159999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</a:ln>
        </p:spPr>
      </p:cxnSp>
      <p:cxnSp>
        <p:nvCxnSpPr>
          <p:cNvPr id="8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21A8FF5-6B4D-46C5-974A-9BED215BE6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62331" y="954836"/>
            <a:ext cx="438708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1" name="Video K/V">
            <a:extLst xmlns:a="http://schemas.openxmlformats.org/drawingml/2006/main">
              <a:ext uri="{FF2B5EF4-FFF2-40B4-BE49-F238E27FC236}">
                <a16:creationId xmlns:a16="http://schemas.microsoft.com/office/drawing/2014/main" id="{F54911E5-C998-44B4-B1D0-AA2288C8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815" y="1037416"/>
            <a:ext cx="562579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2" name="(teacher future)">
            <a:extLst xmlns:a="http://schemas.openxmlformats.org/drawingml/2006/main">
              <a:ext uri="{FF2B5EF4-FFF2-40B4-BE49-F238E27FC236}">
                <a16:creationId xmlns:a16="http://schemas.microsoft.com/office/drawing/2014/main" id="{4EA939A3-36E9-453A-8675-36CF54E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815" y="1145803"/>
            <a:ext cx="562579" cy="8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383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future)</a:t>
            </a:r>
          </a:p>
        </p:txBody>
      </p:sp>
      <p:cxnSp>
        <p:nvCxnSpPr>
          <p:cNvPr id="8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96BC328-806D-4484-BB65-7949FD459D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21041" y="2565153"/>
            <a:ext cx="41290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</a:ln>
        </p:spPr>
      </p:cxnSp>
      <p:cxnSp>
        <p:nvCxnSpPr>
          <p:cNvPr id="8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7D2D875-B390-4B5D-ADCD-E49F93DC913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62331" y="2394831"/>
            <a:ext cx="0" cy="170322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</a:ln>
        </p:spPr>
      </p:cxnSp>
      <p:cxnSp>
        <p:nvCxnSpPr>
          <p:cNvPr id="8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EA33C81-AE80-4A47-B2F2-4772328904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62331" y="2394831"/>
            <a:ext cx="438708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6" name="Video K/V">
            <a:extLst xmlns:a="http://schemas.openxmlformats.org/drawingml/2006/main">
              <a:ext uri="{FF2B5EF4-FFF2-40B4-BE49-F238E27FC236}">
                <a16:creationId xmlns:a16="http://schemas.microsoft.com/office/drawing/2014/main" id="{0CB1089A-D8FF-4430-B73E-DAC21EB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815" y="2477411"/>
            <a:ext cx="562579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7" name="(student future)">
            <a:extLst xmlns:a="http://schemas.openxmlformats.org/drawingml/2006/main">
              <a:ext uri="{FF2B5EF4-FFF2-40B4-BE49-F238E27FC236}">
                <a16:creationId xmlns:a16="http://schemas.microsoft.com/office/drawing/2014/main" id="{FEAC24EB-2D5F-49EB-AF2E-B1E848B1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815" y="2585798"/>
            <a:ext cx="562579" cy="8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383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 future)</a:t>
            </a:r>
          </a:p>
        </p:txBody>
      </p:sp>
      <p:cxnSp>
        <p:nvCxnSpPr>
          <p:cNvPr id="8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26A9D6F-D07E-42A5-BC9F-D4473D5799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6199" y="769030"/>
            <a:ext cx="201290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8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E2E4A67-C6DB-4B2D-9F0F-6B117C194A3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147488" y="645159"/>
            <a:ext cx="0" cy="123871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9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CA3F5B0-2730-4308-B703-7BED1CB669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645159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95D6475-5FD2-4059-8592-57D38BC86A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6199" y="2193541"/>
            <a:ext cx="201290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9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837948C-7DDB-41D4-8F83-0C254FFEDE7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2193541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9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53B7A31-675E-437F-B469-FDABAD9093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2276122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AC43F5C-9049-409D-9FA9-E8C839A37E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7488" y="645159"/>
            <a:ext cx="0" cy="1630963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dash"/>
          </a:ln>
        </p:spPr>
      </p:cxnSp>
      <p:sp>
        <p:nvSpPr>
          <p:cNvPr id="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932272C-9617-42E2-A123-8A01B867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36" y="485160"/>
            <a:ext cx="629675" cy="903223"/>
          </a:xfrm>
          <a:prstGeom xmlns:a="http://schemas.openxmlformats.org/drawingml/2006/main" prst="roundRect">
            <a:avLst>
              <a:gd name="adj" fmla="val 4098"/>
            </a:avLst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F0D297"/>
            </a:solidFill>
            <a:prstDash val="solid"/>
          </a:ln>
        </p:spPr>
      </p:sp>
      <p:sp>
        <p:nvSpPr>
          <p:cNvPr id="96" name="Future&#10;latent loss">
            <a:extLst xmlns:a="http://schemas.openxmlformats.org/drawingml/2006/main">
              <a:ext uri="{FF2B5EF4-FFF2-40B4-BE49-F238E27FC236}">
                <a16:creationId xmlns:a16="http://schemas.microsoft.com/office/drawing/2014/main" id="{64205DEC-BB54-44EF-B0F9-446676F2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649" y="526450"/>
            <a:ext cx="526450" cy="247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5"/>
          </a:bodyPr>
          <a:lstStyle xmlns:a="http://schemas.openxmlformats.org/drawingml/2006/main">
            <a:def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latent loss</a:t>
            </a:r>
          </a:p>
        </p:txBody>
      </p:sp>
      <p:sp>
        <p:nvSpPr>
          <p:cNvPr id="97" name="L_z = NMSE">
            <a:extLst xmlns:a="http://schemas.openxmlformats.org/drawingml/2006/main">
              <a:ext uri="{FF2B5EF4-FFF2-40B4-BE49-F238E27FC236}">
                <a16:creationId xmlns:a16="http://schemas.microsoft.com/office/drawing/2014/main" id="{7E81FF55-350F-44D2-A180-AA1A1778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846449"/>
            <a:ext cx="557418" cy="149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63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L_z = NMSE</a:t>
            </a:r>
          </a:p>
        </p:txBody>
      </p:sp>
      <p:sp>
        <p:nvSpPr>
          <p:cNvPr id="98" name="(Z^S, Z^T)">
            <a:extLst xmlns:a="http://schemas.openxmlformats.org/drawingml/2006/main">
              <a:ext uri="{FF2B5EF4-FFF2-40B4-BE49-F238E27FC236}">
                <a16:creationId xmlns:a16="http://schemas.microsoft.com/office/drawing/2014/main" id="{92AB4801-224D-44E8-9F98-20EECA9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1001287"/>
            <a:ext cx="557418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258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(Z^S, Z^T)</a:t>
            </a:r>
          </a:p>
        </p:txBody>
      </p:sp>
      <p:sp>
        <p:nvSpPr>
          <p:cNvPr id="99" name="(future only,&#10;frame 0 excluded)">
            <a:extLst xmlns:a="http://schemas.openxmlformats.org/drawingml/2006/main">
              <a:ext uri="{FF2B5EF4-FFF2-40B4-BE49-F238E27FC236}">
                <a16:creationId xmlns:a16="http://schemas.microsoft.com/office/drawing/2014/main" id="{CF32BE93-A4F4-4123-ABC3-4225BA9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165" y="1197416"/>
            <a:ext cx="557418" cy="1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5969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(future only,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frame 0 excluded)</a:t>
            </a:r>
          </a:p>
        </p:txBody>
      </p:sp>
      <p:sp>
        <p:nvSpPr>
          <p:cNvPr id="1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8F31485-87E7-479F-83AC-8E23705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36" y="1723865"/>
            <a:ext cx="629675" cy="1068384"/>
          </a:xfrm>
          <a:prstGeom xmlns:a="http://schemas.openxmlformats.org/drawingml/2006/main" prst="roundRect">
            <a:avLst>
              <a:gd name="adj" fmla="val 4098"/>
            </a:avLst>
          </a:prstGeom>
          <a:gradFill xmlns:a="http://schemas.openxmlformats.org/drawingml/2006/main">
            <a:gsLst>
              <a:gs pos="0">
                <a:srgbClr val="D9F2F4"/>
              </a:gs>
              <a:gs pos="100000">
                <a:srgbClr val="EDF9FA"/>
              </a:gs>
            </a:gsLst>
            <a:lin ang="5400000"/>
          </a:gradFill>
          <a:ln xmlns:a="http://schemas.openxmlformats.org/drawingml/2006/main" w="5161">
            <a:solidFill>
              <a:srgbClr val="98D7DE"/>
            </a:solidFill>
            <a:prstDash val="solid"/>
          </a:ln>
        </p:spPr>
      </p:sp>
      <p:sp>
        <p:nvSpPr>
          <p:cNvPr id="101" name="First-10&#10;motor action&#10;loss">
            <a:extLst xmlns:a="http://schemas.openxmlformats.org/drawingml/2006/main">
              <a:ext uri="{FF2B5EF4-FFF2-40B4-BE49-F238E27FC236}">
                <a16:creationId xmlns:a16="http://schemas.microsoft.com/office/drawing/2014/main" id="{150DDA0C-EEC0-4AF6-A8F2-FE24558A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1790962"/>
            <a:ext cx="541934" cy="33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867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First-10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102" name="L_a = MSE">
            <a:extLst xmlns:a="http://schemas.openxmlformats.org/drawingml/2006/main">
              <a:ext uri="{FF2B5EF4-FFF2-40B4-BE49-F238E27FC236}">
                <a16:creationId xmlns:a16="http://schemas.microsoft.com/office/drawing/2014/main" id="{B547E166-2EB9-4CF0-A921-6ECB37D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2167735"/>
            <a:ext cx="557418" cy="149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L_a = MSE</a:t>
            </a:r>
          </a:p>
        </p:txBody>
      </p:sp>
      <p:sp>
        <p:nvSpPr>
          <p:cNvPr id="103" name="(a^S, a^T)">
            <a:extLst xmlns:a="http://schemas.openxmlformats.org/drawingml/2006/main">
              <a:ext uri="{FF2B5EF4-FFF2-40B4-BE49-F238E27FC236}">
                <a16:creationId xmlns:a16="http://schemas.microsoft.com/office/drawing/2014/main" id="{66D5B86D-9345-4F99-ACD6-9CF1F7E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2327735"/>
            <a:ext cx="557418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258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(a^S, a^T)</a:t>
            </a:r>
          </a:p>
        </p:txBody>
      </p:sp>
      <p:sp>
        <p:nvSpPr>
          <p:cNvPr id="104" name="(6 motor dims&#10;only, gripper&#10;excluded)">
            <a:extLst xmlns:a="http://schemas.openxmlformats.org/drawingml/2006/main">
              <a:ext uri="{FF2B5EF4-FFF2-40B4-BE49-F238E27FC236}">
                <a16:creationId xmlns:a16="http://schemas.microsoft.com/office/drawing/2014/main" id="{EBB7271C-964E-4625-816E-8004071D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327" y="2503218"/>
            <a:ext cx="536772" cy="268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0194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only, gripper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excluded)</a:t>
            </a:r>
          </a:p>
        </p:txBody>
      </p:sp>
      <p:sp>
        <p:nvSpPr>
          <p:cNvPr id="105" name="Transform weight rows into groups of 32 scalars">
            <a:extLst xmlns:a="http://schemas.openxmlformats.org/drawingml/2006/main">
              <a:ext uri="{FF2B5EF4-FFF2-40B4-BE49-F238E27FC236}">
                <a16:creationId xmlns:a16="http://schemas.microsoft.com/office/drawing/2014/main" id="{5F22959F-E953-490F-9B55-E2FD575D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195" y="273548"/>
            <a:ext cx="2296767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 weight rows into groups of 32 scalars</a:t>
            </a:r>
          </a:p>
        </p:txBody>
      </p:sp>
      <p:sp>
        <p:nvSpPr>
          <p:cNvPr id="106" name="(each vector has d = 4)">
            <a:extLst xmlns:a="http://schemas.openxmlformats.org/drawingml/2006/main">
              <a:ext uri="{FF2B5EF4-FFF2-40B4-BE49-F238E27FC236}">
                <a16:creationId xmlns:a16="http://schemas.microsoft.com/office/drawing/2014/main" id="{388AA04E-223C-487E-8105-55989176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969" y="387096"/>
            <a:ext cx="2198703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(each vector has d = 4)</a:t>
            </a:r>
          </a:p>
        </p:txBody>
      </p:sp>
      <p:sp>
        <p:nvSpPr>
          <p:cNvPr id="107" name="Transformed weight row  w">
            <a:extLst xmlns:a="http://schemas.openxmlformats.org/drawingml/2006/main">
              <a:ext uri="{FF2B5EF4-FFF2-40B4-BE49-F238E27FC236}">
                <a16:creationId xmlns:a16="http://schemas.microsoft.com/office/drawing/2014/main" id="{AB540DC8-2ED2-48C4-AEDA-D6EAB09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711" y="521289"/>
            <a:ext cx="1971607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809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Transformed weight row  w</a:t>
            </a:r>
          </a:p>
        </p:txBody>
      </p:sp>
      <p:sp>
        <p:nvSpPr>
          <p:cNvPr id="1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29C8DBF-0F22-49A9-9512-9F1D4FF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62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75B57AC-879E-4FCA-9A30-3CD6176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54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B13A627-5455-4D89-8D85-5D283322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93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8C03362-3069-4ABC-9BBA-1B460A2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322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5A4646-D512-4277-8C7B-6C9FB3D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70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521B99D-5520-4178-A552-483A589B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9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903AA7E-1637-43B5-B813-4B25F698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48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F7D791E-3801-46FB-8EBA-7E395D4E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86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FF71563-535A-4774-9904-B283AEF9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25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01204F1-62F3-4778-8C96-32AAFC24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64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D483890-BDFA-4A04-8337-F5C2888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029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CCB9247-126B-41BD-81F6-1627BC3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1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619438-A25D-4C26-B270-BA5E4AA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0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D5C479-A6BF-4D98-A2FA-D64A6B7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190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DA0A653-D3CF-4F95-B4C8-46714810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576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0BD6747-CE80-45BC-AD51-9EDABA6C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63" y="634837"/>
            <a:ext cx="118387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3871">
            <a:solidFill>
              <a:srgbClr val="58697C"/>
            </a:solidFill>
            <a:prstDash val="solid"/>
          </a:ln>
        </p:spPr>
      </p:sp>
      <p:sp>
        <p:nvSpPr>
          <p:cNvPr id="1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C53A9AF-B46D-46BE-803D-959CCC3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6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244E0EE-53D9-44FF-9CCA-2DB433AC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45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2BAC573-D520-418D-AB64-A2B101A6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74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3EDC8B-4CFD-481C-B1E5-0FD9549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03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91FA5C-1384-4E49-9387-EA5BD02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2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E876D3B-3897-41C1-BF1F-6380D3F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61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64EB4CD-DB5E-4FEC-A227-7354E9C6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90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7D2926A-E218-404E-B463-A0607B81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192" y="794836"/>
            <a:ext cx="101290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BED"/>
          </a:solidFill>
          <a:ln xmlns:a="http://schemas.openxmlformats.org/drawingml/2006/main" w="4129">
            <a:solidFill>
              <a:srgbClr val="2F89AB"/>
            </a:solidFill>
            <a:prstDash val="solid"/>
          </a:ln>
        </p:spPr>
      </p:sp>
      <p:sp>
        <p:nvSpPr>
          <p:cNvPr id="1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BAC2B0-2640-4C77-952F-2061448E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611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38DC949-9880-4B4D-ABA6-F7F17797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095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5E6B57-5708-441F-A221-DD917AB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578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D112826-0764-4CC9-831B-F9A123DF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062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53155F0-5B64-4A37-A98F-08A10E8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545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FE076F7-8789-4CDB-8048-F0032EFA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029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10A421-75BE-4F1A-B995-661E5F0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513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3032DBD-FCDE-47E4-AA2E-57DDE81B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996" y="794836"/>
            <a:ext cx="95484" cy="10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AD7"/>
          </a:solidFill>
          <a:ln xmlns:a="http://schemas.openxmlformats.org/drawingml/2006/main" w="4129">
            <a:solidFill>
              <a:srgbClr val="378C8E"/>
            </a:solidFill>
            <a:prstDash val="solid"/>
          </a:ln>
        </p:spPr>
      </p:sp>
      <p:sp>
        <p:nvSpPr>
          <p:cNvPr id="140" name="…">
            <a:extLst xmlns:a="http://schemas.openxmlformats.org/drawingml/2006/main">
              <a:ext uri="{FF2B5EF4-FFF2-40B4-BE49-F238E27FC236}">
                <a16:creationId xmlns:a16="http://schemas.microsoft.com/office/drawing/2014/main" id="{9AA1DA2E-CC48-4A03-B338-C27F57E0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479" y="738062"/>
            <a:ext cx="247741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31"/>
          </a:bodyPr>
          <a:lstStyle xmlns:a="http://schemas.openxmlformats.org/drawingml/2006/main"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4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CC5425B-68B0-408B-AC36-238D1C3B68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7162" y="918707"/>
            <a:ext cx="0" cy="30968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74A8B"/>
            </a:solidFill>
            <a:prstDash val="solid"/>
          </a:ln>
        </p:spPr>
      </p:cxnSp>
      <p:cxnSp>
        <p:nvCxnSpPr>
          <p:cNvPr id="14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D09A0D1-A842-4FEB-A47E-0E031ABEED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57162" y="949674"/>
            <a:ext cx="799997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74A8B"/>
            </a:solidFill>
            <a:prstDash val="solid"/>
          </a:ln>
        </p:spPr>
      </p:cxnSp>
      <p:cxnSp>
        <p:nvCxnSpPr>
          <p:cNvPr id="14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D46F9B2-89C5-43C7-B55B-9B9E6E53EC4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57160" y="918707"/>
            <a:ext cx="0" cy="30968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74A8B"/>
            </a:solidFill>
            <a:prstDash val="solid"/>
          </a:ln>
        </p:spPr>
      </p:cxnSp>
      <p:sp>
        <p:nvSpPr>
          <p:cNvPr id="144" name="Group g (32 scalars)">
            <a:extLst xmlns:a="http://schemas.openxmlformats.org/drawingml/2006/main">
              <a:ext uri="{FF2B5EF4-FFF2-40B4-BE49-F238E27FC236}">
                <a16:creationId xmlns:a16="http://schemas.microsoft.com/office/drawing/2014/main" id="{F149F501-2129-4F33-98A2-42E636E7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62" y="970319"/>
            <a:ext cx="856771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Group g (32 scalars)</a:t>
            </a:r>
          </a:p>
        </p:txBody>
      </p:sp>
      <p:sp>
        <p:nvSpPr>
          <p:cNvPr id="145" name="Group g + 1">
            <a:extLst xmlns:a="http://schemas.openxmlformats.org/drawingml/2006/main">
              <a:ext uri="{FF2B5EF4-FFF2-40B4-BE49-F238E27FC236}">
                <a16:creationId xmlns:a16="http://schemas.microsoft.com/office/drawing/2014/main" id="{E38ACD43-C7D4-4179-A60F-F57427A1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7" y="970319"/>
            <a:ext cx="614192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Group g + 1</a:t>
            </a:r>
          </a:p>
        </p:txBody>
      </p:sp>
      <p:sp>
        <p:nvSpPr>
          <p:cNvPr id="1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F443D1F-899C-4711-AE5B-3C57F1F1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034" y="1145803"/>
            <a:ext cx="2178058" cy="319999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161">
            <a:solidFill>
              <a:srgbClr val="5C6D82"/>
            </a:solidFill>
            <a:prstDash val="dash"/>
          </a:ln>
        </p:spPr>
      </p:sp>
      <p:sp>
        <p:nvSpPr>
          <p:cNvPr id="147" name="32 scalars = 8 vectors (d = 4)">
            <a:extLst xmlns:a="http://schemas.openxmlformats.org/drawingml/2006/main">
              <a:ext uri="{FF2B5EF4-FFF2-40B4-BE49-F238E27FC236}">
                <a16:creationId xmlns:a16="http://schemas.microsoft.com/office/drawing/2014/main" id="{4A31113A-DA3D-443E-99FC-6FDECE23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0" y="1171609"/>
            <a:ext cx="2043864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32 scalars = 8 vectors (d = 4)</a:t>
            </a:r>
          </a:p>
        </p:txBody>
      </p:sp>
      <p:sp>
        <p:nvSpPr>
          <p:cNvPr id="1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3A0213-CD65-4E2F-93DF-2E132D0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39BE09F-15F1-4F4F-85DF-846C6A6F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5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1C85303-7462-4B5A-8D21-0BE4481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581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DA02289-0DBB-42E7-906C-DF7E4DBD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097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4C76DA7-4C77-438F-B64F-97EB25B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71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0307727-5387-4250-B5DE-3DC41EB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386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A65BE6B-E22F-4B01-8C76-EE2D701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902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23104AC-3DFC-4748-AA22-E9E85CB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418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3DF6CF3-BE96-480B-A677-D197AFF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256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7161BFE-77ED-4F6E-98B1-F24BD9D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72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7768D1-CA02-4813-A9AE-0A0D1F8E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287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A1FD1AE-50D1-4BF0-B054-0F952F62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803" y="1326447"/>
            <a:ext cx="104516" cy="92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3355">
            <a:solidFill>
              <a:srgbClr val="627386"/>
            </a:solidFill>
            <a:prstDash val="solid"/>
          </a:ln>
        </p:spPr>
      </p:sp>
      <p:sp>
        <p:nvSpPr>
          <p:cNvPr id="160" name="…">
            <a:extLst xmlns:a="http://schemas.openxmlformats.org/drawingml/2006/main">
              <a:ext uri="{FF2B5EF4-FFF2-40B4-BE49-F238E27FC236}">
                <a16:creationId xmlns:a16="http://schemas.microsoft.com/office/drawing/2014/main" id="{2581F584-E63F-4063-A067-5CD7ED2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418" y="1300641"/>
            <a:ext cx="123871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4"/>
          </a:bodyPr>
          <a:lstStyle xmlns:a="http://schemas.openxmlformats.org/drawingml/2006/main"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61" name="…">
            <a:extLst xmlns:a="http://schemas.openxmlformats.org/drawingml/2006/main">
              <a:ext uri="{FF2B5EF4-FFF2-40B4-BE49-F238E27FC236}">
                <a16:creationId xmlns:a16="http://schemas.microsoft.com/office/drawing/2014/main" id="{88919944-D22F-4D8A-8C4F-17C86EB5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9" y="1300641"/>
            <a:ext cx="134193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4"/>
          </a:bodyPr>
          <a:lstStyle xmlns:a="http://schemas.openxmlformats.org/drawingml/2006/main"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6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3B03500-E0D7-4AC8-AA70-78BBE81907E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169421" y="799997"/>
            <a:ext cx="92903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246EAF"/>
            </a:solidFill>
            <a:prstDash val="dash"/>
          </a:ln>
        </p:spPr>
      </p:cxnSp>
      <p:cxnSp>
        <p:nvCxnSpPr>
          <p:cNvPr id="16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D6B7CD8-368D-4AB3-BCB4-6FEBF1FC060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076518" y="799997"/>
            <a:ext cx="92903" cy="345805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246EAF"/>
            </a:solidFill>
            <a:prstDash val="dash"/>
            <a:tailEnd type="triangle" w="sm" len="sm"/>
          </a:ln>
        </p:spPr>
      </p:cxnSp>
      <p:cxnSp>
        <p:nvCxnSpPr>
          <p:cNvPr id="16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2C1F370-EEF9-4435-B55F-8B07447E55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62318" y="908384"/>
            <a:ext cx="211612" cy="8258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69748A"/>
            </a:solidFill>
            <a:prstDash val="dash"/>
          </a:ln>
        </p:spPr>
      </p:cxnSp>
      <p:cxnSp>
        <p:nvCxnSpPr>
          <p:cNvPr id="16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1908671-0D9A-4389-BBB7-05EF25FB6D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73931" y="990965"/>
            <a:ext cx="118709" cy="149677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69748A"/>
            </a:solidFill>
            <a:prstDash val="dash"/>
          </a:ln>
        </p:spPr>
      </p:cxnSp>
      <p:sp>
        <p:nvSpPr>
          <p:cNvPr id="1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D249520-EEFA-4D88-BBB0-CE39E6B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228" y="1517415"/>
            <a:ext cx="1109674" cy="954836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3F9FF"/>
          </a:solidFill>
          <a:ln xmlns:a="http://schemas.openxmlformats.org/drawingml/2006/main" w="5161">
            <a:solidFill>
              <a:srgbClr val="6BB7EB"/>
            </a:solidFill>
            <a:prstDash val="solid"/>
          </a:ln>
        </p:spPr>
      </p:sp>
      <p:sp>
        <p:nvSpPr>
          <p:cNvPr id="167" name="Codebook 1">
            <a:extLst xmlns:a="http://schemas.openxmlformats.org/drawingml/2006/main">
              <a:ext uri="{FF2B5EF4-FFF2-40B4-BE49-F238E27FC236}">
                <a16:creationId xmlns:a16="http://schemas.microsoft.com/office/drawing/2014/main" id="{4A019DC4-4AEE-4C37-B7A6-AF37786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840" y="1543221"/>
            <a:ext cx="1006448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7"/>
          </a:bodyPr>
          <a:lstStyle xmlns:a="http://schemas.openxmlformats.org/drawingml/2006/main"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Codebook 1</a:t>
            </a:r>
          </a:p>
        </p:txBody>
      </p:sp>
      <p:sp>
        <p:nvSpPr>
          <p:cNvPr id="168" name="C₁ ∈ ℝ²⁵⁶×⁴, BF16">
            <a:extLst xmlns:a="http://schemas.openxmlformats.org/drawingml/2006/main">
              <a:ext uri="{FF2B5EF4-FFF2-40B4-BE49-F238E27FC236}">
                <a16:creationId xmlns:a16="http://schemas.microsoft.com/office/drawing/2014/main" id="{EDD7295F-1B55-4E03-92B6-73A4284C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002" y="1667091"/>
            <a:ext cx="990965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93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C₁ ∈ ℝ²⁵⁶×⁴, BF16</a:t>
            </a:r>
          </a:p>
        </p:txBody>
      </p:sp>
      <p:sp>
        <p:nvSpPr>
          <p:cNvPr id="169" name="8 indices">
            <a:extLst xmlns:a="http://schemas.openxmlformats.org/drawingml/2006/main">
              <a:ext uri="{FF2B5EF4-FFF2-40B4-BE49-F238E27FC236}">
                <a16:creationId xmlns:a16="http://schemas.microsoft.com/office/drawing/2014/main" id="{CD46A9C1-EEAD-43C9-86EB-895F3AF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518" y="1796123"/>
            <a:ext cx="428386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170" name="i₁ (8-bit)">
            <a:extLst xmlns:a="http://schemas.openxmlformats.org/drawingml/2006/main">
              <a:ext uri="{FF2B5EF4-FFF2-40B4-BE49-F238E27FC236}">
                <a16:creationId xmlns:a16="http://schemas.microsoft.com/office/drawing/2014/main" id="{2DA0BB4A-376A-4705-AE06-2780FE07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485" y="1909671"/>
            <a:ext cx="412902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 (8-bit)</a:t>
            </a:r>
          </a:p>
        </p:txBody>
      </p:sp>
      <p:sp>
        <p:nvSpPr>
          <p:cNvPr id="1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D343E8-C812-4F35-8E97-3F51FC8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0" y="2049026"/>
            <a:ext cx="211612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172" name="i₁,1">
            <a:extLst xmlns:a="http://schemas.openxmlformats.org/drawingml/2006/main">
              <a:ext uri="{FF2B5EF4-FFF2-40B4-BE49-F238E27FC236}">
                <a16:creationId xmlns:a16="http://schemas.microsoft.com/office/drawing/2014/main" id="{107B9AD8-F083-467B-86BC-57AD8BF3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937" y="2074832"/>
            <a:ext cx="159999" cy="5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5731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i₁,1</a:t>
            </a:r>
          </a:p>
        </p:txBody>
      </p:sp>
      <p:sp>
        <p:nvSpPr>
          <p:cNvPr id="1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573A7C-14DC-4DE2-A70E-BAB431EB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0" y="2172896"/>
            <a:ext cx="211612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174" name="i₁,2">
            <a:extLst xmlns:a="http://schemas.openxmlformats.org/drawingml/2006/main">
              <a:ext uri="{FF2B5EF4-FFF2-40B4-BE49-F238E27FC236}">
                <a16:creationId xmlns:a16="http://schemas.microsoft.com/office/drawing/2014/main" id="{D640CC97-C18B-45F1-84A1-4A497E6B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937" y="2198703"/>
            <a:ext cx="159999" cy="5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5731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i₁,2</a:t>
            </a:r>
          </a:p>
        </p:txBody>
      </p:sp>
      <p:sp>
        <p:nvSpPr>
          <p:cNvPr id="1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FF7EC1D-A30C-4941-861D-DA300175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0" y="2343218"/>
            <a:ext cx="211612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176" name="i₁,8">
            <a:extLst xmlns:a="http://schemas.openxmlformats.org/drawingml/2006/main">
              <a:ext uri="{FF2B5EF4-FFF2-40B4-BE49-F238E27FC236}">
                <a16:creationId xmlns:a16="http://schemas.microsoft.com/office/drawing/2014/main" id="{6D58A342-5581-4113-9CC8-1AA20452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937" y="2369025"/>
            <a:ext cx="159999" cy="5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5731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i₁,8</a:t>
            </a:r>
          </a:p>
        </p:txBody>
      </p:sp>
      <p:sp>
        <p:nvSpPr>
          <p:cNvPr id="177" name="⋮">
            <a:extLst xmlns:a="http://schemas.openxmlformats.org/drawingml/2006/main">
              <a:ext uri="{FF2B5EF4-FFF2-40B4-BE49-F238E27FC236}">
                <a16:creationId xmlns:a16="http://schemas.microsoft.com/office/drawing/2014/main" id="{8698E463-19FD-4906-B031-E8622CB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82" y="2260638"/>
            <a:ext cx="129032" cy="8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8652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178" name="8 codewords">
            <a:extLst xmlns:a="http://schemas.openxmlformats.org/drawingml/2006/main">
              <a:ext uri="{FF2B5EF4-FFF2-40B4-BE49-F238E27FC236}">
                <a16:creationId xmlns:a16="http://schemas.microsoft.com/office/drawing/2014/main" id="{3ACB0A48-BD8F-4B6F-847C-441E46B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6123"/>
            <a:ext cx="53161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179" name="(4 scalars each)">
            <a:extLst xmlns:a="http://schemas.openxmlformats.org/drawingml/2006/main">
              <a:ext uri="{FF2B5EF4-FFF2-40B4-BE49-F238E27FC236}">
                <a16:creationId xmlns:a16="http://schemas.microsoft.com/office/drawing/2014/main" id="{6CBBCB61-1CB1-45C8-8911-4326EE3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355" y="1919994"/>
            <a:ext cx="567740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180" name="Lookup">
            <a:extLst xmlns:a="http://schemas.openxmlformats.org/drawingml/2006/main">
              <a:ext uri="{FF2B5EF4-FFF2-40B4-BE49-F238E27FC236}">
                <a16:creationId xmlns:a16="http://schemas.microsoft.com/office/drawing/2014/main" id="{E2BE4AF7-96E7-4860-8A5C-56A4665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194" y="2059348"/>
            <a:ext cx="309676" cy="9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18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688460B-6283-4037-9FDA-DF0EB1FCCB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96517" y="2239993"/>
            <a:ext cx="299354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4A8B"/>
            </a:solidFill>
            <a:prstDash val="solid"/>
            <a:tailEnd type="triangle" w="sm" len="sm"/>
          </a:ln>
        </p:spPr>
      </p:cxnSp>
      <p:sp>
        <p:nvSpPr>
          <p:cNvPr id="1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13648BF-4D3F-40EB-AAD7-7783A8EF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44B7955-0C2A-4F0F-BE13-183227E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E0B9C75-7919-4678-95A9-34DAA56D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2907D69-A24B-485C-9F3B-44733F9D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2D5AEF2-66E4-4AB9-A4F8-30D7291C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0A427BC-956B-4C49-A4F4-E30DFE1E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399162D-F41A-4C0D-BA2B-84A95789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B3C170-5275-4A34-A6F5-1DAEB5B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28B56CD-3D24-44DA-8992-C8CC2078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0DE56FB-1A56-4C46-820F-F9C79C40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79DCD27-C1E3-43E9-A342-C7363838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9EA40BB-ECC9-43C4-BF55-2D9535A6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B3F0912-2FAA-4B47-8025-2C8AF7FB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E6BE8C2-6BF4-4905-A0AE-8132FF7B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70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9154EC1-F171-4F09-BFEB-CC08058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57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459E1E1-B1A6-49AA-98CE-805D12B7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644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7EE"/>
          </a:solidFill>
          <a:ln xmlns:a="http://schemas.openxmlformats.org/drawingml/2006/main" w="3871">
            <a:solidFill>
              <a:srgbClr val="6BB7EB"/>
            </a:solidFill>
            <a:prstDash val="solid"/>
          </a:ln>
        </p:spPr>
      </p:sp>
      <p:sp>
        <p:nvSpPr>
          <p:cNvPr id="1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D3A3D4-647E-439E-A113-373E521F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7" y="1517415"/>
            <a:ext cx="1109674" cy="954836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FFAF8"/>
          </a:solidFill>
          <a:ln xmlns:a="http://schemas.openxmlformats.org/drawingml/2006/main" w="5161">
            <a:solidFill>
              <a:srgbClr val="41A0A5"/>
            </a:solidFill>
            <a:prstDash val="solid"/>
          </a:ln>
        </p:spPr>
      </p:sp>
      <p:sp>
        <p:nvSpPr>
          <p:cNvPr id="199" name="Codebook 2">
            <a:extLst xmlns:a="http://schemas.openxmlformats.org/drawingml/2006/main">
              <a:ext uri="{FF2B5EF4-FFF2-40B4-BE49-F238E27FC236}">
                <a16:creationId xmlns:a16="http://schemas.microsoft.com/office/drawing/2014/main" id="{687E0AD1-388E-4B92-9A1B-408F5BBB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030" y="1543221"/>
            <a:ext cx="1006448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7"/>
          </a:bodyPr>
          <a:lstStyle xmlns:a="http://schemas.openxmlformats.org/drawingml/2006/main">
            <a:def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Codebook 2</a:t>
            </a:r>
          </a:p>
        </p:txBody>
      </p:sp>
      <p:sp>
        <p:nvSpPr>
          <p:cNvPr id="200" name="C₂ ∈ ℝ²⁵⁶×⁴, BF16">
            <a:extLst xmlns:a="http://schemas.openxmlformats.org/drawingml/2006/main">
              <a:ext uri="{FF2B5EF4-FFF2-40B4-BE49-F238E27FC236}">
                <a16:creationId xmlns:a16="http://schemas.microsoft.com/office/drawing/2014/main" id="{679BAA11-F9AE-423E-B5F3-8A202F5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91" y="1667091"/>
            <a:ext cx="990965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93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C₂ ∈ ℝ²⁵⁶×⁴, BF16</a:t>
            </a:r>
          </a:p>
        </p:txBody>
      </p:sp>
      <p:sp>
        <p:nvSpPr>
          <p:cNvPr id="201" name="8 indices">
            <a:extLst xmlns:a="http://schemas.openxmlformats.org/drawingml/2006/main">
              <a:ext uri="{FF2B5EF4-FFF2-40B4-BE49-F238E27FC236}">
                <a16:creationId xmlns:a16="http://schemas.microsoft.com/office/drawing/2014/main" id="{9933E522-F963-43B8-BCEF-AAC27DBD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07" y="1796123"/>
            <a:ext cx="428386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202" name="i₂ (8-bit)">
            <a:extLst xmlns:a="http://schemas.openxmlformats.org/drawingml/2006/main">
              <a:ext uri="{FF2B5EF4-FFF2-40B4-BE49-F238E27FC236}">
                <a16:creationId xmlns:a16="http://schemas.microsoft.com/office/drawing/2014/main" id="{DDAD04AB-9841-4F8E-9211-6A325AB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75" y="1909671"/>
            <a:ext cx="412902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 (8-bit)</a:t>
            </a:r>
          </a:p>
        </p:txBody>
      </p:sp>
      <p:sp>
        <p:nvSpPr>
          <p:cNvPr id="2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5FAFC39-4673-4784-9259-D9951BE9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320" y="2049026"/>
            <a:ext cx="211612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204" name="i₂,1">
            <a:extLst xmlns:a="http://schemas.openxmlformats.org/drawingml/2006/main">
              <a:ext uri="{FF2B5EF4-FFF2-40B4-BE49-F238E27FC236}">
                <a16:creationId xmlns:a16="http://schemas.microsoft.com/office/drawing/2014/main" id="{2D2971D8-DC1C-4D07-B81A-56ABA7B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126" y="2074832"/>
            <a:ext cx="159999" cy="5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5731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i₂,1</a:t>
            </a:r>
          </a:p>
        </p:txBody>
      </p:sp>
      <p:sp>
        <p:nvSpPr>
          <p:cNvPr id="2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1746571-D06A-4104-A3C8-D75C9C4C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320" y="2172896"/>
            <a:ext cx="211612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206" name="i₂,2">
            <a:extLst xmlns:a="http://schemas.openxmlformats.org/drawingml/2006/main">
              <a:ext uri="{FF2B5EF4-FFF2-40B4-BE49-F238E27FC236}">
                <a16:creationId xmlns:a16="http://schemas.microsoft.com/office/drawing/2014/main" id="{96DB4C1C-3C2D-4F76-A75D-A8CB626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126" y="2198703"/>
            <a:ext cx="159999" cy="5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5731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i₂,2</a:t>
            </a:r>
          </a:p>
        </p:txBody>
      </p:sp>
      <p:sp>
        <p:nvSpPr>
          <p:cNvPr id="2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AF6643B-1911-41B8-A38E-68211917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320" y="2343218"/>
            <a:ext cx="211612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5161">
            <a:solidFill>
              <a:srgbClr val="64778C"/>
            </a:solidFill>
            <a:prstDash val="solid"/>
          </a:ln>
        </p:spPr>
      </p:sp>
      <p:sp>
        <p:nvSpPr>
          <p:cNvPr id="208" name="i₂,8">
            <a:extLst xmlns:a="http://schemas.openxmlformats.org/drawingml/2006/main">
              <a:ext uri="{FF2B5EF4-FFF2-40B4-BE49-F238E27FC236}">
                <a16:creationId xmlns:a16="http://schemas.microsoft.com/office/drawing/2014/main" id="{6651453A-0E7C-4637-9633-F57686C5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126" y="2369025"/>
            <a:ext cx="159999" cy="5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57313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i₂,8</a:t>
            </a:r>
          </a:p>
        </p:txBody>
      </p:sp>
      <p:sp>
        <p:nvSpPr>
          <p:cNvPr id="209" name="⋮">
            <a:extLst xmlns:a="http://schemas.openxmlformats.org/drawingml/2006/main">
              <a:ext uri="{FF2B5EF4-FFF2-40B4-BE49-F238E27FC236}">
                <a16:creationId xmlns:a16="http://schemas.microsoft.com/office/drawing/2014/main" id="{BDF319F3-25E4-4609-B58F-C94D12CC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771" y="2260638"/>
            <a:ext cx="129032" cy="8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8652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210" name="8 codewords">
            <a:extLst xmlns:a="http://schemas.openxmlformats.org/drawingml/2006/main">
              <a:ext uri="{FF2B5EF4-FFF2-40B4-BE49-F238E27FC236}">
                <a16:creationId xmlns:a16="http://schemas.microsoft.com/office/drawing/2014/main" id="{51CD32A8-D781-46A1-959D-EDC53072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190" y="1796123"/>
            <a:ext cx="53161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211" name="(4 scalars each)">
            <a:extLst xmlns:a="http://schemas.openxmlformats.org/drawingml/2006/main">
              <a:ext uri="{FF2B5EF4-FFF2-40B4-BE49-F238E27FC236}">
                <a16:creationId xmlns:a16="http://schemas.microsoft.com/office/drawing/2014/main" id="{5174246E-31C6-4196-BCBB-1DDD31F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544" y="1919994"/>
            <a:ext cx="567740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212" name="Lookup">
            <a:extLst xmlns:a="http://schemas.openxmlformats.org/drawingml/2006/main">
              <a:ext uri="{FF2B5EF4-FFF2-40B4-BE49-F238E27FC236}">
                <a16:creationId xmlns:a16="http://schemas.microsoft.com/office/drawing/2014/main" id="{97AD3F5A-DBFC-47AF-9D7F-0296C0C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384" y="2059348"/>
            <a:ext cx="309676" cy="98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21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CB53D38-65A9-4E33-9D78-0EB470C9AD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50706" y="2239993"/>
            <a:ext cx="299354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0696D"/>
            </a:solidFill>
            <a:prstDash val="solid"/>
            <a:tailEnd type="triangle" w="sm" len="sm"/>
          </a:ln>
        </p:spPr>
      </p:cxnSp>
      <p:sp>
        <p:nvSpPr>
          <p:cNvPr id="2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127185-3164-40B1-854B-773E81D2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89BBC44-F7F2-4B2A-A8C5-7C213256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897A69-10F1-4651-B41F-499ADA8A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D118F27-0235-450B-9380-373DA2A2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054187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66BC462-32FE-4AE5-BBDA-2DE052EA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7D6B31F-C033-4289-9F05-07D1F3B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11CCF83-4EAA-467F-836A-0A06553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C838525-23E8-442F-A971-64978E54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17289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E9125F7-37B6-48D2-A712-BE28CAA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F886CFD-9133-4325-892F-1DA12998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21886C-DA25-47D8-BF76-0A79CA1F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C0DC6D7-F886-4C29-8244-2BA72DF9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291606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819C4F6-7FAF-44FC-AC36-7EFCF7AF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E9F49D-7A3D-44A2-B020-D2F3841C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060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6AD708A-D277-4750-B0EF-940AA36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447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1D79EC-9E7C-49CF-A056-960BE42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34" y="2399992"/>
            <a:ext cx="68387" cy="61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DCC"/>
          </a:solidFill>
          <a:ln xmlns:a="http://schemas.openxmlformats.org/drawingml/2006/main" w="3871">
            <a:solidFill>
              <a:srgbClr val="41A0A5"/>
            </a:solidFill>
            <a:prstDash val="solid"/>
          </a:ln>
        </p:spPr>
      </p:sp>
      <p:sp>
        <p:nvSpPr>
          <p:cNvPr id="230" name="+">
            <a:extLst xmlns:a="http://schemas.openxmlformats.org/drawingml/2006/main">
              <a:ext uri="{FF2B5EF4-FFF2-40B4-BE49-F238E27FC236}">
                <a16:creationId xmlns:a16="http://schemas.microsoft.com/office/drawing/2014/main" id="{5D266510-0ECE-4A3A-8DFA-0B84938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063" y="2033542"/>
            <a:ext cx="129032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CD8485-CF95-48D9-A056-ABD681C4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89" y="2529024"/>
            <a:ext cx="2307089" cy="221935"/>
          </a:xfrm>
          <a:prstGeom xmlns:a="http://schemas.openxmlformats.org/drawingml/2006/main" prst="roundRect">
            <a:avLst>
              <a:gd name="adj" fmla="val 9302"/>
            </a:avLst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F3DCA8"/>
            </a:solidFill>
            <a:prstDash val="solid"/>
          </a:ln>
        </p:spPr>
      </p:sp>
      <p:sp>
        <p:nvSpPr>
          <p:cNvPr id="232" name="Ŵ[g] = r_row × 2^{e(g)} × (C₁[i₁] + C₂[i₂])">
            <a:extLst xmlns:a="http://schemas.openxmlformats.org/drawingml/2006/main">
              <a:ext uri="{FF2B5EF4-FFF2-40B4-BE49-F238E27FC236}">
                <a16:creationId xmlns:a16="http://schemas.microsoft.com/office/drawing/2014/main" id="{40D5916E-8DD2-4178-B51A-8BEFBBAE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840" y="2570314"/>
            <a:ext cx="2214187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850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Ŵ[g] = r_row × 2^{e(g)} × (C₁[i₁] + C₂[i₂])</a:t>
            </a:r>
          </a:p>
        </p:txBody>
      </p:sp>
      <p:cxnSp>
        <p:nvCxnSpPr>
          <p:cNvPr id="23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7D2D00A-E300-4EF7-BC6F-BD347A597FC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298452" y="2756120"/>
            <a:ext cx="87742" cy="123871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4A8B"/>
            </a:solidFill>
            <a:prstDash val="solid"/>
            <a:tailEnd type="triangle" w="sm" len="sm"/>
          </a:ln>
        </p:spPr>
      </p:cxnSp>
      <p:cxnSp>
        <p:nvCxnSpPr>
          <p:cNvPr id="23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F16E665-42FE-4616-AB94-39C642B3297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86838" y="2756120"/>
            <a:ext cx="82580" cy="118709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76A5"/>
            </a:solidFill>
            <a:prstDash val="solid"/>
            <a:tailEnd type="triangle" w="sm" len="sm"/>
          </a:ln>
        </p:spPr>
      </p:cxnSp>
      <p:cxnSp>
        <p:nvCxnSpPr>
          <p:cNvPr id="23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3C0EE8E-15B9-4F6D-9D52-08E7A67694A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521674" y="2756120"/>
            <a:ext cx="0" cy="123871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0696D"/>
            </a:solidFill>
            <a:prstDash val="solid"/>
            <a:tailEnd type="triangle" w="sm" len="sm"/>
          </a:ln>
        </p:spPr>
      </p:cxnSp>
      <p:cxnSp>
        <p:nvCxnSpPr>
          <p:cNvPr id="23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9D6DCE4-3C45-45BD-BDC2-556A56A6043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30705" y="2756120"/>
            <a:ext cx="0" cy="123871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61A3C"/>
            </a:solidFill>
            <a:prstDash val="solid"/>
            <a:tailEnd type="triangle" w="sm" len="sm"/>
          </a:ln>
        </p:spPr>
      </p:cxnSp>
      <p:sp>
        <p:nvSpPr>
          <p:cNvPr id="237" name="BF16 row gain">
            <a:extLst xmlns:a="http://schemas.openxmlformats.org/drawingml/2006/main">
              <a:ext uri="{FF2B5EF4-FFF2-40B4-BE49-F238E27FC236}">
                <a16:creationId xmlns:a16="http://schemas.microsoft.com/office/drawing/2014/main" id="{1240CE53-463C-46C9-A88B-3453CB44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89" y="2869668"/>
            <a:ext cx="51612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869"/>
          </a:bodyPr>
          <a:lstStyle xmlns:a="http://schemas.openxmlformats.org/drawingml/2006/main">
            <a:def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row gain</a:t>
            </a:r>
          </a:p>
        </p:txBody>
      </p:sp>
      <p:sp>
        <p:nvSpPr>
          <p:cNvPr id="238" name="r_row">
            <a:extLst xmlns:a="http://schemas.openxmlformats.org/drawingml/2006/main">
              <a:ext uri="{FF2B5EF4-FFF2-40B4-BE49-F238E27FC236}">
                <a16:creationId xmlns:a16="http://schemas.microsoft.com/office/drawing/2014/main" id="{1A6C641E-5C4E-4602-81D3-8C7DA916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098" y="2988378"/>
            <a:ext cx="294193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124"/>
          </a:bodyPr>
          <a:lstStyle xmlns:a="http://schemas.openxmlformats.org/drawingml/2006/main">
            <a:def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r_row</a:t>
            </a:r>
          </a:p>
        </p:txBody>
      </p:sp>
      <p:sp>
        <p:nvSpPr>
          <p:cNvPr id="239" name="B32 power-of-two&#10;scales">
            <a:extLst xmlns:a="http://schemas.openxmlformats.org/drawingml/2006/main">
              <a:ext uri="{FF2B5EF4-FFF2-40B4-BE49-F238E27FC236}">
                <a16:creationId xmlns:a16="http://schemas.microsoft.com/office/drawing/2014/main" id="{C1B4B160-0B47-43A0-9AB1-B754CC8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806" y="2864507"/>
            <a:ext cx="655482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992"/>
          </a:bodyPr>
          <a:lstStyle xmlns:a="http://schemas.openxmlformats.org/drawingml/2006/main">
            <a:def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B32 power-of-two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scales</a:t>
            </a:r>
          </a:p>
        </p:txBody>
      </p:sp>
      <p:sp>
        <p:nvSpPr>
          <p:cNvPr id="240" name="2 × 8-bit indices /&#10;4 weights = 4 core bpw">
            <a:extLst xmlns:a="http://schemas.openxmlformats.org/drawingml/2006/main">
              <a:ext uri="{FF2B5EF4-FFF2-40B4-BE49-F238E27FC236}">
                <a16:creationId xmlns:a16="http://schemas.microsoft.com/office/drawing/2014/main" id="{ED283786-F027-48B6-9D0B-6D4C0CF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7" y="2864507"/>
            <a:ext cx="650321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6351"/>
          </a:bodyPr>
          <a:lstStyle xmlns:a="http://schemas.openxmlformats.org/drawingml/2006/main">
            <a:def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2 × 8-bit indices /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4 weights = 4 core bpw</a:t>
            </a:r>
          </a:p>
        </p:txBody>
      </p:sp>
      <p:sp>
        <p:nvSpPr>
          <p:cNvPr id="241" name="~4.27 bpw&#10;including&#10;metadata">
            <a:extLst xmlns:a="http://schemas.openxmlformats.org/drawingml/2006/main">
              <a:ext uri="{FF2B5EF4-FFF2-40B4-BE49-F238E27FC236}">
                <a16:creationId xmlns:a16="http://schemas.microsoft.com/office/drawing/2014/main" id="{B20E8BE3-978C-464B-B81B-C6206DE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995" y="2843862"/>
            <a:ext cx="392257" cy="28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4821"/>
          </a:bodyPr>
          <a:lstStyle xmlns:a="http://schemas.openxmlformats.org/drawingml/2006/main">
            <a:def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~4.27 bpw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including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metadata</a:t>
            </a:r>
          </a:p>
        </p:txBody>
      </p:sp>
      <p:sp>
        <p:nvSpPr>
          <p:cNvPr id="2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6E4AD9A-C6C3-4F6E-8902-E8D1535C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89" y="3163861"/>
            <a:ext cx="2307089" cy="242580"/>
          </a:xfrm>
          <a:prstGeom xmlns:a="http://schemas.openxmlformats.org/drawingml/2006/main" prst="roundRect">
            <a:avLst>
              <a:gd name="adj" fmla="val 10638"/>
            </a:avLst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F49BA3"/>
            </a:solidFill>
            <a:prstDash val="solid"/>
          </a:ln>
        </p:spPr>
      </p:sp>
      <p:sp>
        <p:nvSpPr>
          <p:cNvPr id="243" name="Indices and B32 exponents are frozen">
            <a:extLst xmlns:a="http://schemas.openxmlformats.org/drawingml/2006/main">
              <a:ext uri="{FF2B5EF4-FFF2-40B4-BE49-F238E27FC236}">
                <a16:creationId xmlns:a16="http://schemas.microsoft.com/office/drawing/2014/main" id="{FAEF2A94-2E03-44B5-9C38-74DE852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3205151"/>
            <a:ext cx="219354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644"/>
          </a:bodyPr>
          <a:lstStyle xmlns:a="http://schemas.openxmlformats.org/drawingml/2006/main"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Indices and B32 exponents are frozen</a:t>
            </a:r>
          </a:p>
        </p:txBody>
      </p:sp>
      <p:sp>
        <p:nvSpPr>
          <p:cNvPr id="244" name="Codebooks and row gains calibrated with action + latent supervision">
            <a:extLst xmlns:a="http://schemas.openxmlformats.org/drawingml/2006/main">
              <a:ext uri="{FF2B5EF4-FFF2-40B4-BE49-F238E27FC236}">
                <a16:creationId xmlns:a16="http://schemas.microsoft.com/office/drawing/2014/main" id="{EFB8CFBF-6045-42E1-B778-5D1277E4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002" y="3318699"/>
            <a:ext cx="2209025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5"/>
          </a:bodyPr>
          <a:lstStyle xmlns:a="http://schemas.openxmlformats.org/drawingml/2006/main"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Codebooks and row gains calibrated with action + latent supervision</a:t>
            </a:r>
          </a:p>
        </p:txBody>
      </p:sp>
      <p:sp>
        <p:nvSpPr>
          <p:cNvPr id="2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3F55612-A76C-4FA3-A87B-F555B87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309676"/>
            <a:ext cx="1223222" cy="190967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FFF"/>
          </a:solidFill>
          <a:ln xmlns:a="http://schemas.openxmlformats.org/drawingml/2006/main" w="5161">
            <a:noFill/>
            <a:prstDash val="solid"/>
          </a:ln>
        </p:spPr>
      </p:sp>
      <p:sp>
        <p:nvSpPr>
          <p:cNvPr id="246" name="Activation path (input X)">
            <a:extLst xmlns:a="http://schemas.openxmlformats.org/drawingml/2006/main">
              <a:ext uri="{FF2B5EF4-FFF2-40B4-BE49-F238E27FC236}">
                <a16:creationId xmlns:a16="http://schemas.microsoft.com/office/drawing/2014/main" id="{A6B7812D-ACCD-4130-ADE7-5453590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52" y="335483"/>
            <a:ext cx="1171609" cy="139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rPr>
              <a:t>Activation path (input X)</a:t>
            </a:r>
          </a:p>
        </p:txBody>
      </p:sp>
      <p:sp>
        <p:nvSpPr>
          <p:cNvPr id="247" name="X">
            <a:extLst xmlns:a="http://schemas.openxmlformats.org/drawingml/2006/main">
              <a:ext uri="{FF2B5EF4-FFF2-40B4-BE49-F238E27FC236}">
                <a16:creationId xmlns:a16="http://schemas.microsoft.com/office/drawing/2014/main" id="{6239F267-3D67-43CF-B330-47A51410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768" y="815481"/>
            <a:ext cx="134193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047"/>
          </a:bodyPr>
          <a:lstStyle xmlns:a="http://schemas.openxmlformats.org/drawingml/2006/main"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CD3D5E8-F4C3-49F7-AEA1-166EE059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832" y="650321"/>
            <a:ext cx="469676" cy="46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1269AC"/>
            </a:solidFill>
            <a:prstDash val="solid"/>
          </a:ln>
        </p:spPr>
      </p:sp>
      <p:sp>
        <p:nvSpPr>
          <p:cNvPr id="249" name="Smooth&#10;(α = 0.5)&#10;+ H128">
            <a:extLst xmlns:a="http://schemas.openxmlformats.org/drawingml/2006/main">
              <a:ext uri="{FF2B5EF4-FFF2-40B4-BE49-F238E27FC236}">
                <a16:creationId xmlns:a16="http://schemas.microsoft.com/office/drawing/2014/main" id="{DDB14A24-F8E5-425E-B97B-454971B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676127"/>
            <a:ext cx="418063" cy="41290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(α = 0.5)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H128</a:t>
            </a:r>
          </a:p>
        </p:txBody>
      </p:sp>
      <p:sp>
        <p:nvSpPr>
          <p:cNvPr id="2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053B87-91EC-463B-9EE1-6AD1A03D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120" y="738062"/>
            <a:ext cx="263225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4088B5"/>
            </a:solidFill>
            <a:prstDash val="solid"/>
          </a:ln>
        </p:spPr>
      </p:sp>
      <p:sp>
        <p:nvSpPr>
          <p:cNvPr id="251" name="÷ D">
            <a:extLst xmlns:a="http://schemas.openxmlformats.org/drawingml/2006/main">
              <a:ext uri="{FF2B5EF4-FFF2-40B4-BE49-F238E27FC236}">
                <a16:creationId xmlns:a16="http://schemas.microsoft.com/office/drawing/2014/main" id="{D958FA15-8F74-4B6A-B039-63679F9A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926" y="763869"/>
            <a:ext cx="211612" cy="23225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÷ D</a:t>
            </a:r>
          </a:p>
        </p:txBody>
      </p:sp>
      <p:sp>
        <p:nvSpPr>
          <p:cNvPr id="2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52AFA23-DC19-49C5-811D-25C4463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731" y="655482"/>
            <a:ext cx="449031" cy="45935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xmlns:a="http://schemas.openxmlformats.org/drawingml/2006/main" w="5161">
            <a:solidFill>
              <a:srgbClr val="106C7A"/>
            </a:solidFill>
            <a:prstDash val="solid"/>
          </a:ln>
        </p:spPr>
      </p:sp>
      <p:sp>
        <p:nvSpPr>
          <p:cNvPr id="253" name="Dynamic&#10;signed A4">
            <a:extLst xmlns:a="http://schemas.openxmlformats.org/drawingml/2006/main">
              <a:ext uri="{FF2B5EF4-FFF2-40B4-BE49-F238E27FC236}">
                <a16:creationId xmlns:a16="http://schemas.microsoft.com/office/drawing/2014/main" id="{7DAD8669-4AF8-4595-A550-F3D4B634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538" y="681288"/>
            <a:ext cx="397418" cy="40774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6630"/>
          </a:bodyPr>
          <a:lstStyle xmlns:a="http://schemas.openxmlformats.org/drawingml/2006/main"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Dynamic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signed A4</a:t>
            </a:r>
          </a:p>
        </p:txBody>
      </p:sp>
      <p:sp>
        <p:nvSpPr>
          <p:cNvPr id="2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4DBB7A-2426-4ED9-8883-71C4EC86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88" y="650321"/>
            <a:ext cx="381934" cy="46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1666AC"/>
            </a:solidFill>
            <a:prstDash val="solid"/>
          </a:ln>
        </p:spPr>
      </p:sp>
      <p:sp>
        <p:nvSpPr>
          <p:cNvPr id="255" name="BF16&#10;dense&#10;Linear">
            <a:extLst xmlns:a="http://schemas.openxmlformats.org/drawingml/2006/main">
              <a:ext uri="{FF2B5EF4-FFF2-40B4-BE49-F238E27FC236}">
                <a16:creationId xmlns:a16="http://schemas.microsoft.com/office/drawing/2014/main" id="{A23220B0-FDE5-4A62-B00F-06E2EC9A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794" y="676127"/>
            <a:ext cx="330322" cy="41290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5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8320A35-BE6D-4909-BB4D-09B549046F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77800" y="882578"/>
            <a:ext cx="123871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5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3F5DFDC-FBBF-4972-BAB2-6EE4E04114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81669" y="877417"/>
            <a:ext cx="196128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8" name="Z">
            <a:extLst xmlns:a="http://schemas.openxmlformats.org/drawingml/2006/main">
              <a:ext uri="{FF2B5EF4-FFF2-40B4-BE49-F238E27FC236}">
                <a16:creationId xmlns:a16="http://schemas.microsoft.com/office/drawing/2014/main" id="{9A75FE93-0B41-4E58-920E-9A6A2E18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282" y="743223"/>
            <a:ext cx="123871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6931"/>
          </a:bodyPr>
          <a:lstStyle xmlns:a="http://schemas.openxmlformats.org/drawingml/2006/main"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25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F5F82F9-B317-4971-8CF5-4F01852861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56506" y="877417"/>
            <a:ext cx="98064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6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3B4B03E-0B62-480D-9A04-CDB6B065AE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13924" y="877417"/>
            <a:ext cx="92903" cy="0"/>
          </a:xfrm>
          <a:prstGeom xmlns:a="http://schemas.openxmlformats.org/drawingml/2006/main" prst="straightConnector1">
            <a:avLst/>
          </a:prstGeom>
          <a:ln xmlns:a="http://schemas.openxmlformats.org/drawingml/2006/main"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61" name="D: one positive scale per physical input channel">
            <a:extLst xmlns:a="http://schemas.openxmlformats.org/drawingml/2006/main">
              <a:ext uri="{FF2B5EF4-FFF2-40B4-BE49-F238E27FC236}">
                <a16:creationId xmlns:a16="http://schemas.microsoft.com/office/drawing/2014/main" id="{1CB75A5D-99DC-4683-8365-299B4060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058" y="1187093"/>
            <a:ext cx="2193541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D: one positive scale per physical input channel</a:t>
            </a:r>
          </a:p>
        </p:txBody>
      </p:sp>
      <p:sp>
        <p:nvSpPr>
          <p:cNvPr id="262" name="v = Z / D">
            <a:extLst xmlns:a="http://schemas.openxmlformats.org/drawingml/2006/main">
              <a:ext uri="{FF2B5EF4-FFF2-40B4-BE49-F238E27FC236}">
                <a16:creationId xmlns:a16="http://schemas.microsoft.com/office/drawing/2014/main" id="{F47627DF-F248-40B3-A4E5-52B71D13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42" y="1460641"/>
            <a:ext cx="629675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 = Z / D</a:t>
            </a:r>
          </a:p>
        </p:txBody>
      </p:sp>
      <p:sp>
        <p:nvSpPr>
          <p:cNvPr id="2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7B3F91E-4BBE-4ED5-84A2-D4A33F66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379" y="1321286"/>
            <a:ext cx="1548382" cy="541934"/>
          </a:xfrm>
          <a:prstGeom xmlns:a="http://schemas.openxmlformats.org/drawingml/2006/main" prst="roundRect">
            <a:avLst>
              <a:gd name="adj" fmla="val 4762"/>
            </a:avLst>
          </a:prstGeom>
          <a:gradFill xmlns:a="http://schemas.openxmlformats.org/drawingml/2006/main">
            <a:gsLst>
              <a:gs pos="0">
                <a:srgbClr val="E1F5FC"/>
              </a:gs>
              <a:gs pos="100000">
                <a:srgbClr val="F1FBFE"/>
              </a:gs>
            </a:gsLst>
            <a:lin ang="5400000"/>
          </a:gradFill>
          <a:ln xmlns:a="http://schemas.openxmlformats.org/drawingml/2006/main" w="5161">
            <a:solidFill>
              <a:srgbClr val="B6E0EE"/>
            </a:solidFill>
            <a:prstDash val="solid"/>
          </a:ln>
        </p:spPr>
      </p:sp>
      <p:sp>
        <p:nvSpPr>
          <p:cNvPr id="264" name="Per-token dynamic signed A4 (per Linear)">
            <a:extLst xmlns:a="http://schemas.openxmlformats.org/drawingml/2006/main">
              <a:ext uri="{FF2B5EF4-FFF2-40B4-BE49-F238E27FC236}">
                <a16:creationId xmlns:a16="http://schemas.microsoft.com/office/drawing/2014/main" id="{291A7404-B30C-4126-BEE6-6787F78D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372899"/>
            <a:ext cx="1445157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794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Per-token dynamic signed A4 (per Linear)</a:t>
            </a:r>
          </a:p>
        </p:txBody>
      </p:sp>
      <p:sp>
        <p:nvSpPr>
          <p:cNvPr id="265" name="sₜ = r_{ℓ} × max |vₜ| / 7">
            <a:extLst xmlns:a="http://schemas.openxmlformats.org/drawingml/2006/main">
              <a:ext uri="{FF2B5EF4-FFF2-40B4-BE49-F238E27FC236}">
                <a16:creationId xmlns:a16="http://schemas.microsoft.com/office/drawing/2014/main" id="{35E8F642-58C9-4D24-9B41-C7D9FB32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7" y="1527737"/>
            <a:ext cx="1269673" cy="149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sₜ = r_{ℓ} × max |vₜ| / 7</a:t>
            </a:r>
          </a:p>
        </p:txBody>
      </p:sp>
      <p:sp>
        <p:nvSpPr>
          <p:cNvPr id="266" name="q = clamp(round(v / sₜ), −7, 7)">
            <a:extLst xmlns:a="http://schemas.openxmlformats.org/drawingml/2006/main">
              <a:ext uri="{FF2B5EF4-FFF2-40B4-BE49-F238E27FC236}">
                <a16:creationId xmlns:a16="http://schemas.microsoft.com/office/drawing/2014/main" id="{3564BC83-0301-4C6E-AD3B-F2D4BE8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798" y="1687737"/>
            <a:ext cx="1383221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99"/>
          </a:bodyPr>
          <a:lstStyle xmlns:a="http://schemas.openxmlformats.org/drawingml/2006/main"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 = clamp(round(v / sₜ), −7, 7)</a:t>
            </a:r>
          </a:p>
        </p:txBody>
      </p:sp>
      <p:sp>
        <p:nvSpPr>
          <p:cNvPr id="267" name="r_{ℓ}: one clipping ratio per Linear">
            <a:extLst xmlns:a="http://schemas.openxmlformats.org/drawingml/2006/main">
              <a:ext uri="{FF2B5EF4-FFF2-40B4-BE49-F238E27FC236}">
                <a16:creationId xmlns:a16="http://schemas.microsoft.com/office/drawing/2014/main" id="{C511066A-E9A7-463D-A821-3E025CF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508" y="1914833"/>
            <a:ext cx="1512253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r_{ℓ}: one clipping ratio per Linear</a:t>
            </a:r>
          </a:p>
        </p:txBody>
      </p:sp>
      <p:sp>
        <p:nvSpPr>
          <p:cNvPr id="268" name="(distinct from per-channel D)">
            <a:extLst xmlns:a="http://schemas.openxmlformats.org/drawingml/2006/main">
              <a:ext uri="{FF2B5EF4-FFF2-40B4-BE49-F238E27FC236}">
                <a16:creationId xmlns:a16="http://schemas.microsoft.com/office/drawing/2014/main" id="{220E95B6-D1F0-404E-B28A-555AF690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862" y="2033542"/>
            <a:ext cx="134193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511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(distinct from per-channel D)</a:t>
            </a:r>
          </a:p>
        </p:txBody>
      </p:sp>
      <p:sp>
        <p:nvSpPr>
          <p:cNvPr id="2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63DAB91-DE07-449F-A632-FE602C72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2193541"/>
            <a:ext cx="753546" cy="206451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7E5"/>
          </a:solidFill>
          <a:ln xmlns:a="http://schemas.openxmlformats.org/drawingml/2006/main" w="5161">
            <a:noFill/>
            <a:prstDash val="solid"/>
          </a:ln>
        </p:spPr>
      </p:sp>
      <p:sp>
        <p:nvSpPr>
          <p:cNvPr id="270" name="Weight path">
            <a:extLst xmlns:a="http://schemas.openxmlformats.org/drawingml/2006/main">
              <a:ext uri="{FF2B5EF4-FFF2-40B4-BE49-F238E27FC236}">
                <a16:creationId xmlns:a16="http://schemas.microsoft.com/office/drawing/2014/main" id="{466BDDDA-4E4B-41B7-80DA-842356A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52" y="2219348"/>
            <a:ext cx="701933" cy="15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Weight path</a:t>
            </a:r>
          </a:p>
        </p:txBody>
      </p:sp>
      <p:sp>
        <p:nvSpPr>
          <p:cNvPr id="2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D7E3B27-E68F-40A1-81E0-18DA34C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2461928"/>
            <a:ext cx="660643" cy="36128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C94E64"/>
            </a:solidFill>
            <a:prstDash val="solid"/>
          </a:ln>
        </p:spPr>
      </p:sp>
      <p:sp>
        <p:nvSpPr>
          <p:cNvPr id="272" name="Decode VQ&#10;(frozen)">
            <a:extLst xmlns:a="http://schemas.openxmlformats.org/drawingml/2006/main">
              <a:ext uri="{FF2B5EF4-FFF2-40B4-BE49-F238E27FC236}">
                <a16:creationId xmlns:a16="http://schemas.microsoft.com/office/drawing/2014/main" id="{FB346F94-AA56-4053-B5DB-14556EAD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52" y="2487734"/>
            <a:ext cx="609030" cy="30967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Decode VQ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73" name="Ŵ">
            <a:extLst xmlns:a="http://schemas.openxmlformats.org/drawingml/2006/main">
              <a:ext uri="{FF2B5EF4-FFF2-40B4-BE49-F238E27FC236}">
                <a16:creationId xmlns:a16="http://schemas.microsoft.com/office/drawing/2014/main" id="{AA93082A-AEBA-4C8F-B14A-611FB88B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830" y="2472250"/>
            <a:ext cx="185806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0351"/>
          </a:bodyPr>
          <a:lstStyle xmlns:a="http://schemas.openxmlformats.org/drawingml/2006/main">
            <a:def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</a:t>
            </a:r>
          </a:p>
        </p:txBody>
      </p:sp>
      <p:sp>
        <p:nvSpPr>
          <p:cNvPr id="2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0A3B58F-E81F-4848-95AB-9050B98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87" y="2498057"/>
            <a:ext cx="588385" cy="294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EBC778"/>
            </a:solidFill>
            <a:prstDash val="solid"/>
          </a:ln>
        </p:spPr>
      </p:sp>
      <p:sp>
        <p:nvSpPr>
          <p:cNvPr id="275" name="Ŵ × D">
            <a:extLst xmlns:a="http://schemas.openxmlformats.org/drawingml/2006/main">
              <a:ext uri="{FF2B5EF4-FFF2-40B4-BE49-F238E27FC236}">
                <a16:creationId xmlns:a16="http://schemas.microsoft.com/office/drawing/2014/main" id="{073F9BC6-5269-401E-8C86-CD9B201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94" y="2523863"/>
            <a:ext cx="536772" cy="2425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 × D</a:t>
            </a:r>
          </a:p>
        </p:txBody>
      </p:sp>
      <p:sp>
        <p:nvSpPr>
          <p:cNvPr id="2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5A12A8F-BA28-4709-AF07-EEE9F2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924" y="2420637"/>
            <a:ext cx="474837" cy="4541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156CB0"/>
            </a:solidFill>
            <a:prstDash val="solid"/>
          </a:ln>
        </p:spPr>
      </p:sp>
      <p:sp>
        <p:nvSpPr>
          <p:cNvPr id="277" name="BF16&#10;dense&#10;Linear">
            <a:extLst xmlns:a="http://schemas.openxmlformats.org/drawingml/2006/main">
              <a:ext uri="{FF2B5EF4-FFF2-40B4-BE49-F238E27FC236}">
                <a16:creationId xmlns:a16="http://schemas.microsoft.com/office/drawing/2014/main" id="{568F3CAC-8113-46F3-BEB8-735B309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730" y="2446444"/>
            <a:ext cx="423224" cy="40257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7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D1E93E7-91B9-45F2-B36D-7A8F213FB2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04250" y="2642572"/>
            <a:ext cx="309676" cy="0"/>
          </a:xfrm>
          <a:prstGeom xmlns:a="http://schemas.openxmlformats.org/drawingml/2006/main" prst="straightConnector1">
            <a:avLst/>
          </a:prstGeom>
          <a:ln xmlns:a="http://schemas.openxmlformats.org/drawingml/2006/main" w="8258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F3318F8-8480-48D5-884A-C51DE0633A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12634" y="2642572"/>
            <a:ext cx="196128" cy="0"/>
          </a:xfrm>
          <a:prstGeom xmlns:a="http://schemas.openxmlformats.org/drawingml/2006/main" prst="straightConnector1">
            <a:avLst/>
          </a:prstGeom>
          <a:ln xmlns:a="http://schemas.openxmlformats.org/drawingml/2006/main" w="8258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6F77B05-5BB9-4672-BC08-ED85809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445" y="2947087"/>
            <a:ext cx="2250315" cy="459353"/>
          </a:xfrm>
          <a:prstGeom xmlns:a="http://schemas.openxmlformats.org/drawingml/2006/main" prst="roundRect">
            <a:avLst>
              <a:gd name="adj" fmla="val 6742"/>
            </a:avLst>
          </a:prstGeom>
          <a:gradFill xmlns:a="http://schemas.openxmlformats.org/drawingml/2006/main">
            <a:gsLst>
              <a:gs pos="0">
                <a:srgbClr val="DBF0F0"/>
              </a:gs>
              <a:gs pos="100000">
                <a:srgbClr val="F4FCFC"/>
              </a:gs>
            </a:gsLst>
            <a:lin ang="5400000"/>
          </a:gradFill>
          <a:ln xmlns:a="http://schemas.openxmlformats.org/drawingml/2006/main" w="5161">
            <a:solidFill>
              <a:srgbClr val="95D0D1"/>
            </a:solidFill>
            <a:prstDash val="solid"/>
          </a:ln>
        </p:spPr>
      </p:sp>
      <p:sp>
        <p:nvSpPr>
          <p:cNvPr id="281" name="Training refinement (activation only)">
            <a:extLst xmlns:a="http://schemas.openxmlformats.org/drawingml/2006/main">
              <a:ext uri="{FF2B5EF4-FFF2-40B4-BE49-F238E27FC236}">
                <a16:creationId xmlns:a16="http://schemas.microsoft.com/office/drawing/2014/main" id="{79AC0606-5A38-41AC-902B-4BF5C25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897" y="2983216"/>
            <a:ext cx="2147090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Training refinement (activation only)</a:t>
            </a:r>
          </a:p>
        </p:txBody>
      </p:sp>
      <p:sp>
        <p:nvSpPr>
          <p:cNvPr id="282" name="• Freeze indices, B32 exponents,&#10;  codebooks and row gains">
            <a:extLst xmlns:a="http://schemas.openxmlformats.org/drawingml/2006/main">
              <a:ext uri="{FF2B5EF4-FFF2-40B4-BE49-F238E27FC236}">
                <a16:creationId xmlns:a16="http://schemas.microsoft.com/office/drawing/2014/main" id="{D4D6C71A-DC0C-4DD5-BB7F-A81DD020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219" y="3117409"/>
            <a:ext cx="2141929" cy="175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574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Freeze indices, B32 exponents,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 codebooks and row gains</a:t>
            </a:r>
          </a:p>
        </p:txBody>
      </p:sp>
      <p:sp>
        <p:nvSpPr>
          <p:cNvPr id="283" name="• Learn per-channel D and per-Linear r_{ℓ}">
            <a:extLst xmlns:a="http://schemas.openxmlformats.org/drawingml/2006/main">
              <a:ext uri="{FF2B5EF4-FFF2-40B4-BE49-F238E27FC236}">
                <a16:creationId xmlns:a16="http://schemas.microsoft.com/office/drawing/2014/main" id="{234191D3-E668-475A-A188-7969297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219" y="3298054"/>
            <a:ext cx="2136767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85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Learn per-channel D and per-Linear r_{ℓ}</a:t>
            </a:r>
          </a:p>
        </p:txBody>
      </p:sp>
      <p:sp>
        <p:nvSpPr>
          <p:cNvPr id="2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00F351-AD6B-43B3-AA48-2425E97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20" y="3530311"/>
            <a:ext cx="8588360" cy="1300641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8">
            <a:solidFill>
              <a:srgbClr val="061A3C"/>
            </a:solidFill>
            <a:prstDash val="solid"/>
          </a:ln>
        </p:spPr>
      </p:sp>
      <p:sp>
        <p:nvSpPr>
          <p:cNvPr id="285" name="Offline training loop (action + latent supervision)">
            <a:extLst xmlns:a="http://schemas.openxmlformats.org/drawingml/2006/main">
              <a:ext uri="{FF2B5EF4-FFF2-40B4-BE49-F238E27FC236}">
                <a16:creationId xmlns:a16="http://schemas.microsoft.com/office/drawing/2014/main" id="{FC9F7EBC-8829-4E03-A1A5-5B9C30C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8" y="3587085"/>
            <a:ext cx="3829665" cy="18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training loop (action + latent supervision)</a:t>
            </a:r>
          </a:p>
        </p:txBody>
      </p:sp>
      <p:sp>
        <p:nvSpPr>
          <p:cNvPr id="286" name="Offline gradients (no gradient to frozen components)">
            <a:extLst xmlns:a="http://schemas.openxmlformats.org/drawingml/2006/main">
              <a:ext uri="{FF2B5EF4-FFF2-40B4-BE49-F238E27FC236}">
                <a16:creationId xmlns:a16="http://schemas.microsoft.com/office/drawing/2014/main" id="{CE0F5E5B-CB2B-4EC3-A010-2F9BEF1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162" y="3654182"/>
            <a:ext cx="278708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gradients (no gradient to frozen components)</a:t>
            </a:r>
          </a:p>
        </p:txBody>
      </p:sp>
      <p:cxnSp>
        <p:nvCxnSpPr>
          <p:cNvPr id="28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330FA8B-F4C2-4E2F-AC10-D3BB2AC16F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36507" y="3654182"/>
            <a:ext cx="325160" cy="0"/>
          </a:xfrm>
          <a:prstGeom xmlns:a="http://schemas.openxmlformats.org/drawingml/2006/main" prst="straightConnector1">
            <a:avLst/>
          </a:prstGeom>
          <a:ln xmlns:a="http://schemas.openxmlformats.org/drawingml/2006/main" w="11355">
            <a:solidFill>
              <a:srgbClr val="003C82"/>
            </a:solidFill>
            <a:prstDash val="solid"/>
            <a:tailEnd type="triangle" w="sm" len="sm"/>
          </a:ln>
        </p:spPr>
      </p:cxnSp>
      <p:sp>
        <p:nvSpPr>
          <p:cNvPr id="288" name="Forward data">
            <a:extLst xmlns:a="http://schemas.openxmlformats.org/drawingml/2006/main">
              <a:ext uri="{FF2B5EF4-FFF2-40B4-BE49-F238E27FC236}">
                <a16:creationId xmlns:a16="http://schemas.microsoft.com/office/drawing/2014/main" id="{FB9E9794-B624-471F-BA90-804169F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957" y="3602569"/>
            <a:ext cx="934191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data</a:t>
            </a:r>
          </a:p>
        </p:txBody>
      </p:sp>
      <p:cxnSp>
        <p:nvCxnSpPr>
          <p:cNvPr id="28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AE1D648-3F51-419F-A193-900E981ADD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36507" y="3767730"/>
            <a:ext cx="325160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290" name="Offline gradient /&#10;parameter update">
            <a:extLst xmlns:a="http://schemas.openxmlformats.org/drawingml/2006/main">
              <a:ext uri="{FF2B5EF4-FFF2-40B4-BE49-F238E27FC236}">
                <a16:creationId xmlns:a16="http://schemas.microsoft.com/office/drawing/2014/main" id="{C5D3FACE-9E0D-44CA-9DDF-B74B8645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957" y="3721278"/>
            <a:ext cx="934191" cy="18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762"/>
          </a:bodyPr>
          <a:lstStyle xmlns:a="http://schemas.openxmlformats.org/drawingml/2006/main">
            <a:def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 /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parameter update</a:t>
            </a:r>
          </a:p>
        </p:txBody>
      </p:sp>
      <p:sp>
        <p:nvSpPr>
          <p:cNvPr id="2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401BAFA-E19D-4270-A56D-8725FFE9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8" y="3974181"/>
            <a:ext cx="794836" cy="273548"/>
          </a:xfrm>
          <a:prstGeom xmlns:a="http://schemas.openxmlformats.org/drawingml/2006/main" prst="roundRect">
            <a:avLst>
              <a:gd name="adj" fmla="val 7547"/>
            </a:avLst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5161">
            <a:solidFill>
              <a:srgbClr val="4C9ED7"/>
            </a:solidFill>
            <a:prstDash val="solid"/>
          </a:ln>
        </p:spPr>
      </p:sp>
      <p:sp>
        <p:nvSpPr>
          <p:cNvPr id="292" name="BF16 teacher&#10;(frozen)">
            <a:extLst xmlns:a="http://schemas.openxmlformats.org/drawingml/2006/main">
              <a:ext uri="{FF2B5EF4-FFF2-40B4-BE49-F238E27FC236}">
                <a16:creationId xmlns:a16="http://schemas.microsoft.com/office/drawing/2014/main" id="{F3D9AF0F-BC79-4C05-B0A3-A4C9AA6D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3999987"/>
            <a:ext cx="743223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9561"/>
          </a:bodyPr>
          <a:lstStyle xmlns:a="http://schemas.openxmlformats.org/drawingml/2006/main">
            <a:def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8209677-E5C6-47BA-BE35-D5A19903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8" y="4335470"/>
            <a:ext cx="794836" cy="268386"/>
          </a:xfrm>
          <a:prstGeom xmlns:a="http://schemas.openxmlformats.org/drawingml/2006/main" prst="roundRect">
            <a:avLst>
              <a:gd name="adj" fmla="val 7692"/>
            </a:avLst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F06F80"/>
            </a:solidFill>
            <a:prstDash val="solid"/>
          </a:ln>
        </p:spPr>
      </p:sp>
      <p:sp>
        <p:nvSpPr>
          <p:cNvPr id="294" name="Quantized WAM&#10;(student)">
            <a:extLst xmlns:a="http://schemas.openxmlformats.org/drawingml/2006/main">
              <a:ext uri="{FF2B5EF4-FFF2-40B4-BE49-F238E27FC236}">
                <a16:creationId xmlns:a16="http://schemas.microsoft.com/office/drawing/2014/main" id="{232B3CF0-B9A6-4FA4-9DF6-C7C32957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84" y="4361276"/>
            <a:ext cx="743223" cy="21677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(student)</a:t>
            </a:r>
          </a:p>
        </p:txBody>
      </p:sp>
      <p:sp>
        <p:nvSpPr>
          <p:cNvPr id="2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343F94-FEED-4BDA-853F-84F7744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97" y="4046439"/>
            <a:ext cx="1114835" cy="500644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5161">
            <a:solidFill>
              <a:srgbClr val="17619B"/>
            </a:solidFill>
            <a:prstDash val="solid"/>
          </a:ln>
        </p:spPr>
      </p:sp>
      <p:sp>
        <p:nvSpPr>
          <p:cNvPr id="296" name="Forward pass&#10;on training data&#10;(action + latent supervision)">
            <a:extLst xmlns:a="http://schemas.openxmlformats.org/drawingml/2006/main">
              <a:ext uri="{FF2B5EF4-FFF2-40B4-BE49-F238E27FC236}">
                <a16:creationId xmlns:a16="http://schemas.microsoft.com/office/drawing/2014/main" id="{A50B205C-A195-4FF3-9DE9-04D2BB90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4" y="4072245"/>
            <a:ext cx="1063222" cy="449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6865"/>
          </a:bodyPr>
          <a:lstStyle xmlns:a="http://schemas.openxmlformats.org/drawingml/2006/main">
            <a:def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pass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 training data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(action + latent supervision)</a:t>
            </a:r>
          </a:p>
        </p:txBody>
      </p:sp>
      <p:cxnSp>
        <p:nvCxnSpPr>
          <p:cNvPr id="29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3F7907D-7D74-42A0-ACFC-DFD48A0C01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0075" y="4113535"/>
            <a:ext cx="165161" cy="0"/>
          </a:xfrm>
          <a:prstGeom xmlns:a="http://schemas.openxmlformats.org/drawingml/2006/main" prst="straightConnector1">
            <a:avLst/>
          </a:prstGeom>
          <a:ln xmlns:a="http://schemas.openxmlformats.org/drawingml/2006/main" w="9290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9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BF97097-7ED6-4DF5-91CB-C09E28D61A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0075" y="4464502"/>
            <a:ext cx="165161" cy="0"/>
          </a:xfrm>
          <a:prstGeom xmlns:a="http://schemas.openxmlformats.org/drawingml/2006/main" prst="straightConnector1">
            <a:avLst/>
          </a:prstGeom>
          <a:ln xmlns:a="http://schemas.openxmlformats.org/drawingml/2006/main" w="929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525B424-06BD-439B-A344-4D5AFEC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910" y="4010310"/>
            <a:ext cx="1228383" cy="221935"/>
          </a:xfrm>
          <a:prstGeom xmlns:a="http://schemas.openxmlformats.org/drawingml/2006/main" prst="roundRect">
            <a:avLst>
              <a:gd name="adj" fmla="val 9302"/>
            </a:avLst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5161">
            <a:solidFill>
              <a:srgbClr val="EDBE67"/>
            </a:solidFill>
            <a:prstDash val="solid"/>
          </a:ln>
        </p:spPr>
      </p:sp>
      <p:sp>
        <p:nvSpPr>
          <p:cNvPr id="300" name="Future latent loss  L_z">
            <a:extLst xmlns:a="http://schemas.openxmlformats.org/drawingml/2006/main">
              <a:ext uri="{FF2B5EF4-FFF2-40B4-BE49-F238E27FC236}">
                <a16:creationId xmlns:a16="http://schemas.microsoft.com/office/drawing/2014/main" id="{A97939F5-3907-49F2-8776-2DAE329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716" y="4036116"/>
            <a:ext cx="1176770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Future latent loss  L_z</a:t>
            </a:r>
          </a:p>
        </p:txBody>
      </p:sp>
      <p:sp>
        <p:nvSpPr>
          <p:cNvPr id="3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0D72AC-9D87-4699-A567-8353EE9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910" y="4330309"/>
            <a:ext cx="1228383" cy="227096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xmlns:a="http://schemas.openxmlformats.org/drawingml/2006/main" w="5161">
            <a:solidFill>
              <a:srgbClr val="72BFCA"/>
            </a:solidFill>
            <a:prstDash val="solid"/>
          </a:ln>
        </p:spPr>
      </p:sp>
      <p:sp>
        <p:nvSpPr>
          <p:cNvPr id="302" name="First-10 motor action loss  L_a">
            <a:extLst xmlns:a="http://schemas.openxmlformats.org/drawingml/2006/main">
              <a:ext uri="{FF2B5EF4-FFF2-40B4-BE49-F238E27FC236}">
                <a16:creationId xmlns:a16="http://schemas.microsoft.com/office/drawing/2014/main" id="{A8A4DE17-3626-4091-8C9E-47D8763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716" y="4356115"/>
            <a:ext cx="1176770" cy="17548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523"/>
          </a:bodyPr>
          <a:lstStyle xmlns:a="http://schemas.openxmlformats.org/drawingml/2006/main">
            <a:def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First-10 motor action loss  L_a</a:t>
            </a:r>
          </a:p>
        </p:txBody>
      </p:sp>
      <p:cxnSp>
        <p:nvCxnSpPr>
          <p:cNvPr id="30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25F7E2C-DA97-4CDB-A029-9581B81E53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40394" y="4118697"/>
            <a:ext cx="139354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6A9D2D5-3235-4EAF-B5AB-9966CD23EC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40394" y="4443857"/>
            <a:ext cx="139354" cy="0"/>
          </a:xfrm>
          <a:prstGeom xmlns:a="http://schemas.openxmlformats.org/drawingml/2006/main" prst="straightConnector1">
            <a:avLst/>
          </a:prstGeom>
          <a:ln xmlns:a="http://schemas.openxmlformats.org/drawingml/2006/main"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CB887F1-0720-43A9-B9C4-985488F119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8454" y="4123858"/>
            <a:ext cx="103225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0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DEABB53-30A0-454C-9252-E132888820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1679" y="4123858"/>
            <a:ext cx="0" cy="139354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0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E028FAB-9DCD-46F7-887D-458489EB65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1679" y="4263212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F9289D6-F9A6-4368-89C8-3E34F24282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8454" y="4443857"/>
            <a:ext cx="103225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0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0CC64E4-8BA9-47E5-91BA-D181F88B51F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21679" y="4263212"/>
            <a:ext cx="0" cy="180645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</a:ln>
        </p:spPr>
      </p:cxnSp>
      <p:cxnSp>
        <p:nvCxnSpPr>
          <p:cNvPr id="3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D9CA541-A905-4430-B2F7-06B80839B1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1679" y="4263212"/>
            <a:ext cx="113548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11" name="Total loss">
            <a:extLst xmlns:a="http://schemas.openxmlformats.org/drawingml/2006/main">
              <a:ext uri="{FF2B5EF4-FFF2-40B4-BE49-F238E27FC236}">
                <a16:creationId xmlns:a16="http://schemas.microsoft.com/office/drawing/2014/main" id="{47591E72-977B-43E7-820C-2A50D6E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937" y="4103213"/>
            <a:ext cx="660643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553"/>
          </a:bodyPr>
          <a:lstStyle xmlns:a="http://schemas.openxmlformats.org/drawingml/2006/main">
            <a:def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Total loss</a:t>
            </a:r>
          </a:p>
        </p:txBody>
      </p:sp>
      <p:sp>
        <p:nvSpPr>
          <p:cNvPr id="312" name="L = L_a + λL_z">
            <a:extLst xmlns:a="http://schemas.openxmlformats.org/drawingml/2006/main">
              <a:ext uri="{FF2B5EF4-FFF2-40B4-BE49-F238E27FC236}">
                <a16:creationId xmlns:a16="http://schemas.microsoft.com/office/drawing/2014/main" id="{0899E449-8B6C-4009-92C9-15D12D71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679" y="4258051"/>
            <a:ext cx="825804" cy="18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388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L_a + λL_z</a:t>
            </a:r>
          </a:p>
        </p:txBody>
      </p:sp>
      <p:sp>
        <p:nvSpPr>
          <p:cNvPr id="313" name="λ = ρc (frozen)">
            <a:extLst xmlns:a="http://schemas.openxmlformats.org/drawingml/2006/main">
              <a:ext uri="{FF2B5EF4-FFF2-40B4-BE49-F238E27FC236}">
                <a16:creationId xmlns:a16="http://schemas.microsoft.com/office/drawing/2014/main" id="{3EBB3A75-DA7C-4CDE-814C-E568972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518" y="4469663"/>
            <a:ext cx="825804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λ = ρc (frozen)</a:t>
            </a:r>
          </a:p>
        </p:txBody>
      </p:sp>
      <p:sp>
        <p:nvSpPr>
          <p:cNvPr id="3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959B29-10C0-4ED0-A26A-88065178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56" y="3943213"/>
            <a:ext cx="1109674" cy="356128"/>
          </a:xfrm>
          <a:prstGeom xmlns:a="http://schemas.openxmlformats.org/drawingml/2006/main" prst="roundRect">
            <a:avLst>
              <a:gd name="adj" fmla="val 7246"/>
            </a:avLst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5161">
            <a:solidFill>
              <a:srgbClr val="F18591"/>
            </a:solidFill>
            <a:prstDash val="solid"/>
          </a:ln>
        </p:spPr>
      </p:sp>
      <p:sp>
        <p:nvSpPr>
          <p:cNvPr id="315" name="Calibrate codebooks /&#10;row gains&#10;(section b)">
            <a:extLst xmlns:a="http://schemas.openxmlformats.org/drawingml/2006/main">
              <a:ext uri="{FF2B5EF4-FFF2-40B4-BE49-F238E27FC236}">
                <a16:creationId xmlns:a16="http://schemas.microsoft.com/office/drawing/2014/main" id="{7A1F01F2-CF92-458E-B699-43A3EBFE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063" y="3969020"/>
            <a:ext cx="1058061" cy="30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4501"/>
          </a:bodyPr>
          <a:lstStyle xmlns:a="http://schemas.openxmlformats.org/drawingml/2006/main"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Calibrate codebooks /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row gains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(section b)</a:t>
            </a:r>
          </a:p>
        </p:txBody>
      </p:sp>
      <p:sp>
        <p:nvSpPr>
          <p:cNvPr id="3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26D2BD0-B86B-4544-9808-29A64D2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768" y="3943213"/>
            <a:ext cx="1094190" cy="356128"/>
          </a:xfrm>
          <a:prstGeom xmlns:a="http://schemas.openxmlformats.org/drawingml/2006/main" prst="roundRect">
            <a:avLst>
              <a:gd name="adj" fmla="val 7246"/>
            </a:avLst>
          </a:prstGeom>
          <a:gradFill xmlns:a="http://schemas.openxmlformats.org/drawingml/2006/main"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xmlns:a="http://schemas.openxmlformats.org/drawingml/2006/main" w="5161">
            <a:solidFill>
              <a:srgbClr val="84CDD1"/>
            </a:solidFill>
            <a:prstDash val="solid"/>
          </a:ln>
        </p:spPr>
      </p:sp>
      <p:sp>
        <p:nvSpPr>
          <p:cNvPr id="317" name="Refine per-channel D /&#10;clipping ratio&#10;(section c)">
            <a:extLst xmlns:a="http://schemas.openxmlformats.org/drawingml/2006/main">
              <a:ext uri="{FF2B5EF4-FFF2-40B4-BE49-F238E27FC236}">
                <a16:creationId xmlns:a16="http://schemas.microsoft.com/office/drawing/2014/main" id="{C62B36AC-1F07-489C-AE8D-F7DD1FA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575" y="3969020"/>
            <a:ext cx="1042577" cy="3045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4501"/>
          </a:bodyPr>
          <a:lstStyle xmlns:a="http://schemas.openxmlformats.org/drawingml/2006/main">
            <a:def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Refine per-channel D /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clipping ratio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(section c)</a:t>
            </a:r>
          </a:p>
        </p:txBody>
      </p:sp>
      <p:cxnSp>
        <p:nvCxnSpPr>
          <p:cNvPr id="31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CF96537-B893-449C-9A80-765A9E3F51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30064" y="4263212"/>
            <a:ext cx="149677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31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DA448E1-73F5-4A05-93CD-F0A4FC6A83E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79741" y="4082568"/>
            <a:ext cx="0" cy="180645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</a:ln>
        </p:spPr>
      </p:cxnSp>
      <p:cxnSp>
        <p:nvCxnSpPr>
          <p:cNvPr id="32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3AE288F-3D2E-4117-ACB7-1A9455A3E7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79741" y="4082568"/>
            <a:ext cx="139354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21" name="Update: codebooks C₁, C₂&#10;and row gains r_row">
            <a:extLst xmlns:a="http://schemas.openxmlformats.org/drawingml/2006/main">
              <a:ext uri="{FF2B5EF4-FFF2-40B4-BE49-F238E27FC236}">
                <a16:creationId xmlns:a16="http://schemas.microsoft.com/office/drawing/2014/main" id="{9C0D8CD9-A3C0-4B10-874A-E9FA063F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998" y="4345793"/>
            <a:ext cx="970319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219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codebooks C₁, C₂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row gains r_row</a:t>
            </a:r>
          </a:p>
        </p:txBody>
      </p:sp>
      <p:sp>
        <p:nvSpPr>
          <p:cNvPr id="322" name="(indices and B32 exponents remain frozen)">
            <a:extLst xmlns:a="http://schemas.openxmlformats.org/drawingml/2006/main">
              <a:ext uri="{FF2B5EF4-FFF2-40B4-BE49-F238E27FC236}">
                <a16:creationId xmlns:a16="http://schemas.microsoft.com/office/drawing/2014/main" id="{82B1BD37-80B3-464B-9A5E-565F97A3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34" y="4557405"/>
            <a:ext cx="1130319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4723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(indices and B32 exponents remain frozen)</a:t>
            </a:r>
          </a:p>
        </p:txBody>
      </p:sp>
      <p:sp>
        <p:nvSpPr>
          <p:cNvPr id="323" name="Update: per-channel scales D&#10;and per-Linear clipping ratio r_{ℓ}">
            <a:extLst xmlns:a="http://schemas.openxmlformats.org/drawingml/2006/main">
              <a:ext uri="{FF2B5EF4-FFF2-40B4-BE49-F238E27FC236}">
                <a16:creationId xmlns:a16="http://schemas.microsoft.com/office/drawing/2014/main" id="{6A4AFF5F-8CF9-428D-8A4A-2036AC2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897" y="4345793"/>
            <a:ext cx="1042577" cy="206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9944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per-channel scales D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per-Linear clipping ratio r_{ℓ}</a:t>
            </a:r>
          </a:p>
        </p:txBody>
      </p:sp>
      <p:sp>
        <p:nvSpPr>
          <p:cNvPr id="324" name="(VQ weights remain frozen)">
            <a:extLst xmlns:a="http://schemas.openxmlformats.org/drawingml/2006/main">
              <a:ext uri="{FF2B5EF4-FFF2-40B4-BE49-F238E27FC236}">
                <a16:creationId xmlns:a16="http://schemas.microsoft.com/office/drawing/2014/main" id="{3F4E5C0A-25F4-4A2C-9A72-51CF7F9E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39" y="4562566"/>
            <a:ext cx="913545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644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(VQ weights remain frozen)</a:t>
            </a:r>
          </a:p>
        </p:txBody>
      </p:sp>
      <p:cxnSp>
        <p:nvCxnSpPr>
          <p:cNvPr id="32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7C3D522-2B54-418F-92AA-BF6DD7C36C3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691996" y="3850310"/>
            <a:ext cx="0" cy="87742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8F662D7-ACC6-4FA4-99D3-25F0BC10534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333294" y="3850310"/>
            <a:ext cx="2358702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4D739DE-4441-4E55-AB4F-795FC21E08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294" y="3850310"/>
            <a:ext cx="0" cy="154838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32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430C10E-442F-4574-A144-477F2D02826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30702" y="3798698"/>
            <a:ext cx="0" cy="139354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2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376CB29-2945-401C-9C42-00A2C17F2EF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09429" y="3798698"/>
            <a:ext cx="5321273" cy="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</a:ln>
        </p:spPr>
      </p:cxnSp>
      <p:cxnSp>
        <p:nvCxnSpPr>
          <p:cNvPr id="33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19561E4-8F63-42F1-8B2F-4A6B703969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9429" y="3798698"/>
            <a:ext cx="0" cy="242580"/>
          </a:xfrm>
          <a:prstGeom xmlns:a="http://schemas.openxmlformats.org/drawingml/2006/main" prst="straightConnector1">
            <a:avLst/>
          </a:prstGeom>
          <a:ln xmlns:a="http://schemas.openxmlformats.org/drawingml/2006/main" w="6710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31" name="Decoded BF16 weights + fake A4 + BF16 KV. Native kernel: future work.">
            <a:extLst xmlns:a="http://schemas.openxmlformats.org/drawingml/2006/main">
              <a:ext uri="{FF2B5EF4-FFF2-40B4-BE49-F238E27FC236}">
                <a16:creationId xmlns:a16="http://schemas.microsoft.com/office/drawing/2014/main" id="{F98F255A-C393-415F-899A-056EC1F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158" y="4717404"/>
            <a:ext cx="3086442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rPr>
              <a:t>Decoded BF16 weights + fake A4 + BF16 KV. Native kernel: future work.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F132B06-F211-4EB5-9B2A-70B991B9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43" y="20645"/>
            <a:ext cx="2854184" cy="4113535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710">
            <a:solidFill>
              <a:srgbClr val="0B2B5C"/>
            </a:solidFill>
            <a:prstDash val="solid"/>
          </a:ln>
        </p:spPr>
      </p:sp>
      <p:sp>
        <p:nvSpPr>
          <p:cNvPr id="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7A8E50B-BE0A-4B1E-8D9F-52F926C5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617" y="20645"/>
            <a:ext cx="2776765" cy="4113535"/>
          </a:xfrm>
          <a:prstGeom xmlns:a="http://schemas.openxmlformats.org/drawingml/2006/main" prst="roundRect">
            <a:avLst>
              <a:gd name="adj" fmla="val 1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710">
            <a:solidFill>
              <a:srgbClr val="0B2B5C"/>
            </a:solidFill>
            <a:prstDash val="solid"/>
          </a:ln>
        </p:spPr>
      </p:sp>
      <p:sp>
        <p:nvSpPr>
          <p:cNvPr id="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79BA262-C23A-49B2-8821-BE25AA4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73" y="20645"/>
            <a:ext cx="2864507" cy="4113535"/>
          </a:xfrm>
          <a:prstGeom xmlns:a="http://schemas.openxmlformats.org/drawingml/2006/main" prst="roundRect">
            <a:avLst>
              <a:gd name="adj" fmla="val 1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710">
            <a:solidFill>
              <a:srgbClr val="0B2B5C"/>
            </a:solidFill>
            <a:prstDash val="solid"/>
          </a:ln>
        </p:spPr>
      </p:sp>
      <p:sp>
        <p:nvSpPr>
          <p:cNvPr id="4" name="(a) Soft-bin: preserve absolute values">
            <a:extLst xmlns:a="http://schemas.openxmlformats.org/drawingml/2006/main">
              <a:ext uri="{FF2B5EF4-FFF2-40B4-BE49-F238E27FC236}">
                <a16:creationId xmlns:a16="http://schemas.microsoft.com/office/drawing/2014/main" id="{6324B013-0412-432E-BFBA-542F182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7" y="77419"/>
            <a:ext cx="2740636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Soft-bin: preserve absolute values</a:t>
            </a:r>
          </a:p>
        </p:txBody>
      </p:sp>
      <p:sp>
        <p:nvSpPr>
          <p:cNvPr id="5" name="(b) Action: temporal relations">
            <a:extLst xmlns:a="http://schemas.openxmlformats.org/drawingml/2006/main">
              <a:ext uri="{FF2B5EF4-FFF2-40B4-BE49-F238E27FC236}">
                <a16:creationId xmlns:a16="http://schemas.microsoft.com/office/drawing/2014/main" id="{EBBEAD1F-72EA-4711-81B1-5F75DE30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553" y="77419"/>
            <a:ext cx="2658056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Action: temporal relations</a:t>
            </a:r>
          </a:p>
        </p:txBody>
      </p:sp>
      <p:sp>
        <p:nvSpPr>
          <p:cNvPr id="6" name="(c) Latent: spatial + temporal relations">
            <a:extLst xmlns:a="http://schemas.openxmlformats.org/drawingml/2006/main">
              <a:ext uri="{FF2B5EF4-FFF2-40B4-BE49-F238E27FC236}">
                <a16:creationId xmlns:a16="http://schemas.microsoft.com/office/drawing/2014/main" id="{5511DB54-EE58-4B2D-9BEF-5D64A63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77419"/>
            <a:ext cx="2735475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Latent: spatial + temporal relations</a:t>
            </a:r>
          </a:p>
        </p:txBody>
      </p:sp>
      <p:sp>
        <p:nvSpPr>
          <p:cNvPr id="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C0D5589-0CF9-47AC-98E7-A3E034A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39" y="278709"/>
            <a:ext cx="2725153" cy="345805"/>
          </a:xfrm>
          <a:prstGeom xmlns:a="http://schemas.openxmlformats.org/drawingml/2006/main" prst="roundRect">
            <a:avLst>
              <a:gd name="adj" fmla="val 746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0E0FC"/>
            </a:solidFill>
            <a:prstDash val="solid"/>
          </a:ln>
        </p:spPr>
      </p:sp>
      <p:sp>
        <p:nvSpPr>
          <p:cNvPr id="8" name="Per-scalar distribution: each value is mapped to a 16-bin&#10;probability distr">
            <a:extLst xmlns:a="http://schemas.openxmlformats.org/drawingml/2006/main">
              <a:ext uri="{FF2B5EF4-FFF2-40B4-BE49-F238E27FC236}">
                <a16:creationId xmlns:a16="http://schemas.microsoft.com/office/drawing/2014/main" id="{0BA68C7C-B236-4ADF-B979-58571619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46" y="304515"/>
            <a:ext cx="2673540" cy="294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3351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Per-scalar distribution: each value is mapped to a 16-bin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 distribution using a Gaussian and shared teacher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normalization statistics.</a:t>
            </a:r>
          </a:p>
        </p:txBody>
      </p:sp>
      <p:sp>
        <p:nvSpPr>
          <p:cNvPr id="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A4CEF5-52AB-4D12-9D12-5D02914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875" y="278709"/>
            <a:ext cx="2632250" cy="314838"/>
          </a:xfrm>
          <a:prstGeom xmlns:a="http://schemas.openxmlformats.org/drawingml/2006/main" prst="roundRect">
            <a:avLst>
              <a:gd name="adj" fmla="val 819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0E0FC"/>
            </a:solidFill>
            <a:prstDash val="solid"/>
          </a:ln>
        </p:spPr>
      </p:sp>
      <p:sp>
        <p:nvSpPr>
          <p:cNvPr id="10" name="Match neighbor distributions over 3-step action windows&#10;to preserve tempora">
            <a:extLst xmlns:a="http://schemas.openxmlformats.org/drawingml/2006/main">
              <a:ext uri="{FF2B5EF4-FFF2-40B4-BE49-F238E27FC236}">
                <a16:creationId xmlns:a16="http://schemas.microsoft.com/office/drawing/2014/main" id="{BC68CFC1-28A6-4305-9B0D-3DB282E2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682" y="304515"/>
            <a:ext cx="2580637" cy="26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3-step action windows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preserve temporal structure in the action sequence.</a:t>
            </a:r>
          </a:p>
        </p:txBody>
      </p:sp>
      <p:sp>
        <p:nvSpPr>
          <p:cNvPr id="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E8C742E-4189-41AE-B304-900CFA65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278709"/>
            <a:ext cx="2725153" cy="309676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0E0FC"/>
            </a:solidFill>
            <a:prstDash val="solid"/>
          </a:ln>
        </p:spPr>
      </p:sp>
      <p:sp>
        <p:nvSpPr>
          <p:cNvPr id="12" name="Match neighbor distributions over spatial and temporal neighbors&#10;in the lat">
            <a:extLst xmlns:a="http://schemas.openxmlformats.org/drawingml/2006/main">
              <a:ext uri="{FF2B5EF4-FFF2-40B4-BE49-F238E27FC236}">
                <a16:creationId xmlns:a16="http://schemas.microsoft.com/office/drawing/2014/main" id="{8A7B29B1-7A30-4748-8812-5EF41B8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304515"/>
            <a:ext cx="2673540" cy="25806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spatial and temporal neighbors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 the latent maps to preserve spatiotemporal structure.</a:t>
            </a:r>
          </a:p>
        </p:txBody>
      </p:sp>
      <p:sp>
        <p:nvSpPr>
          <p:cNvPr id="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FD5DCA4-2AEF-4A40-ACA1-82863C7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8" y="686449"/>
            <a:ext cx="1326447" cy="165161"/>
          </a:xfrm>
          <a:prstGeom xmlns:a="http://schemas.openxmlformats.org/drawingml/2006/main" prst="roundRect">
            <a:avLst>
              <a:gd name="adj" fmla="val 15625"/>
            </a:avLst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xmlns:a="http://schemas.openxmlformats.org/drawingml/2006/main" w="5161">
            <a:solidFill>
              <a:srgbClr val="7FCAB6"/>
            </a:solidFill>
            <a:prstDash val="solid"/>
          </a:ln>
        </p:spPr>
      </p:sp>
      <p:sp>
        <p:nvSpPr>
          <p:cNvPr id="14" name="BF16 teacher scalar x">
            <a:extLst xmlns:a="http://schemas.openxmlformats.org/drawingml/2006/main">
              <a:ext uri="{FF2B5EF4-FFF2-40B4-BE49-F238E27FC236}">
                <a16:creationId xmlns:a16="http://schemas.microsoft.com/office/drawing/2014/main" id="{5BA729CA-FF82-4B24-9A80-5291704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74" y="712256"/>
            <a:ext cx="1274835" cy="11354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346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 teacher scalar x</a:t>
            </a:r>
          </a:p>
        </p:txBody>
      </p:sp>
      <p:sp>
        <p:nvSpPr>
          <p:cNvPr id="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F249E6-3342-4EDF-8C75-6B63D93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80" y="686449"/>
            <a:ext cx="1264512" cy="165161"/>
          </a:xfrm>
          <a:prstGeom xmlns:a="http://schemas.openxmlformats.org/drawingml/2006/main" prst="roundRect">
            <a:avLst>
              <a:gd name="adj" fmla="val 15625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8ABFF4"/>
            </a:solidFill>
            <a:prstDash val="solid"/>
          </a:ln>
        </p:spPr>
      </p:sp>
      <p:sp>
        <p:nvSpPr>
          <p:cNvPr id="16" name="Quantized student scalar x̂">
            <a:extLst xmlns:a="http://schemas.openxmlformats.org/drawingml/2006/main">
              <a:ext uri="{FF2B5EF4-FFF2-40B4-BE49-F238E27FC236}">
                <a16:creationId xmlns:a16="http://schemas.microsoft.com/office/drawing/2014/main" id="{DF2E92C2-450E-4AA5-AAD8-CB8AEC1C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686" y="712256"/>
            <a:ext cx="1212899" cy="11354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346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Quantized student scalar x̂</a:t>
            </a:r>
          </a:p>
        </p:txBody>
      </p:sp>
      <p:sp>
        <p:nvSpPr>
          <p:cNvPr id="17" name="e.g., x = 1.24 (BF16)">
            <a:extLst xmlns:a="http://schemas.openxmlformats.org/drawingml/2006/main">
              <a:ext uri="{FF2B5EF4-FFF2-40B4-BE49-F238E27FC236}">
                <a16:creationId xmlns:a16="http://schemas.microsoft.com/office/drawing/2014/main" id="{CA6F58A0-05BB-4EAD-B188-5E391CF3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84" y="898062"/>
            <a:ext cx="1135480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 = 1.24 (BF16)</a:t>
            </a:r>
          </a:p>
        </p:txBody>
      </p:sp>
      <p:sp>
        <p:nvSpPr>
          <p:cNvPr id="18" name="e.g., x̂ = 1.08 (quantized)">
            <a:extLst xmlns:a="http://schemas.openxmlformats.org/drawingml/2006/main">
              <a:ext uri="{FF2B5EF4-FFF2-40B4-BE49-F238E27FC236}">
                <a16:creationId xmlns:a16="http://schemas.microsoft.com/office/drawing/2014/main" id="{783CA72F-0756-47FF-BDA6-70E4FB30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750" y="898062"/>
            <a:ext cx="1140642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x̂ = 1.08 (quantized)</a:t>
            </a:r>
          </a:p>
        </p:txBody>
      </p:sp>
      <p:cxnSp>
        <p:nvCxnSpPr>
          <p:cNvPr id="1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F06DD86C-519A-4D0C-8916-513F6B45C0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6527" y="1032255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18E89C4-D6AD-4D32-AA5E-1D1BB44CE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30071" y="1032255"/>
            <a:ext cx="0" cy="36129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6F8351D-9717-4CB6-8439-06450FB0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5" y="1068384"/>
            <a:ext cx="2461928" cy="232257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FABB9"/>
            </a:solidFill>
            <a:prstDash val="solid"/>
          </a:ln>
        </p:spPr>
      </p:sp>
      <p:sp>
        <p:nvSpPr>
          <p:cNvPr id="22" name="Shared frozen teacher statistics&#10;mean μ_c, scale s_c = max(σ_c, 0.02)">
            <a:extLst xmlns:a="http://schemas.openxmlformats.org/drawingml/2006/main">
              <a:ext uri="{FF2B5EF4-FFF2-40B4-BE49-F238E27FC236}">
                <a16:creationId xmlns:a16="http://schemas.microsoft.com/office/drawing/2014/main" id="{108386D3-6F9D-4C9A-A382-97CF2954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1" y="1094190"/>
            <a:ext cx="2410315" cy="1806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2899"/>
          </a:bodyPr>
          <a:lstStyle xmlns:a="http://schemas.openxmlformats.org/drawingml/2006/main"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Shared frozen teacher statistics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mean μ_c, scale s_c = max(σ_c, 0.02)</a:t>
            </a:r>
          </a:p>
        </p:txBody>
      </p:sp>
      <p:cxnSp>
        <p:nvCxnSpPr>
          <p:cNvPr id="2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08FC462-07ED-4801-A38E-1E5EBC4F40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6527" y="1300641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297776A-9B8E-4D41-B6F1-C90570493E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30071" y="1300641"/>
            <a:ext cx="0" cy="8258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" name="z =">
            <a:extLst xmlns:a="http://schemas.openxmlformats.org/drawingml/2006/main">
              <a:ext uri="{FF2B5EF4-FFF2-40B4-BE49-F238E27FC236}">
                <a16:creationId xmlns:a16="http://schemas.microsoft.com/office/drawing/2014/main" id="{D5E8A02B-FC4C-4F82-A41A-B4D9796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35" y="1429673"/>
            <a:ext cx="237419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91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 =</a:t>
            </a:r>
          </a:p>
        </p:txBody>
      </p:sp>
      <p:sp>
        <p:nvSpPr>
          <p:cNvPr id="26" name="x − μ_c">
            <a:extLst xmlns:a="http://schemas.openxmlformats.org/drawingml/2006/main">
              <a:ext uri="{FF2B5EF4-FFF2-40B4-BE49-F238E27FC236}">
                <a16:creationId xmlns:a16="http://schemas.microsoft.com/office/drawing/2014/main" id="{8A24D38A-E63B-4CF4-9DA5-A41DE19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2" y="1378060"/>
            <a:ext cx="381934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 − μ_c</a:t>
            </a:r>
          </a:p>
        </p:txBody>
      </p:sp>
      <p:cxnSp>
        <p:nvCxnSpPr>
          <p:cNvPr id="2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4402F4B-F6C4-4D1A-842B-97F85A00B9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0076" y="1504511"/>
            <a:ext cx="350967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28" name="s_c">
            <a:extLst xmlns:a="http://schemas.openxmlformats.org/drawingml/2006/main">
              <a:ext uri="{FF2B5EF4-FFF2-40B4-BE49-F238E27FC236}">
                <a16:creationId xmlns:a16="http://schemas.microsoft.com/office/drawing/2014/main" id="{5D278703-91A7-4852-B22E-9932A475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2" y="1512253"/>
            <a:ext cx="381934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s_c</a:t>
            </a:r>
          </a:p>
        </p:txBody>
      </p:sp>
      <p:sp>
        <p:nvSpPr>
          <p:cNvPr id="29" name="ẑ =">
            <a:extLst xmlns:a="http://schemas.openxmlformats.org/drawingml/2006/main">
              <a:ext uri="{FF2B5EF4-FFF2-40B4-BE49-F238E27FC236}">
                <a16:creationId xmlns:a16="http://schemas.microsoft.com/office/drawing/2014/main" id="{57513BBE-1E74-4614-B98E-E1FF9E56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427" y="1429673"/>
            <a:ext cx="242580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91"/>
          </a:bodyPr>
          <a:lstStyle xmlns:a="http://schemas.openxmlformats.org/drawingml/2006/main"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ẑ =</a:t>
            </a:r>
          </a:p>
        </p:txBody>
      </p:sp>
      <p:sp>
        <p:nvSpPr>
          <p:cNvPr id="30" name="x̂ − μ_c">
            <a:extLst xmlns:a="http://schemas.openxmlformats.org/drawingml/2006/main">
              <a:ext uri="{FF2B5EF4-FFF2-40B4-BE49-F238E27FC236}">
                <a16:creationId xmlns:a16="http://schemas.microsoft.com/office/drawing/2014/main" id="{3AA110B3-3F29-4D53-ADEF-235568F2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07" y="1378060"/>
            <a:ext cx="39741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x̂ − μ_c</a:t>
            </a:r>
          </a:p>
        </p:txBody>
      </p:sp>
      <p:cxnSp>
        <p:nvCxnSpPr>
          <p:cNvPr id="3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E28A46F-E6EC-4F7C-990D-851097E0D3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47491" y="1504511"/>
            <a:ext cx="366450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32" name="s_c">
            <a:extLst xmlns:a="http://schemas.openxmlformats.org/drawingml/2006/main">
              <a:ext uri="{FF2B5EF4-FFF2-40B4-BE49-F238E27FC236}">
                <a16:creationId xmlns:a16="http://schemas.microsoft.com/office/drawing/2014/main" id="{A2CBEAD9-9F0D-44B4-A673-36DC1072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07" y="1512253"/>
            <a:ext cx="39741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70000"/>
          </a:bodyPr>
          <a:lstStyle xmlns:a="http://schemas.openxmlformats.org/drawingml/2006/main"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s_c</a:t>
            </a:r>
          </a:p>
        </p:txBody>
      </p:sp>
      <p:sp>
        <p:nvSpPr>
          <p:cNvPr id="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A5F145C-EA26-4275-96FF-BEF76C17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8" y="1641285"/>
            <a:ext cx="2621927" cy="810320"/>
          </a:xfrm>
          <a:prstGeom xmlns:a="http://schemas.openxmlformats.org/drawingml/2006/main" prst="roundRect">
            <a:avLst>
              <a:gd name="adj" fmla="val 3822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3DDFC"/>
            </a:solidFill>
            <a:prstDash val="solid"/>
          </a:ln>
        </p:spPr>
      </p:sp>
      <p:sp>
        <p:nvSpPr>
          <p:cNvPr id="34" name="Map each standardized scalar to 16 bins&#10;using a Gaussian with σ = 0.375 and">
            <a:extLst xmlns:a="http://schemas.openxmlformats.org/drawingml/2006/main">
              <a:ext uri="{FF2B5EF4-FFF2-40B4-BE49-F238E27FC236}">
                <a16:creationId xmlns:a16="http://schemas.microsoft.com/office/drawing/2014/main" id="{1B951442-B460-4C26-AA95-EE3D0AB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1" y="1698059"/>
            <a:ext cx="2518702" cy="211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931"/>
          </a:bodyPr>
          <a:lstStyle xmlns:a="http://schemas.openxmlformats.org/drawingml/2006/main"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each standardized scalar to 16 bins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using a Gaussian with σ = 0.375 and fixed edges.</a:t>
            </a:r>
          </a:p>
        </p:txBody>
      </p:sp>
      <p:sp>
        <p:nvSpPr>
          <p:cNvPr id="35" name="p_b(z) =">
            <a:extLst xmlns:a="http://schemas.openxmlformats.org/drawingml/2006/main">
              <a:ext uri="{FF2B5EF4-FFF2-40B4-BE49-F238E27FC236}">
                <a16:creationId xmlns:a16="http://schemas.microsoft.com/office/drawing/2014/main" id="{E530E6C7-9C13-4CE9-9764-2B9A342E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51" y="1976768"/>
            <a:ext cx="541934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25"/>
          </a:bodyPr>
          <a:lstStyle xmlns:a="http://schemas.openxmlformats.org/drawingml/2006/main"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p_b(z) =</a:t>
            </a:r>
          </a:p>
        </p:txBody>
      </p:sp>
      <p:sp>
        <p:nvSpPr>
          <p:cNvPr id="36" name="∫">
            <a:extLst xmlns:a="http://schemas.openxmlformats.org/drawingml/2006/main">
              <a:ext uri="{FF2B5EF4-FFF2-40B4-BE49-F238E27FC236}">
                <a16:creationId xmlns:a16="http://schemas.microsoft.com/office/drawing/2014/main" id="{48B6A452-AE0B-4253-82BD-F2CB99C9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14" y="1914833"/>
            <a:ext cx="159999" cy="26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37" name="e_{b+1}">
            <a:extLst xmlns:a="http://schemas.openxmlformats.org/drawingml/2006/main">
              <a:ext uri="{FF2B5EF4-FFF2-40B4-BE49-F238E27FC236}">
                <a16:creationId xmlns:a16="http://schemas.microsoft.com/office/drawing/2014/main" id="{49FD5888-9E21-4320-A5F2-F946B7CF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52" y="1904510"/>
            <a:ext cx="27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6983"/>
          </a:bodyPr>
          <a:lstStyle xmlns:a="http://schemas.openxmlformats.org/drawingml/2006/main"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e_{b+1}</a:t>
            </a:r>
          </a:p>
        </p:txBody>
      </p:sp>
      <p:sp>
        <p:nvSpPr>
          <p:cNvPr id="38" name="e_b">
            <a:extLst xmlns:a="http://schemas.openxmlformats.org/drawingml/2006/main">
              <a:ext uri="{FF2B5EF4-FFF2-40B4-BE49-F238E27FC236}">
                <a16:creationId xmlns:a16="http://schemas.microsoft.com/office/drawing/2014/main" id="{4DBD1B95-1B11-4D94-AC18-99473923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52" y="2121284"/>
            <a:ext cx="23225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531"/>
          </a:bodyPr>
          <a:lstStyle xmlns:a="http://schemas.openxmlformats.org/drawingml/2006/main"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e_b</a:t>
            </a:r>
          </a:p>
        </p:txBody>
      </p:sp>
      <p:sp>
        <p:nvSpPr>
          <p:cNvPr id="39" name="N(t; z, 0.375²) dt">
            <a:extLst xmlns:a="http://schemas.openxmlformats.org/drawingml/2006/main">
              <a:ext uri="{FF2B5EF4-FFF2-40B4-BE49-F238E27FC236}">
                <a16:creationId xmlns:a16="http://schemas.microsoft.com/office/drawing/2014/main" id="{5F0310C9-48ED-4930-9146-DF71E58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39" y="1976768"/>
            <a:ext cx="1347092" cy="1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N(t; z, 0.375²) dt</a:t>
            </a:r>
          </a:p>
        </p:txBody>
      </p:sp>
      <p:sp>
        <p:nvSpPr>
          <p:cNvPr id="40" name="15 interior edges from −3.5 to 3.5, plus two infinite tails">
            <a:extLst xmlns:a="http://schemas.openxmlformats.org/drawingml/2006/main">
              <a:ext uri="{FF2B5EF4-FFF2-40B4-BE49-F238E27FC236}">
                <a16:creationId xmlns:a16="http://schemas.microsoft.com/office/drawing/2014/main" id="{4003E1FB-BE66-43AD-9DB6-A6B1CFB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1" y="2245154"/>
            <a:ext cx="2518702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15 interior edges from −3.5 to 3.5, plus two infinite tails</a:t>
            </a:r>
          </a:p>
        </p:txBody>
      </p:sp>
      <p:sp>
        <p:nvSpPr>
          <p:cNvPr id="41" name="e = [−∞, −3.5, −3.0, …, 3.0, 3.5, +∞]">
            <a:extLst xmlns:a="http://schemas.openxmlformats.org/drawingml/2006/main">
              <a:ext uri="{FF2B5EF4-FFF2-40B4-BE49-F238E27FC236}">
                <a16:creationId xmlns:a16="http://schemas.microsoft.com/office/drawing/2014/main" id="{94D2A3ED-AE6D-47C7-B40B-AF7BA7C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20" y="2348380"/>
            <a:ext cx="2534185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2531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 = [−∞, −3.5, −3.0, …, 3.0, 3.5, +∞]</a:t>
            </a:r>
          </a:p>
        </p:txBody>
      </p:sp>
      <p:sp>
        <p:nvSpPr>
          <p:cNvPr id="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35FC11F-DC8B-444C-8B4D-0A28534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5" y="2487734"/>
            <a:ext cx="1176770" cy="154838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xmlns:a="http://schemas.openxmlformats.org/drawingml/2006/main" w="5161">
            <a:solidFill>
              <a:srgbClr val="87CFBA"/>
            </a:solidFill>
            <a:prstDash val="solid"/>
          </a:ln>
        </p:spPr>
      </p:sp>
      <p:sp>
        <p:nvSpPr>
          <p:cNvPr id="43" name="Teacher scalar distribution">
            <a:extLst xmlns:a="http://schemas.openxmlformats.org/drawingml/2006/main">
              <a:ext uri="{FF2B5EF4-FFF2-40B4-BE49-F238E27FC236}">
                <a16:creationId xmlns:a16="http://schemas.microsoft.com/office/drawing/2014/main" id="{6724CEF0-5D69-4125-96B6-BB004C4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1" y="2513540"/>
            <a:ext cx="1125158" cy="10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3312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Teacher scalar distribution</a:t>
            </a:r>
          </a:p>
        </p:txBody>
      </p:sp>
      <p:sp>
        <p:nvSpPr>
          <p:cNvPr id="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22A642-4B9C-47DE-B271-BA591373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83" y="2487734"/>
            <a:ext cx="1176770" cy="154838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8ABFF4"/>
            </a:solidFill>
            <a:prstDash val="solid"/>
          </a:ln>
        </p:spPr>
      </p:sp>
      <p:sp>
        <p:nvSpPr>
          <p:cNvPr id="45" name="Student scalar distribution">
            <a:extLst xmlns:a="http://schemas.openxmlformats.org/drawingml/2006/main">
              <a:ext uri="{FF2B5EF4-FFF2-40B4-BE49-F238E27FC236}">
                <a16:creationId xmlns:a16="http://schemas.microsoft.com/office/drawing/2014/main" id="{38B55C40-DDF3-41F3-8B95-D52F30FF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89" y="2513540"/>
            <a:ext cx="1125158" cy="10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3312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Student scalar distribution</a:t>
            </a:r>
          </a:p>
        </p:txBody>
      </p:sp>
      <p:sp>
        <p:nvSpPr>
          <p:cNvPr id="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2E62871-AFF6-4AAB-822F-D9B8E18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80" y="2725153"/>
            <a:ext cx="1042577" cy="438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129">
            <a:solidFill>
              <a:srgbClr val="D9DEE5"/>
            </a:solidFill>
            <a:prstDash val="solid"/>
          </a:ln>
        </p:spPr>
      </p:sp>
      <p:cxnSp>
        <p:nvCxnSpPr>
          <p:cNvPr id="4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DD07C51-BEEE-4FF2-9493-813579704D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3017625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48" name="0.1">
            <a:extLst xmlns:a="http://schemas.openxmlformats.org/drawingml/2006/main">
              <a:ext uri="{FF2B5EF4-FFF2-40B4-BE49-F238E27FC236}">
                <a16:creationId xmlns:a16="http://schemas.microsoft.com/office/drawing/2014/main" id="{293A8C9E-0EE8-45EE-8215-6E798C30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2971173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4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4584FC0-7DBC-4F0C-9D10-87BF1239F5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2871389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50" name="0.2">
            <a:extLst xmlns:a="http://schemas.openxmlformats.org/drawingml/2006/main">
              <a:ext uri="{FF2B5EF4-FFF2-40B4-BE49-F238E27FC236}">
                <a16:creationId xmlns:a16="http://schemas.microsoft.com/office/drawing/2014/main" id="{1C55B5F0-CEDB-47CD-B44B-DBBB086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2824937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5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5E33AD5-AD65-427E-814A-89B78E5139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2725153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52" name="0.3">
            <a:extLst xmlns:a="http://schemas.openxmlformats.org/drawingml/2006/main">
              <a:ext uri="{FF2B5EF4-FFF2-40B4-BE49-F238E27FC236}">
                <a16:creationId xmlns:a16="http://schemas.microsoft.com/office/drawing/2014/main" id="{D508401C-7133-479F-BA07-3EE7CC4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2678701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5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F032BF3-1275-43EB-B3EC-742EBF81BF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2725153"/>
            <a:ext cx="0" cy="438708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5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98689B9-90F5-4E89-9A82-C5143F8A6E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2980" y="3163861"/>
            <a:ext cx="1042577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55" name="0.0">
            <a:extLst xmlns:a="http://schemas.openxmlformats.org/drawingml/2006/main">
              <a:ext uri="{FF2B5EF4-FFF2-40B4-BE49-F238E27FC236}">
                <a16:creationId xmlns:a16="http://schemas.microsoft.com/office/drawing/2014/main" id="{931EA1FF-634E-4EB0-B960-E6A995F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97" y="3117409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1782DCB-DFCE-4A39-8A05-5887D795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22" y="3161229"/>
            <a:ext cx="49677" cy="263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5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7208CCF-CC52-44A6-B379-5C95865029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5561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415AD1-A584-4814-97EF-462B130C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83" y="3158158"/>
            <a:ext cx="49677" cy="57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5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C523B8F-ED77-49D9-815C-72CF560BB8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072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BBCB1D0-937D-478B-89B1-6EB95DF0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4" y="3151577"/>
            <a:ext cx="49677" cy="1228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3C84CC5-3CE1-40A9-B5B3-C3C1140080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588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7E67A68-127F-464B-9D80-78AA339B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06" y="3139732"/>
            <a:ext cx="49677" cy="241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ACD3FED-9E7A-4B3C-869A-CF8376174B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104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9F7D3E5-D9B4-401E-9F9C-56DF5AC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67" y="3119990"/>
            <a:ext cx="49677" cy="438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AD13234-D4A5-48CE-9C49-770F8EF175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620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BE6B2BB-355F-46D5-904D-8C617337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28" y="3093668"/>
            <a:ext cx="49677" cy="70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613A1A3-BDD8-42E1-AC85-1C3615EDF4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1366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D3BFAA6-26E6-4DA9-9EAF-34FEA436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89" y="3041023"/>
            <a:ext cx="49677" cy="12283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6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A6F19F7-CE3F-4C6B-AB23-CFC16A6A05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652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01C1AA7-EFC3-4805-9DB6-2241DEB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50" y="2957668"/>
            <a:ext cx="49677" cy="206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9E64A70-4CB4-4B53-B6EF-B684AEC960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1688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D05F244-92A3-4B3B-A7DB-2260494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11" y="2856765"/>
            <a:ext cx="49677" cy="30709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1E82338-7632-4987-B95E-FE44155546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6850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89FBEBF-9DF1-422B-9B90-1AEB459E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72" y="2773411"/>
            <a:ext cx="49677" cy="390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BC65C08-26C7-4267-8EB8-77C851B459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22011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B64617C-4540-4130-A06B-308C5F4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33" y="2826056"/>
            <a:ext cx="49677" cy="33780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3359042-DFE6-4A83-AC4B-93A3138AD3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717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555442A-3EFA-4890-BE13-D3ADBB0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94" y="2957668"/>
            <a:ext cx="49677" cy="2061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7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AE2A7F1-A010-47A2-A910-5CFE5C5AD1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33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A279DE-416E-4DC7-9DBD-1D66563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55" y="3067345"/>
            <a:ext cx="49677" cy="9651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80C5805-1BEB-49E6-ACC3-FA6559870C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1749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950697A-10AC-458C-BD8E-8AE6BC74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16" y="3124377"/>
            <a:ext cx="49677" cy="3948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EA0EC9C-FE5A-4A32-B7F8-651199DB3F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8265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59DB505-35BC-4D90-BC3E-9517263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7" y="3148067"/>
            <a:ext cx="49677" cy="1579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8388D6D-01EB-405D-9A1E-3F56FD416F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47816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16230D-0D0B-4C64-9A69-96E47EDA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39" y="3158158"/>
            <a:ext cx="49677" cy="57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35806E"/>
            </a:solidFill>
            <a:prstDash val="solid"/>
          </a:ln>
        </p:spPr>
      </p:sp>
      <p:cxnSp>
        <p:nvCxnSpPr>
          <p:cNvPr id="8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AF3751E-20BB-4C6C-8DFA-D548ACC2B5B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1297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88" name="1">
            <a:extLst xmlns:a="http://schemas.openxmlformats.org/drawingml/2006/main">
              <a:ext uri="{FF2B5EF4-FFF2-40B4-BE49-F238E27FC236}">
                <a16:creationId xmlns:a16="http://schemas.microsoft.com/office/drawing/2014/main" id="{F59CDB0D-B78A-4B6F-AA2F-45E7848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74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9" name="4">
            <a:extLst xmlns:a="http://schemas.openxmlformats.org/drawingml/2006/main">
              <a:ext uri="{FF2B5EF4-FFF2-40B4-BE49-F238E27FC236}">
                <a16:creationId xmlns:a16="http://schemas.microsoft.com/office/drawing/2014/main" id="{CEC47E62-58BF-4A4A-8BA2-19EEB7D9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57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0" name="8">
            <a:extLst xmlns:a="http://schemas.openxmlformats.org/drawingml/2006/main">
              <a:ext uri="{FF2B5EF4-FFF2-40B4-BE49-F238E27FC236}">
                <a16:creationId xmlns:a16="http://schemas.microsoft.com/office/drawing/2014/main" id="{35125D92-7057-43F6-9196-803A9EBE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02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91" name="12">
            <a:extLst xmlns:a="http://schemas.openxmlformats.org/drawingml/2006/main">
              <a:ext uri="{FF2B5EF4-FFF2-40B4-BE49-F238E27FC236}">
                <a16:creationId xmlns:a16="http://schemas.microsoft.com/office/drawing/2014/main" id="{3EDDB9EF-D0AE-44ED-96DC-3E0105E4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946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92" name="16">
            <a:extLst xmlns:a="http://schemas.openxmlformats.org/drawingml/2006/main">
              <a:ext uri="{FF2B5EF4-FFF2-40B4-BE49-F238E27FC236}">
                <a16:creationId xmlns:a16="http://schemas.microsoft.com/office/drawing/2014/main" id="{3FDAFD5B-A0C5-4D42-978E-9AF1AD6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590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93" name="Bin index">
            <a:extLst xmlns:a="http://schemas.openxmlformats.org/drawingml/2006/main">
              <a:ext uri="{FF2B5EF4-FFF2-40B4-BE49-F238E27FC236}">
                <a16:creationId xmlns:a16="http://schemas.microsoft.com/office/drawing/2014/main" id="{D565563D-DB10-481A-8E6D-8642A080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38" y="3323860"/>
            <a:ext cx="603869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94" name="Probability">
            <a:extLst xmlns:a="http://schemas.openxmlformats.org/drawingml/2006/main">
              <a:ext uri="{FF2B5EF4-FFF2-40B4-BE49-F238E27FC236}">
                <a16:creationId xmlns:a16="http://schemas.microsoft.com/office/drawing/2014/main" id="{B29A8C57-44C5-421D-BA9C-73A06ED6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337" y="2895475"/>
            <a:ext cx="59870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E05041E-3433-4AB0-8637-8E005845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86" y="2725153"/>
            <a:ext cx="1037416" cy="438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129">
            <a:solidFill>
              <a:srgbClr val="D9DEE5"/>
            </a:solidFill>
            <a:prstDash val="solid"/>
          </a:ln>
        </p:spPr>
      </p:sp>
      <p:cxnSp>
        <p:nvCxnSpPr>
          <p:cNvPr id="9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0E9F986-A0DF-45BE-8F16-2DF36CF417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3017625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97" name="0.1">
            <a:extLst xmlns:a="http://schemas.openxmlformats.org/drawingml/2006/main">
              <a:ext uri="{FF2B5EF4-FFF2-40B4-BE49-F238E27FC236}">
                <a16:creationId xmlns:a16="http://schemas.microsoft.com/office/drawing/2014/main" id="{D11B13B1-AC92-41E6-8790-5F2EE728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2971173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9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0F99049-9B2F-4C45-AB30-8F5BA59181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2871389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99" name="0.2">
            <a:extLst xmlns:a="http://schemas.openxmlformats.org/drawingml/2006/main">
              <a:ext uri="{FF2B5EF4-FFF2-40B4-BE49-F238E27FC236}">
                <a16:creationId xmlns:a16="http://schemas.microsoft.com/office/drawing/2014/main" id="{0018FEAC-F170-4245-A951-9DC6F8E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2824937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10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C8AF886-2362-453D-ABE3-39A6BC1621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2725153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3097">
            <a:solidFill>
              <a:srgbClr val="E3E8ED"/>
            </a:solidFill>
            <a:prstDash val="solid"/>
          </a:ln>
        </p:spPr>
      </p:cxnSp>
      <p:sp>
        <p:nvSpPr>
          <p:cNvPr id="101" name="0.3">
            <a:extLst xmlns:a="http://schemas.openxmlformats.org/drawingml/2006/main">
              <a:ext uri="{FF2B5EF4-FFF2-40B4-BE49-F238E27FC236}">
                <a16:creationId xmlns:a16="http://schemas.microsoft.com/office/drawing/2014/main" id="{4E6773FB-5AA8-4F3F-AC9E-CDD6C94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2678701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10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234E6DDB-2341-4AC1-912D-653DA5C83B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2725153"/>
            <a:ext cx="0" cy="438708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cxnSp>
        <p:nvCxnSpPr>
          <p:cNvPr id="10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FCF8F40-A44D-40C3-A35A-1C3040D3B9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01686" y="3163861"/>
            <a:ext cx="1037416" cy="0"/>
          </a:xfrm>
          <a:prstGeom xmlns:a="http://schemas.openxmlformats.org/drawingml/2006/main" prst="straightConnector1">
            <a:avLst/>
          </a:prstGeom>
          <a:ln xmlns:a="http://schemas.openxmlformats.org/drawingml/2006/main" w="6194">
            <a:solidFill>
              <a:srgbClr val="071B3C"/>
            </a:solidFill>
            <a:prstDash val="solid"/>
          </a:ln>
        </p:spPr>
      </p:cxnSp>
      <p:sp>
        <p:nvSpPr>
          <p:cNvPr id="104" name="0.0">
            <a:extLst xmlns:a="http://schemas.openxmlformats.org/drawingml/2006/main">
              <a:ext uri="{FF2B5EF4-FFF2-40B4-BE49-F238E27FC236}">
                <a16:creationId xmlns:a16="http://schemas.microsoft.com/office/drawing/2014/main" id="{6E03F014-C94A-4E38-AB1D-628EE650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02" y="3117409"/>
            <a:ext cx="154838" cy="9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8220"/>
          </a:bodyPr>
          <a:lstStyle xmlns:a="http://schemas.openxmlformats.org/drawingml/2006/main"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1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6ECA74-B0EA-4715-A49C-DE0BBDB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427" y="3160790"/>
            <a:ext cx="49355" cy="30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0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F6EE8F2-8585-4828-A327-CF60C610B0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410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C4F21F4-2DC2-42A3-A65A-827BA1F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66" y="3155964"/>
            <a:ext cx="49355" cy="789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0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A46FB90-DEC9-4211-801D-21280D92971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894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358551B-60F8-497A-9FE9-45BA22D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105" y="3145435"/>
            <a:ext cx="49355" cy="1842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94EAE91B-71CB-4747-BDB4-8860A3E914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6378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698F18-FDBC-4B9D-8898-76DA495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943" y="3124377"/>
            <a:ext cx="49355" cy="3948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5A99672-14DB-4080-AAD6-29E1727D73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28620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A6A7AF-FF0D-490C-9DE7-C2FF6AB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782" y="3084893"/>
            <a:ext cx="49355" cy="7896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5C4E0C3-9954-41F8-B021-4AD59881B6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93459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B356993-1051-4948-A1C5-348287F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0" y="3010313"/>
            <a:ext cx="49355" cy="15354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FB4BEE1-DE2C-4664-BCDF-0FF9EB09D2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5829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1FAA51-6F84-4C90-997E-10FF2539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459" y="2900636"/>
            <a:ext cx="49355" cy="2632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1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45A5D43-2B65-48BA-862E-6C1844A3F6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23136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0E1023D-DF4E-4B92-B560-F7D0C68E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297" y="2804120"/>
            <a:ext cx="49355" cy="35974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137E755-BFC7-4594-9E1B-A271DF1DDC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8797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BC5E09-A7AD-4824-93CC-B971BA6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136" y="2777798"/>
            <a:ext cx="49355" cy="38606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EDC89302-D016-4BFC-AD7E-8044A483A2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52813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0C7553-04C1-4EC8-8740-73A5BC37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974" y="2878701"/>
            <a:ext cx="49355" cy="28516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C509827E-84AE-4563-A922-A4EB36BE835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17651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E76134F-B449-4BE7-8019-DA64347B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813" y="3001539"/>
            <a:ext cx="49355" cy="162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B08BEC6-25ED-4205-82F6-26E2A1632A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82490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B92C906-D457-43AB-942C-4B58FD57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651" y="3089281"/>
            <a:ext cx="49355" cy="745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2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5A95700-C744-4884-8E38-2B6B1FA108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47328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2F3BC2-642A-4EDB-B267-7D04018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490" y="3128764"/>
            <a:ext cx="49355" cy="3509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F7182E7-AA0D-4845-81D5-1CE0B5F64F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12167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A0B832D-CF61-484B-A41E-C525B904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328" y="3149384"/>
            <a:ext cx="49355" cy="1447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384E811-5B23-4E7D-821C-5F3DE9BB08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77005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A51F79A-3540-4512-9B4F-D9E96B6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167" y="3157719"/>
            <a:ext cx="49355" cy="614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4B8DB65-56F7-4AEE-9F3E-57FF950A43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1844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3FDD111-996F-4163-A4C2-93AEC0B5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005" y="3161229"/>
            <a:ext cx="49355" cy="263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xmlns:a="http://schemas.openxmlformats.org/drawingml/2006/main" w="3097">
            <a:solidFill>
              <a:srgbClr val="2E639F"/>
            </a:solidFill>
            <a:prstDash val="solid"/>
          </a:ln>
        </p:spPr>
      </p:sp>
      <p:cxnSp>
        <p:nvCxnSpPr>
          <p:cNvPr id="13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E746A04-2FFF-446B-960E-8167238B7A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6682" y="3163861"/>
            <a:ext cx="0" cy="20645"/>
          </a:xfrm>
          <a:prstGeom xmlns:a="http://schemas.openxmlformats.org/drawingml/2006/main" prst="straightConnector1">
            <a:avLst/>
          </a:prstGeom>
          <a:ln xmlns:a="http://schemas.openxmlformats.org/drawingml/2006/main" w="3613">
            <a:solidFill>
              <a:srgbClr val="071B3C"/>
            </a:solidFill>
            <a:prstDash val="solid"/>
          </a:ln>
        </p:spPr>
      </p:cxnSp>
      <p:sp>
        <p:nvSpPr>
          <p:cNvPr id="137" name="1">
            <a:extLst xmlns:a="http://schemas.openxmlformats.org/drawingml/2006/main">
              <a:ext uri="{FF2B5EF4-FFF2-40B4-BE49-F238E27FC236}">
                <a16:creationId xmlns:a16="http://schemas.microsoft.com/office/drawing/2014/main" id="{737835CE-3483-4685-845E-D17E052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879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8" name="4">
            <a:extLst xmlns:a="http://schemas.openxmlformats.org/drawingml/2006/main">
              <a:ext uri="{FF2B5EF4-FFF2-40B4-BE49-F238E27FC236}">
                <a16:creationId xmlns:a16="http://schemas.microsoft.com/office/drawing/2014/main" id="{9124C1FF-CB4F-4001-A39F-DE6CD242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95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39" name="8">
            <a:extLst xmlns:a="http://schemas.openxmlformats.org/drawingml/2006/main">
              <a:ext uri="{FF2B5EF4-FFF2-40B4-BE49-F238E27FC236}">
                <a16:creationId xmlns:a16="http://schemas.microsoft.com/office/drawing/2014/main" id="{D0B616AA-2360-4331-A86C-EB915583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749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40" name="12">
            <a:extLst xmlns:a="http://schemas.openxmlformats.org/drawingml/2006/main">
              <a:ext uri="{FF2B5EF4-FFF2-40B4-BE49-F238E27FC236}">
                <a16:creationId xmlns:a16="http://schemas.microsoft.com/office/drawing/2014/main" id="{F5DDDCBA-CC0F-4882-96D0-1EB8CA1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103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141" name="16">
            <a:extLst xmlns:a="http://schemas.openxmlformats.org/drawingml/2006/main">
              <a:ext uri="{FF2B5EF4-FFF2-40B4-BE49-F238E27FC236}">
                <a16:creationId xmlns:a16="http://schemas.microsoft.com/office/drawing/2014/main" id="{3FF1954E-A8CE-412F-99B9-670CA67F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457" y="3210312"/>
            <a:ext cx="113548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142" name="Bin index">
            <a:extLst xmlns:a="http://schemas.openxmlformats.org/drawingml/2006/main">
              <a:ext uri="{FF2B5EF4-FFF2-40B4-BE49-F238E27FC236}">
                <a16:creationId xmlns:a16="http://schemas.microsoft.com/office/drawing/2014/main" id="{9ECB6D40-2ADC-4E1A-B19F-0566B33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43" y="3323860"/>
            <a:ext cx="59870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143" name="Probability">
            <a:extLst xmlns:a="http://schemas.openxmlformats.org/drawingml/2006/main">
              <a:ext uri="{FF2B5EF4-FFF2-40B4-BE49-F238E27FC236}">
                <a16:creationId xmlns:a16="http://schemas.microsoft.com/office/drawing/2014/main" id="{F12C4EE1-27EF-4CAF-97FA-FA641FE4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501042" y="2895475"/>
            <a:ext cx="598708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1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FE7E1A7-9899-49B0-8490-4BD5D8B5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5" y="3458054"/>
            <a:ext cx="2461928" cy="216774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A8098"/>
            </a:solidFill>
            <a:prstDash val="solid"/>
          </a:ln>
        </p:spPr>
      </p:sp>
      <p:sp>
        <p:nvSpPr>
          <p:cNvPr id="145" name="L_bin = mean KL(p(z) || p(ẑ))">
            <a:extLst xmlns:a="http://schemas.openxmlformats.org/drawingml/2006/main">
              <a:ext uri="{FF2B5EF4-FFF2-40B4-BE49-F238E27FC236}">
                <a16:creationId xmlns:a16="http://schemas.microsoft.com/office/drawing/2014/main" id="{86A9A396-A304-4BBE-A5AB-9B3051C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03" y="3504505"/>
            <a:ext cx="2245154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121"/>
          </a:bodyPr>
          <a:lstStyle xmlns:a="http://schemas.openxmlformats.org/drawingml/2006/main">
            <a:def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L_bin = mean KL(p(z) || p(ẑ))</a:t>
            </a:r>
          </a:p>
        </p:txBody>
      </p:sp>
      <p:sp>
        <p:nvSpPr>
          <p:cNvPr id="1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85FB660-9682-4AE4-B404-47062EF2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39" y="3731601"/>
            <a:ext cx="2725153" cy="159999"/>
          </a:xfrm>
          <a:prstGeom xmlns:a="http://schemas.openxmlformats.org/drawingml/2006/main" prst="roundRect">
            <a:avLst>
              <a:gd name="adj" fmla="val 12903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2DDF7"/>
            </a:solidFill>
            <a:prstDash val="solid"/>
          </a:ln>
        </p:spPr>
      </p:sp>
      <p:sp>
        <p:nvSpPr>
          <p:cNvPr id="147" name="Motor actions: 10 × 6   |   Future latents: t &gt; 0">
            <a:extLst xmlns:a="http://schemas.openxmlformats.org/drawingml/2006/main">
              <a:ext uri="{FF2B5EF4-FFF2-40B4-BE49-F238E27FC236}">
                <a16:creationId xmlns:a16="http://schemas.microsoft.com/office/drawing/2014/main" id="{128F5AAE-10EE-415B-A693-72C4FB00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46" y="3757407"/>
            <a:ext cx="2673540" cy="10838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4575"/>
          </a:bodyPr>
          <a:lstStyle xmlns:a="http://schemas.openxmlformats.org/drawingml/2006/main">
            <a:def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actions: 10 × 6   |   Future latents: t &gt; 0</a:t>
            </a:r>
          </a:p>
        </p:txBody>
      </p:sp>
      <p:sp>
        <p:nvSpPr>
          <p:cNvPr id="148" name="Compute a 16-bin distribution for each scalar independently&#10;and average the">
            <a:extLst xmlns:a="http://schemas.openxmlformats.org/drawingml/2006/main">
              <a:ext uri="{FF2B5EF4-FFF2-40B4-BE49-F238E27FC236}">
                <a16:creationId xmlns:a16="http://schemas.microsoft.com/office/drawing/2014/main" id="{A6FFCFDC-3233-4D5D-A391-65776FC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58" y="3927729"/>
            <a:ext cx="2580637" cy="201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0219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Compute a 16-bin distribution for each scalar independently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average the KL over all scalars.</a:t>
            </a:r>
          </a:p>
        </p:txBody>
      </p:sp>
      <p:sp>
        <p:nvSpPr>
          <p:cNvPr id="1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B94405-F634-4D50-9273-4F3436A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36" y="686449"/>
            <a:ext cx="2621927" cy="149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5161">
            <a:noFill/>
            <a:prstDash val="solid"/>
          </a:ln>
        </p:spPr>
      </p:sp>
      <p:sp>
        <p:nvSpPr>
          <p:cNvPr id="150" name="Ten ordered 6-D action vectors (first 10 actions)">
            <a:extLst xmlns:a="http://schemas.openxmlformats.org/drawingml/2006/main">
              <a:ext uri="{FF2B5EF4-FFF2-40B4-BE49-F238E27FC236}">
                <a16:creationId xmlns:a16="http://schemas.microsoft.com/office/drawing/2014/main" id="{20200BDC-EC1E-4D90-B351-D7BCA3A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843" y="712256"/>
            <a:ext cx="2570314" cy="9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79147"/>
          </a:bodyPr>
          <a:lstStyle xmlns:a="http://schemas.openxmlformats.org/drawingml/2006/main"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Ten ordered 6-D action vectors (first 10 actions)</a:t>
            </a:r>
          </a:p>
        </p:txBody>
      </p:sp>
      <p:sp>
        <p:nvSpPr>
          <p:cNvPr id="1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65E32A1-6986-448B-B150-08D3F3B4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72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2" name="a₁">
            <a:extLst xmlns:a="http://schemas.openxmlformats.org/drawingml/2006/main">
              <a:ext uri="{FF2B5EF4-FFF2-40B4-BE49-F238E27FC236}">
                <a16:creationId xmlns:a16="http://schemas.microsoft.com/office/drawing/2014/main" id="{76381CC2-EEA3-4458-BF89-5BBCDFF3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778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</a:t>
            </a:r>
          </a:p>
        </p:txBody>
      </p:sp>
      <p:sp>
        <p:nvSpPr>
          <p:cNvPr id="1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ADB4820-2A4F-474A-970C-19DC538E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23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4" name="a₂">
            <a:extLst xmlns:a="http://schemas.openxmlformats.org/drawingml/2006/main">
              <a:ext uri="{FF2B5EF4-FFF2-40B4-BE49-F238E27FC236}">
                <a16:creationId xmlns:a16="http://schemas.microsoft.com/office/drawing/2014/main" id="{2AE4C76A-ACFE-469D-8885-3BE60D3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a₂</a:t>
            </a:r>
          </a:p>
        </p:txBody>
      </p:sp>
      <p:sp>
        <p:nvSpPr>
          <p:cNvPr id="1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C016F91-48A1-4347-91A5-983A9714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874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6" name="a₃">
            <a:extLst xmlns:a="http://schemas.openxmlformats.org/drawingml/2006/main">
              <a:ext uri="{FF2B5EF4-FFF2-40B4-BE49-F238E27FC236}">
                <a16:creationId xmlns:a16="http://schemas.microsoft.com/office/drawing/2014/main" id="{CEECC82A-0211-408E-B9B1-D7941DB8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680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a₃</a:t>
            </a:r>
          </a:p>
        </p:txBody>
      </p:sp>
      <p:sp>
        <p:nvSpPr>
          <p:cNvPr id="1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4AE635-3285-4F2C-8CD3-68A799EE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325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58" name="a₄">
            <a:extLst xmlns:a="http://schemas.openxmlformats.org/drawingml/2006/main">
              <a:ext uri="{FF2B5EF4-FFF2-40B4-BE49-F238E27FC236}">
                <a16:creationId xmlns:a16="http://schemas.microsoft.com/office/drawing/2014/main" id="{A42FFA54-F74D-4835-A706-D06E0E2F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31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a₄</a:t>
            </a:r>
          </a:p>
        </p:txBody>
      </p:sp>
      <p:sp>
        <p:nvSpPr>
          <p:cNvPr id="1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15B5191-11E9-415A-BABD-7A8258EF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776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0" name="a₅">
            <a:extLst xmlns:a="http://schemas.openxmlformats.org/drawingml/2006/main">
              <a:ext uri="{FF2B5EF4-FFF2-40B4-BE49-F238E27FC236}">
                <a16:creationId xmlns:a16="http://schemas.microsoft.com/office/drawing/2014/main" id="{E8E4136F-47B3-456E-8AD6-C2977B6D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82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a₅</a:t>
            </a:r>
          </a:p>
        </p:txBody>
      </p:sp>
      <p:sp>
        <p:nvSpPr>
          <p:cNvPr id="1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5F2CE88-393D-42BA-ACF5-E71A6B2F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226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2" name="a₆">
            <a:extLst xmlns:a="http://schemas.openxmlformats.org/drawingml/2006/main">
              <a:ext uri="{FF2B5EF4-FFF2-40B4-BE49-F238E27FC236}">
                <a16:creationId xmlns:a16="http://schemas.microsoft.com/office/drawing/2014/main" id="{A9227245-1E2C-4951-82CD-2976693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033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a₆</a:t>
            </a:r>
          </a:p>
        </p:txBody>
      </p:sp>
      <p:sp>
        <p:nvSpPr>
          <p:cNvPr id="1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11E91A8-413D-410A-ABFA-0D1EEA1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677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4" name="a₇">
            <a:extLst xmlns:a="http://schemas.openxmlformats.org/drawingml/2006/main">
              <a:ext uri="{FF2B5EF4-FFF2-40B4-BE49-F238E27FC236}">
                <a16:creationId xmlns:a16="http://schemas.microsoft.com/office/drawing/2014/main" id="{8D42339D-F16E-4071-AAE5-F608B88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484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a₇</a:t>
            </a:r>
          </a:p>
        </p:txBody>
      </p:sp>
      <p:sp>
        <p:nvSpPr>
          <p:cNvPr id="1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93DE111-F8C7-47D6-88BE-800AB7AB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128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6" name="a₈">
            <a:extLst xmlns:a="http://schemas.openxmlformats.org/drawingml/2006/main">
              <a:ext uri="{FF2B5EF4-FFF2-40B4-BE49-F238E27FC236}">
                <a16:creationId xmlns:a16="http://schemas.microsoft.com/office/drawing/2014/main" id="{7A620301-4458-4D63-968C-86B47AB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5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a₈</a:t>
            </a:r>
          </a:p>
        </p:txBody>
      </p:sp>
      <p:sp>
        <p:nvSpPr>
          <p:cNvPr id="1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5FACEF-10D4-418A-942E-E6CE6AA9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579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68" name="a₉">
            <a:extLst xmlns:a="http://schemas.openxmlformats.org/drawingml/2006/main">
              <a:ext uri="{FF2B5EF4-FFF2-40B4-BE49-F238E27FC236}">
                <a16:creationId xmlns:a16="http://schemas.microsoft.com/office/drawing/2014/main" id="{6100E11C-D2E6-48A7-8A1D-DD1CEF1F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386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a₉</a:t>
            </a:r>
          </a:p>
        </p:txBody>
      </p:sp>
      <p:sp>
        <p:nvSpPr>
          <p:cNvPr id="1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F58BE7-AC72-4B37-9B67-95A264BE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030" y="851610"/>
            <a:ext cx="185806" cy="2219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5161">
            <a:solidFill>
              <a:srgbClr val="5FACA0"/>
            </a:solidFill>
            <a:prstDash val="solid"/>
          </a:ln>
        </p:spPr>
      </p:sp>
      <p:sp>
        <p:nvSpPr>
          <p:cNvPr id="170" name="a₁₀">
            <a:extLst xmlns:a="http://schemas.openxmlformats.org/drawingml/2006/main">
              <a:ext uri="{FF2B5EF4-FFF2-40B4-BE49-F238E27FC236}">
                <a16:creationId xmlns:a16="http://schemas.microsoft.com/office/drawing/2014/main" id="{0596D6BD-0C0A-4900-BA3C-3BFA5F06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837" y="877417"/>
            <a:ext cx="134193" cy="17032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a₁₀</a:t>
            </a:r>
          </a:p>
        </p:txBody>
      </p:sp>
      <p:sp>
        <p:nvSpPr>
          <p:cNvPr id="171" name="Each aₜ ∈ ℝ⁶">
            <a:extLst xmlns:a="http://schemas.openxmlformats.org/drawingml/2006/main">
              <a:ext uri="{FF2B5EF4-FFF2-40B4-BE49-F238E27FC236}">
                <a16:creationId xmlns:a16="http://schemas.microsoft.com/office/drawing/2014/main" id="{F491B7C6-C164-40F1-92E3-DABBA49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610" y="939352"/>
            <a:ext cx="474837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082"/>
          </a:bodyPr>
          <a:lstStyle xmlns:a="http://schemas.openxmlformats.org/drawingml/2006/main"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aₜ ∈ ℝ⁶</a:t>
            </a:r>
          </a:p>
        </p:txBody>
      </p:sp>
      <p:cxnSp>
        <p:nvCxnSpPr>
          <p:cNvPr id="17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1F6C40D0-A553-4F9E-B527-4516399E29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15226" y="1109674"/>
            <a:ext cx="0" cy="144516"/>
          </a:xfrm>
          <a:prstGeom xmlns:a="http://schemas.openxmlformats.org/drawingml/2006/main" prst="straightConnector1">
            <a:avLst/>
          </a:prstGeom>
          <a:ln xmlns:a="http://schemas.openxmlformats.org/drawingml/2006/main" w="10323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1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B5FA2BA-0CF8-4FC3-9D02-8F3F8863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98" y="1274835"/>
            <a:ext cx="2621927" cy="159999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EEEFF"/>
          </a:solidFill>
          <a:ln xmlns:a="http://schemas.openxmlformats.org/drawingml/2006/main" w="5161">
            <a:solidFill>
              <a:srgbClr val="BCDFFF"/>
            </a:solidFill>
            <a:prstDash val="solid"/>
          </a:ln>
        </p:spPr>
      </p:sp>
      <p:sp>
        <p:nvSpPr>
          <p:cNvPr id="174" name="Overlapping 3-step ordered windows → 8 tokens (18-D)">
            <a:extLst xmlns:a="http://schemas.openxmlformats.org/drawingml/2006/main">
              <a:ext uri="{FF2B5EF4-FFF2-40B4-BE49-F238E27FC236}">
                <a16:creationId xmlns:a16="http://schemas.microsoft.com/office/drawing/2014/main" id="{F35F4E0C-103E-4991-8E73-12C90AA9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004" y="1300641"/>
            <a:ext cx="2570314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E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Overlapping 3-step ordered windows → 8 tokens (18-D)</a:t>
            </a:r>
          </a:p>
        </p:txBody>
      </p:sp>
      <p:sp>
        <p:nvSpPr>
          <p:cNvPr id="1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A20140-BE88-482F-919E-D23900C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649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76" name="w₁">
            <a:extLst xmlns:a="http://schemas.openxmlformats.org/drawingml/2006/main">
              <a:ext uri="{FF2B5EF4-FFF2-40B4-BE49-F238E27FC236}">
                <a16:creationId xmlns:a16="http://schemas.microsoft.com/office/drawing/2014/main" id="{18A150ED-4F8A-41C1-B71F-3D20918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939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w₁</a:t>
            </a:r>
          </a:p>
        </p:txBody>
      </p:sp>
      <p:sp>
        <p:nvSpPr>
          <p:cNvPr id="177" name="(a₁, a₂, a₃)">
            <a:extLst xmlns:a="http://schemas.openxmlformats.org/drawingml/2006/main">
              <a:ext uri="{FF2B5EF4-FFF2-40B4-BE49-F238E27FC236}">
                <a16:creationId xmlns:a16="http://schemas.microsoft.com/office/drawing/2014/main" id="{65E18DA0-F900-49E0-B03D-E9020D4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72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(a₁, a₂, a₃)</a:t>
            </a:r>
          </a:p>
        </p:txBody>
      </p:sp>
      <p:sp>
        <p:nvSpPr>
          <p:cNvPr id="1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F49F442-6C3F-4BC5-B00E-892A9414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067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79" name="w₂">
            <a:extLst xmlns:a="http://schemas.openxmlformats.org/drawingml/2006/main">
              <a:ext uri="{FF2B5EF4-FFF2-40B4-BE49-F238E27FC236}">
                <a16:creationId xmlns:a16="http://schemas.microsoft.com/office/drawing/2014/main" id="{4CCC0068-D49B-4638-B1DF-C44C46A9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357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w₂</a:t>
            </a:r>
          </a:p>
        </p:txBody>
      </p:sp>
      <p:sp>
        <p:nvSpPr>
          <p:cNvPr id="180" name="(a₂, a₃, a₄)">
            <a:extLst xmlns:a="http://schemas.openxmlformats.org/drawingml/2006/main">
              <a:ext uri="{FF2B5EF4-FFF2-40B4-BE49-F238E27FC236}">
                <a16:creationId xmlns:a16="http://schemas.microsoft.com/office/drawing/2014/main" id="{CFE8B76D-8FA0-414D-81C5-FD82950D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(a₂, a₃, a₄)</a:t>
            </a:r>
          </a:p>
        </p:txBody>
      </p:sp>
      <p:sp>
        <p:nvSpPr>
          <p:cNvPr id="1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7A49B76-64AB-46B6-8F35-B56650E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84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82" name="w₃">
            <a:extLst xmlns:a="http://schemas.openxmlformats.org/drawingml/2006/main">
              <a:ext uri="{FF2B5EF4-FFF2-40B4-BE49-F238E27FC236}">
                <a16:creationId xmlns:a16="http://schemas.microsoft.com/office/drawing/2014/main" id="{053DB0D5-9E93-42DA-976A-178903E9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775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w₃</a:t>
            </a:r>
          </a:p>
        </p:txBody>
      </p:sp>
      <p:sp>
        <p:nvSpPr>
          <p:cNvPr id="183" name="(a₃, a₄, a₅)">
            <a:extLst xmlns:a="http://schemas.openxmlformats.org/drawingml/2006/main">
              <a:ext uri="{FF2B5EF4-FFF2-40B4-BE49-F238E27FC236}">
                <a16:creationId xmlns:a16="http://schemas.microsoft.com/office/drawing/2014/main" id="{295F2879-1BEA-4087-AF6C-A4EB8EB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807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(a₃, a₄, a₅)</a:t>
            </a:r>
          </a:p>
        </p:txBody>
      </p:sp>
      <p:sp>
        <p:nvSpPr>
          <p:cNvPr id="1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BF7AC7-A8DA-4B86-BC02-E331EB33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85" y="1496769"/>
            <a:ext cx="526450" cy="28387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4488C8"/>
            </a:solidFill>
            <a:prstDash val="solid"/>
          </a:ln>
        </p:spPr>
      </p:sp>
      <p:sp>
        <p:nvSpPr>
          <p:cNvPr id="185" name="w₈">
            <a:extLst xmlns:a="http://schemas.openxmlformats.org/drawingml/2006/main">
              <a:ext uri="{FF2B5EF4-FFF2-40B4-BE49-F238E27FC236}">
                <a16:creationId xmlns:a16="http://schemas.microsoft.com/office/drawing/2014/main" id="{5D8BF2F2-B8EC-491C-8F3C-81786BE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75" y="1538060"/>
            <a:ext cx="438708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1317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w₈</a:t>
            </a:r>
          </a:p>
        </p:txBody>
      </p:sp>
      <p:sp>
        <p:nvSpPr>
          <p:cNvPr id="186" name="(a₈, a₉, a₁₀)">
            <a:extLst xmlns:a="http://schemas.openxmlformats.org/drawingml/2006/main">
              <a:ext uri="{FF2B5EF4-FFF2-40B4-BE49-F238E27FC236}">
                <a16:creationId xmlns:a16="http://schemas.microsoft.com/office/drawing/2014/main" id="{FCFEE7CB-39A0-47D3-93EC-40A77AC1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07" y="1667091"/>
            <a:ext cx="505805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59"/>
          </a:bodyPr>
          <a:lstStyle xmlns:a="http://schemas.openxmlformats.org/drawingml/2006/main"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(a₈, a₉, a₁₀)</a:t>
            </a:r>
          </a:p>
        </p:txBody>
      </p:sp>
      <p:sp>
        <p:nvSpPr>
          <p:cNvPr id="187" name="…">
            <a:extLst xmlns:a="http://schemas.openxmlformats.org/drawingml/2006/main">
              <a:ext uri="{FF2B5EF4-FFF2-40B4-BE49-F238E27FC236}">
                <a16:creationId xmlns:a16="http://schemas.microsoft.com/office/drawing/2014/main" id="{26ED4FCA-61CC-4A84-829E-902F553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192" y="1548382"/>
            <a:ext cx="216774" cy="15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279"/>
          </a:bodyPr>
          <a:lstStyle xmlns:a="http://schemas.openxmlformats.org/drawingml/2006/main"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88" name="Each token uᵢ ∈ ℝ¹⁸ (concatenate 3 actions)">
            <a:extLst xmlns:a="http://schemas.openxmlformats.org/drawingml/2006/main">
              <a:ext uri="{FF2B5EF4-FFF2-40B4-BE49-F238E27FC236}">
                <a16:creationId xmlns:a16="http://schemas.microsoft.com/office/drawing/2014/main" id="{C9316363-CEBF-489F-8923-88BBC0BD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068" y="1863220"/>
            <a:ext cx="2425799" cy="13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token uᵢ ∈ ℝ¹⁸ (concatenate 3 actions)</a:t>
            </a:r>
          </a:p>
        </p:txBody>
      </p:sp>
      <p:sp>
        <p:nvSpPr>
          <p:cNvPr id="1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EDACDF3-B9A5-462C-A546-A3113EAD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98" y="2038703"/>
            <a:ext cx="1383221" cy="159999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EEFF"/>
          </a:solidFill>
          <a:ln xmlns:a="http://schemas.openxmlformats.org/drawingml/2006/main" w="5161">
            <a:solidFill>
              <a:srgbClr val="C0DFFF"/>
            </a:solidFill>
            <a:prstDash val="solid"/>
          </a:ln>
        </p:spPr>
      </p:sp>
      <p:sp>
        <p:nvSpPr>
          <p:cNvPr id="190" name="Relation matrix (8 tokens)">
            <a:extLst xmlns:a="http://schemas.openxmlformats.org/drawingml/2006/main">
              <a:ext uri="{FF2B5EF4-FFF2-40B4-BE49-F238E27FC236}">
                <a16:creationId xmlns:a16="http://schemas.microsoft.com/office/drawing/2014/main" id="{0D09EF51-EA31-4531-9C63-89C3D0D6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004" y="2064510"/>
            <a:ext cx="1331609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Relation matrix (8 tokens)</a:t>
            </a:r>
          </a:p>
        </p:txBody>
      </p:sp>
      <p:sp>
        <p:nvSpPr>
          <p:cNvPr id="1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0553CDF-077B-469D-98E5-E320D81C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677" y="2038703"/>
            <a:ext cx="1176770" cy="159999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EEFF"/>
          </a:solidFill>
          <a:ln xmlns:a="http://schemas.openxmlformats.org/drawingml/2006/main" w="5161">
            <a:solidFill>
              <a:srgbClr val="C0DFFF"/>
            </a:solidFill>
            <a:prstDash val="solid"/>
          </a:ln>
        </p:spPr>
      </p:sp>
      <p:sp>
        <p:nvSpPr>
          <p:cNvPr id="192" name="Neighbor probabilities">
            <a:extLst xmlns:a="http://schemas.openxmlformats.org/drawingml/2006/main">
              <a:ext uri="{FF2B5EF4-FFF2-40B4-BE49-F238E27FC236}">
                <a16:creationId xmlns:a16="http://schemas.microsoft.com/office/drawing/2014/main" id="{BDA9F134-43E6-48CB-B448-656638BA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483" y="2064510"/>
            <a:ext cx="1125158" cy="10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7479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Neighbor probabilities</a:t>
            </a:r>
          </a:p>
        </p:txBody>
      </p:sp>
      <p:sp>
        <p:nvSpPr>
          <p:cNvPr id="193" name="1">
            <a:extLst xmlns:a="http://schemas.openxmlformats.org/drawingml/2006/main">
              <a:ext uri="{FF2B5EF4-FFF2-40B4-BE49-F238E27FC236}">
                <a16:creationId xmlns:a16="http://schemas.microsoft.com/office/drawing/2014/main" id="{DD017404-20D7-45DD-8A1F-C7BFCF7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4" name="1">
            <a:extLst xmlns:a="http://schemas.openxmlformats.org/drawingml/2006/main">
              <a:ext uri="{FF2B5EF4-FFF2-40B4-BE49-F238E27FC236}">
                <a16:creationId xmlns:a16="http://schemas.microsoft.com/office/drawing/2014/main" id="{3EAC0823-676D-414D-B0E0-57E64128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348380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4AE4D46-5D80-4BE7-BD3B-E99D3778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196" name="×">
            <a:extLst xmlns:a="http://schemas.openxmlformats.org/drawingml/2006/main">
              <a:ext uri="{FF2B5EF4-FFF2-40B4-BE49-F238E27FC236}">
                <a16:creationId xmlns:a16="http://schemas.microsoft.com/office/drawing/2014/main" id="{EAA57379-8BFC-4857-8478-E33FBF6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338057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ED87AC-0052-4B7D-8BCC-A8C4EEE5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1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2B5AB6-5164-4766-9AC2-D92EDBAC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1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1483BB-D403-4515-8F95-FAB891FF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545A6C7-EC94-4246-85DA-FBCABCD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1B05EC0-77FB-41E7-89B3-B9CBCE47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A8A60E2-231C-4FC9-92AF-3838CD9A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C7828AD-ECE1-4D57-9367-4859F2BC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343218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4" name="2">
            <a:extLst xmlns:a="http://schemas.openxmlformats.org/drawingml/2006/main">
              <a:ext uri="{FF2B5EF4-FFF2-40B4-BE49-F238E27FC236}">
                <a16:creationId xmlns:a16="http://schemas.microsoft.com/office/drawing/2014/main" id="{3250A984-2A2F-4F61-B20E-9D316290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2">
            <a:extLst xmlns:a="http://schemas.openxmlformats.org/drawingml/2006/main">
              <a:ext uri="{FF2B5EF4-FFF2-40B4-BE49-F238E27FC236}">
                <a16:creationId xmlns:a16="http://schemas.microsoft.com/office/drawing/2014/main" id="{394D3188-B12F-43E2-AD19-1149259A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454186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5AFBE3-A2BC-4FD0-9038-99A9A0F1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E5EB554-DF01-48A6-A34B-CBB15F43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08" name="×">
            <a:extLst xmlns:a="http://schemas.openxmlformats.org/drawingml/2006/main">
              <a:ext uri="{FF2B5EF4-FFF2-40B4-BE49-F238E27FC236}">
                <a16:creationId xmlns:a16="http://schemas.microsoft.com/office/drawing/2014/main" id="{73635287-741A-4261-AD14-4DD15717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443863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195E8DD-03C3-4FD7-8F19-D21247C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46B65AF-8B76-45FF-ACCF-D594620E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1342627-C6DD-4A74-BA05-DA48CA5E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A5BBE19-DC33-4218-9AA9-01BB689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6F941E3-32A6-4B21-A0EA-09A93F2E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90BF409-B604-4170-9A78-B5416245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449024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5" name="3">
            <a:extLst xmlns:a="http://schemas.openxmlformats.org/drawingml/2006/main">
              <a:ext uri="{FF2B5EF4-FFF2-40B4-BE49-F238E27FC236}">
                <a16:creationId xmlns:a16="http://schemas.microsoft.com/office/drawing/2014/main" id="{E36FB345-3D3E-4293-B01E-EAFCF5C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6" name="3">
            <a:extLst xmlns:a="http://schemas.openxmlformats.org/drawingml/2006/main">
              <a:ext uri="{FF2B5EF4-FFF2-40B4-BE49-F238E27FC236}">
                <a16:creationId xmlns:a16="http://schemas.microsoft.com/office/drawing/2014/main" id="{8F19A73D-D14E-44FA-92FD-73E6A25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559992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B4ADE51-ED82-46B5-B213-0E1C808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C247C51-6C59-4B5F-B002-6B37BDA8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5C3BDCA-A5CE-40C0-AEE2-D49924BD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0" name="×">
            <a:extLst xmlns:a="http://schemas.openxmlformats.org/drawingml/2006/main">
              <a:ext uri="{FF2B5EF4-FFF2-40B4-BE49-F238E27FC236}">
                <a16:creationId xmlns:a16="http://schemas.microsoft.com/office/drawing/2014/main" id="{F12DA199-144C-4097-BE34-76D59A72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549669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C13939E-B647-4728-9009-90A9AE12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4329114-5D56-46BE-BBC7-6FF38FB8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DA8284D-AF4B-428B-BA89-27E812F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1153EE-2A13-4BBD-A29D-1872916C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CDA99F4-7A5D-4C5E-8656-1496BAB9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55483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6" name="4">
            <a:extLst xmlns:a="http://schemas.openxmlformats.org/drawingml/2006/main">
              <a:ext uri="{FF2B5EF4-FFF2-40B4-BE49-F238E27FC236}">
                <a16:creationId xmlns:a16="http://schemas.microsoft.com/office/drawing/2014/main" id="{271781AA-7FE4-41F4-920F-F0705A9A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7" name="4">
            <a:extLst xmlns:a="http://schemas.openxmlformats.org/drawingml/2006/main">
              <a:ext uri="{FF2B5EF4-FFF2-40B4-BE49-F238E27FC236}">
                <a16:creationId xmlns:a16="http://schemas.microsoft.com/office/drawing/2014/main" id="{FDD66F61-F8EE-46A0-B363-0F589DA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665798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7F5DBBB-112A-47DF-A1C7-8247E86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464A174-C029-4201-89FE-0DE06C9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7389914-74E2-4A58-8927-4A56D016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C2640B7-6194-414C-A3A7-39081195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2" name="×">
            <a:extLst xmlns:a="http://schemas.openxmlformats.org/drawingml/2006/main">
              <a:ext uri="{FF2B5EF4-FFF2-40B4-BE49-F238E27FC236}">
                <a16:creationId xmlns:a16="http://schemas.microsoft.com/office/drawing/2014/main" id="{B9BE3170-709D-4ED9-BDCA-0CA04106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655475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45FF630-97AE-424A-95A2-956D13B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60B3CB8-BCAB-43A8-9F4E-69C34F4B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1924554-BF33-48E1-8575-A46FF2D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C4941D-0779-4221-BBE7-7F413C4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660637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37" name="5">
            <a:extLst xmlns:a="http://schemas.openxmlformats.org/drawingml/2006/main">
              <a:ext uri="{FF2B5EF4-FFF2-40B4-BE49-F238E27FC236}">
                <a16:creationId xmlns:a16="http://schemas.microsoft.com/office/drawing/2014/main" id="{311D8324-FD10-4B5F-9F49-0740E77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8" name="5">
            <a:extLst xmlns:a="http://schemas.openxmlformats.org/drawingml/2006/main">
              <a:ext uri="{FF2B5EF4-FFF2-40B4-BE49-F238E27FC236}">
                <a16:creationId xmlns:a16="http://schemas.microsoft.com/office/drawing/2014/main" id="{8FE51466-A443-4857-8357-A66CA30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771604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FB17C76-C946-4C65-B6F2-CBC821F7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E729B86-77AB-400E-9D3E-30559932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E7B7A27-85D0-44AD-9148-A1847C8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2B0B439-CD39-4D17-A48C-A96BD4B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C54D95-DB16-4D63-B2B2-011CE38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4" name="×">
            <a:extLst xmlns:a="http://schemas.openxmlformats.org/drawingml/2006/main">
              <a:ext uri="{FF2B5EF4-FFF2-40B4-BE49-F238E27FC236}">
                <a16:creationId xmlns:a16="http://schemas.microsoft.com/office/drawing/2014/main" id="{ECD6EB84-2638-4988-BF53-534B6A1B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761282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E8EF10-AC96-427B-8EEC-C118E658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922C7F3-6A57-4276-B977-50C19DD3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1311D8E-B809-4E22-8CBF-BCB558F4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766443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48" name="6">
            <a:extLst xmlns:a="http://schemas.openxmlformats.org/drawingml/2006/main">
              <a:ext uri="{FF2B5EF4-FFF2-40B4-BE49-F238E27FC236}">
                <a16:creationId xmlns:a16="http://schemas.microsoft.com/office/drawing/2014/main" id="{7D152973-2A2F-4F6C-A346-48F18F7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49" name="6">
            <a:extLst xmlns:a="http://schemas.openxmlformats.org/drawingml/2006/main">
              <a:ext uri="{FF2B5EF4-FFF2-40B4-BE49-F238E27FC236}">
                <a16:creationId xmlns:a16="http://schemas.microsoft.com/office/drawing/2014/main" id="{628EF0C0-E209-4814-B894-B273FED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877410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42BB66C-7843-4D0C-A65A-B20F318C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9DF6D83-6EBA-4091-9830-6B45A53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BE5F464-D2F3-4B37-978E-605F28B8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665FE3-EED5-4A94-B8E3-8771A590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0D7CACB-B9BE-469B-8475-46D9783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5CA37E-2E61-4413-9021-9C272E38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6" name="×">
            <a:extLst xmlns:a="http://schemas.openxmlformats.org/drawingml/2006/main">
              <a:ext uri="{FF2B5EF4-FFF2-40B4-BE49-F238E27FC236}">
                <a16:creationId xmlns:a16="http://schemas.microsoft.com/office/drawing/2014/main" id="{D9D46BAE-4C48-4EA1-8D13-F128B714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867088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21F444-4FD0-4BEB-ABBE-E3E9C50F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3FF080-0D4A-41BD-9BE2-72E73B83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872249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59" name="7">
            <a:extLst xmlns:a="http://schemas.openxmlformats.org/drawingml/2006/main">
              <a:ext uri="{FF2B5EF4-FFF2-40B4-BE49-F238E27FC236}">
                <a16:creationId xmlns:a16="http://schemas.microsoft.com/office/drawing/2014/main" id="{6023A482-7A52-47F3-A4AC-8940503E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0" name="7">
            <a:extLst xmlns:a="http://schemas.openxmlformats.org/drawingml/2006/main">
              <a:ext uri="{FF2B5EF4-FFF2-40B4-BE49-F238E27FC236}">
                <a16:creationId xmlns:a16="http://schemas.microsoft.com/office/drawing/2014/main" id="{9562954B-D28B-4400-8C48-25C9A4A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2983216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0EDCF3B-0B0C-48EA-85FB-D427BF7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A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C029931-E283-4AFD-8FBF-004C1441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9DAF18-8C18-4E84-805B-2B3C2411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99A18E-4E2E-4E09-B2DB-731D984E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149DEB8-65E4-4BFE-A6AB-74705F3C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1D72E2B-C192-4CBC-89F4-900533A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B541F39-A17B-4339-BB18-92C2CC20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68" name="×">
            <a:extLst xmlns:a="http://schemas.openxmlformats.org/drawingml/2006/main">
              <a:ext uri="{FF2B5EF4-FFF2-40B4-BE49-F238E27FC236}">
                <a16:creationId xmlns:a16="http://schemas.microsoft.com/office/drawing/2014/main" id="{C3457DE9-FF04-4A4E-85F6-83DFB2CA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2972894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29811B-D62E-4898-8C8E-F41AF9B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978055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0" name="8">
            <a:extLst xmlns:a="http://schemas.openxmlformats.org/drawingml/2006/main">
              <a:ext uri="{FF2B5EF4-FFF2-40B4-BE49-F238E27FC236}">
                <a16:creationId xmlns:a16="http://schemas.microsoft.com/office/drawing/2014/main" id="{861A3C7A-0852-454D-985C-2F7132BB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2219348"/>
            <a:ext cx="108387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1" name="8">
            <a:extLst xmlns:a="http://schemas.openxmlformats.org/drawingml/2006/main">
              <a:ext uri="{FF2B5EF4-FFF2-40B4-BE49-F238E27FC236}">
                <a16:creationId xmlns:a16="http://schemas.microsoft.com/office/drawing/2014/main" id="{991373B9-2643-42C5-8DD1-6BFCABAA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3089022"/>
            <a:ext cx="113548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22"/>
          </a:bodyPr>
          <a:lstStyle xmlns:a="http://schemas.openxmlformats.org/drawingml/2006/main"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B5F62FA-905A-48FC-B423-63001849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842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46D5835-757B-4DEC-A754-78B7BE49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29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A8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D82B5CE-C7BC-47A6-9B40-BC0D92E4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616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FB9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25D7186-1208-4056-8A9B-C21FA7F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03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3C7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7DDC1F2-3429-43BA-B048-70BA927C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89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DDA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B542FC8-9A7D-498F-95E4-4D9BA00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776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BDF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79FC10-E2E9-4E51-8D4A-42C6C7E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3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9CD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CA34AF0-36BE-4410-BD56-AA586004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3083861"/>
            <a:ext cx="108387" cy="105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C1"/>
          </a:solidFill>
          <a:ln xmlns:a="http://schemas.openxmlformats.org/drawingml/2006/main" w="1806">
            <a:solidFill>
              <a:srgbClr val="C5D7E5"/>
            </a:solidFill>
            <a:prstDash val="solid"/>
          </a:ln>
        </p:spPr>
      </p:sp>
      <p:sp>
        <p:nvSpPr>
          <p:cNvPr id="280" name="×">
            <a:extLst xmlns:a="http://schemas.openxmlformats.org/drawingml/2006/main">
              <a:ext uri="{FF2B5EF4-FFF2-40B4-BE49-F238E27FC236}">
                <a16:creationId xmlns:a16="http://schemas.microsoft.com/office/drawing/2014/main" id="{A63B4E3C-D966-4AC3-916B-9C2D24B5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550" y="3078700"/>
            <a:ext cx="108387" cy="10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81" name="dᵢⱼ">
            <a:extLst xmlns:a="http://schemas.openxmlformats.org/drawingml/2006/main">
              <a:ext uri="{FF2B5EF4-FFF2-40B4-BE49-F238E27FC236}">
                <a16:creationId xmlns:a16="http://schemas.microsoft.com/office/drawing/2014/main" id="{545AA2A6-493F-46D5-9E28-1307D91A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323" y="2260638"/>
            <a:ext cx="175483" cy="11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</a:t>
            </a:r>
          </a:p>
        </p:txBody>
      </p:sp>
      <p:sp>
        <p:nvSpPr>
          <p:cNvPr id="2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2FACA13-20BC-4C85-B60D-C655516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194" y="2394831"/>
            <a:ext cx="77419" cy="70709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E609E"/>
              </a:gs>
              <a:gs pos="100000">
                <a:srgbClr val="D2E6F4"/>
              </a:gs>
            </a:gsLst>
            <a:lin ang="5400000"/>
          </a:gradFill>
          <a:ln xmlns:a="http://schemas.openxmlformats.org/drawingml/2006/main" w="3097">
            <a:solidFill>
              <a:srgbClr val="B6CADB"/>
            </a:solidFill>
            <a:prstDash val="solid"/>
          </a:ln>
        </p:spPr>
      </p:sp>
      <p:sp>
        <p:nvSpPr>
          <p:cNvPr id="283" name="high">
            <a:extLst xmlns:a="http://schemas.openxmlformats.org/drawingml/2006/main">
              <a:ext uri="{FF2B5EF4-FFF2-40B4-BE49-F238E27FC236}">
                <a16:creationId xmlns:a16="http://schemas.microsoft.com/office/drawing/2014/main" id="{14F2445F-4E25-4D39-8CD0-DC0DEAEB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03" y="2405154"/>
            <a:ext cx="149677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high</a:t>
            </a:r>
          </a:p>
        </p:txBody>
      </p:sp>
      <p:sp>
        <p:nvSpPr>
          <p:cNvPr id="284" name="low">
            <a:extLst xmlns:a="http://schemas.openxmlformats.org/drawingml/2006/main">
              <a:ext uri="{FF2B5EF4-FFF2-40B4-BE49-F238E27FC236}">
                <a16:creationId xmlns:a16="http://schemas.microsoft.com/office/drawing/2014/main" id="{04A9FB9D-F2F5-437F-84D1-81C503C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03" y="3019345"/>
            <a:ext cx="149677" cy="108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low</a:t>
            </a:r>
          </a:p>
        </p:txBody>
      </p:sp>
      <p:sp>
        <p:nvSpPr>
          <p:cNvPr id="285" name="Diagonal masked (no self-relation)">
            <a:extLst xmlns:a="http://schemas.openxmlformats.org/drawingml/2006/main">
              <a:ext uri="{FF2B5EF4-FFF2-40B4-BE49-F238E27FC236}">
                <a16:creationId xmlns:a16="http://schemas.microsoft.com/office/drawing/2014/main" id="{E7E2275A-4C16-4AE5-B8C2-0940C9A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3277409"/>
            <a:ext cx="1378060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Diagonal masked (no self-relation)</a:t>
            </a:r>
          </a:p>
        </p:txBody>
      </p:sp>
      <p:sp>
        <p:nvSpPr>
          <p:cNvPr id="286" name="All other windows are neighbors">
            <a:extLst xmlns:a="http://schemas.openxmlformats.org/drawingml/2006/main">
              <a:ext uri="{FF2B5EF4-FFF2-40B4-BE49-F238E27FC236}">
                <a16:creationId xmlns:a16="http://schemas.microsoft.com/office/drawing/2014/main" id="{EE73D0FF-D00D-45B2-90BD-DA6396F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88" y="3401280"/>
            <a:ext cx="1378060" cy="11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</a:t>
            </a:r>
          </a:p>
        </p:txBody>
      </p:sp>
      <p:sp>
        <p:nvSpPr>
          <p:cNvPr id="2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97A58A8-2305-4B53-9A47-5BCDE201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677" y="2229670"/>
            <a:ext cx="1176770" cy="1326447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3871">
            <a:solidFill>
              <a:srgbClr val="C3DDF3"/>
            </a:solidFill>
            <a:prstDash val="solid"/>
          </a:ln>
        </p:spPr>
      </p:sp>
      <p:sp>
        <p:nvSpPr>
          <p:cNvPr id="288" name="dᵢⱼ =">
            <a:extLst xmlns:a="http://schemas.openxmlformats.org/drawingml/2006/main">
              <a:ext uri="{FF2B5EF4-FFF2-40B4-BE49-F238E27FC236}">
                <a16:creationId xmlns:a16="http://schemas.microsoft.com/office/drawing/2014/main" id="{E952C16D-0443-45E2-BA8F-B2AF7225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96" y="2379347"/>
            <a:ext cx="283870" cy="15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 =</a:t>
            </a:r>
          </a:p>
        </p:txBody>
      </p:sp>
      <p:sp>
        <p:nvSpPr>
          <p:cNvPr id="289" name="1">
            <a:extLst xmlns:a="http://schemas.openxmlformats.org/drawingml/2006/main">
              <a:ext uri="{FF2B5EF4-FFF2-40B4-BE49-F238E27FC236}">
                <a16:creationId xmlns:a16="http://schemas.microsoft.com/office/drawing/2014/main" id="{79C1CEBA-88AD-4877-AB6B-6B6ED6E5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127" y="2332896"/>
            <a:ext cx="129032" cy="110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227"/>
          </a:bodyPr>
          <a:lstStyle xmlns:a="http://schemas.openxmlformats.org/drawingml/2006/main"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9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3D3ACCA3-7F89-4F0E-8EB6-86D831F2B3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03611" y="2461876"/>
            <a:ext cx="98064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291" name="18">
            <a:extLst xmlns:a="http://schemas.openxmlformats.org/drawingml/2006/main">
              <a:ext uri="{FF2B5EF4-FFF2-40B4-BE49-F238E27FC236}">
                <a16:creationId xmlns:a16="http://schemas.microsoft.com/office/drawing/2014/main" id="{B7EAECAC-D7C0-4B19-82F6-7CEE59C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127" y="2469773"/>
            <a:ext cx="129032" cy="110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9227"/>
          </a:bodyPr>
          <a:lstStyle xmlns:a="http://schemas.openxmlformats.org/drawingml/2006/main"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2" name="∑">
            <a:extLst xmlns:a="http://schemas.openxmlformats.org/drawingml/2006/main">
              <a:ext uri="{FF2B5EF4-FFF2-40B4-BE49-F238E27FC236}">
                <a16:creationId xmlns:a16="http://schemas.microsoft.com/office/drawing/2014/main" id="{2C7DA7CF-F5D9-4AFF-AEF9-DB76D35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482" y="2332896"/>
            <a:ext cx="201290" cy="232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04"/>
          </a:bodyPr>
          <a:lstStyle xmlns:a="http://schemas.openxmlformats.org/drawingml/2006/main">
            <a:def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293" name="18">
            <a:extLst xmlns:a="http://schemas.openxmlformats.org/drawingml/2006/main">
              <a:ext uri="{FF2B5EF4-FFF2-40B4-BE49-F238E27FC236}">
                <a16:creationId xmlns:a16="http://schemas.microsoft.com/office/drawing/2014/main" id="{13B81F44-F733-47E0-9DE9-C6D1B3F8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95" y="2260638"/>
            <a:ext cx="149677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4" name="k=1">
            <a:extLst xmlns:a="http://schemas.openxmlformats.org/drawingml/2006/main">
              <a:ext uri="{FF2B5EF4-FFF2-40B4-BE49-F238E27FC236}">
                <a16:creationId xmlns:a16="http://schemas.microsoft.com/office/drawing/2014/main" id="{CE245E2F-3CE1-4A9C-9963-F7C2B0FA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998" y="2559992"/>
            <a:ext cx="221935" cy="10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k=1</a:t>
            </a:r>
          </a:p>
        </p:txBody>
      </p:sp>
      <p:sp>
        <p:nvSpPr>
          <p:cNvPr id="295" name="(uᵢₖ − uⱼₖ)²">
            <a:extLst xmlns:a="http://schemas.openxmlformats.org/drawingml/2006/main">
              <a:ext uri="{FF2B5EF4-FFF2-40B4-BE49-F238E27FC236}">
                <a16:creationId xmlns:a16="http://schemas.microsoft.com/office/drawing/2014/main" id="{0DC79FA8-254B-4BCC-BA61-0FE4523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965" y="2394831"/>
            <a:ext cx="469676" cy="165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009"/>
          </a:bodyPr>
          <a:lstStyle xmlns:a="http://schemas.openxmlformats.org/drawingml/2006/main"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(uᵢₖ − uⱼₖ)²</a:t>
            </a:r>
          </a:p>
        </p:txBody>
      </p:sp>
      <p:sp>
        <p:nvSpPr>
          <p:cNvPr id="296" name="p(j | i) =">
            <a:extLst xmlns:a="http://schemas.openxmlformats.org/drawingml/2006/main">
              <a:ext uri="{FF2B5EF4-FFF2-40B4-BE49-F238E27FC236}">
                <a16:creationId xmlns:a16="http://schemas.microsoft.com/office/drawing/2014/main" id="{EBDAF7A2-0C2B-451F-A4AC-E5829772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290" y="2776765"/>
            <a:ext cx="459353" cy="175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p(j | i) =</a:t>
            </a:r>
          </a:p>
        </p:txBody>
      </p:sp>
      <p:sp>
        <p:nvSpPr>
          <p:cNvPr id="297" name="exp(−dᵢⱼ / τₐ)">
            <a:extLst xmlns:a="http://schemas.openxmlformats.org/drawingml/2006/main">
              <a:ext uri="{FF2B5EF4-FFF2-40B4-BE49-F238E27FC236}">
                <a16:creationId xmlns:a16="http://schemas.microsoft.com/office/drawing/2014/main" id="{6A5349B9-A768-4F2B-9CFE-4C8B548A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159" y="2689024"/>
            <a:ext cx="650321" cy="132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exp(−dᵢⱼ / τₐ)</a:t>
            </a:r>
          </a:p>
        </p:txBody>
      </p:sp>
      <p:cxnSp>
        <p:nvCxnSpPr>
          <p:cNvPr id="29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4312D20-D465-4197-A349-B23FB3C875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32643" y="2843294"/>
            <a:ext cx="619353" cy="0"/>
          </a:xfrm>
          <a:prstGeom xmlns:a="http://schemas.openxmlformats.org/drawingml/2006/main" prst="straightConnector1">
            <a:avLst/>
          </a:prstGeom>
          <a:ln xmlns:a="http://schemas.openxmlformats.org/drawingml/2006/main" w="5677">
            <a:solidFill>
              <a:srgbClr val="061A3C"/>
            </a:solidFill>
            <a:prstDash val="solid"/>
          </a:ln>
        </p:spPr>
      </p:cxnSp>
      <p:sp>
        <p:nvSpPr>
          <p:cNvPr id="299" name="∑ₖ≠ᵢ exp(−dᵢₖ / τₐ)">
            <a:extLst xmlns:a="http://schemas.openxmlformats.org/drawingml/2006/main">
              <a:ext uri="{FF2B5EF4-FFF2-40B4-BE49-F238E27FC236}">
                <a16:creationId xmlns:a16="http://schemas.microsoft.com/office/drawing/2014/main" id="{D40D89C2-B2C3-400F-AB41-2B10E028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159" y="2852739"/>
            <a:ext cx="650321" cy="132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5283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∑ₖ≠ᵢ exp(−dᵢₖ / τₐ)</a:t>
            </a:r>
          </a:p>
        </p:txBody>
      </p:sp>
      <p:sp>
        <p:nvSpPr>
          <p:cNvPr id="300" name="for j ≠ i">
            <a:extLst xmlns:a="http://schemas.openxmlformats.org/drawingml/2006/main">
              <a:ext uri="{FF2B5EF4-FFF2-40B4-BE49-F238E27FC236}">
                <a16:creationId xmlns:a16="http://schemas.microsoft.com/office/drawing/2014/main" id="{1979637F-20D6-42CD-BBE6-E28A9E79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127" y="3081281"/>
            <a:ext cx="717417" cy="13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796"/>
          </a:bodyPr>
          <a:lstStyle xmlns:a="http://schemas.openxmlformats.org/drawingml/2006/main"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j ≠ i</a:t>
            </a:r>
          </a:p>
        </p:txBody>
      </p:sp>
      <p:sp>
        <p:nvSpPr>
          <p:cNvPr id="301" name="τₐ: frozen temperature">
            <a:extLst xmlns:a="http://schemas.openxmlformats.org/drawingml/2006/main">
              <a:ext uri="{FF2B5EF4-FFF2-40B4-BE49-F238E27FC236}">
                <a16:creationId xmlns:a16="http://schemas.microsoft.com/office/drawing/2014/main" id="{683370FD-FB9F-439C-A0BB-7F703251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96" y="3215474"/>
            <a:ext cx="1037416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7"/>
          </a:bodyPr>
          <a:lstStyle xmlns:a="http://schemas.openxmlformats.org/drawingml/2006/main"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τₐ: frozen temperature</a:t>
            </a:r>
          </a:p>
        </p:txBody>
      </p:sp>
      <p:sp>
        <p:nvSpPr>
          <p:cNvPr id="302" name="(teacher and student share τₐ)">
            <a:extLst xmlns:a="http://schemas.openxmlformats.org/drawingml/2006/main">
              <a:ext uri="{FF2B5EF4-FFF2-40B4-BE49-F238E27FC236}">
                <a16:creationId xmlns:a16="http://schemas.microsoft.com/office/drawing/2014/main" id="{1E9094BA-FE7F-4F60-BAF3-1AC36F1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5" y="3349667"/>
            <a:ext cx="1047739" cy="12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146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and student share τₐ)</a:t>
            </a:r>
          </a:p>
        </p:txBody>
      </p:sp>
      <p:sp>
        <p:nvSpPr>
          <p:cNvPr id="3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666A9D-FE59-4CA0-87E6-4D52500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004" y="3623214"/>
            <a:ext cx="2611605" cy="304515"/>
          </a:xfrm>
          <a:prstGeom xmlns:a="http://schemas.openxmlformats.org/drawingml/2006/main" prst="roundRect">
            <a:avLst>
              <a:gd name="adj" fmla="val 10169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889A0"/>
            </a:solidFill>
            <a:prstDash val="solid"/>
          </a:ln>
        </p:spPr>
      </p:sp>
      <p:sp>
        <p:nvSpPr>
          <p:cNvPr id="304" name="L_temp,a = mean_i KL(p^T(· | i) || p^S(· | i))">
            <a:extLst xmlns:a="http://schemas.openxmlformats.org/drawingml/2006/main">
              <a:ext uri="{FF2B5EF4-FFF2-40B4-BE49-F238E27FC236}">
                <a16:creationId xmlns:a16="http://schemas.microsoft.com/office/drawing/2014/main" id="{1C449188-9D64-4FE0-8051-E1EDE56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778" y="3710956"/>
            <a:ext cx="2503218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L_temp,a = mean_i KL(p^T(· | i) || p^S(· | i))</a:t>
            </a:r>
          </a:p>
        </p:txBody>
      </p:sp>
      <p:sp>
        <p:nvSpPr>
          <p:cNvPr id="305" name="All other windows are neighbors (diagonal masked).">
            <a:extLst xmlns:a="http://schemas.openxmlformats.org/drawingml/2006/main">
              <a:ext uri="{FF2B5EF4-FFF2-40B4-BE49-F238E27FC236}">
                <a16:creationId xmlns:a16="http://schemas.microsoft.com/office/drawing/2014/main" id="{F7066CF3-25FD-4EDB-AAC5-B6D34E1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72" y="3999987"/>
            <a:ext cx="25341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 (diagonal masked).</a:t>
            </a:r>
          </a:p>
        </p:txBody>
      </p:sp>
      <p:sp>
        <p:nvSpPr>
          <p:cNvPr id="3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EA959D-E50A-499E-BE92-E417EDCC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650321"/>
            <a:ext cx="1775478" cy="1300641"/>
          </a:xfrm>
          <a:prstGeom xmlns:a="http://schemas.openxmlformats.org/drawingml/2006/main" prst="roundRect">
            <a:avLst>
              <a:gd name="adj" fmla="val 2778"/>
            </a:avLst>
          </a:prstGeom>
          <a:gradFill xmlns:a="http://schemas.openxmlformats.org/drawingml/2006/main"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xmlns:a="http://schemas.openxmlformats.org/drawingml/2006/main" w="5161">
            <a:solidFill>
              <a:srgbClr val="F3D18C"/>
            </a:solidFill>
            <a:prstDash val="solid"/>
          </a:ln>
        </p:spPr>
      </p:sp>
      <p:sp>
        <p:nvSpPr>
          <p:cNvPr id="3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A7A761-18C1-4CE9-9CA9-4970D138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650321"/>
            <a:ext cx="1775478" cy="175483"/>
          </a:xfrm>
          <a:prstGeom xmlns:a="http://schemas.openxmlformats.org/drawingml/2006/main" prst="roundRect">
            <a:avLst>
              <a:gd name="adj" fmla="val 14706"/>
            </a:avLst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sp>
        <p:nvSpPr>
          <p:cNvPr id="308" name="Camera 1 (view 1)">
            <a:extLst xmlns:a="http://schemas.openxmlformats.org/drawingml/2006/main">
              <a:ext uri="{FF2B5EF4-FFF2-40B4-BE49-F238E27FC236}">
                <a16:creationId xmlns:a16="http://schemas.microsoft.com/office/drawing/2014/main" id="{3DC68C9C-1913-4B07-93A6-6E6F05F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676127"/>
            <a:ext cx="1723865" cy="1238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1 (view 1)</a:t>
            </a:r>
          </a:p>
        </p:txBody>
      </p:sp>
      <p:sp>
        <p:nvSpPr>
          <p:cNvPr id="309" name="Time 1 (future)">
            <a:extLst xmlns:a="http://schemas.openxmlformats.org/drawingml/2006/main">
              <a:ext uri="{FF2B5EF4-FFF2-40B4-BE49-F238E27FC236}">
                <a16:creationId xmlns:a16="http://schemas.microsoft.com/office/drawing/2014/main" id="{84400F71-545B-4B18-BD9C-CD6F50B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317" y="877417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310" name="Time 2 (future)">
            <a:extLst xmlns:a="http://schemas.openxmlformats.org/drawingml/2006/main">
              <a:ext uri="{FF2B5EF4-FFF2-40B4-BE49-F238E27FC236}">
                <a16:creationId xmlns:a16="http://schemas.microsoft.com/office/drawing/2014/main" id="{CCB0CE4B-F674-4EF6-B6ED-AE2FCDC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895" y="877417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3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0899F4E-191D-40A8-85BE-B2612884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EAE38F3-91B7-409D-97EB-EFF7C88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9046024-043B-4128-9FB0-FD773958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4D2298F-C293-45AA-AE37-03E00E3B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3997C13-DBCE-4836-8587-D792DF1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00D2935-F595-4D78-8902-FCBAFC49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D3424D6-DE79-4104-B473-29B9819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6CC36D5-128F-4195-B55D-C4A532CD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D9F8BB9-068E-48C8-A826-0FA23DBA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72416C5-53BE-4620-9600-F241720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B30C460-9531-406D-B655-90D6E08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BED9F2-3FEB-41E9-AA33-B5E68262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53AD3B6-0CE9-42A2-B6DE-BBFA45FF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1CF6198-9339-4A5E-810D-FE75EBB8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BEE39A-7118-4AA9-A9B0-0643FC4F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314CCC-48F5-4951-BCE7-A1160F7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A3DD1B8-5B25-4CA8-A2FF-2D1CAE14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754E66D-5324-4E7A-8C3E-01E1805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66BEACF-7EAF-427C-B3A8-6E1D4EDF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4F609A-B1B3-4D93-8794-AC5E7FB8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7299DC5-E429-454F-A436-2434C712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A5D7DF6-4436-456A-AFF7-3E6A3D67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D522E54-DA04-4371-B1C7-F8BA930D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ECF492-0B18-49A1-8E8F-6C5991A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09EAC7A-F0D7-447A-9BB5-22D89647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156"/>
          </a:solidFill>
          <a:ln xmlns:a="http://schemas.openxmlformats.org/drawingml/2006/main" w="7226">
            <a:solidFill>
              <a:srgbClr val="D74425"/>
            </a:solidFill>
            <a:prstDash val="solid"/>
          </a:ln>
        </p:spPr>
      </p:sp>
      <p:sp>
        <p:nvSpPr>
          <p:cNvPr id="3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DFDF273-E73F-455E-92DF-32F91D23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2326222-FF00-4F9F-BFBC-7BDF013E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EFA103-FE61-452F-A6CB-F13A189E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7DC1158-D0AE-4C50-8F26-995CED9D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EBACAC9-4741-4A01-ABD5-2864271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40442AE-43F3-4475-A636-AE23B22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7D0D036-F7B8-44F8-BEFF-B29EEDC3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9A0DCF8-8065-43F2-A345-FA55BF80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51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17886E5-DE93-4F37-AAEE-041F6EFA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B8CA4B-E3B7-493D-831F-8ACED6DD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7D98762-C106-4EA3-884D-688AF846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00C75AE-BE50-428A-81FC-D51DDC9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80F7DDA-576D-4044-A723-E73A2A78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137B582-2AD7-4DE0-B5FB-A5302005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367D77B-EE75-4022-A415-F8C4AA7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0A02D7E-493F-4F67-8272-64B4922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7DA89C6-15D5-4758-A2F4-4F11D78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9797E2-5EA8-4162-80E3-8083B15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D88C4F3-2827-4531-9669-431C8C6A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F04E19F-EA41-4F94-A5D8-B8820415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DF597D7-CDC5-4C41-9086-6440E56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09EFD01-1C79-40DF-B10B-EFE0162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1E2DBF1-D9BF-436C-9513-0C58C1E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948D688-2829-467A-99FB-63A3E5B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844B3E-E747-412F-8B38-6E0F7D7D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FDEAC42-5868-481D-8A88-D5097506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2942969-0648-484C-A099-CC16A5E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196AB46-4604-4B06-8A5C-BF5489E1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CE2019E-F25C-4B78-A0E6-A9E4AD8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6DA9EE3-714A-450D-87A1-C1CE2CFF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2AE2621-D8A1-4553-AF3D-A221A125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9909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368D6B-DA92-4988-BE6A-099F328E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1E193AA-AA7D-4AF6-A00C-F29CDE1B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8027013-9EFB-4F56-BD1E-858F3D9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76E8132-6246-45E2-B4ED-F530A06B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4DC48CE-7182-4FDD-A98D-CFA594B0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C726FFA-0717-4F55-83E1-1693214C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5645627-75D1-4D5F-B4FD-2E6AE59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0967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DAE0903-1123-44F4-8542-F3127A70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BD914A-5553-4408-9B61-71D8D11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558D190-63E5-4EB8-A1FA-194DDD1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3333BA8-0934-43EC-AB29-6E37D5C8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BBDB7A3-9AC2-4D67-8D64-F48DB9B6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E847ED1-92CA-48E9-9501-2712539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C18941D-D8B6-48C5-A189-871C9B5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20257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A2FD331-3178-4037-ACBC-78CC8AF1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4EBB591-726B-47CF-A0D8-7E12C8F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BC9458F-633D-4407-ACE5-12C78827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ED900F6-0DD9-47B1-9F24-5B06B4E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156"/>
          </a:solidFill>
          <a:ln xmlns:a="http://schemas.openxmlformats.org/drawingml/2006/main" w="7226">
            <a:solidFill>
              <a:srgbClr val="D74425"/>
            </a:solidFill>
            <a:prstDash val="solid"/>
          </a:ln>
        </p:spPr>
      </p:sp>
      <p:sp>
        <p:nvSpPr>
          <p:cNvPr id="3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B53DE25-FDA9-473C-98F3-5FD5B02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D96F4AD-9994-4537-8F43-4BC4CB4D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472216-417D-44B3-9FE1-E306F62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30838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E5693C-A4BE-4A25-8786-AEC329A6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000EE2-E074-4320-BB42-6F5D791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940E9A5-70CD-4E36-9F08-18707B4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40DAA8-3486-43E3-B831-FF76E248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4A3F0A7-59D6-4A12-9365-E869AE1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28AE9B4-0751-48EC-9829-0337736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D588991-FFE5-46EF-91AA-7CCEB10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41418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6938339-B943-4D63-98D9-10BBB07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EFB9C7-08B1-4684-B30C-EF6FB16F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D79212F-3DAB-467C-ACD6-F42B6355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F8F53EF-4E92-4DE5-A12D-18143A94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3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F1C141B-DD0F-40D5-A1C4-5A7285C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A13C742-E501-488D-A20C-EB14914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A6B845-D124-4A14-A1AD-91ED600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51999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3C5F7DE-C7E3-402A-ACCA-D54F3BA0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BA6D398-4BA9-4B0A-A9F4-4670617C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1F1FCC4-B5AF-4323-8A3E-F62C98BE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503CE82-7D6F-461A-A99A-513FDE42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BFA33C-B196-4BD2-9D2B-AFAD629E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1F2D99F-2864-4EE7-AF43-7B2EB08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189B3B-832C-41DA-8F89-5CDA99A7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162580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cxnSp>
        <p:nvCxnSpPr>
          <p:cNvPr id="40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A271294-5BD1-4118-BFD4-F736C4F0269E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6337156" y="1130319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0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8E75AD7-CF40-4DA0-891A-C3427F2A26C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64252" y="1130319"/>
            <a:ext cx="0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4EF27F3C-61D4-47BE-82D0-A90F7A137F2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64252" y="1130319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795934E-5B83-4C45-9918-207CAB0F52D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337156" y="1357415"/>
            <a:ext cx="227096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3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6887B949-5F58-445B-8BE1-A55E67507C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64252" y="1357415"/>
            <a:ext cx="227096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4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DEEB98B7-FDFE-4AFB-96D4-F9C750BC666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337156" y="1357415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5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0A12CD0-8DA5-4247-985C-A09421CEDD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64252" y="1357415"/>
            <a:ext cx="0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09DF70E-18CE-41DC-B5E7-2514FB27AB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64252" y="1357415"/>
            <a:ext cx="227096" cy="227096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7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5A8ABB96-AFCE-42FB-9810-05E5AD6A24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31348" y="1357415"/>
            <a:ext cx="753546" cy="0"/>
          </a:xfrm>
          <a:prstGeom xmlns:a="http://schemas.openxmlformats.org/drawingml/2006/main" prst="straightConnector1">
            <a:avLst/>
          </a:prstGeom>
          <a:ln xmlns:a="http://schemas.openxmlformats.org/drawingml/2006/main" w="8258">
            <a:solidFill>
              <a:srgbClr val="153B6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B502914-39ED-4F4A-9E3D-ACABE0E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2012897"/>
            <a:ext cx="1775478" cy="1300641"/>
          </a:xfrm>
          <a:prstGeom xmlns:a="http://schemas.openxmlformats.org/drawingml/2006/main" prst="roundRect">
            <a:avLst>
              <a:gd name="adj" fmla="val 2778"/>
            </a:avLst>
          </a:prstGeom>
          <a:gradFill xmlns:a="http://schemas.openxmlformats.org/drawingml/2006/main"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xmlns:a="http://schemas.openxmlformats.org/drawingml/2006/main" w="5161">
            <a:solidFill>
              <a:srgbClr val="F3D18C"/>
            </a:solidFill>
            <a:prstDash val="solid"/>
          </a:ln>
        </p:spPr>
      </p:sp>
      <p:sp>
        <p:nvSpPr>
          <p:cNvPr id="4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A8BCFE-22D8-4202-9D60-F13C0D94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2012897"/>
            <a:ext cx="1775478" cy="175483"/>
          </a:xfrm>
          <a:prstGeom xmlns:a="http://schemas.openxmlformats.org/drawingml/2006/main" prst="roundRect">
            <a:avLst>
              <a:gd name="adj" fmla="val 14706"/>
            </a:avLst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5161">
            <a:noFill/>
            <a:prstDash val="solid"/>
          </a:ln>
        </p:spPr>
      </p:sp>
      <p:sp>
        <p:nvSpPr>
          <p:cNvPr id="420" name="Camera 2 (view 2)">
            <a:extLst xmlns:a="http://schemas.openxmlformats.org/drawingml/2006/main">
              <a:ext uri="{FF2B5EF4-FFF2-40B4-BE49-F238E27FC236}">
                <a16:creationId xmlns:a16="http://schemas.microsoft.com/office/drawing/2014/main" id="{66006467-6D71-4E8A-9144-6D5AD445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2038703"/>
            <a:ext cx="1723865" cy="1238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95287"/>
          </a:bodyPr>
          <a:lstStyle xmlns:a="http://schemas.openxmlformats.org/drawingml/2006/main"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2 (view 2)</a:t>
            </a:r>
          </a:p>
        </p:txBody>
      </p:sp>
      <p:sp>
        <p:nvSpPr>
          <p:cNvPr id="421" name="Time 1 (future)">
            <a:extLst xmlns:a="http://schemas.openxmlformats.org/drawingml/2006/main">
              <a:ext uri="{FF2B5EF4-FFF2-40B4-BE49-F238E27FC236}">
                <a16:creationId xmlns:a16="http://schemas.microsoft.com/office/drawing/2014/main" id="{3334E8EF-CE2B-47C8-A7B1-B4C26C4D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317" y="2239993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422" name="Time 2 (future)">
            <a:extLst xmlns:a="http://schemas.openxmlformats.org/drawingml/2006/main">
              <a:ext uri="{FF2B5EF4-FFF2-40B4-BE49-F238E27FC236}">
                <a16:creationId xmlns:a16="http://schemas.microsoft.com/office/drawing/2014/main" id="{70457014-075B-4C61-B2F9-4D4113B6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895" y="2239993"/>
            <a:ext cx="748385" cy="123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76"/>
          </a:bodyPr>
          <a:lstStyle xmlns:a="http://schemas.openxmlformats.org/drawingml/2006/main"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4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CFFF8BF-89AD-4353-AD28-89C52C5F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47CD45E-6280-458A-9E09-1BD8E46D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10C47B9-FF47-4715-9B22-95701349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2BF625B-E8D5-4C6D-940E-2156EE50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31D8B0E-C575-4F0F-932A-5464B13A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3CC7AD-17E3-4DAC-83D4-343DC25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FAAE51E-5111-413A-9481-3BCD0D77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0E0CAD2-2F43-4328-A7B7-2969B1F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2CD9E95-02A5-4BCD-81AC-ED49A35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06193DF-573D-4EC7-96C3-37FE264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894B335-FE80-4F9A-B6F9-9B4FE782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6A46965-59C0-4278-8A68-F410220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89AAEBC-CB1B-4775-B920-83A68D5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641813A-4DC1-442A-A881-386D5233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D613147-0E72-4FCD-8E30-281EAAC6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048AED-4FAF-4F07-B203-09DF9552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C83E478-D84A-4ADD-9CB8-CDC06FD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ACB66B-93C0-4505-A19B-C9891F93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8B88507-EB1E-4D7E-B627-AF576E11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2F2526D-01CA-43BE-8F70-E717C382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EB2513-58D6-4370-A160-4E7882F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A2C8C68-80FC-429F-A606-99B5DCE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C7DFC89-E68C-4E06-988D-04ABDD1E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07A76F1-EBB1-4DDC-9939-D0C89B6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2DAF3D-149F-4625-BF01-88F870B9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F2C94F5-CE53-434A-A83B-67C34057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444CA7F-BD00-4636-87E7-E155FB1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9A57028-049A-4AF1-BC94-B8AC178B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B128AC-F4EA-4838-ABB7-7C597914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80893E0-0FCB-43DD-BAFB-C2CF16E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C05DF84-B5EB-47CA-9B22-87366DF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06BE50C-49F4-4390-B308-85DAFD29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EDCC1F6-82FC-47E1-8B35-754E83FE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08AEDB1-C47F-4B96-950A-E529D11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5866E65-F263-4341-BCF7-D73214E5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9572A4F-6B27-4E99-A7FA-E906A8E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AFDFB3-A2D2-408E-96B7-175B5585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0D549D4-0CF5-49D1-940D-E1CE07F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CA2C165-9708-4B62-A012-908FC39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FB98602-E23D-43A2-9B18-1A772F62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5F8458-F7AE-4487-8D4A-24F9656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EA7119-778A-45A6-941F-8D36A9E8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08385A-8C98-475C-8D77-897D71A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01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BA67E8-87D4-46CE-A863-A15CDDF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07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C07472-7827-46FB-B25D-D5A3E22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414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E4D65B-51AC-4F9B-A63F-9E849A1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20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7EDFE71-602A-45ED-99B0-C056303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026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74AB7FB-B0FE-4A82-BE44-0F2F2B4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2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1102211-E290-4EAD-B78D-3B0C0914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38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F79BFBD-77D9-4A18-9707-24395453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6D0C071-63C6-41F3-87A7-691EE650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5F9723A-5CB7-43F1-A869-65D7890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E9727C1-D823-4DA2-BAF5-48E7644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1F565EE-88C1-4DDA-997F-2831193D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E0C5C03-FC71-4E91-B8B2-882A947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922A88C-23AE-4E1F-A941-9F06CB04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35354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0A0A740-85DA-42EC-A107-54093DD1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A2E71A0-FF75-4FDF-92A1-07B78A6A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7EF142-5E0B-4F96-AC8D-758A8AD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00884E3-D42A-4420-A072-C3077029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D2131B0-FAF2-4F53-873A-BEB87A77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106F72E-C645-40AC-B800-DDF7BFC9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E26DB6D-EFFC-40BE-AF2E-44079436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459347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60C7CBD-7CD6-47F6-B585-71898689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1BF652F-0D95-4AE9-AA23-E554E60D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DD61379-E374-467A-BA54-76127117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388E030-32B5-4596-87F0-5672FDFF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B52F287-D062-4553-A424-0E8B159C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4801EC-676F-4711-A0B2-DFFF8CDA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ACFF178-8394-4005-96E6-EE5A5A4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565153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0B80746-6A98-4B1B-AA85-DB1BF28F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589E841-10E9-42C8-B76B-8F0F20FB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39A9813-1D22-4DDD-849C-BE00CCF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9711C13-07C8-45F9-BA88-0C48EDB7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F30282D-3BEA-4C51-9D67-60F84CE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80B5876-12F6-4918-93B9-6C85E7A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4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8D9701-2064-4088-BAC9-B52E84D2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670959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85BBA2B-3C21-43FD-B107-D9BE2930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1026E94-5057-41E2-89E5-9AA61515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6E0AF3-5111-4ECF-BC2B-80AB7ECD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7F7B0F6-CCE6-4519-A872-D0D48486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085128B-6074-4ADE-ADF3-1CC7BE1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72CCB82-D1C3-43DB-B6A8-A1B44E57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8B46CEB-2F2C-4C19-868A-BE2B5B0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776765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9B4AF12-5CA3-4354-9371-4635685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DA5EFD-C239-41FC-B72D-FF10EAB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68BA51B-9E8B-49EB-BED9-445D1CF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10D472C-32DC-47F1-8009-B19BA6D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FB29DF8-BB93-4EB4-ADA2-CE1F0AE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BB13FF8-5653-47A8-96F8-22506F6A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2F8A087-3C72-4F17-B2E5-AE64CCD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882571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A98B496-1854-4568-8FEA-423C48E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379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57B6AC-4A57-40F5-B5E4-17D481AE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185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17E442B-16BD-4E9D-A6F1-D82FDE7C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1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496F2B-DB8C-44AC-9F21-34DD0E7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97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A759D78-A88C-4486-8672-C62F3509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604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6AAC18-122F-48D2-924B-811EEA7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410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E378AD2-1BE8-4A93-BC03-80B284C4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16" y="2988378"/>
            <a:ext cx="99096" cy="99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2839">
            <a:solidFill>
              <a:srgbClr val="F0A71C"/>
            </a:solidFill>
            <a:prstDash val="solid"/>
          </a:ln>
        </p:spPr>
      </p:sp>
      <p:sp>
        <p:nvSpPr>
          <p:cNvPr id="5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BA193B5-E559-4FA7-BE0D-CD3749EC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860" y="686449"/>
            <a:ext cx="908384" cy="1310964"/>
          </a:xfrm>
          <a:prstGeom xmlns:a="http://schemas.openxmlformats.org/drawingml/2006/main" prst="roundRect">
            <a:avLst>
              <a:gd name="adj" fmla="val 28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129">
            <a:solidFill>
              <a:srgbClr val="CBDFEE"/>
            </a:solidFill>
            <a:prstDash val="solid"/>
          </a:ln>
        </p:spPr>
      </p:sp>
      <p:sp>
        <p:nvSpPr>
          <p:cNvPr id="5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36650D-5A73-45EE-9516-395A0E6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57" y="758707"/>
            <a:ext cx="129032" cy="129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39"/>
          </a:solidFill>
          <a:ln xmlns:a="http://schemas.openxmlformats.org/drawingml/2006/main" w="4645">
            <a:solidFill>
              <a:srgbClr val="E8A321"/>
            </a:solidFill>
            <a:prstDash val="solid"/>
          </a:ln>
        </p:spPr>
      </p:sp>
      <p:sp>
        <p:nvSpPr>
          <p:cNvPr id="523" name="Latent token&#10;(48-D)">
            <a:extLst xmlns:a="http://schemas.openxmlformats.org/drawingml/2006/main">
              <a:ext uri="{FF2B5EF4-FFF2-40B4-BE49-F238E27FC236}">
                <a16:creationId xmlns:a16="http://schemas.microsoft.com/office/drawing/2014/main" id="{8B30B7D8-5A54-42D5-A8FB-D76271C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40" y="748385"/>
            <a:ext cx="609030" cy="227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6511"/>
          </a:bodyPr>
          <a:lstStyle xmlns:a="http://schemas.openxmlformats.org/drawingml/2006/main"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Latent token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(48-D)</a:t>
            </a:r>
          </a:p>
        </p:txBody>
      </p:sp>
      <p:sp>
        <p:nvSpPr>
          <p:cNvPr id="5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D5B9F1-97D6-40D4-B8CC-568C9CE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57" y="980642"/>
            <a:ext cx="129032" cy="1187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156"/>
          </a:solidFill>
          <a:ln xmlns:a="http://schemas.openxmlformats.org/drawingml/2006/main" w="4645">
            <a:solidFill>
              <a:srgbClr val="F35A36"/>
            </a:solidFill>
            <a:prstDash val="solid"/>
          </a:ln>
        </p:spPr>
      </p:sp>
      <p:sp>
        <p:nvSpPr>
          <p:cNvPr id="525" name="Selected location">
            <a:extLst xmlns:a="http://schemas.openxmlformats.org/drawingml/2006/main">
              <a:ext uri="{FF2B5EF4-FFF2-40B4-BE49-F238E27FC236}">
                <a16:creationId xmlns:a16="http://schemas.microsoft.com/office/drawing/2014/main" id="{7A47D8E9-0FDA-4176-9A8D-2C3032D0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40" y="985803"/>
            <a:ext cx="614192" cy="144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323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Selected location</a:t>
            </a:r>
          </a:p>
        </p:txBody>
      </p:sp>
      <p:cxnSp>
        <p:nvCxnSpPr>
          <p:cNvPr id="526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A620283E-CD50-4932-BA1D-0663008515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47473" y="1238706"/>
            <a:ext cx="175483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27" name="Temporal edge&#10;(same position,&#10;same camera only)">
            <a:extLst xmlns:a="http://schemas.openxmlformats.org/drawingml/2006/main">
              <a:ext uri="{FF2B5EF4-FFF2-40B4-BE49-F238E27FC236}">
                <a16:creationId xmlns:a16="http://schemas.microsoft.com/office/drawing/2014/main" id="{F37AD8C1-2972-421D-8FB3-404FE15B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924" y="1176770"/>
            <a:ext cx="609030" cy="33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6450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Temporal edge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position,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same camera only)</a:t>
            </a:r>
          </a:p>
        </p:txBody>
      </p:sp>
      <p:cxnSp>
        <p:nvCxnSpPr>
          <p:cNvPr id="528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80C5EF56-44D5-41C1-B124-45E1852442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35215" y="1486447"/>
            <a:ext cx="0" cy="211612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29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7C3AD7F9-2495-440A-9C6D-186B4260B6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37151" y="1594834"/>
            <a:ext cx="190967" cy="0"/>
          </a:xfrm>
          <a:prstGeom xmlns:a="http://schemas.openxmlformats.org/drawingml/2006/main" prst="straightConnector1">
            <a:avLst/>
          </a:prstGeom>
          <a:ln xmlns:a="http://schemas.openxmlformats.org/drawingml/2006/main"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30" name="8 spatial neighbors&#10;(same time)">
            <a:extLst xmlns:a="http://schemas.openxmlformats.org/drawingml/2006/main">
              <a:ext uri="{FF2B5EF4-FFF2-40B4-BE49-F238E27FC236}">
                <a16:creationId xmlns:a16="http://schemas.microsoft.com/office/drawing/2014/main" id="{36F3AB4F-355F-4CE8-A752-AABBC39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924" y="1548382"/>
            <a:ext cx="614192" cy="22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86983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spatial neighbors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time)</a:t>
            </a:r>
          </a:p>
        </p:txBody>
      </p:sp>
      <p:cxnSp>
        <p:nvCxnSpPr>
          <p:cNvPr id="531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B3223F9D-1CE3-411E-A393-19F62B4504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68118" y="1811607"/>
            <a:ext cx="98064" cy="98064"/>
          </a:xfrm>
          <a:prstGeom xmlns:a="http://schemas.openxmlformats.org/drawingml/2006/main" prst="straightConnector1">
            <a:avLst/>
          </a:prstGeom>
          <a:ln xmlns:a="http://schemas.openxmlformats.org/drawingml/2006/main" w="12387">
            <a:solidFill>
              <a:srgbClr val="F31627"/>
            </a:solidFill>
            <a:prstDash val="solid"/>
          </a:ln>
        </p:spPr>
      </p:cxnSp>
      <p:cxnSp>
        <p:nvCxnSpPr>
          <p:cNvPr id="532" name="native PowerPoint connector">
            <a:extLst xmlns:a="http://schemas.openxmlformats.org/drawingml/2006/main">
              <a:ext uri="{FF2B5EF4-FFF2-40B4-BE49-F238E27FC236}">
                <a16:creationId xmlns:a16="http://schemas.microsoft.com/office/drawing/2014/main" id="{0FFF1540-B1C6-4FE3-A51C-35CB99D91AB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68118" y="1811607"/>
            <a:ext cx="98064" cy="98064"/>
          </a:xfrm>
          <a:prstGeom xmlns:a="http://schemas.openxmlformats.org/drawingml/2006/main" prst="straightConnector1">
            <a:avLst/>
          </a:prstGeom>
          <a:ln xmlns:a="http://schemas.openxmlformats.org/drawingml/2006/main" w="12387">
            <a:solidFill>
              <a:srgbClr val="F31627"/>
            </a:solidFill>
            <a:prstDash val="solid"/>
          </a:ln>
        </p:spPr>
      </p:cxnSp>
      <p:sp>
        <p:nvSpPr>
          <p:cNvPr id="533" name="No cross-camera&#10;edges">
            <a:extLst xmlns:a="http://schemas.openxmlformats.org/drawingml/2006/main">
              <a:ext uri="{FF2B5EF4-FFF2-40B4-BE49-F238E27FC236}">
                <a16:creationId xmlns:a16="http://schemas.microsoft.com/office/drawing/2014/main" id="{25272A60-BEFB-467D-8EAF-51E69B1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924" y="1806446"/>
            <a:ext cx="609030" cy="211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4845"/>
          </a:bodyPr>
          <a:lstStyle xmlns:a="http://schemas.openxmlformats.org/drawingml/2006/main"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edges</a:t>
            </a:r>
          </a:p>
        </p:txBody>
      </p:sp>
      <p:sp>
        <p:nvSpPr>
          <p:cNvPr id="5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57EFFEF-85B9-4CC5-835A-C34643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022" y="2250315"/>
            <a:ext cx="903223" cy="552256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161">
            <a:solidFill>
              <a:srgbClr val="C3DFF6"/>
            </a:solidFill>
            <a:prstDash val="solid"/>
          </a:ln>
        </p:spPr>
      </p:sp>
      <p:sp>
        <p:nvSpPr>
          <p:cNvPr id="535" name="Each view’s original latent&#10;map is 14 × 14, pooled&#10;with 2 × 2 average pooli">
            <a:extLst xmlns:a="http://schemas.openxmlformats.org/drawingml/2006/main">
              <a:ext uri="{FF2B5EF4-FFF2-40B4-BE49-F238E27FC236}">
                <a16:creationId xmlns:a16="http://schemas.microsoft.com/office/drawing/2014/main" id="{6BEEBABC-9E18-4C79-BF1E-DAC736B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828" y="2276122"/>
            <a:ext cx="851610" cy="500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5446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view’s original latent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is 14 × 14, pooled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with 2 × 2 average pooling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7 × 7 (separately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each view).</a:t>
            </a:r>
          </a:p>
        </p:txBody>
      </p:sp>
      <p:sp>
        <p:nvSpPr>
          <p:cNvPr id="5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E4C262F-C172-4A74-9BF9-8F4EA1FA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931" y="3163861"/>
            <a:ext cx="2719991" cy="190967"/>
          </a:xfrm>
          <a:prstGeom xmlns:a="http://schemas.openxmlformats.org/drawingml/2006/main" prst="roundRect">
            <a:avLst>
              <a:gd name="adj" fmla="val 13514"/>
            </a:avLst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5161">
            <a:solidFill>
              <a:srgbClr val="EDCD8E"/>
            </a:solidFill>
            <a:prstDash val="solid"/>
          </a:ln>
        </p:spPr>
      </p:sp>
      <p:sp>
        <p:nvSpPr>
          <p:cNvPr id="537" name="2 future times × 2 views × 7 × 7 = 196 tokens, 48-D">
            <a:extLst xmlns:a="http://schemas.openxmlformats.org/drawingml/2006/main">
              <a:ext uri="{FF2B5EF4-FFF2-40B4-BE49-F238E27FC236}">
                <a16:creationId xmlns:a16="http://schemas.microsoft.com/office/drawing/2014/main" id="{E2DEB9D7-A54F-4647-AE5D-F7ADC8C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37" y="3189667"/>
            <a:ext cx="2668379" cy="13935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 future times × 2 views × 7 × 7 = 196 tokens, 48-D</a:t>
            </a:r>
          </a:p>
        </p:txBody>
      </p:sp>
      <p:sp>
        <p:nvSpPr>
          <p:cNvPr id="5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6714E7B-E8F5-4909-9146-D507F88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092" y="3427086"/>
            <a:ext cx="2719991" cy="283870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88CA0"/>
            </a:solidFill>
            <a:prstDash val="solid"/>
          </a:ln>
        </p:spPr>
      </p:sp>
      <p:sp>
        <p:nvSpPr>
          <p:cNvPr id="539" name="L_st,z = mean_i KL(p^T(· | i) || p^S(· | i))">
            <a:extLst xmlns:a="http://schemas.openxmlformats.org/drawingml/2006/main">
              <a:ext uri="{FF2B5EF4-FFF2-40B4-BE49-F238E27FC236}">
                <a16:creationId xmlns:a16="http://schemas.microsoft.com/office/drawing/2014/main" id="{7823E2BE-309D-4D30-B64D-54CEF04E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866" y="3494182"/>
            <a:ext cx="2606443" cy="18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L_st,z = mean_i KL(p^T(· | i) || p^S(· | i))</a:t>
            </a:r>
          </a:p>
        </p:txBody>
      </p:sp>
      <p:sp>
        <p:nvSpPr>
          <p:cNvPr id="540" name="8 local spatial neighbors + same-position temporal edge (same camera only).">
            <a:extLst xmlns:a="http://schemas.openxmlformats.org/drawingml/2006/main">
              <a:ext uri="{FF2B5EF4-FFF2-40B4-BE49-F238E27FC236}">
                <a16:creationId xmlns:a16="http://schemas.microsoft.com/office/drawing/2014/main" id="{6536528F-9E25-4437-86D5-6662E5D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447" y="3803859"/>
            <a:ext cx="2745798" cy="237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323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local spatial neighbors + same-position temporal edge (same camera only).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 edges.</a:t>
            </a:r>
          </a:p>
        </p:txBody>
      </p:sp>
      <p:sp>
        <p:nvSpPr>
          <p:cNvPr id="5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1A26A57-EE88-4DCE-8FFD-73BA73C2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35" y="4190954"/>
            <a:ext cx="7814169" cy="289031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xmlns:a="http://schemas.openxmlformats.org/drawingml/2006/main" w="5161">
            <a:solidFill>
              <a:srgbClr val="F66E8F"/>
            </a:solidFill>
            <a:prstDash val="solid"/>
          </a:ln>
        </p:spPr>
      </p:sp>
      <p:sp>
        <p:nvSpPr>
          <p:cNvPr id="542" name="L = αₐ (L_bin,a + βₐ L_temp,a) + λ α_z (L_bin,z + β_z L_st,z)">
            <a:extLst xmlns:a="http://schemas.openxmlformats.org/drawingml/2006/main">
              <a:ext uri="{FF2B5EF4-FFF2-40B4-BE49-F238E27FC236}">
                <a16:creationId xmlns:a16="http://schemas.microsoft.com/office/drawing/2014/main" id="{1B2845FF-72FF-4C4C-993F-77CCB24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39" y="4252890"/>
            <a:ext cx="6152239" cy="21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225"/>
          </a:bodyPr>
          <a:lstStyle xmlns:a="http://schemas.openxmlformats.org/drawingml/2006/main">
            <a:def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αₐ (L_bin,a + βₐ L_temp,a) + λ α_z (L_bin,z + β_z L_st,z)</a:t>
            </a:r>
          </a:p>
        </p:txBody>
      </p:sp>
      <p:sp>
        <p:nvSpPr>
          <p:cNvPr id="5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56830D1-8EDE-4CCE-A670-AB50514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88" y="4541921"/>
            <a:ext cx="4227083" cy="247741"/>
          </a:xfrm>
          <a:prstGeom xmlns:a="http://schemas.openxmlformats.org/drawingml/2006/main" prst="roundRect">
            <a:avLst>
              <a:gd name="adj" fmla="val 1041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5DFF6"/>
            </a:solidFill>
            <a:prstDash val="solid"/>
          </a:ln>
        </p:spPr>
      </p:sp>
      <p:sp>
        <p:nvSpPr>
          <p:cNvPr id="544" name="T: frozen teacher. S: quantized student. Shared frozen statistics and tempe">
            <a:extLst xmlns:a="http://schemas.openxmlformats.org/drawingml/2006/main">
              <a:ext uri="{FF2B5EF4-FFF2-40B4-BE49-F238E27FC236}">
                <a16:creationId xmlns:a16="http://schemas.microsoft.com/office/drawing/2014/main" id="{A00AAD90-7589-4D94-892A-11027C10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7" y="4578050"/>
            <a:ext cx="4154826" cy="17548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80975"/>
          </a:bodyPr>
          <a:lstStyle xmlns:a="http://schemas.openxmlformats.org/drawingml/2006/main">
            <a:def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T: frozen teacher. S: quantized student. Shared frozen statistics and temperatures.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Train D and clipping ratios. Soft-bin anchors values, relation KL constrains structure.</a:t>
            </a:r>
          </a:p>
        </p:txBody>
      </p:sp>
      <p:sp>
        <p:nvSpPr>
          <p:cNvPr id="5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C172A9F-5591-4C9C-B61B-C9D99E8C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61" y="4541921"/>
            <a:ext cx="4113535" cy="247741"/>
          </a:xfrm>
          <a:prstGeom xmlns:a="http://schemas.openxmlformats.org/drawingml/2006/main" prst="roundRect">
            <a:avLst>
              <a:gd name="adj" fmla="val 10417"/>
            </a:avLst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5161">
            <a:solidFill>
              <a:srgbClr val="C5DFF6"/>
            </a:solidFill>
            <a:prstDash val="solid"/>
          </a:ln>
        </p:spPr>
      </p:sp>
      <p:sp>
        <p:nvSpPr>
          <p:cNvPr id="546" name="Evidence: fixed-input fidelity. Rollout prediction and closed-loop gains aw">
            <a:extLst xmlns:a="http://schemas.openxmlformats.org/drawingml/2006/main">
              <a:ext uri="{FF2B5EF4-FFF2-40B4-BE49-F238E27FC236}">
                <a16:creationId xmlns:a16="http://schemas.microsoft.com/office/drawing/2014/main" id="{4C20B761-9655-41AC-A877-4AC63BB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451" y="4583211"/>
            <a:ext cx="4030955" cy="16516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Evidence: fixed-input fidelity. Rollout prediction and closed-loop gains await validation.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2026-10-20T16:14:06.0190000Z</dcterms:created>
  <dcterms:modified xsi:type="dcterms:W3CDTF">2026-10-20T16:14:06.0190000Z</dcterms:modified>
</coreProperties>
</file>