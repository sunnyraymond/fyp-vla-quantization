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634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本次汇报顺序：已实现方法 → 所有有代表性的本地 LIBERO+ 闭环结果 → future intervention → 旧 loss 与闭环的差距 → Soft-bin + relational KL → potential contributions 与下一步。所有闭环数据来自已完成本地报告，截止 20 October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当前实现：latent+action-aware Microscaling additive VQ，随后进行 per-input-channel D 和 per-Linear clipping ratio 的 refinement。沿用原第21页ImageGen设计，修正生成图中的不规范公式与输入标签；所有文字、公式、矩阵与箭头为PowerPoint原生可编辑对象，全部Times New Roman。Source: Weekly Slides/2026-10-21_assets/method-imagegen-reference.png。L_a为first10x6 motor MSE；L_z为生成future latent NMSE，observed frame0排除；L=L_a+lambda L_z，lambda=rho*c从初始calibration冻结。Student使用自己生成的future，不注入teacher future。Per-token动态A4，gripper不参与监督。当前执行decodedBF16+fakeA4+BF16KV，非nativeVQkernel。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 target Linear 共享两个 K=256,d=4 BF16 codebooks。每四个 scalar weight 使用两条 uint8 indices，core cost 为 16/4=4 bpw。每 output row 保留 BF16 RMS row gain r；沿 input dimension 每 32 个 weights 用一个 uint8 exponent，贡献 8/32=0.25 bpw。e_g=round(log2(block_RMS/r_row))，拟合中固定。有效预算含 codebooks、gains、tails 和 transforms，Fast-WAM row-scale≈4.020873，microscaling≈4.270878。Weight calibration 用 FP32 masters/STE 调整 BF16-stored books 与 row gains。</a:t>
            </a:r>
          </a:p>
          <a:p>
            <a:r>
              <a:t>Sources:</a:t>
            </a:r>
          </a:p>
          <a:p>
            <a:r>
              <a:t>D:/Downloads/Final Year Project/experiment/idea-validation/fastwam-vq-microscale/README.zh.md</a:t>
            </a:r>
          </a:p>
          <a:p>
            <a:r>
              <a:t>D:/Downloads/Final Year Project/experiment/idea-validation/fastwam-vq-microscale/RESULTS.zh.md</a:t>
            </a:r>
          </a:p>
          <a:p>
            <a:r>
              <a:t>D:/Downloads/Final Year Project/experiment/idea-validation/fastwam-vq-c8-action-latent-plus/README.zh.md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per-input-channel scaling + per-Linear activation clipping，不是每 channel 一个 clipping threshold。D=2^log2_D 为每个 physical input channel 一个正的 continuous scale；r_l 为每 Linear 一个 ratio，跨 token/denoising steps 共享。先对 input 施加已冻结 Smooth0.5/H128，然后 v=z/D；每 token s=r_l max|v|/7，signed A4 q=clamp(round(v/s),-7,7)。decoded BF16 Wq 乘相同 D 后以 BF16 缓存。忽略 rounding 时 compensating Linear 恒等；已 quantized 情况下改变 error。C80 refinement 从 C8 rho1.5 开始，80 updates，只训 D/r_l，VQ 参数冻结。使用 coupled dynamic-absmax surrogate 和 STE。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Project/experiment/idea-validation/fastwam-vq-per-channel-scaling-clipping/channel_banks.py</a:t>
            </a:r>
          </a:p>
          <a:p>
            <a:r>
              <a:t>D:/Downloads/Final Year Project/experiment/idea-validation/fastwam-vq-c80-per-channel-plus/README.zh.md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 rows 都来自本地完成的 frozen 280-variant cohort，不是 paper-reported numbers。每 suite 分母 70。QuaRot/SpinQuant 是针对 Fast-WAM 的本地 adaptation，不等同官方完整 recipe。Scalar 与 rotation baselines 实际采用 native packed S4 path，而 VQ 是 decode BF16；本表只比较 closed-loop success 与编码预算，不比较 latency。不同 arm calibration 覆盖和目标不同，不是单因素消融。Rotation bpw 的4.125是4bit code+BF16 scale/128 的估算，未把 rotations/tails 算入，因此加 dagger，避免误报为实测全 overhead payload。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 frozen 280-episode cohort 的全部后续完成配置。C8表示weight calibration contexts；C80表示 activation-refinement contexts，不是 rollout 数。ρ0.1 完整2epochs/16updates，ρ1.5为1epoch/8updates；这是各自冻结配置，不是matched training budget消融。C80 clip-only207，joint202，per-channel203；joint per-channel虽有fixed-input结果尚未发现完成闭环，不能加入completed表。该cohort未有独立seed重复，不应对1—5个success小差异宣称稳定统计优势。</a:t>
            </a:r>
          </a:p>
          <a:p>
            <a:r>
              <a:t>Sources:</a:t>
            </a:r>
          </a:p>
          <a:p>
            <a:r>
              <a:t>D:/Downloads/Final Year Project/experiment/idea-validation/fastwam-vq-c8-action-latent-plus/results/RESULTS.zh.md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Cosmos-Predict2-2B direct policy，planning disabled。三臂840episodes全部完成，每臂280。5denoising steps、16action chunk并执行16steps；与Fast-WAM10/10和执行10steps不同，不能跨model数值比较来归因量化方法。C8共享observations但teacher由Cosmos自身产生。VQ学习codebooks/rowgains，目标为16×6motor MSE+future-image slots6/7 NMSE。SpinQuant200updates，VQ16updates且objectives不同，因此不是action/latent loss贡献的单因素消融。有效bpw均含编码开销；whole DiT bpw另计未量化参数。</a:t>
            </a:r>
          </a:p>
          <a:p>
            <a:r>
              <a:t>Sources:</a:t>
            </a:r>
          </a:p>
          <a:p>
            <a:r>
              <a:t>D:/Downloads/Final Year Project/experiment/idea-validation/cosmos-policy-c8-w4a4/RESULTS.zh.md</a:t>
            </a:r>
          </a:p>
          <a:p>
            <a:r>
              <a:t>D:/Downloads/Final Year Project/experiment/idea-validation/cosmos-policy-c8-w4a4/retrieved/results/evaluation/summary.json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干预冻结 downstream BF16 reader，包括 video prepare/prefill、action DiT/proprio 等，注入不同 donor 的 final future，重新构建 K/V。完整60contexts包括8cal、4selection×2seed、22test×2seed；表格是22test cases先平均2seeds的case mean。BF16 donor自重放误差0，Parent=0.036144691，Action-only=.041243219，Action+latent=.035083670。13/22first10改善，full32/late22各14/22。是已见cohort的fixed-input intervention，0 executed episodes，不是真实future accuracy或新泛化证据。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Project/experiment/idea-validation/fastwam-vq-future-reader/retrieved/results/analysis_teacher/REPORT.zh.md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左表来自2×2cross-reader intervention，reader固定action-only或action+latent时替换future donor。这里reader不再是BF16。Action-only reader mean .058110442→.053481176，action+latent reader .058676505→.052951009。分别10/22、12/22cases改善，平均收益不等于每case收益。右表是另一个fixedBF16reader NMSE-matched control：C=T+alpha(A−T)，经有界BF16correction逐context匹配B的NMSE，alpha不使用action选值。B−C mean−.00099049但median+.000042169，11/22改善，leave-one-out可变正，full32/late22比C差。原均值收益约84%由总future误差幅度降低重现。不能宣称已确认特定semantic/spatial有害drift。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Project/experiment/idea-validation/fastwam-vq-future-reader/retrieved/results/analysis_cross/REPORT.zh.md</a:t>
            </a:r>
          </a:p>
          <a:p>
            <a:r>
              <a:t>D:/Downloads/Final Year Project/experiment/idea-validation/fastwam-vq-future-nmse-matched/RESULTS.zh.md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原训练loss是first10motor MSE+rho*c*futureNMSE，c=0.028303017887797623，rho1.5，lambda=.04245452683169643。RMSE仅用来报告，优化的是MSE。c依据初始化calibrationmean冻结，rho不是gradient ratio。Fixedinput来自40heldoutcases×2seeds，四suite等权。C80clip .0438484373/.0548481241，joint .0418468372/.0489733362，perchannel .031641466/.055377875；对应闭环207/202/203。Heldout metric和closedloop是不同测量而且访问状态分布不同。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本页严格按原第22页ImageGen设计重建Soft-bin + temporal/spatial relational KL。全部文字、数学文字、矩阵、柱图、网格和箭头均为PowerPoint原生可编辑对象。Source: Weekly Slides/2026-10-21_assets/loss-imagegen-reference.png。柱图和relationmatrix颜色为原图概念示意，不是新增实验观测。实际Gaussian CDF binning、action 3-step windows、两camera分开pooling和spatiotemporal邻接保持原实现。结构KL不估计完整action-latent联合密度；闭环结果仍待验证。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关系代码用每feature mean-squared pairwise distance，不是Gram matrix。Action标准化first10×6，经length3stride1 orderedwindows得到8×18tokens，全部非selfwindows相邻。Latentshape[1,48,3,14,28]去frame0，按widthsplit两camera各14×14，各自2×2avgpool到7×7，2times×2views×49=196token×48features。邻边是samecamera,sametime的8neighbors以及sameposition跨time。Boundary spatial节点少于8邻居。无跨cameraedge，无action-latent强制时间插值。Teacher概率detach，tau依据C80teacherpositiveedgedistancemedian冻结。Softbin检测关系对整体translation/signflip等的盲区。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Project/experiment/idea-validation/fastwam-vq-relational-kl/relational_loss.py</a:t>
            </a:r>
          </a:p>
          <a:p>
            <a:r>
              <a:t>D:/Downloads/Final Year Project/experiment/idea-validation/fastwam-vq-relational-kl/README.zh.md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=alpha_a*(action_KL+beta_a*action_temporal_KL)+rho*c*alpha_z*(latent_KL+beta_z*latent_spatiotemporal_KL)。Teacheronlycalibrationfitting：alpha用C80initMSE/KL与NMSE/KL；tau_a=.05844502896,tau_z=.42243281007；beta_a=.61968510916,beta_z=27.14823378066，通过预设standardizednoise std .1的0.25relativeweight配平。0.25并不意味着真实modelerror或gradient中占25%。D/r_l独立从C8rho1.5checkpoint初始化，各80updates，未用heldoutselectfinal80。Distance关系本身有translation/signflip/部分timereversal盲区，softbin绝对anchor补足，不能声称所有结构错误可识别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Project/experiment/idea-validation/fastwam-vq-relational-kl/results/prepare/summary.json</a:t>
            </a:r>
          </a:p>
          <a:p>
            <a:r>
              <a:t>D:/Downloads/Final Year Project/experiment/idea-validation/fastwam-vq-relational-kl/protocol.json</a:t>
            </a:r>
          </a:p>
          <a:p>
            <a:r>
              <a:t>D:/Downloads/Final Year Project/experiment/idea-validation/fastwam-vq-relational-kl/results/ANALYSIS.zh.md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来自原40heldoutcase×2seeds，先seedcase平均再四suite等权。Softbinrelationaltrain各1trajectory、80updates，固定final80，不在heldout选ckpt。原MSEfinal80是历史同协议endpoint重放比较。Softbin.03232986/.053033005，relational.031438487/.054295895；temporal .040418109→.034484781；spatiotemporal .0063970953→.006147169；composite .0059133057→.0057434071。KL闭环评测在最近local快照431/560episode记录，未有completecriterion。进度不是success，pending不能替代最终rates。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Project/experiment/idea-validation/fastwam-vq-relational-kl/results/ANALYSIS.zh.md</a:t>
            </a:r>
          </a:p>
          <a:p>
            <a:r>
              <a:t>D:/Downloads/Final Year Project/experiment/idea-validation/fastwam-vq-relational-kl/results/aggregate/summary.json</a:t>
            </a:r>
          </a:p>
          <a:p>
            <a:r>
              <a:t>D:/Downloads/Final Year Project/Weekly Slides/2026-10-21_assets/cosmos_loss.json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的四点contribution按证据强度润色：1当前fixedinputfutureintervention支持latentfidelity的重要性，但likelyvulnerable机制还待验证；2loss已实现，forecastrollouterror仍为researchgoal，当前没有证明predictiveassociation；3Fast-WAM+Cosmos框架/闭环已实现，similarbpw下cohortcurrentrecipecompetitive，但first需priorartcheck且不声称SOTA或统计显著；4nativekernel尚未实现。所有措辞作为proposedpapercontributions，不把目标写成completed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优先完成冻结checkpoint的pairedLIBERO+评测；loss优化需以闭环success与失败轨迹为目标，同时保留原cohortcontrols。候选消融：MSEvssoftbin、action-onlyvslatent-onlyvsboth、temporal-onlyvsspatial/temporal-latent、D/r的分离、C8/C80等校准规模，匹配bpw与预算。换baseline：CosmosPolicy on LIBERO/LIBERO+，LingBot-VA2 on RoboTwin2.0，均为planned未实现本轮不保证可行性/日期。真实robot需要确认hardware/tasks，报告success、rollout error与endtoendlatency。Kernel关注decode/transformprofiling、batchedtransform接线、nativeVQ执行与真实latency，不将compressedpayload当作VRAM。CVPR表达愿望无未查证deadline。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讨论重点：当前proxy与闭环目标之间的差距、KL结构设计的优先级、跨模型和真机验证范围，以及kernel工作量。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FastWAM模型614targetLinears/6016317440weights。encodedbpw统一bytes*8/Ntarget。Scalar receipt包含transforms，VQ包含indices/books/gains/B32exps/transforms；perchannel另计FP32log2D。Rotation只有code+G128scaleestimate4.125，未有统一completepayload。Cosmos同target280Linear1761607680weights。两model不同steps/chunks因此不跨模型比较latency或success来声称量化方法优劣。闭环manifest280是固定subset，不是全LIBEROPlusbenchmark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inputevidence：same40heldoutcases×2seed/equal4suites。Baseline.044296774/.060877371;clip.043848437/.054848124;b32.043986743/.054151555;joint.041846837/.048973336;perchannel.031641466/.055377875;jointperchannel.032668?.048842。Jointperchannel数字从周报四舍五入，完整源results。本表用于记录已实现的可训练参数组合，不给没有完成closedloop的row补成功率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Project/experiment/idea-validation/fastwam-vq-joint-per-channel/results/RESULTS.zh.md</a:t>
            </a:r>
          </a:p>
          <a:p>
            <a:r>
              <a:t>https://app.notion.com/p/3fd44c7da965815ead32f7858e8e98db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rmfullactionquerycost来自不同rolloutquery流，非fixedinputpairedbenchmark。FastWAMclip4.99sec/joint4.96/perchannel4.90508；CosmosBF16.59399,Spin1.05653,VQ10.04213。CosmosVQ在线blockH128path未接入batchedtransform，即使summary标签写batched也不能声称已生效。此页保持实现scope避免把编码4bpw当成nativeacceleration。</a:t>
            </a:r>
          </a:p>
          <a:p>
            <a:r>
              <a:t>Sources: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Slides/2026-10-21_assets/method-imagegen-reference.png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Slides/2026-10-21_assets/loss-imagegen-reference.png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D037324-548F-406E-8248-03A5F342A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2295B599-9CD4-44A6-AC58-C6CEE5B7024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726" y="1752600"/>
            <a:ext cx="5953125" cy="533400"/>
          </a:xfrm>
        </p:spPr>
        <p:txBody>
          <a:bodyPr wrap="square" lIns="0" tIns="0" rIns="0" bIns="0" anchor="ctr">
            <a:noAutofit/>
          </a:bodyPr>
          <a:lstStyle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50000"/>
              </a:lnSpc>
              <a:spcBef>
                <a:spcPts val="1800"/>
              </a:spcBef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+ Action-Aware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726" y="3758279"/>
            <a:ext cx="5953125" cy="857250"/>
          </a:xfrm>
        </p:spPr>
        <p:txBody>
          <a:bodyPr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  <p:sp>
        <p:nvSpPr>
          <p:cNvPr id="4" name="Meeting subtitle">
            <a:extLst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noGrp="1"/>
          </p:cNvSpPr>
          <p:nvPr/>
        </p:nvSpPr>
        <p:spPr>
          <a:xfrm>
            <a:off x="2756726" y="303847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</a:t>
            </a:r>
            <a:r>
              <a:rPr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VQ, activation refinement &amp; relational KL</a:t>
            </a:r>
          </a:p>
        </p:txBody>
      </p:sp>
      <p:sp>
        <p:nvSpPr>
          <p:cNvPr id="5" name="WAM Quantization">
            <a:extLst>
              <a:ext uri="{FF2B5EF4-FFF2-40B4-BE49-F238E27FC236}">
                <a16:creationId xmlns:a16="http://schemas.microsoft.com/office/drawing/2014/main" id="{FB70EFC3-DFCC-4984-9F41-A109206989EF}"/>
              </a:ext>
            </a:extLst>
          </p:cNvPr>
          <p:cNvSpPr>
            <a:spLocks noGrp="1"/>
          </p:cNvSpPr>
          <p:nvPr/>
        </p:nvSpPr>
        <p:spPr>
          <a:xfrm>
            <a:off x="2756726" y="2295525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32" name="diagram block">
            <a:extLst>
              <a:ext uri="{FF2B5EF4-FFF2-40B4-BE49-F238E27FC236}">
                <ns2:creationId id="{2D9A215E-2E0D-4E60-987A-5AD9EE209B68}"/>
              </a:ext>
            </a:extLst>
          </p:cNvPr>
          <p:cNvSpPr>
            <a:spLocks noGrp="1"/>
          </p:cNvSpPr>
          <p:nvPr/>
        </p:nvSpPr>
        <p:spPr>
          <a:xfrm>
            <a:off x="277820" y="20645"/>
            <a:ext cx="3643859" cy="345289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2" name="diagram block">
            <a:extLst>
              <a:ext uri="{FF2B5EF4-FFF2-40B4-BE49-F238E27FC236}">
                <ns2:creationId id="{75E74C69-D192-4FAE-AB88-E9AD916DDB2A}"/>
              </a:ext>
            </a:extLst>
          </p:cNvPr>
          <p:cNvSpPr>
            <a:spLocks noGrp="1"/>
          </p:cNvSpPr>
          <p:nvPr/>
        </p:nvSpPr>
        <p:spPr>
          <a:xfrm>
            <a:off x="3962970" y="20645"/>
            <a:ext cx="2467089" cy="345289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3" name="diagram block">
            <a:extLst>
              <a:ext uri="{FF2B5EF4-FFF2-40B4-BE49-F238E27FC236}">
                <ns2:creationId id="{2826DBED-1AF3-47EE-ADA0-09F01143A425}"/>
              </a:ext>
            </a:extLst>
          </p:cNvPr>
          <p:cNvSpPr>
            <a:spLocks noGrp="1"/>
          </p:cNvSpPr>
          <p:nvPr/>
        </p:nvSpPr>
        <p:spPr>
          <a:xfrm>
            <a:off x="6466188" y="20645"/>
            <a:ext cx="2399992" cy="3452892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4" name="(a) Latent + action supervision">
            <a:extLst>
              <a:ext uri="{FF2B5EF4-FFF2-40B4-BE49-F238E27FC236}">
                <ns2:creationId id="{E5FBC74F-8B4E-487E-9934-E66569BA3FE5}"/>
              </a:ext>
            </a:extLst>
          </p:cNvPr>
          <p:cNvSpPr>
            <a:spLocks noGrp="1"/>
          </p:cNvSpPr>
          <p:nvPr/>
        </p:nvSpPr>
        <p:spPr>
          <a:xfrm>
            <a:off x="344917" y="72258"/>
            <a:ext cx="3499344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Latent + action supervision</a:t>
            </a:r>
          </a:p>
        </p:txBody>
      </p:sp>
      <p:sp>
        <p:nvSpPr>
          <p:cNvPr id="5" name="(b) Microscaling additive VQ weights">
            <a:extLst>
              <a:ext uri="{FF2B5EF4-FFF2-40B4-BE49-F238E27FC236}">
                <ns2:creationId id="{1DC0C911-C147-400D-BD6B-78D098A6681C}"/>
              </a:ext>
            </a:extLst>
          </p:cNvPr>
          <p:cNvSpPr>
            <a:spLocks noGrp="1"/>
          </p:cNvSpPr>
          <p:nvPr/>
        </p:nvSpPr>
        <p:spPr>
          <a:xfrm>
            <a:off x="4030066" y="72258"/>
            <a:ext cx="2343218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Microscaling additive VQ weights</a:t>
            </a:r>
          </a:p>
        </p:txBody>
      </p:sp>
      <p:sp>
        <p:nvSpPr>
          <p:cNvPr id="6" name="(c) Per-channel activation scaling + clipping">
            <a:extLst>
              <a:ext uri="{FF2B5EF4-FFF2-40B4-BE49-F238E27FC236}">
                <ns2:creationId id="{F60B85F6-FE21-483C-98D6-86A63CA447FB}"/>
              </a:ext>
            </a:extLst>
          </p:cNvPr>
          <p:cNvSpPr>
            <a:spLocks noGrp="1"/>
          </p:cNvSpPr>
          <p:nvPr/>
        </p:nvSpPr>
        <p:spPr>
          <a:xfrm>
            <a:off x="6517800" y="82580"/>
            <a:ext cx="2307089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Per-channel activation scaling + clipping</a:t>
            </a:r>
          </a:p>
        </p:txBody>
      </p:sp>
      <p:sp>
        <p:nvSpPr>
          <p:cNvPr id="7" name="diagram block">
            <a:extLst>
              <a:ext uri="{FF2B5EF4-FFF2-40B4-BE49-F238E27FC236}">
                <ns2:creationId id="{B32EDEE8-1D44-493C-9C61-F86E7CBED16A}"/>
              </a:ext>
            </a:extLst>
          </p:cNvPr>
          <p:cNvSpPr>
            <a:spLocks noGrp="1"/>
          </p:cNvSpPr>
          <p:nvPr/>
        </p:nvSpPr>
        <p:spPr>
          <a:xfrm>
            <a:off x="1067495" y="294193"/>
            <a:ext cx="2028381" cy="1357415"/>
          </a:xfrm>
          <a:prstGeom prst="roundRect">
            <a:avLst>
              <a:gd name="adj" fmla="val 2662"/>
            </a:avLst>
          </a:prstGeom>
          <a:gradFill>
            <a:gsLst>
              <a:gs pos="0">
                <a:srgbClr val="D9EFFF"/>
              </a:gs>
              <a:gs pos="100000">
                <a:srgbClr val="EEF8FF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8" name="diagram block">
            <a:extLst>
              <a:ext uri="{FF2B5EF4-FFF2-40B4-BE49-F238E27FC236}">
                <ns2:creationId id="{65CFC280-C207-4714-BC1B-4D7EA7394529}"/>
              </a:ext>
            </a:extLst>
          </p:cNvPr>
          <p:cNvSpPr>
            <a:spLocks noGrp="1"/>
          </p:cNvSpPr>
          <p:nvPr/>
        </p:nvSpPr>
        <p:spPr>
          <a:xfrm>
            <a:off x="1067495" y="1677414"/>
            <a:ext cx="2028381" cy="1476124"/>
          </a:xfrm>
          <a:prstGeom prst="roundRect">
            <a:avLst>
              <a:gd name="adj" fmla="val 2448"/>
            </a:avLst>
          </a:prstGeom>
          <a:gradFill>
            <a:gsLst>
              <a:gs pos="0">
                <a:srgbClr val="FFE2DC"/>
              </a:gs>
              <a:gs pos="100000">
                <a:srgbClr val="FFF0EA"/>
              </a:gs>
            </a:gsLst>
            <a:lin ang="5400000"/>
          </a:gradFill>
          <a:ln w="5161">
            <a:noFill/>
            <a:prstDash val="solid"/>
          </a:ln>
        </p:spPr>
      </p:sp>
      <p:cxnSp>
        <p:nvCxnSpPr>
          <p:cNvPr id="9" name="native PowerPoint connector">
            <a:extLst>
              <a:ext uri="{FF2B5EF4-FFF2-40B4-BE49-F238E27FC236}">
                <ns2:creationId id="{A0297F7C-FE64-4560-A0C8-3F9BE04EE7E8}"/>
              </a:ext>
            </a:extLst>
          </p:cNvPr>
          <p:cNvCxnSpPr/>
          <p:nvPr/>
        </p:nvCxnSpPr>
        <p:spPr>
          <a:xfrm flipH="0" flipV="0">
            <a:off x="1129430" y="397418"/>
            <a:ext cx="113548" cy="0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0" name="native PowerPoint connector">
            <a:extLst>
              <a:ext uri="{FF2B5EF4-FFF2-40B4-BE49-F238E27FC236}">
                <ns2:creationId id="{A22FD6BD-A1A0-4C6D-94EE-9A88BDE02A62}"/>
              </a:ext>
            </a:extLst>
          </p:cNvPr>
          <p:cNvCxnSpPr/>
          <p:nvPr/>
        </p:nvCxnSpPr>
        <p:spPr>
          <a:xfrm flipH="0" flipV="0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1" name="native PowerPoint connector">
            <a:extLst>
              <a:ext uri="{FF2B5EF4-FFF2-40B4-BE49-F238E27FC236}">
                <ns2:creationId id="{36DEFD76-3ACC-4DAA-8C6F-2A8C89F6C945}"/>
              </a:ext>
            </a:extLst>
          </p:cNvPr>
          <p:cNvCxnSpPr/>
          <p:nvPr/>
        </p:nvCxnSpPr>
        <p:spPr>
          <a:xfrm flipH="1" flipV="0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sp>
        <p:nvSpPr>
          <p:cNvPr id="12" name="BF16 teacher (frozen)">
            <a:extLst>
              <a:ext uri="{FF2B5EF4-FFF2-40B4-BE49-F238E27FC236}">
                <ns2:creationId id="{692256AC-FECE-43E6-8DCA-8AF774CC6083}"/>
              </a:ext>
            </a:extLst>
          </p:cNvPr>
          <p:cNvSpPr>
            <a:spLocks noGrp="1"/>
          </p:cNvSpPr>
          <p:nvPr/>
        </p:nvSpPr>
        <p:spPr>
          <a:xfrm>
            <a:off x="1284269" y="340644"/>
            <a:ext cx="1729027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 (frozen)</a:t>
            </a:r>
          </a:p>
        </p:txBody>
      </p:sp>
      <p:sp>
        <p:nvSpPr>
          <p:cNvPr id="13" name="native vector shape">
            <a:extLst>
              <a:ext uri="{FF2B5EF4-FFF2-40B4-BE49-F238E27FC236}">
                <ns2:creationId id="{EEC4B504-F121-4692-BB41-926EF2384B47}"/>
              </a:ext>
            </a:extLst>
          </p:cNvPr>
          <p:cNvSpPr>
            <a:spLocks noGrp="1"/>
          </p:cNvSpPr>
          <p:nvPr/>
        </p:nvSpPr>
        <p:spPr>
          <a:xfrm>
            <a:off x="1119108" y="1703220"/>
            <a:ext cx="144516" cy="185806"/>
          </a:xfrm>
          <a:custGeom>
            <a:pathLst>
              <a:path w="266700" h="342900">
                <a:moveTo>
                  <a:pt x="114300" y="0"/>
                </a:moveTo>
                <a:lnTo>
                  <a:pt x="171450" y="123825"/>
                </a:lnTo>
                <a:lnTo>
                  <a:pt x="247650" y="200025"/>
                </a:lnTo>
                <a:lnTo>
                  <a:pt x="228600" y="276225"/>
                </a:lnTo>
                <a:lnTo>
                  <a:pt x="180975" y="333375"/>
                </a:lnTo>
                <a:lnTo>
                  <a:pt x="85725" y="333375"/>
                </a:lnTo>
                <a:lnTo>
                  <a:pt x="19050" y="266700"/>
                </a:lnTo>
                <a:lnTo>
                  <a:pt x="19050" y="180975"/>
                </a:lnTo>
                <a:lnTo>
                  <a:pt x="66675" y="95250"/>
                </a:lnTo>
                <a:lnTo>
                  <a:pt x="76200" y="22860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FF9C23"/>
          </a:solidFill>
          <a:ln w="6194">
            <a:solidFill>
              <a:srgbClr val="EF711C"/>
            </a:solidFill>
          </a:ln>
        </p:spPr>
      </p:sp>
      <p:sp>
        <p:nvSpPr>
          <p:cNvPr id="14" name="native vector shape">
            <a:extLst>
              <a:ext uri="{FF2B5EF4-FFF2-40B4-BE49-F238E27FC236}">
                <ns2:creationId id="{EFB112C4-8173-4CCD-8670-03C98F3D01DB}"/>
              </a:ext>
            </a:extLst>
          </p:cNvPr>
          <p:cNvSpPr>
            <a:spLocks noGrp="1"/>
          </p:cNvSpPr>
          <p:nvPr/>
        </p:nvSpPr>
        <p:spPr>
          <a:xfrm>
            <a:off x="1150075" y="1759994"/>
            <a:ext cx="98064" cy="129032"/>
          </a:xfrm>
          <a:custGeom>
            <a:pathLst>
              <a:path w="180975" h="238125">
                <a:moveTo>
                  <a:pt x="85725" y="0"/>
                </a:moveTo>
                <a:lnTo>
                  <a:pt x="114300" y="95250"/>
                </a:lnTo>
                <a:lnTo>
                  <a:pt x="171450" y="133350"/>
                </a:lnTo>
                <a:lnTo>
                  <a:pt x="142875" y="209550"/>
                </a:lnTo>
                <a:lnTo>
                  <a:pt x="76200" y="228600"/>
                </a:lnTo>
                <a:lnTo>
                  <a:pt x="28575" y="180975"/>
                </a:lnTo>
                <a:lnTo>
                  <a:pt x="38100" y="114300"/>
                </a:lnTo>
                <a:close/>
              </a:path>
            </a:pathLst>
          </a:custGeom>
          <a:solidFill>
            <a:srgbClr val="FFD785"/>
          </a:solidFill>
          <a:ln w="6194">
            <a:noFill/>
          </a:ln>
        </p:spPr>
      </p:sp>
      <p:sp>
        <p:nvSpPr>
          <p:cNvPr id="15" name="Quantized WAM (student)">
            <a:extLst>
              <a:ext uri="{FF2B5EF4-FFF2-40B4-BE49-F238E27FC236}">
                <ns2:creationId id="{7581BEA5-359B-46E7-99C7-0E04443F99DE}"/>
              </a:ext>
            </a:extLst>
          </p:cNvPr>
          <p:cNvSpPr>
            <a:spLocks noGrp="1"/>
          </p:cNvSpPr>
          <p:nvPr/>
        </p:nvSpPr>
        <p:spPr>
          <a:xfrm>
            <a:off x="1284269" y="1734188"/>
            <a:ext cx="178064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 (student)</a:t>
            </a:r>
          </a:p>
        </p:txBody>
      </p:sp>
      <p:sp>
        <p:nvSpPr>
          <p:cNvPr id="16" name="614 target Linear layers">
            <a:extLst>
              <a:ext uri="{FF2B5EF4-FFF2-40B4-BE49-F238E27FC236}">
                <ns2:creationId id="{02BB3135-62D4-4D95-A306-CA10C9ABDDA6}"/>
              </a:ext>
            </a:extLst>
          </p:cNvPr>
          <p:cNvSpPr>
            <a:spLocks noGrp="1"/>
          </p:cNvSpPr>
          <p:nvPr/>
        </p:nvSpPr>
        <p:spPr>
          <a:xfrm>
            <a:off x="2027492" y="1852897"/>
            <a:ext cx="102709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282"/>
          </a:bodyPr>
          <a:lstStyle>
            <a:def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C11B14"/>
                </a:solidFill>
                <a:latin typeface="Times New Roman"/>
                <a:ea typeface="Times New Roman"/>
                <a:cs typeface="Times New Roman"/>
              </a:rPr>
              <a:t>614 target Linear layers</a:t>
            </a:r>
          </a:p>
        </p:txBody>
      </p:sp>
      <p:cxnSp>
        <p:nvCxnSpPr>
          <p:cNvPr id="17" name="native PowerPoint connector">
            <a:extLst>
              <a:ext uri="{FF2B5EF4-FFF2-40B4-BE49-F238E27FC236}">
                <ns2:creationId id="{CAFB4F3E-F0AB-419B-A805-1D0E13483CE9}"/>
              </a:ext>
            </a:extLst>
          </p:cNvPr>
          <p:cNvCxnSpPr/>
          <p:nvPr/>
        </p:nvCxnSpPr>
        <p:spPr>
          <a:xfrm flipH="0" flipV="0">
            <a:off x="2027492" y="1971607"/>
            <a:ext cx="1027094" cy="0"/>
          </a:xfrm>
          <a:prstGeom prst="straightConnector1">
            <a:avLst/>
          </a:prstGeom>
          <a:ln w="6710">
            <a:solidFill>
              <a:srgbClr val="C11B14"/>
            </a:solidFill>
            <a:prstDash val="solid"/>
          </a:ln>
        </p:spPr>
      </p:cxnSp>
      <p:sp>
        <p:nvSpPr>
          <p:cNvPr id="18" name="native vector shape">
            <a:extLst>
              <a:ext uri="{FF2B5EF4-FFF2-40B4-BE49-F238E27FC236}">
                <ns2:creationId id="{D43170A2-30D4-416F-B949-A1B7B277084A}"/>
              </a:ext>
            </a:extLst>
          </p:cNvPr>
          <p:cNvSpPr>
            <a:spLocks noGrp="1"/>
          </p:cNvSpPr>
          <p:nvPr/>
        </p:nvSpPr>
        <p:spPr>
          <a:xfrm>
            <a:off x="1315236" y="531611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</p:sp>
      <p:sp>
        <p:nvSpPr>
          <p:cNvPr id="19" name="Video DiT&#10;(BF16)">
            <a:extLst>
              <a:ext uri="{FF2B5EF4-FFF2-40B4-BE49-F238E27FC236}">
                <ns2:creationId id="{2EB8AF2A-CFBC-46C3-85EC-8746EECEC586}"/>
              </a:ext>
            </a:extLst>
          </p:cNvPr>
          <p:cNvSpPr>
            <a:spLocks noGrp="1"/>
          </p:cNvSpPr>
          <p:nvPr/>
        </p:nvSpPr>
        <p:spPr>
          <a:xfrm>
            <a:off x="1397817" y="66064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0" name="native vector shape">
            <a:extLst>
              <a:ext uri="{FF2B5EF4-FFF2-40B4-BE49-F238E27FC236}">
                <ns2:creationId id="{7A91AC3D-8E7B-4985-A412-B841942AAC9D}"/>
              </a:ext>
            </a:extLst>
          </p:cNvPr>
          <p:cNvSpPr>
            <a:spLocks noGrp="1"/>
          </p:cNvSpPr>
          <p:nvPr/>
        </p:nvSpPr>
        <p:spPr>
          <a:xfrm>
            <a:off x="2306201" y="547095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</p:sp>
      <p:sp>
        <p:nvSpPr>
          <p:cNvPr id="21" name="Action DiT&#10;(BF16)">
            <a:extLst>
              <a:ext uri="{FF2B5EF4-FFF2-40B4-BE49-F238E27FC236}">
                <ns2:creationId id="{9C8EFD26-34FE-462B-81D3-0865B43DB9D8}"/>
              </a:ext>
            </a:extLst>
          </p:cNvPr>
          <p:cNvSpPr>
            <a:spLocks noGrp="1"/>
          </p:cNvSpPr>
          <p:nvPr/>
        </p:nvSpPr>
        <p:spPr>
          <a:xfrm>
            <a:off x="2388781" y="676127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(BF16)</a:t>
            </a:r>
          </a:p>
        </p:txBody>
      </p:sp>
      <p:sp>
        <p:nvSpPr>
          <p:cNvPr id="22" name="native vector shape">
            <a:extLst>
              <a:ext uri="{FF2B5EF4-FFF2-40B4-BE49-F238E27FC236}">
                <ns2:creationId id="{521D52D1-CBFF-4301-B8EC-BD5E48626AAA}"/>
              </a:ext>
            </a:extLst>
          </p:cNvPr>
          <p:cNvSpPr>
            <a:spLocks noGrp="1"/>
          </p:cNvSpPr>
          <p:nvPr/>
        </p:nvSpPr>
        <p:spPr>
          <a:xfrm>
            <a:off x="1315236" y="1950962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</p:sp>
      <p:sp>
        <p:nvSpPr>
          <p:cNvPr id="23" name="Video DiT&#10;(quantized)">
            <a:extLst>
              <a:ext uri="{FF2B5EF4-FFF2-40B4-BE49-F238E27FC236}">
                <ns2:creationId id="{D4B2F843-0FA1-47CB-B2DE-D3582D3E2F4D}"/>
              </a:ext>
            </a:extLst>
          </p:cNvPr>
          <p:cNvSpPr>
            <a:spLocks noGrp="1"/>
          </p:cNvSpPr>
          <p:nvPr/>
        </p:nvSpPr>
        <p:spPr>
          <a:xfrm>
            <a:off x="1397817" y="207999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sp>
        <p:nvSpPr>
          <p:cNvPr id="24" name="native vector shape">
            <a:extLst>
              <a:ext uri="{FF2B5EF4-FFF2-40B4-BE49-F238E27FC236}">
                <ns2:creationId id="{C6480AD4-A8F6-4DFE-BFCB-0CA82D83B501}"/>
              </a:ext>
            </a:extLst>
          </p:cNvPr>
          <p:cNvSpPr>
            <a:spLocks noGrp="1"/>
          </p:cNvSpPr>
          <p:nvPr/>
        </p:nvSpPr>
        <p:spPr>
          <a:xfrm>
            <a:off x="2306201" y="1971607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</p:sp>
      <p:sp>
        <p:nvSpPr>
          <p:cNvPr id="25" name="Action DiT&#10;(quantized)">
            <a:extLst>
              <a:ext uri="{FF2B5EF4-FFF2-40B4-BE49-F238E27FC236}">
                <ns2:creationId id="{21A451C2-A784-470D-B502-82E2433A334D}"/>
              </a:ext>
            </a:extLst>
          </p:cNvPr>
          <p:cNvSpPr>
            <a:spLocks noGrp="1"/>
          </p:cNvSpPr>
          <p:nvPr/>
        </p:nvSpPr>
        <p:spPr>
          <a:xfrm>
            <a:off x="2388781" y="2100638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(quantized)</a:t>
            </a:r>
          </a:p>
        </p:txBody>
      </p:sp>
      <p:cxnSp>
        <p:nvCxnSpPr>
          <p:cNvPr id="26" name="native PowerPoint connector">
            <a:extLst>
              <a:ext uri="{FF2B5EF4-FFF2-40B4-BE49-F238E27FC236}">
                <ns2:creationId id="{F101F8C9-951F-420D-A12E-E14A0CEE2545}"/>
              </a:ext>
            </a:extLst>
          </p:cNvPr>
          <p:cNvCxnSpPr/>
          <p:nvPr/>
        </p:nvCxnSpPr>
        <p:spPr>
          <a:xfrm flipH="0" flipV="0">
            <a:off x="2027492" y="769030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" name="native PowerPoint connector">
            <a:extLst>
              <a:ext uri="{FF2B5EF4-FFF2-40B4-BE49-F238E27FC236}">
                <ns2:creationId id="{7936E66F-47BF-49DB-8B6E-119296619C7D}"/>
              </a:ext>
            </a:extLst>
          </p:cNvPr>
          <p:cNvCxnSpPr/>
          <p:nvPr/>
        </p:nvCxnSpPr>
        <p:spPr>
          <a:xfrm flipH="0" flipV="0">
            <a:off x="2027492" y="2193541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" name="diagram block">
            <a:extLst>
              <a:ext uri="{FF2B5EF4-FFF2-40B4-BE49-F238E27FC236}">
                <ns2:creationId id="{A87785D2-70CA-4BE7-9974-04E4C1F965AF}"/>
              </a:ext>
            </a:extLst>
          </p:cNvPr>
          <p:cNvSpPr>
            <a:spLocks noGrp="1"/>
          </p:cNvSpPr>
          <p:nvPr/>
        </p:nvSpPr>
        <p:spPr>
          <a:xfrm>
            <a:off x="319110" y="887739"/>
            <a:ext cx="660643" cy="1274835"/>
          </a:xfrm>
          <a:prstGeom prst="roundRect">
            <a:avLst>
              <a:gd name="adj" fmla="val 3906"/>
            </a:avLst>
          </a:prstGeom>
          <a:gradFill>
            <a:gsLst>
              <a:gs pos="0">
                <a:srgbClr val="F0F2F5"/>
              </a:gs>
              <a:gs pos="100000">
                <a:srgbClr val="E8EBEF"/>
              </a:gs>
            </a:gsLst>
            <a:lin ang="5400000"/>
          </a:gradFill>
          <a:ln w="5161">
            <a:solidFill>
              <a:srgbClr val="63849E"/>
            </a:solidFill>
            <a:prstDash val="solid"/>
          </a:ln>
        </p:spPr>
      </p:sp>
      <p:sp>
        <p:nvSpPr>
          <p:cNvPr id="29" name="Observation&#10;+ language&#10;+ proprioception">
            <a:extLst>
              <a:ext uri="{FF2B5EF4-FFF2-40B4-BE49-F238E27FC236}">
                <ns2:creationId id="{FFE427DF-EBF9-4BA2-BFC0-D132D6F22FDE}"/>
              </a:ext>
            </a:extLst>
          </p:cNvPr>
          <p:cNvSpPr>
            <a:spLocks noGrp="1"/>
          </p:cNvSpPr>
          <p:nvPr/>
        </p:nvSpPr>
        <p:spPr>
          <a:xfrm>
            <a:off x="375884" y="1073545"/>
            <a:ext cx="557418" cy="3458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9309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language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proprioception</a:t>
            </a:r>
          </a:p>
        </p:txBody>
      </p:sp>
      <p:sp>
        <p:nvSpPr>
          <p:cNvPr id="30" name="o_t, l, p_t">
            <a:extLst>
              <a:ext uri="{FF2B5EF4-FFF2-40B4-BE49-F238E27FC236}">
                <ns2:creationId id="{121FCA57-08FB-4645-A638-859C8E383E5F}"/>
              </a:ext>
            </a:extLst>
          </p:cNvPr>
          <p:cNvSpPr>
            <a:spLocks noGrp="1"/>
          </p:cNvSpPr>
          <p:nvPr/>
        </p:nvSpPr>
        <p:spPr>
          <a:xfrm>
            <a:off x="375884" y="1455479"/>
            <a:ext cx="588385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l, p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31" name="Current images&#10;Instruction&#10;Robot state">
            <a:extLst>
              <a:ext uri="{FF2B5EF4-FFF2-40B4-BE49-F238E27FC236}">
                <ns2:creationId id="{B13C1F9B-FCD1-45B6-AB1D-42EF76F6CD55}"/>
              </a:ext>
            </a:extLst>
          </p:cNvPr>
          <p:cNvSpPr>
            <a:spLocks noGrp="1"/>
          </p:cNvSpPr>
          <p:nvPr/>
        </p:nvSpPr>
        <p:spPr>
          <a:xfrm>
            <a:off x="360400" y="1692898"/>
            <a:ext cx="588385" cy="3767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809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Current images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Robot state</a:t>
            </a:r>
          </a:p>
        </p:txBody>
      </p:sp>
      <p:cxnSp>
        <p:nvCxnSpPr>
          <p:cNvPr id="32" name="native PowerPoint connector">
            <a:extLst>
              <a:ext uri="{FF2B5EF4-FFF2-40B4-BE49-F238E27FC236}">
                <ns2:creationId id="{903C1C30-0E17-4615-8F49-AAD246916ECF}"/>
              </a:ext>
            </a:extLst>
          </p:cNvPr>
          <p:cNvCxnSpPr/>
          <p:nvPr/>
        </p:nvCxnSpPr>
        <p:spPr>
          <a:xfrm flipH="0" flipV="0">
            <a:off x="979753" y="11870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3" name="native PowerPoint connector">
            <a:extLst>
              <a:ext uri="{FF2B5EF4-FFF2-40B4-BE49-F238E27FC236}">
                <ns2:creationId id="{1DBB96EB-483D-4A8E-B405-A428F654AB12}"/>
              </a:ext>
            </a:extLst>
          </p:cNvPr>
          <p:cNvCxnSpPr/>
          <p:nvPr/>
        </p:nvCxnSpPr>
        <p:spPr>
          <a:xfrm flipH="0" flipV="1">
            <a:off x="1129430" y="769030"/>
            <a:ext cx="0" cy="418063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4" name="native PowerPoint connector">
            <a:extLst>
              <a:ext uri="{FF2B5EF4-FFF2-40B4-BE49-F238E27FC236}">
                <ns2:creationId id="{2A6CF192-B735-4262-9BB3-76BEA7A7BA46}"/>
              </a:ext>
            </a:extLst>
          </p:cNvPr>
          <p:cNvCxnSpPr/>
          <p:nvPr/>
        </p:nvCxnSpPr>
        <p:spPr>
          <a:xfrm flipH="0" flipV="0">
            <a:off x="1129430" y="769030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5" name="native PowerPoint connector">
            <a:extLst>
              <a:ext uri="{FF2B5EF4-FFF2-40B4-BE49-F238E27FC236}">
                <ns2:creationId id="{89386B6D-D26B-44E2-93D6-8E397008FBBD}"/>
              </a:ext>
            </a:extLst>
          </p:cNvPr>
          <p:cNvCxnSpPr/>
          <p:nvPr/>
        </p:nvCxnSpPr>
        <p:spPr>
          <a:xfrm flipH="0" flipV="0">
            <a:off x="979753" y="20799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6" name="native PowerPoint connector">
            <a:extLst>
              <a:ext uri="{FF2B5EF4-FFF2-40B4-BE49-F238E27FC236}">
                <ns2:creationId id="{A4ADD440-E55A-45C5-AD41-C1DF686B5777}"/>
              </a:ext>
            </a:extLst>
          </p:cNvPr>
          <p:cNvCxnSpPr/>
          <p:nvPr/>
        </p:nvCxnSpPr>
        <p:spPr>
          <a:xfrm flipH="0" flipV="0">
            <a:off x="1129430" y="2079993"/>
            <a:ext cx="0" cy="139354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7" name="native PowerPoint connector">
            <a:extLst>
              <a:ext uri="{FF2B5EF4-FFF2-40B4-BE49-F238E27FC236}">
                <ns2:creationId id="{AEB80899-2CFD-45F5-8C6C-085E8EDBE156}"/>
              </a:ext>
            </a:extLst>
          </p:cNvPr>
          <p:cNvCxnSpPr/>
          <p:nvPr/>
        </p:nvCxnSpPr>
        <p:spPr>
          <a:xfrm flipH="0" flipV="0">
            <a:off x="1129430" y="2219348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8" name="diagram block">
            <a:extLst>
              <a:ext uri="{FF2B5EF4-FFF2-40B4-BE49-F238E27FC236}">
                <ns2:creationId id="{C34BB845-C821-43E6-9FB1-B9E9A1A788CE}"/>
              </a:ext>
            </a:extLst>
          </p:cNvPr>
          <p:cNvSpPr>
            <a:spLocks noGrp="1"/>
          </p:cNvSpPr>
          <p:nvPr/>
        </p:nvSpPr>
        <p:spPr>
          <a:xfrm>
            <a:off x="148039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39" name="diagram block">
            <a:extLst>
              <a:ext uri="{FF2B5EF4-FFF2-40B4-BE49-F238E27FC236}">
                <ns2:creationId id="{1C0730E7-0C71-4796-82B4-9A46F8848FA6}"/>
              </a:ext>
            </a:extLst>
          </p:cNvPr>
          <p:cNvSpPr>
            <a:spLocks noGrp="1"/>
          </p:cNvSpPr>
          <p:nvPr/>
        </p:nvSpPr>
        <p:spPr>
          <a:xfrm>
            <a:off x="156297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0" name="diagram block">
            <a:extLst>
              <a:ext uri="{FF2B5EF4-FFF2-40B4-BE49-F238E27FC236}">
                <ns2:creationId id="{F57BCA66-E74A-45A5-AA1F-49AAE01CEBFA}"/>
              </a:ext>
            </a:extLst>
          </p:cNvPr>
          <p:cNvSpPr>
            <a:spLocks noGrp="1"/>
          </p:cNvSpPr>
          <p:nvPr/>
        </p:nvSpPr>
        <p:spPr>
          <a:xfrm>
            <a:off x="164555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1" name="diagram block">
            <a:extLst>
              <a:ext uri="{FF2B5EF4-FFF2-40B4-BE49-F238E27FC236}">
                <ns2:creationId id="{CC75A530-C088-48C4-840B-051E3F8FF5A7}"/>
              </a:ext>
            </a:extLst>
          </p:cNvPr>
          <p:cNvSpPr>
            <a:spLocks noGrp="1"/>
          </p:cNvSpPr>
          <p:nvPr/>
        </p:nvSpPr>
        <p:spPr>
          <a:xfrm>
            <a:off x="172813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2" name="diagram block">
            <a:extLst>
              <a:ext uri="{FF2B5EF4-FFF2-40B4-BE49-F238E27FC236}">
                <ns2:creationId id="{35761977-B21E-491F-ADD5-093395E367EB}"/>
              </a:ext>
            </a:extLst>
          </p:cNvPr>
          <p:cNvSpPr>
            <a:spLocks noGrp="1"/>
          </p:cNvSpPr>
          <p:nvPr/>
        </p:nvSpPr>
        <p:spPr>
          <a:xfrm>
            <a:off x="247652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3" name="diagram block">
            <a:extLst>
              <a:ext uri="{FF2B5EF4-FFF2-40B4-BE49-F238E27FC236}">
                <ns2:creationId id="{3A450FAD-DE30-4156-885F-52BA09744842}"/>
              </a:ext>
            </a:extLst>
          </p:cNvPr>
          <p:cNvSpPr>
            <a:spLocks noGrp="1"/>
          </p:cNvSpPr>
          <p:nvPr/>
        </p:nvSpPr>
        <p:spPr>
          <a:xfrm>
            <a:off x="255910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4" name="diagram block">
            <a:extLst>
              <a:ext uri="{FF2B5EF4-FFF2-40B4-BE49-F238E27FC236}">
                <ns2:creationId id="{42C6513E-6B5E-44E0-8486-3F121B5F90F9}"/>
              </a:ext>
            </a:extLst>
          </p:cNvPr>
          <p:cNvSpPr>
            <a:spLocks noGrp="1"/>
          </p:cNvSpPr>
          <p:nvPr/>
        </p:nvSpPr>
        <p:spPr>
          <a:xfrm>
            <a:off x="264168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5" name="diagram block">
            <a:extLst>
              <a:ext uri="{FF2B5EF4-FFF2-40B4-BE49-F238E27FC236}">
                <ns2:creationId id="{7617484A-748C-44CA-8410-4B0B165A4F65}"/>
              </a:ext>
            </a:extLst>
          </p:cNvPr>
          <p:cNvSpPr>
            <a:spLocks noGrp="1"/>
          </p:cNvSpPr>
          <p:nvPr/>
        </p:nvSpPr>
        <p:spPr>
          <a:xfrm>
            <a:off x="272426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6" name="diagram block">
            <a:extLst>
              <a:ext uri="{FF2B5EF4-FFF2-40B4-BE49-F238E27FC236}">
                <ns2:creationId id="{9146C2CB-994D-4173-9DC5-CE9A067319BC}"/>
              </a:ext>
            </a:extLst>
          </p:cNvPr>
          <p:cNvSpPr>
            <a:spLocks noGrp="1"/>
          </p:cNvSpPr>
          <p:nvPr/>
        </p:nvSpPr>
        <p:spPr>
          <a:xfrm>
            <a:off x="148039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7" name="diagram block">
            <a:extLst>
              <a:ext uri="{FF2B5EF4-FFF2-40B4-BE49-F238E27FC236}">
                <ns2:creationId id="{D549D0F4-5B56-4285-A70C-720DC8F34D7E}"/>
              </a:ext>
            </a:extLst>
          </p:cNvPr>
          <p:cNvSpPr>
            <a:spLocks noGrp="1"/>
          </p:cNvSpPr>
          <p:nvPr/>
        </p:nvSpPr>
        <p:spPr>
          <a:xfrm>
            <a:off x="156297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8" name="diagram block">
            <a:extLst>
              <a:ext uri="{FF2B5EF4-FFF2-40B4-BE49-F238E27FC236}">
                <ns2:creationId id="{06AE5F30-CC4A-42D8-B804-91894B41311E}"/>
              </a:ext>
            </a:extLst>
          </p:cNvPr>
          <p:cNvSpPr>
            <a:spLocks noGrp="1"/>
          </p:cNvSpPr>
          <p:nvPr/>
        </p:nvSpPr>
        <p:spPr>
          <a:xfrm>
            <a:off x="164555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9" name="diagram block">
            <a:extLst>
              <a:ext uri="{FF2B5EF4-FFF2-40B4-BE49-F238E27FC236}">
                <ns2:creationId id="{92382AB3-F3D5-404B-8D08-DB660C125F61}"/>
              </a:ext>
            </a:extLst>
          </p:cNvPr>
          <p:cNvSpPr>
            <a:spLocks noGrp="1"/>
          </p:cNvSpPr>
          <p:nvPr/>
        </p:nvSpPr>
        <p:spPr>
          <a:xfrm>
            <a:off x="172813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50" name="diagram block">
            <a:extLst>
              <a:ext uri="{FF2B5EF4-FFF2-40B4-BE49-F238E27FC236}">
                <ns2:creationId id="{7FC8E0A6-E406-44DF-A553-31DA532EEC27}"/>
              </a:ext>
            </a:extLst>
          </p:cNvPr>
          <p:cNvSpPr>
            <a:spLocks noGrp="1"/>
          </p:cNvSpPr>
          <p:nvPr/>
        </p:nvSpPr>
        <p:spPr>
          <a:xfrm>
            <a:off x="247652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1" name="diagram block">
            <a:extLst>
              <a:ext uri="{FF2B5EF4-FFF2-40B4-BE49-F238E27FC236}">
                <ns2:creationId id="{050831A4-8A61-4469-A63A-F655F4EF5DC6}"/>
              </a:ext>
            </a:extLst>
          </p:cNvPr>
          <p:cNvSpPr>
            <a:spLocks noGrp="1"/>
          </p:cNvSpPr>
          <p:nvPr/>
        </p:nvSpPr>
        <p:spPr>
          <a:xfrm>
            <a:off x="255910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2" name="diagram block">
            <a:extLst>
              <a:ext uri="{FF2B5EF4-FFF2-40B4-BE49-F238E27FC236}">
                <ns2:creationId id="{914E83B9-3FB9-42C5-9CC9-209A373BC703}"/>
              </a:ext>
            </a:extLst>
          </p:cNvPr>
          <p:cNvSpPr>
            <a:spLocks noGrp="1"/>
          </p:cNvSpPr>
          <p:nvPr/>
        </p:nvSpPr>
        <p:spPr>
          <a:xfrm>
            <a:off x="264168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3" name="diagram block">
            <a:extLst>
              <a:ext uri="{FF2B5EF4-FFF2-40B4-BE49-F238E27FC236}">
                <ns2:creationId id="{0043F110-F523-422D-9543-0FD44B0D1354}"/>
              </a:ext>
            </a:extLst>
          </p:cNvPr>
          <p:cNvSpPr>
            <a:spLocks noGrp="1"/>
          </p:cNvSpPr>
          <p:nvPr/>
        </p:nvSpPr>
        <p:spPr>
          <a:xfrm>
            <a:off x="272426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4" name="Future latent tokens Zᵀ">
            <a:extLst>
              <a:ext uri="{FF2B5EF4-FFF2-40B4-BE49-F238E27FC236}">
                <ns2:creationId id="{73967466-96F9-40AE-AE68-0CA1C1630A65}"/>
              </a:ext>
            </a:extLst>
          </p:cNvPr>
          <p:cNvSpPr>
            <a:spLocks noGrp="1"/>
          </p:cNvSpPr>
          <p:nvPr/>
        </p:nvSpPr>
        <p:spPr>
          <a:xfrm>
            <a:off x="1222333" y="1249028"/>
            <a:ext cx="1140642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Zᵀ</a:t>
            </a:r>
          </a:p>
        </p:txBody>
      </p:sp>
      <p:sp>
        <p:nvSpPr>
          <p:cNvPr id="55" name="(teacher-generated future)">
            <a:extLst>
              <a:ext uri="{FF2B5EF4-FFF2-40B4-BE49-F238E27FC236}">
                <ns2:creationId id="{8A09EB3E-DE65-4FF7-B418-7696DAA2FEE2}"/>
              </a:ext>
            </a:extLst>
          </p:cNvPr>
          <p:cNvSpPr>
            <a:spLocks noGrp="1"/>
          </p:cNvSpPr>
          <p:nvPr/>
        </p:nvSpPr>
        <p:spPr>
          <a:xfrm>
            <a:off x="1227494" y="1367738"/>
            <a:ext cx="1021932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(teacher-generated future)</a:t>
            </a:r>
          </a:p>
        </p:txBody>
      </p:sp>
      <p:sp>
        <p:nvSpPr>
          <p:cNvPr id="56" name="Action chunk aᵀ">
            <a:extLst>
              <a:ext uri="{FF2B5EF4-FFF2-40B4-BE49-F238E27FC236}">
                <ns2:creationId id="{BDB9DAB3-2595-4AA8-B3B5-E8EEB3A3C15F}"/>
              </a:ext>
            </a:extLst>
          </p:cNvPr>
          <p:cNvSpPr>
            <a:spLocks noGrp="1"/>
          </p:cNvSpPr>
          <p:nvPr/>
        </p:nvSpPr>
        <p:spPr>
          <a:xfrm>
            <a:off x="2368136" y="1249028"/>
            <a:ext cx="71741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aᵀ</a:t>
            </a:r>
          </a:p>
        </p:txBody>
      </p:sp>
      <p:sp>
        <p:nvSpPr>
          <p:cNvPr id="57" name="(6 motor dimensions)">
            <a:extLst>
              <a:ext uri="{FF2B5EF4-FFF2-40B4-BE49-F238E27FC236}">
                <ns2:creationId id="{C8907DEC-259A-4F29-965A-BE82ECC308A6}"/>
              </a:ext>
            </a:extLst>
          </p:cNvPr>
          <p:cNvSpPr>
            <a:spLocks noGrp="1"/>
          </p:cNvSpPr>
          <p:nvPr/>
        </p:nvSpPr>
        <p:spPr>
          <a:xfrm>
            <a:off x="2357813" y="1367738"/>
            <a:ext cx="71741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sp>
        <p:nvSpPr>
          <p:cNvPr id="58" name="Future latent tokens Zˢ">
            <a:extLst>
              <a:ext uri="{FF2B5EF4-FFF2-40B4-BE49-F238E27FC236}">
                <ns2:creationId id="{10EECDA7-6CE9-4106-909A-ACF1D0BDFF6A}"/>
              </a:ext>
            </a:extLst>
          </p:cNvPr>
          <p:cNvSpPr>
            <a:spLocks noGrp="1"/>
          </p:cNvSpPr>
          <p:nvPr/>
        </p:nvSpPr>
        <p:spPr>
          <a:xfrm>
            <a:off x="1227494" y="2714830"/>
            <a:ext cx="110967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Future latent tokens Zˢ</a:t>
            </a:r>
          </a:p>
        </p:txBody>
      </p:sp>
      <p:sp>
        <p:nvSpPr>
          <p:cNvPr id="59" name="(student-generated future)">
            <a:extLst>
              <a:ext uri="{FF2B5EF4-FFF2-40B4-BE49-F238E27FC236}">
                <ns2:creationId id="{56F742EC-DEFF-466A-AEBB-51D404CBF570}"/>
              </a:ext>
            </a:extLst>
          </p:cNvPr>
          <p:cNvSpPr>
            <a:spLocks noGrp="1"/>
          </p:cNvSpPr>
          <p:nvPr/>
        </p:nvSpPr>
        <p:spPr>
          <a:xfrm>
            <a:off x="1227494" y="2833539"/>
            <a:ext cx="1021932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(student-generated future)</a:t>
            </a:r>
          </a:p>
        </p:txBody>
      </p:sp>
      <p:sp>
        <p:nvSpPr>
          <p:cNvPr id="60" name="Action chunk aˢ">
            <a:extLst>
              <a:ext uri="{FF2B5EF4-FFF2-40B4-BE49-F238E27FC236}">
                <ns2:creationId id="{9B8EA39C-A941-4445-9682-48F31ECAF1F2}"/>
              </a:ext>
            </a:extLst>
          </p:cNvPr>
          <p:cNvSpPr>
            <a:spLocks noGrp="1"/>
          </p:cNvSpPr>
          <p:nvPr/>
        </p:nvSpPr>
        <p:spPr>
          <a:xfrm>
            <a:off x="2368136" y="2714830"/>
            <a:ext cx="71741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Action chunk aˢ</a:t>
            </a:r>
          </a:p>
        </p:txBody>
      </p:sp>
      <p:sp>
        <p:nvSpPr>
          <p:cNvPr id="61" name="(6 motor dimensions)">
            <a:extLst>
              <a:ext uri="{FF2B5EF4-FFF2-40B4-BE49-F238E27FC236}">
                <ns2:creationId id="{76F77DDB-20E4-4AD6-A507-AF55AD381358}"/>
              </a:ext>
            </a:extLst>
          </p:cNvPr>
          <p:cNvSpPr>
            <a:spLocks noGrp="1"/>
          </p:cNvSpPr>
          <p:nvPr/>
        </p:nvSpPr>
        <p:spPr>
          <a:xfrm>
            <a:off x="2357813" y="2833539"/>
            <a:ext cx="71741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9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dimensions)</a:t>
            </a:r>
          </a:p>
        </p:txBody>
      </p:sp>
      <p:cxnSp>
        <p:nvCxnSpPr>
          <p:cNvPr id="62" name="native PowerPoint connector">
            <a:extLst>
              <a:ext uri="{FF2B5EF4-FFF2-40B4-BE49-F238E27FC236}">
                <ns2:creationId id="{039E98DC-15B3-48A0-B681-CDF0D07E51F7}"/>
              </a:ext>
            </a:extLst>
          </p:cNvPr>
          <p:cNvCxnSpPr/>
          <p:nvPr/>
        </p:nvCxnSpPr>
        <p:spPr>
          <a:xfrm flipH="0" flipV="0">
            <a:off x="1227494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3" name="native PowerPoint connector">
            <a:extLst>
              <a:ext uri="{FF2B5EF4-FFF2-40B4-BE49-F238E27FC236}">
                <ns2:creationId id="{A6EBC979-8C5F-4EC9-B1F1-C4B5E2E882F1}"/>
              </a:ext>
            </a:extLst>
          </p:cNvPr>
          <p:cNvCxnSpPr/>
          <p:nvPr/>
        </p:nvCxnSpPr>
        <p:spPr>
          <a:xfrm flipH="0" flipV="0">
            <a:off x="1227494" y="1507092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4" name="native PowerPoint connector">
            <a:extLst>
              <a:ext uri="{FF2B5EF4-FFF2-40B4-BE49-F238E27FC236}">
                <ns2:creationId id="{DF9B3F3F-961F-42B4-AF3B-BED1E223CD7A}"/>
              </a:ext>
            </a:extLst>
          </p:cNvPr>
          <p:cNvCxnSpPr/>
          <p:nvPr/>
        </p:nvCxnSpPr>
        <p:spPr>
          <a:xfrm flipH="0" flipV="1">
            <a:off x="224942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5" name="T tokens (exclude frame 0)">
            <a:extLst>
              <a:ext uri="{FF2B5EF4-FFF2-40B4-BE49-F238E27FC236}">
                <ns2:creationId id="{73A40643-635D-40DA-8CB3-3C681431777F}"/>
              </a:ext>
            </a:extLst>
          </p:cNvPr>
          <p:cNvSpPr>
            <a:spLocks noGrp="1"/>
          </p:cNvSpPr>
          <p:nvPr/>
        </p:nvSpPr>
        <p:spPr>
          <a:xfrm>
            <a:off x="1191366" y="154322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66" name="native PowerPoint connector">
            <a:extLst>
              <a:ext uri="{FF2B5EF4-FFF2-40B4-BE49-F238E27FC236}">
                <ns2:creationId id="{C5B1187F-918B-44C8-8563-D9862645293B}"/>
              </a:ext>
            </a:extLst>
          </p:cNvPr>
          <p:cNvCxnSpPr/>
          <p:nvPr/>
        </p:nvCxnSpPr>
        <p:spPr>
          <a:xfrm flipH="0" flipV="0">
            <a:off x="2316523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7" name="native PowerPoint connector">
            <a:extLst>
              <a:ext uri="{FF2B5EF4-FFF2-40B4-BE49-F238E27FC236}">
                <ns2:creationId id="{12E141BA-2CAA-453A-B9BB-6F27BB0D8846}"/>
              </a:ext>
            </a:extLst>
          </p:cNvPr>
          <p:cNvCxnSpPr/>
          <p:nvPr/>
        </p:nvCxnSpPr>
        <p:spPr>
          <a:xfrm flipH="0" flipV="0">
            <a:off x="2316523" y="1507092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8" name="native PowerPoint connector">
            <a:extLst>
              <a:ext uri="{FF2B5EF4-FFF2-40B4-BE49-F238E27FC236}">
                <ns2:creationId id="{BFC295FB-6DBB-4934-9394-F18DEAC32634}"/>
              </a:ext>
            </a:extLst>
          </p:cNvPr>
          <p:cNvCxnSpPr/>
          <p:nvPr/>
        </p:nvCxnSpPr>
        <p:spPr>
          <a:xfrm flipH="0" flipV="1">
            <a:off x="294103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9" name="H tokens">
            <a:extLst>
              <a:ext uri="{FF2B5EF4-FFF2-40B4-BE49-F238E27FC236}">
                <ns2:creationId id="{2BDD2E0C-F7FB-4A9D-BAB0-EE7E5348247F}"/>
              </a:ext>
            </a:extLst>
          </p:cNvPr>
          <p:cNvSpPr>
            <a:spLocks noGrp="1"/>
          </p:cNvSpPr>
          <p:nvPr/>
        </p:nvSpPr>
        <p:spPr>
          <a:xfrm>
            <a:off x="2280394" y="154322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0" name="native PowerPoint connector">
            <a:extLst>
              <a:ext uri="{FF2B5EF4-FFF2-40B4-BE49-F238E27FC236}">
                <ns2:creationId id="{4378965A-9E30-4DB2-B134-2B653464E15E}"/>
              </a:ext>
            </a:extLst>
          </p:cNvPr>
          <p:cNvCxnSpPr/>
          <p:nvPr/>
        </p:nvCxnSpPr>
        <p:spPr>
          <a:xfrm flipH="0" flipV="0">
            <a:off x="1227494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1" name="native PowerPoint connector">
            <a:extLst>
              <a:ext uri="{FF2B5EF4-FFF2-40B4-BE49-F238E27FC236}">
                <ns2:creationId id="{487DB44B-B430-4BC8-850B-FB55358EDFA7}"/>
              </a:ext>
            </a:extLst>
          </p:cNvPr>
          <p:cNvCxnSpPr/>
          <p:nvPr/>
        </p:nvCxnSpPr>
        <p:spPr>
          <a:xfrm flipH="0" flipV="0">
            <a:off x="1227494" y="2967733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2" name="native PowerPoint connector">
            <a:extLst>
              <a:ext uri="{FF2B5EF4-FFF2-40B4-BE49-F238E27FC236}">
                <ns2:creationId id="{E0596622-E6BE-4636-B87B-8566EE8B1599}"/>
              </a:ext>
            </a:extLst>
          </p:cNvPr>
          <p:cNvCxnSpPr/>
          <p:nvPr/>
        </p:nvCxnSpPr>
        <p:spPr>
          <a:xfrm flipH="0" flipV="1">
            <a:off x="224942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3" name="T tokens (exclude frame 0)">
            <a:extLst>
              <a:ext uri="{FF2B5EF4-FFF2-40B4-BE49-F238E27FC236}">
                <ns2:creationId id="{33DA6818-C01A-410D-A22F-F96F8B31A351}"/>
              </a:ext>
            </a:extLst>
          </p:cNvPr>
          <p:cNvSpPr>
            <a:spLocks noGrp="1"/>
          </p:cNvSpPr>
          <p:nvPr/>
        </p:nvSpPr>
        <p:spPr>
          <a:xfrm>
            <a:off x="1191366" y="300386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 tokens (exclude frame 0)</a:t>
            </a:r>
          </a:p>
        </p:txBody>
      </p:sp>
      <p:cxnSp>
        <p:nvCxnSpPr>
          <p:cNvPr id="74" name="native PowerPoint connector">
            <a:extLst>
              <a:ext uri="{FF2B5EF4-FFF2-40B4-BE49-F238E27FC236}">
                <ns2:creationId id="{02E1B8BD-8840-4204-8041-792248613EB3}"/>
              </a:ext>
            </a:extLst>
          </p:cNvPr>
          <p:cNvCxnSpPr/>
          <p:nvPr/>
        </p:nvCxnSpPr>
        <p:spPr>
          <a:xfrm flipH="0" flipV="0">
            <a:off x="2316523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5" name="native PowerPoint connector">
            <a:extLst>
              <a:ext uri="{FF2B5EF4-FFF2-40B4-BE49-F238E27FC236}">
                <ns2:creationId id="{97D5D522-E0C3-4FE5-AD3B-8D0A643B7CDA}"/>
              </a:ext>
            </a:extLst>
          </p:cNvPr>
          <p:cNvCxnSpPr/>
          <p:nvPr/>
        </p:nvCxnSpPr>
        <p:spPr>
          <a:xfrm flipH="0" flipV="0">
            <a:off x="2316523" y="2967733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6" name="native PowerPoint connector">
            <a:extLst>
              <a:ext uri="{FF2B5EF4-FFF2-40B4-BE49-F238E27FC236}">
                <ns2:creationId id="{0434D621-C8FE-4119-A1B0-C6E6B4CB4E52}"/>
              </a:ext>
            </a:extLst>
          </p:cNvPr>
          <p:cNvCxnSpPr/>
          <p:nvPr/>
        </p:nvCxnSpPr>
        <p:spPr>
          <a:xfrm flipH="0" flipV="1">
            <a:off x="294103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7" name="H tokens">
            <a:extLst>
              <a:ext uri="{FF2B5EF4-FFF2-40B4-BE49-F238E27FC236}">
                <ns2:creationId id="{0FDDE9A1-B740-49C5-A72A-AF9E17CF4888}"/>
              </a:ext>
            </a:extLst>
          </p:cNvPr>
          <p:cNvSpPr>
            <a:spLocks noGrp="1"/>
          </p:cNvSpPr>
          <p:nvPr/>
        </p:nvSpPr>
        <p:spPr>
          <a:xfrm>
            <a:off x="2280394" y="300386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 tokens</a:t>
            </a:r>
          </a:p>
        </p:txBody>
      </p:sp>
      <p:cxnSp>
        <p:nvCxnSpPr>
          <p:cNvPr id="78" name="native PowerPoint connector">
            <a:extLst>
              <a:ext uri="{FF2B5EF4-FFF2-40B4-BE49-F238E27FC236}">
                <ns2:creationId id="{81B9DBF9-5E8C-4626-992A-1B3882EA12A3}"/>
              </a:ext>
            </a:extLst>
          </p:cNvPr>
          <p:cNvCxnSpPr/>
          <p:nvPr/>
        </p:nvCxnSpPr>
        <p:spPr>
          <a:xfrm flipH="0" flipV="0">
            <a:off x="1821041" y="1114835"/>
            <a:ext cx="41290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79" name="native PowerPoint connector">
            <a:extLst>
              <a:ext uri="{FF2B5EF4-FFF2-40B4-BE49-F238E27FC236}">
                <ns2:creationId id="{8602C889-3796-44BE-B1E9-94E94667A2EC}"/>
              </a:ext>
            </a:extLst>
          </p:cNvPr>
          <p:cNvCxnSpPr/>
          <p:nvPr/>
        </p:nvCxnSpPr>
        <p:spPr>
          <a:xfrm flipH="0" flipV="1">
            <a:off x="1862331" y="954836"/>
            <a:ext cx="0" cy="159999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0" name="native PowerPoint connector">
            <a:extLst>
              <a:ext uri="{FF2B5EF4-FFF2-40B4-BE49-F238E27FC236}">
                <ns2:creationId id="{A4262300-2E18-414E-B89D-D0A2F6D625DE}"/>
              </a:ext>
            </a:extLst>
          </p:cNvPr>
          <p:cNvCxnSpPr/>
          <p:nvPr/>
        </p:nvCxnSpPr>
        <p:spPr>
          <a:xfrm flipH="0" flipV="0">
            <a:off x="1862331" y="954836"/>
            <a:ext cx="438708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1" name="Video K/V">
            <a:extLst>
              <a:ext uri="{FF2B5EF4-FFF2-40B4-BE49-F238E27FC236}">
                <ns2:creationId id="{5E01A65A-124B-4B76-8113-FE7F0E9F5D4C}"/>
              </a:ext>
            </a:extLst>
          </p:cNvPr>
          <p:cNvSpPr>
            <a:spLocks noGrp="1"/>
          </p:cNvSpPr>
          <p:nvPr/>
        </p:nvSpPr>
        <p:spPr>
          <a:xfrm>
            <a:off x="1877815" y="1037416"/>
            <a:ext cx="56257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2" name="(teacher future)">
            <a:extLst>
              <a:ext uri="{FF2B5EF4-FFF2-40B4-BE49-F238E27FC236}">
                <ns2:creationId id="{4C20DC90-323A-4DBC-B697-CC08E1968C74}"/>
              </a:ext>
            </a:extLst>
          </p:cNvPr>
          <p:cNvSpPr>
            <a:spLocks noGrp="1"/>
          </p:cNvSpPr>
          <p:nvPr/>
        </p:nvSpPr>
        <p:spPr>
          <a:xfrm>
            <a:off x="1877815" y="1145803"/>
            <a:ext cx="562579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83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future)</a:t>
            </a:r>
          </a:p>
        </p:txBody>
      </p:sp>
      <p:cxnSp>
        <p:nvCxnSpPr>
          <p:cNvPr id="83" name="native PowerPoint connector">
            <a:extLst>
              <a:ext uri="{FF2B5EF4-FFF2-40B4-BE49-F238E27FC236}">
                <ns2:creationId id="{0A069BEA-BC5D-4273-B60E-C5EB310EAC14}"/>
              </a:ext>
            </a:extLst>
          </p:cNvPr>
          <p:cNvCxnSpPr/>
          <p:nvPr/>
        </p:nvCxnSpPr>
        <p:spPr>
          <a:xfrm flipH="0" flipV="0">
            <a:off x="1821041" y="2565153"/>
            <a:ext cx="41290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4" name="native PowerPoint connector">
            <a:extLst>
              <a:ext uri="{FF2B5EF4-FFF2-40B4-BE49-F238E27FC236}">
                <ns2:creationId id="{5D8C65AC-B1BD-43DD-99B5-C83939B34F1C}"/>
              </a:ext>
            </a:extLst>
          </p:cNvPr>
          <p:cNvCxnSpPr/>
          <p:nvPr/>
        </p:nvCxnSpPr>
        <p:spPr>
          <a:xfrm flipH="0" flipV="1">
            <a:off x="1862331" y="2394831"/>
            <a:ext cx="0" cy="170322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5" name="native PowerPoint connector">
            <a:extLst>
              <a:ext uri="{FF2B5EF4-FFF2-40B4-BE49-F238E27FC236}">
                <ns2:creationId id="{CD95DE1D-9032-4B23-9E22-B001C43005F8}"/>
              </a:ext>
            </a:extLst>
          </p:cNvPr>
          <p:cNvCxnSpPr/>
          <p:nvPr/>
        </p:nvCxnSpPr>
        <p:spPr>
          <a:xfrm flipH="0" flipV="0">
            <a:off x="1862331" y="2394831"/>
            <a:ext cx="438708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6" name="Video K/V">
            <a:extLst>
              <a:ext uri="{FF2B5EF4-FFF2-40B4-BE49-F238E27FC236}">
                <ns2:creationId id="{848A3159-4D68-4710-A406-22342721F79E}"/>
              </a:ext>
            </a:extLst>
          </p:cNvPr>
          <p:cNvSpPr>
            <a:spLocks noGrp="1"/>
          </p:cNvSpPr>
          <p:nvPr/>
        </p:nvSpPr>
        <p:spPr>
          <a:xfrm>
            <a:off x="1877815" y="2477411"/>
            <a:ext cx="56257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Video K/V</a:t>
            </a:r>
          </a:p>
        </p:txBody>
      </p:sp>
      <p:sp>
        <p:nvSpPr>
          <p:cNvPr id="87" name="(student future)">
            <a:extLst>
              <a:ext uri="{FF2B5EF4-FFF2-40B4-BE49-F238E27FC236}">
                <ns2:creationId id="{1556935A-858B-42E2-85FD-28BFD1E77649}"/>
              </a:ext>
            </a:extLst>
          </p:cNvPr>
          <p:cNvSpPr>
            <a:spLocks noGrp="1"/>
          </p:cNvSpPr>
          <p:nvPr/>
        </p:nvSpPr>
        <p:spPr>
          <a:xfrm>
            <a:off x="1877815" y="2585798"/>
            <a:ext cx="562579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83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(student future)</a:t>
            </a:r>
          </a:p>
        </p:txBody>
      </p:sp>
      <p:cxnSp>
        <p:nvCxnSpPr>
          <p:cNvPr id="88" name="native PowerPoint connector">
            <a:extLst>
              <a:ext uri="{FF2B5EF4-FFF2-40B4-BE49-F238E27FC236}">
                <ns2:creationId id="{0B1DA879-E4CB-4AAD-827B-5618794C0751}"/>
              </a:ext>
            </a:extLst>
          </p:cNvPr>
          <p:cNvCxnSpPr/>
          <p:nvPr/>
        </p:nvCxnSpPr>
        <p:spPr>
          <a:xfrm flipH="0" flipV="0">
            <a:off x="2946199" y="769030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89" name="native PowerPoint connector">
            <a:extLst>
              <a:ext uri="{FF2B5EF4-FFF2-40B4-BE49-F238E27FC236}">
                <ns2:creationId id="{1E981114-B837-4BFD-B750-524E01875431}"/>
              </a:ext>
            </a:extLst>
          </p:cNvPr>
          <p:cNvCxnSpPr/>
          <p:nvPr/>
        </p:nvCxnSpPr>
        <p:spPr>
          <a:xfrm flipH="0" flipV="1">
            <a:off x="3147488" y="645159"/>
            <a:ext cx="0" cy="123871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0" name="native PowerPoint connector">
            <a:extLst>
              <a:ext uri="{FF2B5EF4-FFF2-40B4-BE49-F238E27FC236}">
                <ns2:creationId id="{2DC68D43-2C85-49C6-85A0-DBD7DDD1A9CF}"/>
              </a:ext>
            </a:extLst>
          </p:cNvPr>
          <p:cNvCxnSpPr/>
          <p:nvPr/>
        </p:nvCxnSpPr>
        <p:spPr>
          <a:xfrm flipH="0" flipV="0">
            <a:off x="3147488" y="645159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1" name="native PowerPoint connector">
            <a:extLst>
              <a:ext uri="{FF2B5EF4-FFF2-40B4-BE49-F238E27FC236}">
                <ns2:creationId id="{370995F8-A4E1-403F-9C91-EED7F09F8FFD}"/>
              </a:ext>
            </a:extLst>
          </p:cNvPr>
          <p:cNvCxnSpPr/>
          <p:nvPr/>
        </p:nvCxnSpPr>
        <p:spPr>
          <a:xfrm flipH="0" flipV="0">
            <a:off x="2946199" y="2193541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2" name="native PowerPoint connector">
            <a:extLst>
              <a:ext uri="{FF2B5EF4-FFF2-40B4-BE49-F238E27FC236}">
                <ns2:creationId id="{9A8A89AE-7878-4C12-8FBF-745F291E6603}"/>
              </a:ext>
            </a:extLst>
          </p:cNvPr>
          <p:cNvCxnSpPr/>
          <p:nvPr/>
        </p:nvCxnSpPr>
        <p:spPr>
          <a:xfrm flipH="0" flipV="0">
            <a:off x="3147488" y="21935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3" name="native PowerPoint connector">
            <a:extLst>
              <a:ext uri="{FF2B5EF4-FFF2-40B4-BE49-F238E27FC236}">
                <ns2:creationId id="{245049E3-312E-47DB-B385-F036AED00F14}"/>
              </a:ext>
            </a:extLst>
          </p:cNvPr>
          <p:cNvCxnSpPr/>
          <p:nvPr/>
        </p:nvCxnSpPr>
        <p:spPr>
          <a:xfrm flipH="0" flipV="0">
            <a:off x="3147488" y="227612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4" name="native PowerPoint connector">
            <a:extLst>
              <a:ext uri="{FF2B5EF4-FFF2-40B4-BE49-F238E27FC236}">
                <ns2:creationId id="{5137332B-8368-410D-BF19-C70DE7CD117E}"/>
              </a:ext>
            </a:extLst>
          </p:cNvPr>
          <p:cNvCxnSpPr/>
          <p:nvPr/>
        </p:nvCxnSpPr>
        <p:spPr>
          <a:xfrm flipH="0" flipV="0">
            <a:off x="3147488" y="645159"/>
            <a:ext cx="0" cy="1630963"/>
          </a:xfrm>
          <a:prstGeom prst="straightConnector1">
            <a:avLst/>
          </a:prstGeom>
          <a:ln w="6194">
            <a:solidFill>
              <a:srgbClr val="071B3C"/>
            </a:solidFill>
            <a:prstDash val="dash"/>
          </a:ln>
        </p:spPr>
      </p:cxnSp>
      <p:sp>
        <p:nvSpPr>
          <p:cNvPr id="95" name="diagram block">
            <a:extLst>
              <a:ext uri="{FF2B5EF4-FFF2-40B4-BE49-F238E27FC236}">
                <ns2:creationId id="{3368ACDF-6984-4497-90B6-0DB6B117D542}"/>
              </a:ext>
            </a:extLst>
          </p:cNvPr>
          <p:cNvSpPr>
            <a:spLocks noGrp="1"/>
          </p:cNvSpPr>
          <p:nvPr/>
        </p:nvSpPr>
        <p:spPr>
          <a:xfrm>
            <a:off x="3261036" y="485160"/>
            <a:ext cx="629675" cy="903223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0D297"/>
            </a:solidFill>
            <a:prstDash val="solid"/>
          </a:ln>
        </p:spPr>
      </p:sp>
      <p:sp>
        <p:nvSpPr>
          <p:cNvPr id="96" name="Future&#10;latent loss">
            <a:extLst>
              <a:ext uri="{FF2B5EF4-FFF2-40B4-BE49-F238E27FC236}">
                <ns2:creationId id="{7C935A31-9F68-44E7-AFE4-F59CF259CDBB}"/>
              </a:ext>
            </a:extLst>
          </p:cNvPr>
          <p:cNvSpPr>
            <a:spLocks noGrp="1"/>
          </p:cNvSpPr>
          <p:nvPr/>
        </p:nvSpPr>
        <p:spPr>
          <a:xfrm>
            <a:off x="3312649" y="526450"/>
            <a:ext cx="526450" cy="247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5"/>
          </a:bodyPr>
          <a:lstStyle>
            <a:def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76450F"/>
                </a:solidFill>
                <a:latin typeface="Times New Roman"/>
                <a:ea typeface="Times New Roman"/>
                <a:cs typeface="Times New Roman"/>
              </a:rPr>
              <a:t>latent loss</a:t>
            </a:r>
          </a:p>
        </p:txBody>
      </p:sp>
      <p:sp>
        <p:nvSpPr>
          <p:cNvPr id="97" name="L_z = NMSE">
            <a:extLst>
              <a:ext uri="{FF2B5EF4-FFF2-40B4-BE49-F238E27FC236}">
                <ns2:creationId id="{5BA980F2-1144-49D0-B7F5-7FC195F95C5E}"/>
              </a:ext>
            </a:extLst>
          </p:cNvPr>
          <p:cNvSpPr>
            <a:spLocks noGrp="1"/>
          </p:cNvSpPr>
          <p:nvPr/>
        </p:nvSpPr>
        <p:spPr>
          <a:xfrm>
            <a:off x="3302327" y="846449"/>
            <a:ext cx="557418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6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5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NMSE</a:t>
            </a:r>
          </a:p>
        </p:txBody>
      </p:sp>
      <p:sp>
        <p:nvSpPr>
          <p:cNvPr id="98" name="(Z^S, Z^T)">
            <a:extLst>
              <a:ext uri="{FF2B5EF4-FFF2-40B4-BE49-F238E27FC236}">
                <ns2:creationId id="{F3E41B0B-65E3-4605-BABA-112CB8A8274B}"/>
              </a:ext>
            </a:extLst>
          </p:cNvPr>
          <p:cNvSpPr>
            <a:spLocks noGrp="1"/>
          </p:cNvSpPr>
          <p:nvPr/>
        </p:nvSpPr>
        <p:spPr>
          <a:xfrm>
            <a:off x="3302327" y="1001287"/>
            <a:ext cx="557418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99" name="(future only,&#10;frame 0 excluded)">
            <a:extLst>
              <a:ext uri="{FF2B5EF4-FFF2-40B4-BE49-F238E27FC236}">
                <ns2:creationId id="{403B0B09-5AAB-421E-AA87-567D2B3A25C7}"/>
              </a:ext>
            </a:extLst>
          </p:cNvPr>
          <p:cNvSpPr>
            <a:spLocks noGrp="1"/>
          </p:cNvSpPr>
          <p:nvPr/>
        </p:nvSpPr>
        <p:spPr>
          <a:xfrm>
            <a:off x="3297165" y="1197416"/>
            <a:ext cx="557418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969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(future only,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frame 0 excluded)</a:t>
            </a:r>
          </a:p>
        </p:txBody>
      </p:sp>
      <p:sp>
        <p:nvSpPr>
          <p:cNvPr id="100" name="diagram block">
            <a:extLst>
              <a:ext uri="{FF2B5EF4-FFF2-40B4-BE49-F238E27FC236}">
                <ns2:creationId id="{5E7609EF-41BD-4B1B-966B-16CD126BAAF4}"/>
              </a:ext>
            </a:extLst>
          </p:cNvPr>
          <p:cNvSpPr>
            <a:spLocks noGrp="1"/>
          </p:cNvSpPr>
          <p:nvPr/>
        </p:nvSpPr>
        <p:spPr>
          <a:xfrm>
            <a:off x="3261036" y="1723865"/>
            <a:ext cx="629675" cy="1068384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D9F2F4"/>
              </a:gs>
              <a:gs pos="100000">
                <a:srgbClr val="EDF9FA"/>
              </a:gs>
            </a:gsLst>
            <a:lin ang="5400000"/>
          </a:gradFill>
          <a:ln w="5161">
            <a:solidFill>
              <a:srgbClr val="98D7DE"/>
            </a:solidFill>
            <a:prstDash val="solid"/>
          </a:ln>
        </p:spPr>
      </p:sp>
      <p:sp>
        <p:nvSpPr>
          <p:cNvPr id="101" name="First-10&#10;motor action&#10;loss">
            <a:extLst>
              <a:ext uri="{FF2B5EF4-FFF2-40B4-BE49-F238E27FC236}">
                <ns2:creationId id="{81B7BCBA-EB41-4BF0-ACA2-560141A45A9A}"/>
              </a:ext>
            </a:extLst>
          </p:cNvPr>
          <p:cNvSpPr>
            <a:spLocks noGrp="1"/>
          </p:cNvSpPr>
          <p:nvPr/>
        </p:nvSpPr>
        <p:spPr>
          <a:xfrm>
            <a:off x="3307488" y="1790962"/>
            <a:ext cx="541934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867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First-10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102" name="L_a = MSE">
            <a:extLst>
              <a:ext uri="{FF2B5EF4-FFF2-40B4-BE49-F238E27FC236}">
                <ns2:creationId id="{ECB078F5-0820-4357-B41A-C3795D476F3D}"/>
              </a:ext>
            </a:extLst>
          </p:cNvPr>
          <p:cNvSpPr>
            <a:spLocks noGrp="1"/>
          </p:cNvSpPr>
          <p:nvPr/>
        </p:nvSpPr>
        <p:spPr>
          <a:xfrm>
            <a:off x="3302327" y="2167735"/>
            <a:ext cx="557418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8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3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MSE</a:t>
            </a:r>
          </a:p>
        </p:txBody>
      </p:sp>
      <p:sp>
        <p:nvSpPr>
          <p:cNvPr id="103" name="(a^S, a^T)">
            <a:extLst>
              <a:ext uri="{FF2B5EF4-FFF2-40B4-BE49-F238E27FC236}">
                <ns2:creationId id="{81C63380-F8CD-42B9-B0F1-22A63131754D}"/>
              </a:ext>
            </a:extLst>
          </p:cNvPr>
          <p:cNvSpPr>
            <a:spLocks noGrp="1"/>
          </p:cNvSpPr>
          <p:nvPr/>
        </p:nvSpPr>
        <p:spPr>
          <a:xfrm>
            <a:off x="3302327" y="2327735"/>
            <a:ext cx="557418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a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04" name="(6 motor dims&#10;only, gripper&#10;excluded)">
            <a:extLst>
              <a:ext uri="{FF2B5EF4-FFF2-40B4-BE49-F238E27FC236}">
                <ns2:creationId id="{9C7C470E-F26F-479E-B808-A1A401A5C0DF}"/>
              </a:ext>
            </a:extLst>
          </p:cNvPr>
          <p:cNvSpPr>
            <a:spLocks noGrp="1"/>
          </p:cNvSpPr>
          <p:nvPr/>
        </p:nvSpPr>
        <p:spPr>
          <a:xfrm>
            <a:off x="3302327" y="2503218"/>
            <a:ext cx="536772" cy="2683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0194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(6 motor dims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only, gripper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excluded)</a:t>
            </a:r>
          </a:p>
        </p:txBody>
      </p:sp>
      <p:sp>
        <p:nvSpPr>
          <p:cNvPr id="105" name="Transform weight rows into groups of 32 scalars">
            <a:extLst>
              <a:ext uri="{FF2B5EF4-FFF2-40B4-BE49-F238E27FC236}">
                <ns2:creationId id="{4BC4A093-B40A-4A77-B9BE-502A9CC983B5}"/>
              </a:ext>
            </a:extLst>
          </p:cNvPr>
          <p:cNvSpPr>
            <a:spLocks noGrp="1"/>
          </p:cNvSpPr>
          <p:nvPr/>
        </p:nvSpPr>
        <p:spPr>
          <a:xfrm>
            <a:off x="4066195" y="273548"/>
            <a:ext cx="229676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 weight rows into groups of 32 scalars</a:t>
            </a:r>
          </a:p>
        </p:txBody>
      </p:sp>
      <p:sp>
        <p:nvSpPr>
          <p:cNvPr id="106" name="(each vector has d = 4)">
            <a:extLst>
              <a:ext uri="{FF2B5EF4-FFF2-40B4-BE49-F238E27FC236}">
                <ns2:creationId id="{ADAEA0E0-FA0B-4636-AC78-D72620A39330}"/>
              </a:ext>
            </a:extLst>
          </p:cNvPr>
          <p:cNvSpPr>
            <a:spLocks noGrp="1"/>
          </p:cNvSpPr>
          <p:nvPr/>
        </p:nvSpPr>
        <p:spPr>
          <a:xfrm>
            <a:off x="4122969" y="387096"/>
            <a:ext cx="2198703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(each vector has d = 4)</a:t>
            </a:r>
          </a:p>
        </p:txBody>
      </p:sp>
      <p:sp>
        <p:nvSpPr>
          <p:cNvPr id="107" name="Transformed weight row  w">
            <a:extLst>
              <a:ext uri="{FF2B5EF4-FFF2-40B4-BE49-F238E27FC236}">
                <ns2:creationId id="{B9C8A3AA-F907-4EC5-8998-4A9781938A03}"/>
              </a:ext>
            </a:extLst>
          </p:cNvPr>
          <p:cNvSpPr>
            <a:spLocks noGrp="1"/>
          </p:cNvSpPr>
          <p:nvPr/>
        </p:nvSpPr>
        <p:spPr>
          <a:xfrm>
            <a:off x="4210711" y="521289"/>
            <a:ext cx="197160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Transformed weight row  w</a:t>
            </a:r>
          </a:p>
        </p:txBody>
      </p:sp>
      <p:sp>
        <p:nvSpPr>
          <p:cNvPr id="108" name="diagram block">
            <a:extLst>
              <a:ext uri="{FF2B5EF4-FFF2-40B4-BE49-F238E27FC236}">
                <ns2:creationId id="{090E9709-8656-4B03-889E-63609F39DBE2}"/>
              </a:ext>
            </a:extLst>
          </p:cNvPr>
          <p:cNvSpPr>
            <a:spLocks noGrp="1"/>
          </p:cNvSpPr>
          <p:nvPr/>
        </p:nvSpPr>
        <p:spPr>
          <a:xfrm>
            <a:off x="425716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09" name="diagram block">
            <a:extLst>
              <a:ext uri="{FF2B5EF4-FFF2-40B4-BE49-F238E27FC236}">
                <ns2:creationId id="{79007B9F-EC38-437A-9A01-F4F6C3C09CB1}"/>
              </a:ext>
            </a:extLst>
          </p:cNvPr>
          <p:cNvSpPr>
            <a:spLocks noGrp="1"/>
          </p:cNvSpPr>
          <p:nvPr/>
        </p:nvSpPr>
        <p:spPr>
          <a:xfrm>
            <a:off x="437554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0" name="diagram block">
            <a:extLst>
              <a:ext uri="{FF2B5EF4-FFF2-40B4-BE49-F238E27FC236}">
                <ns2:creationId id="{4E5159A9-1207-481E-A538-CE996FD80F13}"/>
              </a:ext>
            </a:extLst>
          </p:cNvPr>
          <p:cNvSpPr>
            <a:spLocks noGrp="1"/>
          </p:cNvSpPr>
          <p:nvPr/>
        </p:nvSpPr>
        <p:spPr>
          <a:xfrm>
            <a:off x="449393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1" name="diagram block">
            <a:extLst>
              <a:ext uri="{FF2B5EF4-FFF2-40B4-BE49-F238E27FC236}">
                <ns2:creationId id="{C8824878-40A7-4AEA-B386-C1CD93244A0C}"/>
              </a:ext>
            </a:extLst>
          </p:cNvPr>
          <p:cNvSpPr>
            <a:spLocks noGrp="1"/>
          </p:cNvSpPr>
          <p:nvPr/>
        </p:nvSpPr>
        <p:spPr>
          <a:xfrm>
            <a:off x="461232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2" name="diagram block">
            <a:extLst>
              <a:ext uri="{FF2B5EF4-FFF2-40B4-BE49-F238E27FC236}">
                <ns2:creationId id="{B4075AA6-A10C-42BC-8A0A-C3614D4EA75C}"/>
              </a:ext>
            </a:extLst>
          </p:cNvPr>
          <p:cNvSpPr>
            <a:spLocks noGrp="1"/>
          </p:cNvSpPr>
          <p:nvPr/>
        </p:nvSpPr>
        <p:spPr>
          <a:xfrm>
            <a:off x="473070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3" name="diagram block">
            <a:extLst>
              <a:ext uri="{FF2B5EF4-FFF2-40B4-BE49-F238E27FC236}">
                <ns2:creationId id="{3AEB5AEF-74A6-4FDF-9972-3B34BC9790F7}"/>
              </a:ext>
            </a:extLst>
          </p:cNvPr>
          <p:cNvSpPr>
            <a:spLocks noGrp="1"/>
          </p:cNvSpPr>
          <p:nvPr/>
        </p:nvSpPr>
        <p:spPr>
          <a:xfrm>
            <a:off x="484909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4" name="diagram block">
            <a:extLst>
              <a:ext uri="{FF2B5EF4-FFF2-40B4-BE49-F238E27FC236}">
                <ns2:creationId id="{4DFC4803-CDD3-4262-B4F5-52791F5E2C0E}"/>
              </a:ext>
            </a:extLst>
          </p:cNvPr>
          <p:cNvSpPr>
            <a:spLocks noGrp="1"/>
          </p:cNvSpPr>
          <p:nvPr/>
        </p:nvSpPr>
        <p:spPr>
          <a:xfrm>
            <a:off x="496748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5" name="diagram block">
            <a:extLst>
              <a:ext uri="{FF2B5EF4-FFF2-40B4-BE49-F238E27FC236}">
                <ns2:creationId id="{BF42835D-4A44-469A-B8F2-0827EE43B98E}"/>
              </a:ext>
            </a:extLst>
          </p:cNvPr>
          <p:cNvSpPr>
            <a:spLocks noGrp="1"/>
          </p:cNvSpPr>
          <p:nvPr/>
        </p:nvSpPr>
        <p:spPr>
          <a:xfrm>
            <a:off x="508586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6" name="diagram block">
            <a:extLst>
              <a:ext uri="{FF2B5EF4-FFF2-40B4-BE49-F238E27FC236}">
                <ns2:creationId id="{52D1C051-F851-477C-8602-B82565180DA9}"/>
              </a:ext>
            </a:extLst>
          </p:cNvPr>
          <p:cNvSpPr>
            <a:spLocks noGrp="1"/>
          </p:cNvSpPr>
          <p:nvPr/>
        </p:nvSpPr>
        <p:spPr>
          <a:xfrm>
            <a:off x="520425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7" name="diagram block">
            <a:extLst>
              <a:ext uri="{FF2B5EF4-FFF2-40B4-BE49-F238E27FC236}">
                <ns2:creationId id="{AD1F08CC-4038-4A53-BA6B-155094C47B5D}"/>
              </a:ext>
            </a:extLst>
          </p:cNvPr>
          <p:cNvSpPr>
            <a:spLocks noGrp="1"/>
          </p:cNvSpPr>
          <p:nvPr/>
        </p:nvSpPr>
        <p:spPr>
          <a:xfrm>
            <a:off x="532264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8" name="diagram block">
            <a:extLst>
              <a:ext uri="{FF2B5EF4-FFF2-40B4-BE49-F238E27FC236}">
                <ns2:creationId id="{ED4A9CC0-FE69-43B1-A497-15D03F868259}"/>
              </a:ext>
            </a:extLst>
          </p:cNvPr>
          <p:cNvSpPr>
            <a:spLocks noGrp="1"/>
          </p:cNvSpPr>
          <p:nvPr/>
        </p:nvSpPr>
        <p:spPr>
          <a:xfrm>
            <a:off x="544102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9" name="diagram block">
            <a:extLst>
              <a:ext uri="{FF2B5EF4-FFF2-40B4-BE49-F238E27FC236}">
                <ns2:creationId id="{BF6EB278-A7C4-423F-B5D5-D84D5AD672A5}"/>
              </a:ext>
            </a:extLst>
          </p:cNvPr>
          <p:cNvSpPr>
            <a:spLocks noGrp="1"/>
          </p:cNvSpPr>
          <p:nvPr/>
        </p:nvSpPr>
        <p:spPr>
          <a:xfrm>
            <a:off x="555941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0" name="diagram block">
            <a:extLst>
              <a:ext uri="{FF2B5EF4-FFF2-40B4-BE49-F238E27FC236}">
                <ns2:creationId id="{41986CFD-1376-41D0-815E-D4AD429A2E4D}"/>
              </a:ext>
            </a:extLst>
          </p:cNvPr>
          <p:cNvSpPr>
            <a:spLocks noGrp="1"/>
          </p:cNvSpPr>
          <p:nvPr/>
        </p:nvSpPr>
        <p:spPr>
          <a:xfrm>
            <a:off x="567780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1" name="diagram block">
            <a:extLst>
              <a:ext uri="{FF2B5EF4-FFF2-40B4-BE49-F238E27FC236}">
                <ns2:creationId id="{802D8112-9AC1-4ED9-93EC-CB36FF7F965D}"/>
              </a:ext>
            </a:extLst>
          </p:cNvPr>
          <p:cNvSpPr>
            <a:spLocks noGrp="1"/>
          </p:cNvSpPr>
          <p:nvPr/>
        </p:nvSpPr>
        <p:spPr>
          <a:xfrm>
            <a:off x="5796190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2" name="diagram block">
            <a:extLst>
              <a:ext uri="{FF2B5EF4-FFF2-40B4-BE49-F238E27FC236}">
                <ns2:creationId id="{ACB5CC87-0637-499F-BECD-F45216828C74}"/>
              </a:ext>
            </a:extLst>
          </p:cNvPr>
          <p:cNvSpPr>
            <a:spLocks noGrp="1"/>
          </p:cNvSpPr>
          <p:nvPr/>
        </p:nvSpPr>
        <p:spPr>
          <a:xfrm>
            <a:off x="591457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3" name="diagram block">
            <a:extLst>
              <a:ext uri="{FF2B5EF4-FFF2-40B4-BE49-F238E27FC236}">
                <ns2:creationId id="{6A4AE3BB-0C43-4C6A-90E1-BC38AA30CE04}"/>
              </a:ext>
            </a:extLst>
          </p:cNvPr>
          <p:cNvSpPr>
            <a:spLocks noGrp="1"/>
          </p:cNvSpPr>
          <p:nvPr/>
        </p:nvSpPr>
        <p:spPr>
          <a:xfrm>
            <a:off x="603296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4" name="diagram block">
            <a:extLst>
              <a:ext uri="{FF2B5EF4-FFF2-40B4-BE49-F238E27FC236}">
                <ns2:creationId id="{2975805C-20A7-4A45-BCC7-505C3377887E}"/>
              </a:ext>
            </a:extLst>
          </p:cNvPr>
          <p:cNvSpPr>
            <a:spLocks noGrp="1"/>
          </p:cNvSpPr>
          <p:nvPr/>
        </p:nvSpPr>
        <p:spPr>
          <a:xfrm>
            <a:off x="425716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5" name="diagram block">
            <a:extLst>
              <a:ext uri="{FF2B5EF4-FFF2-40B4-BE49-F238E27FC236}">
                <ns2:creationId id="{B70976BF-23C2-46BA-B7E6-A5EC673EDD64}"/>
              </a:ext>
            </a:extLst>
          </p:cNvPr>
          <p:cNvSpPr>
            <a:spLocks noGrp="1"/>
          </p:cNvSpPr>
          <p:nvPr/>
        </p:nvSpPr>
        <p:spPr>
          <a:xfrm>
            <a:off x="435845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6" name="diagram block">
            <a:extLst>
              <a:ext uri="{FF2B5EF4-FFF2-40B4-BE49-F238E27FC236}">
                <ns2:creationId id="{80C5F457-2125-4490-8835-9B4AD34F8D4F}"/>
              </a:ext>
            </a:extLst>
          </p:cNvPr>
          <p:cNvSpPr>
            <a:spLocks noGrp="1"/>
          </p:cNvSpPr>
          <p:nvPr/>
        </p:nvSpPr>
        <p:spPr>
          <a:xfrm>
            <a:off x="445974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7" name="diagram block">
            <a:extLst>
              <a:ext uri="{FF2B5EF4-FFF2-40B4-BE49-F238E27FC236}">
                <ns2:creationId id="{F307D569-7DC8-4A15-B894-2AA64F232294}"/>
              </a:ext>
            </a:extLst>
          </p:cNvPr>
          <p:cNvSpPr>
            <a:spLocks noGrp="1"/>
          </p:cNvSpPr>
          <p:nvPr/>
        </p:nvSpPr>
        <p:spPr>
          <a:xfrm>
            <a:off x="456103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8" name="diagram block">
            <a:extLst>
              <a:ext uri="{FF2B5EF4-FFF2-40B4-BE49-F238E27FC236}">
                <ns2:creationId id="{E194B8A3-DE9D-442A-82D3-74F2F0DCA69B}"/>
              </a:ext>
            </a:extLst>
          </p:cNvPr>
          <p:cNvSpPr>
            <a:spLocks noGrp="1"/>
          </p:cNvSpPr>
          <p:nvPr/>
        </p:nvSpPr>
        <p:spPr>
          <a:xfrm>
            <a:off x="466232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9" name="diagram block">
            <a:extLst>
              <a:ext uri="{FF2B5EF4-FFF2-40B4-BE49-F238E27FC236}">
                <ns2:creationId id="{D39B4214-877E-4481-AB28-5FB504C18E11}"/>
              </a:ext>
            </a:extLst>
          </p:cNvPr>
          <p:cNvSpPr>
            <a:spLocks noGrp="1"/>
          </p:cNvSpPr>
          <p:nvPr/>
        </p:nvSpPr>
        <p:spPr>
          <a:xfrm>
            <a:off x="476361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0" name="diagram block">
            <a:extLst>
              <a:ext uri="{FF2B5EF4-FFF2-40B4-BE49-F238E27FC236}">
                <ns2:creationId id="{EC8BB4FC-7B9E-406F-AD1D-1D0CBDF0BCFB}"/>
              </a:ext>
            </a:extLst>
          </p:cNvPr>
          <p:cNvSpPr>
            <a:spLocks noGrp="1"/>
          </p:cNvSpPr>
          <p:nvPr/>
        </p:nvSpPr>
        <p:spPr>
          <a:xfrm>
            <a:off x="486490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1" name="diagram block">
            <a:extLst>
              <a:ext uri="{FF2B5EF4-FFF2-40B4-BE49-F238E27FC236}">
                <ns2:creationId id="{3D7789C9-1ECC-4D06-93D5-63BDA66D76CE}"/>
              </a:ext>
            </a:extLst>
          </p:cNvPr>
          <p:cNvSpPr>
            <a:spLocks noGrp="1"/>
          </p:cNvSpPr>
          <p:nvPr/>
        </p:nvSpPr>
        <p:spPr>
          <a:xfrm>
            <a:off x="496619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2" name="diagram block">
            <a:extLst>
              <a:ext uri="{FF2B5EF4-FFF2-40B4-BE49-F238E27FC236}">
                <ns2:creationId id="{F062B576-DC66-4B16-ADEE-9655B2F01472}"/>
              </a:ext>
            </a:extLst>
          </p:cNvPr>
          <p:cNvSpPr>
            <a:spLocks noGrp="1"/>
          </p:cNvSpPr>
          <p:nvPr/>
        </p:nvSpPr>
        <p:spPr>
          <a:xfrm>
            <a:off x="5103611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3" name="diagram block">
            <a:extLst>
              <a:ext uri="{FF2B5EF4-FFF2-40B4-BE49-F238E27FC236}">
                <ns2:creationId id="{12E9F3DF-FA2B-409E-8EF0-72ABFA3BC966}"/>
              </a:ext>
            </a:extLst>
          </p:cNvPr>
          <p:cNvSpPr>
            <a:spLocks noGrp="1"/>
          </p:cNvSpPr>
          <p:nvPr/>
        </p:nvSpPr>
        <p:spPr>
          <a:xfrm>
            <a:off x="519909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4" name="diagram block">
            <a:extLst>
              <a:ext uri="{FF2B5EF4-FFF2-40B4-BE49-F238E27FC236}">
                <ns2:creationId id="{DEA5BD46-5873-405F-ABFB-F09BA4BB8FA1}"/>
              </a:ext>
            </a:extLst>
          </p:cNvPr>
          <p:cNvSpPr>
            <a:spLocks noGrp="1"/>
          </p:cNvSpPr>
          <p:nvPr/>
        </p:nvSpPr>
        <p:spPr>
          <a:xfrm>
            <a:off x="5294578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5" name="diagram block">
            <a:extLst>
              <a:ext uri="{FF2B5EF4-FFF2-40B4-BE49-F238E27FC236}">
                <ns2:creationId id="{72C97A67-824E-4AC4-9E02-86310C7AFC0B}"/>
              </a:ext>
            </a:extLst>
          </p:cNvPr>
          <p:cNvSpPr>
            <a:spLocks noGrp="1"/>
          </p:cNvSpPr>
          <p:nvPr/>
        </p:nvSpPr>
        <p:spPr>
          <a:xfrm>
            <a:off x="5390062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6" name="diagram block">
            <a:extLst>
              <a:ext uri="{FF2B5EF4-FFF2-40B4-BE49-F238E27FC236}">
                <ns2:creationId id="{C1A25972-3292-4CB3-A988-F099BBBB65E4}"/>
              </a:ext>
            </a:extLst>
          </p:cNvPr>
          <p:cNvSpPr>
            <a:spLocks noGrp="1"/>
          </p:cNvSpPr>
          <p:nvPr/>
        </p:nvSpPr>
        <p:spPr>
          <a:xfrm>
            <a:off x="548554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7" name="diagram block">
            <a:extLst>
              <a:ext uri="{FF2B5EF4-FFF2-40B4-BE49-F238E27FC236}">
                <ns2:creationId id="{F3B97B3F-FC1B-4E77-B88E-1D794890EF41}"/>
              </a:ext>
            </a:extLst>
          </p:cNvPr>
          <p:cNvSpPr>
            <a:spLocks noGrp="1"/>
          </p:cNvSpPr>
          <p:nvPr/>
        </p:nvSpPr>
        <p:spPr>
          <a:xfrm>
            <a:off x="5581029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8" name="diagram block">
            <a:extLst>
              <a:ext uri="{FF2B5EF4-FFF2-40B4-BE49-F238E27FC236}">
                <ns2:creationId id="{6DEAB5AD-D232-4382-B65C-67E84773BF34}"/>
              </a:ext>
            </a:extLst>
          </p:cNvPr>
          <p:cNvSpPr>
            <a:spLocks noGrp="1"/>
          </p:cNvSpPr>
          <p:nvPr/>
        </p:nvSpPr>
        <p:spPr>
          <a:xfrm>
            <a:off x="5676513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9" name="diagram block">
            <a:extLst>
              <a:ext uri="{FF2B5EF4-FFF2-40B4-BE49-F238E27FC236}">
                <ns2:creationId id="{19950443-8E05-4390-92A3-3C550204F1F9}"/>
              </a:ext>
            </a:extLst>
          </p:cNvPr>
          <p:cNvSpPr>
            <a:spLocks noGrp="1"/>
          </p:cNvSpPr>
          <p:nvPr/>
        </p:nvSpPr>
        <p:spPr>
          <a:xfrm>
            <a:off x="5771996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40" name="…">
            <a:extLst>
              <a:ext uri="{FF2B5EF4-FFF2-40B4-BE49-F238E27FC236}">
                <ns2:creationId id="{818A4CA8-64BA-4770-B343-12D815DCB16F}"/>
              </a:ext>
            </a:extLst>
          </p:cNvPr>
          <p:cNvSpPr>
            <a:spLocks noGrp="1"/>
          </p:cNvSpPr>
          <p:nvPr/>
        </p:nvSpPr>
        <p:spPr>
          <a:xfrm>
            <a:off x="6027479" y="738062"/>
            <a:ext cx="247741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31"/>
          </a:bodyPr>
          <a:lstStyle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41" name="native PowerPoint connector">
            <a:extLst>
              <a:ext uri="{FF2B5EF4-FFF2-40B4-BE49-F238E27FC236}">
                <ns2:creationId id="{1985DEBD-C34C-4976-AD08-0F76D1AA8693}"/>
              </a:ext>
            </a:extLst>
          </p:cNvPr>
          <p:cNvCxnSpPr/>
          <p:nvPr/>
        </p:nvCxnSpPr>
        <p:spPr>
          <a:xfrm flipH="0" flipV="0">
            <a:off x="4257162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2" name="native PowerPoint connector">
            <a:extLst>
              <a:ext uri="{FF2B5EF4-FFF2-40B4-BE49-F238E27FC236}">
                <ns2:creationId id="{867A9CBD-3774-45F5-938A-8F49B40D2DBE}"/>
              </a:ext>
            </a:extLst>
          </p:cNvPr>
          <p:cNvCxnSpPr/>
          <p:nvPr/>
        </p:nvCxnSpPr>
        <p:spPr>
          <a:xfrm flipH="0" flipV="0">
            <a:off x="4257162" y="949674"/>
            <a:ext cx="799997" cy="0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3" name="native PowerPoint connector">
            <a:extLst>
              <a:ext uri="{FF2B5EF4-FFF2-40B4-BE49-F238E27FC236}">
                <ns2:creationId id="{D7C29A1F-7EA6-4446-8AF5-FAC50F1A02B7}"/>
              </a:ext>
            </a:extLst>
          </p:cNvPr>
          <p:cNvCxnSpPr/>
          <p:nvPr/>
        </p:nvCxnSpPr>
        <p:spPr>
          <a:xfrm flipH="0" flipV="1">
            <a:off x="5057160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sp>
        <p:nvSpPr>
          <p:cNvPr id="144" name="Group g (32 scalars)">
            <a:extLst>
              <a:ext uri="{FF2B5EF4-FFF2-40B4-BE49-F238E27FC236}">
                <ns2:creationId id="{F35726CD-A1B1-4AF9-A9F1-142576546A71}"/>
              </a:ext>
            </a:extLst>
          </p:cNvPr>
          <p:cNvSpPr>
            <a:spLocks noGrp="1"/>
          </p:cNvSpPr>
          <p:nvPr/>
        </p:nvSpPr>
        <p:spPr>
          <a:xfrm>
            <a:off x="4257162" y="970319"/>
            <a:ext cx="85677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Group g (32 scalars)</a:t>
            </a:r>
          </a:p>
        </p:txBody>
      </p:sp>
      <p:sp>
        <p:nvSpPr>
          <p:cNvPr id="145" name="Group g + 1">
            <a:extLst>
              <a:ext uri="{FF2B5EF4-FFF2-40B4-BE49-F238E27FC236}">
                <ns2:creationId id="{43634080-D69D-484A-8512-BD16553C5404}"/>
              </a:ext>
            </a:extLst>
          </p:cNvPr>
          <p:cNvSpPr>
            <a:spLocks noGrp="1"/>
          </p:cNvSpPr>
          <p:nvPr/>
        </p:nvSpPr>
        <p:spPr>
          <a:xfrm>
            <a:off x="5289417" y="970319"/>
            <a:ext cx="614192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Group g + 1</a:t>
            </a:r>
          </a:p>
        </p:txBody>
      </p:sp>
      <p:sp>
        <p:nvSpPr>
          <p:cNvPr id="146" name="diagram block">
            <a:extLst>
              <a:ext uri="{FF2B5EF4-FFF2-40B4-BE49-F238E27FC236}">
                <ns2:creationId id="{FF4CDA9C-F354-4C54-844C-ACA8236CAF81}"/>
              </a:ext>
            </a:extLst>
          </p:cNvPr>
          <p:cNvSpPr>
            <a:spLocks noGrp="1"/>
          </p:cNvSpPr>
          <p:nvPr/>
        </p:nvSpPr>
        <p:spPr>
          <a:xfrm>
            <a:off x="4061034" y="1145803"/>
            <a:ext cx="2178058" cy="319999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5161">
            <a:solidFill>
              <a:srgbClr val="5C6D82"/>
            </a:solidFill>
            <a:prstDash val="dash"/>
          </a:ln>
        </p:spPr>
      </p:sp>
      <p:sp>
        <p:nvSpPr>
          <p:cNvPr id="147" name="32 scalars = 8 vectors (d = 4)">
            <a:extLst>
              <a:ext uri="{FF2B5EF4-FFF2-40B4-BE49-F238E27FC236}">
                <ns2:creationId id="{CA1EC2CA-B305-476C-822D-5528BF5A4D54}"/>
              </a:ext>
            </a:extLst>
          </p:cNvPr>
          <p:cNvSpPr>
            <a:spLocks noGrp="1"/>
          </p:cNvSpPr>
          <p:nvPr/>
        </p:nvSpPr>
        <p:spPr>
          <a:xfrm>
            <a:off x="4128130" y="1171609"/>
            <a:ext cx="2043864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32 scalars = 8 vectors (d = 4)</a:t>
            </a:r>
          </a:p>
        </p:txBody>
      </p:sp>
      <p:sp>
        <p:nvSpPr>
          <p:cNvPr id="148" name="diagram block">
            <a:extLst>
              <a:ext uri="{FF2B5EF4-FFF2-40B4-BE49-F238E27FC236}">
                <ns2:creationId id="{C1BCE9AC-FA19-46C6-A56B-99B84407DF34}"/>
              </a:ext>
            </a:extLst>
          </p:cNvPr>
          <p:cNvSpPr>
            <a:spLocks noGrp="1"/>
          </p:cNvSpPr>
          <p:nvPr/>
        </p:nvSpPr>
        <p:spPr>
          <a:xfrm>
            <a:off x="4205550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49" name="diagram block">
            <a:extLst>
              <a:ext uri="{FF2B5EF4-FFF2-40B4-BE49-F238E27FC236}">
                <ns2:creationId id="{1E66AFDB-3D86-49E0-82F4-7C8A2C4E7E70}"/>
              </a:ext>
            </a:extLst>
          </p:cNvPr>
          <p:cNvSpPr>
            <a:spLocks noGrp="1"/>
          </p:cNvSpPr>
          <p:nvPr/>
        </p:nvSpPr>
        <p:spPr>
          <a:xfrm>
            <a:off x="4310065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0" name="diagram block">
            <a:extLst>
              <a:ext uri="{FF2B5EF4-FFF2-40B4-BE49-F238E27FC236}">
                <ns2:creationId id="{60D126BB-7ACE-4EA2-85B5-8A7D89A09548}"/>
              </a:ext>
            </a:extLst>
          </p:cNvPr>
          <p:cNvSpPr>
            <a:spLocks noGrp="1"/>
          </p:cNvSpPr>
          <p:nvPr/>
        </p:nvSpPr>
        <p:spPr>
          <a:xfrm>
            <a:off x="441458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1" name="diagram block">
            <a:extLst>
              <a:ext uri="{FF2B5EF4-FFF2-40B4-BE49-F238E27FC236}">
                <ns2:creationId id="{47E2BEFB-FD85-4C36-8E0C-92FE5194221A}"/>
              </a:ext>
            </a:extLst>
          </p:cNvPr>
          <p:cNvSpPr>
            <a:spLocks noGrp="1"/>
          </p:cNvSpPr>
          <p:nvPr/>
        </p:nvSpPr>
        <p:spPr>
          <a:xfrm>
            <a:off x="451909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2" name="diagram block">
            <a:extLst>
              <a:ext uri="{FF2B5EF4-FFF2-40B4-BE49-F238E27FC236}">
                <ns2:creationId id="{0FB34075-3B7F-4CD9-A381-5B65B9518A97}"/>
              </a:ext>
            </a:extLst>
          </p:cNvPr>
          <p:cNvSpPr>
            <a:spLocks noGrp="1"/>
          </p:cNvSpPr>
          <p:nvPr/>
        </p:nvSpPr>
        <p:spPr>
          <a:xfrm>
            <a:off x="469587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3" name="diagram block">
            <a:extLst>
              <a:ext uri="{FF2B5EF4-FFF2-40B4-BE49-F238E27FC236}">
                <ns2:creationId id="{50E73494-D700-448E-8723-9C39957EEEE2}"/>
              </a:ext>
            </a:extLst>
          </p:cNvPr>
          <p:cNvSpPr>
            <a:spLocks noGrp="1"/>
          </p:cNvSpPr>
          <p:nvPr/>
        </p:nvSpPr>
        <p:spPr>
          <a:xfrm>
            <a:off x="480038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4" name="diagram block">
            <a:extLst>
              <a:ext uri="{FF2B5EF4-FFF2-40B4-BE49-F238E27FC236}">
                <ns2:creationId id="{AB4900D6-A905-4199-AF23-0AD45850D6A7}"/>
              </a:ext>
            </a:extLst>
          </p:cNvPr>
          <p:cNvSpPr>
            <a:spLocks noGrp="1"/>
          </p:cNvSpPr>
          <p:nvPr/>
        </p:nvSpPr>
        <p:spPr>
          <a:xfrm>
            <a:off x="490490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5" name="diagram block">
            <a:extLst>
              <a:ext uri="{FF2B5EF4-FFF2-40B4-BE49-F238E27FC236}">
                <ns2:creationId id="{29681BEE-3642-4784-B5EB-7F7CB3373E25}"/>
              </a:ext>
            </a:extLst>
          </p:cNvPr>
          <p:cNvSpPr>
            <a:spLocks noGrp="1"/>
          </p:cNvSpPr>
          <p:nvPr/>
        </p:nvSpPr>
        <p:spPr>
          <a:xfrm>
            <a:off x="5009418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6" name="diagram block">
            <a:extLst>
              <a:ext uri="{FF2B5EF4-FFF2-40B4-BE49-F238E27FC236}">
                <ns2:creationId id="{0A9D34F3-8F71-489D-A11D-6D8001D09C74}"/>
              </a:ext>
            </a:extLst>
          </p:cNvPr>
          <p:cNvSpPr>
            <a:spLocks noGrp="1"/>
          </p:cNvSpPr>
          <p:nvPr/>
        </p:nvSpPr>
        <p:spPr>
          <a:xfrm>
            <a:off x="528425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7" name="diagram block">
            <a:extLst>
              <a:ext uri="{FF2B5EF4-FFF2-40B4-BE49-F238E27FC236}">
                <ns2:creationId id="{36171803-74B7-4A2F-A9B5-06B1143C068E}"/>
              </a:ext>
            </a:extLst>
          </p:cNvPr>
          <p:cNvSpPr>
            <a:spLocks noGrp="1"/>
          </p:cNvSpPr>
          <p:nvPr/>
        </p:nvSpPr>
        <p:spPr>
          <a:xfrm>
            <a:off x="538877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8" name="diagram block">
            <a:extLst>
              <a:ext uri="{FF2B5EF4-FFF2-40B4-BE49-F238E27FC236}">
                <ns2:creationId id="{3D36768B-CC95-4D7E-8DB8-64BA66C321B9}"/>
              </a:ext>
            </a:extLst>
          </p:cNvPr>
          <p:cNvSpPr>
            <a:spLocks noGrp="1"/>
          </p:cNvSpPr>
          <p:nvPr/>
        </p:nvSpPr>
        <p:spPr>
          <a:xfrm>
            <a:off x="549328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9" name="diagram block">
            <a:extLst>
              <a:ext uri="{FF2B5EF4-FFF2-40B4-BE49-F238E27FC236}">
                <ns2:creationId id="{E05D3853-0DA3-4C3F-9CEB-E946D24EAFE4}"/>
              </a:ext>
            </a:extLst>
          </p:cNvPr>
          <p:cNvSpPr>
            <a:spLocks noGrp="1"/>
          </p:cNvSpPr>
          <p:nvPr/>
        </p:nvSpPr>
        <p:spPr>
          <a:xfrm>
            <a:off x="5597803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60" name="…">
            <a:extLst>
              <a:ext uri="{FF2B5EF4-FFF2-40B4-BE49-F238E27FC236}">
                <ns2:creationId id="{B211E4A6-B1B8-4DAD-BA4B-36887A29F9A9}"/>
              </a:ext>
            </a:extLst>
          </p:cNvPr>
          <p:cNvSpPr>
            <a:spLocks noGrp="1"/>
          </p:cNvSpPr>
          <p:nvPr/>
        </p:nvSpPr>
        <p:spPr>
          <a:xfrm>
            <a:off x="5129418" y="1300641"/>
            <a:ext cx="123871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61" name="…">
            <a:extLst>
              <a:ext uri="{FF2B5EF4-FFF2-40B4-BE49-F238E27FC236}">
                <ns2:creationId id="{E8E18477-E1F1-416C-A8E5-56821C734F55}"/>
              </a:ext>
            </a:extLst>
          </p:cNvPr>
          <p:cNvSpPr>
            <a:spLocks noGrp="1"/>
          </p:cNvSpPr>
          <p:nvPr/>
        </p:nvSpPr>
        <p:spPr>
          <a:xfrm>
            <a:off x="5944899" y="1300641"/>
            <a:ext cx="134193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cxnSp>
        <p:nvCxnSpPr>
          <p:cNvPr id="162" name="native PowerPoint connector">
            <a:extLst>
              <a:ext uri="{FF2B5EF4-FFF2-40B4-BE49-F238E27FC236}">
                <ns2:creationId id="{9375AE94-F0E9-4589-BA22-B29DAE1CCFAE}"/>
              </a:ext>
            </a:extLst>
          </p:cNvPr>
          <p:cNvCxnSpPr/>
          <p:nvPr/>
        </p:nvCxnSpPr>
        <p:spPr>
          <a:xfrm flipH="1" flipV="0">
            <a:off x="4169421" y="799997"/>
            <a:ext cx="92903" cy="0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</a:ln>
        </p:spPr>
      </p:cxnSp>
      <p:cxnSp>
        <p:nvCxnSpPr>
          <p:cNvPr id="163" name="native PowerPoint connector">
            <a:extLst>
              <a:ext uri="{FF2B5EF4-FFF2-40B4-BE49-F238E27FC236}">
                <ns2:creationId id="{339933C2-93AF-4879-83FC-67715A813B6B}"/>
              </a:ext>
            </a:extLst>
          </p:cNvPr>
          <p:cNvCxnSpPr/>
          <p:nvPr/>
        </p:nvCxnSpPr>
        <p:spPr>
          <a:xfrm flipH="1" flipV="0">
            <a:off x="4076518" y="799997"/>
            <a:ext cx="92903" cy="345805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  <a:tailEnd type="triangle" w="sm" len="sm"/>
          </a:ln>
        </p:spPr>
      </p:cxnSp>
      <p:cxnSp>
        <p:nvCxnSpPr>
          <p:cNvPr id="164" name="native PowerPoint connector">
            <a:extLst>
              <a:ext uri="{FF2B5EF4-FFF2-40B4-BE49-F238E27FC236}">
                <ns2:creationId id="{E3B70F9D-DD5D-4A47-8660-2762132725C6}"/>
              </a:ext>
            </a:extLst>
          </p:cNvPr>
          <p:cNvCxnSpPr/>
          <p:nvPr/>
        </p:nvCxnSpPr>
        <p:spPr>
          <a:xfrm flipH="0" flipV="0">
            <a:off x="5862318" y="908384"/>
            <a:ext cx="211612" cy="82580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cxnSp>
        <p:nvCxnSpPr>
          <p:cNvPr id="165" name="native PowerPoint connector">
            <a:extLst>
              <a:ext uri="{FF2B5EF4-FFF2-40B4-BE49-F238E27FC236}">
                <ns2:creationId id="{9B79C00A-6276-44C5-91A1-64018092EA31}"/>
              </a:ext>
            </a:extLst>
          </p:cNvPr>
          <p:cNvCxnSpPr/>
          <p:nvPr/>
        </p:nvCxnSpPr>
        <p:spPr>
          <a:xfrm flipH="0" flipV="0">
            <a:off x="6073931" y="990965"/>
            <a:ext cx="118709" cy="149677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sp>
        <p:nvSpPr>
          <p:cNvPr id="166" name="diagram block">
            <a:extLst>
              <a:ext uri="{FF2B5EF4-FFF2-40B4-BE49-F238E27FC236}">
                <ns2:creationId id="{EA5BCF92-2DFF-4C58-9AC4-52E4CABFCD7C}"/>
              </a:ext>
            </a:extLst>
          </p:cNvPr>
          <p:cNvSpPr>
            <a:spLocks noGrp="1"/>
          </p:cNvSpPr>
          <p:nvPr/>
        </p:nvSpPr>
        <p:spPr>
          <a:xfrm>
            <a:off x="4035228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F3F9FF"/>
          </a:solidFill>
          <a:ln w="5161">
            <a:solidFill>
              <a:srgbClr val="6BB7EB"/>
            </a:solidFill>
            <a:prstDash val="solid"/>
          </a:ln>
        </p:spPr>
      </p:sp>
      <p:sp>
        <p:nvSpPr>
          <p:cNvPr id="167" name="Codebook 1">
            <a:extLst>
              <a:ext uri="{FF2B5EF4-FFF2-40B4-BE49-F238E27FC236}">
                <ns2:creationId id="{CF06005B-D580-4F4C-B6CE-60E53088088B}"/>
              </a:ext>
            </a:extLst>
          </p:cNvPr>
          <p:cNvSpPr>
            <a:spLocks noGrp="1"/>
          </p:cNvSpPr>
          <p:nvPr/>
        </p:nvSpPr>
        <p:spPr>
          <a:xfrm>
            <a:off x="408684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Codebook 1</a:t>
            </a:r>
          </a:p>
        </p:txBody>
      </p:sp>
      <p:sp>
        <p:nvSpPr>
          <p:cNvPr id="168" name="C₁ ∈ ℝ²⁵⁶×⁴, BF16">
            <a:extLst>
              <a:ext uri="{FF2B5EF4-FFF2-40B4-BE49-F238E27FC236}">
                <ns2:creationId id="{792F84A6-73FE-43DE-BDBB-6A926465AA7B}"/>
              </a:ext>
            </a:extLst>
          </p:cNvPr>
          <p:cNvSpPr>
            <a:spLocks noGrp="1"/>
          </p:cNvSpPr>
          <p:nvPr/>
        </p:nvSpPr>
        <p:spPr>
          <a:xfrm>
            <a:off x="4092002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C₁ ∈ ℝ²⁵⁶×⁴, BF16</a:t>
            </a:r>
          </a:p>
        </p:txBody>
      </p:sp>
      <p:sp>
        <p:nvSpPr>
          <p:cNvPr id="169" name="8 indices">
            <a:extLst>
              <a:ext uri="{FF2B5EF4-FFF2-40B4-BE49-F238E27FC236}">
                <ns2:creationId id="{FC3C79E3-44AC-429F-9838-AE9AD46CC017}"/>
              </a:ext>
            </a:extLst>
          </p:cNvPr>
          <p:cNvSpPr>
            <a:spLocks noGrp="1"/>
          </p:cNvSpPr>
          <p:nvPr/>
        </p:nvSpPr>
        <p:spPr>
          <a:xfrm>
            <a:off x="4076518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170" name="i₁ (8-bit)">
            <a:extLst>
              <a:ext uri="{FF2B5EF4-FFF2-40B4-BE49-F238E27FC236}">
                <ns2:creationId id="{061F90E7-4FF3-4B94-BFCB-DAA70B5D0FAD}"/>
              </a:ext>
            </a:extLst>
          </p:cNvPr>
          <p:cNvSpPr>
            <a:spLocks noGrp="1"/>
          </p:cNvSpPr>
          <p:nvPr/>
        </p:nvSpPr>
        <p:spPr>
          <a:xfrm>
            <a:off x="4107485" y="1909671"/>
            <a:ext cx="4129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 (8-bit)</a:t>
            </a:r>
          </a:p>
        </p:txBody>
      </p:sp>
      <p:sp>
        <p:nvSpPr>
          <p:cNvPr id="171" name="diagram block">
            <a:extLst>
              <a:ext uri="{FF2B5EF4-FFF2-40B4-BE49-F238E27FC236}">
                <ns2:creationId id="{17E2516B-58E7-49D5-81AC-9FDFC3311BD2}"/>
              </a:ext>
            </a:extLst>
          </p:cNvPr>
          <p:cNvSpPr>
            <a:spLocks noGrp="1"/>
          </p:cNvSpPr>
          <p:nvPr/>
        </p:nvSpPr>
        <p:spPr>
          <a:xfrm>
            <a:off x="4128130" y="204902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2" name="i₁,1">
            <a:extLst>
              <a:ext uri="{FF2B5EF4-FFF2-40B4-BE49-F238E27FC236}">
                <ns2:creationId id="{E12996FD-31C9-47DA-824B-236480EAAF3D}"/>
              </a:ext>
            </a:extLst>
          </p:cNvPr>
          <p:cNvSpPr>
            <a:spLocks noGrp="1"/>
          </p:cNvSpPr>
          <p:nvPr/>
        </p:nvSpPr>
        <p:spPr>
          <a:xfrm>
            <a:off x="4153937" y="2074832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i₁,1</a:t>
            </a:r>
          </a:p>
        </p:txBody>
      </p:sp>
      <p:sp>
        <p:nvSpPr>
          <p:cNvPr id="173" name="diagram block">
            <a:extLst>
              <a:ext uri="{FF2B5EF4-FFF2-40B4-BE49-F238E27FC236}">
                <ns2:creationId id="{3A266EDB-A096-4041-A767-6BBEEA3BFC2F}"/>
              </a:ext>
            </a:extLst>
          </p:cNvPr>
          <p:cNvSpPr>
            <a:spLocks noGrp="1"/>
          </p:cNvSpPr>
          <p:nvPr/>
        </p:nvSpPr>
        <p:spPr>
          <a:xfrm>
            <a:off x="4128130" y="217289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4" name="i₁,2">
            <a:extLst>
              <a:ext uri="{FF2B5EF4-FFF2-40B4-BE49-F238E27FC236}">
                <ns2:creationId id="{F9555AB2-F373-4941-B225-7F22F6FFC0C7}"/>
              </a:ext>
            </a:extLst>
          </p:cNvPr>
          <p:cNvSpPr>
            <a:spLocks noGrp="1"/>
          </p:cNvSpPr>
          <p:nvPr/>
        </p:nvSpPr>
        <p:spPr>
          <a:xfrm>
            <a:off x="4153937" y="2198703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i₁,2</a:t>
            </a:r>
          </a:p>
        </p:txBody>
      </p:sp>
      <p:sp>
        <p:nvSpPr>
          <p:cNvPr id="175" name="diagram block">
            <a:extLst>
              <a:ext uri="{FF2B5EF4-FFF2-40B4-BE49-F238E27FC236}">
                <ns2:creationId id="{B1EA1EDC-EAD8-4CA8-9A5B-7C365799BF70}"/>
              </a:ext>
            </a:extLst>
          </p:cNvPr>
          <p:cNvSpPr>
            <a:spLocks noGrp="1"/>
          </p:cNvSpPr>
          <p:nvPr/>
        </p:nvSpPr>
        <p:spPr>
          <a:xfrm>
            <a:off x="4128130" y="2343218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6" name="i₁,8">
            <a:extLst>
              <a:ext uri="{FF2B5EF4-FFF2-40B4-BE49-F238E27FC236}">
                <ns2:creationId id="{45EB3E69-3378-4F15-BC36-DED8B13FCBCD}"/>
              </a:ext>
            </a:extLst>
          </p:cNvPr>
          <p:cNvSpPr>
            <a:spLocks noGrp="1"/>
          </p:cNvSpPr>
          <p:nvPr/>
        </p:nvSpPr>
        <p:spPr>
          <a:xfrm>
            <a:off x="4153937" y="2369025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i₁,8</a:t>
            </a:r>
          </a:p>
        </p:txBody>
      </p:sp>
      <p:sp>
        <p:nvSpPr>
          <p:cNvPr id="177" name="⋮">
            <a:extLst>
              <a:ext uri="{FF2B5EF4-FFF2-40B4-BE49-F238E27FC236}">
                <ns2:creationId id="{9744C01E-69E6-4161-8A0B-BB32BBDFEF37}"/>
              </a:ext>
            </a:extLst>
          </p:cNvPr>
          <p:cNvSpPr>
            <a:spLocks noGrp="1"/>
          </p:cNvSpPr>
          <p:nvPr/>
        </p:nvSpPr>
        <p:spPr>
          <a:xfrm>
            <a:off x="4174582" y="2260638"/>
            <a:ext cx="129032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8652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178" name="8 codewords">
            <a:extLst>
              <a:ext uri="{FF2B5EF4-FFF2-40B4-BE49-F238E27FC236}">
                <ns2:creationId id="{6D208940-9081-4E18-8155-42C62EA40CAF}"/>
              </a:ext>
            </a:extLst>
          </p:cNvPr>
          <p:cNvSpPr>
            <a:spLocks noGrp="1"/>
          </p:cNvSpPr>
          <p:nvPr/>
        </p:nvSpPr>
        <p:spPr>
          <a:xfrm>
            <a:off x="4572000" y="1796123"/>
            <a:ext cx="53161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179" name="(4 scalars each)">
            <a:extLst>
              <a:ext uri="{FF2B5EF4-FFF2-40B4-BE49-F238E27FC236}">
                <ns2:creationId id="{E4E1EFAF-F399-4CB7-B21E-51E93FF3FFF2}"/>
              </a:ext>
            </a:extLst>
          </p:cNvPr>
          <p:cNvSpPr>
            <a:spLocks noGrp="1"/>
          </p:cNvSpPr>
          <p:nvPr/>
        </p:nvSpPr>
        <p:spPr>
          <a:xfrm>
            <a:off x="4551355" y="1919994"/>
            <a:ext cx="567740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180" name="Lookup">
            <a:extLst>
              <a:ext uri="{FF2B5EF4-FFF2-40B4-BE49-F238E27FC236}">
                <ns2:creationId id="{950669B3-5807-46BA-A3A0-7959ECBC5F4B}"/>
              </a:ext>
            </a:extLst>
          </p:cNvPr>
          <p:cNvSpPr>
            <a:spLocks noGrp="1"/>
          </p:cNvSpPr>
          <p:nvPr/>
        </p:nvSpPr>
        <p:spPr>
          <a:xfrm>
            <a:off x="4386194" y="2059348"/>
            <a:ext cx="309676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181" name="native PowerPoint connector">
            <a:extLst>
              <a:ext uri="{FF2B5EF4-FFF2-40B4-BE49-F238E27FC236}">
                <ns2:creationId id="{A0C1CAB9-7A47-4C28-B700-17807E1A665A}"/>
              </a:ext>
            </a:extLst>
          </p:cNvPr>
          <p:cNvCxnSpPr/>
          <p:nvPr/>
        </p:nvCxnSpPr>
        <p:spPr>
          <a:xfrm flipH="0" flipV="0">
            <a:off x="4396517" y="2239993"/>
            <a:ext cx="299354" cy="0"/>
          </a:xfrm>
          <a:prstGeom prst="straightConnector1">
            <a:avLst/>
          </a:prstGeom>
          <a:ln w="7226">
            <a:solidFill>
              <a:srgbClr val="074A8B"/>
            </a:solidFill>
            <a:prstDash val="solid"/>
            <a:tailEnd type="triangle" w="sm" len="sm"/>
          </a:ln>
        </p:spPr>
      </p:cxnSp>
      <p:sp>
        <p:nvSpPr>
          <p:cNvPr id="182" name="diagram block">
            <a:extLst>
              <a:ext uri="{FF2B5EF4-FFF2-40B4-BE49-F238E27FC236}">
                <ns2:creationId id="{BD778386-34D0-4A8B-9F02-B3567BA68792}"/>
              </a:ext>
            </a:extLst>
          </p:cNvPr>
          <p:cNvSpPr>
            <a:spLocks noGrp="1"/>
          </p:cNvSpPr>
          <p:nvPr/>
        </p:nvSpPr>
        <p:spPr>
          <a:xfrm>
            <a:off x="4747483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3" name="diagram block">
            <a:extLst>
              <a:ext uri="{FF2B5EF4-FFF2-40B4-BE49-F238E27FC236}">
                <ns2:creationId id="{877E915C-8489-48C2-A89B-9B31FAE9FD3B}"/>
              </a:ext>
            </a:extLst>
          </p:cNvPr>
          <p:cNvSpPr>
            <a:spLocks noGrp="1"/>
          </p:cNvSpPr>
          <p:nvPr/>
        </p:nvSpPr>
        <p:spPr>
          <a:xfrm>
            <a:off x="4815870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4" name="diagram block">
            <a:extLst>
              <a:ext uri="{FF2B5EF4-FFF2-40B4-BE49-F238E27FC236}">
                <ns2:creationId id="{0B1EBCB0-E9A8-4F61-8597-4EB4265AA48B}"/>
              </a:ext>
            </a:extLst>
          </p:cNvPr>
          <p:cNvSpPr>
            <a:spLocks noGrp="1"/>
          </p:cNvSpPr>
          <p:nvPr/>
        </p:nvSpPr>
        <p:spPr>
          <a:xfrm>
            <a:off x="4884257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5" name="diagram block">
            <a:extLst>
              <a:ext uri="{FF2B5EF4-FFF2-40B4-BE49-F238E27FC236}">
                <ns2:creationId id="{7B8DC7D2-B769-481C-BC6E-C9A69567E12E}"/>
              </a:ext>
            </a:extLst>
          </p:cNvPr>
          <p:cNvSpPr>
            <a:spLocks noGrp="1"/>
          </p:cNvSpPr>
          <p:nvPr/>
        </p:nvSpPr>
        <p:spPr>
          <a:xfrm>
            <a:off x="4952644" y="2054187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6" name="diagram block">
            <a:extLst>
              <a:ext uri="{FF2B5EF4-FFF2-40B4-BE49-F238E27FC236}">
                <ns2:creationId id="{24B7E905-6D4A-4363-A1AF-40C493D10643}"/>
              </a:ext>
            </a:extLst>
          </p:cNvPr>
          <p:cNvSpPr>
            <a:spLocks noGrp="1"/>
          </p:cNvSpPr>
          <p:nvPr/>
        </p:nvSpPr>
        <p:spPr>
          <a:xfrm>
            <a:off x="4747483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7" name="diagram block">
            <a:extLst>
              <a:ext uri="{FF2B5EF4-FFF2-40B4-BE49-F238E27FC236}">
                <ns2:creationId id="{2BE88A07-F797-4804-984E-C0B551446C80}"/>
              </a:ext>
            </a:extLst>
          </p:cNvPr>
          <p:cNvSpPr>
            <a:spLocks noGrp="1"/>
          </p:cNvSpPr>
          <p:nvPr/>
        </p:nvSpPr>
        <p:spPr>
          <a:xfrm>
            <a:off x="4815870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8" name="diagram block">
            <a:extLst>
              <a:ext uri="{FF2B5EF4-FFF2-40B4-BE49-F238E27FC236}">
                <ns2:creationId id="{EEF2AC5A-7553-4DC7-8826-65DCE98C6211}"/>
              </a:ext>
            </a:extLst>
          </p:cNvPr>
          <p:cNvSpPr>
            <a:spLocks noGrp="1"/>
          </p:cNvSpPr>
          <p:nvPr/>
        </p:nvSpPr>
        <p:spPr>
          <a:xfrm>
            <a:off x="4884257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9" name="diagram block">
            <a:extLst>
              <a:ext uri="{FF2B5EF4-FFF2-40B4-BE49-F238E27FC236}">
                <ns2:creationId id="{0699597A-E52D-44E1-8413-C9AF0A20334E}"/>
              </a:ext>
            </a:extLst>
          </p:cNvPr>
          <p:cNvSpPr>
            <a:spLocks noGrp="1"/>
          </p:cNvSpPr>
          <p:nvPr/>
        </p:nvSpPr>
        <p:spPr>
          <a:xfrm>
            <a:off x="4952644" y="217289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0" name="diagram block">
            <a:extLst>
              <a:ext uri="{FF2B5EF4-FFF2-40B4-BE49-F238E27FC236}">
                <ns2:creationId id="{E8681A09-C296-4F24-B74F-6B732ED0EB23}"/>
              </a:ext>
            </a:extLst>
          </p:cNvPr>
          <p:cNvSpPr>
            <a:spLocks noGrp="1"/>
          </p:cNvSpPr>
          <p:nvPr/>
        </p:nvSpPr>
        <p:spPr>
          <a:xfrm>
            <a:off x="4747483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1" name="diagram block">
            <a:extLst>
              <a:ext uri="{FF2B5EF4-FFF2-40B4-BE49-F238E27FC236}">
                <ns2:creationId id="{5D5DFC6F-2922-4053-B426-885FB76196AA}"/>
              </a:ext>
            </a:extLst>
          </p:cNvPr>
          <p:cNvSpPr>
            <a:spLocks noGrp="1"/>
          </p:cNvSpPr>
          <p:nvPr/>
        </p:nvSpPr>
        <p:spPr>
          <a:xfrm>
            <a:off x="4815870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2" name="diagram block">
            <a:extLst>
              <a:ext uri="{FF2B5EF4-FFF2-40B4-BE49-F238E27FC236}">
                <ns2:creationId id="{C7CE7779-24FA-482D-9432-C20B6753CB2B}"/>
              </a:ext>
            </a:extLst>
          </p:cNvPr>
          <p:cNvSpPr>
            <a:spLocks noGrp="1"/>
          </p:cNvSpPr>
          <p:nvPr/>
        </p:nvSpPr>
        <p:spPr>
          <a:xfrm>
            <a:off x="4884257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3" name="diagram block">
            <a:extLst>
              <a:ext uri="{FF2B5EF4-FFF2-40B4-BE49-F238E27FC236}">
                <ns2:creationId id="{86FE5F2E-CD8E-4E16-BBB2-2DB9339168D2}"/>
              </a:ext>
            </a:extLst>
          </p:cNvPr>
          <p:cNvSpPr>
            <a:spLocks noGrp="1"/>
          </p:cNvSpPr>
          <p:nvPr/>
        </p:nvSpPr>
        <p:spPr>
          <a:xfrm>
            <a:off x="4952644" y="2291606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4" name="diagram block">
            <a:extLst>
              <a:ext uri="{FF2B5EF4-FFF2-40B4-BE49-F238E27FC236}">
                <ns2:creationId id="{E53E97D6-AE71-443C-BF2A-AE4E1669F5A8}"/>
              </a:ext>
            </a:extLst>
          </p:cNvPr>
          <p:cNvSpPr>
            <a:spLocks noGrp="1"/>
          </p:cNvSpPr>
          <p:nvPr/>
        </p:nvSpPr>
        <p:spPr>
          <a:xfrm>
            <a:off x="4747483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5" name="diagram block">
            <a:extLst>
              <a:ext uri="{FF2B5EF4-FFF2-40B4-BE49-F238E27FC236}">
                <ns2:creationId id="{14AB0D85-4193-422A-898D-24B82DB03752}"/>
              </a:ext>
            </a:extLst>
          </p:cNvPr>
          <p:cNvSpPr>
            <a:spLocks noGrp="1"/>
          </p:cNvSpPr>
          <p:nvPr/>
        </p:nvSpPr>
        <p:spPr>
          <a:xfrm>
            <a:off x="4815870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6" name="diagram block">
            <a:extLst>
              <a:ext uri="{FF2B5EF4-FFF2-40B4-BE49-F238E27FC236}">
                <ns2:creationId id="{0BD749BC-EC03-4420-8A01-D2E570491D80}"/>
              </a:ext>
            </a:extLst>
          </p:cNvPr>
          <p:cNvSpPr>
            <a:spLocks noGrp="1"/>
          </p:cNvSpPr>
          <p:nvPr/>
        </p:nvSpPr>
        <p:spPr>
          <a:xfrm>
            <a:off x="4884257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7" name="diagram block">
            <a:extLst>
              <a:ext uri="{FF2B5EF4-FFF2-40B4-BE49-F238E27FC236}">
                <ns2:creationId id="{61BA9D72-6F1B-423B-B9D8-8EFE22CF990B}"/>
              </a:ext>
            </a:extLst>
          </p:cNvPr>
          <p:cNvSpPr>
            <a:spLocks noGrp="1"/>
          </p:cNvSpPr>
          <p:nvPr/>
        </p:nvSpPr>
        <p:spPr>
          <a:xfrm>
            <a:off x="4952644" y="2399992"/>
            <a:ext cx="68387" cy="61935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8" name="diagram block">
            <a:extLst>
              <a:ext uri="{FF2B5EF4-FFF2-40B4-BE49-F238E27FC236}">
                <ns2:creationId id="{265E9D1D-F798-4014-A3E9-640CFB4ECF5E}"/>
              </a:ext>
            </a:extLst>
          </p:cNvPr>
          <p:cNvSpPr>
            <a:spLocks noGrp="1"/>
          </p:cNvSpPr>
          <p:nvPr/>
        </p:nvSpPr>
        <p:spPr>
          <a:xfrm>
            <a:off x="5289417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EFFAF8"/>
          </a:solidFill>
          <a:ln w="5161">
            <a:solidFill>
              <a:srgbClr val="41A0A5"/>
            </a:solidFill>
            <a:prstDash val="solid"/>
          </a:ln>
        </p:spPr>
      </p:sp>
      <p:sp>
        <p:nvSpPr>
          <p:cNvPr id="199" name="Codebook 2">
            <a:extLst>
              <a:ext uri="{FF2B5EF4-FFF2-40B4-BE49-F238E27FC236}">
                <ns2:creationId id="{FD558FC0-25DE-4AAB-BA17-E1EBADE899AF}"/>
              </a:ext>
            </a:extLst>
          </p:cNvPr>
          <p:cNvSpPr>
            <a:spLocks noGrp="1"/>
          </p:cNvSpPr>
          <p:nvPr/>
        </p:nvSpPr>
        <p:spPr>
          <a:xfrm>
            <a:off x="534103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Codebook 2</a:t>
            </a:r>
          </a:p>
        </p:txBody>
      </p:sp>
      <p:sp>
        <p:nvSpPr>
          <p:cNvPr id="200" name="C₂ ∈ ℝ²⁵⁶×⁴, BF16">
            <a:extLst>
              <a:ext uri="{FF2B5EF4-FFF2-40B4-BE49-F238E27FC236}">
                <ns2:creationId id="{A4ADB599-3A4C-4451-99A0-3F8EF42F245E}"/>
              </a:ext>
            </a:extLst>
          </p:cNvPr>
          <p:cNvSpPr>
            <a:spLocks noGrp="1"/>
          </p:cNvSpPr>
          <p:nvPr/>
        </p:nvSpPr>
        <p:spPr>
          <a:xfrm>
            <a:off x="5346191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C₂ ∈ ℝ²⁵⁶×⁴, BF16</a:t>
            </a:r>
          </a:p>
        </p:txBody>
      </p:sp>
      <p:sp>
        <p:nvSpPr>
          <p:cNvPr id="201" name="8 indices">
            <a:extLst>
              <a:ext uri="{FF2B5EF4-FFF2-40B4-BE49-F238E27FC236}">
                <ns2:creationId id="{97E1930C-B896-49F6-86EC-54022B53AA76}"/>
              </a:ext>
            </a:extLst>
          </p:cNvPr>
          <p:cNvSpPr>
            <a:spLocks noGrp="1"/>
          </p:cNvSpPr>
          <p:nvPr/>
        </p:nvSpPr>
        <p:spPr>
          <a:xfrm>
            <a:off x="5330707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indices</a:t>
            </a:r>
          </a:p>
        </p:txBody>
      </p:sp>
      <p:sp>
        <p:nvSpPr>
          <p:cNvPr id="202" name="i₂ (8-bit)">
            <a:extLst>
              <a:ext uri="{FF2B5EF4-FFF2-40B4-BE49-F238E27FC236}">
                <ns2:creationId id="{FD8D534D-D5F7-40B6-B19E-34F36616529F}"/>
              </a:ext>
            </a:extLst>
          </p:cNvPr>
          <p:cNvSpPr>
            <a:spLocks noGrp="1"/>
          </p:cNvSpPr>
          <p:nvPr/>
        </p:nvSpPr>
        <p:spPr>
          <a:xfrm>
            <a:off x="5361675" y="1909671"/>
            <a:ext cx="4129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 (8-bit)</a:t>
            </a:r>
          </a:p>
        </p:txBody>
      </p:sp>
      <p:sp>
        <p:nvSpPr>
          <p:cNvPr id="203" name="diagram block">
            <a:extLst>
              <a:ext uri="{FF2B5EF4-FFF2-40B4-BE49-F238E27FC236}">
                <ns2:creationId id="{E6043E87-5972-4031-B4E1-6F2808925683}"/>
              </a:ext>
            </a:extLst>
          </p:cNvPr>
          <p:cNvSpPr>
            <a:spLocks noGrp="1"/>
          </p:cNvSpPr>
          <p:nvPr/>
        </p:nvSpPr>
        <p:spPr>
          <a:xfrm>
            <a:off x="5382320" y="204902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4" name="i₂,1">
            <a:extLst>
              <a:ext uri="{FF2B5EF4-FFF2-40B4-BE49-F238E27FC236}">
                <ns2:creationId id="{2C6EFF2F-4712-46E4-B12E-6EC1243555F9}"/>
              </a:ext>
            </a:extLst>
          </p:cNvPr>
          <p:cNvSpPr>
            <a:spLocks noGrp="1"/>
          </p:cNvSpPr>
          <p:nvPr/>
        </p:nvSpPr>
        <p:spPr>
          <a:xfrm>
            <a:off x="5408126" y="2074832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i₂,1</a:t>
            </a:r>
          </a:p>
        </p:txBody>
      </p:sp>
      <p:sp>
        <p:nvSpPr>
          <p:cNvPr id="205" name="diagram block">
            <a:extLst>
              <a:ext uri="{FF2B5EF4-FFF2-40B4-BE49-F238E27FC236}">
                <ns2:creationId id="{C69A4F0C-6224-4A37-B30E-AB59B6F6FA85}"/>
              </a:ext>
            </a:extLst>
          </p:cNvPr>
          <p:cNvSpPr>
            <a:spLocks noGrp="1"/>
          </p:cNvSpPr>
          <p:nvPr/>
        </p:nvSpPr>
        <p:spPr>
          <a:xfrm>
            <a:off x="5382320" y="2172896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6" name="i₂,2">
            <a:extLst>
              <a:ext uri="{FF2B5EF4-FFF2-40B4-BE49-F238E27FC236}">
                <ns2:creationId id="{478F4158-820D-4EF9-826C-E2CCBE44C32F}"/>
              </a:ext>
            </a:extLst>
          </p:cNvPr>
          <p:cNvSpPr>
            <a:spLocks noGrp="1"/>
          </p:cNvSpPr>
          <p:nvPr/>
        </p:nvSpPr>
        <p:spPr>
          <a:xfrm>
            <a:off x="5408126" y="2198703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i₂,2</a:t>
            </a:r>
          </a:p>
        </p:txBody>
      </p:sp>
      <p:sp>
        <p:nvSpPr>
          <p:cNvPr id="207" name="diagram block">
            <a:extLst>
              <a:ext uri="{FF2B5EF4-FFF2-40B4-BE49-F238E27FC236}">
                <ns2:creationId id="{783A0402-8790-46D7-B2BE-59527FD9BC6C}"/>
              </a:ext>
            </a:extLst>
          </p:cNvPr>
          <p:cNvSpPr>
            <a:spLocks noGrp="1"/>
          </p:cNvSpPr>
          <p:nvPr/>
        </p:nvSpPr>
        <p:spPr>
          <a:xfrm>
            <a:off x="5382320" y="2343218"/>
            <a:ext cx="211612" cy="108387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8" name="i₂,8">
            <a:extLst>
              <a:ext uri="{FF2B5EF4-FFF2-40B4-BE49-F238E27FC236}">
                <ns2:creationId id="{3CB7BBDA-A258-4F9D-8BEA-0007DF71D95C}"/>
              </a:ext>
            </a:extLst>
          </p:cNvPr>
          <p:cNvSpPr>
            <a:spLocks noGrp="1"/>
          </p:cNvSpPr>
          <p:nvPr/>
        </p:nvSpPr>
        <p:spPr>
          <a:xfrm>
            <a:off x="5408126" y="2369025"/>
            <a:ext cx="159999" cy="56774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5731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i₂,8</a:t>
            </a:r>
          </a:p>
        </p:txBody>
      </p:sp>
      <p:sp>
        <p:nvSpPr>
          <p:cNvPr id="209" name="⋮">
            <a:extLst>
              <a:ext uri="{FF2B5EF4-FFF2-40B4-BE49-F238E27FC236}">
                <ns2:creationId id="{F9A09753-CF3F-45C6-A6C9-9FD1B34EEC6F}"/>
              </a:ext>
            </a:extLst>
          </p:cNvPr>
          <p:cNvSpPr>
            <a:spLocks noGrp="1"/>
          </p:cNvSpPr>
          <p:nvPr/>
        </p:nvSpPr>
        <p:spPr>
          <a:xfrm>
            <a:off x="5428771" y="2260638"/>
            <a:ext cx="129032" cy="877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8652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210" name="8 codewords">
            <a:extLst>
              <a:ext uri="{FF2B5EF4-FFF2-40B4-BE49-F238E27FC236}">
                <ns2:creationId id="{D24AED40-C370-4EDE-AEE6-A4E58F5C340C}"/>
              </a:ext>
            </a:extLst>
          </p:cNvPr>
          <p:cNvSpPr>
            <a:spLocks noGrp="1"/>
          </p:cNvSpPr>
          <p:nvPr/>
        </p:nvSpPr>
        <p:spPr>
          <a:xfrm>
            <a:off x="5826190" y="1796123"/>
            <a:ext cx="53161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codewords</a:t>
            </a:r>
          </a:p>
        </p:txBody>
      </p:sp>
      <p:sp>
        <p:nvSpPr>
          <p:cNvPr id="211" name="(4 scalars each)">
            <a:extLst>
              <a:ext uri="{FF2B5EF4-FFF2-40B4-BE49-F238E27FC236}">
                <ns2:creationId id="{5DF670F4-2A79-42B9-B095-B75C9F64A045}"/>
              </a:ext>
            </a:extLst>
          </p:cNvPr>
          <p:cNvSpPr>
            <a:spLocks noGrp="1"/>
          </p:cNvSpPr>
          <p:nvPr/>
        </p:nvSpPr>
        <p:spPr>
          <a:xfrm>
            <a:off x="5805544" y="1919994"/>
            <a:ext cx="567740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 scalars each)</a:t>
            </a:r>
          </a:p>
        </p:txBody>
      </p:sp>
      <p:sp>
        <p:nvSpPr>
          <p:cNvPr id="212" name="Lookup">
            <a:extLst>
              <a:ext uri="{FF2B5EF4-FFF2-40B4-BE49-F238E27FC236}">
                <ns2:creationId id="{F997C6F8-8C40-44A0-8BF3-AE84D7EB566E}"/>
              </a:ext>
            </a:extLst>
          </p:cNvPr>
          <p:cNvSpPr>
            <a:spLocks noGrp="1"/>
          </p:cNvSpPr>
          <p:nvPr/>
        </p:nvSpPr>
        <p:spPr>
          <a:xfrm>
            <a:off x="5640384" y="2059348"/>
            <a:ext cx="309676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0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Lookup</a:t>
            </a:r>
          </a:p>
        </p:txBody>
      </p:sp>
      <p:cxnSp>
        <p:nvCxnSpPr>
          <p:cNvPr id="213" name="native PowerPoint connector">
            <a:extLst>
              <a:ext uri="{FF2B5EF4-FFF2-40B4-BE49-F238E27FC236}">
                <ns2:creationId id="{AB9FDA54-E479-498D-B253-C1A4391DAC38}"/>
              </a:ext>
            </a:extLst>
          </p:cNvPr>
          <p:cNvCxnSpPr/>
          <p:nvPr/>
        </p:nvCxnSpPr>
        <p:spPr>
          <a:xfrm flipH="0" flipV="0">
            <a:off x="5650706" y="2239993"/>
            <a:ext cx="299354" cy="0"/>
          </a:xfrm>
          <a:prstGeom prst="straightConnector1">
            <a:avLst/>
          </a:prstGeom>
          <a:ln w="7226">
            <a:solidFill>
              <a:srgbClr val="00696D"/>
            </a:solidFill>
            <a:prstDash val="solid"/>
            <a:tailEnd type="triangle" w="sm" len="sm"/>
          </a:ln>
        </p:spPr>
      </p:cxnSp>
      <p:sp>
        <p:nvSpPr>
          <p:cNvPr id="214" name="diagram block">
            <a:extLst>
              <a:ext uri="{FF2B5EF4-FFF2-40B4-BE49-F238E27FC236}">
                <ns2:creationId id="{5E509109-D411-440A-A843-A157A7C61172}"/>
              </a:ext>
            </a:extLst>
          </p:cNvPr>
          <p:cNvSpPr>
            <a:spLocks noGrp="1"/>
          </p:cNvSpPr>
          <p:nvPr/>
        </p:nvSpPr>
        <p:spPr>
          <a:xfrm>
            <a:off x="6001673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5" name="diagram block">
            <a:extLst>
              <a:ext uri="{FF2B5EF4-FFF2-40B4-BE49-F238E27FC236}">
                <ns2:creationId id="{AA32EF82-64CE-4B29-B4F1-479FC928FAEF}"/>
              </a:ext>
            </a:extLst>
          </p:cNvPr>
          <p:cNvSpPr>
            <a:spLocks noGrp="1"/>
          </p:cNvSpPr>
          <p:nvPr/>
        </p:nvSpPr>
        <p:spPr>
          <a:xfrm>
            <a:off x="6070060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6" name="diagram block">
            <a:extLst>
              <a:ext uri="{FF2B5EF4-FFF2-40B4-BE49-F238E27FC236}">
                <ns2:creationId id="{54BAF9A1-E0BD-4779-908B-217F53DABBF3}"/>
              </a:ext>
            </a:extLst>
          </p:cNvPr>
          <p:cNvSpPr>
            <a:spLocks noGrp="1"/>
          </p:cNvSpPr>
          <p:nvPr/>
        </p:nvSpPr>
        <p:spPr>
          <a:xfrm>
            <a:off x="6138447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7" name="diagram block">
            <a:extLst>
              <a:ext uri="{FF2B5EF4-FFF2-40B4-BE49-F238E27FC236}">
                <ns2:creationId id="{F3724AB5-8EC0-4C77-BE16-DA52BFE92F12}"/>
              </a:ext>
            </a:extLst>
          </p:cNvPr>
          <p:cNvSpPr>
            <a:spLocks noGrp="1"/>
          </p:cNvSpPr>
          <p:nvPr/>
        </p:nvSpPr>
        <p:spPr>
          <a:xfrm>
            <a:off x="6206834" y="2054187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8" name="diagram block">
            <a:extLst>
              <a:ext uri="{FF2B5EF4-FFF2-40B4-BE49-F238E27FC236}">
                <ns2:creationId id="{C6884020-0EE9-4709-BC3E-B1A7BFC84D28}"/>
              </a:ext>
            </a:extLst>
          </p:cNvPr>
          <p:cNvSpPr>
            <a:spLocks noGrp="1"/>
          </p:cNvSpPr>
          <p:nvPr/>
        </p:nvSpPr>
        <p:spPr>
          <a:xfrm>
            <a:off x="6001673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9" name="diagram block">
            <a:extLst>
              <a:ext uri="{FF2B5EF4-FFF2-40B4-BE49-F238E27FC236}">
                <ns2:creationId id="{452E1A61-9F89-4527-9311-5FD040532BD9}"/>
              </a:ext>
            </a:extLst>
          </p:cNvPr>
          <p:cNvSpPr>
            <a:spLocks noGrp="1"/>
          </p:cNvSpPr>
          <p:nvPr/>
        </p:nvSpPr>
        <p:spPr>
          <a:xfrm>
            <a:off x="6070060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0" name="diagram block">
            <a:extLst>
              <a:ext uri="{FF2B5EF4-FFF2-40B4-BE49-F238E27FC236}">
                <ns2:creationId id="{7B49511E-624C-4F04-A690-833A88E93696}"/>
              </a:ext>
            </a:extLst>
          </p:cNvPr>
          <p:cNvSpPr>
            <a:spLocks noGrp="1"/>
          </p:cNvSpPr>
          <p:nvPr/>
        </p:nvSpPr>
        <p:spPr>
          <a:xfrm>
            <a:off x="6138447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1" name="diagram block">
            <a:extLst>
              <a:ext uri="{FF2B5EF4-FFF2-40B4-BE49-F238E27FC236}">
                <ns2:creationId id="{6B2653B8-193F-41EC-BBCF-D9F73CE7F68D}"/>
              </a:ext>
            </a:extLst>
          </p:cNvPr>
          <p:cNvSpPr>
            <a:spLocks noGrp="1"/>
          </p:cNvSpPr>
          <p:nvPr/>
        </p:nvSpPr>
        <p:spPr>
          <a:xfrm>
            <a:off x="6206834" y="217289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2" name="diagram block">
            <a:extLst>
              <a:ext uri="{FF2B5EF4-FFF2-40B4-BE49-F238E27FC236}">
                <ns2:creationId id="{B3183CA5-DC5C-4E8B-A5F2-C1CCE8C430CA}"/>
              </a:ext>
            </a:extLst>
          </p:cNvPr>
          <p:cNvSpPr>
            <a:spLocks noGrp="1"/>
          </p:cNvSpPr>
          <p:nvPr/>
        </p:nvSpPr>
        <p:spPr>
          <a:xfrm>
            <a:off x="6001673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3" name="diagram block">
            <a:extLst>
              <a:ext uri="{FF2B5EF4-FFF2-40B4-BE49-F238E27FC236}">
                <ns2:creationId id="{13A95EBC-697B-4336-8954-BCF38D09E0EE}"/>
              </a:ext>
            </a:extLst>
          </p:cNvPr>
          <p:cNvSpPr>
            <a:spLocks noGrp="1"/>
          </p:cNvSpPr>
          <p:nvPr/>
        </p:nvSpPr>
        <p:spPr>
          <a:xfrm>
            <a:off x="6070060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4" name="diagram block">
            <a:extLst>
              <a:ext uri="{FF2B5EF4-FFF2-40B4-BE49-F238E27FC236}">
                <ns2:creationId id="{6DACA253-DC84-453B-9760-8F7AA522C9DB}"/>
              </a:ext>
            </a:extLst>
          </p:cNvPr>
          <p:cNvSpPr>
            <a:spLocks noGrp="1"/>
          </p:cNvSpPr>
          <p:nvPr/>
        </p:nvSpPr>
        <p:spPr>
          <a:xfrm>
            <a:off x="6138447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5" name="diagram block">
            <a:extLst>
              <a:ext uri="{FF2B5EF4-FFF2-40B4-BE49-F238E27FC236}">
                <ns2:creationId id="{B8B13BB0-FA9F-4D31-A2B8-CC6FB0ECEC47}"/>
              </a:ext>
            </a:extLst>
          </p:cNvPr>
          <p:cNvSpPr>
            <a:spLocks noGrp="1"/>
          </p:cNvSpPr>
          <p:nvPr/>
        </p:nvSpPr>
        <p:spPr>
          <a:xfrm>
            <a:off x="6206834" y="2291606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6" name="diagram block">
            <a:extLst>
              <a:ext uri="{FF2B5EF4-FFF2-40B4-BE49-F238E27FC236}">
                <ns2:creationId id="{03F7F929-D3B5-487C-B8C3-42B921A6C4F8}"/>
              </a:ext>
            </a:extLst>
          </p:cNvPr>
          <p:cNvSpPr>
            <a:spLocks noGrp="1"/>
          </p:cNvSpPr>
          <p:nvPr/>
        </p:nvSpPr>
        <p:spPr>
          <a:xfrm>
            <a:off x="6001673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7" name="diagram block">
            <a:extLst>
              <a:ext uri="{FF2B5EF4-FFF2-40B4-BE49-F238E27FC236}">
                <ns2:creationId id="{7878F3C3-4726-4D52-93D7-8D755D6D823E}"/>
              </a:ext>
            </a:extLst>
          </p:cNvPr>
          <p:cNvSpPr>
            <a:spLocks noGrp="1"/>
          </p:cNvSpPr>
          <p:nvPr/>
        </p:nvSpPr>
        <p:spPr>
          <a:xfrm>
            <a:off x="6070060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8" name="diagram block">
            <a:extLst>
              <a:ext uri="{FF2B5EF4-FFF2-40B4-BE49-F238E27FC236}">
                <ns2:creationId id="{ACDD4DB3-85B9-4B68-B79E-880DC6EEBAD8}"/>
              </a:ext>
            </a:extLst>
          </p:cNvPr>
          <p:cNvSpPr>
            <a:spLocks noGrp="1"/>
          </p:cNvSpPr>
          <p:nvPr/>
        </p:nvSpPr>
        <p:spPr>
          <a:xfrm>
            <a:off x="6138447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9" name="diagram block">
            <a:extLst>
              <a:ext uri="{FF2B5EF4-FFF2-40B4-BE49-F238E27FC236}">
                <ns2:creationId id="{2DC104E0-BF93-403F-8A8D-A25E9E22CE19}"/>
              </a:ext>
            </a:extLst>
          </p:cNvPr>
          <p:cNvSpPr>
            <a:spLocks noGrp="1"/>
          </p:cNvSpPr>
          <p:nvPr/>
        </p:nvSpPr>
        <p:spPr>
          <a:xfrm>
            <a:off x="6206834" y="2399992"/>
            <a:ext cx="68387" cy="61935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30" name="+">
            <a:extLst>
              <a:ext uri="{FF2B5EF4-FFF2-40B4-BE49-F238E27FC236}">
                <ns2:creationId id="{54A9A25A-2163-49EA-85E8-C33729C1DF68}"/>
              </a:ext>
            </a:extLst>
          </p:cNvPr>
          <p:cNvSpPr>
            <a:spLocks noGrp="1"/>
          </p:cNvSpPr>
          <p:nvPr/>
        </p:nvSpPr>
        <p:spPr>
          <a:xfrm>
            <a:off x="5150063" y="2033542"/>
            <a:ext cx="129032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31" name="diagram block">
            <a:extLst>
              <a:ext uri="{FF2B5EF4-FFF2-40B4-BE49-F238E27FC236}">
                <ns2:creationId id="{A5E4969D-255D-48AD-8E1E-8915BD550283}"/>
              </a:ext>
            </a:extLst>
          </p:cNvPr>
          <p:cNvSpPr>
            <a:spLocks noGrp="1"/>
          </p:cNvSpPr>
          <p:nvPr/>
        </p:nvSpPr>
        <p:spPr>
          <a:xfrm>
            <a:off x="4040389" y="2529024"/>
            <a:ext cx="2307089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3DCA8"/>
            </a:solidFill>
            <a:prstDash val="solid"/>
          </a:ln>
        </p:spPr>
      </p:sp>
      <p:sp>
        <p:nvSpPr>
          <p:cNvPr id="232" name="Ŵ[g] = r_row × 2^{e(g)} × (C₁[i₁] + C₂[i₂])">
            <a:extLst>
              <a:ext uri="{FF2B5EF4-FFF2-40B4-BE49-F238E27FC236}">
                <ns2:creationId id="{27CB6319-C543-49F5-B178-C561C719F6FA}"/>
              </a:ext>
            </a:extLst>
          </p:cNvPr>
          <p:cNvSpPr>
            <a:spLocks noGrp="1"/>
          </p:cNvSpPr>
          <p:nvPr/>
        </p:nvSpPr>
        <p:spPr>
          <a:xfrm>
            <a:off x="4086840" y="2570314"/>
            <a:ext cx="2214187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Ŵ[g]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2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e(g)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(C₁[i₁] + C₂[i₂])</a:t>
            </a:r>
          </a:p>
        </p:txBody>
      </p:sp>
      <p:cxnSp>
        <p:nvCxnSpPr>
          <p:cNvPr id="233" name="native PowerPoint connector">
            <a:extLst>
              <a:ext uri="{FF2B5EF4-FFF2-40B4-BE49-F238E27FC236}">
                <ns2:creationId id="{32BF77A7-3005-4FC3-92EC-7D95B981E8CC}"/>
              </a:ext>
            </a:extLst>
          </p:cNvPr>
          <p:cNvCxnSpPr/>
          <p:nvPr/>
        </p:nvCxnSpPr>
        <p:spPr>
          <a:xfrm flipH="0" flipV="1">
            <a:off x="4298452" y="2756120"/>
            <a:ext cx="87742" cy="123871"/>
          </a:xfrm>
          <a:prstGeom prst="straightConnector1">
            <a:avLst/>
          </a:prstGeom>
          <a:ln w="6194">
            <a:solidFill>
              <a:srgbClr val="074A8B"/>
            </a:solidFill>
            <a:prstDash val="solid"/>
            <a:tailEnd type="triangle" w="sm" len="sm"/>
          </a:ln>
        </p:spPr>
      </p:cxnSp>
      <p:cxnSp>
        <p:nvCxnSpPr>
          <p:cNvPr id="234" name="native PowerPoint connector">
            <a:extLst>
              <a:ext uri="{FF2B5EF4-FFF2-40B4-BE49-F238E27FC236}">
                <ns2:creationId id="{03F669B3-7738-4058-B00E-443BD65F1FDF}"/>
              </a:ext>
            </a:extLst>
          </p:cNvPr>
          <p:cNvCxnSpPr/>
          <p:nvPr/>
        </p:nvCxnSpPr>
        <p:spPr>
          <a:xfrm flipH="0" flipV="1">
            <a:off x="4886838" y="2756120"/>
            <a:ext cx="82580" cy="118709"/>
          </a:xfrm>
          <a:prstGeom prst="straightConnector1">
            <a:avLst/>
          </a:prstGeom>
          <a:ln w="6194">
            <a:solidFill>
              <a:srgbClr val="0776A5"/>
            </a:solidFill>
            <a:prstDash val="solid"/>
            <a:tailEnd type="triangle" w="sm" len="sm"/>
          </a:ln>
        </p:spPr>
      </p:cxnSp>
      <p:cxnSp>
        <p:nvCxnSpPr>
          <p:cNvPr id="235" name="native PowerPoint connector">
            <a:extLst>
              <a:ext uri="{FF2B5EF4-FFF2-40B4-BE49-F238E27FC236}">
                <ns2:creationId id="{792B942F-DB8D-4798-A59C-1C289E48417A}"/>
              </a:ext>
            </a:extLst>
          </p:cNvPr>
          <p:cNvCxnSpPr/>
          <p:nvPr/>
        </p:nvCxnSpPr>
        <p:spPr>
          <a:xfrm flipH="0" flipV="1">
            <a:off x="5521674" y="2756120"/>
            <a:ext cx="0" cy="123871"/>
          </a:xfrm>
          <a:prstGeom prst="straightConnector1">
            <a:avLst/>
          </a:prstGeom>
          <a:ln w="6194">
            <a:solidFill>
              <a:srgbClr val="00696D"/>
            </a:solidFill>
            <a:prstDash val="solid"/>
            <a:tailEnd type="triangle" w="sm" len="sm"/>
          </a:ln>
        </p:spPr>
      </p:cxnSp>
      <p:cxnSp>
        <p:nvCxnSpPr>
          <p:cNvPr id="236" name="native PowerPoint connector">
            <a:extLst>
              <a:ext uri="{FF2B5EF4-FFF2-40B4-BE49-F238E27FC236}">
                <ns2:creationId id="{CCAE9D37-0F51-42D3-8CC7-B41D5843D3CE}"/>
              </a:ext>
            </a:extLst>
          </p:cNvPr>
          <p:cNvCxnSpPr/>
          <p:nvPr/>
        </p:nvCxnSpPr>
        <p:spPr>
          <a:xfrm flipH="0" flipV="1">
            <a:off x="6130705" y="2756120"/>
            <a:ext cx="0" cy="123871"/>
          </a:xfrm>
          <a:prstGeom prst="straightConnector1">
            <a:avLst/>
          </a:prstGeom>
          <a:ln w="6194">
            <a:solidFill>
              <a:srgbClr val="061A3C"/>
            </a:solidFill>
            <a:prstDash val="solid"/>
            <a:tailEnd type="triangle" w="sm" len="sm"/>
          </a:ln>
        </p:spPr>
      </p:cxnSp>
      <p:sp>
        <p:nvSpPr>
          <p:cNvPr id="237" name="BF16 row gain">
            <a:extLst>
              <a:ext uri="{FF2B5EF4-FFF2-40B4-BE49-F238E27FC236}">
                <ns2:creationId id="{47A07A58-FCBE-4B57-B415-801F92B903E1}"/>
              </a:ext>
            </a:extLst>
          </p:cNvPr>
          <p:cNvSpPr>
            <a:spLocks noGrp="1"/>
          </p:cNvSpPr>
          <p:nvPr/>
        </p:nvSpPr>
        <p:spPr>
          <a:xfrm>
            <a:off x="4040389" y="2869668"/>
            <a:ext cx="51612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869"/>
          </a:bodyPr>
          <a:lstStyle>
            <a:def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row gain</a:t>
            </a:r>
          </a:p>
        </p:txBody>
      </p:sp>
      <p:sp>
        <p:nvSpPr>
          <p:cNvPr id="238" name="r_row">
            <a:extLst>
              <a:ext uri="{FF2B5EF4-FFF2-40B4-BE49-F238E27FC236}">
                <ns2:creationId id="{9B5E376E-7442-492B-B0EC-A67439962EE5}"/>
              </a:ext>
            </a:extLst>
          </p:cNvPr>
          <p:cNvSpPr>
            <a:spLocks noGrp="1"/>
          </p:cNvSpPr>
          <p:nvPr/>
        </p:nvSpPr>
        <p:spPr>
          <a:xfrm>
            <a:off x="4159098" y="2988378"/>
            <a:ext cx="294193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124"/>
          </a:bodyPr>
          <a:lstStyle>
            <a:def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564" b="0" i="1" baseline="-2300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</p:txBody>
      </p:sp>
      <p:sp>
        <p:nvSpPr>
          <p:cNvPr id="239" name="B32 power-of-two&#10;scales">
            <a:extLst>
              <a:ext uri="{FF2B5EF4-FFF2-40B4-BE49-F238E27FC236}">
                <ns2:creationId id="{F6E11C3E-A998-415C-8CBD-32C0B294480F}"/>
              </a:ext>
            </a:extLst>
          </p:cNvPr>
          <p:cNvSpPr>
            <a:spLocks noGrp="1"/>
          </p:cNvSpPr>
          <p:nvPr/>
        </p:nvSpPr>
        <p:spPr>
          <a:xfrm>
            <a:off x="4597806" y="2864507"/>
            <a:ext cx="65548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992"/>
          </a:bodyPr>
          <a:lstStyle>
            <a:def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B32 power-of-two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877A6"/>
                </a:solidFill>
                <a:latin typeface="Times New Roman"/>
                <a:ea typeface="Times New Roman"/>
                <a:cs typeface="Times New Roman"/>
              </a:rPr>
              <a:t>scales</a:t>
            </a:r>
          </a:p>
        </p:txBody>
      </p:sp>
      <p:sp>
        <p:nvSpPr>
          <p:cNvPr id="240" name="2 × 8-bit indices /&#10;4 weights = 4 core bpw">
            <a:extLst>
              <a:ext uri="{FF2B5EF4-FFF2-40B4-BE49-F238E27FC236}">
                <ns2:creationId id="{96C44AED-EF82-40AA-8FA1-B6182638CCCD}"/>
              </a:ext>
            </a:extLst>
          </p:cNvPr>
          <p:cNvSpPr>
            <a:spLocks noGrp="1"/>
          </p:cNvSpPr>
          <p:nvPr/>
        </p:nvSpPr>
        <p:spPr>
          <a:xfrm>
            <a:off x="5289417" y="2864507"/>
            <a:ext cx="650321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6351"/>
          </a:bodyPr>
          <a:lstStyle>
            <a:def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2 × 8-bit indices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4 weights = 4 core bpw</a:t>
            </a:r>
          </a:p>
        </p:txBody>
      </p:sp>
      <p:sp>
        <p:nvSpPr>
          <p:cNvPr id="241" name="~4.27 bpw&#10;including&#10;metadata">
            <a:extLst>
              <a:ext uri="{FF2B5EF4-FFF2-40B4-BE49-F238E27FC236}">
                <ns2:creationId id="{5A2E7F88-01B7-46B0-A54E-2BD6BE94DDF4}"/>
              </a:ext>
            </a:extLst>
          </p:cNvPr>
          <p:cNvSpPr>
            <a:spLocks noGrp="1"/>
          </p:cNvSpPr>
          <p:nvPr/>
        </p:nvSpPr>
        <p:spPr>
          <a:xfrm>
            <a:off x="6011995" y="2843862"/>
            <a:ext cx="392257" cy="2838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4821"/>
          </a:bodyPr>
          <a:lstStyle>
            <a:def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~4.27 bpw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including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metadata</a:t>
            </a:r>
          </a:p>
        </p:txBody>
      </p:sp>
      <p:sp>
        <p:nvSpPr>
          <p:cNvPr id="242" name="diagram block">
            <a:extLst>
              <a:ext uri="{FF2B5EF4-FFF2-40B4-BE49-F238E27FC236}">
                <ns2:creationId id="{EEF32D05-5177-458B-AA03-D47393FC1ADD}"/>
              </a:ext>
            </a:extLst>
          </p:cNvPr>
          <p:cNvSpPr>
            <a:spLocks noGrp="1"/>
          </p:cNvSpPr>
          <p:nvPr/>
        </p:nvSpPr>
        <p:spPr>
          <a:xfrm>
            <a:off x="4040389" y="3163861"/>
            <a:ext cx="2307089" cy="242580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49BA3"/>
            </a:solidFill>
            <a:prstDash val="solid"/>
          </a:ln>
        </p:spPr>
      </p:sp>
      <p:sp>
        <p:nvSpPr>
          <p:cNvPr id="243" name="Indices and B32 exponents are frozen">
            <a:extLst>
              <a:ext uri="{FF2B5EF4-FFF2-40B4-BE49-F238E27FC236}">
                <ns2:creationId id="{EAFEA390-4F27-491D-9149-3C263BFA8040}"/>
              </a:ext>
            </a:extLst>
          </p:cNvPr>
          <p:cNvSpPr>
            <a:spLocks noGrp="1"/>
          </p:cNvSpPr>
          <p:nvPr/>
        </p:nvSpPr>
        <p:spPr>
          <a:xfrm>
            <a:off x="4097163" y="3205151"/>
            <a:ext cx="219354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644"/>
          </a:bodyPr>
          <a:lstStyle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Indices and B32 exponents are frozen</a:t>
            </a:r>
          </a:p>
        </p:txBody>
      </p:sp>
      <p:sp>
        <p:nvSpPr>
          <p:cNvPr id="244" name="Codebooks and row gains calibrated with action + latent supervision">
            <a:extLst>
              <a:ext uri="{FF2B5EF4-FFF2-40B4-BE49-F238E27FC236}">
                <ns2:creationId id="{C0244A17-D08F-4F58-B1A7-62CAFF61B35A}"/>
              </a:ext>
            </a:extLst>
          </p:cNvPr>
          <p:cNvSpPr>
            <a:spLocks noGrp="1"/>
          </p:cNvSpPr>
          <p:nvPr/>
        </p:nvSpPr>
        <p:spPr>
          <a:xfrm>
            <a:off x="4092002" y="3318699"/>
            <a:ext cx="2209025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5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Codebooks and row gains calibrated with action + latent supervision</a:t>
            </a:r>
          </a:p>
        </p:txBody>
      </p:sp>
      <p:sp>
        <p:nvSpPr>
          <p:cNvPr id="245" name="diagram block">
            <a:extLst>
              <a:ext uri="{FF2B5EF4-FFF2-40B4-BE49-F238E27FC236}">
                <ns2:creationId id="{290C0195-C7F1-449B-BDB8-8A4A43E84BE7}"/>
              </a:ext>
            </a:extLst>
          </p:cNvPr>
          <p:cNvSpPr>
            <a:spLocks noGrp="1"/>
          </p:cNvSpPr>
          <p:nvPr/>
        </p:nvSpPr>
        <p:spPr>
          <a:xfrm>
            <a:off x="6538445" y="309676"/>
            <a:ext cx="1223222" cy="190967"/>
          </a:xfrm>
          <a:prstGeom prst="roundRect">
            <a:avLst>
              <a:gd name="adj" fmla="val 8108"/>
            </a:avLst>
          </a:prstGeom>
          <a:solidFill>
            <a:srgbClr val="DDEFFF"/>
          </a:solidFill>
          <a:ln w="5161">
            <a:noFill/>
            <a:prstDash val="solid"/>
          </a:ln>
        </p:spPr>
      </p:sp>
      <p:sp>
        <p:nvSpPr>
          <p:cNvPr id="246" name="Activation path (input X)">
            <a:extLst>
              <a:ext uri="{FF2B5EF4-FFF2-40B4-BE49-F238E27FC236}">
                <ns2:creationId id="{8CDBE43B-8FCA-4F7F-BEA2-6ADE62BA24F5}"/>
              </a:ext>
            </a:extLst>
          </p:cNvPr>
          <p:cNvSpPr>
            <a:spLocks noGrp="1"/>
          </p:cNvSpPr>
          <p:nvPr/>
        </p:nvSpPr>
        <p:spPr>
          <a:xfrm>
            <a:off x="6564252" y="335483"/>
            <a:ext cx="1171609" cy="139354"/>
          </a:xfrm>
          <a:prstGeom prst="rect">
            <a:avLst/>
          </a:prstGeom>
          <a:solidFill>
            <a:srgbClr val="DDEFFF"/>
          </a:soli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C3873"/>
                </a:solidFill>
                <a:latin typeface="Times New Roman"/>
                <a:ea typeface="Times New Roman"/>
                <a:cs typeface="Times New Roman"/>
              </a:rPr>
              <a:t>Activation path (input X)</a:t>
            </a:r>
          </a:p>
        </p:txBody>
      </p:sp>
      <p:sp>
        <p:nvSpPr>
          <p:cNvPr id="247" name="X">
            <a:extLst>
              <a:ext uri="{FF2B5EF4-FFF2-40B4-BE49-F238E27FC236}">
                <ns2:creationId id="{70270B25-68F8-44FE-BC81-139E65C7BEDA}"/>
              </a:ext>
            </a:extLst>
          </p:cNvPr>
          <p:cNvSpPr>
            <a:spLocks noGrp="1"/>
          </p:cNvSpPr>
          <p:nvPr/>
        </p:nvSpPr>
        <p:spPr>
          <a:xfrm>
            <a:off x="6548768" y="815481"/>
            <a:ext cx="134193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47"/>
          </a:bodyPr>
          <a:lstStyle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8" name="diagram block">
            <a:extLst>
              <a:ext uri="{FF2B5EF4-FFF2-40B4-BE49-F238E27FC236}">
                <ns2:creationId id="{87CE1341-8E03-486B-AC5A-9ED07BA27AB5}"/>
              </a:ext>
            </a:extLst>
          </p:cNvPr>
          <p:cNvSpPr>
            <a:spLocks noGrp="1"/>
          </p:cNvSpPr>
          <p:nvPr/>
        </p:nvSpPr>
        <p:spPr>
          <a:xfrm>
            <a:off x="6806832" y="650321"/>
            <a:ext cx="469676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269AC"/>
            </a:solidFill>
            <a:prstDash val="solid"/>
          </a:ln>
        </p:spPr>
      </p:sp>
      <p:sp>
        <p:nvSpPr>
          <p:cNvPr id="249" name="Smooth&#10;(α = 0.5)&#10;+ H128">
            <a:extLst>
              <a:ext uri="{FF2B5EF4-FFF2-40B4-BE49-F238E27FC236}">
                <ns2:creationId id="{88A3AA63-589F-457F-9B65-A0432654E50F}"/>
              </a:ext>
            </a:extLst>
          </p:cNvPr>
          <p:cNvSpPr>
            <a:spLocks noGrp="1"/>
          </p:cNvSpPr>
          <p:nvPr/>
        </p:nvSpPr>
        <p:spPr>
          <a:xfrm>
            <a:off x="6832638" y="676127"/>
            <a:ext cx="418063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Smooth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(α = 0.5)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 H128</a:t>
            </a:r>
          </a:p>
        </p:txBody>
      </p:sp>
      <p:sp>
        <p:nvSpPr>
          <p:cNvPr id="250" name="diagram block">
            <a:extLst>
              <a:ext uri="{FF2B5EF4-FFF2-40B4-BE49-F238E27FC236}">
                <ns2:creationId id="{3849A827-05FA-4EAF-A12D-C8498454D6F7}"/>
              </a:ext>
            </a:extLst>
          </p:cNvPr>
          <p:cNvSpPr>
            <a:spLocks noGrp="1"/>
          </p:cNvSpPr>
          <p:nvPr/>
        </p:nvSpPr>
        <p:spPr>
          <a:xfrm>
            <a:off x="7488120" y="738062"/>
            <a:ext cx="263225" cy="283870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088B5"/>
            </a:solidFill>
            <a:prstDash val="solid"/>
          </a:ln>
        </p:spPr>
      </p:sp>
      <p:sp>
        <p:nvSpPr>
          <p:cNvPr id="251" name="÷ D">
            <a:extLst>
              <a:ext uri="{FF2B5EF4-FFF2-40B4-BE49-F238E27FC236}">
                <ns2:creationId id="{90CC77B3-AE01-42B6-8BFC-73C461133E3F}"/>
              </a:ext>
            </a:extLst>
          </p:cNvPr>
          <p:cNvSpPr>
            <a:spLocks noGrp="1"/>
          </p:cNvSpPr>
          <p:nvPr/>
        </p:nvSpPr>
        <p:spPr>
          <a:xfrm>
            <a:off x="7513926" y="763869"/>
            <a:ext cx="211612" cy="232257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÷ D</a:t>
            </a:r>
          </a:p>
        </p:txBody>
      </p:sp>
      <p:sp>
        <p:nvSpPr>
          <p:cNvPr id="252" name="diagram block">
            <a:extLst>
              <a:ext uri="{FF2B5EF4-FFF2-40B4-BE49-F238E27FC236}">
                <ns2:creationId id="{3BBD12B1-0C94-4ACC-88D0-4CF98FABB903}"/>
              </a:ext>
            </a:extLst>
          </p:cNvPr>
          <p:cNvSpPr>
            <a:spLocks noGrp="1"/>
          </p:cNvSpPr>
          <p:nvPr/>
        </p:nvSpPr>
        <p:spPr>
          <a:xfrm>
            <a:off x="7859731" y="655482"/>
            <a:ext cx="449031" cy="459353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5161">
            <a:solidFill>
              <a:srgbClr val="106C7A"/>
            </a:solidFill>
            <a:prstDash val="solid"/>
          </a:ln>
        </p:spPr>
      </p:sp>
      <p:sp>
        <p:nvSpPr>
          <p:cNvPr id="253" name="Dynamic&#10;signed A4">
            <a:extLst>
              <a:ext uri="{FF2B5EF4-FFF2-40B4-BE49-F238E27FC236}">
                <ns2:creationId id="{226D108E-7888-437D-A976-F711EC969A59}"/>
              </a:ext>
            </a:extLst>
          </p:cNvPr>
          <p:cNvSpPr>
            <a:spLocks noGrp="1"/>
          </p:cNvSpPr>
          <p:nvPr/>
        </p:nvSpPr>
        <p:spPr>
          <a:xfrm>
            <a:off x="7885538" y="681288"/>
            <a:ext cx="397418" cy="407741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6630"/>
          </a:bodyPr>
          <a:lstStyle>
            <a:def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Dynamic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signed A4</a:t>
            </a:r>
          </a:p>
        </p:txBody>
      </p:sp>
      <p:sp>
        <p:nvSpPr>
          <p:cNvPr id="254" name="diagram block">
            <a:extLst>
              <a:ext uri="{FF2B5EF4-FFF2-40B4-BE49-F238E27FC236}">
                <ns2:creationId id="{466E8CDC-D7F7-47A7-9185-E5C0629E2004}"/>
              </a:ext>
            </a:extLst>
          </p:cNvPr>
          <p:cNvSpPr>
            <a:spLocks noGrp="1"/>
          </p:cNvSpPr>
          <p:nvPr/>
        </p:nvSpPr>
        <p:spPr>
          <a:xfrm>
            <a:off x="8411988" y="650321"/>
            <a:ext cx="381934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666AC"/>
            </a:solidFill>
            <a:prstDash val="solid"/>
          </a:ln>
        </p:spPr>
      </p:sp>
      <p:sp>
        <p:nvSpPr>
          <p:cNvPr id="255" name="BF16&#10;dense&#10;Linear">
            <a:extLst>
              <a:ext uri="{FF2B5EF4-FFF2-40B4-BE49-F238E27FC236}">
                <ns2:creationId id="{78B76FA2-CEC3-4B81-BDA6-0F53B7BD160F}"/>
              </a:ext>
            </a:extLst>
          </p:cNvPr>
          <p:cNvSpPr>
            <a:spLocks noGrp="1"/>
          </p:cNvSpPr>
          <p:nvPr/>
        </p:nvSpPr>
        <p:spPr>
          <a:xfrm>
            <a:off x="8437794" y="676127"/>
            <a:ext cx="330322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56" name="native PowerPoint connector">
            <a:extLst>
              <a:ext uri="{FF2B5EF4-FFF2-40B4-BE49-F238E27FC236}">
                <ns2:creationId id="{1E68DB72-823C-4031-8311-022A06352A61}"/>
              </a:ext>
            </a:extLst>
          </p:cNvPr>
          <p:cNvCxnSpPr/>
          <p:nvPr/>
        </p:nvCxnSpPr>
        <p:spPr>
          <a:xfrm flipH="0" flipV="0">
            <a:off x="6677800" y="882578"/>
            <a:ext cx="123871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57" name="native PowerPoint connector">
            <a:extLst>
              <a:ext uri="{FF2B5EF4-FFF2-40B4-BE49-F238E27FC236}">
                <ns2:creationId id="{712C0F7A-0DC7-4FED-8168-99602D9FE320}"/>
              </a:ext>
            </a:extLst>
          </p:cNvPr>
          <p:cNvCxnSpPr/>
          <p:nvPr/>
        </p:nvCxnSpPr>
        <p:spPr>
          <a:xfrm flipH="0" flipV="0">
            <a:off x="7281669" y="877417"/>
            <a:ext cx="196128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8" name="Z">
            <a:extLst>
              <a:ext uri="{FF2B5EF4-FFF2-40B4-BE49-F238E27FC236}">
                <ns2:creationId id="{027A40F4-1B42-4181-A7BA-A5A739C16117}"/>
              </a:ext>
            </a:extLst>
          </p:cNvPr>
          <p:cNvSpPr>
            <a:spLocks noGrp="1"/>
          </p:cNvSpPr>
          <p:nvPr/>
        </p:nvSpPr>
        <p:spPr>
          <a:xfrm>
            <a:off x="7333282" y="743223"/>
            <a:ext cx="123871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31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259" name="native PowerPoint connector">
            <a:extLst>
              <a:ext uri="{FF2B5EF4-FFF2-40B4-BE49-F238E27FC236}">
                <ns2:creationId id="{B046ECE6-93DE-4997-B970-B2CE125D97E8}"/>
              </a:ext>
            </a:extLst>
          </p:cNvPr>
          <p:cNvCxnSpPr/>
          <p:nvPr/>
        </p:nvCxnSpPr>
        <p:spPr>
          <a:xfrm flipH="0" flipV="0">
            <a:off x="7756506" y="877417"/>
            <a:ext cx="98064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60" name="native PowerPoint connector">
            <a:extLst>
              <a:ext uri="{FF2B5EF4-FFF2-40B4-BE49-F238E27FC236}">
                <ns2:creationId id="{12DF407C-7184-4692-9463-C0B063B9E19E}"/>
              </a:ext>
            </a:extLst>
          </p:cNvPr>
          <p:cNvCxnSpPr/>
          <p:nvPr/>
        </p:nvCxnSpPr>
        <p:spPr>
          <a:xfrm flipH="0" flipV="0">
            <a:off x="8313924" y="877417"/>
            <a:ext cx="92903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61" name="D: one positive scale per physical input channel">
            <a:extLst>
              <a:ext uri="{FF2B5EF4-FFF2-40B4-BE49-F238E27FC236}">
                <ns2:creationId id="{2959C765-9280-4644-BD5A-C60833A5EB2C}"/>
              </a:ext>
            </a:extLst>
          </p:cNvPr>
          <p:cNvSpPr>
            <a:spLocks noGrp="1"/>
          </p:cNvSpPr>
          <p:nvPr/>
        </p:nvSpPr>
        <p:spPr>
          <a:xfrm>
            <a:off x="6590058" y="1187093"/>
            <a:ext cx="2193541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D: one positive scale per physical input channel</a:t>
            </a:r>
          </a:p>
        </p:txBody>
      </p:sp>
      <p:sp>
        <p:nvSpPr>
          <p:cNvPr id="262" name="v = Z / D">
            <a:extLst>
              <a:ext uri="{FF2B5EF4-FFF2-40B4-BE49-F238E27FC236}">
                <ns2:creationId id="{C5ED7D17-7491-4280-82A1-C46693E3CE9E}"/>
              </a:ext>
            </a:extLst>
          </p:cNvPr>
          <p:cNvSpPr>
            <a:spLocks noGrp="1"/>
          </p:cNvSpPr>
          <p:nvPr/>
        </p:nvSpPr>
        <p:spPr>
          <a:xfrm>
            <a:off x="6605542" y="1460641"/>
            <a:ext cx="6296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 = Z / D</a:t>
            </a:r>
          </a:p>
        </p:txBody>
      </p:sp>
      <p:sp>
        <p:nvSpPr>
          <p:cNvPr id="263" name="diagram block">
            <a:extLst>
              <a:ext uri="{FF2B5EF4-FFF2-40B4-BE49-F238E27FC236}">
                <ns2:creationId id="{BB587B56-BEDD-4378-BF7E-394F1ED32964}"/>
              </a:ext>
            </a:extLst>
          </p:cNvPr>
          <p:cNvSpPr>
            <a:spLocks noGrp="1"/>
          </p:cNvSpPr>
          <p:nvPr/>
        </p:nvSpPr>
        <p:spPr>
          <a:xfrm>
            <a:off x="7240379" y="1321286"/>
            <a:ext cx="1548382" cy="541934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E1F5FC"/>
              </a:gs>
              <a:gs pos="100000">
                <a:srgbClr val="F1FBFE"/>
              </a:gs>
            </a:gsLst>
            <a:lin ang="5400000"/>
          </a:gradFill>
          <a:ln w="5161">
            <a:solidFill>
              <a:srgbClr val="B6E0EE"/>
            </a:solidFill>
            <a:prstDash val="solid"/>
          </a:ln>
        </p:spPr>
      </p:sp>
      <p:sp>
        <p:nvSpPr>
          <p:cNvPr id="264" name="Per-token dynamic signed A4 (per Linear)">
            <a:extLst>
              <a:ext uri="{FF2B5EF4-FFF2-40B4-BE49-F238E27FC236}">
                <ns2:creationId id="{3D85489B-3D03-4D8B-934E-C7A6A7BCDC75}"/>
              </a:ext>
            </a:extLst>
          </p:cNvPr>
          <p:cNvSpPr>
            <a:spLocks noGrp="1"/>
          </p:cNvSpPr>
          <p:nvPr/>
        </p:nvSpPr>
        <p:spPr>
          <a:xfrm>
            <a:off x="7291991" y="1372899"/>
            <a:ext cx="1445157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794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Per-token dynamic signed A4 (per Linear)</a:t>
            </a:r>
          </a:p>
        </p:txBody>
      </p:sp>
      <p:sp>
        <p:nvSpPr>
          <p:cNvPr id="265" name="sₜ = r_{ℓ} × max |vₜ| / 7">
            <a:extLst>
              <a:ext uri="{FF2B5EF4-FFF2-40B4-BE49-F238E27FC236}">
                <ns2:creationId id="{E9A9E789-F747-4D77-BAA6-48853F282073}"/>
              </a:ext>
            </a:extLst>
          </p:cNvPr>
          <p:cNvSpPr>
            <a:spLocks noGrp="1"/>
          </p:cNvSpPr>
          <p:nvPr/>
        </p:nvSpPr>
        <p:spPr>
          <a:xfrm>
            <a:off x="7395217" y="1527737"/>
            <a:ext cx="1269673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sₜ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sz="975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|vₜ| / 7</a:t>
            </a:r>
          </a:p>
        </p:txBody>
      </p:sp>
      <p:sp>
        <p:nvSpPr>
          <p:cNvPr id="266" name="q = clamp(round(v / sₜ), −7, 7)">
            <a:extLst>
              <a:ext uri="{FF2B5EF4-FFF2-40B4-BE49-F238E27FC236}">
                <ns2:creationId id="{E76B8021-F4E3-4420-99F0-9B9F2E83E0B9}"/>
              </a:ext>
            </a:extLst>
          </p:cNvPr>
          <p:cNvSpPr>
            <a:spLocks noGrp="1"/>
          </p:cNvSpPr>
          <p:nvPr/>
        </p:nvSpPr>
        <p:spPr>
          <a:xfrm>
            <a:off x="7317798" y="1687737"/>
            <a:ext cx="1383221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199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 = 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clamp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894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round</a:t>
            </a: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 / sₜ), −7, 7)</a:t>
            </a:r>
          </a:p>
        </p:txBody>
      </p:sp>
      <p:sp>
        <p:nvSpPr>
          <p:cNvPr id="267" name="r_{ℓ}: one clipping ratio per Linear">
            <a:extLst>
              <a:ext uri="{FF2B5EF4-FFF2-40B4-BE49-F238E27FC236}">
                <ns2:creationId id="{1FA5ADC2-554B-43C2-B4E0-720205506ABD}"/>
              </a:ext>
            </a:extLst>
          </p:cNvPr>
          <p:cNvSpPr>
            <a:spLocks noGrp="1"/>
          </p:cNvSpPr>
          <p:nvPr/>
        </p:nvSpPr>
        <p:spPr>
          <a:xfrm>
            <a:off x="7276508" y="1914833"/>
            <a:ext cx="151225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564" b="0" i="0" baseline="-2300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ℓ</a:t>
            </a:r>
            <a:r>
              <a:rPr sz="772" b="0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: one clipping ratio per Linear</a:t>
            </a:r>
          </a:p>
        </p:txBody>
      </p:sp>
      <p:sp>
        <p:nvSpPr>
          <p:cNvPr id="268" name="(distinct from per-channel D)">
            <a:extLst>
              <a:ext uri="{FF2B5EF4-FFF2-40B4-BE49-F238E27FC236}">
                <ns2:creationId id="{D48DD06E-B541-4C50-B410-00B806D4F6F9}"/>
              </a:ext>
            </a:extLst>
          </p:cNvPr>
          <p:cNvSpPr>
            <a:spLocks noGrp="1"/>
          </p:cNvSpPr>
          <p:nvPr/>
        </p:nvSpPr>
        <p:spPr>
          <a:xfrm>
            <a:off x="7415862" y="2033542"/>
            <a:ext cx="134193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(distinct from per-channel D)</a:t>
            </a:r>
          </a:p>
        </p:txBody>
      </p:sp>
      <p:sp>
        <p:nvSpPr>
          <p:cNvPr id="269" name="diagram block">
            <a:extLst>
              <a:ext uri="{FF2B5EF4-FFF2-40B4-BE49-F238E27FC236}">
                <ns2:creationId id="{8F997B49-79B4-4811-8207-7D34FFF6A824}"/>
              </a:ext>
            </a:extLst>
          </p:cNvPr>
          <p:cNvSpPr>
            <a:spLocks noGrp="1"/>
          </p:cNvSpPr>
          <p:nvPr/>
        </p:nvSpPr>
        <p:spPr>
          <a:xfrm>
            <a:off x="6538445" y="2193541"/>
            <a:ext cx="753546" cy="206451"/>
          </a:xfrm>
          <a:prstGeom prst="roundRect">
            <a:avLst>
              <a:gd name="adj" fmla="val 10000"/>
            </a:avLst>
          </a:prstGeom>
          <a:solidFill>
            <a:srgbClr val="FDE7E5"/>
          </a:solidFill>
          <a:ln w="5161">
            <a:noFill/>
            <a:prstDash val="solid"/>
          </a:ln>
        </p:spPr>
      </p:sp>
      <p:sp>
        <p:nvSpPr>
          <p:cNvPr id="270" name="Weight path">
            <a:extLst>
              <a:ext uri="{FF2B5EF4-FFF2-40B4-BE49-F238E27FC236}">
                <ns2:creationId id="{6E89F585-32D6-4D86-A9E7-B735221D3FF8}"/>
              </a:ext>
            </a:extLst>
          </p:cNvPr>
          <p:cNvSpPr>
            <a:spLocks noGrp="1"/>
          </p:cNvSpPr>
          <p:nvPr/>
        </p:nvSpPr>
        <p:spPr>
          <a:xfrm>
            <a:off x="6564252" y="2219348"/>
            <a:ext cx="701933" cy="154838"/>
          </a:xfrm>
          <a:prstGeom prst="rect">
            <a:avLst/>
          </a:prstGeom>
          <a:solidFill>
            <a:srgbClr val="FDE7E5"/>
          </a:soli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Weight path</a:t>
            </a:r>
          </a:p>
        </p:txBody>
      </p:sp>
      <p:sp>
        <p:nvSpPr>
          <p:cNvPr id="271" name="diagram block">
            <a:extLst>
              <a:ext uri="{FF2B5EF4-FFF2-40B4-BE49-F238E27FC236}">
                <ns2:creationId id="{7EAE839E-8838-4F4F-BB2A-E87D141CC4BE}"/>
              </a:ext>
            </a:extLst>
          </p:cNvPr>
          <p:cNvSpPr>
            <a:spLocks noGrp="1"/>
          </p:cNvSpPr>
          <p:nvPr/>
        </p:nvSpPr>
        <p:spPr>
          <a:xfrm>
            <a:off x="6538445" y="2461928"/>
            <a:ext cx="660643" cy="361289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C94E64"/>
            </a:solidFill>
            <a:prstDash val="solid"/>
          </a:ln>
        </p:spPr>
      </p:sp>
      <p:sp>
        <p:nvSpPr>
          <p:cNvPr id="272" name="Decode VQ&#10;(frozen)">
            <a:extLst>
              <a:ext uri="{FF2B5EF4-FFF2-40B4-BE49-F238E27FC236}">
                <ns2:creationId id="{C0FC2D6A-FB0D-47BA-A2F1-E39C1D9F78F6}"/>
              </a:ext>
            </a:extLst>
          </p:cNvPr>
          <p:cNvSpPr>
            <a:spLocks noGrp="1"/>
          </p:cNvSpPr>
          <p:nvPr/>
        </p:nvSpPr>
        <p:spPr>
          <a:xfrm>
            <a:off x="6564252" y="2487734"/>
            <a:ext cx="609030" cy="309676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Decode VQ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73" name="Ŵ">
            <a:extLst>
              <a:ext uri="{FF2B5EF4-FFF2-40B4-BE49-F238E27FC236}">
                <ns2:creationId id="{27CA2D31-B509-4F32-8EE8-C9960F75467A}"/>
              </a:ext>
            </a:extLst>
          </p:cNvPr>
          <p:cNvSpPr>
            <a:spLocks noGrp="1"/>
          </p:cNvSpPr>
          <p:nvPr/>
        </p:nvSpPr>
        <p:spPr>
          <a:xfrm>
            <a:off x="7286830" y="2518702"/>
            <a:ext cx="185806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255"/>
          </a:bodyPr>
          <a:lstStyle>
            <a:def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</a:t>
            </a:r>
          </a:p>
        </p:txBody>
      </p:sp>
      <p:sp>
        <p:nvSpPr>
          <p:cNvPr id="274" name="diagram block">
            <a:extLst>
              <a:ext uri="{FF2B5EF4-FFF2-40B4-BE49-F238E27FC236}">
                <ns2:creationId id="{BD4F83DF-C7E7-433E-984E-891B8C948FD8}"/>
              </a:ext>
            </a:extLst>
          </p:cNvPr>
          <p:cNvSpPr>
            <a:spLocks noGrp="1"/>
          </p:cNvSpPr>
          <p:nvPr/>
        </p:nvSpPr>
        <p:spPr>
          <a:xfrm>
            <a:off x="7519087" y="2498057"/>
            <a:ext cx="588385" cy="294193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BC778"/>
            </a:solidFill>
            <a:prstDash val="solid"/>
          </a:ln>
        </p:spPr>
      </p:sp>
      <p:sp>
        <p:nvSpPr>
          <p:cNvPr id="275" name="Ŵ × D">
            <a:extLst>
              <a:ext uri="{FF2B5EF4-FFF2-40B4-BE49-F238E27FC236}">
                <ns2:creationId id="{093E6E3E-5E74-43CF-B974-A26BCA2D5066}"/>
              </a:ext>
            </a:extLst>
          </p:cNvPr>
          <p:cNvSpPr>
            <a:spLocks noGrp="1"/>
          </p:cNvSpPr>
          <p:nvPr/>
        </p:nvSpPr>
        <p:spPr>
          <a:xfrm>
            <a:off x="7544894" y="2523863"/>
            <a:ext cx="536772" cy="242580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 × D</a:t>
            </a:r>
          </a:p>
        </p:txBody>
      </p:sp>
      <p:sp>
        <p:nvSpPr>
          <p:cNvPr id="276" name="diagram block">
            <a:extLst>
              <a:ext uri="{FF2B5EF4-FFF2-40B4-BE49-F238E27FC236}">
                <ns2:creationId id="{0C5AC76A-E0E3-46B2-9B2F-F2FCE32990F8}"/>
              </a:ext>
            </a:extLst>
          </p:cNvPr>
          <p:cNvSpPr>
            <a:spLocks noGrp="1"/>
          </p:cNvSpPr>
          <p:nvPr/>
        </p:nvSpPr>
        <p:spPr>
          <a:xfrm>
            <a:off x="8313924" y="2420637"/>
            <a:ext cx="474837" cy="45419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56CB0"/>
            </a:solidFill>
            <a:prstDash val="solid"/>
          </a:ln>
        </p:spPr>
      </p:sp>
      <p:sp>
        <p:nvSpPr>
          <p:cNvPr id="277" name="BF16&#10;dense&#10;Linear">
            <a:extLst>
              <a:ext uri="{FF2B5EF4-FFF2-40B4-BE49-F238E27FC236}">
                <ns2:creationId id="{F1FBA2DB-8DF3-4978-A698-9C88297FCE7D}"/>
              </a:ext>
            </a:extLst>
          </p:cNvPr>
          <p:cNvSpPr>
            <a:spLocks noGrp="1"/>
          </p:cNvSpPr>
          <p:nvPr/>
        </p:nvSpPr>
        <p:spPr>
          <a:xfrm>
            <a:off x="8339730" y="2446444"/>
            <a:ext cx="423224" cy="402579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cxnSp>
        <p:nvCxnSpPr>
          <p:cNvPr id="278" name="native PowerPoint connector">
            <a:extLst>
              <a:ext uri="{FF2B5EF4-FFF2-40B4-BE49-F238E27FC236}">
                <ns2:creationId id="{C1203ADE-B35C-4CEA-B08B-416131BA3750}"/>
              </a:ext>
            </a:extLst>
          </p:cNvPr>
          <p:cNvCxnSpPr/>
          <p:nvPr/>
        </p:nvCxnSpPr>
        <p:spPr>
          <a:xfrm flipH="0" flipV="0">
            <a:off x="7204250" y="2642572"/>
            <a:ext cx="309676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9" name="native PowerPoint connector">
            <a:extLst>
              <a:ext uri="{FF2B5EF4-FFF2-40B4-BE49-F238E27FC236}">
                <ns2:creationId id="{AA29B414-60BA-46CC-83C0-6F702ED997D3}"/>
              </a:ext>
            </a:extLst>
          </p:cNvPr>
          <p:cNvCxnSpPr/>
          <p:nvPr/>
        </p:nvCxnSpPr>
        <p:spPr>
          <a:xfrm flipH="0" flipV="0">
            <a:off x="8112634" y="2642572"/>
            <a:ext cx="196128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0" name="diagram block">
            <a:extLst>
              <a:ext uri="{FF2B5EF4-FFF2-40B4-BE49-F238E27FC236}">
                <ns2:creationId id="{5EE72DE8-EB16-4151-8B2A-40E0DE7FB4A8}"/>
              </a:ext>
            </a:extLst>
          </p:cNvPr>
          <p:cNvSpPr>
            <a:spLocks noGrp="1"/>
          </p:cNvSpPr>
          <p:nvPr/>
        </p:nvSpPr>
        <p:spPr>
          <a:xfrm>
            <a:off x="6538445" y="2947087"/>
            <a:ext cx="2250315" cy="459353"/>
          </a:xfrm>
          <a:prstGeom prst="roundRect">
            <a:avLst>
              <a:gd name="adj" fmla="val 6742"/>
            </a:avLst>
          </a:prstGeom>
          <a:gradFill>
            <a:gsLst>
              <a:gs pos="0">
                <a:srgbClr val="DBF0F0"/>
              </a:gs>
              <a:gs pos="100000">
                <a:srgbClr val="F4FCFC"/>
              </a:gs>
            </a:gsLst>
            <a:lin ang="5400000"/>
          </a:gradFill>
          <a:ln w="5161">
            <a:solidFill>
              <a:srgbClr val="95D0D1"/>
            </a:solidFill>
            <a:prstDash val="solid"/>
          </a:ln>
        </p:spPr>
      </p:sp>
      <p:sp>
        <p:nvSpPr>
          <p:cNvPr id="281" name="Training refinement (activation only)">
            <a:extLst>
              <a:ext uri="{FF2B5EF4-FFF2-40B4-BE49-F238E27FC236}">
                <ns2:creationId id="{66761767-20BA-453B-A838-64BD0A651BB8}"/>
              </a:ext>
            </a:extLst>
          </p:cNvPr>
          <p:cNvSpPr>
            <a:spLocks noGrp="1"/>
          </p:cNvSpPr>
          <p:nvPr/>
        </p:nvSpPr>
        <p:spPr>
          <a:xfrm>
            <a:off x="6584897" y="2983216"/>
            <a:ext cx="2147090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87"/>
          </a:bodyPr>
          <a:lstStyle>
            <a:def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0696D"/>
                </a:solidFill>
                <a:latin typeface="Times New Roman"/>
                <a:ea typeface="Times New Roman"/>
                <a:cs typeface="Times New Roman"/>
              </a:rPr>
              <a:t>Training refinement (activation only)</a:t>
            </a:r>
          </a:p>
        </p:txBody>
      </p:sp>
      <p:sp>
        <p:nvSpPr>
          <p:cNvPr id="282" name="• Freeze indices, B32 exponents,&#10;  codebooks and row gains">
            <a:extLst>
              <a:ext uri="{FF2B5EF4-FFF2-40B4-BE49-F238E27FC236}">
                <ns2:creationId id="{97EDF5BD-E1F0-4FE0-A2E3-297CBCF49F06}"/>
              </a:ext>
            </a:extLst>
          </p:cNvPr>
          <p:cNvSpPr>
            <a:spLocks noGrp="1"/>
          </p:cNvSpPr>
          <p:nvPr/>
        </p:nvSpPr>
        <p:spPr>
          <a:xfrm>
            <a:off x="6595219" y="3117409"/>
            <a:ext cx="2141929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574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Freeze indices, B32 exponents,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 codebooks and row gains</a:t>
            </a:r>
          </a:p>
        </p:txBody>
      </p:sp>
      <p:sp>
        <p:nvSpPr>
          <p:cNvPr id="283" name="• Learn per-channel D and per-Linear r_{ℓ}">
            <a:extLst>
              <a:ext uri="{FF2B5EF4-FFF2-40B4-BE49-F238E27FC236}">
                <ns2:creationId id="{A928610C-B29F-48AD-BE24-EB7FE97C618E}"/>
              </a:ext>
            </a:extLst>
          </p:cNvPr>
          <p:cNvSpPr>
            <a:spLocks noGrp="1"/>
          </p:cNvSpPr>
          <p:nvPr/>
        </p:nvSpPr>
        <p:spPr>
          <a:xfrm>
            <a:off x="6595219" y="3298054"/>
            <a:ext cx="2136767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• Learn per-channel D and per-Linear r</a:t>
            </a:r>
            <a:r>
              <a:rPr sz="47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284" name="diagram block">
            <a:extLst>
              <a:ext uri="{FF2B5EF4-FFF2-40B4-BE49-F238E27FC236}">
                <ns2:creationId id="{AC56E0EC-E9EC-43BD-B322-74DCA0285F5A}"/>
              </a:ext>
            </a:extLst>
          </p:cNvPr>
          <p:cNvSpPr>
            <a:spLocks noGrp="1"/>
          </p:cNvSpPr>
          <p:nvPr/>
        </p:nvSpPr>
        <p:spPr>
          <a:xfrm>
            <a:off x="277820" y="3530311"/>
            <a:ext cx="8588360" cy="1300641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8258">
            <a:solidFill>
              <a:srgbClr val="061A3C"/>
            </a:solidFill>
            <a:prstDash val="solid"/>
          </a:ln>
        </p:spPr>
      </p:sp>
      <p:sp>
        <p:nvSpPr>
          <p:cNvPr id="285" name="Offline training loop (action + latent supervision)">
            <a:extLst>
              <a:ext uri="{FF2B5EF4-FFF2-40B4-BE49-F238E27FC236}">
                <ns2:creationId id="{9B2A7E1A-64A9-4F00-999E-5C0B67BB2E1F}"/>
              </a:ext>
            </a:extLst>
          </p:cNvPr>
          <p:cNvSpPr>
            <a:spLocks noGrp="1"/>
          </p:cNvSpPr>
          <p:nvPr/>
        </p:nvSpPr>
        <p:spPr>
          <a:xfrm>
            <a:off x="350078" y="3587085"/>
            <a:ext cx="3829665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training loop (action + latent supervision)</a:t>
            </a:r>
          </a:p>
        </p:txBody>
      </p:sp>
      <p:sp>
        <p:nvSpPr>
          <p:cNvPr id="286" name="Offline gradients (no gradient to frozen components)">
            <a:extLst>
              <a:ext uri="{FF2B5EF4-FFF2-40B4-BE49-F238E27FC236}">
                <ns2:creationId id="{FDA62494-EB2F-45B1-9EDE-DCD0C13624A4}"/>
              </a:ext>
            </a:extLst>
          </p:cNvPr>
          <p:cNvSpPr>
            <a:spLocks noGrp="1"/>
          </p:cNvSpPr>
          <p:nvPr/>
        </p:nvSpPr>
        <p:spPr>
          <a:xfrm>
            <a:off x="4417162" y="3654182"/>
            <a:ext cx="278708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gradients (no gradient to frozen components)</a:t>
            </a:r>
          </a:p>
        </p:txBody>
      </p:sp>
      <p:cxnSp>
        <p:nvCxnSpPr>
          <p:cNvPr id="287" name="native PowerPoint connector">
            <a:extLst>
              <a:ext uri="{FF2B5EF4-FFF2-40B4-BE49-F238E27FC236}">
                <ns2:creationId id="{DDAC5244-1E25-49E4-8466-DA4A35D17440}"/>
              </a:ext>
            </a:extLst>
          </p:cNvPr>
          <p:cNvCxnSpPr/>
          <p:nvPr/>
        </p:nvCxnSpPr>
        <p:spPr>
          <a:xfrm flipH="0" flipV="0">
            <a:off x="7436507" y="3654182"/>
            <a:ext cx="325160" cy="0"/>
          </a:xfrm>
          <a:prstGeom prst="straightConnector1">
            <a:avLst/>
          </a:prstGeom>
          <a:ln w="11355">
            <a:solidFill>
              <a:srgbClr val="003C82"/>
            </a:solidFill>
            <a:prstDash val="solid"/>
            <a:tailEnd type="triangle" w="sm" len="sm"/>
          </a:ln>
        </p:spPr>
      </p:cxnSp>
      <p:sp>
        <p:nvSpPr>
          <p:cNvPr id="288" name="Forward data">
            <a:extLst>
              <a:ext uri="{FF2B5EF4-FFF2-40B4-BE49-F238E27FC236}">
                <ns2:creationId id="{8BAF6FF1-FEF7-488A-B123-68EC3373F59B}"/>
              </a:ext>
            </a:extLst>
          </p:cNvPr>
          <p:cNvSpPr>
            <a:spLocks noGrp="1"/>
          </p:cNvSpPr>
          <p:nvPr/>
        </p:nvSpPr>
        <p:spPr>
          <a:xfrm>
            <a:off x="7802957" y="3602569"/>
            <a:ext cx="93419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data</a:t>
            </a:r>
          </a:p>
        </p:txBody>
      </p:sp>
      <p:cxnSp>
        <p:nvCxnSpPr>
          <p:cNvPr id="289" name="native PowerPoint connector">
            <a:extLst>
              <a:ext uri="{FF2B5EF4-FFF2-40B4-BE49-F238E27FC236}">
                <ns2:creationId id="{5C6C9B82-C809-46F3-8388-93CF96361E73}"/>
              </a:ext>
            </a:extLst>
          </p:cNvPr>
          <p:cNvCxnSpPr/>
          <p:nvPr/>
        </p:nvCxnSpPr>
        <p:spPr>
          <a:xfrm flipH="0" flipV="0">
            <a:off x="7436507" y="3767730"/>
            <a:ext cx="32516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290" name="Offline gradient /&#10;parameter update">
            <a:extLst>
              <a:ext uri="{FF2B5EF4-FFF2-40B4-BE49-F238E27FC236}">
                <ns2:creationId id="{FBECCB63-FBBF-42D3-A6AE-63287761B211}"/>
              </a:ext>
            </a:extLst>
          </p:cNvPr>
          <p:cNvSpPr>
            <a:spLocks noGrp="1"/>
          </p:cNvSpPr>
          <p:nvPr/>
        </p:nvSpPr>
        <p:spPr>
          <a:xfrm>
            <a:off x="7802957" y="3721278"/>
            <a:ext cx="934191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762"/>
          </a:bodyPr>
          <a:lstStyle>
            <a:def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Offline gradient 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parameter update</a:t>
            </a:r>
          </a:p>
        </p:txBody>
      </p:sp>
      <p:sp>
        <p:nvSpPr>
          <p:cNvPr id="291" name="diagram block">
            <a:extLst>
              <a:ext uri="{FF2B5EF4-FFF2-40B4-BE49-F238E27FC236}">
                <ns2:creationId id="{B7B4FA40-AFA3-4091-9791-AE7F51178E2E}"/>
              </a:ext>
            </a:extLst>
          </p:cNvPr>
          <p:cNvSpPr>
            <a:spLocks noGrp="1"/>
          </p:cNvSpPr>
          <p:nvPr/>
        </p:nvSpPr>
        <p:spPr>
          <a:xfrm>
            <a:off x="350078" y="3974181"/>
            <a:ext cx="794836" cy="273548"/>
          </a:xfrm>
          <a:prstGeom prst="roundRect">
            <a:avLst>
              <a:gd name="adj" fmla="val 7547"/>
            </a:avLst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C9ED7"/>
            </a:solidFill>
            <a:prstDash val="solid"/>
          </a:ln>
        </p:spPr>
      </p:sp>
      <p:sp>
        <p:nvSpPr>
          <p:cNvPr id="292" name="BF16 teacher&#10;(frozen)">
            <a:extLst>
              <a:ext uri="{FF2B5EF4-FFF2-40B4-BE49-F238E27FC236}">
                <ns2:creationId id="{65913DC9-56ED-4B0A-A918-1588E5EFECB2}"/>
              </a:ext>
            </a:extLst>
          </p:cNvPr>
          <p:cNvSpPr>
            <a:spLocks noGrp="1"/>
          </p:cNvSpPr>
          <p:nvPr/>
        </p:nvSpPr>
        <p:spPr>
          <a:xfrm>
            <a:off x="375884" y="3999987"/>
            <a:ext cx="743223" cy="22193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9561"/>
          </a:bodyPr>
          <a:lstStyle>
            <a:def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BF16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(frozen)</a:t>
            </a:r>
          </a:p>
        </p:txBody>
      </p:sp>
      <p:sp>
        <p:nvSpPr>
          <p:cNvPr id="293" name="diagram block">
            <a:extLst>
              <a:ext uri="{FF2B5EF4-FFF2-40B4-BE49-F238E27FC236}">
                <ns2:creationId id="{0CA9FD97-87BC-408B-BFDA-019A0BD3FF15}"/>
              </a:ext>
            </a:extLst>
          </p:cNvPr>
          <p:cNvSpPr>
            <a:spLocks noGrp="1"/>
          </p:cNvSpPr>
          <p:nvPr/>
        </p:nvSpPr>
        <p:spPr>
          <a:xfrm>
            <a:off x="350078" y="4335470"/>
            <a:ext cx="794836" cy="268386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06F80"/>
            </a:solidFill>
            <a:prstDash val="solid"/>
          </a:ln>
        </p:spPr>
      </p:sp>
      <p:sp>
        <p:nvSpPr>
          <p:cNvPr id="294" name="Quantized WAM&#10;(student)">
            <a:extLst>
              <a:ext uri="{FF2B5EF4-FFF2-40B4-BE49-F238E27FC236}">
                <ns2:creationId id="{98325E86-E4DB-4F23-A306-7F5CE9E5B3EF}"/>
              </a:ext>
            </a:extLst>
          </p:cNvPr>
          <p:cNvSpPr>
            <a:spLocks noGrp="1"/>
          </p:cNvSpPr>
          <p:nvPr/>
        </p:nvSpPr>
        <p:spPr>
          <a:xfrm>
            <a:off x="375884" y="4361276"/>
            <a:ext cx="743223" cy="216774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Quantized WAM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(student)</a:t>
            </a:r>
          </a:p>
        </p:txBody>
      </p:sp>
      <p:sp>
        <p:nvSpPr>
          <p:cNvPr id="295" name="diagram block">
            <a:extLst>
              <a:ext uri="{FF2B5EF4-FFF2-40B4-BE49-F238E27FC236}">
                <ns2:creationId id="{A383F713-641D-4F7B-B32B-DD0F98D6F2D9}"/>
              </a:ext>
            </a:extLst>
          </p:cNvPr>
          <p:cNvSpPr>
            <a:spLocks noGrp="1"/>
          </p:cNvSpPr>
          <p:nvPr/>
        </p:nvSpPr>
        <p:spPr>
          <a:xfrm>
            <a:off x="1320397" y="4046439"/>
            <a:ext cx="1114835" cy="500644"/>
          </a:xfrm>
          <a:prstGeom prst="roundRect">
            <a:avLst>
              <a:gd name="adj" fmla="val 4124"/>
            </a:avLst>
          </a:prstGeom>
          <a:solidFill>
            <a:srgbClr val="F8FBFF"/>
          </a:solidFill>
          <a:ln w="5161">
            <a:solidFill>
              <a:srgbClr val="17619B"/>
            </a:solidFill>
            <a:prstDash val="solid"/>
          </a:ln>
        </p:spPr>
      </p:sp>
      <p:sp>
        <p:nvSpPr>
          <p:cNvPr id="296" name="Forward pass&#10;on training data&#10;(action + latent supervision)">
            <a:extLst>
              <a:ext uri="{FF2B5EF4-FFF2-40B4-BE49-F238E27FC236}">
                <ns2:creationId id="{8D71770D-E9D1-423A-9415-6C46DA823C22}"/>
              </a:ext>
            </a:extLst>
          </p:cNvPr>
          <p:cNvSpPr>
            <a:spLocks noGrp="1"/>
          </p:cNvSpPr>
          <p:nvPr/>
        </p:nvSpPr>
        <p:spPr>
          <a:xfrm>
            <a:off x="1346204" y="4072245"/>
            <a:ext cx="1063222" cy="449031"/>
          </a:xfrm>
          <a:prstGeom prst="rect">
            <a:avLst/>
          </a:prstGeom>
          <a:solidFill>
            <a:srgbClr val="F8FBFF"/>
          </a:solidFill>
          <a:ln w="0">
            <a:noFill/>
          </a:ln>
        </p:spPr>
        <p:txBody>
          <a:bodyPr wrap="none" lIns="0" tIns="0" rIns="0" bIns="0" anchor="ctr">
            <a:normAutofit fontScale="86865"/>
          </a:bodyPr>
          <a:lstStyle>
            <a:def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Forward 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on training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(action + latent supervision)</a:t>
            </a:r>
          </a:p>
        </p:txBody>
      </p:sp>
      <p:cxnSp>
        <p:nvCxnSpPr>
          <p:cNvPr id="297" name="native PowerPoint connector">
            <a:extLst>
              <a:ext uri="{FF2B5EF4-FFF2-40B4-BE49-F238E27FC236}">
                <ns2:creationId id="{601547D8-4B03-456C-BC86-C0D6C15C216E}"/>
              </a:ext>
            </a:extLst>
          </p:cNvPr>
          <p:cNvCxnSpPr/>
          <p:nvPr/>
        </p:nvCxnSpPr>
        <p:spPr>
          <a:xfrm flipH="0" flipV="0">
            <a:off x="1150075" y="4113535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98" name="native PowerPoint connector">
            <a:extLst>
              <a:ext uri="{FF2B5EF4-FFF2-40B4-BE49-F238E27FC236}">
                <ns2:creationId id="{C0F770E2-AA93-45FB-9F2F-C53B5F0AAF79}"/>
              </a:ext>
            </a:extLst>
          </p:cNvPr>
          <p:cNvCxnSpPr/>
          <p:nvPr/>
        </p:nvCxnSpPr>
        <p:spPr>
          <a:xfrm flipH="0" flipV="0">
            <a:off x="1150075" y="4464502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99" name="diagram block">
            <a:extLst>
              <a:ext uri="{FF2B5EF4-FFF2-40B4-BE49-F238E27FC236}">
                <ns2:creationId id="{953230D1-F0AE-4C7A-B01E-67C4A1968620}"/>
              </a:ext>
            </a:extLst>
          </p:cNvPr>
          <p:cNvSpPr>
            <a:spLocks noGrp="1"/>
          </p:cNvSpPr>
          <p:nvPr/>
        </p:nvSpPr>
        <p:spPr>
          <a:xfrm>
            <a:off x="2584910" y="4010310"/>
            <a:ext cx="1228383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DBE67"/>
            </a:solidFill>
            <a:prstDash val="solid"/>
          </a:ln>
        </p:spPr>
      </p:sp>
      <p:sp>
        <p:nvSpPr>
          <p:cNvPr id="300" name="Future latent loss  L_z">
            <a:extLst>
              <a:ext uri="{FF2B5EF4-FFF2-40B4-BE49-F238E27FC236}">
                <ns2:creationId id="{179805E6-BB01-4E93-8CD6-AB14256D51FB}"/>
              </a:ext>
            </a:extLst>
          </p:cNvPr>
          <p:cNvSpPr>
            <a:spLocks noGrp="1"/>
          </p:cNvSpPr>
          <p:nvPr/>
        </p:nvSpPr>
        <p:spPr>
          <a:xfrm>
            <a:off x="2610716" y="4036116"/>
            <a:ext cx="1176770" cy="170322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Future latent loss  L</a:t>
            </a:r>
            <a:r>
              <a:rPr sz="623" b="0" i="0" baseline="-23000">
                <a:solidFill>
                  <a:srgbClr val="845217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01" name="diagram block">
            <a:extLst>
              <a:ext uri="{FF2B5EF4-FFF2-40B4-BE49-F238E27FC236}">
                <ns2:creationId id="{C1AA4E02-39B7-41F2-AA96-E627FD34DC06}"/>
              </a:ext>
            </a:extLst>
          </p:cNvPr>
          <p:cNvSpPr>
            <a:spLocks noGrp="1"/>
          </p:cNvSpPr>
          <p:nvPr/>
        </p:nvSpPr>
        <p:spPr>
          <a:xfrm>
            <a:off x="2584910" y="4330309"/>
            <a:ext cx="1228383" cy="227096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5161">
            <a:solidFill>
              <a:srgbClr val="72BFCA"/>
            </a:solidFill>
            <a:prstDash val="solid"/>
          </a:ln>
        </p:spPr>
      </p:sp>
      <p:sp>
        <p:nvSpPr>
          <p:cNvPr id="302" name="First-10 motor action loss  L_a">
            <a:extLst>
              <a:ext uri="{FF2B5EF4-FFF2-40B4-BE49-F238E27FC236}">
                <ns2:creationId id="{05CBB6FF-349F-4AF0-BF29-ADD7D8E9F2DC}"/>
              </a:ext>
            </a:extLst>
          </p:cNvPr>
          <p:cNvSpPr>
            <a:spLocks noGrp="1"/>
          </p:cNvSpPr>
          <p:nvPr/>
        </p:nvSpPr>
        <p:spPr>
          <a:xfrm>
            <a:off x="2610716" y="4356115"/>
            <a:ext cx="1176770" cy="175483"/>
          </a:xfrm>
          <a:prstGeom prst="rect">
            <a:avLst/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523"/>
          </a:bodyPr>
          <a:lstStyle>
            <a:def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First-10 motor action loss  L</a:t>
            </a:r>
            <a:r>
              <a:rPr sz="593" b="1" i="0" baseline="-23000">
                <a:solidFill>
                  <a:srgbClr val="004F6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303" name="native PowerPoint connector">
            <a:extLst>
              <a:ext uri="{FF2B5EF4-FFF2-40B4-BE49-F238E27FC236}">
                <ns2:creationId id="{DC58E001-8196-45E0-8615-442CF64E6342}"/>
              </a:ext>
            </a:extLst>
          </p:cNvPr>
          <p:cNvCxnSpPr/>
          <p:nvPr/>
        </p:nvCxnSpPr>
        <p:spPr>
          <a:xfrm flipH="0" flipV="0">
            <a:off x="2440394" y="411869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4" name="native PowerPoint connector">
            <a:extLst>
              <a:ext uri="{FF2B5EF4-FFF2-40B4-BE49-F238E27FC236}">
                <ns2:creationId id="{1536C4E2-3EDD-4F47-8797-89CC122E3455}"/>
              </a:ext>
            </a:extLst>
          </p:cNvPr>
          <p:cNvCxnSpPr/>
          <p:nvPr/>
        </p:nvCxnSpPr>
        <p:spPr>
          <a:xfrm flipH="0" flipV="0">
            <a:off x="2440394" y="444385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5" name="native PowerPoint connector">
            <a:extLst>
              <a:ext uri="{FF2B5EF4-FFF2-40B4-BE49-F238E27FC236}">
                <ns2:creationId id="{76F7E405-E072-436D-8D64-C48B8552215C}"/>
              </a:ext>
            </a:extLst>
          </p:cNvPr>
          <p:cNvCxnSpPr/>
          <p:nvPr/>
        </p:nvCxnSpPr>
        <p:spPr>
          <a:xfrm flipH="0" flipV="0">
            <a:off x="3818454" y="4123858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6" name="native PowerPoint connector">
            <a:extLst>
              <a:ext uri="{FF2B5EF4-FFF2-40B4-BE49-F238E27FC236}">
                <ns2:creationId id="{8B71033A-EA02-4C06-A126-7F99D745C425}"/>
              </a:ext>
            </a:extLst>
          </p:cNvPr>
          <p:cNvCxnSpPr/>
          <p:nvPr/>
        </p:nvCxnSpPr>
        <p:spPr>
          <a:xfrm flipH="0" flipV="0">
            <a:off x="3921679" y="4123858"/>
            <a:ext cx="0" cy="139354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7" name="native PowerPoint connector">
            <a:extLst>
              <a:ext uri="{FF2B5EF4-FFF2-40B4-BE49-F238E27FC236}">
                <ns2:creationId id="{422037BA-B1DD-474B-AA17-C4EA4F37E892}"/>
              </a:ext>
            </a:extLst>
          </p:cNvPr>
          <p:cNvCxnSpPr/>
          <p:nvPr/>
        </p:nvCxnSpPr>
        <p:spPr>
          <a:xfrm flipH="0" flipV="0"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8" name="native PowerPoint connector">
            <a:extLst>
              <a:ext uri="{FF2B5EF4-FFF2-40B4-BE49-F238E27FC236}">
                <ns2:creationId id="{139CDCBF-0C1F-49FD-90B4-0B37CAB9FC6B}"/>
              </a:ext>
            </a:extLst>
          </p:cNvPr>
          <p:cNvCxnSpPr/>
          <p:nvPr/>
        </p:nvCxnSpPr>
        <p:spPr>
          <a:xfrm flipH="0" flipV="0">
            <a:off x="3818454" y="4443857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9" name="native PowerPoint connector">
            <a:extLst>
              <a:ext uri="{FF2B5EF4-FFF2-40B4-BE49-F238E27FC236}">
                <ns2:creationId id="{1376580F-88C0-4C08-8677-EA7EBF941C0B}"/>
              </a:ext>
            </a:extLst>
          </p:cNvPr>
          <p:cNvCxnSpPr/>
          <p:nvPr/>
        </p:nvCxnSpPr>
        <p:spPr>
          <a:xfrm flipH="0" flipV="1">
            <a:off x="3921679" y="4263212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10" name="native PowerPoint connector">
            <a:extLst>
              <a:ext uri="{FF2B5EF4-FFF2-40B4-BE49-F238E27FC236}">
                <ns2:creationId id="{497CB0E6-3A6C-4DBC-9A39-DF92E58DB46C}"/>
              </a:ext>
            </a:extLst>
          </p:cNvPr>
          <p:cNvCxnSpPr/>
          <p:nvPr/>
        </p:nvCxnSpPr>
        <p:spPr>
          <a:xfrm flipH="0" flipV="0"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11" name="Total loss">
            <a:extLst>
              <a:ext uri="{FF2B5EF4-FFF2-40B4-BE49-F238E27FC236}">
                <ns2:creationId id="{38636A9E-4232-475C-B283-9EFC9236C98D}"/>
              </a:ext>
            </a:extLst>
          </p:cNvPr>
          <p:cNvSpPr>
            <a:spLocks noGrp="1"/>
          </p:cNvSpPr>
          <p:nvPr/>
        </p:nvSpPr>
        <p:spPr>
          <a:xfrm>
            <a:off x="4153937" y="4103213"/>
            <a:ext cx="66064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553"/>
          </a:bodyPr>
          <a:lstStyle>
            <a:def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Total loss</a:t>
            </a:r>
          </a:p>
        </p:txBody>
      </p:sp>
      <p:sp>
        <p:nvSpPr>
          <p:cNvPr id="312" name="L = L_a + λL_z">
            <a:extLst>
              <a:ext uri="{FF2B5EF4-FFF2-40B4-BE49-F238E27FC236}">
                <ns2:creationId id="{D1A2EAA2-C689-4BCF-AF23-6A88D51690A5}"/>
              </a:ext>
            </a:extLst>
          </p:cNvPr>
          <p:cNvSpPr>
            <a:spLocks noGrp="1"/>
          </p:cNvSpPr>
          <p:nvPr/>
        </p:nvSpPr>
        <p:spPr>
          <a:xfrm>
            <a:off x="4081679" y="4258051"/>
            <a:ext cx="825804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388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L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λL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313" name="λ = ρc (frozen)">
            <a:extLst>
              <a:ext uri="{FF2B5EF4-FFF2-40B4-BE49-F238E27FC236}">
                <ns2:creationId id="{11069D5F-87CC-4207-BF0B-7A0FCECA441E}"/>
              </a:ext>
            </a:extLst>
          </p:cNvPr>
          <p:cNvSpPr>
            <a:spLocks noGrp="1"/>
          </p:cNvSpPr>
          <p:nvPr/>
        </p:nvSpPr>
        <p:spPr>
          <a:xfrm>
            <a:off x="4076518" y="4469663"/>
            <a:ext cx="825804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λ = ρc (frozen)</a:t>
            </a:r>
          </a:p>
        </p:txBody>
      </p:sp>
      <p:sp>
        <p:nvSpPr>
          <p:cNvPr id="314" name="diagram block">
            <a:extLst>
              <a:ext uri="{FF2B5EF4-FFF2-40B4-BE49-F238E27FC236}">
                <ns2:creationId id="{0A6FCC9A-B805-43F6-8246-EB62A23A9DFE}"/>
              </a:ext>
            </a:extLst>
          </p:cNvPr>
          <p:cNvSpPr>
            <a:spLocks noGrp="1"/>
          </p:cNvSpPr>
          <p:nvPr/>
        </p:nvSpPr>
        <p:spPr>
          <a:xfrm>
            <a:off x="5124256" y="3943213"/>
            <a:ext cx="1109674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18591"/>
            </a:solidFill>
            <a:prstDash val="solid"/>
          </a:ln>
        </p:spPr>
      </p:sp>
      <p:sp>
        <p:nvSpPr>
          <p:cNvPr id="315" name="Calibrate codebooks /&#10;row gains&#10;(section b)">
            <a:extLst>
              <a:ext uri="{FF2B5EF4-FFF2-40B4-BE49-F238E27FC236}">
                <ns2:creationId id="{9F4ABD3F-A5A6-4EE7-9D19-9DDB7A239590}"/>
              </a:ext>
            </a:extLst>
          </p:cNvPr>
          <p:cNvSpPr>
            <a:spLocks noGrp="1"/>
          </p:cNvSpPr>
          <p:nvPr/>
        </p:nvSpPr>
        <p:spPr>
          <a:xfrm>
            <a:off x="5150063" y="3969020"/>
            <a:ext cx="1058061" cy="304515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Calibrate codebooks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row gains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B10818"/>
                </a:solidFill>
                <a:latin typeface="Times New Roman"/>
                <a:ea typeface="Times New Roman"/>
                <a:cs typeface="Times New Roman"/>
              </a:rPr>
              <a:t>(section b)</a:t>
            </a:r>
          </a:p>
        </p:txBody>
      </p:sp>
      <p:sp>
        <p:nvSpPr>
          <p:cNvPr id="316" name="diagram block">
            <a:extLst>
              <a:ext uri="{FF2B5EF4-FFF2-40B4-BE49-F238E27FC236}">
                <ns2:creationId id="{1BD48EDC-0941-4528-A44C-D1BB34643861}"/>
              </a:ext>
            </a:extLst>
          </p:cNvPr>
          <p:cNvSpPr>
            <a:spLocks noGrp="1"/>
          </p:cNvSpPr>
          <p:nvPr/>
        </p:nvSpPr>
        <p:spPr>
          <a:xfrm>
            <a:off x="6388768" y="3943213"/>
            <a:ext cx="1094190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5161">
            <a:solidFill>
              <a:srgbClr val="84CDD1"/>
            </a:solidFill>
            <a:prstDash val="solid"/>
          </a:ln>
        </p:spPr>
      </p:sp>
      <p:sp>
        <p:nvSpPr>
          <p:cNvPr id="317" name="Refine per-channel D /&#10;clipping ratio&#10;(section c)">
            <a:extLst>
              <a:ext uri="{FF2B5EF4-FFF2-40B4-BE49-F238E27FC236}">
                <ns2:creationId id="{3EB6D57F-3905-41FA-A867-94548CEB5E4B}"/>
              </a:ext>
            </a:extLst>
          </p:cNvPr>
          <p:cNvSpPr>
            <a:spLocks noGrp="1"/>
          </p:cNvSpPr>
          <p:nvPr/>
        </p:nvSpPr>
        <p:spPr>
          <a:xfrm>
            <a:off x="6414575" y="3969020"/>
            <a:ext cx="1042577" cy="304515"/>
          </a:xfrm>
          <a:prstGeom prst="rect">
            <a:avLst/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Refine per-channel D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clipping ratio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04D61"/>
                </a:solidFill>
                <a:latin typeface="Times New Roman"/>
                <a:ea typeface="Times New Roman"/>
                <a:cs typeface="Times New Roman"/>
              </a:rPr>
              <a:t>(section c)</a:t>
            </a:r>
          </a:p>
        </p:txBody>
      </p:sp>
      <p:cxnSp>
        <p:nvCxnSpPr>
          <p:cNvPr id="318" name="native PowerPoint connector">
            <a:extLst>
              <a:ext uri="{FF2B5EF4-FFF2-40B4-BE49-F238E27FC236}">
                <ns2:creationId id="{18827FD9-6F44-4C4F-A25F-DE003C4A5A37}"/>
              </a:ext>
            </a:extLst>
          </p:cNvPr>
          <p:cNvCxnSpPr/>
          <p:nvPr/>
        </p:nvCxnSpPr>
        <p:spPr>
          <a:xfrm flipH="0" flipV="0">
            <a:off x="4830064" y="4263212"/>
            <a:ext cx="149677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19" name="native PowerPoint connector">
            <a:extLst>
              <a:ext uri="{FF2B5EF4-FFF2-40B4-BE49-F238E27FC236}">
                <ns2:creationId id="{6C66468F-5A5E-4481-9D08-93649147BB6C}"/>
              </a:ext>
            </a:extLst>
          </p:cNvPr>
          <p:cNvCxnSpPr/>
          <p:nvPr/>
        </p:nvCxnSpPr>
        <p:spPr>
          <a:xfrm flipH="0" flipV="1">
            <a:off x="4979741" y="4082568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20" name="native PowerPoint connector">
            <a:extLst>
              <a:ext uri="{FF2B5EF4-FFF2-40B4-BE49-F238E27FC236}">
                <ns2:creationId id="{9B1266D0-FF76-4460-B819-F7F3EEF943EE}"/>
              </a:ext>
            </a:extLst>
          </p:cNvPr>
          <p:cNvCxnSpPr/>
          <p:nvPr/>
        </p:nvCxnSpPr>
        <p:spPr>
          <a:xfrm flipH="0" flipV="0">
            <a:off x="4979741" y="4082568"/>
            <a:ext cx="139354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21" name="Update: codebooks C₁, C₂&#10;and row gains r_row">
            <a:extLst>
              <a:ext uri="{FF2B5EF4-FFF2-40B4-BE49-F238E27FC236}">
                <ns2:creationId id="{A79B0C66-43E2-4A04-8C91-2FC8D9AEF1DC}"/>
              </a:ext>
            </a:extLst>
          </p:cNvPr>
          <p:cNvSpPr>
            <a:spLocks noGrp="1"/>
          </p:cNvSpPr>
          <p:nvPr/>
        </p:nvSpPr>
        <p:spPr>
          <a:xfrm>
            <a:off x="5211998" y="4345793"/>
            <a:ext cx="970319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codebooks C₁, C₂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row gains r</a:t>
            </a:r>
            <a:r>
              <a:rPr sz="53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</p:txBody>
      </p:sp>
      <p:sp>
        <p:nvSpPr>
          <p:cNvPr id="322" name="(indices and B32 exponents remain frozen)">
            <a:extLst>
              <a:ext uri="{FF2B5EF4-FFF2-40B4-BE49-F238E27FC236}">
                <ns2:creationId id="{6BA7B20B-47A0-4777-83B4-518A64B3A2D3}"/>
              </a:ext>
            </a:extLst>
          </p:cNvPr>
          <p:cNvSpPr>
            <a:spLocks noGrp="1"/>
          </p:cNvSpPr>
          <p:nvPr/>
        </p:nvSpPr>
        <p:spPr>
          <a:xfrm>
            <a:off x="5113934" y="4557405"/>
            <a:ext cx="1130319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4723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(indices and B32 exponents remain frozen)</a:t>
            </a:r>
          </a:p>
        </p:txBody>
      </p:sp>
      <p:sp>
        <p:nvSpPr>
          <p:cNvPr id="323" name="Update: per-channel scales D&#10;and per-Linear clipping ratio r_{ℓ}">
            <a:extLst>
              <a:ext uri="{FF2B5EF4-FFF2-40B4-BE49-F238E27FC236}">
                <ns2:creationId id="{77A98841-5E27-4AA2-AC5F-C42F722C37FF}"/>
              </a:ext>
            </a:extLst>
          </p:cNvPr>
          <p:cNvSpPr>
            <a:spLocks noGrp="1"/>
          </p:cNvSpPr>
          <p:nvPr/>
        </p:nvSpPr>
        <p:spPr>
          <a:xfrm>
            <a:off x="6424897" y="4345793"/>
            <a:ext cx="1042577" cy="2064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Update: per-channel scales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per-Linear clipping ratio r</a:t>
            </a:r>
            <a:r>
              <a:rPr sz="534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ℓ</a:t>
            </a:r>
          </a:p>
        </p:txBody>
      </p:sp>
      <p:sp>
        <p:nvSpPr>
          <p:cNvPr id="324" name="(VQ weights remain frozen)">
            <a:extLst>
              <a:ext uri="{FF2B5EF4-FFF2-40B4-BE49-F238E27FC236}">
                <ns2:creationId id="{A921D5B1-43E2-4199-A36D-E54B331894DB}"/>
              </a:ext>
            </a:extLst>
          </p:cNvPr>
          <p:cNvSpPr>
            <a:spLocks noGrp="1"/>
          </p:cNvSpPr>
          <p:nvPr/>
        </p:nvSpPr>
        <p:spPr>
          <a:xfrm>
            <a:off x="6512639" y="4562566"/>
            <a:ext cx="913545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644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(VQ weights remain frozen)</a:t>
            </a:r>
          </a:p>
        </p:txBody>
      </p:sp>
      <p:cxnSp>
        <p:nvCxnSpPr>
          <p:cNvPr id="325" name="native PowerPoint connector">
            <a:extLst>
              <a:ext uri="{FF2B5EF4-FFF2-40B4-BE49-F238E27FC236}">
                <ns2:creationId id="{BA404C26-8FED-4F57-B395-8C3850CC7B97}"/>
              </a:ext>
            </a:extLst>
          </p:cNvPr>
          <p:cNvCxnSpPr/>
          <p:nvPr/>
        </p:nvCxnSpPr>
        <p:spPr>
          <a:xfrm flipH="0" flipV="1">
            <a:off x="5691996" y="3850310"/>
            <a:ext cx="0" cy="87742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6" name="native PowerPoint connector">
            <a:extLst>
              <a:ext uri="{FF2B5EF4-FFF2-40B4-BE49-F238E27FC236}">
                <ns2:creationId id="{D8811B37-0F95-4D13-BE80-E34911F2C163}"/>
              </a:ext>
            </a:extLst>
          </p:cNvPr>
          <p:cNvCxnSpPr/>
          <p:nvPr/>
        </p:nvCxnSpPr>
        <p:spPr>
          <a:xfrm flipH="1" flipV="0">
            <a:off x="3333294" y="3850310"/>
            <a:ext cx="2358702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7" name="native PowerPoint connector">
            <a:extLst>
              <a:ext uri="{FF2B5EF4-FFF2-40B4-BE49-F238E27FC236}">
                <ns2:creationId id="{A25F7FDE-F741-47E1-8FCB-BFE6E22CB085}"/>
              </a:ext>
            </a:extLst>
          </p:cNvPr>
          <p:cNvCxnSpPr/>
          <p:nvPr/>
        </p:nvCxnSpPr>
        <p:spPr>
          <a:xfrm flipH="0" flipV="0">
            <a:off x="3333294" y="3850310"/>
            <a:ext cx="0" cy="154838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328" name="native PowerPoint connector">
            <a:extLst>
              <a:ext uri="{FF2B5EF4-FFF2-40B4-BE49-F238E27FC236}">
                <ns2:creationId id="{02E10FAC-1E99-4125-BF89-7C9136B8C2A8}"/>
              </a:ext>
            </a:extLst>
          </p:cNvPr>
          <p:cNvCxnSpPr/>
          <p:nvPr/>
        </p:nvCxnSpPr>
        <p:spPr>
          <a:xfrm flipH="0" flipV="1">
            <a:off x="6930702" y="3757407"/>
            <a:ext cx="0" cy="180645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9" name="native PowerPoint connector">
            <a:extLst>
              <a:ext uri="{FF2B5EF4-FFF2-40B4-BE49-F238E27FC236}">
                <ns2:creationId id="{51EAE853-C92C-4E61-BB2D-1BCE74371E6C}"/>
              </a:ext>
            </a:extLst>
          </p:cNvPr>
          <p:cNvCxnSpPr/>
          <p:nvPr/>
        </p:nvCxnSpPr>
        <p:spPr>
          <a:xfrm flipH="1" flipV="0">
            <a:off x="1609429" y="3757407"/>
            <a:ext cx="5321273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30" name="native PowerPoint connector">
            <a:extLst>
              <a:ext uri="{FF2B5EF4-FFF2-40B4-BE49-F238E27FC236}">
                <ns2:creationId id="{E50EC262-A324-4558-8C83-F3D9FC35881A}"/>
              </a:ext>
            </a:extLst>
          </p:cNvPr>
          <p:cNvCxnSpPr/>
          <p:nvPr/>
        </p:nvCxnSpPr>
        <p:spPr>
          <a:xfrm flipH="0" flipV="0">
            <a:off x="1609429" y="3757407"/>
            <a:ext cx="0" cy="28387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31" name="Decoded BF16 weights + fake A4 + BF16 KV. Native kernel: future work.">
            <a:extLst>
              <a:ext uri="{FF2B5EF4-FFF2-40B4-BE49-F238E27FC236}">
                <ns2:creationId id="{CC38FFFB-891C-4E30-BD74-B500BACC491F}"/>
              </a:ext>
            </a:extLst>
          </p:cNvPr>
          <p:cNvSpPr>
            <a:spLocks noGrp="1"/>
          </p:cNvSpPr>
          <p:nvPr/>
        </p:nvSpPr>
        <p:spPr>
          <a:xfrm>
            <a:off x="5697158" y="4717404"/>
            <a:ext cx="308644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34526A"/>
                </a:solidFill>
                <a:latin typeface="Times New Roman"/>
                <a:ea typeface="Times New Roman"/>
                <a:cs typeface="Times New Roman"/>
              </a:rPr>
              <a:t>Decoded BF16 weights + fake A4 + BF16 KV. Native kernel: future work.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Microscaling additive VQ weights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3">
            <a:extLst>
              <a:ext uri="{FF2B5EF4-FFF2-40B4-BE49-F238E27FC236}">
                <a16:creationId xmlns:a16="http://schemas.microsoft.com/office/drawing/2014/main" id="{1B4EBE44-4EEC-4A40-8983-B65C28FD9670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ransformed weight row">
            <a:extLst>
              <a:ext uri="{FF2B5EF4-FFF2-40B4-BE49-F238E27FC236}">
                <a16:creationId xmlns:a16="http://schemas.microsoft.com/office/drawing/2014/main" id="{3AD12B47-9713-44E2-9186-5F1FFE90348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Transformed weight row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6FE1A0F5-D670-4EA7-A5FE-C8AF8767DB1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7D0BC3FC-31D3-424F-832F-6AB0B4C0A0A7}"/>
              </a:ext>
            </a:extLst>
          </p:cNvPr>
          <p:cNvSpPr>
            <a:spLocks noGrp="1"/>
          </p:cNvSpPr>
          <p:nvPr/>
        </p:nvSpPr>
        <p:spPr>
          <a:xfrm>
            <a:off x="9048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259A578F-F0BB-464D-86AD-22C0D367C548}"/>
              </a:ext>
            </a:extLst>
          </p:cNvPr>
          <p:cNvSpPr>
            <a:spLocks noGrp="1"/>
          </p:cNvSpPr>
          <p:nvPr/>
        </p:nvSpPr>
        <p:spPr>
          <a:xfrm>
            <a:off x="12001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C3282941-CFB3-4E37-97CA-09BEB4238C2D}"/>
              </a:ext>
            </a:extLst>
          </p:cNvPr>
          <p:cNvSpPr>
            <a:spLocks noGrp="1"/>
          </p:cNvSpPr>
          <p:nvPr/>
        </p:nvSpPr>
        <p:spPr>
          <a:xfrm>
            <a:off x="14954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87BC78BE-4A35-45AC-8CDF-D77427F308DF}"/>
              </a:ext>
            </a:extLst>
          </p:cNvPr>
          <p:cNvSpPr>
            <a:spLocks noGrp="1"/>
          </p:cNvSpPr>
          <p:nvPr/>
        </p:nvSpPr>
        <p:spPr>
          <a:xfrm>
            <a:off x="17907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B372C74A-FE65-40A4-9F77-FB5D3A32073E}"/>
              </a:ext>
            </a:extLst>
          </p:cNvPr>
          <p:cNvSpPr>
            <a:spLocks noGrp="1"/>
          </p:cNvSpPr>
          <p:nvPr/>
        </p:nvSpPr>
        <p:spPr>
          <a:xfrm>
            <a:off x="20859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4A2BC7DC-9A51-4A68-A813-EFA7F791E89D}"/>
              </a:ext>
            </a:extLst>
          </p:cNvPr>
          <p:cNvSpPr>
            <a:spLocks noGrp="1"/>
          </p:cNvSpPr>
          <p:nvPr/>
        </p:nvSpPr>
        <p:spPr>
          <a:xfrm>
            <a:off x="23812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73225969-1630-4676-AC13-C2CC3E3DE2B7}"/>
              </a:ext>
            </a:extLst>
          </p:cNvPr>
          <p:cNvSpPr>
            <a:spLocks noGrp="1"/>
          </p:cNvSpPr>
          <p:nvPr/>
        </p:nvSpPr>
        <p:spPr>
          <a:xfrm>
            <a:off x="26765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B32 = 8 vectors × d4">
            <a:extLst>
              <a:ext uri="{FF2B5EF4-FFF2-40B4-BE49-F238E27FC236}">
                <a16:creationId xmlns:a16="http://schemas.microsoft.com/office/drawing/2014/main" id="{C9CA1346-6DA8-459D-AF3E-654D87F4BA69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AE029C70-482D-43DD-9150-240D2CF639A7}"/>
              </a:ext>
            </a:extLst>
          </p:cNvPr>
          <p:cNvSpPr>
            <a:spLocks noGrp="1"/>
          </p:cNvSpPr>
          <p:nvPr/>
        </p:nvSpPr>
        <p:spPr>
          <a:xfrm>
            <a:off x="32289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diagram block">
            <a:extLst>
              <a:ext uri="{FF2B5EF4-FFF2-40B4-BE49-F238E27FC236}">
                <a16:creationId xmlns:a16="http://schemas.microsoft.com/office/drawing/2014/main" id="{BDB7A1F8-9CCC-47A3-8E8A-F6B42511458E}"/>
              </a:ext>
            </a:extLst>
          </p:cNvPr>
          <p:cNvSpPr>
            <a:spLocks noGrp="1"/>
          </p:cNvSpPr>
          <p:nvPr/>
        </p:nvSpPr>
        <p:spPr>
          <a:xfrm>
            <a:off x="35242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diagram block">
            <a:extLst>
              <a:ext uri="{FF2B5EF4-FFF2-40B4-BE49-F238E27FC236}">
                <a16:creationId xmlns:a16="http://schemas.microsoft.com/office/drawing/2014/main" id="{FF02A0EE-16B1-4D5D-B505-2050614BAB03}"/>
              </a:ext>
            </a:extLst>
          </p:cNvPr>
          <p:cNvSpPr>
            <a:spLocks noGrp="1"/>
          </p:cNvSpPr>
          <p:nvPr/>
        </p:nvSpPr>
        <p:spPr>
          <a:xfrm>
            <a:off x="38195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diagram block">
            <a:extLst>
              <a:ext uri="{FF2B5EF4-FFF2-40B4-BE49-F238E27FC236}">
                <a16:creationId xmlns:a16="http://schemas.microsoft.com/office/drawing/2014/main" id="{65244407-B6C7-4ECB-9B0C-6EB5A6597EDF}"/>
              </a:ext>
            </a:extLst>
          </p:cNvPr>
          <p:cNvSpPr>
            <a:spLocks noGrp="1"/>
          </p:cNvSpPr>
          <p:nvPr/>
        </p:nvSpPr>
        <p:spPr>
          <a:xfrm>
            <a:off x="41148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diagram block">
            <a:extLst>
              <a:ext uri="{FF2B5EF4-FFF2-40B4-BE49-F238E27FC236}">
                <a16:creationId xmlns:a16="http://schemas.microsoft.com/office/drawing/2014/main" id="{134EAF76-22F4-41AE-AEAC-E829B3CB954D}"/>
              </a:ext>
            </a:extLst>
          </p:cNvPr>
          <p:cNvSpPr>
            <a:spLocks noGrp="1"/>
          </p:cNvSpPr>
          <p:nvPr/>
        </p:nvSpPr>
        <p:spPr>
          <a:xfrm>
            <a:off x="44100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diagram block">
            <a:extLst>
              <a:ext uri="{FF2B5EF4-FFF2-40B4-BE49-F238E27FC236}">
                <a16:creationId xmlns:a16="http://schemas.microsoft.com/office/drawing/2014/main" id="{8CEDF0AD-FCDD-42E0-BF8C-451A613E65FD}"/>
              </a:ext>
            </a:extLst>
          </p:cNvPr>
          <p:cNvSpPr>
            <a:spLocks noGrp="1"/>
          </p:cNvSpPr>
          <p:nvPr/>
        </p:nvSpPr>
        <p:spPr>
          <a:xfrm>
            <a:off x="4705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diagram block">
            <a:extLst>
              <a:ext uri="{FF2B5EF4-FFF2-40B4-BE49-F238E27FC236}">
                <a16:creationId xmlns:a16="http://schemas.microsoft.com/office/drawing/2014/main" id="{42BD034B-7DC8-4C76-BD88-7B11BEA001E5}"/>
              </a:ext>
            </a:extLst>
          </p:cNvPr>
          <p:cNvSpPr>
            <a:spLocks noGrp="1"/>
          </p:cNvSpPr>
          <p:nvPr/>
        </p:nvSpPr>
        <p:spPr>
          <a:xfrm>
            <a:off x="5000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ACBAE066-455D-4993-ADC4-4CF57ED9822E}"/>
              </a:ext>
            </a:extLst>
          </p:cNvPr>
          <p:cNvSpPr>
            <a:spLocks noGrp="1"/>
          </p:cNvSpPr>
          <p:nvPr/>
        </p:nvSpPr>
        <p:spPr>
          <a:xfrm>
            <a:off x="5295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B32 = 8 vectors × d4">
            <a:extLst>
              <a:ext uri="{FF2B5EF4-FFF2-40B4-BE49-F238E27FC236}">
                <a16:creationId xmlns:a16="http://schemas.microsoft.com/office/drawing/2014/main" id="{39E4534F-6111-4CDC-A77B-F5DC174B9824}"/>
              </a:ext>
            </a:extLst>
          </p:cNvPr>
          <p:cNvSpPr>
            <a:spLocks noGrp="1"/>
          </p:cNvSpPr>
          <p:nvPr/>
        </p:nvSpPr>
        <p:spPr>
          <a:xfrm>
            <a:off x="3228975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2FB72A13-6DAC-4E55-8400-5FEB4CFDFB23}"/>
              </a:ext>
            </a:extLst>
          </p:cNvPr>
          <p:cNvSpPr>
            <a:spLocks noGrp="1"/>
          </p:cNvSpPr>
          <p:nvPr/>
        </p:nvSpPr>
        <p:spPr>
          <a:xfrm>
            <a:off x="5848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7A47C065-EBED-4D4F-ADF0-E42EBFF587E1}"/>
              </a:ext>
            </a:extLst>
          </p:cNvPr>
          <p:cNvSpPr>
            <a:spLocks noGrp="1"/>
          </p:cNvSpPr>
          <p:nvPr/>
        </p:nvSpPr>
        <p:spPr>
          <a:xfrm>
            <a:off x="6143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12116A0D-D694-42A3-94FD-7312C8701B02}"/>
              </a:ext>
            </a:extLst>
          </p:cNvPr>
          <p:cNvSpPr>
            <a:spLocks noGrp="1"/>
          </p:cNvSpPr>
          <p:nvPr/>
        </p:nvSpPr>
        <p:spPr>
          <a:xfrm>
            <a:off x="6438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73295BC1-74BF-4D09-8F25-BA0A351CE7E1}"/>
              </a:ext>
            </a:extLst>
          </p:cNvPr>
          <p:cNvSpPr>
            <a:spLocks noGrp="1"/>
          </p:cNvSpPr>
          <p:nvPr/>
        </p:nvSpPr>
        <p:spPr>
          <a:xfrm>
            <a:off x="67341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2CB38F35-A462-401B-915D-C28028FF7FEE}"/>
              </a:ext>
            </a:extLst>
          </p:cNvPr>
          <p:cNvSpPr>
            <a:spLocks noGrp="1"/>
          </p:cNvSpPr>
          <p:nvPr/>
        </p:nvSpPr>
        <p:spPr>
          <a:xfrm>
            <a:off x="70294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E249D3E5-B477-4BC1-A417-0C528D26A9B2}"/>
              </a:ext>
            </a:extLst>
          </p:cNvPr>
          <p:cNvSpPr>
            <a:spLocks noGrp="1"/>
          </p:cNvSpPr>
          <p:nvPr/>
        </p:nvSpPr>
        <p:spPr>
          <a:xfrm>
            <a:off x="73247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F2F773B5-FE19-4E38-9624-BEC3B5D70395}"/>
              </a:ext>
            </a:extLst>
          </p:cNvPr>
          <p:cNvSpPr>
            <a:spLocks noGrp="1"/>
          </p:cNvSpPr>
          <p:nvPr/>
        </p:nvSpPr>
        <p:spPr>
          <a:xfrm>
            <a:off x="76200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595741C-FE56-416C-B8D5-6402885AFF8B}"/>
              </a:ext>
            </a:extLst>
          </p:cNvPr>
          <p:cNvSpPr>
            <a:spLocks noGrp="1"/>
          </p:cNvSpPr>
          <p:nvPr/>
        </p:nvSpPr>
        <p:spPr>
          <a:xfrm>
            <a:off x="79152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…">
            <a:extLst>
              <a:ext uri="{FF2B5EF4-FFF2-40B4-BE49-F238E27FC236}">
                <a16:creationId xmlns:a16="http://schemas.microsoft.com/office/drawing/2014/main" id="{67442764-BB85-4CA2-AA5E-EEE69C6CB39A}"/>
              </a:ext>
            </a:extLst>
          </p:cNvPr>
          <p:cNvSpPr>
            <a:spLocks noGrp="1"/>
          </p:cNvSpPr>
          <p:nvPr/>
        </p:nvSpPr>
        <p:spPr>
          <a:xfrm>
            <a:off x="584835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i₁  (8-bit)">
            <a:extLst>
              <a:ext uri="{FF2B5EF4-FFF2-40B4-BE49-F238E27FC236}">
                <a16:creationId xmlns:a16="http://schemas.microsoft.com/office/drawing/2014/main" id="{BA11FAFC-D747-410E-862D-465B6A229145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i₁  (8-bit)</a:t>
            </a:r>
          </a:p>
        </p:txBody>
      </p:sp>
      <p:sp>
        <p:nvSpPr>
          <p:cNvPr id="34" name="i₂  (8-bit)">
            <a:extLst>
              <a:ext uri="{FF2B5EF4-FFF2-40B4-BE49-F238E27FC236}">
                <a16:creationId xmlns:a16="http://schemas.microsoft.com/office/drawing/2014/main" id="{A4C63435-18B3-4D82-81E9-D7DA362455DE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i₂  (8-bit)</a:t>
            </a:r>
          </a:p>
        </p:txBody>
      </p:sp>
      <p:sp>
        <p:nvSpPr>
          <p:cNvPr id="35" name="Codebook C₁&#10;256 × 4 · BF16">
            <a:extLst>
              <a:ext uri="{FF2B5EF4-FFF2-40B4-BE49-F238E27FC236}">
                <a16:creationId xmlns:a16="http://schemas.microsoft.com/office/drawing/2014/main" id="{44C97447-E07F-42EA-9405-A524CC8736B0}"/>
              </a:ext>
            </a:extLst>
          </p:cNvPr>
          <p:cNvSpPr>
            <a:spLocks noGrp="1"/>
          </p:cNvSpPr>
          <p:nvPr/>
        </p:nvSpPr>
        <p:spPr>
          <a:xfrm>
            <a:off x="2257425" y="2009775"/>
            <a:ext cx="2219325" cy="6381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C₁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sp>
        <p:nvSpPr>
          <p:cNvPr id="36" name="Codebook C₂&#10;256 × 4 · BF16">
            <a:extLst>
              <a:ext uri="{FF2B5EF4-FFF2-40B4-BE49-F238E27FC236}">
                <a16:creationId xmlns:a16="http://schemas.microsoft.com/office/drawing/2014/main" id="{E774B519-6860-4E8C-A605-4136032AC4FF}"/>
              </a:ext>
            </a:extLst>
          </p:cNvPr>
          <p:cNvSpPr>
            <a:spLocks noGrp="1"/>
          </p:cNvSpPr>
          <p:nvPr/>
        </p:nvSpPr>
        <p:spPr>
          <a:xfrm>
            <a:off x="2257425" y="2867025"/>
            <a:ext cx="2219325" cy="63817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C₂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cxnSp>
        <p:nvCxnSpPr>
          <p:cNvPr id="37" name="diagram connector">
            <a:extLst>
              <a:ext uri="{FF2B5EF4-FFF2-40B4-BE49-F238E27FC236}">
                <a16:creationId xmlns:a16="http://schemas.microsoft.com/office/drawing/2014/main" id="{11CECB53-AAC4-455E-BF54-BEBB1E4D65B9}"/>
              </a:ext>
            </a:extLst>
          </p:cNvPr>
          <p:cNvCxnSpPr/>
          <p:nvPr/>
        </p:nvCxnSpPr>
        <p:spPr>
          <a:xfrm>
            <a:off x="1866900" y="2314575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8" name="diagram connector">
            <a:extLst>
              <a:ext uri="{FF2B5EF4-FFF2-40B4-BE49-F238E27FC236}">
                <a16:creationId xmlns:a16="http://schemas.microsoft.com/office/drawing/2014/main" id="{FA83978A-91BC-4767-A5B1-91FAD99A1A76}"/>
              </a:ext>
            </a:extLst>
          </p:cNvPr>
          <p:cNvCxnSpPr/>
          <p:nvPr/>
        </p:nvCxnSpPr>
        <p:spPr>
          <a:xfrm>
            <a:off x="1866900" y="3181350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9" name="diagram connector">
            <a:extLst>
              <a:ext uri="{FF2B5EF4-FFF2-40B4-BE49-F238E27FC236}">
                <a16:creationId xmlns:a16="http://schemas.microsoft.com/office/drawing/2014/main" id="{92D69383-7D13-470D-983F-16C1E09A6D51}"/>
              </a:ext>
            </a:extLst>
          </p:cNvPr>
          <p:cNvCxnSpPr/>
          <p:nvPr/>
        </p:nvCxnSpPr>
        <p:spPr>
          <a:xfrm>
            <a:off x="4476750" y="2324100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0" name="diagram connector">
            <a:extLst>
              <a:ext uri="{FF2B5EF4-FFF2-40B4-BE49-F238E27FC236}">
                <a16:creationId xmlns:a16="http://schemas.microsoft.com/office/drawing/2014/main" id="{0DB4FB0C-604F-4473-B720-67D9CDE7EC15}"/>
              </a:ext>
            </a:extLst>
          </p:cNvPr>
          <p:cNvCxnSpPr/>
          <p:nvPr/>
        </p:nvCxnSpPr>
        <p:spPr>
          <a:xfrm>
            <a:off x="5067300" y="2324100"/>
            <a:ext cx="0" cy="43815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1" name="diagram connector">
            <a:extLst>
              <a:ext uri="{FF2B5EF4-FFF2-40B4-BE49-F238E27FC236}">
                <a16:creationId xmlns:a16="http://schemas.microsoft.com/office/drawing/2014/main" id="{A6A662B7-3BC4-4505-881C-00F1E2B3D222}"/>
              </a:ext>
            </a:extLst>
          </p:cNvPr>
          <p:cNvCxnSpPr/>
          <p:nvPr/>
        </p:nvCxnSpPr>
        <p:spPr>
          <a:xfrm>
            <a:off x="4476750" y="3190875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2" name="diagram connector">
            <a:extLst>
              <a:ext uri="{FF2B5EF4-FFF2-40B4-BE49-F238E27FC236}">
                <a16:creationId xmlns:a16="http://schemas.microsoft.com/office/drawing/2014/main" id="{C9548849-8BDA-45CD-82DA-BEF0FAE1A8BF}"/>
              </a:ext>
            </a:extLst>
          </p:cNvPr>
          <p:cNvCxnSpPr/>
          <p:nvPr/>
        </p:nvCxnSpPr>
        <p:spPr>
          <a:xfrm flipV="1">
            <a:off x="5067300" y="2762250"/>
            <a:ext cx="0" cy="42862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sp>
        <p:nvSpPr>
          <p:cNvPr id="43" name="+">
            <a:extLst>
              <a:ext uri="{FF2B5EF4-FFF2-40B4-BE49-F238E27FC236}">
                <a16:creationId xmlns:a16="http://schemas.microsoft.com/office/drawing/2014/main" id="{86DDC595-E59A-4B9C-8F61-5EF187010572}"/>
              </a:ext>
            </a:extLst>
          </p:cNvPr>
          <p:cNvSpPr>
            <a:spLocks noGrp="1"/>
          </p:cNvSpPr>
          <p:nvPr/>
        </p:nvSpPr>
        <p:spPr>
          <a:xfrm>
            <a:off x="4895850" y="2571750"/>
            <a:ext cx="352425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1B2059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cxnSp>
        <p:nvCxnSpPr>
          <p:cNvPr id="44" name="diagram connector">
            <a:extLst>
              <a:ext uri="{FF2B5EF4-FFF2-40B4-BE49-F238E27FC236}">
                <a16:creationId xmlns:a16="http://schemas.microsoft.com/office/drawing/2014/main" id="{B0C032C7-F94D-4455-819C-06B269AEB4AD}"/>
              </a:ext>
            </a:extLst>
          </p:cNvPr>
          <p:cNvCxnSpPr/>
          <p:nvPr/>
        </p:nvCxnSpPr>
        <p:spPr>
          <a:xfrm>
            <a:off x="5257800" y="2762250"/>
            <a:ext cx="4095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45" name="× r_row × 2^(e_g)">
            <a:extLst>
              <a:ext uri="{FF2B5EF4-FFF2-40B4-BE49-F238E27FC236}">
                <a16:creationId xmlns:a16="http://schemas.microsoft.com/office/drawing/2014/main" id="{DECAE95F-C8FF-4E36-B98C-D759934557B4}"/>
              </a:ext>
            </a:extLst>
          </p:cNvPr>
          <p:cNvSpPr>
            <a:spLocks noGrp="1"/>
          </p:cNvSpPr>
          <p:nvPr/>
        </p:nvSpPr>
        <p:spPr>
          <a:xfrm>
            <a:off x="5667375" y="2419350"/>
            <a:ext cx="2800350" cy="7048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× r_row × 2^(e_g)</a:t>
            </a:r>
          </a:p>
        </p:txBody>
      </p:sp>
      <p:sp>
        <p:nvSpPr>
          <p:cNvPr id="46" name="e_g = round(log₂(block_RMS / r_row))">
            <a:extLst>
              <a:ext uri="{FF2B5EF4-FFF2-40B4-BE49-F238E27FC236}">
                <a16:creationId xmlns:a16="http://schemas.microsoft.com/office/drawing/2014/main" id="{498571B3-55C9-4BEB-933E-F6FA0500FAD0}"/>
              </a:ext>
            </a:extLst>
          </p:cNvPr>
          <p:cNvSpPr>
            <a:spLocks noGrp="1"/>
          </p:cNvSpPr>
          <p:nvPr/>
        </p:nvSpPr>
        <p:spPr>
          <a:xfrm>
            <a:off x="4933950" y="2038350"/>
            <a:ext cx="3619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e_g = round(log₂(block_RMS / r_row))</a:t>
            </a:r>
          </a:p>
        </p:txBody>
      </p:sp>
      <p:sp>
        <p:nvSpPr>
          <p:cNvPr id="47" name="BF16 row gain + B32 exponent">
            <a:extLst>
              <a:ext uri="{FF2B5EF4-FFF2-40B4-BE49-F238E27FC236}">
                <a16:creationId xmlns:a16="http://schemas.microsoft.com/office/drawing/2014/main" id="{C21A5CED-AB8D-42FD-8F6C-B272A8E02EB4}"/>
              </a:ext>
            </a:extLst>
          </p:cNvPr>
          <p:cNvSpPr>
            <a:spLocks noGrp="1"/>
          </p:cNvSpPr>
          <p:nvPr/>
        </p:nvSpPr>
        <p:spPr>
          <a:xfrm>
            <a:off x="5572125" y="32670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BF16 row gain + B32 exponent</a:t>
            </a:r>
          </a:p>
        </p:txBody>
      </p:sp>
      <p:sp>
        <p:nvSpPr>
          <p:cNvPr id="48" name="4 core bpw  +  0.25 B32 bpw  +  codebooks / gains / tra">
            <a:extLst>
              <a:ext uri="{FF2B5EF4-FFF2-40B4-BE49-F238E27FC236}">
                <a16:creationId xmlns:a16="http://schemas.microsoft.com/office/drawing/2014/main" id="{AF8BA2DF-EBC7-4345-B967-4842C9C54326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 core bpw  +  0.25 B32 bpw  +  codebooks / gains / transforms  ≈  4.27 bpw</a:t>
            </a:r>
          </a:p>
        </p:txBody>
      </p:sp>
      <p:sp>
        <p:nvSpPr>
          <p:cNvPr id="49" name="Fixed indices + exponents; calibrate codebooks + row ga">
            <a:extLst>
              <a:ext uri="{FF2B5EF4-FFF2-40B4-BE49-F238E27FC236}">
                <a16:creationId xmlns:a16="http://schemas.microsoft.com/office/drawing/2014/main" id="{E1EB25C5-2027-4B3B-84D7-DD29BA647848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Fixed indices + exponents; calibrate codebooks + row gains. VQ codewords remain BF16 values.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Per-channel scaling + activation clipping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4">
            <a:extLst>
              <a:ext uri="{FF2B5EF4-FFF2-40B4-BE49-F238E27FC236}">
                <a16:creationId xmlns:a16="http://schemas.microsoft.com/office/drawing/2014/main" id="{6DE47FC7-E9C3-4CAD-994E-A1AE88FD435C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ctivation path">
            <a:extLst>
              <a:ext uri="{FF2B5EF4-FFF2-40B4-BE49-F238E27FC236}">
                <a16:creationId xmlns:a16="http://schemas.microsoft.com/office/drawing/2014/main" id="{73857DCD-0B19-4AD6-9CD4-46C506166B67}"/>
              </a:ext>
            </a:extLst>
          </p:cNvPr>
          <p:cNvSpPr>
            <a:spLocks noGrp="1"/>
          </p:cNvSpPr>
          <p:nvPr/>
        </p:nvSpPr>
        <p:spPr>
          <a:xfrm>
            <a:off x="609600" y="84772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Activation path</a:t>
            </a:r>
          </a:p>
        </p:txBody>
      </p:sp>
      <p:sp>
        <p:nvSpPr>
          <p:cNvPr id="6" name="X">
            <a:extLst>
              <a:ext uri="{FF2B5EF4-FFF2-40B4-BE49-F238E27FC236}">
                <a16:creationId xmlns:a16="http://schemas.microsoft.com/office/drawing/2014/main" id="{DD32E345-382C-41F7-BCA3-72E3E055D2D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57150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9E3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Smooth 0.5&#10;+ H128">
            <a:extLst>
              <a:ext uri="{FF2B5EF4-FFF2-40B4-BE49-F238E27FC236}">
                <a16:creationId xmlns:a16="http://schemas.microsoft.com/office/drawing/2014/main" id="{0ADE67B7-6322-48B1-B383-D54A3FEBCFF2}"/>
              </a:ext>
            </a:extLst>
          </p:cNvPr>
          <p:cNvSpPr>
            <a:spLocks noGrp="1"/>
          </p:cNvSpPr>
          <p:nvPr/>
        </p:nvSpPr>
        <p:spPr>
          <a:xfrm>
            <a:off x="1457325" y="1362075"/>
            <a:ext cx="1485900" cy="628650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Smooth 0.5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 H128</a:t>
            </a:r>
          </a:p>
        </p:txBody>
      </p:sp>
      <p:sp>
        <p:nvSpPr>
          <p:cNvPr id="8" name="÷ D">
            <a:extLst>
              <a:ext uri="{FF2B5EF4-FFF2-40B4-BE49-F238E27FC236}">
                <a16:creationId xmlns:a16="http://schemas.microsoft.com/office/drawing/2014/main" id="{0490057E-DA5D-4BED-BF98-A536C3714248}"/>
              </a:ext>
            </a:extLst>
          </p:cNvPr>
          <p:cNvSpPr>
            <a:spLocks noGrp="1"/>
          </p:cNvSpPr>
          <p:nvPr/>
        </p:nvSpPr>
        <p:spPr>
          <a:xfrm>
            <a:off x="3228975" y="1362075"/>
            <a:ext cx="1000125" cy="628650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÷ D</a:t>
            </a:r>
          </a:p>
        </p:txBody>
      </p:sp>
      <p:sp>
        <p:nvSpPr>
          <p:cNvPr id="9" name="Dynamic&#10;signed A4">
            <a:extLst>
              <a:ext uri="{FF2B5EF4-FFF2-40B4-BE49-F238E27FC236}">
                <a16:creationId xmlns:a16="http://schemas.microsoft.com/office/drawing/2014/main" id="{023877B4-E5B3-41DD-B6A5-D1372B711D71}"/>
              </a:ext>
            </a:extLst>
          </p:cNvPr>
          <p:cNvSpPr>
            <a:spLocks noGrp="1"/>
          </p:cNvSpPr>
          <p:nvPr/>
        </p:nvSpPr>
        <p:spPr>
          <a:xfrm>
            <a:off x="4514850" y="1362075"/>
            <a:ext cx="1562100" cy="62865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Dynamic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signed A4</a:t>
            </a:r>
          </a:p>
        </p:txBody>
      </p:sp>
      <p:sp>
        <p:nvSpPr>
          <p:cNvPr id="10" name="BF16&#10;dense Linear">
            <a:extLst>
              <a:ext uri="{FF2B5EF4-FFF2-40B4-BE49-F238E27FC236}">
                <a16:creationId xmlns:a16="http://schemas.microsoft.com/office/drawing/2014/main" id="{5E457820-9E47-4D09-9B1B-FA42F7DDC095}"/>
              </a:ext>
            </a:extLst>
          </p:cNvPr>
          <p:cNvSpPr>
            <a:spLocks noGrp="1"/>
          </p:cNvSpPr>
          <p:nvPr/>
        </p:nvSpPr>
        <p:spPr>
          <a:xfrm>
            <a:off x="6705600" y="1362075"/>
            <a:ext cx="1762125" cy="6286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dense Linear</a:t>
            </a:r>
          </a:p>
        </p:txBody>
      </p:sp>
      <p:cxnSp>
        <p:nvCxnSpPr>
          <p:cNvPr id="11" name="diagram connector">
            <a:extLst>
              <a:ext uri="{FF2B5EF4-FFF2-40B4-BE49-F238E27FC236}">
                <a16:creationId xmlns:a16="http://schemas.microsoft.com/office/drawing/2014/main" id="{4A9E33DA-C3FA-4372-8692-6E116B2CB6B7}"/>
              </a:ext>
            </a:extLst>
          </p:cNvPr>
          <p:cNvCxnSpPr/>
          <p:nvPr/>
        </p:nvCxnSpPr>
        <p:spPr>
          <a:xfrm>
            <a:off x="1181100" y="1676400"/>
            <a:ext cx="2762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2" name="diagram connector">
            <a:extLst>
              <a:ext uri="{FF2B5EF4-FFF2-40B4-BE49-F238E27FC236}">
                <a16:creationId xmlns:a16="http://schemas.microsoft.com/office/drawing/2014/main" id="{B69A8E64-27F5-49C6-8E88-F19E42A4E0D1}"/>
              </a:ext>
            </a:extLst>
          </p:cNvPr>
          <p:cNvCxnSpPr/>
          <p:nvPr/>
        </p:nvCxnSpPr>
        <p:spPr>
          <a:xfrm>
            <a:off x="2943225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3" name="diagram connector">
            <a:extLst>
              <a:ext uri="{FF2B5EF4-FFF2-40B4-BE49-F238E27FC236}">
                <a16:creationId xmlns:a16="http://schemas.microsoft.com/office/drawing/2014/main" id="{22194B51-F90F-41CD-9227-B38D0B7F3332}"/>
              </a:ext>
            </a:extLst>
          </p:cNvPr>
          <p:cNvCxnSpPr/>
          <p:nvPr/>
        </p:nvCxnSpPr>
        <p:spPr>
          <a:xfrm>
            <a:off x="4229100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4" name="diagram connector">
            <a:extLst>
              <a:ext uri="{FF2B5EF4-FFF2-40B4-BE49-F238E27FC236}">
                <a16:creationId xmlns:a16="http://schemas.microsoft.com/office/drawing/2014/main" id="{CDF26E95-FD46-4CEA-A3DE-D965C093F119}"/>
              </a:ext>
            </a:extLst>
          </p:cNvPr>
          <p:cNvCxnSpPr/>
          <p:nvPr/>
        </p:nvCxnSpPr>
        <p:spPr>
          <a:xfrm>
            <a:off x="6076950" y="1676400"/>
            <a:ext cx="6286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5" name="z">
            <a:extLst>
              <a:ext uri="{FF2B5EF4-FFF2-40B4-BE49-F238E27FC236}">
                <a16:creationId xmlns:a16="http://schemas.microsoft.com/office/drawing/2014/main" id="{9BD514D8-20D8-465D-BA81-D53D7AAB3C20}"/>
              </a:ext>
            </a:extLst>
          </p:cNvPr>
          <p:cNvSpPr>
            <a:spLocks noGrp="1"/>
          </p:cNvSpPr>
          <p:nvPr/>
        </p:nvSpPr>
        <p:spPr>
          <a:xfrm>
            <a:off x="2971800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6" name="v">
            <a:extLst>
              <a:ext uri="{FF2B5EF4-FFF2-40B4-BE49-F238E27FC236}">
                <a16:creationId xmlns:a16="http://schemas.microsoft.com/office/drawing/2014/main" id="{7962F1A7-04E5-40F0-8CE2-83393796F439}"/>
              </a:ext>
            </a:extLst>
          </p:cNvPr>
          <p:cNvSpPr>
            <a:spLocks noGrp="1"/>
          </p:cNvSpPr>
          <p:nvPr/>
        </p:nvSpPr>
        <p:spPr>
          <a:xfrm>
            <a:off x="4257675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7" name="Weight path">
            <a:extLst>
              <a:ext uri="{FF2B5EF4-FFF2-40B4-BE49-F238E27FC236}">
                <a16:creationId xmlns:a16="http://schemas.microsoft.com/office/drawing/2014/main" id="{7B24C0BA-7322-4018-9EF4-85C0CCD5E170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Weight path</a:t>
            </a:r>
          </a:p>
        </p:txBody>
      </p:sp>
      <p:sp>
        <p:nvSpPr>
          <p:cNvPr id="18" name="Frozen VQ&#10;representation">
            <a:extLst>
              <a:ext uri="{FF2B5EF4-FFF2-40B4-BE49-F238E27FC236}">
                <a16:creationId xmlns:a16="http://schemas.microsoft.com/office/drawing/2014/main" id="{90F95EBD-A2CA-44E0-82B9-CD5A11177E7C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2000250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VQ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9" name="Decode Wq">
            <a:extLst>
              <a:ext uri="{FF2B5EF4-FFF2-40B4-BE49-F238E27FC236}">
                <a16:creationId xmlns:a16="http://schemas.microsoft.com/office/drawing/2014/main" id="{121BF9DC-689C-42E5-A34A-E8E672A2B274}"/>
              </a:ext>
            </a:extLst>
          </p:cNvPr>
          <p:cNvSpPr>
            <a:spLocks noGrp="1"/>
          </p:cNvSpPr>
          <p:nvPr/>
        </p:nvSpPr>
        <p:spPr>
          <a:xfrm>
            <a:off x="2981325" y="2828925"/>
            <a:ext cx="1552575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Decode Wq</a:t>
            </a:r>
          </a:p>
        </p:txBody>
      </p:sp>
      <p:sp>
        <p:nvSpPr>
          <p:cNvPr id="20" name="BF16(Wq · D)&#10;cache once">
            <a:extLst>
              <a:ext uri="{FF2B5EF4-FFF2-40B4-BE49-F238E27FC236}">
                <a16:creationId xmlns:a16="http://schemas.microsoft.com/office/drawing/2014/main" id="{603A0E03-341A-42CD-A768-0BC2A3BB3561}"/>
              </a:ext>
            </a:extLst>
          </p:cNvPr>
          <p:cNvSpPr>
            <a:spLocks noGrp="1"/>
          </p:cNvSpPr>
          <p:nvPr/>
        </p:nvSpPr>
        <p:spPr>
          <a:xfrm>
            <a:off x="4905375" y="2828925"/>
            <a:ext cx="1762125" cy="581025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BF16(Wq · D)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cache once</a:t>
            </a:r>
          </a:p>
        </p:txBody>
      </p:sp>
      <p:cxnSp>
        <p:nvCxnSpPr>
          <p:cNvPr id="21" name="diagram connector">
            <a:extLst>
              <a:ext uri="{FF2B5EF4-FFF2-40B4-BE49-F238E27FC236}">
                <a16:creationId xmlns:a16="http://schemas.microsoft.com/office/drawing/2014/main" id="{3B3D22C0-760D-4B8E-9FB7-270B7B03B513}"/>
              </a:ext>
            </a:extLst>
          </p:cNvPr>
          <p:cNvCxnSpPr/>
          <p:nvPr/>
        </p:nvCxnSpPr>
        <p:spPr>
          <a:xfrm>
            <a:off x="260985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>
              <a:ext uri="{FF2B5EF4-FFF2-40B4-BE49-F238E27FC236}">
                <a16:creationId xmlns:a16="http://schemas.microsoft.com/office/drawing/2014/main" id="{ECC681EA-701F-496A-9562-EED32CD45225}"/>
              </a:ext>
            </a:extLst>
          </p:cNvPr>
          <p:cNvCxnSpPr/>
          <p:nvPr/>
        </p:nvCxnSpPr>
        <p:spPr>
          <a:xfrm>
            <a:off x="453390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>
              <a:ext uri="{FF2B5EF4-FFF2-40B4-BE49-F238E27FC236}">
                <a16:creationId xmlns:a16="http://schemas.microsoft.com/office/drawing/2014/main" id="{D8AC73C7-EA19-4F6F-A86B-0D8CC66B713F}"/>
              </a:ext>
            </a:extLst>
          </p:cNvPr>
          <p:cNvCxnSpPr/>
          <p:nvPr/>
        </p:nvCxnSpPr>
        <p:spPr>
          <a:xfrm>
            <a:off x="6667500" y="3124200"/>
            <a:ext cx="9048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>
              <a:ext uri="{FF2B5EF4-FFF2-40B4-BE49-F238E27FC236}">
                <a16:creationId xmlns:a16="http://schemas.microsoft.com/office/drawing/2014/main" id="{13A16DCA-4B83-4F72-9B6C-AEE7D293E91A}"/>
              </a:ext>
            </a:extLst>
          </p:cNvPr>
          <p:cNvCxnSpPr/>
          <p:nvPr/>
        </p:nvCxnSpPr>
        <p:spPr>
          <a:xfrm flipV="1">
            <a:off x="7572375" y="1990725"/>
            <a:ext cx="0" cy="113347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25" name="s_t = r_l · max |v_t| / 7">
            <a:extLst>
              <a:ext uri="{FF2B5EF4-FFF2-40B4-BE49-F238E27FC236}">
                <a16:creationId xmlns:a16="http://schemas.microsoft.com/office/drawing/2014/main" id="{E90397C9-C31F-4D6F-93F3-8860EC630E6F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s_t = r_l · max |v_t| / 7</a:t>
            </a:r>
          </a:p>
        </p:txBody>
      </p:sp>
      <p:sp>
        <p:nvSpPr>
          <p:cNvPr id="26" name="q = clamp(round(v / s_t), −7, 7)">
            <a:extLst>
              <a:ext uri="{FF2B5EF4-FFF2-40B4-BE49-F238E27FC236}">
                <a16:creationId xmlns:a16="http://schemas.microsoft.com/office/drawing/2014/main" id="{5B1AB267-73BC-4315-9351-7F47194DBFEE}"/>
              </a:ext>
            </a:extLst>
          </p:cNvPr>
          <p:cNvSpPr>
            <a:spLocks noGrp="1"/>
          </p:cNvSpPr>
          <p:nvPr/>
        </p:nvSpPr>
        <p:spPr>
          <a:xfrm>
            <a:off x="4524375" y="3790950"/>
            <a:ext cx="4010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q = clamp(round(v / s_t), −7, 7)</a:t>
            </a:r>
          </a:p>
        </p:txBody>
      </p:sp>
      <p:sp>
        <p:nvSpPr>
          <p:cNvPr id="27" name="Learn D per channel + r_l per Linear on C80; keep VQ we">
            <a:extLst>
              <a:ext uri="{FF2B5EF4-FFF2-40B4-BE49-F238E27FC236}">
                <a16:creationId xmlns:a16="http://schemas.microsoft.com/office/drawing/2014/main" id="{52B49B88-4332-45FB-B73A-2427CCCDD46C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Learn D per channel + r_l per Linear on C80; keep VQ weights fixed. BF16 KV; native VQ kernel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LIBERO+ local baselines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5">
            <a:extLst>
              <a:ext uri="{FF2B5EF4-FFF2-40B4-BE49-F238E27FC236}">
                <ns2:creationId id="{8FF2626E-B834-4843-92F8-96499DAA199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Frozen paired cohort: 4 suites × 7 perturbations × 10 v">
            <a:extLst>
              <a:ext uri="{FF2B5EF4-FFF2-40B4-BE49-F238E27FC236}">
                <ns2:creationId id="{670D6530-E84C-438E-9E68-8968D9AD51D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7924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paired cohort: 4 suites × 7 perturbations × 10 variants = 280 episodes /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DDC3A00E-CF8B-46BA-9993-62C11D5A9140}"/>
              </a:ext>
            </a:extLst>
          </p:cNvPr>
          <p:cNvGraphicFramePr/>
          <p:nvPr/>
        </p:nvGraphicFramePr>
        <p:xfrm>
          <a:off x="609600" y="1352550"/>
          <a:ext cx="7924800" cy="27437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195 (69.64%)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Smooth + H128 Scalar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200 (71.43%)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Row-scale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4.02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</a:tbl>
          </a:graphicData>
        </a:graphic>
      </p:graphicFrame>
      <p:sp>
        <p:nvSpPr>
          <p:cNvPr id="7" name="Microscaling VQ: 204/280 vs local SpinQuant 203/280">
            <a:extLst>
              <a:ext uri="{FF2B5EF4-FFF2-40B4-BE49-F238E27FC236}">
                <ns2:creationId id="{DEEAAEF1-56E9-4219-87E7-0AF037F9B694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7924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Microscaling VQ: 204/280 vs local SpinQuant 203/280</a:t>
            </a:r>
          </a:p>
        </p:txBody>
      </p:sp>
      <p:sp>
        <p:nvSpPr>
          <p:cNvPr id="8" name="Overall denominator: 280; suite cells: /70. Low-bit arm">
            <a:extLst>
              <a:ext uri="{FF2B5EF4-FFF2-40B4-BE49-F238E27FC236}">
                <ns2:creationId id="{1D3A956E-4519-4AB1-B8DE-65BE1BCA6A8D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 denominator: 280; suite cells: /70. Low-bit arms: W4A4. † bpw estimates exclude rotation/tail overhead.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supervision and refinement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6">
            <a:extLst>
              <a:ext uri="{FF2B5EF4-FFF2-40B4-BE49-F238E27FC236}">
                <ns2:creationId id="{F97E9971-8CB9-4E18-A99A-DC1748396EA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+Z: action+latent · C8 weight calibration / C80 activa">
            <a:extLst>
              <a:ext uri="{FF2B5EF4-FFF2-40B4-BE49-F238E27FC236}">
                <ns2:creationId id="{2090CFD7-1982-44B9-97A0-E2B60C218DD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A+Z: action+latent · C8 weight calibration / C80 activation refinement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045FB2FE-E83B-4E83-87D2-D353EA6C6DF7}"/>
              </a:ext>
            </a:extLst>
          </p:cNvPr>
          <p:cNvGraphicFramePr/>
          <p:nvPr/>
        </p:nvGraphicFramePr>
        <p:xfrm>
          <a:off x="609600" y="1276350"/>
          <a:ext cx="7924800" cy="30070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ρ0.1 · 2 epochs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201 (71.79%)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ρ1.5 · 1 epoch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 (73.57%)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C80 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207 (73.93%)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joint VQ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channel scales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</a:tbl>
          </a:graphicData>
        </a:graphic>
      </p:graphicFrame>
      <p:sp>
        <p:nvSpPr>
          <p:cNvPr id="7" name="Best completed low-bit result here: clip-only 207/280 (">
            <a:extLst>
              <a:ext uri="{FF2B5EF4-FFF2-40B4-BE49-F238E27FC236}">
                <ns2:creationId id="{5D0AB6E1-7573-4C49-9FF5-75551C00548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Best completed low-bit result here: clip-only 207/280 (73.93%)</a:t>
            </a:r>
          </a:p>
        </p:txBody>
      </p:sp>
      <p:sp>
        <p:nvSpPr>
          <p:cNvPr id="8" name="Overall: /280; suite: /70. Target-weight bpw includes m">
            <a:extLst>
              <a:ext uri="{FF2B5EF4-FFF2-40B4-BE49-F238E27FC236}">
                <ns2:creationId id="{E20005B5-4A10-4ABD-A3EB-DFD7DA82DE73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Target-weight bpw includes metadata; VQ uses decoded BF16 + fake A4.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 Policy: LIBERO+ transfer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7">
            <a:extLst>
              <a:ext uri="{FF2B5EF4-FFF2-40B4-BE49-F238E27FC236}">
                <ns2:creationId id="{BF23D87F-8729-46D6-857A-9737977CC8AF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Direct policy · C8 calibration · same 280 paired varian">
            <a:extLst>
              <a:ext uri="{FF2B5EF4-FFF2-40B4-BE49-F238E27FC236}">
                <ns2:creationId id="{3FD9FEC3-13F8-4791-B5C5-04B89C38583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Direct policy · C8 calibration · same 280 paired variants per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2289CF9A-BBC1-4EC0-80F0-EDE77016FB08}"/>
              </a:ext>
            </a:extLst>
          </p:cNvPr>
          <p:cNvGraphicFramePr/>
          <p:nvPr/>
        </p:nvGraphicFramePr>
        <p:xfrm>
          <a:off x="609600" y="1333500"/>
          <a:ext cx="7924800" cy="1835469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233 (83.21%)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 W4A4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221 (78.93%)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 Micro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226 (80.71%)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7" name="+5 successes vs SpinQuant; −7 vs BF16">
            <a:extLst>
              <a:ext uri="{FF2B5EF4-FFF2-40B4-BE49-F238E27FC236}">
                <ns2:creationId id="{D924FAD7-33A8-4EC8-859B-CC3AC0EF4225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+5 successes vs </a:t>
            </a:r>
            <a:r>
              <a:rPr sz="1950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; −7 vs BF16</a:t>
            </a:r>
          </a:p>
        </p:txBody>
      </p:sp>
      <p:sp>
        <p:nvSpPr>
          <p:cNvPr id="8" name="VQ uses 3.92% more target-weight bits than SpinQuant.&#10;W">
            <a:extLst>
              <a:ext uri="{FF2B5EF4-FFF2-40B4-BE49-F238E27FC236}">
                <ns2:creationId id="{5551FDCF-00DE-44BF-B6A8-44F652783FA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uses 3.92% more target-weight bits than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Whole-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DiT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bpw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: 5.45 vs 5.31; transferability of the current recipe is demonstrated.</a:t>
            </a:r>
          </a:p>
        </p:txBody>
      </p:sp>
      <p:sp>
        <p:nvSpPr>
          <p:cNvPr id="9" name="Overall: /280; suite: /70. bpw covers target weights. D">
            <a:extLst>
              <a:ext uri="{FF2B5EF4-FFF2-40B4-BE49-F238E27FC236}">
                <ns2:creationId id="{359A938C-0F83-48C2-8E74-F6CD607564DF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bpw covers target weights. Decoded BF16 / fake A4; native speedup remains untested.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Does protecting the future help downstream actions?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8">
            <a:extLst>
              <a:ext uri="{FF2B5EF4-FFF2-40B4-BE49-F238E27FC236}">
                <ns2:creationId id="{7884B4B0-1758-4E36-B0F5-8F54374BB9F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Future donor&#10;Parent / action-only / +latent">
            <a:extLst>
              <a:ext uri="{FF2B5EF4-FFF2-40B4-BE49-F238E27FC236}">
                <ns2:creationId id="{F9B97089-A337-4A08-A9E6-E0A63C49032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3028950" cy="6953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Future donor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Parent / action-only / +latent</a:t>
            </a:r>
          </a:p>
        </p:txBody>
      </p:sp>
      <p:sp>
        <p:nvSpPr>
          <p:cNvPr id="6" name="Fixed BF16 reader&#10;video K/V → Action DiT">
            <a:extLst>
              <a:ext uri="{FF2B5EF4-FFF2-40B4-BE49-F238E27FC236}">
                <ns2:creationId id="{6FB435E4-819F-4D88-B27F-8C1F3B0ACDE5}"/>
              </a:ext>
            </a:extLst>
          </p:cNvPr>
          <p:cNvSpPr>
            <a:spLocks noGrp="1"/>
          </p:cNvSpPr>
          <p:nvPr/>
        </p:nvSpPr>
        <p:spPr>
          <a:xfrm>
            <a:off x="4276725" y="971550"/>
            <a:ext cx="3028950" cy="69532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Fixed BF16 reader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video K/V → Action DiT</a:t>
            </a:r>
          </a:p>
        </p:txBody>
      </p:sp>
      <p:cxnSp>
        <p:nvCxnSpPr>
          <p:cNvPr id="7" name="diagram connector">
            <a:extLst>
              <a:ext uri="{FF2B5EF4-FFF2-40B4-BE49-F238E27FC236}">
                <ns2:creationId id="{CB7059DB-E522-4E50-A0A3-67E6F625C6DD}"/>
              </a:ext>
            </a:extLst>
          </p:cNvPr>
          <p:cNvCxnSpPr/>
          <p:nvPr/>
        </p:nvCxnSpPr>
        <p:spPr>
          <a:xfrm>
            <a:off x="3638550" y="1323975"/>
            <a:ext cx="6381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8" name="diagram connector">
            <a:extLst>
              <a:ext uri="{FF2B5EF4-FFF2-40B4-BE49-F238E27FC236}">
                <ns2:creationId id="{EE924E2E-0E85-4B2D-AD35-D3DB71759F0A}"/>
              </a:ext>
            </a:extLst>
          </p:cNvPr>
          <p:cNvCxnSpPr/>
          <p:nvPr/>
        </p:nvCxnSpPr>
        <p:spPr>
          <a:xfrm>
            <a:off x="7305675" y="1323975"/>
            <a:ext cx="4857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9" name="a">
            <a:extLst>
              <a:ext uri="{FF2B5EF4-FFF2-40B4-BE49-F238E27FC236}">
                <ns2:creationId id="{F73FBE39-AA9D-4862-81F0-B5FF7E8084DE}"/>
              </a:ext>
            </a:extLst>
          </p:cNvPr>
          <p:cNvSpPr>
            <a:spLocks noGrp="1"/>
          </p:cNvSpPr>
          <p:nvPr/>
        </p:nvSpPr>
        <p:spPr>
          <a:xfrm>
            <a:off x="7791450" y="1057275"/>
            <a:ext cx="666750" cy="5238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ns2:creationId id="{61BD3457-06AE-4476-80DB-6E89D658BA66}"/>
              </a:ext>
            </a:extLst>
          </p:cNvPr>
          <p:cNvGraphicFramePr/>
          <p:nvPr/>
        </p:nvGraphicFramePr>
        <p:xfrm>
          <a:off x="609600" y="2009775"/>
          <a:ext cx="7924800" cy="1695452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2571750">
                  <a:extLst>
                    <a:ext uri="{9D8B030D-6E8A-4147-A177-3AD203B41FA5}">
                      <ns2:colId val="20001"/>
                    </a:ext>
                  </a:extLst>
                </a:gridCol>
                <a:gridCol w="24003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First-10 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Vs action-only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Parent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0.036145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−12.36%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−14.93%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11" name="Protecting future latents improves mean downstream moto">
            <a:extLst>
              <a:ext uri="{FF2B5EF4-FFF2-40B4-BE49-F238E27FC236}">
                <ns2:creationId id="{5EDAC540-6F62-4A82-8B73-B5FE086E2FD1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Protecting future latents improves mean downstream motor fidelity</a:t>
            </a:r>
          </a:p>
        </p:txBody>
      </p:sp>
      <p:sp>
        <p:nvSpPr>
          <p:cNvPr id="12" name="Earlier row-scale VQ family: 22 cases × 2 seeds; 13/22 ">
            <a:extLst>
              <a:ext uri="{FF2B5EF4-FFF2-40B4-BE49-F238E27FC236}">
                <ns2:creationId id="{1FF4ECC2-F372-43AD-A818-124E15B3BA9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Earlier row-scale VQ family: 22 cases × 2 seeds; 13/22 improve. Fixed-input teacher fidelity; no closed-loop claim.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Future protection across readers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9">
            <a:extLst>
              <a:ext uri="{FF2B5EF4-FFF2-40B4-BE49-F238E27FC236}">
                <ns2:creationId id="{37328851-47E3-4E70-915E-C62CC3220821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he mean gain transfers across readers">
            <a:extLst>
              <a:ext uri="{FF2B5EF4-FFF2-40B4-BE49-F238E27FC236}">
                <ns2:creationId id="{F8C8A040-475B-4974-8FD5-DCF7A592C92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mean gain transfers across readers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8B3C8D2E-3244-4E64-8660-7F94C9F3BBBD}"/>
              </a:ext>
            </a:extLst>
          </p:cNvPr>
          <p:cNvGraphicFramePr/>
          <p:nvPr/>
        </p:nvGraphicFramePr>
        <p:xfrm>
          <a:off x="609600" y="1333500"/>
          <a:ext cx="7924800" cy="1181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ns2:colId val="20000"/>
                    </a:ext>
                  </a:extLst>
                </a:gridCol>
                <a:gridCol w="2343150">
                  <a:extLst>
                    <a:ext uri="{9D8B030D-6E8A-4147-A177-3AD203B41FA5}">
                      <ns2:colId val="20001"/>
                    </a:ext>
                  </a:extLst>
                </a:gridCol>
                <a:gridCol w="234315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student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A-only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A+latent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0.058110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0.053481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0.058677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0.052951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</a:tbl>
          </a:graphicData>
        </a:graphic>
      </p:graphicFrame>
      <p:sp>
        <p:nvSpPr>
          <p:cNvPr id="7" name="Most of the gain can be reproduced by reducing future e">
            <a:extLst>
              <a:ext uri="{FF2B5EF4-FFF2-40B4-BE49-F238E27FC236}">
                <ns2:creationId id="{4FE23CBF-8C0C-4F1A-B029-912576AC128B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Most of the gain can be reproduced by reducing future error energy</a:t>
            </a:r>
          </a:p>
        </p:txBody>
      </p:sp>
      <p:graphicFrame>
        <p:nvGraphicFramePr>
          <p:cNvPr id="8" name="表格 7">
            <a:extLst>
              <a:ext uri="{FF2B5EF4-FFF2-40B4-BE49-F238E27FC236}">
                <ns2:creationId id="{3EF8CB40-0318-4AE1-9C95-F63720886A99}"/>
              </a:ext>
            </a:extLst>
          </p:cNvPr>
          <p:cNvGraphicFramePr/>
          <p:nvPr/>
        </p:nvGraphicFramePr>
        <p:xfrm>
          <a:off x="609600" y="3181350"/>
          <a:ext cx="7924800" cy="1304924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ns2:colId val="20000"/>
                    </a:ext>
                  </a:extLst>
                </a:gridCol>
                <a:gridCol w="2057400">
                  <a:extLst>
                    <a:ext uri="{9D8B030D-6E8A-4147-A177-3AD203B41FA5}">
                      <ns2:colId val="20001"/>
                    </a:ext>
                  </a:extLst>
                </a:gridCol>
                <a:gridCol w="20574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 · fixed BF16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A: 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0.093011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C: A, NMSE matched to B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0.071786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0.036074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B: 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0.071787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9" name="B vs C improves 11/22 cases; no robust extra benefit at">
            <a:extLst>
              <a:ext uri="{FF2B5EF4-FFF2-40B4-BE49-F238E27FC236}">
                <ns2:creationId id="{D004A614-A6C7-4815-A0A2-FAE1B2C914B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 vs C improves 11/22 cases; no robust extra benefit at matched NMSE. This supports latent fidelity, not a unique mechanism.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MSE fidelity and closed-loop success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0">
            <a:extLst>
              <a:ext uri="{FF2B5EF4-FFF2-40B4-BE49-F238E27FC236}">
                <ns2:creationId id="{350992AB-5D5D-4644-B5B3-F4BA68EA356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Original objective:  L = MSE_action + ρc · NMSE_future">
            <a:extLst>
              <a:ext uri="{FF2B5EF4-FFF2-40B4-BE49-F238E27FC236}">
                <ns2:creationId id="{D751AF47-60DE-4E26-B4E2-AA672542BA30}"/>
              </a:ext>
            </a:extLst>
          </p:cNvPr>
          <p:cNvSpPr>
            <a:spLocks noGrp="1"/>
          </p:cNvSpPr>
          <p:nvPr/>
        </p:nvSpPr>
        <p:spPr>
          <a:xfrm>
            <a:off x="609600" y="828675"/>
            <a:ext cx="7924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Original objective:  L = MSE</a:t>
            </a:r>
            <a:r>
              <a:rPr sz="1424" b="1" baseline="-2300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950" b="1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 + ρc · NMSE</a:t>
            </a:r>
            <a:r>
              <a:rPr sz="1424" b="1" baseline="-23000">
                <a:solidFill>
                  <a:srgbClr val="192C45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</p:txBody>
      </p:sp>
      <p:sp>
        <p:nvSpPr>
          <p:cNvPr id="6" name="c is frozen from initial calibration loss values; ρ = 1">
            <a:extLst>
              <a:ext uri="{FF2B5EF4-FFF2-40B4-BE49-F238E27FC236}">
                <ns2:creationId id="{0B9524AA-DB39-4CC7-AE02-935EF4CFE690}"/>
              </a:ext>
            </a:extLst>
          </p:cNvPr>
          <p:cNvSpPr>
            <a:spLocks noGrp="1"/>
          </p:cNvSpPr>
          <p:nvPr/>
        </p:nvSpPr>
        <p:spPr>
          <a:xfrm>
            <a:off x="609600" y="1247775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 is frozen from initial calibration loss values; ρ = 1.5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ns2:creationId id="{93F79D55-57AB-4DB5-9CF3-C8C7EED93531}"/>
              </a:ext>
            </a:extLst>
          </p:cNvPr>
          <p:cNvGraphicFramePr/>
          <p:nvPr/>
        </p:nvGraphicFramePr>
        <p:xfrm>
          <a:off x="609600" y="1857375"/>
          <a:ext cx="7924800" cy="1846899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ns2:colId val="20000"/>
                    </a:ext>
                  </a:extLst>
                </a:gridCol>
                <a:gridCol w="1524000">
                  <a:extLst>
                    <a:ext uri="{9D8B030D-6E8A-4147-A177-3AD203B41FA5}">
                      <ns2:colId val="20001"/>
                    </a:ext>
                  </a:extLst>
                </a:gridCol>
                <a:gridCol w="1581150">
                  <a:extLst>
                    <a:ext uri="{9D8B030D-6E8A-4147-A177-3AD203B41FA5}">
                      <ns2:colId val="20002"/>
                    </a:ext>
                  </a:extLst>
                </a:gridCol>
                <a:gridCol w="1962150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C80 refinement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LIBERO+</a:t>
                      </a:r>
                      <a:br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↑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 · 73.93%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 · 72.14%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 · 72.50%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8" name="−27.84% motor RMSE, but −4 closed-loop successes vs cli">
            <a:extLst>
              <a:ext uri="{FF2B5EF4-FFF2-40B4-BE49-F238E27FC236}">
                <ns2:creationId id="{D7B7B3B3-7EA6-4088-A6E5-75F1A0B1C27A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−27.84% motor RMSE, but −4 closed-loop successes vs clip-only</a:t>
            </a:r>
          </a:p>
        </p:txBody>
      </p:sp>
      <p:sp>
        <p:nvSpPr>
          <p:cNvPr id="9" name="Motivation: preserve the structure of action sequences ">
            <a:extLst>
              <a:ext uri="{FF2B5EF4-FFF2-40B4-BE49-F238E27FC236}">
                <ns2:creationId id="{F5F1C212-E5F1-4345-84D8-ACB1E0D1405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Motivation: preserve the structure of action sequences and future latents,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then test whether the objective better tracks rollout failures.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47" name="diagram block">
            <a:extLst>
              <a:ext uri="{FF2B5EF4-FFF2-40B4-BE49-F238E27FC236}">
                <ns2:creationId id="{B1A131B3-9E20-42B2-8CA0-0B65A5032BFD}"/>
              </a:ext>
            </a:extLst>
          </p:cNvPr>
          <p:cNvSpPr>
            <a:spLocks noGrp="1"/>
          </p:cNvSpPr>
          <p:nvPr/>
        </p:nvSpPr>
        <p:spPr>
          <a:xfrm>
            <a:off x="288143" y="20645"/>
            <a:ext cx="2854184" cy="4113535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2" name="diagram block">
            <a:extLst>
              <a:ext uri="{FF2B5EF4-FFF2-40B4-BE49-F238E27FC236}">
                <ns2:creationId id="{3C4B54ED-0AC2-4FA4-869A-69EAB6844F1B}"/>
              </a:ext>
            </a:extLst>
          </p:cNvPr>
          <p:cNvSpPr>
            <a:spLocks noGrp="1"/>
          </p:cNvSpPr>
          <p:nvPr/>
        </p:nvSpPr>
        <p:spPr>
          <a:xfrm>
            <a:off x="3183617" y="20645"/>
            <a:ext cx="2776765" cy="4113535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3" name="diagram block">
            <a:extLst>
              <a:ext uri="{FF2B5EF4-FFF2-40B4-BE49-F238E27FC236}">
                <ns2:creationId id="{56F81212-F464-4E26-9C89-2CFD6F909F86}"/>
              </a:ext>
            </a:extLst>
          </p:cNvPr>
          <p:cNvSpPr>
            <a:spLocks noGrp="1"/>
          </p:cNvSpPr>
          <p:nvPr/>
        </p:nvSpPr>
        <p:spPr>
          <a:xfrm>
            <a:off x="6001673" y="20645"/>
            <a:ext cx="2864507" cy="4113535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4" name="(a) Soft-bin: preserve absolute values">
            <a:extLst>
              <a:ext uri="{FF2B5EF4-FFF2-40B4-BE49-F238E27FC236}">
                <ns2:creationId id="{BA68B683-0900-478B-ADF1-9047ADA8C59A}"/>
              </a:ext>
            </a:extLst>
          </p:cNvPr>
          <p:cNvSpPr>
            <a:spLocks noGrp="1"/>
          </p:cNvSpPr>
          <p:nvPr/>
        </p:nvSpPr>
        <p:spPr>
          <a:xfrm>
            <a:off x="344917" y="77419"/>
            <a:ext cx="274063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(a) Soft-bin: preserve absolute values</a:t>
            </a:r>
          </a:p>
        </p:txBody>
      </p:sp>
      <p:sp>
        <p:nvSpPr>
          <p:cNvPr id="5" name="(b) Action: temporal relations">
            <a:extLst>
              <a:ext uri="{FF2B5EF4-FFF2-40B4-BE49-F238E27FC236}">
                <ns2:creationId id="{2AEC72A2-B6D3-4035-AFEA-17207F897902}"/>
              </a:ext>
            </a:extLst>
          </p:cNvPr>
          <p:cNvSpPr>
            <a:spLocks noGrp="1"/>
          </p:cNvSpPr>
          <p:nvPr/>
        </p:nvSpPr>
        <p:spPr>
          <a:xfrm>
            <a:off x="3245553" y="77419"/>
            <a:ext cx="265805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(b) Action: temporal relations</a:t>
            </a:r>
          </a:p>
        </p:txBody>
      </p:sp>
      <p:sp>
        <p:nvSpPr>
          <p:cNvPr id="6" name="(c) Latent: spatial + temporal relations">
            <a:extLst>
              <a:ext uri="{FF2B5EF4-FFF2-40B4-BE49-F238E27FC236}">
                <ns2:creationId id="{3A69E0A1-EC31-4A80-8AF3-CB7106142A43}"/>
              </a:ext>
            </a:extLst>
          </p:cNvPr>
          <p:cNvSpPr>
            <a:spLocks noGrp="1"/>
          </p:cNvSpPr>
          <p:nvPr/>
        </p:nvSpPr>
        <p:spPr>
          <a:xfrm>
            <a:off x="6073931" y="77419"/>
            <a:ext cx="27354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(c) Latent: spatial + temporal relations</a:t>
            </a:r>
          </a:p>
        </p:txBody>
      </p:sp>
      <p:sp>
        <p:nvSpPr>
          <p:cNvPr id="7" name="diagram block">
            <a:extLst>
              <a:ext uri="{FF2B5EF4-FFF2-40B4-BE49-F238E27FC236}">
                <ns2:creationId id="{0E05F3AA-32C9-4C42-8603-891161150A87}"/>
              </a:ext>
            </a:extLst>
          </p:cNvPr>
          <p:cNvSpPr>
            <a:spLocks noGrp="1"/>
          </p:cNvSpPr>
          <p:nvPr/>
        </p:nvSpPr>
        <p:spPr>
          <a:xfrm>
            <a:off x="355239" y="278709"/>
            <a:ext cx="2725153" cy="345805"/>
          </a:xfrm>
          <a:prstGeom prst="roundRect">
            <a:avLst>
              <a:gd name="adj" fmla="val 746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8" name="Per-scalar distribution: each value is mapped to a 16-bin&#10;probability distr">
            <a:extLst>
              <a:ext uri="{FF2B5EF4-FFF2-40B4-BE49-F238E27FC236}">
                <ns2:creationId id="{ED65D1CB-E5C1-4E59-94B5-8154E6175D01}"/>
              </a:ext>
            </a:extLst>
          </p:cNvPr>
          <p:cNvSpPr>
            <a:spLocks noGrp="1"/>
          </p:cNvSpPr>
          <p:nvPr/>
        </p:nvSpPr>
        <p:spPr>
          <a:xfrm>
            <a:off x="381046" y="304515"/>
            <a:ext cx="2673540" cy="29419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5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Per-scalar distribution: each value is mapped to a 16-bin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 distribution using a Gaussian and shared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normalization statistics.</a:t>
            </a:r>
          </a:p>
        </p:txBody>
      </p:sp>
      <p:sp>
        <p:nvSpPr>
          <p:cNvPr id="9" name="diagram block">
            <a:extLst>
              <a:ext uri="{FF2B5EF4-FFF2-40B4-BE49-F238E27FC236}">
                <ns2:creationId id="{6E6DC68D-41C3-42EB-9B5D-CE86376494A2}"/>
              </a:ext>
            </a:extLst>
          </p:cNvPr>
          <p:cNvSpPr>
            <a:spLocks noGrp="1"/>
          </p:cNvSpPr>
          <p:nvPr/>
        </p:nvSpPr>
        <p:spPr>
          <a:xfrm>
            <a:off x="3255875" y="278709"/>
            <a:ext cx="2632250" cy="314838"/>
          </a:xfrm>
          <a:prstGeom prst="roundRect">
            <a:avLst>
              <a:gd name="adj" fmla="val 819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10" name="Match neighbor distributions over 3-step action windows&#10;to preserve tempora">
            <a:extLst>
              <a:ext uri="{FF2B5EF4-FFF2-40B4-BE49-F238E27FC236}">
                <ns2:creationId id="{9C766BC0-B2CA-4728-914A-81EF511802E8}"/>
              </a:ext>
            </a:extLst>
          </p:cNvPr>
          <p:cNvSpPr>
            <a:spLocks noGrp="1"/>
          </p:cNvSpPr>
          <p:nvPr/>
        </p:nvSpPr>
        <p:spPr>
          <a:xfrm>
            <a:off x="3281682" y="304515"/>
            <a:ext cx="2580637" cy="26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3-step action windows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preserve temporal structure in the action sequence.</a:t>
            </a:r>
          </a:p>
        </p:txBody>
      </p:sp>
      <p:sp>
        <p:nvSpPr>
          <p:cNvPr id="11" name="diagram block">
            <a:extLst>
              <a:ext uri="{FF2B5EF4-FFF2-40B4-BE49-F238E27FC236}">
                <ns2:creationId id="{ED3A5DEB-EEFD-41CE-BE96-8F1DBE95DC6B}"/>
              </a:ext>
            </a:extLst>
          </p:cNvPr>
          <p:cNvSpPr>
            <a:spLocks noGrp="1"/>
          </p:cNvSpPr>
          <p:nvPr/>
        </p:nvSpPr>
        <p:spPr>
          <a:xfrm>
            <a:off x="6073931" y="278709"/>
            <a:ext cx="2725153" cy="309676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12" name="Match neighbor distributions over spatial and temporal neighbors&#10;in the lat">
            <a:extLst>
              <a:ext uri="{FF2B5EF4-FFF2-40B4-BE49-F238E27FC236}">
                <ns2:creationId id="{453398F7-B4CF-45E1-BACC-E48B7EAB22B7}"/>
              </a:ext>
            </a:extLst>
          </p:cNvPr>
          <p:cNvSpPr>
            <a:spLocks noGrp="1"/>
          </p:cNvSpPr>
          <p:nvPr/>
        </p:nvSpPr>
        <p:spPr>
          <a:xfrm>
            <a:off x="6099737" y="304515"/>
            <a:ext cx="2673540" cy="258064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Match neighbor distributions over spatial and temporal neighbors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in the latent maps to preserve spatiotemporal structure.</a:t>
            </a:r>
          </a:p>
        </p:txBody>
      </p:sp>
      <p:sp>
        <p:nvSpPr>
          <p:cNvPr id="13" name="diagram block">
            <a:extLst>
              <a:ext uri="{FF2B5EF4-FFF2-40B4-BE49-F238E27FC236}">
                <ns2:creationId id="{B0BB0454-68DA-407E-83F9-C6C961B29310}"/>
              </a:ext>
            </a:extLst>
          </p:cNvPr>
          <p:cNvSpPr>
            <a:spLocks noGrp="1"/>
          </p:cNvSpPr>
          <p:nvPr/>
        </p:nvSpPr>
        <p:spPr>
          <a:xfrm>
            <a:off x="391368" y="686449"/>
            <a:ext cx="1326447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5161">
            <a:solidFill>
              <a:srgbClr val="7FCAB6"/>
            </a:solidFill>
            <a:prstDash val="solid"/>
          </a:ln>
        </p:spPr>
      </p:sp>
      <p:sp>
        <p:nvSpPr>
          <p:cNvPr id="14" name="BF16 teacher scalar x">
            <a:extLst>
              <a:ext uri="{FF2B5EF4-FFF2-40B4-BE49-F238E27FC236}">
                <ns2:creationId id="{71B65F98-1A8F-43B2-A6FA-2591F37AC9CB}"/>
              </a:ext>
            </a:extLst>
          </p:cNvPr>
          <p:cNvSpPr>
            <a:spLocks noGrp="1"/>
          </p:cNvSpPr>
          <p:nvPr/>
        </p:nvSpPr>
        <p:spPr>
          <a:xfrm>
            <a:off x="417174" y="712256"/>
            <a:ext cx="1274835" cy="113548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BF16 teacher scalar x</a:t>
            </a:r>
          </a:p>
        </p:txBody>
      </p:sp>
      <p:sp>
        <p:nvSpPr>
          <p:cNvPr id="15" name="diagram block">
            <a:extLst>
              <a:ext uri="{FF2B5EF4-FFF2-40B4-BE49-F238E27FC236}">
                <ns2:creationId id="{A4048B33-964B-4CE4-AEA3-A908A69294B2}"/>
              </a:ext>
            </a:extLst>
          </p:cNvPr>
          <p:cNvSpPr>
            <a:spLocks noGrp="1"/>
          </p:cNvSpPr>
          <p:nvPr/>
        </p:nvSpPr>
        <p:spPr>
          <a:xfrm>
            <a:off x="1815880" y="686449"/>
            <a:ext cx="1264512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</p:sp>
      <p:sp>
        <p:nvSpPr>
          <p:cNvPr id="16" name="Quantized student scalar x̂">
            <a:extLst>
              <a:ext uri="{FF2B5EF4-FFF2-40B4-BE49-F238E27FC236}">
                <ns2:creationId id="{8066C867-9FD4-46E1-A72C-8C80D8502A45}"/>
              </a:ext>
            </a:extLst>
          </p:cNvPr>
          <p:cNvSpPr>
            <a:spLocks noGrp="1"/>
          </p:cNvSpPr>
          <p:nvPr/>
        </p:nvSpPr>
        <p:spPr>
          <a:xfrm>
            <a:off x="1841686" y="712256"/>
            <a:ext cx="1212899" cy="11354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Quantized student scalar x̂</a:t>
            </a:r>
          </a:p>
        </p:txBody>
      </p:sp>
      <p:sp>
        <p:nvSpPr>
          <p:cNvPr id="17" name="e.g., x = 1.24 (BF16)">
            <a:extLst>
              <a:ext uri="{FF2B5EF4-FFF2-40B4-BE49-F238E27FC236}">
                <ns2:creationId id="{8B31A281-8E11-45D3-BF05-4FAEB781948C}"/>
              </a:ext>
            </a:extLst>
          </p:cNvPr>
          <p:cNvSpPr>
            <a:spLocks noGrp="1"/>
          </p:cNvSpPr>
          <p:nvPr/>
        </p:nvSpPr>
        <p:spPr>
          <a:xfrm>
            <a:off x="535884" y="898062"/>
            <a:ext cx="113548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 = 1.24 (BF16)</a:t>
            </a:r>
          </a:p>
        </p:txBody>
      </p:sp>
      <p:sp>
        <p:nvSpPr>
          <p:cNvPr id="18" name="e.g., x̂ = 1.08 (quantized)">
            <a:extLst>
              <a:ext uri="{FF2B5EF4-FFF2-40B4-BE49-F238E27FC236}">
                <ns2:creationId id="{C8359E9E-0FFE-4BBC-9017-A462D0B1F883}"/>
              </a:ext>
            </a:extLst>
          </p:cNvPr>
          <p:cNvSpPr>
            <a:spLocks noGrp="1"/>
          </p:cNvSpPr>
          <p:nvPr/>
        </p:nvSpPr>
        <p:spPr>
          <a:xfrm>
            <a:off x="1939750" y="898062"/>
            <a:ext cx="1140642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x̂ = 1.08 (quantized)</a:t>
            </a:r>
          </a:p>
        </p:txBody>
      </p:sp>
      <p:cxnSp>
        <p:nvCxnSpPr>
          <p:cNvPr id="19" name="native PowerPoint connector">
            <a:extLst>
              <a:ext uri="{FF2B5EF4-FFF2-40B4-BE49-F238E27FC236}">
                <ns2:creationId id="{B592C220-E4C9-4868-AAEC-4355EE989406}"/>
              </a:ext>
            </a:extLst>
          </p:cNvPr>
          <p:cNvCxnSpPr/>
          <p:nvPr/>
        </p:nvCxnSpPr>
        <p:spPr>
          <a:xfrm flipH="0" flipV="0">
            <a:off x="1036527" y="1032255"/>
            <a:ext cx="0" cy="36129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0" name="native PowerPoint connector">
            <a:extLst>
              <a:ext uri="{FF2B5EF4-FFF2-40B4-BE49-F238E27FC236}">
                <ns2:creationId id="{18259446-12FC-4846-B35A-222ABD0B3B3E}"/>
              </a:ext>
            </a:extLst>
          </p:cNvPr>
          <p:cNvCxnSpPr/>
          <p:nvPr/>
        </p:nvCxnSpPr>
        <p:spPr>
          <a:xfrm flipH="0" flipV="0">
            <a:off x="2430071" y="1032255"/>
            <a:ext cx="0" cy="36129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1" name="diagram block">
            <a:extLst>
              <a:ext uri="{FF2B5EF4-FFF2-40B4-BE49-F238E27FC236}">
                <ns2:creationId id="{4D7B590A-0593-4CF4-BDBB-2FBCBA0F0D07}"/>
              </a:ext>
            </a:extLst>
          </p:cNvPr>
          <p:cNvSpPr>
            <a:spLocks noGrp="1"/>
          </p:cNvSpPr>
          <p:nvPr/>
        </p:nvSpPr>
        <p:spPr>
          <a:xfrm>
            <a:off x="499755" y="1068384"/>
            <a:ext cx="2461928" cy="232257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FABB9"/>
            </a:solidFill>
            <a:prstDash val="solid"/>
          </a:ln>
        </p:spPr>
      </p:sp>
      <p:sp>
        <p:nvSpPr>
          <p:cNvPr id="22" name="Shared frozen teacher statistics&#10;mean μ_c, scale s_c = max(σ_c, 0.02)">
            <a:extLst>
              <a:ext uri="{FF2B5EF4-FFF2-40B4-BE49-F238E27FC236}">
                <ns2:creationId id="{A5A72E60-4B75-4321-BB52-580B7F082F6B}"/>
              </a:ext>
            </a:extLst>
          </p:cNvPr>
          <p:cNvSpPr>
            <a:spLocks noGrp="1"/>
          </p:cNvSpPr>
          <p:nvPr/>
        </p:nvSpPr>
        <p:spPr>
          <a:xfrm>
            <a:off x="525561" y="1094190"/>
            <a:ext cx="2410315" cy="180645"/>
          </a:xfrm>
          <a:prstGeom prst="rect">
            <a:avLst/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2899"/>
          </a:bodyPr>
          <a:lstStyle>
            <a:def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Shared frozen teacher statistics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mean μ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scale s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max(σ</a:t>
            </a:r>
            <a:r>
              <a:rPr sz="593" b="0" i="0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81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, 0.02)</a:t>
            </a:r>
          </a:p>
        </p:txBody>
      </p:sp>
      <p:cxnSp>
        <p:nvCxnSpPr>
          <p:cNvPr id="23" name="native PowerPoint connector">
            <a:extLst>
              <a:ext uri="{FF2B5EF4-FFF2-40B4-BE49-F238E27FC236}">
                <ns2:creationId id="{5896CC27-4557-47B3-810D-63100F51602E}"/>
              </a:ext>
            </a:extLst>
          </p:cNvPr>
          <p:cNvCxnSpPr/>
          <p:nvPr/>
        </p:nvCxnSpPr>
        <p:spPr>
          <a:xfrm flipH="0" flipV="0">
            <a:off x="1036527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4" name="native PowerPoint connector">
            <a:extLst>
              <a:ext uri="{FF2B5EF4-FFF2-40B4-BE49-F238E27FC236}">
                <ns2:creationId id="{610E128A-E0BF-41A0-B03C-0660C0DB9275}"/>
              </a:ext>
            </a:extLst>
          </p:cNvPr>
          <p:cNvCxnSpPr/>
          <p:nvPr/>
        </p:nvCxnSpPr>
        <p:spPr>
          <a:xfrm flipH="0" flipV="0">
            <a:off x="2430071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" name="z =">
            <a:extLst>
              <a:ext uri="{FF2B5EF4-FFF2-40B4-BE49-F238E27FC236}">
                <ns2:creationId id="{690692ED-0D0C-403C-BD5C-E7A030EE9138}"/>
              </a:ext>
            </a:extLst>
          </p:cNvPr>
          <p:cNvSpPr>
            <a:spLocks noGrp="1"/>
          </p:cNvSpPr>
          <p:nvPr/>
        </p:nvSpPr>
        <p:spPr>
          <a:xfrm>
            <a:off x="742335" y="1429673"/>
            <a:ext cx="237419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 =</a:t>
            </a:r>
          </a:p>
        </p:txBody>
      </p:sp>
      <p:sp>
        <p:nvSpPr>
          <p:cNvPr id="26" name="x − μ_c">
            <a:extLst>
              <a:ext uri="{FF2B5EF4-FFF2-40B4-BE49-F238E27FC236}">
                <ns2:creationId id="{52E24E10-560A-4D9B-9C04-504153AF0AE1}"/>
              </a:ext>
            </a:extLst>
          </p:cNvPr>
          <p:cNvSpPr>
            <a:spLocks noGrp="1"/>
          </p:cNvSpPr>
          <p:nvPr/>
        </p:nvSpPr>
        <p:spPr>
          <a:xfrm>
            <a:off x="974592" y="1378060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27" name="native PowerPoint connector">
            <a:extLst>
              <a:ext uri="{FF2B5EF4-FFF2-40B4-BE49-F238E27FC236}">
                <ns2:creationId id="{2D3ABDD5-11E5-4B30-A194-429D5D3193BB}"/>
              </a:ext>
            </a:extLst>
          </p:cNvPr>
          <p:cNvCxnSpPr/>
          <p:nvPr/>
        </p:nvCxnSpPr>
        <p:spPr>
          <a:xfrm flipH="0" flipV="0">
            <a:off x="990076" y="1504511"/>
            <a:ext cx="350967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8" name="s_c">
            <a:extLst>
              <a:ext uri="{FF2B5EF4-FFF2-40B4-BE49-F238E27FC236}">
                <ns2:creationId id="{11DA8C37-B7DD-4056-B266-FD2E46B2C8B3}"/>
              </a:ext>
            </a:extLst>
          </p:cNvPr>
          <p:cNvSpPr>
            <a:spLocks noGrp="1"/>
          </p:cNvSpPr>
          <p:nvPr/>
        </p:nvSpPr>
        <p:spPr>
          <a:xfrm>
            <a:off x="974592" y="1512253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9" name="ẑ =">
            <a:extLst>
              <a:ext uri="{FF2B5EF4-FFF2-40B4-BE49-F238E27FC236}">
                <ns2:creationId id="{3CA0D9C2-6282-4C2E-A3F7-76ED223C134A}"/>
              </a:ext>
            </a:extLst>
          </p:cNvPr>
          <p:cNvSpPr>
            <a:spLocks noGrp="1"/>
          </p:cNvSpPr>
          <p:nvPr/>
        </p:nvSpPr>
        <p:spPr>
          <a:xfrm>
            <a:off x="2089427" y="1429673"/>
            <a:ext cx="242580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ẑ =</a:t>
            </a:r>
          </a:p>
        </p:txBody>
      </p:sp>
      <p:sp>
        <p:nvSpPr>
          <p:cNvPr id="30" name="x̂ − μ_c">
            <a:extLst>
              <a:ext uri="{FF2B5EF4-FFF2-40B4-BE49-F238E27FC236}">
                <ns2:creationId id="{B5769AF1-0F92-448F-93C6-556132017D73}"/>
              </a:ext>
            </a:extLst>
          </p:cNvPr>
          <p:cNvSpPr>
            <a:spLocks noGrp="1"/>
          </p:cNvSpPr>
          <p:nvPr/>
        </p:nvSpPr>
        <p:spPr>
          <a:xfrm>
            <a:off x="2332007" y="1378060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x̂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31" name="native PowerPoint connector">
            <a:extLst>
              <a:ext uri="{FF2B5EF4-FFF2-40B4-BE49-F238E27FC236}">
                <ns2:creationId id="{B2C28B99-FC7E-4713-AB54-74199052847D}"/>
              </a:ext>
            </a:extLst>
          </p:cNvPr>
          <p:cNvCxnSpPr/>
          <p:nvPr/>
        </p:nvCxnSpPr>
        <p:spPr>
          <a:xfrm flipH="0" flipV="0">
            <a:off x="2347491" y="1504511"/>
            <a:ext cx="366450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32" name="s_c">
            <a:extLst>
              <a:ext uri="{FF2B5EF4-FFF2-40B4-BE49-F238E27FC236}">
                <ns2:creationId id="{761D9621-3E70-4DBD-AF89-99AC668BE5DA}"/>
              </a:ext>
            </a:extLst>
          </p:cNvPr>
          <p:cNvSpPr>
            <a:spLocks noGrp="1"/>
          </p:cNvSpPr>
          <p:nvPr/>
        </p:nvSpPr>
        <p:spPr>
          <a:xfrm>
            <a:off x="2332007" y="1512253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3" name="diagram block">
            <a:extLst>
              <a:ext uri="{FF2B5EF4-FFF2-40B4-BE49-F238E27FC236}">
                <ns2:creationId id="{0A4C8A4A-CEFB-4E3B-9595-8DC85D8EEE09}"/>
              </a:ext>
            </a:extLst>
          </p:cNvPr>
          <p:cNvSpPr>
            <a:spLocks noGrp="1"/>
          </p:cNvSpPr>
          <p:nvPr/>
        </p:nvSpPr>
        <p:spPr>
          <a:xfrm>
            <a:off x="391368" y="1641285"/>
            <a:ext cx="2621927" cy="810320"/>
          </a:xfrm>
          <a:prstGeom prst="roundRect">
            <a:avLst>
              <a:gd name="adj" fmla="val 3822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3DDFC"/>
            </a:solidFill>
            <a:prstDash val="solid"/>
          </a:ln>
        </p:spPr>
      </p:sp>
      <p:sp>
        <p:nvSpPr>
          <p:cNvPr id="34" name="Map each standardized scalar to 16 bins&#10;using a Gaussian with σ = 0.375 and">
            <a:extLst>
              <a:ext uri="{FF2B5EF4-FFF2-40B4-BE49-F238E27FC236}">
                <ns2:creationId id="{5C5AD1C7-2779-4D26-A9FA-6F6280761783}"/>
              </a:ext>
            </a:extLst>
          </p:cNvPr>
          <p:cNvSpPr>
            <a:spLocks noGrp="1"/>
          </p:cNvSpPr>
          <p:nvPr/>
        </p:nvSpPr>
        <p:spPr>
          <a:xfrm>
            <a:off x="442981" y="1698059"/>
            <a:ext cx="2518702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931"/>
          </a:bodyPr>
          <a:lstStyle>
            <a:def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each standardized scalar to 16 bins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using a Gaussian with σ = 0.375 and fixed edges.</a:t>
            </a:r>
          </a:p>
        </p:txBody>
      </p:sp>
      <p:sp>
        <p:nvSpPr>
          <p:cNvPr id="35" name="p_b(z) =">
            <a:extLst>
              <a:ext uri="{FF2B5EF4-FFF2-40B4-BE49-F238E27FC236}">
                <ns2:creationId id="{029460DA-F436-49D5-9306-9E3CC64E3614}"/>
              </a:ext>
            </a:extLst>
          </p:cNvPr>
          <p:cNvSpPr>
            <a:spLocks noGrp="1"/>
          </p:cNvSpPr>
          <p:nvPr/>
        </p:nvSpPr>
        <p:spPr>
          <a:xfrm>
            <a:off x="566851" y="1976768"/>
            <a:ext cx="541934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325"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77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(z) =</a:t>
            </a:r>
          </a:p>
        </p:txBody>
      </p:sp>
      <p:sp>
        <p:nvSpPr>
          <p:cNvPr id="36" name="∫">
            <a:extLst>
              <a:ext uri="{FF2B5EF4-FFF2-40B4-BE49-F238E27FC236}">
                <ns2:creationId id="{21239FBA-1E3B-4C47-A84F-5694AABDDDDD}"/>
              </a:ext>
            </a:extLst>
          </p:cNvPr>
          <p:cNvSpPr>
            <a:spLocks noGrp="1"/>
          </p:cNvSpPr>
          <p:nvPr/>
        </p:nvSpPr>
        <p:spPr>
          <a:xfrm>
            <a:off x="1144914" y="1914833"/>
            <a:ext cx="159999" cy="26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37" name="e_{b+1}">
            <a:extLst>
              <a:ext uri="{FF2B5EF4-FFF2-40B4-BE49-F238E27FC236}">
                <ns2:creationId id="{B2506689-6BE1-4EC2-8D80-40B2936D2646}"/>
              </a:ext>
            </a:extLst>
          </p:cNvPr>
          <p:cNvSpPr>
            <a:spLocks noGrp="1"/>
          </p:cNvSpPr>
          <p:nvPr/>
        </p:nvSpPr>
        <p:spPr>
          <a:xfrm>
            <a:off x="1299752" y="1904510"/>
            <a:ext cx="27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3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b+1</a:t>
            </a:r>
          </a:p>
        </p:txBody>
      </p:sp>
      <p:sp>
        <p:nvSpPr>
          <p:cNvPr id="38" name="e_b">
            <a:extLst>
              <a:ext uri="{FF2B5EF4-FFF2-40B4-BE49-F238E27FC236}">
                <ns2:creationId id="{BEF14556-15CE-40B1-A1BC-FC0A04E0EE2C}"/>
              </a:ext>
            </a:extLst>
          </p:cNvPr>
          <p:cNvSpPr>
            <a:spLocks noGrp="1"/>
          </p:cNvSpPr>
          <p:nvPr/>
        </p:nvSpPr>
        <p:spPr>
          <a:xfrm>
            <a:off x="1299752" y="2121284"/>
            <a:ext cx="23225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3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9" name="N(t; z, 0.375²) dt">
            <a:extLst>
              <a:ext uri="{FF2B5EF4-FFF2-40B4-BE49-F238E27FC236}">
                <ns2:creationId id="{9BA3C3B4-6DE7-4DBF-B1C0-143AAAFF4F98}"/>
              </a:ext>
            </a:extLst>
          </p:cNvPr>
          <p:cNvSpPr>
            <a:spLocks noGrp="1"/>
          </p:cNvSpPr>
          <p:nvPr/>
        </p:nvSpPr>
        <p:spPr>
          <a:xfrm>
            <a:off x="1568139" y="1976768"/>
            <a:ext cx="1347092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N(t; z, 0.375²) dt</a:t>
            </a:r>
          </a:p>
        </p:txBody>
      </p:sp>
      <p:sp>
        <p:nvSpPr>
          <p:cNvPr id="40" name="15 interior edges from −3.5 to 3.5, plus two infinite tails">
            <a:extLst>
              <a:ext uri="{FF2B5EF4-FFF2-40B4-BE49-F238E27FC236}">
                <ns2:creationId id="{50159E10-FC6C-4C00-94F8-0F3B184619DA}"/>
              </a:ext>
            </a:extLst>
          </p:cNvPr>
          <p:cNvSpPr>
            <a:spLocks noGrp="1"/>
          </p:cNvSpPr>
          <p:nvPr/>
        </p:nvSpPr>
        <p:spPr>
          <a:xfrm>
            <a:off x="442981" y="2245154"/>
            <a:ext cx="251870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15 interior edges from −3.5 to 3.5, plus two infinite tails</a:t>
            </a:r>
          </a:p>
        </p:txBody>
      </p:sp>
      <p:sp>
        <p:nvSpPr>
          <p:cNvPr id="41" name="e = [−∞, −3.5, −3.0, …, 3.0, 3.5, +∞]">
            <a:extLst>
              <a:ext uri="{FF2B5EF4-FFF2-40B4-BE49-F238E27FC236}">
                <ns2:creationId id="{1CC42099-617D-41E1-BD2E-C3C9E3C5A552}"/>
              </a:ext>
            </a:extLst>
          </p:cNvPr>
          <p:cNvSpPr>
            <a:spLocks noGrp="1"/>
          </p:cNvSpPr>
          <p:nvPr/>
        </p:nvSpPr>
        <p:spPr>
          <a:xfrm>
            <a:off x="437820" y="2348380"/>
            <a:ext cx="253418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 = [−∞, −3.5, −3.0, …, 3.0, 3.5, +∞]</a:t>
            </a:r>
          </a:p>
        </p:txBody>
      </p:sp>
      <p:sp>
        <p:nvSpPr>
          <p:cNvPr id="42" name="diagram block">
            <a:extLst>
              <a:ext uri="{FF2B5EF4-FFF2-40B4-BE49-F238E27FC236}">
                <ns2:creationId id="{787061DA-46CE-420A-BEA7-3B720E156919}"/>
              </a:ext>
            </a:extLst>
          </p:cNvPr>
          <p:cNvSpPr>
            <a:spLocks noGrp="1"/>
          </p:cNvSpPr>
          <p:nvPr/>
        </p:nvSpPr>
        <p:spPr>
          <a:xfrm>
            <a:off x="499755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5161">
            <a:solidFill>
              <a:srgbClr val="87CFBA"/>
            </a:solidFill>
            <a:prstDash val="solid"/>
          </a:ln>
        </p:spPr>
      </p:sp>
      <p:sp>
        <p:nvSpPr>
          <p:cNvPr id="43" name="Teacher scalar distribution">
            <a:extLst>
              <a:ext uri="{FF2B5EF4-FFF2-40B4-BE49-F238E27FC236}">
                <ns2:creationId id="{03508AC9-AC02-4BF1-9C04-6D0C5CACC75C}"/>
              </a:ext>
            </a:extLst>
          </p:cNvPr>
          <p:cNvSpPr>
            <a:spLocks noGrp="1"/>
          </p:cNvSpPr>
          <p:nvPr/>
        </p:nvSpPr>
        <p:spPr>
          <a:xfrm>
            <a:off x="525561" y="2513540"/>
            <a:ext cx="1125158" cy="103225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Teacher scalar distribution</a:t>
            </a:r>
          </a:p>
        </p:txBody>
      </p:sp>
      <p:sp>
        <p:nvSpPr>
          <p:cNvPr id="44" name="diagram block">
            <a:extLst>
              <a:ext uri="{FF2B5EF4-FFF2-40B4-BE49-F238E27FC236}">
                <ns2:creationId id="{75F88940-C23A-404D-93B4-108FB7111239}"/>
              </a:ext>
            </a:extLst>
          </p:cNvPr>
          <p:cNvSpPr>
            <a:spLocks noGrp="1"/>
          </p:cNvSpPr>
          <p:nvPr/>
        </p:nvSpPr>
        <p:spPr>
          <a:xfrm>
            <a:off x="1908783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</p:sp>
      <p:sp>
        <p:nvSpPr>
          <p:cNvPr id="45" name="Student scalar distribution">
            <a:extLst>
              <a:ext uri="{FF2B5EF4-FFF2-40B4-BE49-F238E27FC236}">
                <ns2:creationId id="{05BB197B-A730-4A9B-8240-54B7FC2EFFFE}"/>
              </a:ext>
            </a:extLst>
          </p:cNvPr>
          <p:cNvSpPr>
            <a:spLocks noGrp="1"/>
          </p:cNvSpPr>
          <p:nvPr/>
        </p:nvSpPr>
        <p:spPr>
          <a:xfrm>
            <a:off x="1934589" y="2513540"/>
            <a:ext cx="1125158" cy="10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Student scalar distribution</a:t>
            </a:r>
          </a:p>
        </p:txBody>
      </p:sp>
      <p:sp>
        <p:nvSpPr>
          <p:cNvPr id="46" name="diagram block">
            <a:extLst>
              <a:ext uri="{FF2B5EF4-FFF2-40B4-BE49-F238E27FC236}">
                <ns2:creationId id="{AAD5AF12-640A-4F7F-86A9-04751103B53F}"/>
              </a:ext>
            </a:extLst>
          </p:cNvPr>
          <p:cNvSpPr>
            <a:spLocks noGrp="1"/>
          </p:cNvSpPr>
          <p:nvPr/>
        </p:nvSpPr>
        <p:spPr>
          <a:xfrm>
            <a:off x="602980" y="2725153"/>
            <a:ext cx="1042577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</p:sp>
      <p:cxnSp>
        <p:nvCxnSpPr>
          <p:cNvPr id="47" name="native PowerPoint connector">
            <a:extLst>
              <a:ext uri="{FF2B5EF4-FFF2-40B4-BE49-F238E27FC236}">
                <ns2:creationId id="{349990B8-C1E9-4B57-A919-793E5198AAA4}"/>
              </a:ext>
            </a:extLst>
          </p:cNvPr>
          <p:cNvCxnSpPr/>
          <p:nvPr/>
        </p:nvCxnSpPr>
        <p:spPr>
          <a:xfrm flipH="0" flipV="0">
            <a:off x="602980" y="3017625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48" name="0.1">
            <a:extLst>
              <a:ext uri="{FF2B5EF4-FFF2-40B4-BE49-F238E27FC236}">
                <ns2:creationId id="{2B2F9DF1-79D4-46A8-A4B1-77C43D307805}"/>
              </a:ext>
            </a:extLst>
          </p:cNvPr>
          <p:cNvSpPr>
            <a:spLocks noGrp="1"/>
          </p:cNvSpPr>
          <p:nvPr/>
        </p:nvSpPr>
        <p:spPr>
          <a:xfrm>
            <a:off x="427497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49" name="native PowerPoint connector">
            <a:extLst>
              <a:ext uri="{FF2B5EF4-FFF2-40B4-BE49-F238E27FC236}">
                <ns2:creationId id="{3E69A562-E98D-4029-B01D-52CE79A67D56}"/>
              </a:ext>
            </a:extLst>
          </p:cNvPr>
          <p:cNvCxnSpPr/>
          <p:nvPr/>
        </p:nvCxnSpPr>
        <p:spPr>
          <a:xfrm flipH="0" flipV="0">
            <a:off x="602980" y="2871389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0" name="0.2">
            <a:extLst>
              <a:ext uri="{FF2B5EF4-FFF2-40B4-BE49-F238E27FC236}">
                <ns2:creationId id="{A35300C9-1767-4D35-BCE7-79880B867EFF}"/>
              </a:ext>
            </a:extLst>
          </p:cNvPr>
          <p:cNvSpPr>
            <a:spLocks noGrp="1"/>
          </p:cNvSpPr>
          <p:nvPr/>
        </p:nvSpPr>
        <p:spPr>
          <a:xfrm>
            <a:off x="427497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51" name="native PowerPoint connector">
            <a:extLst>
              <a:ext uri="{FF2B5EF4-FFF2-40B4-BE49-F238E27FC236}">
                <ns2:creationId id="{1208B4A4-51F6-46AC-B698-B0A67A3181BF}"/>
              </a:ext>
            </a:extLst>
          </p:cNvPr>
          <p:cNvCxnSpPr/>
          <p:nvPr/>
        </p:nvCxnSpPr>
        <p:spPr>
          <a:xfrm flipH="0" flipV="0">
            <a:off x="602980" y="2725153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2" name="0.3">
            <a:extLst>
              <a:ext uri="{FF2B5EF4-FFF2-40B4-BE49-F238E27FC236}">
                <ns2:creationId id="{09226937-ED06-471E-9C50-9D432578C946}"/>
              </a:ext>
            </a:extLst>
          </p:cNvPr>
          <p:cNvSpPr>
            <a:spLocks noGrp="1"/>
          </p:cNvSpPr>
          <p:nvPr/>
        </p:nvSpPr>
        <p:spPr>
          <a:xfrm>
            <a:off x="427497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53" name="native PowerPoint connector">
            <a:extLst>
              <a:ext uri="{FF2B5EF4-FFF2-40B4-BE49-F238E27FC236}">
                <ns2:creationId id="{9A11F7D8-677E-4928-B60D-84DC46EB3879}"/>
              </a:ext>
            </a:extLst>
          </p:cNvPr>
          <p:cNvCxnSpPr/>
          <p:nvPr/>
        </p:nvCxnSpPr>
        <p:spPr>
          <a:xfrm flipH="0" flipV="0">
            <a:off x="602980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54" name="native PowerPoint connector">
            <a:extLst>
              <a:ext uri="{FF2B5EF4-FFF2-40B4-BE49-F238E27FC236}">
                <ns2:creationId id="{C9F46859-CA25-4D0D-B635-FB1E42D662B9}"/>
              </a:ext>
            </a:extLst>
          </p:cNvPr>
          <p:cNvCxnSpPr/>
          <p:nvPr/>
        </p:nvCxnSpPr>
        <p:spPr>
          <a:xfrm flipH="0" flipV="0">
            <a:off x="602980" y="3163861"/>
            <a:ext cx="1042577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55" name="0.0">
            <a:extLst>
              <a:ext uri="{FF2B5EF4-FFF2-40B4-BE49-F238E27FC236}">
                <ns2:creationId id="{8E3E75DD-F6D1-4431-8149-06B9558A1675}"/>
              </a:ext>
            </a:extLst>
          </p:cNvPr>
          <p:cNvSpPr>
            <a:spLocks noGrp="1"/>
          </p:cNvSpPr>
          <p:nvPr/>
        </p:nvSpPr>
        <p:spPr>
          <a:xfrm>
            <a:off x="427497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56" name="diagram block">
            <a:extLst>
              <a:ext uri="{FF2B5EF4-FFF2-40B4-BE49-F238E27FC236}">
                <ns2:creationId id="{2E2EE546-BF49-4F4A-AC54-7C186EF40EB5}"/>
              </a:ext>
            </a:extLst>
          </p:cNvPr>
          <p:cNvSpPr>
            <a:spLocks noGrp="1"/>
          </p:cNvSpPr>
          <p:nvPr/>
        </p:nvSpPr>
        <p:spPr>
          <a:xfrm>
            <a:off x="610722" y="3161229"/>
            <a:ext cx="49677" cy="2632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57" name="native PowerPoint connector">
            <a:extLst>
              <a:ext uri="{FF2B5EF4-FFF2-40B4-BE49-F238E27FC236}">
                <ns2:creationId id="{48CCEEA1-AFF9-478C-866B-A94387A9F422}"/>
              </a:ext>
            </a:extLst>
          </p:cNvPr>
          <p:cNvCxnSpPr/>
          <p:nvPr/>
        </p:nvCxnSpPr>
        <p:spPr>
          <a:xfrm flipH="0" flipV="0">
            <a:off x="63556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58" name="diagram block">
            <a:extLst>
              <a:ext uri="{FF2B5EF4-FFF2-40B4-BE49-F238E27FC236}">
                <ns2:creationId id="{60D9B758-1CB4-4327-B27B-78F03BDE8B14}"/>
              </a:ext>
            </a:extLst>
          </p:cNvPr>
          <p:cNvSpPr>
            <a:spLocks noGrp="1"/>
          </p:cNvSpPr>
          <p:nvPr/>
        </p:nvSpPr>
        <p:spPr>
          <a:xfrm>
            <a:off x="675883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59" name="native PowerPoint connector">
            <a:extLst>
              <a:ext uri="{FF2B5EF4-FFF2-40B4-BE49-F238E27FC236}">
                <ns2:creationId id="{16D54074-D238-4EC1-814B-B995B358DF71}"/>
              </a:ext>
            </a:extLst>
          </p:cNvPr>
          <p:cNvCxnSpPr/>
          <p:nvPr/>
        </p:nvCxnSpPr>
        <p:spPr>
          <a:xfrm flipH="0" flipV="0">
            <a:off x="70072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0" name="diagram block">
            <a:extLst>
              <a:ext uri="{FF2B5EF4-FFF2-40B4-BE49-F238E27FC236}">
                <ns2:creationId id="{0632BA63-F36D-458F-A3DC-3B2BFBEC9FDF}"/>
              </a:ext>
            </a:extLst>
          </p:cNvPr>
          <p:cNvSpPr>
            <a:spLocks noGrp="1"/>
          </p:cNvSpPr>
          <p:nvPr/>
        </p:nvSpPr>
        <p:spPr>
          <a:xfrm>
            <a:off x="741044" y="3151577"/>
            <a:ext cx="49677" cy="122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1" name="native PowerPoint connector">
            <a:extLst>
              <a:ext uri="{FF2B5EF4-FFF2-40B4-BE49-F238E27FC236}">
                <ns2:creationId id="{E864356A-D085-47B8-B6D2-3930E4159F28}"/>
              </a:ext>
            </a:extLst>
          </p:cNvPr>
          <p:cNvCxnSpPr/>
          <p:nvPr/>
        </p:nvCxnSpPr>
        <p:spPr>
          <a:xfrm flipH="0" flipV="0">
            <a:off x="76588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2" name="diagram block">
            <a:extLst>
              <a:ext uri="{FF2B5EF4-FFF2-40B4-BE49-F238E27FC236}">
                <ns2:creationId id="{083DA0F7-E0C1-4E1E-8ED8-1038B7A7E0DE}"/>
              </a:ext>
            </a:extLst>
          </p:cNvPr>
          <p:cNvSpPr>
            <a:spLocks noGrp="1"/>
          </p:cNvSpPr>
          <p:nvPr/>
        </p:nvSpPr>
        <p:spPr>
          <a:xfrm>
            <a:off x="806206" y="3139732"/>
            <a:ext cx="49677" cy="24129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3" name="native PowerPoint connector">
            <a:extLst>
              <a:ext uri="{FF2B5EF4-FFF2-40B4-BE49-F238E27FC236}">
                <ns2:creationId id="{DC71877C-2BE4-4A9F-A5A2-ED7DE83184B7}"/>
              </a:ext>
            </a:extLst>
          </p:cNvPr>
          <p:cNvCxnSpPr/>
          <p:nvPr/>
        </p:nvCxnSpPr>
        <p:spPr>
          <a:xfrm flipH="0" flipV="0">
            <a:off x="8310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4" name="diagram block">
            <a:extLst>
              <a:ext uri="{FF2B5EF4-FFF2-40B4-BE49-F238E27FC236}">
                <ns2:creationId id="{2AA3AE79-B0AE-441C-BA5B-C904E00B2BFE}"/>
              </a:ext>
            </a:extLst>
          </p:cNvPr>
          <p:cNvSpPr>
            <a:spLocks noGrp="1"/>
          </p:cNvSpPr>
          <p:nvPr/>
        </p:nvSpPr>
        <p:spPr>
          <a:xfrm>
            <a:off x="871367" y="3119990"/>
            <a:ext cx="49677" cy="43871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5" name="native PowerPoint connector">
            <a:extLst>
              <a:ext uri="{FF2B5EF4-FFF2-40B4-BE49-F238E27FC236}">
                <ns2:creationId id="{1A7AF256-3A99-492D-B220-C7179E8253F1}"/>
              </a:ext>
            </a:extLst>
          </p:cNvPr>
          <p:cNvCxnSpPr/>
          <p:nvPr/>
        </p:nvCxnSpPr>
        <p:spPr>
          <a:xfrm flipH="0" flipV="0">
            <a:off x="8962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6" name="diagram block">
            <a:extLst>
              <a:ext uri="{FF2B5EF4-FFF2-40B4-BE49-F238E27FC236}">
                <ns2:creationId id="{88737209-66C5-4C2A-B04F-FFFFB86C22BC}"/>
              </a:ext>
            </a:extLst>
          </p:cNvPr>
          <p:cNvSpPr>
            <a:spLocks noGrp="1"/>
          </p:cNvSpPr>
          <p:nvPr/>
        </p:nvSpPr>
        <p:spPr>
          <a:xfrm>
            <a:off x="936528" y="3093668"/>
            <a:ext cx="49677" cy="70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7" name="native PowerPoint connector">
            <a:extLst>
              <a:ext uri="{FF2B5EF4-FFF2-40B4-BE49-F238E27FC236}">
                <ns2:creationId id="{A29C2354-AC2B-4A9E-8102-BADBC2143682}"/>
              </a:ext>
            </a:extLst>
          </p:cNvPr>
          <p:cNvCxnSpPr/>
          <p:nvPr/>
        </p:nvCxnSpPr>
        <p:spPr>
          <a:xfrm flipH="0" flipV="0">
            <a:off x="96136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8" name="diagram block">
            <a:extLst>
              <a:ext uri="{FF2B5EF4-FFF2-40B4-BE49-F238E27FC236}">
                <ns2:creationId id="{B2E3B5A6-38BA-4B9F-8F89-3D92D81C16E9}"/>
              </a:ext>
            </a:extLst>
          </p:cNvPr>
          <p:cNvSpPr>
            <a:spLocks noGrp="1"/>
          </p:cNvSpPr>
          <p:nvPr/>
        </p:nvSpPr>
        <p:spPr>
          <a:xfrm>
            <a:off x="1001689" y="3041023"/>
            <a:ext cx="49677" cy="122838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9" name="native PowerPoint connector">
            <a:extLst>
              <a:ext uri="{FF2B5EF4-FFF2-40B4-BE49-F238E27FC236}">
                <ns2:creationId id="{20FB9F4E-07AF-48EA-9F2A-F0FD9BA1584F}"/>
              </a:ext>
            </a:extLst>
          </p:cNvPr>
          <p:cNvCxnSpPr/>
          <p:nvPr/>
        </p:nvCxnSpPr>
        <p:spPr>
          <a:xfrm flipH="0" flipV="0">
            <a:off x="102652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0" name="diagram block">
            <a:extLst>
              <a:ext uri="{FF2B5EF4-FFF2-40B4-BE49-F238E27FC236}">
                <ns2:creationId id="{6D3E3118-5669-4CE9-A13A-463C5110B892}"/>
              </a:ext>
            </a:extLst>
          </p:cNvPr>
          <p:cNvSpPr>
            <a:spLocks noGrp="1"/>
          </p:cNvSpPr>
          <p:nvPr/>
        </p:nvSpPr>
        <p:spPr>
          <a:xfrm>
            <a:off x="1066850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1" name="native PowerPoint connector">
            <a:extLst>
              <a:ext uri="{FF2B5EF4-FFF2-40B4-BE49-F238E27FC236}">
                <ns2:creationId id="{DA8DF2E1-A379-433F-BD11-5267CDB61CB6}"/>
              </a:ext>
            </a:extLst>
          </p:cNvPr>
          <p:cNvCxnSpPr/>
          <p:nvPr/>
        </p:nvCxnSpPr>
        <p:spPr>
          <a:xfrm flipH="0" flipV="0">
            <a:off x="109168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2" name="diagram block">
            <a:extLst>
              <a:ext uri="{FF2B5EF4-FFF2-40B4-BE49-F238E27FC236}">
                <ns2:creationId id="{4FBC1E7B-FB3E-469D-BB64-DBEBFAE52C94}"/>
              </a:ext>
            </a:extLst>
          </p:cNvPr>
          <p:cNvSpPr>
            <a:spLocks noGrp="1"/>
          </p:cNvSpPr>
          <p:nvPr/>
        </p:nvSpPr>
        <p:spPr>
          <a:xfrm>
            <a:off x="1132011" y="2856765"/>
            <a:ext cx="49677" cy="30709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3" name="native PowerPoint connector">
            <a:extLst>
              <a:ext uri="{FF2B5EF4-FFF2-40B4-BE49-F238E27FC236}">
                <ns2:creationId id="{C044BA91-039F-4F07-B099-726A8DFACEF8}"/>
              </a:ext>
            </a:extLst>
          </p:cNvPr>
          <p:cNvCxnSpPr/>
          <p:nvPr/>
        </p:nvCxnSpPr>
        <p:spPr>
          <a:xfrm flipH="0" flipV="0">
            <a:off x="115685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4" name="diagram block">
            <a:extLst>
              <a:ext uri="{FF2B5EF4-FFF2-40B4-BE49-F238E27FC236}">
                <ns2:creationId id="{BE619DAA-B658-4E61-9CF2-58D85A5DDF51}"/>
              </a:ext>
            </a:extLst>
          </p:cNvPr>
          <p:cNvSpPr>
            <a:spLocks noGrp="1"/>
          </p:cNvSpPr>
          <p:nvPr/>
        </p:nvSpPr>
        <p:spPr>
          <a:xfrm>
            <a:off x="1197172" y="2773411"/>
            <a:ext cx="49677" cy="390450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5" name="native PowerPoint connector">
            <a:extLst>
              <a:ext uri="{FF2B5EF4-FFF2-40B4-BE49-F238E27FC236}">
                <ns2:creationId id="{AAA9518A-DA60-483B-81A8-E478D7B3D0BC}"/>
              </a:ext>
            </a:extLst>
          </p:cNvPr>
          <p:cNvCxnSpPr/>
          <p:nvPr/>
        </p:nvCxnSpPr>
        <p:spPr>
          <a:xfrm flipH="0" flipV="0">
            <a:off x="122201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6" name="diagram block">
            <a:extLst>
              <a:ext uri="{FF2B5EF4-FFF2-40B4-BE49-F238E27FC236}">
                <ns2:creationId id="{03FFE9CC-63E5-4039-BA95-AA0263AF45CF}"/>
              </a:ext>
            </a:extLst>
          </p:cNvPr>
          <p:cNvSpPr>
            <a:spLocks noGrp="1"/>
          </p:cNvSpPr>
          <p:nvPr/>
        </p:nvSpPr>
        <p:spPr>
          <a:xfrm>
            <a:off x="1262333" y="2826056"/>
            <a:ext cx="49677" cy="337805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7" name="native PowerPoint connector">
            <a:extLst>
              <a:ext uri="{FF2B5EF4-FFF2-40B4-BE49-F238E27FC236}">
                <ns2:creationId id="{837BFF51-8203-4961-BEEA-E7D1CCF8B759}"/>
              </a:ext>
            </a:extLst>
          </p:cNvPr>
          <p:cNvCxnSpPr/>
          <p:nvPr/>
        </p:nvCxnSpPr>
        <p:spPr>
          <a:xfrm flipH="0" flipV="0">
            <a:off x="128717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8" name="diagram block">
            <a:extLst>
              <a:ext uri="{FF2B5EF4-FFF2-40B4-BE49-F238E27FC236}">
                <ns2:creationId id="{74CBBE57-ACFA-4B67-88A0-F1058E93ECBB}"/>
              </a:ext>
            </a:extLst>
          </p:cNvPr>
          <p:cNvSpPr>
            <a:spLocks noGrp="1"/>
          </p:cNvSpPr>
          <p:nvPr/>
        </p:nvSpPr>
        <p:spPr>
          <a:xfrm>
            <a:off x="1327494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9" name="native PowerPoint connector">
            <a:extLst>
              <a:ext uri="{FF2B5EF4-FFF2-40B4-BE49-F238E27FC236}">
                <ns2:creationId id="{26104914-6BA3-4EE6-BECF-576023447508}"/>
              </a:ext>
            </a:extLst>
          </p:cNvPr>
          <p:cNvCxnSpPr/>
          <p:nvPr/>
        </p:nvCxnSpPr>
        <p:spPr>
          <a:xfrm flipH="0" flipV="0">
            <a:off x="135233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0" name="diagram block">
            <a:extLst>
              <a:ext uri="{FF2B5EF4-FFF2-40B4-BE49-F238E27FC236}">
                <ns2:creationId id="{BFCB32F0-A4C8-4292-B323-3D4E85631980}"/>
              </a:ext>
            </a:extLst>
          </p:cNvPr>
          <p:cNvSpPr>
            <a:spLocks noGrp="1"/>
          </p:cNvSpPr>
          <p:nvPr/>
        </p:nvSpPr>
        <p:spPr>
          <a:xfrm>
            <a:off x="1392655" y="3067345"/>
            <a:ext cx="49677" cy="9651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1" name="native PowerPoint connector">
            <a:extLst>
              <a:ext uri="{FF2B5EF4-FFF2-40B4-BE49-F238E27FC236}">
                <ns2:creationId id="{87CF1CD3-FDB3-483E-B96F-BE662D498291}"/>
              </a:ext>
            </a:extLst>
          </p:cNvPr>
          <p:cNvCxnSpPr/>
          <p:nvPr/>
        </p:nvCxnSpPr>
        <p:spPr>
          <a:xfrm flipH="0" flipV="0">
            <a:off x="141749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2" name="diagram block">
            <a:extLst>
              <a:ext uri="{FF2B5EF4-FFF2-40B4-BE49-F238E27FC236}">
                <ns2:creationId id="{926159FF-593B-489B-B7DC-7071965E3D5F}"/>
              </a:ext>
            </a:extLst>
          </p:cNvPr>
          <p:cNvSpPr>
            <a:spLocks noGrp="1"/>
          </p:cNvSpPr>
          <p:nvPr/>
        </p:nvSpPr>
        <p:spPr>
          <a:xfrm>
            <a:off x="1457816" y="3124377"/>
            <a:ext cx="49677" cy="394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3" name="native PowerPoint connector">
            <a:extLst>
              <a:ext uri="{FF2B5EF4-FFF2-40B4-BE49-F238E27FC236}">
                <ns2:creationId id="{76D167DC-A158-46A2-B449-C996191B6F0F}"/>
              </a:ext>
            </a:extLst>
          </p:cNvPr>
          <p:cNvCxnSpPr/>
          <p:nvPr/>
        </p:nvCxnSpPr>
        <p:spPr>
          <a:xfrm flipH="0" flipV="0">
            <a:off x="148265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4" name="diagram block">
            <a:extLst>
              <a:ext uri="{FF2B5EF4-FFF2-40B4-BE49-F238E27FC236}">
                <ns2:creationId id="{DDEA0189-80D6-4E66-89C5-81349F4195FC}"/>
              </a:ext>
            </a:extLst>
          </p:cNvPr>
          <p:cNvSpPr>
            <a:spLocks noGrp="1"/>
          </p:cNvSpPr>
          <p:nvPr/>
        </p:nvSpPr>
        <p:spPr>
          <a:xfrm>
            <a:off x="1522977" y="3148067"/>
            <a:ext cx="49677" cy="157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5" name="native PowerPoint connector">
            <a:extLst>
              <a:ext uri="{FF2B5EF4-FFF2-40B4-BE49-F238E27FC236}">
                <ns2:creationId id="{C1FEA5E9-6312-49C5-89BF-71D47854D1FD}"/>
              </a:ext>
            </a:extLst>
          </p:cNvPr>
          <p:cNvCxnSpPr/>
          <p:nvPr/>
        </p:nvCxnSpPr>
        <p:spPr>
          <a:xfrm flipH="0" flipV="0">
            <a:off x="154781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6" name="diagram block">
            <a:extLst>
              <a:ext uri="{FF2B5EF4-FFF2-40B4-BE49-F238E27FC236}">
                <ns2:creationId id="{29D39F7B-45F8-4548-B90B-25F164952A92}"/>
              </a:ext>
            </a:extLst>
          </p:cNvPr>
          <p:cNvSpPr>
            <a:spLocks noGrp="1"/>
          </p:cNvSpPr>
          <p:nvPr/>
        </p:nvSpPr>
        <p:spPr>
          <a:xfrm>
            <a:off x="1588139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7" name="native PowerPoint connector">
            <a:extLst>
              <a:ext uri="{FF2B5EF4-FFF2-40B4-BE49-F238E27FC236}">
                <ns2:creationId id="{4CCC371B-9EA3-4833-BADA-5BAA83EEAB55}"/>
              </a:ext>
            </a:extLst>
          </p:cNvPr>
          <p:cNvCxnSpPr/>
          <p:nvPr/>
        </p:nvCxnSpPr>
        <p:spPr>
          <a:xfrm flipH="0" flipV="0">
            <a:off x="161297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8" name="1">
            <a:extLst>
              <a:ext uri="{FF2B5EF4-FFF2-40B4-BE49-F238E27FC236}">
                <ns2:creationId id="{2A1CB333-E793-4E41-B36C-B185C3F89E40}"/>
              </a:ext>
            </a:extLst>
          </p:cNvPr>
          <p:cNvSpPr>
            <a:spLocks noGrp="1"/>
          </p:cNvSpPr>
          <p:nvPr/>
        </p:nvSpPr>
        <p:spPr>
          <a:xfrm>
            <a:off x="577174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9" name="4">
            <a:extLst>
              <a:ext uri="{FF2B5EF4-FFF2-40B4-BE49-F238E27FC236}">
                <ns2:creationId id="{242674D1-E80D-42D6-AD06-BF1104B04B80}"/>
              </a:ext>
            </a:extLst>
          </p:cNvPr>
          <p:cNvSpPr>
            <a:spLocks noGrp="1"/>
          </p:cNvSpPr>
          <p:nvPr/>
        </p:nvSpPr>
        <p:spPr>
          <a:xfrm>
            <a:off x="7726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0" name="8">
            <a:extLst>
              <a:ext uri="{FF2B5EF4-FFF2-40B4-BE49-F238E27FC236}">
                <ns2:creationId id="{6B861E0D-9F75-454B-B745-5BB13CCE61BB}"/>
              </a:ext>
            </a:extLst>
          </p:cNvPr>
          <p:cNvSpPr>
            <a:spLocks noGrp="1"/>
          </p:cNvSpPr>
          <p:nvPr/>
        </p:nvSpPr>
        <p:spPr>
          <a:xfrm>
            <a:off x="1033302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91" name="12">
            <a:extLst>
              <a:ext uri="{FF2B5EF4-FFF2-40B4-BE49-F238E27FC236}">
                <ns2:creationId id="{4584741A-BA55-463F-ADCE-23DDC07623E7}"/>
              </a:ext>
            </a:extLst>
          </p:cNvPr>
          <p:cNvSpPr>
            <a:spLocks noGrp="1"/>
          </p:cNvSpPr>
          <p:nvPr/>
        </p:nvSpPr>
        <p:spPr>
          <a:xfrm>
            <a:off x="1293946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92" name="16">
            <a:extLst>
              <a:ext uri="{FF2B5EF4-FFF2-40B4-BE49-F238E27FC236}">
                <ns2:creationId id="{E41FC3F9-7E35-48BC-BC97-9B2F8A5A45C3}"/>
              </a:ext>
            </a:extLst>
          </p:cNvPr>
          <p:cNvSpPr>
            <a:spLocks noGrp="1"/>
          </p:cNvSpPr>
          <p:nvPr/>
        </p:nvSpPr>
        <p:spPr>
          <a:xfrm>
            <a:off x="1554590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93" name="Bin index">
            <a:extLst>
              <a:ext uri="{FF2B5EF4-FFF2-40B4-BE49-F238E27FC236}">
                <ns2:creationId id="{1F87A511-5614-4CA2-89A9-F3805A24AED7}"/>
              </a:ext>
            </a:extLst>
          </p:cNvPr>
          <p:cNvSpPr>
            <a:spLocks noGrp="1"/>
          </p:cNvSpPr>
          <p:nvPr/>
        </p:nvSpPr>
        <p:spPr>
          <a:xfrm>
            <a:off x="835238" y="3323860"/>
            <a:ext cx="603869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94" name="Probability">
            <a:extLst>
              <a:ext uri="{FF2B5EF4-FFF2-40B4-BE49-F238E27FC236}">
                <ns2:creationId id="{BC370D19-A947-4BE4-BD4F-BA7163C80E31}"/>
              </a:ext>
            </a:extLst>
          </p:cNvPr>
          <p:cNvSpPr>
            <a:spLocks noGrp="1"/>
          </p:cNvSpPr>
          <p:nvPr/>
        </p:nvSpPr>
        <p:spPr>
          <a:xfrm rot="16200000">
            <a:off x="102337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95" name="diagram block">
            <a:extLst>
              <a:ext uri="{FF2B5EF4-FFF2-40B4-BE49-F238E27FC236}">
                <ns2:creationId id="{CCD3CEA4-68ED-4920-A64D-73D88D369BB3}"/>
              </a:ext>
            </a:extLst>
          </p:cNvPr>
          <p:cNvSpPr>
            <a:spLocks noGrp="1"/>
          </p:cNvSpPr>
          <p:nvPr/>
        </p:nvSpPr>
        <p:spPr>
          <a:xfrm>
            <a:off x="2001686" y="2725153"/>
            <a:ext cx="1037416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</p:sp>
      <p:cxnSp>
        <p:nvCxnSpPr>
          <p:cNvPr id="96" name="native PowerPoint connector">
            <a:extLst>
              <a:ext uri="{FF2B5EF4-FFF2-40B4-BE49-F238E27FC236}">
                <ns2:creationId id="{55BB8DAC-2B20-4557-B565-DCCD0424B89E}"/>
              </a:ext>
            </a:extLst>
          </p:cNvPr>
          <p:cNvCxnSpPr/>
          <p:nvPr/>
        </p:nvCxnSpPr>
        <p:spPr>
          <a:xfrm flipH="0" flipV="0">
            <a:off x="2001686" y="3017625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7" name="0.1">
            <a:extLst>
              <a:ext uri="{FF2B5EF4-FFF2-40B4-BE49-F238E27FC236}">
                <ns2:creationId id="{BE9A7BCF-72E2-45FF-8535-8980038AF92F}"/>
              </a:ext>
            </a:extLst>
          </p:cNvPr>
          <p:cNvSpPr>
            <a:spLocks noGrp="1"/>
          </p:cNvSpPr>
          <p:nvPr/>
        </p:nvSpPr>
        <p:spPr>
          <a:xfrm>
            <a:off x="1826202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cxnSp>
        <p:nvCxnSpPr>
          <p:cNvPr id="98" name="native PowerPoint connector">
            <a:extLst>
              <a:ext uri="{FF2B5EF4-FFF2-40B4-BE49-F238E27FC236}">
                <ns2:creationId id="{AECCE57C-E207-4F9F-AEA8-4CC2F36B4C46}"/>
              </a:ext>
            </a:extLst>
          </p:cNvPr>
          <p:cNvCxnSpPr/>
          <p:nvPr/>
        </p:nvCxnSpPr>
        <p:spPr>
          <a:xfrm flipH="0" flipV="0">
            <a:off x="2001686" y="2871389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9" name="0.2">
            <a:extLst>
              <a:ext uri="{FF2B5EF4-FFF2-40B4-BE49-F238E27FC236}">
                <ns2:creationId id="{5146B78B-8B5B-48CD-B02B-FF0E1A6D220D}"/>
              </a:ext>
            </a:extLst>
          </p:cNvPr>
          <p:cNvSpPr>
            <a:spLocks noGrp="1"/>
          </p:cNvSpPr>
          <p:nvPr/>
        </p:nvSpPr>
        <p:spPr>
          <a:xfrm>
            <a:off x="1826202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cxnSp>
        <p:nvCxnSpPr>
          <p:cNvPr id="100" name="native PowerPoint connector">
            <a:extLst>
              <a:ext uri="{FF2B5EF4-FFF2-40B4-BE49-F238E27FC236}">
                <ns2:creationId id="{CE22F70D-957C-49BC-A354-D69A352943AE}"/>
              </a:ext>
            </a:extLst>
          </p:cNvPr>
          <p:cNvCxnSpPr/>
          <p:nvPr/>
        </p:nvCxnSpPr>
        <p:spPr>
          <a:xfrm flipH="0" flipV="0">
            <a:off x="2001686" y="2725153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101" name="0.3">
            <a:extLst>
              <a:ext uri="{FF2B5EF4-FFF2-40B4-BE49-F238E27FC236}">
                <ns2:creationId id="{D73A54FD-9999-4054-9B29-7E8AFF17C6D9}"/>
              </a:ext>
            </a:extLst>
          </p:cNvPr>
          <p:cNvSpPr>
            <a:spLocks noGrp="1"/>
          </p:cNvSpPr>
          <p:nvPr/>
        </p:nvSpPr>
        <p:spPr>
          <a:xfrm>
            <a:off x="1826202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102" name="native PowerPoint connector">
            <a:extLst>
              <a:ext uri="{FF2B5EF4-FFF2-40B4-BE49-F238E27FC236}">
                <ns2:creationId id="{308DC787-CA54-4B99-BB7A-02329B9BCD96}"/>
              </a:ext>
            </a:extLst>
          </p:cNvPr>
          <p:cNvCxnSpPr/>
          <p:nvPr/>
        </p:nvCxnSpPr>
        <p:spPr>
          <a:xfrm flipH="0" flipV="0">
            <a:off x="2001686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103" name="native PowerPoint connector">
            <a:extLst>
              <a:ext uri="{FF2B5EF4-FFF2-40B4-BE49-F238E27FC236}">
                <ns2:creationId id="{DD621231-1599-4833-8408-3A9EE70636C7}"/>
              </a:ext>
            </a:extLst>
          </p:cNvPr>
          <p:cNvCxnSpPr/>
          <p:nvPr/>
        </p:nvCxnSpPr>
        <p:spPr>
          <a:xfrm flipH="0" flipV="0">
            <a:off x="2001686" y="3163861"/>
            <a:ext cx="1037416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104" name="0.0">
            <a:extLst>
              <a:ext uri="{FF2B5EF4-FFF2-40B4-BE49-F238E27FC236}">
                <ns2:creationId id="{00E3D20D-1714-4341-B8AB-EF62B7B647C4}"/>
              </a:ext>
            </a:extLst>
          </p:cNvPr>
          <p:cNvSpPr>
            <a:spLocks noGrp="1"/>
          </p:cNvSpPr>
          <p:nvPr/>
        </p:nvSpPr>
        <p:spPr>
          <a:xfrm>
            <a:off x="1826202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105" name="diagram block">
            <a:extLst>
              <a:ext uri="{FF2B5EF4-FFF2-40B4-BE49-F238E27FC236}">
                <ns2:creationId id="{43EC301D-9586-4841-9C39-28BC7AB766F3}"/>
              </a:ext>
            </a:extLst>
          </p:cNvPr>
          <p:cNvSpPr>
            <a:spLocks noGrp="1"/>
          </p:cNvSpPr>
          <p:nvPr/>
        </p:nvSpPr>
        <p:spPr>
          <a:xfrm>
            <a:off x="2009427" y="3160790"/>
            <a:ext cx="49355" cy="307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06" name="native PowerPoint connector">
            <a:extLst>
              <a:ext uri="{FF2B5EF4-FFF2-40B4-BE49-F238E27FC236}">
                <ns2:creationId id="{FE09983E-8B41-4563-AA35-92E9D5390D4A}"/>
              </a:ext>
            </a:extLst>
          </p:cNvPr>
          <p:cNvCxnSpPr/>
          <p:nvPr/>
        </p:nvCxnSpPr>
        <p:spPr>
          <a:xfrm flipH="0" flipV="0">
            <a:off x="20341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7" name="diagram block">
            <a:extLst>
              <a:ext uri="{FF2B5EF4-FFF2-40B4-BE49-F238E27FC236}">
                <ns2:creationId id="{13FAD47F-15AF-43AF-8AAD-25855BD83CDA}"/>
              </a:ext>
            </a:extLst>
          </p:cNvPr>
          <p:cNvSpPr>
            <a:spLocks noGrp="1"/>
          </p:cNvSpPr>
          <p:nvPr/>
        </p:nvSpPr>
        <p:spPr>
          <a:xfrm>
            <a:off x="2074266" y="3155964"/>
            <a:ext cx="49355" cy="78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08" name="native PowerPoint connector">
            <a:extLst>
              <a:ext uri="{FF2B5EF4-FFF2-40B4-BE49-F238E27FC236}">
                <ns2:creationId id="{4B754C80-83E8-430B-982B-7AD119D42E64}"/>
              </a:ext>
            </a:extLst>
          </p:cNvPr>
          <p:cNvCxnSpPr/>
          <p:nvPr/>
        </p:nvCxnSpPr>
        <p:spPr>
          <a:xfrm flipH="0" flipV="0">
            <a:off x="209894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9" name="diagram block">
            <a:extLst>
              <a:ext uri="{FF2B5EF4-FFF2-40B4-BE49-F238E27FC236}">
                <ns2:creationId id="{FA42FA3D-1998-4DE4-BBC3-3DD0D05A2811}"/>
              </a:ext>
            </a:extLst>
          </p:cNvPr>
          <p:cNvSpPr>
            <a:spLocks noGrp="1"/>
          </p:cNvSpPr>
          <p:nvPr/>
        </p:nvSpPr>
        <p:spPr>
          <a:xfrm>
            <a:off x="2139105" y="3145435"/>
            <a:ext cx="49355" cy="18426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0" name="native PowerPoint connector">
            <a:extLst>
              <a:ext uri="{FF2B5EF4-FFF2-40B4-BE49-F238E27FC236}">
                <ns2:creationId id="{FF1706F9-80E6-41FF-B8A5-C714679D68B0}"/>
              </a:ext>
            </a:extLst>
          </p:cNvPr>
          <p:cNvCxnSpPr/>
          <p:nvPr/>
        </p:nvCxnSpPr>
        <p:spPr>
          <a:xfrm flipH="0" flipV="0">
            <a:off x="21637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1" name="diagram block">
            <a:extLst>
              <a:ext uri="{FF2B5EF4-FFF2-40B4-BE49-F238E27FC236}">
                <ns2:creationId id="{418FA027-D635-42D2-AE72-3D269DA84FDC}"/>
              </a:ext>
            </a:extLst>
          </p:cNvPr>
          <p:cNvSpPr>
            <a:spLocks noGrp="1"/>
          </p:cNvSpPr>
          <p:nvPr/>
        </p:nvSpPr>
        <p:spPr>
          <a:xfrm>
            <a:off x="2203943" y="3124377"/>
            <a:ext cx="49355" cy="39484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2" name="native PowerPoint connector">
            <a:extLst>
              <a:ext uri="{FF2B5EF4-FFF2-40B4-BE49-F238E27FC236}">
                <ns2:creationId id="{9929CC14-148A-41F1-98FA-03F2680FE7ED}"/>
              </a:ext>
            </a:extLst>
          </p:cNvPr>
          <p:cNvCxnSpPr/>
          <p:nvPr/>
        </p:nvCxnSpPr>
        <p:spPr>
          <a:xfrm flipH="0" flipV="0">
            <a:off x="222862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3" name="diagram block">
            <a:extLst>
              <a:ext uri="{FF2B5EF4-FFF2-40B4-BE49-F238E27FC236}">
                <ns2:creationId id="{0D456C2C-FB01-468B-8B41-D50EFB62B165}"/>
              </a:ext>
            </a:extLst>
          </p:cNvPr>
          <p:cNvSpPr>
            <a:spLocks noGrp="1"/>
          </p:cNvSpPr>
          <p:nvPr/>
        </p:nvSpPr>
        <p:spPr>
          <a:xfrm>
            <a:off x="2268782" y="3084893"/>
            <a:ext cx="49355" cy="7896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4" name="native PowerPoint connector">
            <a:extLst>
              <a:ext uri="{FF2B5EF4-FFF2-40B4-BE49-F238E27FC236}">
                <ns2:creationId id="{42E19791-018D-4690-98D6-197012116FBB}"/>
              </a:ext>
            </a:extLst>
          </p:cNvPr>
          <p:cNvCxnSpPr/>
          <p:nvPr/>
        </p:nvCxnSpPr>
        <p:spPr>
          <a:xfrm flipH="0" flipV="0">
            <a:off x="2293459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5" name="diagram block">
            <a:extLst>
              <a:ext uri="{FF2B5EF4-FFF2-40B4-BE49-F238E27FC236}">
                <ns2:creationId id="{B4E57229-AA13-4130-A897-953349F3581C}"/>
              </a:ext>
            </a:extLst>
          </p:cNvPr>
          <p:cNvSpPr>
            <a:spLocks noGrp="1"/>
          </p:cNvSpPr>
          <p:nvPr/>
        </p:nvSpPr>
        <p:spPr>
          <a:xfrm>
            <a:off x="2333620" y="3010313"/>
            <a:ext cx="49355" cy="153548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6" name="native PowerPoint connector">
            <a:extLst>
              <a:ext uri="{FF2B5EF4-FFF2-40B4-BE49-F238E27FC236}">
                <ns2:creationId id="{929D11A6-F713-4F1F-A761-0280701867D1}"/>
              </a:ext>
            </a:extLst>
          </p:cNvPr>
          <p:cNvCxnSpPr/>
          <p:nvPr/>
        </p:nvCxnSpPr>
        <p:spPr>
          <a:xfrm flipH="0" flipV="0">
            <a:off x="235829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7" name="diagram block">
            <a:extLst>
              <a:ext uri="{FF2B5EF4-FFF2-40B4-BE49-F238E27FC236}">
                <ns2:creationId id="{D2552E09-2721-4618-A702-A32DE0E4DDBC}"/>
              </a:ext>
            </a:extLst>
          </p:cNvPr>
          <p:cNvSpPr>
            <a:spLocks noGrp="1"/>
          </p:cNvSpPr>
          <p:nvPr/>
        </p:nvSpPr>
        <p:spPr>
          <a:xfrm>
            <a:off x="2398459" y="2900636"/>
            <a:ext cx="49355" cy="263225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8" name="native PowerPoint connector">
            <a:extLst>
              <a:ext uri="{FF2B5EF4-FFF2-40B4-BE49-F238E27FC236}">
                <ns2:creationId id="{85C4C2DE-931D-49BE-8D8F-009585CDF12C}"/>
              </a:ext>
            </a:extLst>
          </p:cNvPr>
          <p:cNvCxnSpPr/>
          <p:nvPr/>
        </p:nvCxnSpPr>
        <p:spPr>
          <a:xfrm flipH="0" flipV="0">
            <a:off x="242313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9" name="diagram block">
            <a:extLst>
              <a:ext uri="{FF2B5EF4-FFF2-40B4-BE49-F238E27FC236}">
                <ns2:creationId id="{6E9E5515-47B6-464D-BF2A-2CFA7049E7AF}"/>
              </a:ext>
            </a:extLst>
          </p:cNvPr>
          <p:cNvSpPr>
            <a:spLocks noGrp="1"/>
          </p:cNvSpPr>
          <p:nvPr/>
        </p:nvSpPr>
        <p:spPr>
          <a:xfrm>
            <a:off x="2463297" y="2804120"/>
            <a:ext cx="49355" cy="35974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0" name="native PowerPoint connector">
            <a:extLst>
              <a:ext uri="{FF2B5EF4-FFF2-40B4-BE49-F238E27FC236}">
                <ns2:creationId id="{C5D1BBCB-70B0-456F-8AD3-CE48764F5DB5}"/>
              </a:ext>
            </a:extLst>
          </p:cNvPr>
          <p:cNvCxnSpPr/>
          <p:nvPr/>
        </p:nvCxnSpPr>
        <p:spPr>
          <a:xfrm flipH="0" flipV="0">
            <a:off x="248797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1" name="diagram block">
            <a:extLst>
              <a:ext uri="{FF2B5EF4-FFF2-40B4-BE49-F238E27FC236}">
                <ns2:creationId id="{EE33462A-3263-46EB-95E9-A22BEE402BAC}"/>
              </a:ext>
            </a:extLst>
          </p:cNvPr>
          <p:cNvSpPr>
            <a:spLocks noGrp="1"/>
          </p:cNvSpPr>
          <p:nvPr/>
        </p:nvSpPr>
        <p:spPr>
          <a:xfrm>
            <a:off x="2528136" y="2777798"/>
            <a:ext cx="49355" cy="386063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2" name="native PowerPoint connector">
            <a:extLst>
              <a:ext uri="{FF2B5EF4-FFF2-40B4-BE49-F238E27FC236}">
                <ns2:creationId id="{8E84CD0E-7A5E-48E1-A3E4-D29FDB3563E8}"/>
              </a:ext>
            </a:extLst>
          </p:cNvPr>
          <p:cNvCxnSpPr/>
          <p:nvPr/>
        </p:nvCxnSpPr>
        <p:spPr>
          <a:xfrm flipH="0" flipV="0">
            <a:off x="255281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3" name="diagram block">
            <a:extLst>
              <a:ext uri="{FF2B5EF4-FFF2-40B4-BE49-F238E27FC236}">
                <ns2:creationId id="{55231882-D226-4FC7-A519-F17A48195516}"/>
              </a:ext>
            </a:extLst>
          </p:cNvPr>
          <p:cNvSpPr>
            <a:spLocks noGrp="1"/>
          </p:cNvSpPr>
          <p:nvPr/>
        </p:nvSpPr>
        <p:spPr>
          <a:xfrm>
            <a:off x="2592974" y="2878701"/>
            <a:ext cx="49355" cy="28516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4" name="native PowerPoint connector">
            <a:extLst>
              <a:ext uri="{FF2B5EF4-FFF2-40B4-BE49-F238E27FC236}">
                <ns2:creationId id="{BB9C8921-92CF-44C4-A8F9-494785977AF1}"/>
              </a:ext>
            </a:extLst>
          </p:cNvPr>
          <p:cNvCxnSpPr/>
          <p:nvPr/>
        </p:nvCxnSpPr>
        <p:spPr>
          <a:xfrm flipH="0" flipV="0">
            <a:off x="261765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5" name="diagram block">
            <a:extLst>
              <a:ext uri="{FF2B5EF4-FFF2-40B4-BE49-F238E27FC236}">
                <ns2:creationId id="{E414B75A-E1EF-4D44-BCE3-EC0041A7D3D3}"/>
              </a:ext>
            </a:extLst>
          </p:cNvPr>
          <p:cNvSpPr>
            <a:spLocks noGrp="1"/>
          </p:cNvSpPr>
          <p:nvPr/>
        </p:nvSpPr>
        <p:spPr>
          <a:xfrm>
            <a:off x="2657813" y="3001539"/>
            <a:ext cx="49355" cy="16232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6" name="native PowerPoint connector">
            <a:extLst>
              <a:ext uri="{FF2B5EF4-FFF2-40B4-BE49-F238E27FC236}">
                <ns2:creationId id="{C696C2ED-0D15-47AA-83EA-C5EBCD3C0B2D}"/>
              </a:ext>
            </a:extLst>
          </p:cNvPr>
          <p:cNvCxnSpPr/>
          <p:nvPr/>
        </p:nvCxnSpPr>
        <p:spPr>
          <a:xfrm flipH="0" flipV="0">
            <a:off x="268249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7" name="diagram block">
            <a:extLst>
              <a:ext uri="{FF2B5EF4-FFF2-40B4-BE49-F238E27FC236}">
                <ns2:creationId id="{D74AE8BE-D8DA-44A5-9AC4-6F246552F2C3}"/>
              </a:ext>
            </a:extLst>
          </p:cNvPr>
          <p:cNvSpPr>
            <a:spLocks noGrp="1"/>
          </p:cNvSpPr>
          <p:nvPr/>
        </p:nvSpPr>
        <p:spPr>
          <a:xfrm>
            <a:off x="2722651" y="3089281"/>
            <a:ext cx="49355" cy="7458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8" name="native PowerPoint connector">
            <a:extLst>
              <a:ext uri="{FF2B5EF4-FFF2-40B4-BE49-F238E27FC236}">
                <ns2:creationId id="{A73FB2B4-70B5-4B22-8F76-CDCA57BFB95D}"/>
              </a:ext>
            </a:extLst>
          </p:cNvPr>
          <p:cNvCxnSpPr/>
          <p:nvPr/>
        </p:nvCxnSpPr>
        <p:spPr>
          <a:xfrm flipH="0" flipV="0">
            <a:off x="274732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9" name="diagram block">
            <a:extLst>
              <a:ext uri="{FF2B5EF4-FFF2-40B4-BE49-F238E27FC236}">
                <ns2:creationId id="{30EF71D3-B99E-4D06-B8DC-7E00273A3C20}"/>
              </a:ext>
            </a:extLst>
          </p:cNvPr>
          <p:cNvSpPr>
            <a:spLocks noGrp="1"/>
          </p:cNvSpPr>
          <p:nvPr/>
        </p:nvSpPr>
        <p:spPr>
          <a:xfrm>
            <a:off x="2787490" y="3128764"/>
            <a:ext cx="49355" cy="350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0" name="native PowerPoint connector">
            <a:extLst>
              <a:ext uri="{FF2B5EF4-FFF2-40B4-BE49-F238E27FC236}">
                <ns2:creationId id="{07375FDA-E7AD-44F2-A34C-8005DDEDA571}"/>
              </a:ext>
            </a:extLst>
          </p:cNvPr>
          <p:cNvCxnSpPr/>
          <p:nvPr/>
        </p:nvCxnSpPr>
        <p:spPr>
          <a:xfrm flipH="0" flipV="0">
            <a:off x="281216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1" name="diagram block">
            <a:extLst>
              <a:ext uri="{FF2B5EF4-FFF2-40B4-BE49-F238E27FC236}">
                <ns2:creationId id="{E2F672C3-0315-4138-AF08-D68139307643}"/>
              </a:ext>
            </a:extLst>
          </p:cNvPr>
          <p:cNvSpPr>
            <a:spLocks noGrp="1"/>
          </p:cNvSpPr>
          <p:nvPr/>
        </p:nvSpPr>
        <p:spPr>
          <a:xfrm>
            <a:off x="2852328" y="3149384"/>
            <a:ext cx="49355" cy="1447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2" name="native PowerPoint connector">
            <a:extLst>
              <a:ext uri="{FF2B5EF4-FFF2-40B4-BE49-F238E27FC236}">
                <ns2:creationId id="{5345A220-06FE-4058-92C2-F39AA5C5C05A}"/>
              </a:ext>
            </a:extLst>
          </p:cNvPr>
          <p:cNvCxnSpPr/>
          <p:nvPr/>
        </p:nvCxnSpPr>
        <p:spPr>
          <a:xfrm flipH="0" flipV="0">
            <a:off x="28770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3" name="diagram block">
            <a:extLst>
              <a:ext uri="{FF2B5EF4-FFF2-40B4-BE49-F238E27FC236}">
                <ns2:creationId id="{4285D79C-9277-41A7-83C8-3BB5BB3D67DE}"/>
              </a:ext>
            </a:extLst>
          </p:cNvPr>
          <p:cNvSpPr>
            <a:spLocks noGrp="1"/>
          </p:cNvSpPr>
          <p:nvPr/>
        </p:nvSpPr>
        <p:spPr>
          <a:xfrm>
            <a:off x="2917167" y="3157719"/>
            <a:ext cx="49355" cy="614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4" name="native PowerPoint connector">
            <a:extLst>
              <a:ext uri="{FF2B5EF4-FFF2-40B4-BE49-F238E27FC236}">
                <ns2:creationId id="{A2084FD5-1F95-4F4C-9C6E-0F054B0B531B}"/>
              </a:ext>
            </a:extLst>
          </p:cNvPr>
          <p:cNvCxnSpPr/>
          <p:nvPr/>
        </p:nvCxnSpPr>
        <p:spPr>
          <a:xfrm flipH="0" flipV="0">
            <a:off x="29418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5" name="diagram block">
            <a:extLst>
              <a:ext uri="{FF2B5EF4-FFF2-40B4-BE49-F238E27FC236}">
                <ns2:creationId id="{9018F205-099C-4704-B6DA-34A9CA2D56FF}"/>
              </a:ext>
            </a:extLst>
          </p:cNvPr>
          <p:cNvSpPr>
            <a:spLocks noGrp="1"/>
          </p:cNvSpPr>
          <p:nvPr/>
        </p:nvSpPr>
        <p:spPr>
          <a:xfrm>
            <a:off x="2982005" y="3161229"/>
            <a:ext cx="49355" cy="263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6" name="native PowerPoint connector">
            <a:extLst>
              <a:ext uri="{FF2B5EF4-FFF2-40B4-BE49-F238E27FC236}">
                <ns2:creationId id="{14EF2DDE-2F72-49F4-B778-AE527FE36B9B}"/>
              </a:ext>
            </a:extLst>
          </p:cNvPr>
          <p:cNvCxnSpPr/>
          <p:nvPr/>
        </p:nvCxnSpPr>
        <p:spPr>
          <a:xfrm flipH="0" flipV="0">
            <a:off x="30066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7" name="1">
            <a:extLst>
              <a:ext uri="{FF2B5EF4-FFF2-40B4-BE49-F238E27FC236}">
                <ns2:creationId id="{06377970-D1C3-422C-9295-CC4BA9DCC31C}"/>
              </a:ext>
            </a:extLst>
          </p:cNvPr>
          <p:cNvSpPr>
            <a:spLocks noGrp="1"/>
          </p:cNvSpPr>
          <p:nvPr/>
        </p:nvSpPr>
        <p:spPr>
          <a:xfrm>
            <a:off x="197587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8" name="4">
            <a:extLst>
              <a:ext uri="{FF2B5EF4-FFF2-40B4-BE49-F238E27FC236}">
                <ns2:creationId id="{E8BC80BB-43D4-487E-B4E4-D7F0BEF1E5AF}"/>
              </a:ext>
            </a:extLst>
          </p:cNvPr>
          <p:cNvSpPr>
            <a:spLocks noGrp="1"/>
          </p:cNvSpPr>
          <p:nvPr/>
        </p:nvSpPr>
        <p:spPr>
          <a:xfrm>
            <a:off x="2170395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39" name="8">
            <a:extLst>
              <a:ext uri="{FF2B5EF4-FFF2-40B4-BE49-F238E27FC236}">
                <ns2:creationId id="{1BB1C3AE-5966-45C7-B9D4-7DAF15FC8071}"/>
              </a:ext>
            </a:extLst>
          </p:cNvPr>
          <p:cNvSpPr>
            <a:spLocks noGrp="1"/>
          </p:cNvSpPr>
          <p:nvPr/>
        </p:nvSpPr>
        <p:spPr>
          <a:xfrm>
            <a:off x="242974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140" name="12">
            <a:extLst>
              <a:ext uri="{FF2B5EF4-FFF2-40B4-BE49-F238E27FC236}">
                <ns2:creationId id="{3FD65E10-CB26-42B5-9A29-D41838A40FEA}"/>
              </a:ext>
            </a:extLst>
          </p:cNvPr>
          <p:cNvSpPr>
            <a:spLocks noGrp="1"/>
          </p:cNvSpPr>
          <p:nvPr/>
        </p:nvSpPr>
        <p:spPr>
          <a:xfrm>
            <a:off x="2689103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141" name="16">
            <a:extLst>
              <a:ext uri="{FF2B5EF4-FFF2-40B4-BE49-F238E27FC236}">
                <ns2:creationId id="{285B5A0C-5356-470B-A4EB-E7F9A6BEEF87}"/>
              </a:ext>
            </a:extLst>
          </p:cNvPr>
          <p:cNvSpPr>
            <a:spLocks noGrp="1"/>
          </p:cNvSpPr>
          <p:nvPr/>
        </p:nvSpPr>
        <p:spPr>
          <a:xfrm>
            <a:off x="29484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142" name="Bin index">
            <a:extLst>
              <a:ext uri="{FF2B5EF4-FFF2-40B4-BE49-F238E27FC236}">
                <ns2:creationId id="{208E75CD-CF4B-419D-9C8E-8C9574E9222D}"/>
              </a:ext>
            </a:extLst>
          </p:cNvPr>
          <p:cNvSpPr>
            <a:spLocks noGrp="1"/>
          </p:cNvSpPr>
          <p:nvPr/>
        </p:nvSpPr>
        <p:spPr>
          <a:xfrm>
            <a:off x="2233943" y="3323860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 index</a:t>
            </a:r>
          </a:p>
        </p:txBody>
      </p:sp>
      <p:sp>
        <p:nvSpPr>
          <p:cNvPr id="143" name="Probability">
            <a:extLst>
              <a:ext uri="{FF2B5EF4-FFF2-40B4-BE49-F238E27FC236}">
                <ns2:creationId id="{8D536E41-E099-46B1-8D50-0D8F2BE4CB64}"/>
              </a:ext>
            </a:extLst>
          </p:cNvPr>
          <p:cNvSpPr>
            <a:spLocks noGrp="1"/>
          </p:cNvSpPr>
          <p:nvPr/>
        </p:nvSpPr>
        <p:spPr>
          <a:xfrm rot="16200000">
            <a:off x="1501042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144" name="diagram block">
            <a:extLst>
              <a:ext uri="{FF2B5EF4-FFF2-40B4-BE49-F238E27FC236}">
                <ns2:creationId id="{F982C92F-4535-4552-AC48-B16DB708E0A6}"/>
              </a:ext>
            </a:extLst>
          </p:cNvPr>
          <p:cNvSpPr>
            <a:spLocks noGrp="1"/>
          </p:cNvSpPr>
          <p:nvPr/>
        </p:nvSpPr>
        <p:spPr>
          <a:xfrm>
            <a:off x="499755" y="3458054"/>
            <a:ext cx="2461928" cy="216774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A8098"/>
            </a:solidFill>
            <a:prstDash val="solid"/>
          </a:ln>
        </p:spPr>
      </p:sp>
      <p:sp>
        <p:nvSpPr>
          <p:cNvPr id="145" name="L_bin = mean KL(p(z) || p(ẑ))">
            <a:extLst>
              <a:ext uri="{FF2B5EF4-FFF2-40B4-BE49-F238E27FC236}">
                <ns2:creationId id="{AE218132-E71D-4409-AB8C-995381135722}"/>
              </a:ext>
            </a:extLst>
          </p:cNvPr>
          <p:cNvSpPr>
            <a:spLocks noGrp="1"/>
          </p:cNvSpPr>
          <p:nvPr/>
        </p:nvSpPr>
        <p:spPr>
          <a:xfrm>
            <a:off x="613303" y="3504505"/>
            <a:ext cx="224515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121"/>
          </a:bodyPr>
          <a:lstStyle>
            <a:def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7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bin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57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7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(p(z) || p(ẑ))</a:t>
            </a:r>
          </a:p>
        </p:txBody>
      </p:sp>
      <p:sp>
        <p:nvSpPr>
          <p:cNvPr id="146" name="diagram block">
            <a:extLst>
              <a:ext uri="{FF2B5EF4-FFF2-40B4-BE49-F238E27FC236}">
                <ns2:creationId id="{858D04D6-51F5-42AC-ADC2-9621A03792B4}"/>
              </a:ext>
            </a:extLst>
          </p:cNvPr>
          <p:cNvSpPr>
            <a:spLocks noGrp="1"/>
          </p:cNvSpPr>
          <p:nvPr/>
        </p:nvSpPr>
        <p:spPr>
          <a:xfrm>
            <a:off x="355239" y="3731601"/>
            <a:ext cx="2725153" cy="159999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2DDF7"/>
            </a:solidFill>
            <a:prstDash val="solid"/>
          </a:ln>
        </p:spPr>
      </p:sp>
      <p:sp>
        <p:nvSpPr>
          <p:cNvPr id="147" name="Motor actions: 10 × 6   |   Future latents: t &gt; 0">
            <a:extLst>
              <a:ext uri="{FF2B5EF4-FFF2-40B4-BE49-F238E27FC236}">
                <ns2:creationId id="{819F6BFF-7E7C-4722-882F-469813E0EB7D}"/>
              </a:ext>
            </a:extLst>
          </p:cNvPr>
          <p:cNvSpPr>
            <a:spLocks noGrp="1"/>
          </p:cNvSpPr>
          <p:nvPr/>
        </p:nvSpPr>
        <p:spPr>
          <a:xfrm>
            <a:off x="381046" y="3757407"/>
            <a:ext cx="2673540" cy="108387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4575"/>
          </a:bodyPr>
          <a:lstStyle>
            <a:def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2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Motor actions: 10 × 6   |   Future latents: t &gt; 0</a:t>
            </a:r>
          </a:p>
        </p:txBody>
      </p:sp>
      <p:sp>
        <p:nvSpPr>
          <p:cNvPr id="148" name="Compute a 16-bin distribution for each scalar independently&#10;and average the">
            <a:extLst>
              <a:ext uri="{FF2B5EF4-FFF2-40B4-BE49-F238E27FC236}">
                <ns2:creationId id="{2DFCB06A-E21A-4E14-84F5-5ECB150BD90D}"/>
              </a:ext>
            </a:extLst>
          </p:cNvPr>
          <p:cNvSpPr>
            <a:spLocks noGrp="1"/>
          </p:cNvSpPr>
          <p:nvPr/>
        </p:nvSpPr>
        <p:spPr>
          <a:xfrm>
            <a:off x="432658" y="3927729"/>
            <a:ext cx="2580637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Compute a 16-bin distribution for each scalar independently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and average the KL over all scalars.</a:t>
            </a:r>
          </a:p>
        </p:txBody>
      </p:sp>
      <p:sp>
        <p:nvSpPr>
          <p:cNvPr id="149" name="diagram block">
            <a:extLst>
              <a:ext uri="{FF2B5EF4-FFF2-40B4-BE49-F238E27FC236}">
                <ns2:creationId id="{4AD6DD87-99C4-4F1B-828A-DDFAA87D9871}"/>
              </a:ext>
            </a:extLst>
          </p:cNvPr>
          <p:cNvSpPr>
            <a:spLocks noGrp="1"/>
          </p:cNvSpPr>
          <p:nvPr/>
        </p:nvSpPr>
        <p:spPr>
          <a:xfrm>
            <a:off x="3261036" y="686449"/>
            <a:ext cx="2621927" cy="149677"/>
          </a:xfrm>
          <a:prstGeom prst="rect">
            <a:avLst/>
          </a:prstGeom>
          <a:solidFill>
            <a:srgbClr val="E6F2FF"/>
          </a:solidFill>
          <a:ln w="5161">
            <a:noFill/>
            <a:prstDash val="solid"/>
          </a:ln>
        </p:spPr>
      </p:sp>
      <p:sp>
        <p:nvSpPr>
          <p:cNvPr id="150" name="Ten ordered 6-D action vectors (first 10 actions)">
            <a:extLst>
              <a:ext uri="{FF2B5EF4-FFF2-40B4-BE49-F238E27FC236}">
                <ns2:creationId id="{22AD0E07-9EBD-4AC5-817B-BD6D73DFDEA5}"/>
              </a:ext>
            </a:extLst>
          </p:cNvPr>
          <p:cNvSpPr>
            <a:spLocks noGrp="1"/>
          </p:cNvSpPr>
          <p:nvPr/>
        </p:nvSpPr>
        <p:spPr>
          <a:xfrm>
            <a:off x="3286843" y="712256"/>
            <a:ext cx="2570314" cy="98064"/>
          </a:xfrm>
          <a:prstGeom prst="rect">
            <a:avLst/>
          </a:prstGeom>
          <a:solidFill>
            <a:srgbClr val="E6F2FF"/>
          </a:solidFill>
          <a:ln w="0">
            <a:noFill/>
          </a:ln>
        </p:spPr>
        <p:txBody>
          <a:bodyPr wrap="none" lIns="0" tIns="0" rIns="0" bIns="0" anchor="ctr">
            <a:normAutofit fontScale="79147"/>
          </a:bodyPr>
          <a:lstStyle>
            <a:def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Ten ordered 6-D action vectors (first 10 actions)</a:t>
            </a:r>
          </a:p>
        </p:txBody>
      </p:sp>
      <p:sp>
        <p:nvSpPr>
          <p:cNvPr id="151" name="diagram block">
            <a:extLst>
              <a:ext uri="{FF2B5EF4-FFF2-40B4-BE49-F238E27FC236}">
                <ns2:creationId id="{4E891FEE-4DB2-4B5F-860E-7DC0993D78C7}"/>
              </a:ext>
            </a:extLst>
          </p:cNvPr>
          <p:cNvSpPr>
            <a:spLocks noGrp="1"/>
          </p:cNvSpPr>
          <p:nvPr/>
        </p:nvSpPr>
        <p:spPr>
          <a:xfrm>
            <a:off x="3322972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2" name="a₁">
            <a:extLst>
              <a:ext uri="{FF2B5EF4-FFF2-40B4-BE49-F238E27FC236}">
                <ns2:creationId id="{B2CB0B3E-FAF5-4B9A-9789-D356A3482133}"/>
              </a:ext>
            </a:extLst>
          </p:cNvPr>
          <p:cNvSpPr>
            <a:spLocks noGrp="1"/>
          </p:cNvSpPr>
          <p:nvPr/>
        </p:nvSpPr>
        <p:spPr>
          <a:xfrm>
            <a:off x="3348778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</a:t>
            </a:r>
          </a:p>
        </p:txBody>
      </p:sp>
      <p:sp>
        <p:nvSpPr>
          <p:cNvPr id="153" name="diagram block">
            <a:extLst>
              <a:ext uri="{FF2B5EF4-FFF2-40B4-BE49-F238E27FC236}">
                <ns2:creationId id="{7DE4F343-73DE-47C2-B9B3-CACDD9D4DB68}"/>
              </a:ext>
            </a:extLst>
          </p:cNvPr>
          <p:cNvSpPr>
            <a:spLocks noGrp="1"/>
          </p:cNvSpPr>
          <p:nvPr/>
        </p:nvSpPr>
        <p:spPr>
          <a:xfrm>
            <a:off x="3529423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4" name="a₂">
            <a:extLst>
              <a:ext uri="{FF2B5EF4-FFF2-40B4-BE49-F238E27FC236}">
                <ns2:creationId id="{FFB96122-0545-4DDB-AF17-1A44EB7147BD}"/>
              </a:ext>
            </a:extLst>
          </p:cNvPr>
          <p:cNvSpPr>
            <a:spLocks noGrp="1"/>
          </p:cNvSpPr>
          <p:nvPr/>
        </p:nvSpPr>
        <p:spPr>
          <a:xfrm>
            <a:off x="3555229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a₂</a:t>
            </a:r>
          </a:p>
        </p:txBody>
      </p:sp>
      <p:sp>
        <p:nvSpPr>
          <p:cNvPr id="155" name="diagram block">
            <a:extLst>
              <a:ext uri="{FF2B5EF4-FFF2-40B4-BE49-F238E27FC236}">
                <ns2:creationId id="{75DF7345-4F56-43D3-8EB3-AE9AC32CF071}"/>
              </a:ext>
            </a:extLst>
          </p:cNvPr>
          <p:cNvSpPr>
            <a:spLocks noGrp="1"/>
          </p:cNvSpPr>
          <p:nvPr/>
        </p:nvSpPr>
        <p:spPr>
          <a:xfrm>
            <a:off x="3735874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6" name="a₃">
            <a:extLst>
              <a:ext uri="{FF2B5EF4-FFF2-40B4-BE49-F238E27FC236}">
                <ns2:creationId id="{3488C1DF-8949-49E2-AC3D-3A8417ADC1FA}"/>
              </a:ext>
            </a:extLst>
          </p:cNvPr>
          <p:cNvSpPr>
            <a:spLocks noGrp="1"/>
          </p:cNvSpPr>
          <p:nvPr/>
        </p:nvSpPr>
        <p:spPr>
          <a:xfrm>
            <a:off x="3761680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a₃</a:t>
            </a:r>
          </a:p>
        </p:txBody>
      </p:sp>
      <p:sp>
        <p:nvSpPr>
          <p:cNvPr id="157" name="diagram block">
            <a:extLst>
              <a:ext uri="{FF2B5EF4-FFF2-40B4-BE49-F238E27FC236}">
                <ns2:creationId id="{2757CA49-A98D-4A92-AE2A-618645F2994F}"/>
              </a:ext>
            </a:extLst>
          </p:cNvPr>
          <p:cNvSpPr>
            <a:spLocks noGrp="1"/>
          </p:cNvSpPr>
          <p:nvPr/>
        </p:nvSpPr>
        <p:spPr>
          <a:xfrm>
            <a:off x="3942325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8" name="a₄">
            <a:extLst>
              <a:ext uri="{FF2B5EF4-FFF2-40B4-BE49-F238E27FC236}">
                <ns2:creationId id="{720D909F-E810-4D94-9E28-F6F685CAF938}"/>
              </a:ext>
            </a:extLst>
          </p:cNvPr>
          <p:cNvSpPr>
            <a:spLocks noGrp="1"/>
          </p:cNvSpPr>
          <p:nvPr/>
        </p:nvSpPr>
        <p:spPr>
          <a:xfrm>
            <a:off x="3968131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a₄</a:t>
            </a:r>
          </a:p>
        </p:txBody>
      </p:sp>
      <p:sp>
        <p:nvSpPr>
          <p:cNvPr id="159" name="diagram block">
            <a:extLst>
              <a:ext uri="{FF2B5EF4-FFF2-40B4-BE49-F238E27FC236}">
                <ns2:creationId id="{8F008FB3-17B1-4020-81E1-830B0EDA743A}"/>
              </a:ext>
            </a:extLst>
          </p:cNvPr>
          <p:cNvSpPr>
            <a:spLocks noGrp="1"/>
          </p:cNvSpPr>
          <p:nvPr/>
        </p:nvSpPr>
        <p:spPr>
          <a:xfrm>
            <a:off x="414877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0" name="a₅">
            <a:extLst>
              <a:ext uri="{FF2B5EF4-FFF2-40B4-BE49-F238E27FC236}">
                <ns2:creationId id="{8AF44089-F4C0-4A63-8D48-DEEF79C8A68D}"/>
              </a:ext>
            </a:extLst>
          </p:cNvPr>
          <p:cNvSpPr>
            <a:spLocks noGrp="1"/>
          </p:cNvSpPr>
          <p:nvPr/>
        </p:nvSpPr>
        <p:spPr>
          <a:xfrm>
            <a:off x="4174582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a₅</a:t>
            </a:r>
          </a:p>
        </p:txBody>
      </p:sp>
      <p:sp>
        <p:nvSpPr>
          <p:cNvPr id="161" name="diagram block">
            <a:extLst>
              <a:ext uri="{FF2B5EF4-FFF2-40B4-BE49-F238E27FC236}">
                <ns2:creationId id="{64BEA62C-C957-46B6-BDFE-CB1047EC237D}"/>
              </a:ext>
            </a:extLst>
          </p:cNvPr>
          <p:cNvSpPr>
            <a:spLocks noGrp="1"/>
          </p:cNvSpPr>
          <p:nvPr/>
        </p:nvSpPr>
        <p:spPr>
          <a:xfrm>
            <a:off x="435522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2" name="a₆">
            <a:extLst>
              <a:ext uri="{FF2B5EF4-FFF2-40B4-BE49-F238E27FC236}">
                <ns2:creationId id="{DE5E07FA-48E9-4754-809B-85EE8182E6E6}"/>
              </a:ext>
            </a:extLst>
          </p:cNvPr>
          <p:cNvSpPr>
            <a:spLocks noGrp="1"/>
          </p:cNvSpPr>
          <p:nvPr/>
        </p:nvSpPr>
        <p:spPr>
          <a:xfrm>
            <a:off x="4381033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a₆</a:t>
            </a:r>
          </a:p>
        </p:txBody>
      </p:sp>
      <p:sp>
        <p:nvSpPr>
          <p:cNvPr id="163" name="diagram block">
            <a:extLst>
              <a:ext uri="{FF2B5EF4-FFF2-40B4-BE49-F238E27FC236}">
                <ns2:creationId id="{A9FC29DF-3ED5-4A5A-863D-3A737A261058}"/>
              </a:ext>
            </a:extLst>
          </p:cNvPr>
          <p:cNvSpPr>
            <a:spLocks noGrp="1"/>
          </p:cNvSpPr>
          <p:nvPr/>
        </p:nvSpPr>
        <p:spPr>
          <a:xfrm>
            <a:off x="4561677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4" name="a₇">
            <a:extLst>
              <a:ext uri="{FF2B5EF4-FFF2-40B4-BE49-F238E27FC236}">
                <ns2:creationId id="{7331E442-83B0-457A-A0DE-FC9345805220}"/>
              </a:ext>
            </a:extLst>
          </p:cNvPr>
          <p:cNvSpPr>
            <a:spLocks noGrp="1"/>
          </p:cNvSpPr>
          <p:nvPr/>
        </p:nvSpPr>
        <p:spPr>
          <a:xfrm>
            <a:off x="4587484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a₇</a:t>
            </a:r>
          </a:p>
        </p:txBody>
      </p:sp>
      <p:sp>
        <p:nvSpPr>
          <p:cNvPr id="165" name="diagram block">
            <a:extLst>
              <a:ext uri="{FF2B5EF4-FFF2-40B4-BE49-F238E27FC236}">
                <ns2:creationId id="{C1963D83-88BF-4330-8697-4FB3169AC69C}"/>
              </a:ext>
            </a:extLst>
          </p:cNvPr>
          <p:cNvSpPr>
            <a:spLocks noGrp="1"/>
          </p:cNvSpPr>
          <p:nvPr/>
        </p:nvSpPr>
        <p:spPr>
          <a:xfrm>
            <a:off x="4768128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6" name="a₈">
            <a:extLst>
              <a:ext uri="{FF2B5EF4-FFF2-40B4-BE49-F238E27FC236}">
                <ns2:creationId id="{501A658F-E440-479D-8FF4-31B17324B501}"/>
              </a:ext>
            </a:extLst>
          </p:cNvPr>
          <p:cNvSpPr>
            <a:spLocks noGrp="1"/>
          </p:cNvSpPr>
          <p:nvPr/>
        </p:nvSpPr>
        <p:spPr>
          <a:xfrm>
            <a:off x="4793935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a₈</a:t>
            </a:r>
          </a:p>
        </p:txBody>
      </p:sp>
      <p:sp>
        <p:nvSpPr>
          <p:cNvPr id="167" name="diagram block">
            <a:extLst>
              <a:ext uri="{FF2B5EF4-FFF2-40B4-BE49-F238E27FC236}">
                <ns2:creationId id="{3B0528EA-574F-4B13-9813-867A0EBEED37}"/>
              </a:ext>
            </a:extLst>
          </p:cNvPr>
          <p:cNvSpPr>
            <a:spLocks noGrp="1"/>
          </p:cNvSpPr>
          <p:nvPr/>
        </p:nvSpPr>
        <p:spPr>
          <a:xfrm>
            <a:off x="4974579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8" name="a₉">
            <a:extLst>
              <a:ext uri="{FF2B5EF4-FFF2-40B4-BE49-F238E27FC236}">
                <ns2:creationId id="{A953F53E-0642-4185-BBEF-AF74600D7EE3}"/>
              </a:ext>
            </a:extLst>
          </p:cNvPr>
          <p:cNvSpPr>
            <a:spLocks noGrp="1"/>
          </p:cNvSpPr>
          <p:nvPr/>
        </p:nvSpPr>
        <p:spPr>
          <a:xfrm>
            <a:off x="5000386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a₉</a:t>
            </a:r>
          </a:p>
        </p:txBody>
      </p:sp>
      <p:sp>
        <p:nvSpPr>
          <p:cNvPr id="169" name="diagram block">
            <a:extLst>
              <a:ext uri="{FF2B5EF4-FFF2-40B4-BE49-F238E27FC236}">
                <ns2:creationId id="{93A83F1D-E036-4E39-A955-CD56DDE8904D}"/>
              </a:ext>
            </a:extLst>
          </p:cNvPr>
          <p:cNvSpPr>
            <a:spLocks noGrp="1"/>
          </p:cNvSpPr>
          <p:nvPr/>
        </p:nvSpPr>
        <p:spPr>
          <a:xfrm>
            <a:off x="5181030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70" name="a₁₀">
            <a:extLst>
              <a:ext uri="{FF2B5EF4-FFF2-40B4-BE49-F238E27FC236}">
                <ns2:creationId id="{DC9EF85E-6427-465E-AF4A-DE00261FF483}"/>
              </a:ext>
            </a:extLst>
          </p:cNvPr>
          <p:cNvSpPr>
            <a:spLocks noGrp="1"/>
          </p:cNvSpPr>
          <p:nvPr/>
        </p:nvSpPr>
        <p:spPr>
          <a:xfrm>
            <a:off x="5206837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a₁₀</a:t>
            </a:r>
          </a:p>
        </p:txBody>
      </p:sp>
      <p:sp>
        <p:nvSpPr>
          <p:cNvPr id="171" name="Each aₜ ∈ ℝ⁶">
            <a:extLst>
              <a:ext uri="{FF2B5EF4-FFF2-40B4-BE49-F238E27FC236}">
                <ns2:creationId id="{F81C71FF-1C5E-40E9-83C5-1CD0C51AE866}"/>
              </a:ext>
            </a:extLst>
          </p:cNvPr>
          <p:cNvSpPr>
            <a:spLocks noGrp="1"/>
          </p:cNvSpPr>
          <p:nvPr/>
        </p:nvSpPr>
        <p:spPr>
          <a:xfrm>
            <a:off x="5423610" y="939352"/>
            <a:ext cx="474837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82"/>
          </a:bodyPr>
          <a:lstStyle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aₜ ∈ ℝ⁶</a:t>
            </a:r>
          </a:p>
        </p:txBody>
      </p:sp>
      <p:cxnSp>
        <p:nvCxnSpPr>
          <p:cNvPr id="172" name="native PowerPoint connector">
            <a:extLst>
              <a:ext uri="{FF2B5EF4-FFF2-40B4-BE49-F238E27FC236}">
                <ns2:creationId id="{B68AC116-BF74-4E52-BAE5-2558BCAA4FC5}"/>
              </a:ext>
            </a:extLst>
          </p:cNvPr>
          <p:cNvCxnSpPr/>
          <p:nvPr/>
        </p:nvCxnSpPr>
        <p:spPr>
          <a:xfrm flipH="0" flipV="0">
            <a:off x="4515226" y="1109674"/>
            <a:ext cx="0" cy="144516"/>
          </a:xfrm>
          <a:prstGeom prst="straightConnector1">
            <a:avLst/>
          </a:prstGeom>
          <a:ln w="10323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173" name="diagram block">
            <a:extLst>
              <a:ext uri="{FF2B5EF4-FFF2-40B4-BE49-F238E27FC236}">
                <ns2:creationId id="{610705A5-AE16-4F63-9EC6-94388C4133FD}"/>
              </a:ext>
            </a:extLst>
          </p:cNvPr>
          <p:cNvSpPr>
            <a:spLocks noGrp="1"/>
          </p:cNvSpPr>
          <p:nvPr/>
        </p:nvSpPr>
        <p:spPr>
          <a:xfrm>
            <a:off x="3266198" y="1274835"/>
            <a:ext cx="2621927" cy="159999"/>
          </a:xfrm>
          <a:prstGeom prst="roundRect">
            <a:avLst>
              <a:gd name="adj" fmla="val 9677"/>
            </a:avLst>
          </a:prstGeom>
          <a:solidFill>
            <a:srgbClr val="DEEEFF"/>
          </a:solidFill>
          <a:ln w="5161">
            <a:solidFill>
              <a:srgbClr val="BCDFFF"/>
            </a:solidFill>
            <a:prstDash val="solid"/>
          </a:ln>
        </p:spPr>
      </p:sp>
      <p:sp>
        <p:nvSpPr>
          <p:cNvPr id="174" name="Overlapping 3-step ordered windows → 8 tokens (18-D)">
            <a:extLst>
              <a:ext uri="{FF2B5EF4-FFF2-40B4-BE49-F238E27FC236}">
                <ns2:creationId id="{15D31A65-1FEC-420D-936D-A8E90166DA70}"/>
              </a:ext>
            </a:extLst>
          </p:cNvPr>
          <p:cNvSpPr>
            <a:spLocks noGrp="1"/>
          </p:cNvSpPr>
          <p:nvPr/>
        </p:nvSpPr>
        <p:spPr>
          <a:xfrm>
            <a:off x="3292004" y="1300641"/>
            <a:ext cx="2570314" cy="108387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Overlapping 3-step ordered windows → 8 tokens (18-D)</a:t>
            </a:r>
          </a:p>
        </p:txBody>
      </p:sp>
      <p:sp>
        <p:nvSpPr>
          <p:cNvPr id="175" name="diagram block">
            <a:extLst>
              <a:ext uri="{FF2B5EF4-FFF2-40B4-BE49-F238E27FC236}">
                <ns2:creationId id="{6F8B8196-45DF-4228-A581-C7FB125D7070}"/>
              </a:ext>
            </a:extLst>
          </p:cNvPr>
          <p:cNvSpPr>
            <a:spLocks noGrp="1"/>
          </p:cNvSpPr>
          <p:nvPr/>
        </p:nvSpPr>
        <p:spPr>
          <a:xfrm>
            <a:off x="3312649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76" name="w₁">
            <a:extLst>
              <a:ext uri="{FF2B5EF4-FFF2-40B4-BE49-F238E27FC236}">
                <ns2:creationId id="{108F5270-C48F-49FD-B012-E05277975A24}"/>
              </a:ext>
            </a:extLst>
          </p:cNvPr>
          <p:cNvSpPr>
            <a:spLocks noGrp="1"/>
          </p:cNvSpPr>
          <p:nvPr/>
        </p:nvSpPr>
        <p:spPr>
          <a:xfrm>
            <a:off x="3353939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w₁</a:t>
            </a:r>
          </a:p>
        </p:txBody>
      </p:sp>
      <p:sp>
        <p:nvSpPr>
          <p:cNvPr id="177" name="(a₁, a₂, a₃)">
            <a:extLst>
              <a:ext uri="{FF2B5EF4-FFF2-40B4-BE49-F238E27FC236}">
                <ns2:creationId id="{23393E3B-B97C-4CD6-B561-7C5D173A7EA0}"/>
              </a:ext>
            </a:extLst>
          </p:cNvPr>
          <p:cNvSpPr>
            <a:spLocks noGrp="1"/>
          </p:cNvSpPr>
          <p:nvPr/>
        </p:nvSpPr>
        <p:spPr>
          <a:xfrm>
            <a:off x="3322972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(a₁, a₂, a₃)</a:t>
            </a:r>
          </a:p>
        </p:txBody>
      </p:sp>
      <p:sp>
        <p:nvSpPr>
          <p:cNvPr id="178" name="diagram block">
            <a:extLst>
              <a:ext uri="{FF2B5EF4-FFF2-40B4-BE49-F238E27FC236}">
                <ns2:creationId id="{8BFB5B2F-FFD2-4A1D-AD69-896E6C84E944}"/>
              </a:ext>
            </a:extLst>
          </p:cNvPr>
          <p:cNvSpPr>
            <a:spLocks noGrp="1"/>
          </p:cNvSpPr>
          <p:nvPr/>
        </p:nvSpPr>
        <p:spPr>
          <a:xfrm>
            <a:off x="3870067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79" name="w₂">
            <a:extLst>
              <a:ext uri="{FF2B5EF4-FFF2-40B4-BE49-F238E27FC236}">
                <ns2:creationId id="{6453F061-8B3D-4099-AE3A-613AA98821EB}"/>
              </a:ext>
            </a:extLst>
          </p:cNvPr>
          <p:cNvSpPr>
            <a:spLocks noGrp="1"/>
          </p:cNvSpPr>
          <p:nvPr/>
        </p:nvSpPr>
        <p:spPr>
          <a:xfrm>
            <a:off x="3911357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w₂</a:t>
            </a:r>
          </a:p>
        </p:txBody>
      </p:sp>
      <p:sp>
        <p:nvSpPr>
          <p:cNvPr id="180" name="(a₂, a₃, a₄)">
            <a:extLst>
              <a:ext uri="{FF2B5EF4-FFF2-40B4-BE49-F238E27FC236}">
                <ns2:creationId id="{436194C9-5524-4843-BD54-D75D70653D60}"/>
              </a:ext>
            </a:extLst>
          </p:cNvPr>
          <p:cNvSpPr>
            <a:spLocks noGrp="1"/>
          </p:cNvSpPr>
          <p:nvPr/>
        </p:nvSpPr>
        <p:spPr>
          <a:xfrm>
            <a:off x="3880389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(a₂, a₃, a₄)</a:t>
            </a:r>
          </a:p>
        </p:txBody>
      </p:sp>
      <p:sp>
        <p:nvSpPr>
          <p:cNvPr id="181" name="diagram block">
            <a:extLst>
              <a:ext uri="{FF2B5EF4-FFF2-40B4-BE49-F238E27FC236}">
                <ns2:creationId id="{E8B8E3AD-FE7F-4B67-92E2-89EFC86DA4B3}"/>
              </a:ext>
            </a:extLst>
          </p:cNvPr>
          <p:cNvSpPr>
            <a:spLocks noGrp="1"/>
          </p:cNvSpPr>
          <p:nvPr/>
        </p:nvSpPr>
        <p:spPr>
          <a:xfrm>
            <a:off x="4427484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82" name="w₃">
            <a:extLst>
              <a:ext uri="{FF2B5EF4-FFF2-40B4-BE49-F238E27FC236}">
                <ns2:creationId id="{0AD6CF3A-6B98-4866-B93D-309A46C14E16}"/>
              </a:ext>
            </a:extLst>
          </p:cNvPr>
          <p:cNvSpPr>
            <a:spLocks noGrp="1"/>
          </p:cNvSpPr>
          <p:nvPr/>
        </p:nvSpPr>
        <p:spPr>
          <a:xfrm>
            <a:off x="44687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w₃</a:t>
            </a:r>
          </a:p>
        </p:txBody>
      </p:sp>
      <p:sp>
        <p:nvSpPr>
          <p:cNvPr id="183" name="(a₃, a₄, a₅)">
            <a:extLst>
              <a:ext uri="{FF2B5EF4-FFF2-40B4-BE49-F238E27FC236}">
                <ns2:creationId id="{FC33B044-2C8E-4747-9DA5-772FB2A98414}"/>
              </a:ext>
            </a:extLst>
          </p:cNvPr>
          <p:cNvSpPr>
            <a:spLocks noGrp="1"/>
          </p:cNvSpPr>
          <p:nvPr/>
        </p:nvSpPr>
        <p:spPr>
          <a:xfrm>
            <a:off x="44378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(a₃, a₄, a₅)</a:t>
            </a:r>
          </a:p>
        </p:txBody>
      </p:sp>
      <p:sp>
        <p:nvSpPr>
          <p:cNvPr id="184" name="diagram block">
            <a:extLst>
              <a:ext uri="{FF2B5EF4-FFF2-40B4-BE49-F238E27FC236}">
                <ns2:creationId id="{1EACB69E-1F6E-42C1-A923-7542BC44757A}"/>
              </a:ext>
            </a:extLst>
          </p:cNvPr>
          <p:cNvSpPr>
            <a:spLocks noGrp="1"/>
          </p:cNvSpPr>
          <p:nvPr/>
        </p:nvSpPr>
        <p:spPr>
          <a:xfrm>
            <a:off x="5320385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85" name="w₈">
            <a:extLst>
              <a:ext uri="{FF2B5EF4-FFF2-40B4-BE49-F238E27FC236}">
                <ns2:creationId id="{2AAFDA7B-1F14-4279-80E4-E2822C598D38}"/>
              </a:ext>
            </a:extLst>
          </p:cNvPr>
          <p:cNvSpPr>
            <a:spLocks noGrp="1"/>
          </p:cNvSpPr>
          <p:nvPr/>
        </p:nvSpPr>
        <p:spPr>
          <a:xfrm>
            <a:off x="53616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w₈</a:t>
            </a:r>
          </a:p>
        </p:txBody>
      </p:sp>
      <p:sp>
        <p:nvSpPr>
          <p:cNvPr id="186" name="(a₈, a₉, a₁₀)">
            <a:extLst>
              <a:ext uri="{FF2B5EF4-FFF2-40B4-BE49-F238E27FC236}">
                <ns2:creationId id="{1484B021-0810-4CDD-B8BE-79A4E2A8519E}"/>
              </a:ext>
            </a:extLst>
          </p:cNvPr>
          <p:cNvSpPr>
            <a:spLocks noGrp="1"/>
          </p:cNvSpPr>
          <p:nvPr/>
        </p:nvSpPr>
        <p:spPr>
          <a:xfrm>
            <a:off x="53307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(a₈, a₉, a₁₀)</a:t>
            </a:r>
          </a:p>
        </p:txBody>
      </p:sp>
      <p:sp>
        <p:nvSpPr>
          <p:cNvPr id="187" name="…">
            <a:extLst>
              <a:ext uri="{FF2B5EF4-FFF2-40B4-BE49-F238E27FC236}">
                <ns2:creationId id="{27CC6419-FF1F-4D9D-BFC7-33731737B824}"/>
              </a:ext>
            </a:extLst>
          </p:cNvPr>
          <p:cNvSpPr>
            <a:spLocks noGrp="1"/>
          </p:cNvSpPr>
          <p:nvPr/>
        </p:nvSpPr>
        <p:spPr>
          <a:xfrm>
            <a:off x="5026192" y="1548382"/>
            <a:ext cx="21677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79"/>
          </a:bodyPr>
          <a:lstStyle>
            <a:def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88" name="Each token uᵢ ∈ ℝ¹⁸ (concatenate 3 actions)">
            <a:extLst>
              <a:ext uri="{FF2B5EF4-FFF2-40B4-BE49-F238E27FC236}">
                <ns2:creationId id="{1BA083F5-C54D-4FCC-A6B8-773DB155EC52}"/>
              </a:ext>
            </a:extLst>
          </p:cNvPr>
          <p:cNvSpPr>
            <a:spLocks noGrp="1"/>
          </p:cNvSpPr>
          <p:nvPr/>
        </p:nvSpPr>
        <p:spPr>
          <a:xfrm>
            <a:off x="3390068" y="1863220"/>
            <a:ext cx="2425799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token uᵢ ∈ ℝ¹⁸ (concatenate 3 actions)</a:t>
            </a:r>
          </a:p>
        </p:txBody>
      </p:sp>
      <p:sp>
        <p:nvSpPr>
          <p:cNvPr id="189" name="diagram block">
            <a:extLst>
              <a:ext uri="{FF2B5EF4-FFF2-40B4-BE49-F238E27FC236}">
                <ns2:creationId id="{D7F05093-FC7C-434C-9F4E-9CB88CDFB4A3}"/>
              </a:ext>
            </a:extLst>
          </p:cNvPr>
          <p:cNvSpPr>
            <a:spLocks noGrp="1"/>
          </p:cNvSpPr>
          <p:nvPr/>
        </p:nvSpPr>
        <p:spPr>
          <a:xfrm>
            <a:off x="3266198" y="2038703"/>
            <a:ext cx="1383221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</p:sp>
      <p:sp>
        <p:nvSpPr>
          <p:cNvPr id="190" name="Relation matrix (8 tokens)">
            <a:extLst>
              <a:ext uri="{FF2B5EF4-FFF2-40B4-BE49-F238E27FC236}">
                <ns2:creationId id="{1580289B-2441-415E-98E2-1F13480572BC}"/>
              </a:ext>
            </a:extLst>
          </p:cNvPr>
          <p:cNvSpPr>
            <a:spLocks noGrp="1"/>
          </p:cNvSpPr>
          <p:nvPr/>
        </p:nvSpPr>
        <p:spPr>
          <a:xfrm>
            <a:off x="3292004" y="2064510"/>
            <a:ext cx="1331609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Relation matrix (8 tokens)</a:t>
            </a:r>
          </a:p>
        </p:txBody>
      </p:sp>
      <p:sp>
        <p:nvSpPr>
          <p:cNvPr id="191" name="diagram block">
            <a:extLst>
              <a:ext uri="{FF2B5EF4-FFF2-40B4-BE49-F238E27FC236}">
                <ns2:creationId id="{AB9D6FDD-66B8-4DB2-82BD-A3DBDAD01F14}"/>
              </a:ext>
            </a:extLst>
          </p:cNvPr>
          <p:cNvSpPr>
            <a:spLocks noGrp="1"/>
          </p:cNvSpPr>
          <p:nvPr/>
        </p:nvSpPr>
        <p:spPr>
          <a:xfrm>
            <a:off x="4721677" y="2038703"/>
            <a:ext cx="1176770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</p:sp>
      <p:sp>
        <p:nvSpPr>
          <p:cNvPr id="192" name="Neighbor probabilities">
            <a:extLst>
              <a:ext uri="{FF2B5EF4-FFF2-40B4-BE49-F238E27FC236}">
                <ns2:creationId id="{60B4BA74-F2D2-4393-9B45-E2262B5A5F25}"/>
              </a:ext>
            </a:extLst>
          </p:cNvPr>
          <p:cNvSpPr>
            <a:spLocks noGrp="1"/>
          </p:cNvSpPr>
          <p:nvPr/>
        </p:nvSpPr>
        <p:spPr>
          <a:xfrm>
            <a:off x="4747483" y="2064510"/>
            <a:ext cx="1125158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Neighbor probabilities</a:t>
            </a:r>
          </a:p>
        </p:txBody>
      </p:sp>
      <p:sp>
        <p:nvSpPr>
          <p:cNvPr id="193" name="1">
            <a:extLst>
              <a:ext uri="{FF2B5EF4-FFF2-40B4-BE49-F238E27FC236}">
                <ns2:creationId id="{DD5588F9-AF4D-46A8-99F3-B3AE8838C8CB}"/>
              </a:ext>
            </a:extLst>
          </p:cNvPr>
          <p:cNvSpPr>
            <a:spLocks noGrp="1"/>
          </p:cNvSpPr>
          <p:nvPr/>
        </p:nvSpPr>
        <p:spPr>
          <a:xfrm>
            <a:off x="3446842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4" name="1">
            <a:extLst>
              <a:ext uri="{FF2B5EF4-FFF2-40B4-BE49-F238E27FC236}">
                <ns2:creationId id="{671A06C7-24F1-420E-B9F3-C457A8BA0EAB}"/>
              </a:ext>
            </a:extLst>
          </p:cNvPr>
          <p:cNvSpPr>
            <a:spLocks noGrp="1"/>
          </p:cNvSpPr>
          <p:nvPr/>
        </p:nvSpPr>
        <p:spPr>
          <a:xfrm>
            <a:off x="3307488" y="234838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5" name="diagram block">
            <a:extLst>
              <a:ext uri="{FF2B5EF4-FFF2-40B4-BE49-F238E27FC236}">
                <ns2:creationId id="{02865B73-A088-4D2A-8F30-93D8FE984002}"/>
              </a:ext>
            </a:extLst>
          </p:cNvPr>
          <p:cNvSpPr>
            <a:spLocks noGrp="1"/>
          </p:cNvSpPr>
          <p:nvPr/>
        </p:nvSpPr>
        <p:spPr>
          <a:xfrm>
            <a:off x="3446842" y="2343218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6" name="×">
            <a:extLst>
              <a:ext uri="{FF2B5EF4-FFF2-40B4-BE49-F238E27FC236}">
                <ns2:creationId id="{4F236BCB-8A71-43A3-BC44-88183DD1C52D}"/>
              </a:ext>
            </a:extLst>
          </p:cNvPr>
          <p:cNvSpPr>
            <a:spLocks noGrp="1"/>
          </p:cNvSpPr>
          <p:nvPr/>
        </p:nvSpPr>
        <p:spPr>
          <a:xfrm>
            <a:off x="3446842" y="2338057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97" name="diagram block">
            <a:extLst>
              <a:ext uri="{FF2B5EF4-FFF2-40B4-BE49-F238E27FC236}">
                <ns2:creationId id="{220378EF-BB82-4450-8F70-AF7C84B2BAD5}"/>
              </a:ext>
            </a:extLst>
          </p:cNvPr>
          <p:cNvSpPr>
            <a:spLocks noGrp="1"/>
          </p:cNvSpPr>
          <p:nvPr/>
        </p:nvSpPr>
        <p:spPr>
          <a:xfrm>
            <a:off x="3555229" y="2343218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8" name="diagram block">
            <a:extLst>
              <a:ext uri="{FF2B5EF4-FFF2-40B4-BE49-F238E27FC236}">
                <ns2:creationId id="{8213E792-7748-4F59-A93D-35C040C5F169}"/>
              </a:ext>
            </a:extLst>
          </p:cNvPr>
          <p:cNvSpPr>
            <a:spLocks noGrp="1"/>
          </p:cNvSpPr>
          <p:nvPr/>
        </p:nvSpPr>
        <p:spPr>
          <a:xfrm>
            <a:off x="3663616" y="2343218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9" name="diagram block">
            <a:extLst>
              <a:ext uri="{FF2B5EF4-FFF2-40B4-BE49-F238E27FC236}">
                <ns2:creationId id="{26961993-C013-4299-9E7D-50B8C6DCC227}"/>
              </a:ext>
            </a:extLst>
          </p:cNvPr>
          <p:cNvSpPr>
            <a:spLocks noGrp="1"/>
          </p:cNvSpPr>
          <p:nvPr/>
        </p:nvSpPr>
        <p:spPr>
          <a:xfrm>
            <a:off x="3772003" y="2343218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0" name="diagram block">
            <a:extLst>
              <a:ext uri="{FF2B5EF4-FFF2-40B4-BE49-F238E27FC236}">
                <ns2:creationId id="{44394718-5A27-4AAC-933C-4CE604A29860}"/>
              </a:ext>
            </a:extLst>
          </p:cNvPr>
          <p:cNvSpPr>
            <a:spLocks noGrp="1"/>
          </p:cNvSpPr>
          <p:nvPr/>
        </p:nvSpPr>
        <p:spPr>
          <a:xfrm>
            <a:off x="3880389" y="2343218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1" name="diagram block">
            <a:extLst>
              <a:ext uri="{FF2B5EF4-FFF2-40B4-BE49-F238E27FC236}">
                <ns2:creationId id="{B57414B3-DD94-429A-8759-CBC2CEF54C4B}"/>
              </a:ext>
            </a:extLst>
          </p:cNvPr>
          <p:cNvSpPr>
            <a:spLocks noGrp="1"/>
          </p:cNvSpPr>
          <p:nvPr/>
        </p:nvSpPr>
        <p:spPr>
          <a:xfrm>
            <a:off x="3988776" y="2343218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2" name="diagram block">
            <a:extLst>
              <a:ext uri="{FF2B5EF4-FFF2-40B4-BE49-F238E27FC236}">
                <ns2:creationId id="{634186AA-56B3-43CD-A53E-212C5705EA29}"/>
              </a:ext>
            </a:extLst>
          </p:cNvPr>
          <p:cNvSpPr>
            <a:spLocks noGrp="1"/>
          </p:cNvSpPr>
          <p:nvPr/>
        </p:nvSpPr>
        <p:spPr>
          <a:xfrm>
            <a:off x="4097163" y="2343218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3" name="diagram block">
            <a:extLst>
              <a:ext uri="{FF2B5EF4-FFF2-40B4-BE49-F238E27FC236}">
                <ns2:creationId id="{430F9BE2-EECC-497D-B2ED-1169424AA48E}"/>
              </a:ext>
            </a:extLst>
          </p:cNvPr>
          <p:cNvSpPr>
            <a:spLocks noGrp="1"/>
          </p:cNvSpPr>
          <p:nvPr/>
        </p:nvSpPr>
        <p:spPr>
          <a:xfrm>
            <a:off x="4205550" y="2343218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4" name="2">
            <a:extLst>
              <a:ext uri="{FF2B5EF4-FFF2-40B4-BE49-F238E27FC236}">
                <ns2:creationId id="{64C8FC93-0D5A-4290-B2B3-A8BE6F7A8F9C}"/>
              </a:ext>
            </a:extLst>
          </p:cNvPr>
          <p:cNvSpPr>
            <a:spLocks noGrp="1"/>
          </p:cNvSpPr>
          <p:nvPr/>
        </p:nvSpPr>
        <p:spPr>
          <a:xfrm>
            <a:off x="355522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5" name="2">
            <a:extLst>
              <a:ext uri="{FF2B5EF4-FFF2-40B4-BE49-F238E27FC236}">
                <ns2:creationId id="{24B29667-F706-4F7A-B68E-BA22C0BF2A60}"/>
              </a:ext>
            </a:extLst>
          </p:cNvPr>
          <p:cNvSpPr>
            <a:spLocks noGrp="1"/>
          </p:cNvSpPr>
          <p:nvPr/>
        </p:nvSpPr>
        <p:spPr>
          <a:xfrm>
            <a:off x="3307488" y="245418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6" name="diagram block">
            <a:extLst>
              <a:ext uri="{FF2B5EF4-FFF2-40B4-BE49-F238E27FC236}">
                <ns2:creationId id="{905B6CF6-12C9-4FEF-ACB3-E74B034C5EAE}"/>
              </a:ext>
            </a:extLst>
          </p:cNvPr>
          <p:cNvSpPr>
            <a:spLocks noGrp="1"/>
          </p:cNvSpPr>
          <p:nvPr/>
        </p:nvSpPr>
        <p:spPr>
          <a:xfrm>
            <a:off x="3446842" y="2449024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7" name="diagram block">
            <a:extLst>
              <a:ext uri="{FF2B5EF4-FFF2-40B4-BE49-F238E27FC236}">
                <ns2:creationId id="{BCC40538-30F1-44FA-9A5C-E49B23F6249A}"/>
              </a:ext>
            </a:extLst>
          </p:cNvPr>
          <p:cNvSpPr>
            <a:spLocks noGrp="1"/>
          </p:cNvSpPr>
          <p:nvPr/>
        </p:nvSpPr>
        <p:spPr>
          <a:xfrm>
            <a:off x="3555229" y="2449024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8" name="×">
            <a:extLst>
              <a:ext uri="{FF2B5EF4-FFF2-40B4-BE49-F238E27FC236}">
                <ns2:creationId id="{7D545C61-1FAF-4B64-A301-D2F1F28888B3}"/>
              </a:ext>
            </a:extLst>
          </p:cNvPr>
          <p:cNvSpPr>
            <a:spLocks noGrp="1"/>
          </p:cNvSpPr>
          <p:nvPr/>
        </p:nvSpPr>
        <p:spPr>
          <a:xfrm>
            <a:off x="3555229" y="2443863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09" name="diagram block">
            <a:extLst>
              <a:ext uri="{FF2B5EF4-FFF2-40B4-BE49-F238E27FC236}">
                <ns2:creationId id="{C2E9E311-D325-4C5D-A612-5CCD55BFFCE0}"/>
              </a:ext>
            </a:extLst>
          </p:cNvPr>
          <p:cNvSpPr>
            <a:spLocks noGrp="1"/>
          </p:cNvSpPr>
          <p:nvPr/>
        </p:nvSpPr>
        <p:spPr>
          <a:xfrm>
            <a:off x="3663616" y="2449024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0" name="diagram block">
            <a:extLst>
              <a:ext uri="{FF2B5EF4-FFF2-40B4-BE49-F238E27FC236}">
                <ns2:creationId id="{43477838-773A-49CC-BA78-57F45A41C427}"/>
              </a:ext>
            </a:extLst>
          </p:cNvPr>
          <p:cNvSpPr>
            <a:spLocks noGrp="1"/>
          </p:cNvSpPr>
          <p:nvPr/>
        </p:nvSpPr>
        <p:spPr>
          <a:xfrm>
            <a:off x="3772003" y="2449024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1" name="diagram block">
            <a:extLst>
              <a:ext uri="{FF2B5EF4-FFF2-40B4-BE49-F238E27FC236}">
                <ns2:creationId id="{0A74BD74-FCC4-47EE-9A5E-7B175A4A6B0B}"/>
              </a:ext>
            </a:extLst>
          </p:cNvPr>
          <p:cNvSpPr>
            <a:spLocks noGrp="1"/>
          </p:cNvSpPr>
          <p:nvPr/>
        </p:nvSpPr>
        <p:spPr>
          <a:xfrm>
            <a:off x="3880389" y="2449024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2" name="diagram block">
            <a:extLst>
              <a:ext uri="{FF2B5EF4-FFF2-40B4-BE49-F238E27FC236}">
                <ns2:creationId id="{7016C955-ECE3-4D56-956B-EC639329A33A}"/>
              </a:ext>
            </a:extLst>
          </p:cNvPr>
          <p:cNvSpPr>
            <a:spLocks noGrp="1"/>
          </p:cNvSpPr>
          <p:nvPr/>
        </p:nvSpPr>
        <p:spPr>
          <a:xfrm>
            <a:off x="3988776" y="2449024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3" name="diagram block">
            <a:extLst>
              <a:ext uri="{FF2B5EF4-FFF2-40B4-BE49-F238E27FC236}">
                <ns2:creationId id="{215D400C-9445-40EB-8CF7-D27FF5FE2247}"/>
              </a:ext>
            </a:extLst>
          </p:cNvPr>
          <p:cNvSpPr>
            <a:spLocks noGrp="1"/>
          </p:cNvSpPr>
          <p:nvPr/>
        </p:nvSpPr>
        <p:spPr>
          <a:xfrm>
            <a:off x="4097163" y="2449024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4" name="diagram block">
            <a:extLst>
              <a:ext uri="{FF2B5EF4-FFF2-40B4-BE49-F238E27FC236}">
                <ns2:creationId id="{1C5ACF90-DFD5-4583-800B-4113C5E358A7}"/>
              </a:ext>
            </a:extLst>
          </p:cNvPr>
          <p:cNvSpPr>
            <a:spLocks noGrp="1"/>
          </p:cNvSpPr>
          <p:nvPr/>
        </p:nvSpPr>
        <p:spPr>
          <a:xfrm>
            <a:off x="4205550" y="2449024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5" name="3">
            <a:extLst>
              <a:ext uri="{FF2B5EF4-FFF2-40B4-BE49-F238E27FC236}">
                <ns2:creationId id="{15F0A2DA-CFE8-4D3A-BA77-DF66E5CF0E67}"/>
              </a:ext>
            </a:extLst>
          </p:cNvPr>
          <p:cNvSpPr>
            <a:spLocks noGrp="1"/>
          </p:cNvSpPr>
          <p:nvPr/>
        </p:nvSpPr>
        <p:spPr>
          <a:xfrm>
            <a:off x="366361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6" name="3">
            <a:extLst>
              <a:ext uri="{FF2B5EF4-FFF2-40B4-BE49-F238E27FC236}">
                <ns2:creationId id="{936BC870-AF4C-419F-B229-F9ABE8476EAB}"/>
              </a:ext>
            </a:extLst>
          </p:cNvPr>
          <p:cNvSpPr>
            <a:spLocks noGrp="1"/>
          </p:cNvSpPr>
          <p:nvPr/>
        </p:nvSpPr>
        <p:spPr>
          <a:xfrm>
            <a:off x="3307488" y="255999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7" name="diagram block">
            <a:extLst>
              <a:ext uri="{FF2B5EF4-FFF2-40B4-BE49-F238E27FC236}">
                <ns2:creationId id="{523BB5F5-F1B2-411E-94A5-F362DCD76C7A}"/>
              </a:ext>
            </a:extLst>
          </p:cNvPr>
          <p:cNvSpPr>
            <a:spLocks noGrp="1"/>
          </p:cNvSpPr>
          <p:nvPr/>
        </p:nvSpPr>
        <p:spPr>
          <a:xfrm>
            <a:off x="3446842" y="255483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8" name="diagram block">
            <a:extLst>
              <a:ext uri="{FF2B5EF4-FFF2-40B4-BE49-F238E27FC236}">
                <ns2:creationId id="{135845B3-BD0E-4994-8F92-91CC8BD72786}"/>
              </a:ext>
            </a:extLst>
          </p:cNvPr>
          <p:cNvSpPr>
            <a:spLocks noGrp="1"/>
          </p:cNvSpPr>
          <p:nvPr/>
        </p:nvSpPr>
        <p:spPr>
          <a:xfrm>
            <a:off x="3555229" y="255483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9" name="diagram block">
            <a:extLst>
              <a:ext uri="{FF2B5EF4-FFF2-40B4-BE49-F238E27FC236}">
                <ns2:creationId id="{BB514498-BA31-4BB4-B1CE-EFF4C8FA38E4}"/>
              </a:ext>
            </a:extLst>
          </p:cNvPr>
          <p:cNvSpPr>
            <a:spLocks noGrp="1"/>
          </p:cNvSpPr>
          <p:nvPr/>
        </p:nvSpPr>
        <p:spPr>
          <a:xfrm>
            <a:off x="3663616" y="255483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0" name="×">
            <a:extLst>
              <a:ext uri="{FF2B5EF4-FFF2-40B4-BE49-F238E27FC236}">
                <ns2:creationId id="{CB9AC806-78CE-4D3C-9A9B-E55408B08B48}"/>
              </a:ext>
            </a:extLst>
          </p:cNvPr>
          <p:cNvSpPr>
            <a:spLocks noGrp="1"/>
          </p:cNvSpPr>
          <p:nvPr/>
        </p:nvSpPr>
        <p:spPr>
          <a:xfrm>
            <a:off x="3663616" y="2549669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21" name="diagram block">
            <a:extLst>
              <a:ext uri="{FF2B5EF4-FFF2-40B4-BE49-F238E27FC236}">
                <ns2:creationId id="{A194518C-99F2-4B4E-A526-DC33DC0B5D0C}"/>
              </a:ext>
            </a:extLst>
          </p:cNvPr>
          <p:cNvSpPr>
            <a:spLocks noGrp="1"/>
          </p:cNvSpPr>
          <p:nvPr/>
        </p:nvSpPr>
        <p:spPr>
          <a:xfrm>
            <a:off x="3772003" y="255483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2" name="diagram block">
            <a:extLst>
              <a:ext uri="{FF2B5EF4-FFF2-40B4-BE49-F238E27FC236}">
                <ns2:creationId id="{025CBEA4-230C-4D00-9012-ADFC379DD5E2}"/>
              </a:ext>
            </a:extLst>
          </p:cNvPr>
          <p:cNvSpPr>
            <a:spLocks noGrp="1"/>
          </p:cNvSpPr>
          <p:nvPr/>
        </p:nvSpPr>
        <p:spPr>
          <a:xfrm>
            <a:off x="3880389" y="2554831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3" name="diagram block">
            <a:extLst>
              <a:ext uri="{FF2B5EF4-FFF2-40B4-BE49-F238E27FC236}">
                <ns2:creationId id="{A3166C2D-5E7D-429C-A586-04ECDDB61A7A}"/>
              </a:ext>
            </a:extLst>
          </p:cNvPr>
          <p:cNvSpPr>
            <a:spLocks noGrp="1"/>
          </p:cNvSpPr>
          <p:nvPr/>
        </p:nvSpPr>
        <p:spPr>
          <a:xfrm>
            <a:off x="3988776" y="255483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4" name="diagram block">
            <a:extLst>
              <a:ext uri="{FF2B5EF4-FFF2-40B4-BE49-F238E27FC236}">
                <ns2:creationId id="{A42487A8-5105-47C0-AD74-506F1ADB8D65}"/>
              </a:ext>
            </a:extLst>
          </p:cNvPr>
          <p:cNvSpPr>
            <a:spLocks noGrp="1"/>
          </p:cNvSpPr>
          <p:nvPr/>
        </p:nvSpPr>
        <p:spPr>
          <a:xfrm>
            <a:off x="4097163" y="255483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5" name="diagram block">
            <a:extLst>
              <a:ext uri="{FF2B5EF4-FFF2-40B4-BE49-F238E27FC236}">
                <ns2:creationId id="{A71F386E-3C16-41F8-82D5-98F2A2D00223}"/>
              </a:ext>
            </a:extLst>
          </p:cNvPr>
          <p:cNvSpPr>
            <a:spLocks noGrp="1"/>
          </p:cNvSpPr>
          <p:nvPr/>
        </p:nvSpPr>
        <p:spPr>
          <a:xfrm>
            <a:off x="4205550" y="255483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6" name="4">
            <a:extLst>
              <a:ext uri="{FF2B5EF4-FFF2-40B4-BE49-F238E27FC236}">
                <ns2:creationId id="{B05A34EE-C4BC-4E4C-9D4E-69C7BFE59D98}"/>
              </a:ext>
            </a:extLst>
          </p:cNvPr>
          <p:cNvSpPr>
            <a:spLocks noGrp="1"/>
          </p:cNvSpPr>
          <p:nvPr/>
        </p:nvSpPr>
        <p:spPr>
          <a:xfrm>
            <a:off x="377200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7" name="4">
            <a:extLst>
              <a:ext uri="{FF2B5EF4-FFF2-40B4-BE49-F238E27FC236}">
                <ns2:creationId id="{4AECC0C4-7F5A-4DA2-80F8-ED7A4F2513ED}"/>
              </a:ext>
            </a:extLst>
          </p:cNvPr>
          <p:cNvSpPr>
            <a:spLocks noGrp="1"/>
          </p:cNvSpPr>
          <p:nvPr/>
        </p:nvSpPr>
        <p:spPr>
          <a:xfrm>
            <a:off x="3307488" y="2665798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28" name="diagram block">
            <a:extLst>
              <a:ext uri="{FF2B5EF4-FFF2-40B4-BE49-F238E27FC236}">
                <ns2:creationId id="{25062C1F-E8EF-4251-BFD7-382D185BD947}"/>
              </a:ext>
            </a:extLst>
          </p:cNvPr>
          <p:cNvSpPr>
            <a:spLocks noGrp="1"/>
          </p:cNvSpPr>
          <p:nvPr/>
        </p:nvSpPr>
        <p:spPr>
          <a:xfrm>
            <a:off x="3446842" y="2660637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9" name="diagram block">
            <a:extLst>
              <a:ext uri="{FF2B5EF4-FFF2-40B4-BE49-F238E27FC236}">
                <ns2:creationId id="{720D3A5F-2F4F-432B-9F7E-9EC07E4DAEA0}"/>
              </a:ext>
            </a:extLst>
          </p:cNvPr>
          <p:cNvSpPr>
            <a:spLocks noGrp="1"/>
          </p:cNvSpPr>
          <p:nvPr/>
        </p:nvSpPr>
        <p:spPr>
          <a:xfrm>
            <a:off x="3555229" y="2660637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0" name="diagram block">
            <a:extLst>
              <a:ext uri="{FF2B5EF4-FFF2-40B4-BE49-F238E27FC236}">
                <ns2:creationId id="{D00528C1-C53C-4A3F-B4CD-BF2C18517DAE}"/>
              </a:ext>
            </a:extLst>
          </p:cNvPr>
          <p:cNvSpPr>
            <a:spLocks noGrp="1"/>
          </p:cNvSpPr>
          <p:nvPr/>
        </p:nvSpPr>
        <p:spPr>
          <a:xfrm>
            <a:off x="3663616" y="2660637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1" name="diagram block">
            <a:extLst>
              <a:ext uri="{FF2B5EF4-FFF2-40B4-BE49-F238E27FC236}">
                <ns2:creationId id="{D8E365CD-C395-4093-84E1-084748B8ED44}"/>
              </a:ext>
            </a:extLst>
          </p:cNvPr>
          <p:cNvSpPr>
            <a:spLocks noGrp="1"/>
          </p:cNvSpPr>
          <p:nvPr/>
        </p:nvSpPr>
        <p:spPr>
          <a:xfrm>
            <a:off x="3772003" y="2660637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2" name="×">
            <a:extLst>
              <a:ext uri="{FF2B5EF4-FFF2-40B4-BE49-F238E27FC236}">
                <ns2:creationId id="{30EC70F1-60D9-4345-ADCE-EE84E0CE9C9E}"/>
              </a:ext>
            </a:extLst>
          </p:cNvPr>
          <p:cNvSpPr>
            <a:spLocks noGrp="1"/>
          </p:cNvSpPr>
          <p:nvPr/>
        </p:nvSpPr>
        <p:spPr>
          <a:xfrm>
            <a:off x="3772003" y="2655475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33" name="diagram block">
            <a:extLst>
              <a:ext uri="{FF2B5EF4-FFF2-40B4-BE49-F238E27FC236}">
                <ns2:creationId id="{14BD0C37-8FE0-4EE6-9028-E05B1BE12469}"/>
              </a:ext>
            </a:extLst>
          </p:cNvPr>
          <p:cNvSpPr>
            <a:spLocks noGrp="1"/>
          </p:cNvSpPr>
          <p:nvPr/>
        </p:nvSpPr>
        <p:spPr>
          <a:xfrm>
            <a:off x="3880389" y="2660637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4" name="diagram block">
            <a:extLst>
              <a:ext uri="{FF2B5EF4-FFF2-40B4-BE49-F238E27FC236}">
                <ns2:creationId id="{5033BF28-5B6B-488E-A9D4-605A1112161A}"/>
              </a:ext>
            </a:extLst>
          </p:cNvPr>
          <p:cNvSpPr>
            <a:spLocks noGrp="1"/>
          </p:cNvSpPr>
          <p:nvPr/>
        </p:nvSpPr>
        <p:spPr>
          <a:xfrm>
            <a:off x="3988776" y="2660637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5" name="diagram block">
            <a:extLst>
              <a:ext uri="{FF2B5EF4-FFF2-40B4-BE49-F238E27FC236}">
                <ns2:creationId id="{1930CAFA-AFA1-4EB3-AA53-3A77D35735AA}"/>
              </a:ext>
            </a:extLst>
          </p:cNvPr>
          <p:cNvSpPr>
            <a:spLocks noGrp="1"/>
          </p:cNvSpPr>
          <p:nvPr/>
        </p:nvSpPr>
        <p:spPr>
          <a:xfrm>
            <a:off x="4097163" y="2660637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6" name="diagram block">
            <a:extLst>
              <a:ext uri="{FF2B5EF4-FFF2-40B4-BE49-F238E27FC236}">
                <ns2:creationId id="{558B8169-6C68-4EF4-A1C0-1A65EC743837}"/>
              </a:ext>
            </a:extLst>
          </p:cNvPr>
          <p:cNvSpPr>
            <a:spLocks noGrp="1"/>
          </p:cNvSpPr>
          <p:nvPr/>
        </p:nvSpPr>
        <p:spPr>
          <a:xfrm>
            <a:off x="4205550" y="2660637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7" name="5">
            <a:extLst>
              <a:ext uri="{FF2B5EF4-FFF2-40B4-BE49-F238E27FC236}">
                <ns2:creationId id="{C6BEA7A1-712F-49DB-9FB7-6893D71D5653}"/>
              </a:ext>
            </a:extLst>
          </p:cNvPr>
          <p:cNvSpPr>
            <a:spLocks noGrp="1"/>
          </p:cNvSpPr>
          <p:nvPr/>
        </p:nvSpPr>
        <p:spPr>
          <a:xfrm>
            <a:off x="388038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8" name="5">
            <a:extLst>
              <a:ext uri="{FF2B5EF4-FFF2-40B4-BE49-F238E27FC236}">
                <ns2:creationId id="{9AFAB453-C30C-4A0D-BB94-52CA8D1B1ACA}"/>
              </a:ext>
            </a:extLst>
          </p:cNvPr>
          <p:cNvSpPr>
            <a:spLocks noGrp="1"/>
          </p:cNvSpPr>
          <p:nvPr/>
        </p:nvSpPr>
        <p:spPr>
          <a:xfrm>
            <a:off x="3307488" y="2771604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9" name="diagram block">
            <a:extLst>
              <a:ext uri="{FF2B5EF4-FFF2-40B4-BE49-F238E27FC236}">
                <ns2:creationId id="{6B5A2D4F-1420-45EA-9E50-5384F0322248}"/>
              </a:ext>
            </a:extLst>
          </p:cNvPr>
          <p:cNvSpPr>
            <a:spLocks noGrp="1"/>
          </p:cNvSpPr>
          <p:nvPr/>
        </p:nvSpPr>
        <p:spPr>
          <a:xfrm>
            <a:off x="3446842" y="2766443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0" name="diagram block">
            <a:extLst>
              <a:ext uri="{FF2B5EF4-FFF2-40B4-BE49-F238E27FC236}">
                <ns2:creationId id="{0C34062C-6CAE-44E4-A525-9E645E9920D8}"/>
              </a:ext>
            </a:extLst>
          </p:cNvPr>
          <p:cNvSpPr>
            <a:spLocks noGrp="1"/>
          </p:cNvSpPr>
          <p:nvPr/>
        </p:nvSpPr>
        <p:spPr>
          <a:xfrm>
            <a:off x="3555229" y="2766443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1" name="diagram block">
            <a:extLst>
              <a:ext uri="{FF2B5EF4-FFF2-40B4-BE49-F238E27FC236}">
                <ns2:creationId id="{E106C458-A9CB-4B32-AA6E-9865D3160D98}"/>
              </a:ext>
            </a:extLst>
          </p:cNvPr>
          <p:cNvSpPr>
            <a:spLocks noGrp="1"/>
          </p:cNvSpPr>
          <p:nvPr/>
        </p:nvSpPr>
        <p:spPr>
          <a:xfrm>
            <a:off x="3663616" y="2766443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2" name="diagram block">
            <a:extLst>
              <a:ext uri="{FF2B5EF4-FFF2-40B4-BE49-F238E27FC236}">
                <ns2:creationId id="{B8493D5E-E766-4B7F-8234-F3A6CF76AC4F}"/>
              </a:ext>
            </a:extLst>
          </p:cNvPr>
          <p:cNvSpPr>
            <a:spLocks noGrp="1"/>
          </p:cNvSpPr>
          <p:nvPr/>
        </p:nvSpPr>
        <p:spPr>
          <a:xfrm>
            <a:off x="3772003" y="2766443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3" name="diagram block">
            <a:extLst>
              <a:ext uri="{FF2B5EF4-FFF2-40B4-BE49-F238E27FC236}">
                <ns2:creationId id="{E5D0D5E4-4AA6-4FA4-A6E3-626371653583}"/>
              </a:ext>
            </a:extLst>
          </p:cNvPr>
          <p:cNvSpPr>
            <a:spLocks noGrp="1"/>
          </p:cNvSpPr>
          <p:nvPr/>
        </p:nvSpPr>
        <p:spPr>
          <a:xfrm>
            <a:off x="3880389" y="2766443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4" name="×">
            <a:extLst>
              <a:ext uri="{FF2B5EF4-FFF2-40B4-BE49-F238E27FC236}">
                <ns2:creationId id="{EA264AC5-5C63-4F0A-A298-60B0886CDC35}"/>
              </a:ext>
            </a:extLst>
          </p:cNvPr>
          <p:cNvSpPr>
            <a:spLocks noGrp="1"/>
          </p:cNvSpPr>
          <p:nvPr/>
        </p:nvSpPr>
        <p:spPr>
          <a:xfrm>
            <a:off x="3880389" y="2761282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45" name="diagram block">
            <a:extLst>
              <a:ext uri="{FF2B5EF4-FFF2-40B4-BE49-F238E27FC236}">
                <ns2:creationId id="{B0C51F45-8F30-482E-A1B5-3631BAD2B844}"/>
              </a:ext>
            </a:extLst>
          </p:cNvPr>
          <p:cNvSpPr>
            <a:spLocks noGrp="1"/>
          </p:cNvSpPr>
          <p:nvPr/>
        </p:nvSpPr>
        <p:spPr>
          <a:xfrm>
            <a:off x="3988776" y="2766443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6" name="diagram block">
            <a:extLst>
              <a:ext uri="{FF2B5EF4-FFF2-40B4-BE49-F238E27FC236}">
                <ns2:creationId id="{60ADCD61-994E-4C1F-A211-1ECC149F5D72}"/>
              </a:ext>
            </a:extLst>
          </p:cNvPr>
          <p:cNvSpPr>
            <a:spLocks noGrp="1"/>
          </p:cNvSpPr>
          <p:nvPr/>
        </p:nvSpPr>
        <p:spPr>
          <a:xfrm>
            <a:off x="4097163" y="2766443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7" name="diagram block">
            <a:extLst>
              <a:ext uri="{FF2B5EF4-FFF2-40B4-BE49-F238E27FC236}">
                <ns2:creationId id="{8C97363B-CFC7-44A2-92E1-FA71672A0521}"/>
              </a:ext>
            </a:extLst>
          </p:cNvPr>
          <p:cNvSpPr>
            <a:spLocks noGrp="1"/>
          </p:cNvSpPr>
          <p:nvPr/>
        </p:nvSpPr>
        <p:spPr>
          <a:xfrm>
            <a:off x="4205550" y="2766443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8" name="6">
            <a:extLst>
              <a:ext uri="{FF2B5EF4-FFF2-40B4-BE49-F238E27FC236}">
                <ns2:creationId id="{C75F220A-B681-49B1-BEE6-8B570BF19F1A}"/>
              </a:ext>
            </a:extLst>
          </p:cNvPr>
          <p:cNvSpPr>
            <a:spLocks noGrp="1"/>
          </p:cNvSpPr>
          <p:nvPr/>
        </p:nvSpPr>
        <p:spPr>
          <a:xfrm>
            <a:off x="398877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49" name="6">
            <a:extLst>
              <a:ext uri="{FF2B5EF4-FFF2-40B4-BE49-F238E27FC236}">
                <ns2:creationId id="{E1316EE5-4918-400A-8437-D8DA24C6BA80}"/>
              </a:ext>
            </a:extLst>
          </p:cNvPr>
          <p:cNvSpPr>
            <a:spLocks noGrp="1"/>
          </p:cNvSpPr>
          <p:nvPr/>
        </p:nvSpPr>
        <p:spPr>
          <a:xfrm>
            <a:off x="3307488" y="287741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0" name="diagram block">
            <a:extLst>
              <a:ext uri="{FF2B5EF4-FFF2-40B4-BE49-F238E27FC236}">
                <ns2:creationId id="{26A2EDCE-1870-4879-A2D6-9AF0DA63C3C6}"/>
              </a:ext>
            </a:extLst>
          </p:cNvPr>
          <p:cNvSpPr>
            <a:spLocks noGrp="1"/>
          </p:cNvSpPr>
          <p:nvPr/>
        </p:nvSpPr>
        <p:spPr>
          <a:xfrm>
            <a:off x="3446842" y="2872249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1" name="diagram block">
            <a:extLst>
              <a:ext uri="{FF2B5EF4-FFF2-40B4-BE49-F238E27FC236}">
                <ns2:creationId id="{8A874AED-505E-4697-956E-EB9B94D581E7}"/>
              </a:ext>
            </a:extLst>
          </p:cNvPr>
          <p:cNvSpPr>
            <a:spLocks noGrp="1"/>
          </p:cNvSpPr>
          <p:nvPr/>
        </p:nvSpPr>
        <p:spPr>
          <a:xfrm>
            <a:off x="3555229" y="2872249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2" name="diagram block">
            <a:extLst>
              <a:ext uri="{FF2B5EF4-FFF2-40B4-BE49-F238E27FC236}">
                <ns2:creationId id="{26EE4A13-945C-4277-8BB2-B2F382A27F86}"/>
              </a:ext>
            </a:extLst>
          </p:cNvPr>
          <p:cNvSpPr>
            <a:spLocks noGrp="1"/>
          </p:cNvSpPr>
          <p:nvPr/>
        </p:nvSpPr>
        <p:spPr>
          <a:xfrm>
            <a:off x="3663616" y="2872249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3" name="diagram block">
            <a:extLst>
              <a:ext uri="{FF2B5EF4-FFF2-40B4-BE49-F238E27FC236}">
                <ns2:creationId id="{FE299D08-C271-49D9-BACF-BBBD393EB7DB}"/>
              </a:ext>
            </a:extLst>
          </p:cNvPr>
          <p:cNvSpPr>
            <a:spLocks noGrp="1"/>
          </p:cNvSpPr>
          <p:nvPr/>
        </p:nvSpPr>
        <p:spPr>
          <a:xfrm>
            <a:off x="3772003" y="2872249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4" name="diagram block">
            <a:extLst>
              <a:ext uri="{FF2B5EF4-FFF2-40B4-BE49-F238E27FC236}">
                <ns2:creationId id="{DB53E72E-75FB-4D84-B32A-A8F404C47DA4}"/>
              </a:ext>
            </a:extLst>
          </p:cNvPr>
          <p:cNvSpPr>
            <a:spLocks noGrp="1"/>
          </p:cNvSpPr>
          <p:nvPr/>
        </p:nvSpPr>
        <p:spPr>
          <a:xfrm>
            <a:off x="3880389" y="2872249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5" name="diagram block">
            <a:extLst>
              <a:ext uri="{FF2B5EF4-FFF2-40B4-BE49-F238E27FC236}">
                <ns2:creationId id="{755730D4-6F35-4094-9B86-71CD4E9D9E2F}"/>
              </a:ext>
            </a:extLst>
          </p:cNvPr>
          <p:cNvSpPr>
            <a:spLocks noGrp="1"/>
          </p:cNvSpPr>
          <p:nvPr/>
        </p:nvSpPr>
        <p:spPr>
          <a:xfrm>
            <a:off x="3988776" y="2872249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6" name="×">
            <a:extLst>
              <a:ext uri="{FF2B5EF4-FFF2-40B4-BE49-F238E27FC236}">
                <ns2:creationId id="{AF1EFC26-E2CE-4B93-AE7A-EDBE0732585F}"/>
              </a:ext>
            </a:extLst>
          </p:cNvPr>
          <p:cNvSpPr>
            <a:spLocks noGrp="1"/>
          </p:cNvSpPr>
          <p:nvPr/>
        </p:nvSpPr>
        <p:spPr>
          <a:xfrm>
            <a:off x="3988776" y="2867088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57" name="diagram block">
            <a:extLst>
              <a:ext uri="{FF2B5EF4-FFF2-40B4-BE49-F238E27FC236}">
                <ns2:creationId id="{9B4997E7-C188-4D10-BEF5-40C1143B1082}"/>
              </a:ext>
            </a:extLst>
          </p:cNvPr>
          <p:cNvSpPr>
            <a:spLocks noGrp="1"/>
          </p:cNvSpPr>
          <p:nvPr/>
        </p:nvSpPr>
        <p:spPr>
          <a:xfrm>
            <a:off x="4097163" y="2872249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8" name="diagram block">
            <a:extLst>
              <a:ext uri="{FF2B5EF4-FFF2-40B4-BE49-F238E27FC236}">
                <ns2:creationId id="{2071F937-7146-4BFD-B7E8-990718CAD32D}"/>
              </a:ext>
            </a:extLst>
          </p:cNvPr>
          <p:cNvSpPr>
            <a:spLocks noGrp="1"/>
          </p:cNvSpPr>
          <p:nvPr/>
        </p:nvSpPr>
        <p:spPr>
          <a:xfrm>
            <a:off x="4205550" y="2872249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9" name="7">
            <a:extLst>
              <a:ext uri="{FF2B5EF4-FFF2-40B4-BE49-F238E27FC236}">
                <ns2:creationId id="{7647099E-99AE-45BF-88E0-3332AE0A34D7}"/>
              </a:ext>
            </a:extLst>
          </p:cNvPr>
          <p:cNvSpPr>
            <a:spLocks noGrp="1"/>
          </p:cNvSpPr>
          <p:nvPr/>
        </p:nvSpPr>
        <p:spPr>
          <a:xfrm>
            <a:off x="409716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0" name="7">
            <a:extLst>
              <a:ext uri="{FF2B5EF4-FFF2-40B4-BE49-F238E27FC236}">
                <ns2:creationId id="{29727305-F189-4926-8EDE-A69407CC2E0C}"/>
              </a:ext>
            </a:extLst>
          </p:cNvPr>
          <p:cNvSpPr>
            <a:spLocks noGrp="1"/>
          </p:cNvSpPr>
          <p:nvPr/>
        </p:nvSpPr>
        <p:spPr>
          <a:xfrm>
            <a:off x="3307488" y="298321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1" name="diagram block">
            <a:extLst>
              <a:ext uri="{FF2B5EF4-FFF2-40B4-BE49-F238E27FC236}">
                <ns2:creationId id="{41AC3660-F5EC-437B-A887-E425063A83EF}"/>
              </a:ext>
            </a:extLst>
          </p:cNvPr>
          <p:cNvSpPr>
            <a:spLocks noGrp="1"/>
          </p:cNvSpPr>
          <p:nvPr/>
        </p:nvSpPr>
        <p:spPr>
          <a:xfrm>
            <a:off x="3446842" y="2978055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2" name="diagram block">
            <a:extLst>
              <a:ext uri="{FF2B5EF4-FFF2-40B4-BE49-F238E27FC236}">
                <ns2:creationId id="{8D85C005-4887-4674-8101-4AC19CEE3B36}"/>
              </a:ext>
            </a:extLst>
          </p:cNvPr>
          <p:cNvSpPr>
            <a:spLocks noGrp="1"/>
          </p:cNvSpPr>
          <p:nvPr/>
        </p:nvSpPr>
        <p:spPr>
          <a:xfrm>
            <a:off x="3555229" y="2978055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3" name="diagram block">
            <a:extLst>
              <a:ext uri="{FF2B5EF4-FFF2-40B4-BE49-F238E27FC236}">
                <ns2:creationId id="{AD99848F-6839-4523-9AED-92DD16190C41}"/>
              </a:ext>
            </a:extLst>
          </p:cNvPr>
          <p:cNvSpPr>
            <a:spLocks noGrp="1"/>
          </p:cNvSpPr>
          <p:nvPr/>
        </p:nvSpPr>
        <p:spPr>
          <a:xfrm>
            <a:off x="3663616" y="2978055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4" name="diagram block">
            <a:extLst>
              <a:ext uri="{FF2B5EF4-FFF2-40B4-BE49-F238E27FC236}">
                <ns2:creationId id="{D31986F3-37A1-446C-9C37-67758A02D55A}"/>
              </a:ext>
            </a:extLst>
          </p:cNvPr>
          <p:cNvSpPr>
            <a:spLocks noGrp="1"/>
          </p:cNvSpPr>
          <p:nvPr/>
        </p:nvSpPr>
        <p:spPr>
          <a:xfrm>
            <a:off x="3772003" y="2978055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5" name="diagram block">
            <a:extLst>
              <a:ext uri="{FF2B5EF4-FFF2-40B4-BE49-F238E27FC236}">
                <ns2:creationId id="{5D4F9FB7-D319-4349-8215-9E87070FD118}"/>
              </a:ext>
            </a:extLst>
          </p:cNvPr>
          <p:cNvSpPr>
            <a:spLocks noGrp="1"/>
          </p:cNvSpPr>
          <p:nvPr/>
        </p:nvSpPr>
        <p:spPr>
          <a:xfrm>
            <a:off x="3880389" y="2978055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6" name="diagram block">
            <a:extLst>
              <a:ext uri="{FF2B5EF4-FFF2-40B4-BE49-F238E27FC236}">
                <ns2:creationId id="{9F44678A-E451-4726-B868-319A7D7B9D5D}"/>
              </a:ext>
            </a:extLst>
          </p:cNvPr>
          <p:cNvSpPr>
            <a:spLocks noGrp="1"/>
          </p:cNvSpPr>
          <p:nvPr/>
        </p:nvSpPr>
        <p:spPr>
          <a:xfrm>
            <a:off x="3988776" y="2978055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7" name="diagram block">
            <a:extLst>
              <a:ext uri="{FF2B5EF4-FFF2-40B4-BE49-F238E27FC236}">
                <ns2:creationId id="{5A8AE7E2-67C6-45AE-BD9D-53D79225D685}"/>
              </a:ext>
            </a:extLst>
          </p:cNvPr>
          <p:cNvSpPr>
            <a:spLocks noGrp="1"/>
          </p:cNvSpPr>
          <p:nvPr/>
        </p:nvSpPr>
        <p:spPr>
          <a:xfrm>
            <a:off x="4097163" y="2978055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8" name="×">
            <a:extLst>
              <a:ext uri="{FF2B5EF4-FFF2-40B4-BE49-F238E27FC236}">
                <ns2:creationId id="{EE44BF63-2F7B-4759-9BE1-C4070FB2E9E7}"/>
              </a:ext>
            </a:extLst>
          </p:cNvPr>
          <p:cNvSpPr>
            <a:spLocks noGrp="1"/>
          </p:cNvSpPr>
          <p:nvPr/>
        </p:nvSpPr>
        <p:spPr>
          <a:xfrm>
            <a:off x="4097163" y="2972894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69" name="diagram block">
            <a:extLst>
              <a:ext uri="{FF2B5EF4-FFF2-40B4-BE49-F238E27FC236}">
                <ns2:creationId id="{597D8FFC-A1CA-406C-8866-1083D92336A5}"/>
              </a:ext>
            </a:extLst>
          </p:cNvPr>
          <p:cNvSpPr>
            <a:spLocks noGrp="1"/>
          </p:cNvSpPr>
          <p:nvPr/>
        </p:nvSpPr>
        <p:spPr>
          <a:xfrm>
            <a:off x="4205550" y="2978055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0" name="8">
            <a:extLst>
              <a:ext uri="{FF2B5EF4-FFF2-40B4-BE49-F238E27FC236}">
                <ns2:creationId id="{7CBFC231-B851-4592-BDA4-D6BE898F5F0D}"/>
              </a:ext>
            </a:extLst>
          </p:cNvPr>
          <p:cNvSpPr>
            <a:spLocks noGrp="1"/>
          </p:cNvSpPr>
          <p:nvPr/>
        </p:nvSpPr>
        <p:spPr>
          <a:xfrm>
            <a:off x="4205550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1" name="8">
            <a:extLst>
              <a:ext uri="{FF2B5EF4-FFF2-40B4-BE49-F238E27FC236}">
                <ns2:creationId id="{5AAEE8AF-FD97-4289-963B-E736964A855A}"/>
              </a:ext>
            </a:extLst>
          </p:cNvPr>
          <p:cNvSpPr>
            <a:spLocks noGrp="1"/>
          </p:cNvSpPr>
          <p:nvPr/>
        </p:nvSpPr>
        <p:spPr>
          <a:xfrm>
            <a:off x="3307488" y="308902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72" name="diagram block">
            <a:extLst>
              <a:ext uri="{FF2B5EF4-FFF2-40B4-BE49-F238E27FC236}">
                <ns2:creationId id="{14CF1D6C-F203-4C61-8C01-3DCBF2B9C4D2}"/>
              </a:ext>
            </a:extLst>
          </p:cNvPr>
          <p:cNvSpPr>
            <a:spLocks noGrp="1"/>
          </p:cNvSpPr>
          <p:nvPr/>
        </p:nvSpPr>
        <p:spPr>
          <a:xfrm>
            <a:off x="3446842" y="308386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3" name="diagram block">
            <a:extLst>
              <a:ext uri="{FF2B5EF4-FFF2-40B4-BE49-F238E27FC236}">
                <ns2:creationId id="{890CC493-099B-45AE-9AEC-FF81D6E5B41B}"/>
              </a:ext>
            </a:extLst>
          </p:cNvPr>
          <p:cNvSpPr>
            <a:spLocks noGrp="1"/>
          </p:cNvSpPr>
          <p:nvPr/>
        </p:nvSpPr>
        <p:spPr>
          <a:xfrm>
            <a:off x="3555229" y="308386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4" name="diagram block">
            <a:extLst>
              <a:ext uri="{FF2B5EF4-FFF2-40B4-BE49-F238E27FC236}">
                <ns2:creationId id="{5B853A71-6E3C-4ABA-9134-8397DE82B747}"/>
              </a:ext>
            </a:extLst>
          </p:cNvPr>
          <p:cNvSpPr>
            <a:spLocks noGrp="1"/>
          </p:cNvSpPr>
          <p:nvPr/>
        </p:nvSpPr>
        <p:spPr>
          <a:xfrm>
            <a:off x="3663616" y="308386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5" name="diagram block">
            <a:extLst>
              <a:ext uri="{FF2B5EF4-FFF2-40B4-BE49-F238E27FC236}">
                <ns2:creationId id="{B3EAF11A-5D5F-499D-89B8-F1089E0182E2}"/>
              </a:ext>
            </a:extLst>
          </p:cNvPr>
          <p:cNvSpPr>
            <a:spLocks noGrp="1"/>
          </p:cNvSpPr>
          <p:nvPr/>
        </p:nvSpPr>
        <p:spPr>
          <a:xfrm>
            <a:off x="3772003" y="308386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6" name="diagram block">
            <a:extLst>
              <a:ext uri="{FF2B5EF4-FFF2-40B4-BE49-F238E27FC236}">
                <ns2:creationId id="{44080FF6-7C09-4267-9620-B1FADB3CE8E3}"/>
              </a:ext>
            </a:extLst>
          </p:cNvPr>
          <p:cNvSpPr>
            <a:spLocks noGrp="1"/>
          </p:cNvSpPr>
          <p:nvPr/>
        </p:nvSpPr>
        <p:spPr>
          <a:xfrm>
            <a:off x="3880389" y="308386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7" name="diagram block">
            <a:extLst>
              <a:ext uri="{FF2B5EF4-FFF2-40B4-BE49-F238E27FC236}">
                <ns2:creationId id="{09E4674C-C0D7-4604-9B4E-CE0864300811}"/>
              </a:ext>
            </a:extLst>
          </p:cNvPr>
          <p:cNvSpPr>
            <a:spLocks noGrp="1"/>
          </p:cNvSpPr>
          <p:nvPr/>
        </p:nvSpPr>
        <p:spPr>
          <a:xfrm>
            <a:off x="3988776" y="3083861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8" name="diagram block">
            <a:extLst>
              <a:ext uri="{FF2B5EF4-FFF2-40B4-BE49-F238E27FC236}">
                <ns2:creationId id="{66AC8B38-D446-470A-8CF9-3FE137B5BA29}"/>
              </a:ext>
            </a:extLst>
          </p:cNvPr>
          <p:cNvSpPr>
            <a:spLocks noGrp="1"/>
          </p:cNvSpPr>
          <p:nvPr/>
        </p:nvSpPr>
        <p:spPr>
          <a:xfrm>
            <a:off x="4097163" y="308386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9" name="diagram block">
            <a:extLst>
              <a:ext uri="{FF2B5EF4-FFF2-40B4-BE49-F238E27FC236}">
                <ns2:creationId id="{536302CA-B095-492B-84CC-B715ACDF597A}"/>
              </a:ext>
            </a:extLst>
          </p:cNvPr>
          <p:cNvSpPr>
            <a:spLocks noGrp="1"/>
          </p:cNvSpPr>
          <p:nvPr/>
        </p:nvSpPr>
        <p:spPr>
          <a:xfrm>
            <a:off x="4205550" y="308386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80" name="×">
            <a:extLst>
              <a:ext uri="{FF2B5EF4-FFF2-40B4-BE49-F238E27FC236}">
                <ns2:creationId id="{6DCD3595-FBCB-43F8-A63A-D505ED5ED8A5}"/>
              </a:ext>
            </a:extLst>
          </p:cNvPr>
          <p:cNvSpPr>
            <a:spLocks noGrp="1"/>
          </p:cNvSpPr>
          <p:nvPr/>
        </p:nvSpPr>
        <p:spPr>
          <a:xfrm>
            <a:off x="4205550" y="3078700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243647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281" name="dᵢⱼ">
            <a:extLst>
              <a:ext uri="{FF2B5EF4-FFF2-40B4-BE49-F238E27FC236}">
                <ns2:creationId id="{6199C30B-B576-4D2B-AB73-086F248731F9}"/>
              </a:ext>
            </a:extLst>
          </p:cNvPr>
          <p:cNvSpPr>
            <a:spLocks noGrp="1"/>
          </p:cNvSpPr>
          <p:nvPr/>
        </p:nvSpPr>
        <p:spPr>
          <a:xfrm>
            <a:off x="4422323" y="2260638"/>
            <a:ext cx="17548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</a:t>
            </a:r>
          </a:p>
        </p:txBody>
      </p:sp>
      <p:sp>
        <p:nvSpPr>
          <p:cNvPr id="282" name="diagram block">
            <a:extLst>
              <a:ext uri="{FF2B5EF4-FFF2-40B4-BE49-F238E27FC236}">
                <ns2:creationId id="{F14D1B20-4893-440B-AF29-7E0CD329CFA4}"/>
              </a:ext>
            </a:extLst>
          </p:cNvPr>
          <p:cNvSpPr>
            <a:spLocks noGrp="1"/>
          </p:cNvSpPr>
          <p:nvPr/>
        </p:nvSpPr>
        <p:spPr>
          <a:xfrm>
            <a:off x="4386194" y="2394831"/>
            <a:ext cx="77419" cy="707095"/>
          </a:xfrm>
          <a:prstGeom prst="rect">
            <a:avLst/>
          </a:prstGeom>
          <a:gradFill>
            <a:gsLst>
              <a:gs pos="0">
                <a:srgbClr val="1E609E"/>
              </a:gs>
              <a:gs pos="100000">
                <a:srgbClr val="D2E6F4"/>
              </a:gs>
            </a:gsLst>
            <a:lin ang="5400000"/>
          </a:gradFill>
          <a:ln w="3097">
            <a:solidFill>
              <a:srgbClr val="B6CADB"/>
            </a:solidFill>
            <a:prstDash val="solid"/>
          </a:ln>
        </p:spPr>
      </p:sp>
      <p:sp>
        <p:nvSpPr>
          <p:cNvPr id="283" name="high">
            <a:extLst>
              <a:ext uri="{FF2B5EF4-FFF2-40B4-BE49-F238E27FC236}">
                <ns2:creationId id="{4DC9ED9C-79C7-4D74-8D5B-3536BCA54F06}"/>
              </a:ext>
            </a:extLst>
          </p:cNvPr>
          <p:cNvSpPr>
            <a:spLocks noGrp="1"/>
          </p:cNvSpPr>
          <p:nvPr/>
        </p:nvSpPr>
        <p:spPr>
          <a:xfrm>
            <a:off x="4504903" y="2405154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high</a:t>
            </a:r>
          </a:p>
        </p:txBody>
      </p:sp>
      <p:sp>
        <p:nvSpPr>
          <p:cNvPr id="284" name="low">
            <a:extLst>
              <a:ext uri="{FF2B5EF4-FFF2-40B4-BE49-F238E27FC236}">
                <ns2:creationId id="{8CC86A3A-F88D-4578-9DBE-B8BB2E0E6EAF}"/>
              </a:ext>
            </a:extLst>
          </p:cNvPr>
          <p:cNvSpPr>
            <a:spLocks noGrp="1"/>
          </p:cNvSpPr>
          <p:nvPr/>
        </p:nvSpPr>
        <p:spPr>
          <a:xfrm>
            <a:off x="4504903" y="3019345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low</a:t>
            </a:r>
          </a:p>
        </p:txBody>
      </p:sp>
      <p:sp>
        <p:nvSpPr>
          <p:cNvPr id="285" name="Diagonal masked (no self-relation)">
            <a:extLst>
              <a:ext uri="{FF2B5EF4-FFF2-40B4-BE49-F238E27FC236}">
                <ns2:creationId id="{952948A7-4D12-4C0A-BC72-C5F2683CEC47}"/>
              </a:ext>
            </a:extLst>
          </p:cNvPr>
          <p:cNvSpPr>
            <a:spLocks noGrp="1"/>
          </p:cNvSpPr>
          <p:nvPr/>
        </p:nvSpPr>
        <p:spPr>
          <a:xfrm>
            <a:off x="3307488" y="3277409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Diagonal masked (no self-relation)</a:t>
            </a:r>
          </a:p>
        </p:txBody>
      </p:sp>
      <p:sp>
        <p:nvSpPr>
          <p:cNvPr id="286" name="All other windows are neighbors">
            <a:extLst>
              <a:ext uri="{FF2B5EF4-FFF2-40B4-BE49-F238E27FC236}">
                <ns2:creationId id="{1F6DD448-BCF6-48C7-B730-C6318B8DA41A}"/>
              </a:ext>
            </a:extLst>
          </p:cNvPr>
          <p:cNvSpPr>
            <a:spLocks noGrp="1"/>
          </p:cNvSpPr>
          <p:nvPr/>
        </p:nvSpPr>
        <p:spPr>
          <a:xfrm>
            <a:off x="3307488" y="3401280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</a:t>
            </a:r>
          </a:p>
        </p:txBody>
      </p:sp>
      <p:sp>
        <p:nvSpPr>
          <p:cNvPr id="287" name="diagram block">
            <a:extLst>
              <a:ext uri="{FF2B5EF4-FFF2-40B4-BE49-F238E27FC236}">
                <ns2:creationId id="{537968B8-3EEE-4249-A23A-B07855C035A9}"/>
              </a:ext>
            </a:extLst>
          </p:cNvPr>
          <p:cNvSpPr>
            <a:spLocks noGrp="1"/>
          </p:cNvSpPr>
          <p:nvPr/>
        </p:nvSpPr>
        <p:spPr>
          <a:xfrm>
            <a:off x="4721677" y="2229670"/>
            <a:ext cx="1176770" cy="1326447"/>
          </a:xfrm>
          <a:prstGeom prst="roundRect">
            <a:avLst>
              <a:gd name="adj" fmla="val 1754"/>
            </a:avLst>
          </a:prstGeom>
          <a:solidFill>
            <a:srgbClr val="F8FBFF"/>
          </a:solidFill>
          <a:ln w="3871">
            <a:solidFill>
              <a:srgbClr val="C3DDF3"/>
            </a:solidFill>
            <a:prstDash val="solid"/>
          </a:ln>
        </p:spPr>
      </p:sp>
      <p:sp>
        <p:nvSpPr>
          <p:cNvPr id="288" name="dᵢⱼ =">
            <a:extLst>
              <a:ext uri="{FF2B5EF4-FFF2-40B4-BE49-F238E27FC236}">
                <ns2:creationId id="{03D9E068-C79F-4CF4-9B29-E7C110F7DE80}"/>
              </a:ext>
            </a:extLst>
          </p:cNvPr>
          <p:cNvSpPr>
            <a:spLocks noGrp="1"/>
          </p:cNvSpPr>
          <p:nvPr/>
        </p:nvSpPr>
        <p:spPr>
          <a:xfrm>
            <a:off x="4799096" y="2379347"/>
            <a:ext cx="283870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 =</a:t>
            </a:r>
          </a:p>
        </p:txBody>
      </p:sp>
      <p:sp>
        <p:nvSpPr>
          <p:cNvPr id="289" name="1">
            <a:extLst>
              <a:ext uri="{FF2B5EF4-FFF2-40B4-BE49-F238E27FC236}">
                <ns2:creationId id="{C1F8DD31-DEEE-4521-AE25-A8D2E2B6AB6B}"/>
              </a:ext>
            </a:extLst>
          </p:cNvPr>
          <p:cNvSpPr>
            <a:spLocks noGrp="1"/>
          </p:cNvSpPr>
          <p:nvPr/>
        </p:nvSpPr>
        <p:spPr>
          <a:xfrm>
            <a:off x="5088127" y="2332896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90" name="native PowerPoint connector">
            <a:extLst>
              <a:ext uri="{FF2B5EF4-FFF2-40B4-BE49-F238E27FC236}">
                <ns2:creationId id="{7B8C3B4E-47D5-42E2-B6B0-A2970C47EBB8}"/>
              </a:ext>
            </a:extLst>
          </p:cNvPr>
          <p:cNvCxnSpPr/>
          <p:nvPr/>
        </p:nvCxnSpPr>
        <p:spPr>
          <a:xfrm flipH="0" flipV="0">
            <a:off x="5103611" y="2461876"/>
            <a:ext cx="98064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1" name="18">
            <a:extLst>
              <a:ext uri="{FF2B5EF4-FFF2-40B4-BE49-F238E27FC236}">
                <ns2:creationId id="{82D026B9-E668-481E-8C10-ADCCDB2EF059}"/>
              </a:ext>
            </a:extLst>
          </p:cNvPr>
          <p:cNvSpPr>
            <a:spLocks noGrp="1"/>
          </p:cNvSpPr>
          <p:nvPr/>
        </p:nvSpPr>
        <p:spPr>
          <a:xfrm>
            <a:off x="5088127" y="2469773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2" name="∑">
            <a:extLst>
              <a:ext uri="{FF2B5EF4-FFF2-40B4-BE49-F238E27FC236}">
                <ns2:creationId id="{F33B8DDF-B073-4A7E-96B3-0126F6B37E89}"/>
              </a:ext>
            </a:extLst>
          </p:cNvPr>
          <p:cNvSpPr>
            <a:spLocks noGrp="1"/>
          </p:cNvSpPr>
          <p:nvPr/>
        </p:nvSpPr>
        <p:spPr>
          <a:xfrm>
            <a:off x="5227482" y="2332896"/>
            <a:ext cx="201290" cy="2322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04"/>
          </a:bodyPr>
          <a:lstStyle>
            <a:def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293" name="18">
            <a:extLst>
              <a:ext uri="{FF2B5EF4-FFF2-40B4-BE49-F238E27FC236}">
                <ns2:creationId id="{E14659CC-96F7-4584-9745-4E7AF8B3672F}"/>
              </a:ext>
            </a:extLst>
          </p:cNvPr>
          <p:cNvSpPr>
            <a:spLocks noGrp="1"/>
          </p:cNvSpPr>
          <p:nvPr/>
        </p:nvSpPr>
        <p:spPr>
          <a:xfrm>
            <a:off x="5279095" y="2260638"/>
            <a:ext cx="14967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4" name="k=1">
            <a:extLst>
              <a:ext uri="{FF2B5EF4-FFF2-40B4-BE49-F238E27FC236}">
                <ns2:creationId id="{61506C91-2352-4321-B594-B3000A150F49}"/>
              </a:ext>
            </a:extLst>
          </p:cNvPr>
          <p:cNvSpPr>
            <a:spLocks noGrp="1"/>
          </p:cNvSpPr>
          <p:nvPr/>
        </p:nvSpPr>
        <p:spPr>
          <a:xfrm>
            <a:off x="5211998" y="2559992"/>
            <a:ext cx="22193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k=1</a:t>
            </a:r>
          </a:p>
        </p:txBody>
      </p:sp>
      <p:sp>
        <p:nvSpPr>
          <p:cNvPr id="295" name="(uᵢₖ − uⱼₖ)²">
            <a:extLst>
              <a:ext uri="{FF2B5EF4-FFF2-40B4-BE49-F238E27FC236}">
                <ns2:creationId id="{D4BAFEFF-BE53-425B-A99F-54DE3B44A9E3}"/>
              </a:ext>
            </a:extLst>
          </p:cNvPr>
          <p:cNvSpPr>
            <a:spLocks noGrp="1"/>
          </p:cNvSpPr>
          <p:nvPr/>
        </p:nvSpPr>
        <p:spPr>
          <a:xfrm>
            <a:off x="5402965" y="2394831"/>
            <a:ext cx="469676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09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(uᵢₖ − uⱼₖ)²</a:t>
            </a:r>
          </a:p>
        </p:txBody>
      </p:sp>
      <p:sp>
        <p:nvSpPr>
          <p:cNvPr id="296" name="p(j | i) =">
            <a:extLst>
              <a:ext uri="{FF2B5EF4-FFF2-40B4-BE49-F238E27FC236}">
                <ns2:creationId id="{BFFD4DC8-6803-48FA-9C6F-B27463C1CCBA}"/>
              </a:ext>
            </a:extLst>
          </p:cNvPr>
          <p:cNvSpPr>
            <a:spLocks noGrp="1"/>
          </p:cNvSpPr>
          <p:nvPr/>
        </p:nvSpPr>
        <p:spPr>
          <a:xfrm>
            <a:off x="4773290" y="2776765"/>
            <a:ext cx="459353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p(j | i) =</a:t>
            </a:r>
          </a:p>
        </p:txBody>
      </p:sp>
      <p:sp>
        <p:nvSpPr>
          <p:cNvPr id="297" name="exp(−dᵢⱼ / τₐ)">
            <a:extLst>
              <a:ext uri="{FF2B5EF4-FFF2-40B4-BE49-F238E27FC236}">
                <ns2:creationId id="{3B4F9A4F-968E-43B0-90A7-C6DD76DD86E0}"/>
              </a:ext>
            </a:extLst>
          </p:cNvPr>
          <p:cNvSpPr>
            <a:spLocks noGrp="1"/>
          </p:cNvSpPr>
          <p:nvPr/>
        </p:nvSpPr>
        <p:spPr>
          <a:xfrm>
            <a:off x="5217159" y="2689024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</a:t>
            </a: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(−dᵢⱼ / τₐ)</a:t>
            </a:r>
          </a:p>
        </p:txBody>
      </p:sp>
      <p:cxnSp>
        <p:nvCxnSpPr>
          <p:cNvPr id="298" name="native PowerPoint connector">
            <a:extLst>
              <a:ext uri="{FF2B5EF4-FFF2-40B4-BE49-F238E27FC236}">
                <ns2:creationId id="{C6503CA3-6531-4F09-B3AF-166332F72E78}"/>
              </a:ext>
            </a:extLst>
          </p:cNvPr>
          <p:cNvCxnSpPr/>
          <p:nvPr/>
        </p:nvCxnSpPr>
        <p:spPr>
          <a:xfrm flipH="0" flipV="0">
            <a:off x="5232643" y="2843294"/>
            <a:ext cx="619353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9" name="∑ₖ≠ᵢ exp(−dᵢₖ / τₐ)">
            <a:extLst>
              <a:ext uri="{FF2B5EF4-FFF2-40B4-BE49-F238E27FC236}">
                <ns2:creationId id="{AF119F7D-12A0-4AFE-B23D-30B9C37F9B6A}"/>
              </a:ext>
            </a:extLst>
          </p:cNvPr>
          <p:cNvSpPr>
            <a:spLocks noGrp="1"/>
          </p:cNvSpPr>
          <p:nvPr/>
        </p:nvSpPr>
        <p:spPr>
          <a:xfrm>
            <a:off x="5217159" y="2852739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283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∑ₖ≠ᵢ </a:t>
            </a:r>
            <a:r>
              <a:rPr sz="853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</a:t>
            </a: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(−dᵢₖ / τₐ)</a:t>
            </a:r>
          </a:p>
        </p:txBody>
      </p:sp>
      <p:sp>
        <p:nvSpPr>
          <p:cNvPr id="300" name="for j ≠ i">
            <a:extLst>
              <a:ext uri="{FF2B5EF4-FFF2-40B4-BE49-F238E27FC236}">
                <ns2:creationId id="{5CB09DE3-0C59-47AE-B397-186430E13DD3}"/>
              </a:ext>
            </a:extLst>
          </p:cNvPr>
          <p:cNvSpPr>
            <a:spLocks noGrp="1"/>
          </p:cNvSpPr>
          <p:nvPr/>
        </p:nvSpPr>
        <p:spPr>
          <a:xfrm>
            <a:off x="5088127" y="3081281"/>
            <a:ext cx="717417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96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j ≠ i</a:t>
            </a:r>
          </a:p>
        </p:txBody>
      </p:sp>
      <p:sp>
        <p:nvSpPr>
          <p:cNvPr id="301" name="τₐ: frozen temperature">
            <a:extLst>
              <a:ext uri="{FF2B5EF4-FFF2-40B4-BE49-F238E27FC236}">
                <ns2:creationId id="{392953E2-6D6A-42F7-9D71-243C7CDE1F21}"/>
              </a:ext>
            </a:extLst>
          </p:cNvPr>
          <p:cNvSpPr>
            <a:spLocks noGrp="1"/>
          </p:cNvSpPr>
          <p:nvPr/>
        </p:nvSpPr>
        <p:spPr>
          <a:xfrm>
            <a:off x="4799096" y="3215474"/>
            <a:ext cx="1037416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τₐ: frozen temperature</a:t>
            </a:r>
          </a:p>
        </p:txBody>
      </p:sp>
      <p:sp>
        <p:nvSpPr>
          <p:cNvPr id="302" name="(teacher and student share τₐ)">
            <a:extLst>
              <a:ext uri="{FF2B5EF4-FFF2-40B4-BE49-F238E27FC236}">
                <ns2:creationId id="{EDA9D700-54F9-4C7E-A3CB-6D0F5CAB539F}"/>
              </a:ext>
            </a:extLst>
          </p:cNvPr>
          <p:cNvSpPr>
            <a:spLocks noGrp="1"/>
          </p:cNvSpPr>
          <p:nvPr/>
        </p:nvSpPr>
        <p:spPr>
          <a:xfrm>
            <a:off x="4793935" y="3349667"/>
            <a:ext cx="1047739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46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(teacher and student share τₐ)</a:t>
            </a:r>
          </a:p>
        </p:txBody>
      </p:sp>
      <p:sp>
        <p:nvSpPr>
          <p:cNvPr id="303" name="diagram block">
            <a:extLst>
              <a:ext uri="{FF2B5EF4-FFF2-40B4-BE49-F238E27FC236}">
                <ns2:creationId id="{A1C30B04-4885-4D39-9333-39FDA4B65DFB}"/>
              </a:ext>
            </a:extLst>
          </p:cNvPr>
          <p:cNvSpPr>
            <a:spLocks noGrp="1"/>
          </p:cNvSpPr>
          <p:nvPr/>
        </p:nvSpPr>
        <p:spPr>
          <a:xfrm>
            <a:off x="3292004" y="3623214"/>
            <a:ext cx="2611605" cy="304515"/>
          </a:xfrm>
          <a:prstGeom prst="roundRect">
            <a:avLst>
              <a:gd name="adj" fmla="val 10169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9A0"/>
            </a:solidFill>
            <a:prstDash val="solid"/>
          </a:ln>
        </p:spPr>
      </p:sp>
      <p:sp>
        <p:nvSpPr>
          <p:cNvPr id="304" name="L_temp,a = mean_i KL(p^T(· | i) || p^S(· | i))">
            <a:extLst>
              <a:ext uri="{FF2B5EF4-FFF2-40B4-BE49-F238E27FC236}">
                <ns2:creationId id="{E4D4FDCF-EDB4-4501-9878-61B6A09543C2}"/>
              </a:ext>
            </a:extLst>
          </p:cNvPr>
          <p:cNvSpPr>
            <a:spLocks noGrp="1"/>
          </p:cNvSpPr>
          <p:nvPr/>
        </p:nvSpPr>
        <p:spPr>
          <a:xfrm>
            <a:off x="3348778" y="3710956"/>
            <a:ext cx="2503218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75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</a:t>
            </a:r>
            <a:r>
              <a:rPr sz="71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 || p</a:t>
            </a:r>
            <a:r>
              <a:rPr sz="71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i))</a:t>
            </a:r>
          </a:p>
        </p:txBody>
      </p:sp>
      <p:sp>
        <p:nvSpPr>
          <p:cNvPr id="305" name="All other windows are neighbors (diagonal masked).">
            <a:extLst>
              <a:ext uri="{FF2B5EF4-FFF2-40B4-BE49-F238E27FC236}">
                <ns2:creationId id="{AA5C3A0B-E1DE-4088-B329-79F862E943EF}"/>
              </a:ext>
            </a:extLst>
          </p:cNvPr>
          <p:cNvSpPr>
            <a:spLocks noGrp="1"/>
          </p:cNvSpPr>
          <p:nvPr/>
        </p:nvSpPr>
        <p:spPr>
          <a:xfrm>
            <a:off x="3322972" y="3999987"/>
            <a:ext cx="25341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All other windows are neighbors (diagonal masked).</a:t>
            </a:r>
          </a:p>
        </p:txBody>
      </p:sp>
      <p:sp>
        <p:nvSpPr>
          <p:cNvPr id="306" name="diagram block">
            <a:extLst>
              <a:ext uri="{FF2B5EF4-FFF2-40B4-BE49-F238E27FC236}">
                <ns2:creationId id="{47B78E69-801A-41FC-99A1-428BAB921F52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</p:sp>
      <p:sp>
        <p:nvSpPr>
          <p:cNvPr id="307" name="diagram block">
            <a:extLst>
              <a:ext uri="{FF2B5EF4-FFF2-40B4-BE49-F238E27FC236}">
                <ns2:creationId id="{F781A8CE-5488-4CA5-AF86-9E77047E7518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308" name="Camera 1 (view 1)">
            <a:extLst>
              <a:ext uri="{FF2B5EF4-FFF2-40B4-BE49-F238E27FC236}">
                <ns2:creationId id="{B3F4B4AD-7F2D-4EEA-BFC1-848A6E93BBAE}"/>
              </a:ext>
            </a:extLst>
          </p:cNvPr>
          <p:cNvSpPr>
            <a:spLocks noGrp="1"/>
          </p:cNvSpPr>
          <p:nvPr/>
        </p:nvSpPr>
        <p:spPr>
          <a:xfrm>
            <a:off x="6099737" y="676127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1 (view 1)</a:t>
            </a:r>
          </a:p>
        </p:txBody>
      </p:sp>
      <p:sp>
        <p:nvSpPr>
          <p:cNvPr id="309" name="Time 1 (future)">
            <a:extLst>
              <a:ext uri="{FF2B5EF4-FFF2-40B4-BE49-F238E27FC236}">
                <ns2:creationId id="{C1A0A746-9FFE-4BCA-98A0-F62C02C5323B}"/>
              </a:ext>
            </a:extLst>
          </p:cNvPr>
          <p:cNvSpPr>
            <a:spLocks noGrp="1"/>
          </p:cNvSpPr>
          <p:nvPr/>
        </p:nvSpPr>
        <p:spPr>
          <a:xfrm>
            <a:off x="6182317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310" name="Time 2 (future)">
            <a:extLst>
              <a:ext uri="{FF2B5EF4-FFF2-40B4-BE49-F238E27FC236}">
                <ns2:creationId id="{7323CB58-75AA-4744-A27E-0B7A538BF018}"/>
              </a:ext>
            </a:extLst>
          </p:cNvPr>
          <p:cNvSpPr>
            <a:spLocks noGrp="1"/>
          </p:cNvSpPr>
          <p:nvPr/>
        </p:nvSpPr>
        <p:spPr>
          <a:xfrm>
            <a:off x="7064895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311" name="diagram block">
            <a:extLst>
              <a:ext uri="{FF2B5EF4-FFF2-40B4-BE49-F238E27FC236}">
                <ns2:creationId id="{11D25D9D-07F8-49EC-9C76-C5E6D5221000}"/>
              </a:ext>
            </a:extLst>
          </p:cNvPr>
          <p:cNvSpPr>
            <a:spLocks noGrp="1"/>
          </p:cNvSpPr>
          <p:nvPr/>
        </p:nvSpPr>
        <p:spPr>
          <a:xfrm>
            <a:off x="619780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2" name="diagram block">
            <a:extLst>
              <a:ext uri="{FF2B5EF4-FFF2-40B4-BE49-F238E27FC236}">
                <ns2:creationId id="{59B76705-EDFE-4F4D-8EA0-841CBCF3A76B}"/>
              </a:ext>
            </a:extLst>
          </p:cNvPr>
          <p:cNvSpPr>
            <a:spLocks noGrp="1"/>
          </p:cNvSpPr>
          <p:nvPr/>
        </p:nvSpPr>
        <p:spPr>
          <a:xfrm>
            <a:off x="630360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3" name="diagram block">
            <a:extLst>
              <a:ext uri="{FF2B5EF4-FFF2-40B4-BE49-F238E27FC236}">
                <ns2:creationId id="{C112C702-BC80-413A-B18D-DB6E823486EC}"/>
              </a:ext>
            </a:extLst>
          </p:cNvPr>
          <p:cNvSpPr>
            <a:spLocks noGrp="1"/>
          </p:cNvSpPr>
          <p:nvPr/>
        </p:nvSpPr>
        <p:spPr>
          <a:xfrm>
            <a:off x="640941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4" name="diagram block">
            <a:extLst>
              <a:ext uri="{FF2B5EF4-FFF2-40B4-BE49-F238E27FC236}">
                <ns2:creationId id="{5F9A1DA4-123D-493F-940F-70F70D6CF932}"/>
              </a:ext>
            </a:extLst>
          </p:cNvPr>
          <p:cNvSpPr>
            <a:spLocks noGrp="1"/>
          </p:cNvSpPr>
          <p:nvPr/>
        </p:nvSpPr>
        <p:spPr>
          <a:xfrm>
            <a:off x="651522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5" name="diagram block">
            <a:extLst>
              <a:ext uri="{FF2B5EF4-FFF2-40B4-BE49-F238E27FC236}">
                <ns2:creationId id="{FB1112F6-5CF1-415C-9E1C-C90D10B65471}"/>
              </a:ext>
            </a:extLst>
          </p:cNvPr>
          <p:cNvSpPr>
            <a:spLocks noGrp="1"/>
          </p:cNvSpPr>
          <p:nvPr/>
        </p:nvSpPr>
        <p:spPr>
          <a:xfrm>
            <a:off x="662102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6" name="diagram block">
            <a:extLst>
              <a:ext uri="{FF2B5EF4-FFF2-40B4-BE49-F238E27FC236}">
                <ns2:creationId id="{B4DC380B-E89B-4498-BA82-9A030DDBC5E6}"/>
              </a:ext>
            </a:extLst>
          </p:cNvPr>
          <p:cNvSpPr>
            <a:spLocks noGrp="1"/>
          </p:cNvSpPr>
          <p:nvPr/>
        </p:nvSpPr>
        <p:spPr>
          <a:xfrm>
            <a:off x="6726832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7" name="diagram block">
            <a:extLst>
              <a:ext uri="{FF2B5EF4-FFF2-40B4-BE49-F238E27FC236}">
                <ns2:creationId id="{968BD5CA-389C-4AF2-9B6E-F892AA3D16C1}"/>
              </a:ext>
            </a:extLst>
          </p:cNvPr>
          <p:cNvSpPr>
            <a:spLocks noGrp="1"/>
          </p:cNvSpPr>
          <p:nvPr/>
        </p:nvSpPr>
        <p:spPr>
          <a:xfrm>
            <a:off x="6832638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8" name="diagram block">
            <a:extLst>
              <a:ext uri="{FF2B5EF4-FFF2-40B4-BE49-F238E27FC236}">
                <ns2:creationId id="{48D42FA3-3D5C-4E27-AEB8-F96F291EBDD9}"/>
              </a:ext>
            </a:extLst>
          </p:cNvPr>
          <p:cNvSpPr>
            <a:spLocks noGrp="1"/>
          </p:cNvSpPr>
          <p:nvPr/>
        </p:nvSpPr>
        <p:spPr>
          <a:xfrm>
            <a:off x="619780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9" name="diagram block">
            <a:extLst>
              <a:ext uri="{FF2B5EF4-FFF2-40B4-BE49-F238E27FC236}">
                <ns2:creationId id="{25AC4ED2-4870-4CAC-8EA0-4E7B45843C5C}"/>
              </a:ext>
            </a:extLst>
          </p:cNvPr>
          <p:cNvSpPr>
            <a:spLocks noGrp="1"/>
          </p:cNvSpPr>
          <p:nvPr/>
        </p:nvSpPr>
        <p:spPr>
          <a:xfrm>
            <a:off x="630360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0" name="diagram block">
            <a:extLst>
              <a:ext uri="{FF2B5EF4-FFF2-40B4-BE49-F238E27FC236}">
                <ns2:creationId id="{1C2F8946-454A-4960-A18F-E286E05CC82E}"/>
              </a:ext>
            </a:extLst>
          </p:cNvPr>
          <p:cNvSpPr>
            <a:spLocks noGrp="1"/>
          </p:cNvSpPr>
          <p:nvPr/>
        </p:nvSpPr>
        <p:spPr>
          <a:xfrm>
            <a:off x="640941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1" name="diagram block">
            <a:extLst>
              <a:ext uri="{FF2B5EF4-FFF2-40B4-BE49-F238E27FC236}">
                <ns2:creationId id="{A44D445D-442D-4836-BAC6-53FB77053CB1}"/>
              </a:ext>
            </a:extLst>
          </p:cNvPr>
          <p:cNvSpPr>
            <a:spLocks noGrp="1"/>
          </p:cNvSpPr>
          <p:nvPr/>
        </p:nvSpPr>
        <p:spPr>
          <a:xfrm>
            <a:off x="651522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2" name="diagram block">
            <a:extLst>
              <a:ext uri="{FF2B5EF4-FFF2-40B4-BE49-F238E27FC236}">
                <ns2:creationId id="{CF06EEBE-A504-4BB2-842E-1889BF84C216}"/>
              </a:ext>
            </a:extLst>
          </p:cNvPr>
          <p:cNvSpPr>
            <a:spLocks noGrp="1"/>
          </p:cNvSpPr>
          <p:nvPr/>
        </p:nvSpPr>
        <p:spPr>
          <a:xfrm>
            <a:off x="662102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3" name="diagram block">
            <a:extLst>
              <a:ext uri="{FF2B5EF4-FFF2-40B4-BE49-F238E27FC236}">
                <ns2:creationId id="{6E30B5F2-E52E-4696-9126-FA42DE36816C}"/>
              </a:ext>
            </a:extLst>
          </p:cNvPr>
          <p:cNvSpPr>
            <a:spLocks noGrp="1"/>
          </p:cNvSpPr>
          <p:nvPr/>
        </p:nvSpPr>
        <p:spPr>
          <a:xfrm>
            <a:off x="6726832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4" name="diagram block">
            <a:extLst>
              <a:ext uri="{FF2B5EF4-FFF2-40B4-BE49-F238E27FC236}">
                <ns2:creationId id="{89407BE6-C327-4082-A7A1-A9419056CA25}"/>
              </a:ext>
            </a:extLst>
          </p:cNvPr>
          <p:cNvSpPr>
            <a:spLocks noGrp="1"/>
          </p:cNvSpPr>
          <p:nvPr/>
        </p:nvSpPr>
        <p:spPr>
          <a:xfrm>
            <a:off x="6832638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5" name="diagram block">
            <a:extLst>
              <a:ext uri="{FF2B5EF4-FFF2-40B4-BE49-F238E27FC236}">
                <ns2:creationId id="{24317B10-4A95-4418-BCA5-2E69FD31FDF9}"/>
              </a:ext>
            </a:extLst>
          </p:cNvPr>
          <p:cNvSpPr>
            <a:spLocks noGrp="1"/>
          </p:cNvSpPr>
          <p:nvPr/>
        </p:nvSpPr>
        <p:spPr>
          <a:xfrm>
            <a:off x="619780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6" name="diagram block">
            <a:extLst>
              <a:ext uri="{FF2B5EF4-FFF2-40B4-BE49-F238E27FC236}">
                <ns2:creationId id="{5F9CCFF5-E053-4A73-9132-8481DD8A70A2}"/>
              </a:ext>
            </a:extLst>
          </p:cNvPr>
          <p:cNvSpPr>
            <a:spLocks noGrp="1"/>
          </p:cNvSpPr>
          <p:nvPr/>
        </p:nvSpPr>
        <p:spPr>
          <a:xfrm>
            <a:off x="630360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7" name="diagram block">
            <a:extLst>
              <a:ext uri="{FF2B5EF4-FFF2-40B4-BE49-F238E27FC236}">
                <ns2:creationId id="{5A2A7BF0-5A80-405A-A30F-E6B5EBCC342B}"/>
              </a:ext>
            </a:extLst>
          </p:cNvPr>
          <p:cNvSpPr>
            <a:spLocks noGrp="1"/>
          </p:cNvSpPr>
          <p:nvPr/>
        </p:nvSpPr>
        <p:spPr>
          <a:xfrm>
            <a:off x="6409414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8" name="diagram block">
            <a:extLst>
              <a:ext uri="{FF2B5EF4-FFF2-40B4-BE49-F238E27FC236}">
                <ns2:creationId id="{93D34F83-A83D-4CF1-89CE-5137323597E9}"/>
              </a:ext>
            </a:extLst>
          </p:cNvPr>
          <p:cNvSpPr>
            <a:spLocks noGrp="1"/>
          </p:cNvSpPr>
          <p:nvPr/>
        </p:nvSpPr>
        <p:spPr>
          <a:xfrm>
            <a:off x="6515220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9" name="diagram block">
            <a:extLst>
              <a:ext uri="{FF2B5EF4-FFF2-40B4-BE49-F238E27FC236}">
                <ns2:creationId id="{C984DB3F-2EE1-4050-B20F-6FE323FA5DBC}"/>
              </a:ext>
            </a:extLst>
          </p:cNvPr>
          <p:cNvSpPr>
            <a:spLocks noGrp="1"/>
          </p:cNvSpPr>
          <p:nvPr/>
        </p:nvSpPr>
        <p:spPr>
          <a:xfrm>
            <a:off x="6621026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0" name="diagram block">
            <a:extLst>
              <a:ext uri="{FF2B5EF4-FFF2-40B4-BE49-F238E27FC236}">
                <ns2:creationId id="{9330B4B3-AD4B-4577-8AF1-C78A9ABF0D7F}"/>
              </a:ext>
            </a:extLst>
          </p:cNvPr>
          <p:cNvSpPr>
            <a:spLocks noGrp="1"/>
          </p:cNvSpPr>
          <p:nvPr/>
        </p:nvSpPr>
        <p:spPr>
          <a:xfrm>
            <a:off x="6726832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1" name="diagram block">
            <a:extLst>
              <a:ext uri="{FF2B5EF4-FFF2-40B4-BE49-F238E27FC236}">
                <ns2:creationId id="{B8FAADD5-8903-4E5F-9B47-E02C5E0B642F}"/>
              </a:ext>
            </a:extLst>
          </p:cNvPr>
          <p:cNvSpPr>
            <a:spLocks noGrp="1"/>
          </p:cNvSpPr>
          <p:nvPr/>
        </p:nvSpPr>
        <p:spPr>
          <a:xfrm>
            <a:off x="6832638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2" name="diagram block">
            <a:extLst>
              <a:ext uri="{FF2B5EF4-FFF2-40B4-BE49-F238E27FC236}">
                <ns2:creationId id="{07784A1E-E954-4AF5-A3C3-34B8F0AC68AC}"/>
              </a:ext>
            </a:extLst>
          </p:cNvPr>
          <p:cNvSpPr>
            <a:spLocks noGrp="1"/>
          </p:cNvSpPr>
          <p:nvPr/>
        </p:nvSpPr>
        <p:spPr>
          <a:xfrm>
            <a:off x="619780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3" name="diagram block">
            <a:extLst>
              <a:ext uri="{FF2B5EF4-FFF2-40B4-BE49-F238E27FC236}">
                <ns2:creationId id="{E90210FA-91AE-4414-86D0-7F0143E7E031}"/>
              </a:ext>
            </a:extLst>
          </p:cNvPr>
          <p:cNvSpPr>
            <a:spLocks noGrp="1"/>
          </p:cNvSpPr>
          <p:nvPr/>
        </p:nvSpPr>
        <p:spPr>
          <a:xfrm>
            <a:off x="6303607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4" name="diagram block">
            <a:extLst>
              <a:ext uri="{FF2B5EF4-FFF2-40B4-BE49-F238E27FC236}">
                <ns2:creationId id="{9D5034C0-0681-4E4C-B32A-0474F13EC3B3}"/>
              </a:ext>
            </a:extLst>
          </p:cNvPr>
          <p:cNvSpPr>
            <a:spLocks noGrp="1"/>
          </p:cNvSpPr>
          <p:nvPr/>
        </p:nvSpPr>
        <p:spPr>
          <a:xfrm>
            <a:off x="6409414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5" name="diagram block">
            <a:extLst>
              <a:ext uri="{FF2B5EF4-FFF2-40B4-BE49-F238E27FC236}">
                <ns2:creationId id="{9E6AE8F6-61F2-4974-8AE5-61A9A8F5BC45}"/>
              </a:ext>
            </a:extLst>
          </p:cNvPr>
          <p:cNvSpPr>
            <a:spLocks noGrp="1"/>
          </p:cNvSpPr>
          <p:nvPr/>
        </p:nvSpPr>
        <p:spPr>
          <a:xfrm>
            <a:off x="6515220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</p:sp>
      <p:sp>
        <p:nvSpPr>
          <p:cNvPr id="336" name="diagram block">
            <a:extLst>
              <a:ext uri="{FF2B5EF4-FFF2-40B4-BE49-F238E27FC236}">
                <ns2:creationId id="{55690669-4535-492E-8422-66202466F807}"/>
              </a:ext>
            </a:extLst>
          </p:cNvPr>
          <p:cNvSpPr>
            <a:spLocks noGrp="1"/>
          </p:cNvSpPr>
          <p:nvPr/>
        </p:nvSpPr>
        <p:spPr>
          <a:xfrm>
            <a:off x="6621026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7" name="diagram block">
            <a:extLst>
              <a:ext uri="{FF2B5EF4-FFF2-40B4-BE49-F238E27FC236}">
                <ns2:creationId id="{3BF31B34-75C7-4E19-9E39-79F429B7BF75}"/>
              </a:ext>
            </a:extLst>
          </p:cNvPr>
          <p:cNvSpPr>
            <a:spLocks noGrp="1"/>
          </p:cNvSpPr>
          <p:nvPr/>
        </p:nvSpPr>
        <p:spPr>
          <a:xfrm>
            <a:off x="6726832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8" name="diagram block">
            <a:extLst>
              <a:ext uri="{FF2B5EF4-FFF2-40B4-BE49-F238E27FC236}">
                <ns2:creationId id="{827EFC5A-A6EC-4FEA-B996-27FC90A80F1E}"/>
              </a:ext>
            </a:extLst>
          </p:cNvPr>
          <p:cNvSpPr>
            <a:spLocks noGrp="1"/>
          </p:cNvSpPr>
          <p:nvPr/>
        </p:nvSpPr>
        <p:spPr>
          <a:xfrm>
            <a:off x="6832638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9" name="diagram block">
            <a:extLst>
              <a:ext uri="{FF2B5EF4-FFF2-40B4-BE49-F238E27FC236}">
                <ns2:creationId id="{325B1037-16B7-4C51-B49C-68C7BC361C61}"/>
              </a:ext>
            </a:extLst>
          </p:cNvPr>
          <p:cNvSpPr>
            <a:spLocks noGrp="1"/>
          </p:cNvSpPr>
          <p:nvPr/>
        </p:nvSpPr>
        <p:spPr>
          <a:xfrm>
            <a:off x="619780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0" name="diagram block">
            <a:extLst>
              <a:ext uri="{FF2B5EF4-FFF2-40B4-BE49-F238E27FC236}">
                <ns2:creationId id="{FC4D1AB0-5AEF-475D-8529-FAC764F1F6B2}"/>
              </a:ext>
            </a:extLst>
          </p:cNvPr>
          <p:cNvSpPr>
            <a:spLocks noGrp="1"/>
          </p:cNvSpPr>
          <p:nvPr/>
        </p:nvSpPr>
        <p:spPr>
          <a:xfrm>
            <a:off x="630360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1" name="diagram block">
            <a:extLst>
              <a:ext uri="{FF2B5EF4-FFF2-40B4-BE49-F238E27FC236}">
                <ns2:creationId id="{54DE2D5E-6B4A-4332-BFA7-8B02B0FC1952}"/>
              </a:ext>
            </a:extLst>
          </p:cNvPr>
          <p:cNvSpPr>
            <a:spLocks noGrp="1"/>
          </p:cNvSpPr>
          <p:nvPr/>
        </p:nvSpPr>
        <p:spPr>
          <a:xfrm>
            <a:off x="6409414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2" name="diagram block">
            <a:extLst>
              <a:ext uri="{FF2B5EF4-FFF2-40B4-BE49-F238E27FC236}">
                <ns2:creationId id="{5F0A9A55-E2B1-4DBD-96CE-BCC1A174B806}"/>
              </a:ext>
            </a:extLst>
          </p:cNvPr>
          <p:cNvSpPr>
            <a:spLocks noGrp="1"/>
          </p:cNvSpPr>
          <p:nvPr/>
        </p:nvSpPr>
        <p:spPr>
          <a:xfrm>
            <a:off x="6515220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3" name="diagram block">
            <a:extLst>
              <a:ext uri="{FF2B5EF4-FFF2-40B4-BE49-F238E27FC236}">
                <ns2:creationId id="{051FD983-2A05-43EE-9C0F-D2D0582308A7}"/>
              </a:ext>
            </a:extLst>
          </p:cNvPr>
          <p:cNvSpPr>
            <a:spLocks noGrp="1"/>
          </p:cNvSpPr>
          <p:nvPr/>
        </p:nvSpPr>
        <p:spPr>
          <a:xfrm>
            <a:off x="6621026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4" name="diagram block">
            <a:extLst>
              <a:ext uri="{FF2B5EF4-FFF2-40B4-BE49-F238E27FC236}">
                <ns2:creationId id="{436512C2-F484-470D-9434-41C1B5739410}"/>
              </a:ext>
            </a:extLst>
          </p:cNvPr>
          <p:cNvSpPr>
            <a:spLocks noGrp="1"/>
          </p:cNvSpPr>
          <p:nvPr/>
        </p:nvSpPr>
        <p:spPr>
          <a:xfrm>
            <a:off x="6726832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5" name="diagram block">
            <a:extLst>
              <a:ext uri="{FF2B5EF4-FFF2-40B4-BE49-F238E27FC236}">
                <ns2:creationId id="{E58885A6-082C-4F29-B710-70BBDDE6BD2D}"/>
              </a:ext>
            </a:extLst>
          </p:cNvPr>
          <p:cNvSpPr>
            <a:spLocks noGrp="1"/>
          </p:cNvSpPr>
          <p:nvPr/>
        </p:nvSpPr>
        <p:spPr>
          <a:xfrm>
            <a:off x="6832638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6" name="diagram block">
            <a:extLst>
              <a:ext uri="{FF2B5EF4-FFF2-40B4-BE49-F238E27FC236}">
                <ns2:creationId id="{83C63A0B-75F3-403D-BB67-2F7470D4B256}"/>
              </a:ext>
            </a:extLst>
          </p:cNvPr>
          <p:cNvSpPr>
            <a:spLocks noGrp="1"/>
          </p:cNvSpPr>
          <p:nvPr/>
        </p:nvSpPr>
        <p:spPr>
          <a:xfrm>
            <a:off x="619780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7" name="diagram block">
            <a:extLst>
              <a:ext uri="{FF2B5EF4-FFF2-40B4-BE49-F238E27FC236}">
                <ns2:creationId id="{6B65EA30-50B7-4A43-8D2C-0D8EF746685B}"/>
              </a:ext>
            </a:extLst>
          </p:cNvPr>
          <p:cNvSpPr>
            <a:spLocks noGrp="1"/>
          </p:cNvSpPr>
          <p:nvPr/>
        </p:nvSpPr>
        <p:spPr>
          <a:xfrm>
            <a:off x="630360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8" name="diagram block">
            <a:extLst>
              <a:ext uri="{FF2B5EF4-FFF2-40B4-BE49-F238E27FC236}">
                <ns2:creationId id="{8C6FCBB3-75E6-4574-90A9-4AD33774BFF0}"/>
              </a:ext>
            </a:extLst>
          </p:cNvPr>
          <p:cNvSpPr>
            <a:spLocks noGrp="1"/>
          </p:cNvSpPr>
          <p:nvPr/>
        </p:nvSpPr>
        <p:spPr>
          <a:xfrm>
            <a:off x="640941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9" name="diagram block">
            <a:extLst>
              <a:ext uri="{FF2B5EF4-FFF2-40B4-BE49-F238E27FC236}">
                <ns2:creationId id="{115B15F0-94E0-419A-A47E-A884E7B0A7DB}"/>
              </a:ext>
            </a:extLst>
          </p:cNvPr>
          <p:cNvSpPr>
            <a:spLocks noGrp="1"/>
          </p:cNvSpPr>
          <p:nvPr/>
        </p:nvSpPr>
        <p:spPr>
          <a:xfrm>
            <a:off x="651522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0" name="diagram block">
            <a:extLst>
              <a:ext uri="{FF2B5EF4-FFF2-40B4-BE49-F238E27FC236}">
                <ns2:creationId id="{CA4C42E7-7A28-4AE9-A5B9-C4B404F09A38}"/>
              </a:ext>
            </a:extLst>
          </p:cNvPr>
          <p:cNvSpPr>
            <a:spLocks noGrp="1"/>
          </p:cNvSpPr>
          <p:nvPr/>
        </p:nvSpPr>
        <p:spPr>
          <a:xfrm>
            <a:off x="662102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1" name="diagram block">
            <a:extLst>
              <a:ext uri="{FF2B5EF4-FFF2-40B4-BE49-F238E27FC236}">
                <ns2:creationId id="{8FF5DA78-B7DE-4BBF-B234-840167D53B96}"/>
              </a:ext>
            </a:extLst>
          </p:cNvPr>
          <p:cNvSpPr>
            <a:spLocks noGrp="1"/>
          </p:cNvSpPr>
          <p:nvPr/>
        </p:nvSpPr>
        <p:spPr>
          <a:xfrm>
            <a:off x="6726832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2" name="diagram block">
            <a:extLst>
              <a:ext uri="{FF2B5EF4-FFF2-40B4-BE49-F238E27FC236}">
                <ns2:creationId id="{46FA4D6F-DEFE-4669-A825-A8E132F9BD61}"/>
              </a:ext>
            </a:extLst>
          </p:cNvPr>
          <p:cNvSpPr>
            <a:spLocks noGrp="1"/>
          </p:cNvSpPr>
          <p:nvPr/>
        </p:nvSpPr>
        <p:spPr>
          <a:xfrm>
            <a:off x="6832638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3" name="diagram block">
            <a:extLst>
              <a:ext uri="{FF2B5EF4-FFF2-40B4-BE49-F238E27FC236}">
                <ns2:creationId id="{6BDA27DC-4C44-4245-A62D-8D096AAA5C5E}"/>
              </a:ext>
            </a:extLst>
          </p:cNvPr>
          <p:cNvSpPr>
            <a:spLocks noGrp="1"/>
          </p:cNvSpPr>
          <p:nvPr/>
        </p:nvSpPr>
        <p:spPr>
          <a:xfrm>
            <a:off x="619780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4" name="diagram block">
            <a:extLst>
              <a:ext uri="{FF2B5EF4-FFF2-40B4-BE49-F238E27FC236}">
                <ns2:creationId id="{AF2DAC0B-4F99-41EB-8957-2880E7608AB6}"/>
              </a:ext>
            </a:extLst>
          </p:cNvPr>
          <p:cNvSpPr>
            <a:spLocks noGrp="1"/>
          </p:cNvSpPr>
          <p:nvPr/>
        </p:nvSpPr>
        <p:spPr>
          <a:xfrm>
            <a:off x="630360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5" name="diagram block">
            <a:extLst>
              <a:ext uri="{FF2B5EF4-FFF2-40B4-BE49-F238E27FC236}">
                <ns2:creationId id="{A86622FE-6191-4DD8-817A-C4A42D43045E}"/>
              </a:ext>
            </a:extLst>
          </p:cNvPr>
          <p:cNvSpPr>
            <a:spLocks noGrp="1"/>
          </p:cNvSpPr>
          <p:nvPr/>
        </p:nvSpPr>
        <p:spPr>
          <a:xfrm>
            <a:off x="640941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6" name="diagram block">
            <a:extLst>
              <a:ext uri="{FF2B5EF4-FFF2-40B4-BE49-F238E27FC236}">
                <ns2:creationId id="{08A6C810-FA78-4A81-AF89-64DB8A9D371A}"/>
              </a:ext>
            </a:extLst>
          </p:cNvPr>
          <p:cNvSpPr>
            <a:spLocks noGrp="1"/>
          </p:cNvSpPr>
          <p:nvPr/>
        </p:nvSpPr>
        <p:spPr>
          <a:xfrm>
            <a:off x="651522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7" name="diagram block">
            <a:extLst>
              <a:ext uri="{FF2B5EF4-FFF2-40B4-BE49-F238E27FC236}">
                <ns2:creationId id="{E59377E9-F85A-4B63-9C62-0CA2F9C17948}"/>
              </a:ext>
            </a:extLst>
          </p:cNvPr>
          <p:cNvSpPr>
            <a:spLocks noGrp="1"/>
          </p:cNvSpPr>
          <p:nvPr/>
        </p:nvSpPr>
        <p:spPr>
          <a:xfrm>
            <a:off x="662102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8" name="diagram block">
            <a:extLst>
              <a:ext uri="{FF2B5EF4-FFF2-40B4-BE49-F238E27FC236}">
                <ns2:creationId id="{E5C7AB2B-F5AE-4B5C-A237-D9B12809AE6E}"/>
              </a:ext>
            </a:extLst>
          </p:cNvPr>
          <p:cNvSpPr>
            <a:spLocks noGrp="1"/>
          </p:cNvSpPr>
          <p:nvPr/>
        </p:nvSpPr>
        <p:spPr>
          <a:xfrm>
            <a:off x="6726832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9" name="diagram block">
            <a:extLst>
              <a:ext uri="{FF2B5EF4-FFF2-40B4-BE49-F238E27FC236}">
                <ns2:creationId id="{0B59482B-C04A-4B6F-A773-84D65EAC5628}"/>
              </a:ext>
            </a:extLst>
          </p:cNvPr>
          <p:cNvSpPr>
            <a:spLocks noGrp="1"/>
          </p:cNvSpPr>
          <p:nvPr/>
        </p:nvSpPr>
        <p:spPr>
          <a:xfrm>
            <a:off x="6832638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0" name="diagram block">
            <a:extLst>
              <a:ext uri="{FF2B5EF4-FFF2-40B4-BE49-F238E27FC236}">
                <ns2:creationId id="{3917BAFA-7A38-4207-A382-C7438F1549C2}"/>
              </a:ext>
            </a:extLst>
          </p:cNvPr>
          <p:cNvSpPr>
            <a:spLocks noGrp="1"/>
          </p:cNvSpPr>
          <p:nvPr/>
        </p:nvSpPr>
        <p:spPr>
          <a:xfrm>
            <a:off x="7080379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1" name="diagram block">
            <a:extLst>
              <a:ext uri="{FF2B5EF4-FFF2-40B4-BE49-F238E27FC236}">
                <ns2:creationId id="{4CE1D786-8FD4-410E-A295-1DDAF57E6D28}"/>
              </a:ext>
            </a:extLst>
          </p:cNvPr>
          <p:cNvSpPr>
            <a:spLocks noGrp="1"/>
          </p:cNvSpPr>
          <p:nvPr/>
        </p:nvSpPr>
        <p:spPr>
          <a:xfrm>
            <a:off x="7186185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2" name="diagram block">
            <a:extLst>
              <a:ext uri="{FF2B5EF4-FFF2-40B4-BE49-F238E27FC236}">
                <ns2:creationId id="{30C78EDD-4449-45E3-8E81-AB98386DFDAE}"/>
              </a:ext>
            </a:extLst>
          </p:cNvPr>
          <p:cNvSpPr>
            <a:spLocks noGrp="1"/>
          </p:cNvSpPr>
          <p:nvPr/>
        </p:nvSpPr>
        <p:spPr>
          <a:xfrm>
            <a:off x="729199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3" name="diagram block">
            <a:extLst>
              <a:ext uri="{FF2B5EF4-FFF2-40B4-BE49-F238E27FC236}">
                <ns2:creationId id="{E4DA89E9-CC5D-46F5-B40D-5442C3846DEA}"/>
              </a:ext>
            </a:extLst>
          </p:cNvPr>
          <p:cNvSpPr>
            <a:spLocks noGrp="1"/>
          </p:cNvSpPr>
          <p:nvPr/>
        </p:nvSpPr>
        <p:spPr>
          <a:xfrm>
            <a:off x="739779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4" name="diagram block">
            <a:extLst>
              <a:ext uri="{FF2B5EF4-FFF2-40B4-BE49-F238E27FC236}">
                <ns2:creationId id="{53413091-9D83-4C63-96E5-8BF479E58A75}"/>
              </a:ext>
            </a:extLst>
          </p:cNvPr>
          <p:cNvSpPr>
            <a:spLocks noGrp="1"/>
          </p:cNvSpPr>
          <p:nvPr/>
        </p:nvSpPr>
        <p:spPr>
          <a:xfrm>
            <a:off x="750360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5" name="diagram block">
            <a:extLst>
              <a:ext uri="{FF2B5EF4-FFF2-40B4-BE49-F238E27FC236}">
                <ns2:creationId id="{658A4CED-4D65-499A-805A-1E53823EF2A8}"/>
              </a:ext>
            </a:extLst>
          </p:cNvPr>
          <p:cNvSpPr>
            <a:spLocks noGrp="1"/>
          </p:cNvSpPr>
          <p:nvPr/>
        </p:nvSpPr>
        <p:spPr>
          <a:xfrm>
            <a:off x="760941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6" name="diagram block">
            <a:extLst>
              <a:ext uri="{FF2B5EF4-FFF2-40B4-BE49-F238E27FC236}">
                <ns2:creationId id="{6CB648C6-34A8-45A1-9A1F-7BF96913201C}"/>
              </a:ext>
            </a:extLst>
          </p:cNvPr>
          <p:cNvSpPr>
            <a:spLocks noGrp="1"/>
          </p:cNvSpPr>
          <p:nvPr/>
        </p:nvSpPr>
        <p:spPr>
          <a:xfrm>
            <a:off x="771521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7" name="diagram block">
            <a:extLst>
              <a:ext uri="{FF2B5EF4-FFF2-40B4-BE49-F238E27FC236}">
                <ns2:creationId id="{1EE5CBD3-1239-4C42-8133-2ACD129EF026}"/>
              </a:ext>
            </a:extLst>
          </p:cNvPr>
          <p:cNvSpPr>
            <a:spLocks noGrp="1"/>
          </p:cNvSpPr>
          <p:nvPr/>
        </p:nvSpPr>
        <p:spPr>
          <a:xfrm>
            <a:off x="7080379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8" name="diagram block">
            <a:extLst>
              <a:ext uri="{FF2B5EF4-FFF2-40B4-BE49-F238E27FC236}">
                <ns2:creationId id="{C3309112-AFC2-443A-B571-E063DBA9BD3F}"/>
              </a:ext>
            </a:extLst>
          </p:cNvPr>
          <p:cNvSpPr>
            <a:spLocks noGrp="1"/>
          </p:cNvSpPr>
          <p:nvPr/>
        </p:nvSpPr>
        <p:spPr>
          <a:xfrm>
            <a:off x="7186185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9" name="diagram block">
            <a:extLst>
              <a:ext uri="{FF2B5EF4-FFF2-40B4-BE49-F238E27FC236}">
                <ns2:creationId id="{4BFB06C8-181B-44AC-B144-AEF2FA594432}"/>
              </a:ext>
            </a:extLst>
          </p:cNvPr>
          <p:cNvSpPr>
            <a:spLocks noGrp="1"/>
          </p:cNvSpPr>
          <p:nvPr/>
        </p:nvSpPr>
        <p:spPr>
          <a:xfrm>
            <a:off x="729199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0" name="diagram block">
            <a:extLst>
              <a:ext uri="{FF2B5EF4-FFF2-40B4-BE49-F238E27FC236}">
                <ns2:creationId id="{0E2ADAD8-0874-4FB5-AA07-5E5A996496AB}"/>
              </a:ext>
            </a:extLst>
          </p:cNvPr>
          <p:cNvSpPr>
            <a:spLocks noGrp="1"/>
          </p:cNvSpPr>
          <p:nvPr/>
        </p:nvSpPr>
        <p:spPr>
          <a:xfrm>
            <a:off x="739779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1" name="diagram block">
            <a:extLst>
              <a:ext uri="{FF2B5EF4-FFF2-40B4-BE49-F238E27FC236}">
                <ns2:creationId id="{EDAB2DF9-01B2-46DC-B13A-801367B8983D}"/>
              </a:ext>
            </a:extLst>
          </p:cNvPr>
          <p:cNvSpPr>
            <a:spLocks noGrp="1"/>
          </p:cNvSpPr>
          <p:nvPr/>
        </p:nvSpPr>
        <p:spPr>
          <a:xfrm>
            <a:off x="750360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2" name="diagram block">
            <a:extLst>
              <a:ext uri="{FF2B5EF4-FFF2-40B4-BE49-F238E27FC236}">
                <ns2:creationId id="{9176764B-25FD-45D6-AEFC-6BBDC7AE1D65}"/>
              </a:ext>
            </a:extLst>
          </p:cNvPr>
          <p:cNvSpPr>
            <a:spLocks noGrp="1"/>
          </p:cNvSpPr>
          <p:nvPr/>
        </p:nvSpPr>
        <p:spPr>
          <a:xfrm>
            <a:off x="760941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3" name="diagram block">
            <a:extLst>
              <a:ext uri="{FF2B5EF4-FFF2-40B4-BE49-F238E27FC236}">
                <ns2:creationId id="{2B4E21B6-F46C-43FC-8D21-C47C072043A7}"/>
              </a:ext>
            </a:extLst>
          </p:cNvPr>
          <p:cNvSpPr>
            <a:spLocks noGrp="1"/>
          </p:cNvSpPr>
          <p:nvPr/>
        </p:nvSpPr>
        <p:spPr>
          <a:xfrm>
            <a:off x="771521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4" name="diagram block">
            <a:extLst>
              <a:ext uri="{FF2B5EF4-FFF2-40B4-BE49-F238E27FC236}">
                <ns2:creationId id="{49A976CB-E26E-40FE-A843-A2CC331CC11A}"/>
              </a:ext>
            </a:extLst>
          </p:cNvPr>
          <p:cNvSpPr>
            <a:spLocks noGrp="1"/>
          </p:cNvSpPr>
          <p:nvPr/>
        </p:nvSpPr>
        <p:spPr>
          <a:xfrm>
            <a:off x="7080379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5" name="diagram block">
            <a:extLst>
              <a:ext uri="{FF2B5EF4-FFF2-40B4-BE49-F238E27FC236}">
                <ns2:creationId id="{DC9DDEF5-A213-4017-ACCE-1FD265BB7288}"/>
              </a:ext>
            </a:extLst>
          </p:cNvPr>
          <p:cNvSpPr>
            <a:spLocks noGrp="1"/>
          </p:cNvSpPr>
          <p:nvPr/>
        </p:nvSpPr>
        <p:spPr>
          <a:xfrm>
            <a:off x="7186185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6" name="diagram block">
            <a:extLst>
              <a:ext uri="{FF2B5EF4-FFF2-40B4-BE49-F238E27FC236}">
                <ns2:creationId id="{39307B8D-B7B8-442C-BFAB-3EE5F1AB4F8E}"/>
              </a:ext>
            </a:extLst>
          </p:cNvPr>
          <p:cNvSpPr>
            <a:spLocks noGrp="1"/>
          </p:cNvSpPr>
          <p:nvPr/>
        </p:nvSpPr>
        <p:spPr>
          <a:xfrm>
            <a:off x="729199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7" name="diagram block">
            <a:extLst>
              <a:ext uri="{FF2B5EF4-FFF2-40B4-BE49-F238E27FC236}">
                <ns2:creationId id="{C6DE669A-557E-4258-9DDC-62B932827436}"/>
              </a:ext>
            </a:extLst>
          </p:cNvPr>
          <p:cNvSpPr>
            <a:spLocks noGrp="1"/>
          </p:cNvSpPr>
          <p:nvPr/>
        </p:nvSpPr>
        <p:spPr>
          <a:xfrm>
            <a:off x="739779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8" name="diagram block">
            <a:extLst>
              <a:ext uri="{FF2B5EF4-FFF2-40B4-BE49-F238E27FC236}">
                <ns2:creationId id="{6033ED77-DF7C-43BA-915B-D9AF20FD9BA2}"/>
              </a:ext>
            </a:extLst>
          </p:cNvPr>
          <p:cNvSpPr>
            <a:spLocks noGrp="1"/>
          </p:cNvSpPr>
          <p:nvPr/>
        </p:nvSpPr>
        <p:spPr>
          <a:xfrm>
            <a:off x="7503604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9" name="diagram block">
            <a:extLst>
              <a:ext uri="{FF2B5EF4-FFF2-40B4-BE49-F238E27FC236}">
                <ns2:creationId id="{43162E82-94F5-46F6-A0F7-A5B0BC6BF1D5}"/>
              </a:ext>
            </a:extLst>
          </p:cNvPr>
          <p:cNvSpPr>
            <a:spLocks noGrp="1"/>
          </p:cNvSpPr>
          <p:nvPr/>
        </p:nvSpPr>
        <p:spPr>
          <a:xfrm>
            <a:off x="7609410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0" name="diagram block">
            <a:extLst>
              <a:ext uri="{FF2B5EF4-FFF2-40B4-BE49-F238E27FC236}">
                <ns2:creationId id="{81610235-8B68-42A7-B23A-9C145D5FC268}"/>
              </a:ext>
            </a:extLst>
          </p:cNvPr>
          <p:cNvSpPr>
            <a:spLocks noGrp="1"/>
          </p:cNvSpPr>
          <p:nvPr/>
        </p:nvSpPr>
        <p:spPr>
          <a:xfrm>
            <a:off x="7715216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1" name="diagram block">
            <a:extLst>
              <a:ext uri="{FF2B5EF4-FFF2-40B4-BE49-F238E27FC236}">
                <ns2:creationId id="{6EDA90E3-FD4E-4309-AAAB-463B803EDD54}"/>
              </a:ext>
            </a:extLst>
          </p:cNvPr>
          <p:cNvSpPr>
            <a:spLocks noGrp="1"/>
          </p:cNvSpPr>
          <p:nvPr/>
        </p:nvSpPr>
        <p:spPr>
          <a:xfrm>
            <a:off x="7080379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2" name="diagram block">
            <a:extLst>
              <a:ext uri="{FF2B5EF4-FFF2-40B4-BE49-F238E27FC236}">
                <ns2:creationId id="{22C766D0-DC4C-4AE3-8D85-909C356945B6}"/>
              </a:ext>
            </a:extLst>
          </p:cNvPr>
          <p:cNvSpPr>
            <a:spLocks noGrp="1"/>
          </p:cNvSpPr>
          <p:nvPr/>
        </p:nvSpPr>
        <p:spPr>
          <a:xfrm>
            <a:off x="7186185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3" name="diagram block">
            <a:extLst>
              <a:ext uri="{FF2B5EF4-FFF2-40B4-BE49-F238E27FC236}">
                <ns2:creationId id="{F103AFCF-F0E2-4278-B908-B6D6B1448D03}"/>
              </a:ext>
            </a:extLst>
          </p:cNvPr>
          <p:cNvSpPr>
            <a:spLocks noGrp="1"/>
          </p:cNvSpPr>
          <p:nvPr/>
        </p:nvSpPr>
        <p:spPr>
          <a:xfrm>
            <a:off x="729199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4" name="diagram block">
            <a:extLst>
              <a:ext uri="{FF2B5EF4-FFF2-40B4-BE49-F238E27FC236}">
                <ns2:creationId id="{3A977714-195A-4657-8629-289329EB0722}"/>
              </a:ext>
            </a:extLst>
          </p:cNvPr>
          <p:cNvSpPr>
            <a:spLocks noGrp="1"/>
          </p:cNvSpPr>
          <p:nvPr/>
        </p:nvSpPr>
        <p:spPr>
          <a:xfrm>
            <a:off x="7397797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</p:sp>
      <p:sp>
        <p:nvSpPr>
          <p:cNvPr id="385" name="diagram block">
            <a:extLst>
              <a:ext uri="{FF2B5EF4-FFF2-40B4-BE49-F238E27FC236}">
                <ns2:creationId id="{1D366DF3-EBC6-477E-AEDB-31C5589757E7}"/>
              </a:ext>
            </a:extLst>
          </p:cNvPr>
          <p:cNvSpPr>
            <a:spLocks noGrp="1"/>
          </p:cNvSpPr>
          <p:nvPr/>
        </p:nvSpPr>
        <p:spPr>
          <a:xfrm>
            <a:off x="7503604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6" name="diagram block">
            <a:extLst>
              <a:ext uri="{FF2B5EF4-FFF2-40B4-BE49-F238E27FC236}">
                <ns2:creationId id="{9E265245-5C16-4832-85D3-5552D586E1E0}"/>
              </a:ext>
            </a:extLst>
          </p:cNvPr>
          <p:cNvSpPr>
            <a:spLocks noGrp="1"/>
          </p:cNvSpPr>
          <p:nvPr/>
        </p:nvSpPr>
        <p:spPr>
          <a:xfrm>
            <a:off x="7609410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7" name="diagram block">
            <a:extLst>
              <a:ext uri="{FF2B5EF4-FFF2-40B4-BE49-F238E27FC236}">
                <ns2:creationId id="{02AA9E96-3BD6-40AB-9AE9-6FF5CC8D9DCD}"/>
              </a:ext>
            </a:extLst>
          </p:cNvPr>
          <p:cNvSpPr>
            <a:spLocks noGrp="1"/>
          </p:cNvSpPr>
          <p:nvPr/>
        </p:nvSpPr>
        <p:spPr>
          <a:xfrm>
            <a:off x="7715216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8" name="diagram block">
            <a:extLst>
              <a:ext uri="{FF2B5EF4-FFF2-40B4-BE49-F238E27FC236}">
                <ns2:creationId id="{A2933DFA-5443-4BCE-8B39-733708FB311B}"/>
              </a:ext>
            </a:extLst>
          </p:cNvPr>
          <p:cNvSpPr>
            <a:spLocks noGrp="1"/>
          </p:cNvSpPr>
          <p:nvPr/>
        </p:nvSpPr>
        <p:spPr>
          <a:xfrm>
            <a:off x="7080379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9" name="diagram block">
            <a:extLst>
              <a:ext uri="{FF2B5EF4-FFF2-40B4-BE49-F238E27FC236}">
                <ns2:creationId id="{2E4BF23B-9316-4861-B055-9C829231D05F}"/>
              </a:ext>
            </a:extLst>
          </p:cNvPr>
          <p:cNvSpPr>
            <a:spLocks noGrp="1"/>
          </p:cNvSpPr>
          <p:nvPr/>
        </p:nvSpPr>
        <p:spPr>
          <a:xfrm>
            <a:off x="7186185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0" name="diagram block">
            <a:extLst>
              <a:ext uri="{FF2B5EF4-FFF2-40B4-BE49-F238E27FC236}">
                <ns2:creationId id="{E1C1F67B-91C7-46B0-8BA1-B7694864B6EF}"/>
              </a:ext>
            </a:extLst>
          </p:cNvPr>
          <p:cNvSpPr>
            <a:spLocks noGrp="1"/>
          </p:cNvSpPr>
          <p:nvPr/>
        </p:nvSpPr>
        <p:spPr>
          <a:xfrm>
            <a:off x="729199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1" name="diagram block">
            <a:extLst>
              <a:ext uri="{FF2B5EF4-FFF2-40B4-BE49-F238E27FC236}">
                <ns2:creationId id="{0B7DCA2C-18CB-4EC2-9C5C-A2BE4FA263C7}"/>
              </a:ext>
            </a:extLst>
          </p:cNvPr>
          <p:cNvSpPr>
            <a:spLocks noGrp="1"/>
          </p:cNvSpPr>
          <p:nvPr/>
        </p:nvSpPr>
        <p:spPr>
          <a:xfrm>
            <a:off x="739779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2" name="diagram block">
            <a:extLst>
              <a:ext uri="{FF2B5EF4-FFF2-40B4-BE49-F238E27FC236}">
                <ns2:creationId id="{21D33046-E045-4EBB-B51B-C8DBEEC3ABDB}"/>
              </a:ext>
            </a:extLst>
          </p:cNvPr>
          <p:cNvSpPr>
            <a:spLocks noGrp="1"/>
          </p:cNvSpPr>
          <p:nvPr/>
        </p:nvSpPr>
        <p:spPr>
          <a:xfrm>
            <a:off x="7503604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3" name="diagram block">
            <a:extLst>
              <a:ext uri="{FF2B5EF4-FFF2-40B4-BE49-F238E27FC236}">
                <ns2:creationId id="{97B57745-9B80-40B5-92F6-FB07E0C26D23}"/>
              </a:ext>
            </a:extLst>
          </p:cNvPr>
          <p:cNvSpPr>
            <a:spLocks noGrp="1"/>
          </p:cNvSpPr>
          <p:nvPr/>
        </p:nvSpPr>
        <p:spPr>
          <a:xfrm>
            <a:off x="7609410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4" name="diagram block">
            <a:extLst>
              <a:ext uri="{FF2B5EF4-FFF2-40B4-BE49-F238E27FC236}">
                <ns2:creationId id="{4B219D9F-EC7D-4655-BC98-F00EFE23C150}"/>
              </a:ext>
            </a:extLst>
          </p:cNvPr>
          <p:cNvSpPr>
            <a:spLocks noGrp="1"/>
          </p:cNvSpPr>
          <p:nvPr/>
        </p:nvSpPr>
        <p:spPr>
          <a:xfrm>
            <a:off x="7715216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5" name="diagram block">
            <a:extLst>
              <a:ext uri="{FF2B5EF4-FFF2-40B4-BE49-F238E27FC236}">
                <ns2:creationId id="{18DB3837-98FD-40F3-BDFC-6DF79F2D8FC8}"/>
              </a:ext>
            </a:extLst>
          </p:cNvPr>
          <p:cNvSpPr>
            <a:spLocks noGrp="1"/>
          </p:cNvSpPr>
          <p:nvPr/>
        </p:nvSpPr>
        <p:spPr>
          <a:xfrm>
            <a:off x="7080379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6" name="diagram block">
            <a:extLst>
              <a:ext uri="{FF2B5EF4-FFF2-40B4-BE49-F238E27FC236}">
                <ns2:creationId id="{B3944C2A-A73F-4CCD-B78C-8280E1CF11C7}"/>
              </a:ext>
            </a:extLst>
          </p:cNvPr>
          <p:cNvSpPr>
            <a:spLocks noGrp="1"/>
          </p:cNvSpPr>
          <p:nvPr/>
        </p:nvSpPr>
        <p:spPr>
          <a:xfrm>
            <a:off x="7186185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7" name="diagram block">
            <a:extLst>
              <a:ext uri="{FF2B5EF4-FFF2-40B4-BE49-F238E27FC236}">
                <ns2:creationId id="{32CE7C56-2790-4154-8981-0BCD80E2B0A0}"/>
              </a:ext>
            </a:extLst>
          </p:cNvPr>
          <p:cNvSpPr>
            <a:spLocks noGrp="1"/>
          </p:cNvSpPr>
          <p:nvPr/>
        </p:nvSpPr>
        <p:spPr>
          <a:xfrm>
            <a:off x="729199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8" name="diagram block">
            <a:extLst>
              <a:ext uri="{FF2B5EF4-FFF2-40B4-BE49-F238E27FC236}">
                <ns2:creationId id="{0F73EC8F-41F3-47B0-B88C-09DEF211D304}"/>
              </a:ext>
            </a:extLst>
          </p:cNvPr>
          <p:cNvSpPr>
            <a:spLocks noGrp="1"/>
          </p:cNvSpPr>
          <p:nvPr/>
        </p:nvSpPr>
        <p:spPr>
          <a:xfrm>
            <a:off x="739779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9" name="diagram block">
            <a:extLst>
              <a:ext uri="{FF2B5EF4-FFF2-40B4-BE49-F238E27FC236}">
                <ns2:creationId id="{09FA5ABD-CA2C-44E4-A1C6-A85E6B1E59BB}"/>
              </a:ext>
            </a:extLst>
          </p:cNvPr>
          <p:cNvSpPr>
            <a:spLocks noGrp="1"/>
          </p:cNvSpPr>
          <p:nvPr/>
        </p:nvSpPr>
        <p:spPr>
          <a:xfrm>
            <a:off x="750360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0" name="diagram block">
            <a:extLst>
              <a:ext uri="{FF2B5EF4-FFF2-40B4-BE49-F238E27FC236}">
                <ns2:creationId id="{011D38FD-ADF1-400D-A885-7CBDDA2D373F}"/>
              </a:ext>
            </a:extLst>
          </p:cNvPr>
          <p:cNvSpPr>
            <a:spLocks noGrp="1"/>
          </p:cNvSpPr>
          <p:nvPr/>
        </p:nvSpPr>
        <p:spPr>
          <a:xfrm>
            <a:off x="760941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1" name="diagram block">
            <a:extLst>
              <a:ext uri="{FF2B5EF4-FFF2-40B4-BE49-F238E27FC236}">
                <ns2:creationId id="{2A97A9DB-F921-4E58-BAA2-CBE2C33E5850}"/>
              </a:ext>
            </a:extLst>
          </p:cNvPr>
          <p:cNvSpPr>
            <a:spLocks noGrp="1"/>
          </p:cNvSpPr>
          <p:nvPr/>
        </p:nvSpPr>
        <p:spPr>
          <a:xfrm>
            <a:off x="771521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2" name="diagram block">
            <a:extLst>
              <a:ext uri="{FF2B5EF4-FFF2-40B4-BE49-F238E27FC236}">
                <ns2:creationId id="{97CC22C3-0624-4DA2-A8B5-CED08F164093}"/>
              </a:ext>
            </a:extLst>
          </p:cNvPr>
          <p:cNvSpPr>
            <a:spLocks noGrp="1"/>
          </p:cNvSpPr>
          <p:nvPr/>
        </p:nvSpPr>
        <p:spPr>
          <a:xfrm>
            <a:off x="7080379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3" name="diagram block">
            <a:extLst>
              <a:ext uri="{FF2B5EF4-FFF2-40B4-BE49-F238E27FC236}">
                <ns2:creationId id="{0F3691FC-F51C-4F31-B565-9F67DCEB077C}"/>
              </a:ext>
            </a:extLst>
          </p:cNvPr>
          <p:cNvSpPr>
            <a:spLocks noGrp="1"/>
          </p:cNvSpPr>
          <p:nvPr/>
        </p:nvSpPr>
        <p:spPr>
          <a:xfrm>
            <a:off x="7186185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4" name="diagram block">
            <a:extLst>
              <a:ext uri="{FF2B5EF4-FFF2-40B4-BE49-F238E27FC236}">
                <ns2:creationId id="{6993A693-850C-4EBC-B6EF-B2A934B93C95}"/>
              </a:ext>
            </a:extLst>
          </p:cNvPr>
          <p:cNvSpPr>
            <a:spLocks noGrp="1"/>
          </p:cNvSpPr>
          <p:nvPr/>
        </p:nvSpPr>
        <p:spPr>
          <a:xfrm>
            <a:off x="729199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5" name="diagram block">
            <a:extLst>
              <a:ext uri="{FF2B5EF4-FFF2-40B4-BE49-F238E27FC236}">
                <ns2:creationId id="{F10BC95D-C268-4DA1-ACA8-1C9C5147BAAC}"/>
              </a:ext>
            </a:extLst>
          </p:cNvPr>
          <p:cNvSpPr>
            <a:spLocks noGrp="1"/>
          </p:cNvSpPr>
          <p:nvPr/>
        </p:nvSpPr>
        <p:spPr>
          <a:xfrm>
            <a:off x="739779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6" name="diagram block">
            <a:extLst>
              <a:ext uri="{FF2B5EF4-FFF2-40B4-BE49-F238E27FC236}">
                <ns2:creationId id="{7547B796-E687-4F7D-AFC4-4D03063D12B1}"/>
              </a:ext>
            </a:extLst>
          </p:cNvPr>
          <p:cNvSpPr>
            <a:spLocks noGrp="1"/>
          </p:cNvSpPr>
          <p:nvPr/>
        </p:nvSpPr>
        <p:spPr>
          <a:xfrm>
            <a:off x="750360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7" name="diagram block">
            <a:extLst>
              <a:ext uri="{FF2B5EF4-FFF2-40B4-BE49-F238E27FC236}">
                <ns2:creationId id="{620F1BC0-5E61-43CD-BB71-DB63739210CC}"/>
              </a:ext>
            </a:extLst>
          </p:cNvPr>
          <p:cNvSpPr>
            <a:spLocks noGrp="1"/>
          </p:cNvSpPr>
          <p:nvPr/>
        </p:nvSpPr>
        <p:spPr>
          <a:xfrm>
            <a:off x="760941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8" name="diagram block">
            <a:extLst>
              <a:ext uri="{FF2B5EF4-FFF2-40B4-BE49-F238E27FC236}">
                <ns2:creationId id="{4EA61F4F-8713-4913-B04C-495D4432EA30}"/>
              </a:ext>
            </a:extLst>
          </p:cNvPr>
          <p:cNvSpPr>
            <a:spLocks noGrp="1"/>
          </p:cNvSpPr>
          <p:nvPr/>
        </p:nvSpPr>
        <p:spPr>
          <a:xfrm>
            <a:off x="771521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cxnSp>
        <p:nvCxnSpPr>
          <p:cNvPr id="409" name="native PowerPoint connector">
            <a:extLst>
              <a:ext uri="{FF2B5EF4-FFF2-40B4-BE49-F238E27FC236}">
                <ns2:creationId id="{3A04C02E-6462-4B02-9671-74C96D2D581B}"/>
              </a:ext>
            </a:extLst>
          </p:cNvPr>
          <p:cNvCxnSpPr/>
          <p:nvPr/>
        </p:nvCxnSpPr>
        <p:spPr>
          <a:xfrm flipH="1" flipV="1">
            <a:off x="6337156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0" name="native PowerPoint connector">
            <a:extLst>
              <a:ext uri="{FF2B5EF4-FFF2-40B4-BE49-F238E27FC236}">
                <ns2:creationId id="{F7F899B6-E2DD-4359-ABC0-854F34DFDCDD}"/>
              </a:ext>
            </a:extLst>
          </p:cNvPr>
          <p:cNvCxnSpPr/>
          <p:nvPr/>
        </p:nvCxnSpPr>
        <p:spPr>
          <a:xfrm flipH="0" flipV="1">
            <a:off x="6564252" y="1130319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1" name="native PowerPoint connector">
            <a:extLst>
              <a:ext uri="{FF2B5EF4-FFF2-40B4-BE49-F238E27FC236}">
                <ns2:creationId id="{1E2C828A-DAAB-4A91-911A-F42092E1D134}"/>
              </a:ext>
            </a:extLst>
          </p:cNvPr>
          <p:cNvCxnSpPr/>
          <p:nvPr/>
        </p:nvCxnSpPr>
        <p:spPr>
          <a:xfrm flipH="0" flipV="1">
            <a:off x="6564252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2" name="native PowerPoint connector">
            <a:extLst>
              <a:ext uri="{FF2B5EF4-FFF2-40B4-BE49-F238E27FC236}">
                <ns2:creationId id="{8D144876-6E2B-4462-AC1E-81F0FA7F1155}"/>
              </a:ext>
            </a:extLst>
          </p:cNvPr>
          <p:cNvCxnSpPr/>
          <p:nvPr/>
        </p:nvCxnSpPr>
        <p:spPr>
          <a:xfrm flipH="1" flipV="0">
            <a:off x="6337156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3" name="native PowerPoint connector">
            <a:extLst>
              <a:ext uri="{FF2B5EF4-FFF2-40B4-BE49-F238E27FC236}">
                <ns2:creationId id="{40B84A02-A35B-46F7-BEFC-0D08B333757B}"/>
              </a:ext>
            </a:extLst>
          </p:cNvPr>
          <p:cNvCxnSpPr/>
          <p:nvPr/>
        </p:nvCxnSpPr>
        <p:spPr>
          <a:xfrm flipH="0" flipV="0">
            <a:off x="6564252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4" name="native PowerPoint connector">
            <a:extLst>
              <a:ext uri="{FF2B5EF4-FFF2-40B4-BE49-F238E27FC236}">
                <ns2:creationId id="{6361AA1B-9610-4833-99B6-E6353F1E167C}"/>
              </a:ext>
            </a:extLst>
          </p:cNvPr>
          <p:cNvCxnSpPr/>
          <p:nvPr/>
        </p:nvCxnSpPr>
        <p:spPr>
          <a:xfrm flipH="1" flipV="0">
            <a:off x="6337156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5" name="native PowerPoint connector">
            <a:extLst>
              <a:ext uri="{FF2B5EF4-FFF2-40B4-BE49-F238E27FC236}">
                <ns2:creationId id="{C8AE7567-8340-4F20-A1B6-724D7EC9B036}"/>
              </a:ext>
            </a:extLst>
          </p:cNvPr>
          <p:cNvCxnSpPr/>
          <p:nvPr/>
        </p:nvCxnSpPr>
        <p:spPr>
          <a:xfrm flipH="0" flipV="0">
            <a:off x="6564252" y="1357415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6" name="native PowerPoint connector">
            <a:extLst>
              <a:ext uri="{FF2B5EF4-FFF2-40B4-BE49-F238E27FC236}">
                <ns2:creationId id="{5203AD64-EC46-4E53-B513-6D8E6D6BD4EC}"/>
              </a:ext>
            </a:extLst>
          </p:cNvPr>
          <p:cNvCxnSpPr/>
          <p:nvPr/>
        </p:nvCxnSpPr>
        <p:spPr>
          <a:xfrm flipH="0" flipV="0">
            <a:off x="6564252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7" name="native PowerPoint connector">
            <a:extLst>
              <a:ext uri="{FF2B5EF4-FFF2-40B4-BE49-F238E27FC236}">
                <ns2:creationId id="{B8399FC8-DDA8-4C88-B23E-2CD116803DFB}"/>
              </a:ext>
            </a:extLst>
          </p:cNvPr>
          <p:cNvCxnSpPr/>
          <p:nvPr/>
        </p:nvCxnSpPr>
        <p:spPr>
          <a:xfrm flipH="0" flipV="0">
            <a:off x="6631348" y="1357415"/>
            <a:ext cx="753546" cy="0"/>
          </a:xfrm>
          <a:prstGeom prst="straightConnector1">
            <a:avLst/>
          </a:prstGeom>
          <a:ln w="8258">
            <a:solidFill>
              <a:srgbClr val="153B6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18" name="diagram block">
            <a:extLst>
              <a:ext uri="{FF2B5EF4-FFF2-40B4-BE49-F238E27FC236}">
                <ns2:creationId id="{19114772-411F-4B04-80B3-284BC29412A2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</p:sp>
      <p:sp>
        <p:nvSpPr>
          <p:cNvPr id="419" name="diagram block">
            <a:extLst>
              <a:ext uri="{FF2B5EF4-FFF2-40B4-BE49-F238E27FC236}">
                <ns2:creationId id="{958945C5-DB98-4983-8FF2-4439035B1B0D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420" name="Camera 2 (view 2)">
            <a:extLst>
              <a:ext uri="{FF2B5EF4-FFF2-40B4-BE49-F238E27FC236}">
                <ns2:creationId id="{4EFC6510-1DE1-4972-9D58-991E163F4BDA}"/>
              </a:ext>
            </a:extLst>
          </p:cNvPr>
          <p:cNvSpPr>
            <a:spLocks noGrp="1"/>
          </p:cNvSpPr>
          <p:nvPr/>
        </p:nvSpPr>
        <p:spPr>
          <a:xfrm>
            <a:off x="6099737" y="2038703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Camera 2 (view 2)</a:t>
            </a:r>
          </a:p>
        </p:txBody>
      </p:sp>
      <p:sp>
        <p:nvSpPr>
          <p:cNvPr id="421" name="Time 1 (future)">
            <a:extLst>
              <a:ext uri="{FF2B5EF4-FFF2-40B4-BE49-F238E27FC236}">
                <ns2:creationId id="{4E9D2978-66B6-4D97-845C-943274101F41}"/>
              </a:ext>
            </a:extLst>
          </p:cNvPr>
          <p:cNvSpPr>
            <a:spLocks noGrp="1"/>
          </p:cNvSpPr>
          <p:nvPr/>
        </p:nvSpPr>
        <p:spPr>
          <a:xfrm>
            <a:off x="6182317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1 (future)</a:t>
            </a:r>
          </a:p>
        </p:txBody>
      </p:sp>
      <p:sp>
        <p:nvSpPr>
          <p:cNvPr id="422" name="Time 2 (future)">
            <a:extLst>
              <a:ext uri="{FF2B5EF4-FFF2-40B4-BE49-F238E27FC236}">
                <ns2:creationId id="{4DC68DFE-DD15-47E4-AA71-CDF0DE2171BC}"/>
              </a:ext>
            </a:extLst>
          </p:cNvPr>
          <p:cNvSpPr>
            <a:spLocks noGrp="1"/>
          </p:cNvSpPr>
          <p:nvPr/>
        </p:nvSpPr>
        <p:spPr>
          <a:xfrm>
            <a:off x="7064895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Time 2 (future)</a:t>
            </a:r>
          </a:p>
        </p:txBody>
      </p:sp>
      <p:sp>
        <p:nvSpPr>
          <p:cNvPr id="423" name="diagram block">
            <a:extLst>
              <a:ext uri="{FF2B5EF4-FFF2-40B4-BE49-F238E27FC236}">
                <ns2:creationId id="{CD7C10DA-81F8-4238-BADC-312AF6B96E04}"/>
              </a:ext>
            </a:extLst>
          </p:cNvPr>
          <p:cNvSpPr>
            <a:spLocks noGrp="1"/>
          </p:cNvSpPr>
          <p:nvPr/>
        </p:nvSpPr>
        <p:spPr>
          <a:xfrm>
            <a:off x="619780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4" name="diagram block">
            <a:extLst>
              <a:ext uri="{FF2B5EF4-FFF2-40B4-BE49-F238E27FC236}">
                <ns2:creationId id="{EB769CCF-1465-4B49-82DA-CBC2E067A6A0}"/>
              </a:ext>
            </a:extLst>
          </p:cNvPr>
          <p:cNvSpPr>
            <a:spLocks noGrp="1"/>
          </p:cNvSpPr>
          <p:nvPr/>
        </p:nvSpPr>
        <p:spPr>
          <a:xfrm>
            <a:off x="630360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5" name="diagram block">
            <a:extLst>
              <a:ext uri="{FF2B5EF4-FFF2-40B4-BE49-F238E27FC236}">
                <ns2:creationId id="{E8C72BEC-505B-4B50-9B58-A173C43D7C61}"/>
              </a:ext>
            </a:extLst>
          </p:cNvPr>
          <p:cNvSpPr>
            <a:spLocks noGrp="1"/>
          </p:cNvSpPr>
          <p:nvPr/>
        </p:nvSpPr>
        <p:spPr>
          <a:xfrm>
            <a:off x="640941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6" name="diagram block">
            <a:extLst>
              <a:ext uri="{FF2B5EF4-FFF2-40B4-BE49-F238E27FC236}">
                <ns2:creationId id="{523D25A1-0BF8-402A-A6B2-6E994AEBFDFC}"/>
              </a:ext>
            </a:extLst>
          </p:cNvPr>
          <p:cNvSpPr>
            <a:spLocks noGrp="1"/>
          </p:cNvSpPr>
          <p:nvPr/>
        </p:nvSpPr>
        <p:spPr>
          <a:xfrm>
            <a:off x="651522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7" name="diagram block">
            <a:extLst>
              <a:ext uri="{FF2B5EF4-FFF2-40B4-BE49-F238E27FC236}">
                <ns2:creationId id="{995C6FE1-36A9-47E2-94BC-4F1A8BB60AB6}"/>
              </a:ext>
            </a:extLst>
          </p:cNvPr>
          <p:cNvSpPr>
            <a:spLocks noGrp="1"/>
          </p:cNvSpPr>
          <p:nvPr/>
        </p:nvSpPr>
        <p:spPr>
          <a:xfrm>
            <a:off x="662102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8" name="diagram block">
            <a:extLst>
              <a:ext uri="{FF2B5EF4-FFF2-40B4-BE49-F238E27FC236}">
                <ns2:creationId id="{26AC64B0-3C15-4091-A431-6AF6546D3373}"/>
              </a:ext>
            </a:extLst>
          </p:cNvPr>
          <p:cNvSpPr>
            <a:spLocks noGrp="1"/>
          </p:cNvSpPr>
          <p:nvPr/>
        </p:nvSpPr>
        <p:spPr>
          <a:xfrm>
            <a:off x="6726832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9" name="diagram block">
            <a:extLst>
              <a:ext uri="{FF2B5EF4-FFF2-40B4-BE49-F238E27FC236}">
                <ns2:creationId id="{054CD5FF-6E29-45A8-8151-BE256A33535B}"/>
              </a:ext>
            </a:extLst>
          </p:cNvPr>
          <p:cNvSpPr>
            <a:spLocks noGrp="1"/>
          </p:cNvSpPr>
          <p:nvPr/>
        </p:nvSpPr>
        <p:spPr>
          <a:xfrm>
            <a:off x="6832638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0" name="diagram block">
            <a:extLst>
              <a:ext uri="{FF2B5EF4-FFF2-40B4-BE49-F238E27FC236}">
                <ns2:creationId id="{FA05A90E-F9CB-41DE-9ED0-7A8ED4678ECC}"/>
              </a:ext>
            </a:extLst>
          </p:cNvPr>
          <p:cNvSpPr>
            <a:spLocks noGrp="1"/>
          </p:cNvSpPr>
          <p:nvPr/>
        </p:nvSpPr>
        <p:spPr>
          <a:xfrm>
            <a:off x="619780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1" name="diagram block">
            <a:extLst>
              <a:ext uri="{FF2B5EF4-FFF2-40B4-BE49-F238E27FC236}">
                <ns2:creationId id="{C197DFD0-4311-43AF-AF5E-CD5455190B9F}"/>
              </a:ext>
            </a:extLst>
          </p:cNvPr>
          <p:cNvSpPr>
            <a:spLocks noGrp="1"/>
          </p:cNvSpPr>
          <p:nvPr/>
        </p:nvSpPr>
        <p:spPr>
          <a:xfrm>
            <a:off x="630360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2" name="diagram block">
            <a:extLst>
              <a:ext uri="{FF2B5EF4-FFF2-40B4-BE49-F238E27FC236}">
                <ns2:creationId id="{7ED23DD1-A17F-4A81-B221-732A801A9FA2}"/>
              </a:ext>
            </a:extLst>
          </p:cNvPr>
          <p:cNvSpPr>
            <a:spLocks noGrp="1"/>
          </p:cNvSpPr>
          <p:nvPr/>
        </p:nvSpPr>
        <p:spPr>
          <a:xfrm>
            <a:off x="640941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3" name="diagram block">
            <a:extLst>
              <a:ext uri="{FF2B5EF4-FFF2-40B4-BE49-F238E27FC236}">
                <ns2:creationId id="{814CA28E-7101-4811-85E7-906288AD5AEF}"/>
              </a:ext>
            </a:extLst>
          </p:cNvPr>
          <p:cNvSpPr>
            <a:spLocks noGrp="1"/>
          </p:cNvSpPr>
          <p:nvPr/>
        </p:nvSpPr>
        <p:spPr>
          <a:xfrm>
            <a:off x="651522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4" name="diagram block">
            <a:extLst>
              <a:ext uri="{FF2B5EF4-FFF2-40B4-BE49-F238E27FC236}">
                <ns2:creationId id="{EBA0323E-45F5-4117-9D0D-09419557585A}"/>
              </a:ext>
            </a:extLst>
          </p:cNvPr>
          <p:cNvSpPr>
            <a:spLocks noGrp="1"/>
          </p:cNvSpPr>
          <p:nvPr/>
        </p:nvSpPr>
        <p:spPr>
          <a:xfrm>
            <a:off x="662102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5" name="diagram block">
            <a:extLst>
              <a:ext uri="{FF2B5EF4-FFF2-40B4-BE49-F238E27FC236}">
                <ns2:creationId id="{9746A92D-668E-49C3-898C-9CA580912859}"/>
              </a:ext>
            </a:extLst>
          </p:cNvPr>
          <p:cNvSpPr>
            <a:spLocks noGrp="1"/>
          </p:cNvSpPr>
          <p:nvPr/>
        </p:nvSpPr>
        <p:spPr>
          <a:xfrm>
            <a:off x="6726832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6" name="diagram block">
            <a:extLst>
              <a:ext uri="{FF2B5EF4-FFF2-40B4-BE49-F238E27FC236}">
                <ns2:creationId id="{48BE024C-4232-47D0-9C78-6D0B3B97AF72}"/>
              </a:ext>
            </a:extLst>
          </p:cNvPr>
          <p:cNvSpPr>
            <a:spLocks noGrp="1"/>
          </p:cNvSpPr>
          <p:nvPr/>
        </p:nvSpPr>
        <p:spPr>
          <a:xfrm>
            <a:off x="6832638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7" name="diagram block">
            <a:extLst>
              <a:ext uri="{FF2B5EF4-FFF2-40B4-BE49-F238E27FC236}">
                <ns2:creationId id="{F6C7EC1C-6998-4F48-9B43-00397487F09D}"/>
              </a:ext>
            </a:extLst>
          </p:cNvPr>
          <p:cNvSpPr>
            <a:spLocks noGrp="1"/>
          </p:cNvSpPr>
          <p:nvPr/>
        </p:nvSpPr>
        <p:spPr>
          <a:xfrm>
            <a:off x="619780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8" name="diagram block">
            <a:extLst>
              <a:ext uri="{FF2B5EF4-FFF2-40B4-BE49-F238E27FC236}">
                <ns2:creationId id="{1C9ED654-7C9A-4910-A389-4472B96F949B}"/>
              </a:ext>
            </a:extLst>
          </p:cNvPr>
          <p:cNvSpPr>
            <a:spLocks noGrp="1"/>
          </p:cNvSpPr>
          <p:nvPr/>
        </p:nvSpPr>
        <p:spPr>
          <a:xfrm>
            <a:off x="630360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9" name="diagram block">
            <a:extLst>
              <a:ext uri="{FF2B5EF4-FFF2-40B4-BE49-F238E27FC236}">
                <ns2:creationId id="{43E1430A-5359-4CE0-8932-AED28B91451D}"/>
              </a:ext>
            </a:extLst>
          </p:cNvPr>
          <p:cNvSpPr>
            <a:spLocks noGrp="1"/>
          </p:cNvSpPr>
          <p:nvPr/>
        </p:nvSpPr>
        <p:spPr>
          <a:xfrm>
            <a:off x="640941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0" name="diagram block">
            <a:extLst>
              <a:ext uri="{FF2B5EF4-FFF2-40B4-BE49-F238E27FC236}">
                <ns2:creationId id="{0831FCC0-15C8-44AE-9C86-BC710B86C89E}"/>
              </a:ext>
            </a:extLst>
          </p:cNvPr>
          <p:cNvSpPr>
            <a:spLocks noGrp="1"/>
          </p:cNvSpPr>
          <p:nvPr/>
        </p:nvSpPr>
        <p:spPr>
          <a:xfrm>
            <a:off x="651522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1" name="diagram block">
            <a:extLst>
              <a:ext uri="{FF2B5EF4-FFF2-40B4-BE49-F238E27FC236}">
                <ns2:creationId id="{90CCB6F4-B5F5-451A-B210-879A6EB32C9F}"/>
              </a:ext>
            </a:extLst>
          </p:cNvPr>
          <p:cNvSpPr>
            <a:spLocks noGrp="1"/>
          </p:cNvSpPr>
          <p:nvPr/>
        </p:nvSpPr>
        <p:spPr>
          <a:xfrm>
            <a:off x="662102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2" name="diagram block">
            <a:extLst>
              <a:ext uri="{FF2B5EF4-FFF2-40B4-BE49-F238E27FC236}">
                <ns2:creationId id="{DEA81AD9-DBE2-4E47-B302-71ED4BD913B7}"/>
              </a:ext>
            </a:extLst>
          </p:cNvPr>
          <p:cNvSpPr>
            <a:spLocks noGrp="1"/>
          </p:cNvSpPr>
          <p:nvPr/>
        </p:nvSpPr>
        <p:spPr>
          <a:xfrm>
            <a:off x="6726832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3" name="diagram block">
            <a:extLst>
              <a:ext uri="{FF2B5EF4-FFF2-40B4-BE49-F238E27FC236}">
                <ns2:creationId id="{36391DA1-0DCA-4B7F-AFE8-5AE206505246}"/>
              </a:ext>
            </a:extLst>
          </p:cNvPr>
          <p:cNvSpPr>
            <a:spLocks noGrp="1"/>
          </p:cNvSpPr>
          <p:nvPr/>
        </p:nvSpPr>
        <p:spPr>
          <a:xfrm>
            <a:off x="6832638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4" name="diagram block">
            <a:extLst>
              <a:ext uri="{FF2B5EF4-FFF2-40B4-BE49-F238E27FC236}">
                <ns2:creationId id="{BEB5D7DF-2A7D-4028-BEB8-B885E8C5A788}"/>
              </a:ext>
            </a:extLst>
          </p:cNvPr>
          <p:cNvSpPr>
            <a:spLocks noGrp="1"/>
          </p:cNvSpPr>
          <p:nvPr/>
        </p:nvSpPr>
        <p:spPr>
          <a:xfrm>
            <a:off x="619780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5" name="diagram block">
            <a:extLst>
              <a:ext uri="{FF2B5EF4-FFF2-40B4-BE49-F238E27FC236}">
                <ns2:creationId id="{FA147142-C976-4CFF-B338-DD27B50E8FFA}"/>
              </a:ext>
            </a:extLst>
          </p:cNvPr>
          <p:cNvSpPr>
            <a:spLocks noGrp="1"/>
          </p:cNvSpPr>
          <p:nvPr/>
        </p:nvSpPr>
        <p:spPr>
          <a:xfrm>
            <a:off x="630360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6" name="diagram block">
            <a:extLst>
              <a:ext uri="{FF2B5EF4-FFF2-40B4-BE49-F238E27FC236}">
                <ns2:creationId id="{FF456DDE-5AB4-4F09-88D4-8C3E8F304CD5}"/>
              </a:ext>
            </a:extLst>
          </p:cNvPr>
          <p:cNvSpPr>
            <a:spLocks noGrp="1"/>
          </p:cNvSpPr>
          <p:nvPr/>
        </p:nvSpPr>
        <p:spPr>
          <a:xfrm>
            <a:off x="640941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7" name="diagram block">
            <a:extLst>
              <a:ext uri="{FF2B5EF4-FFF2-40B4-BE49-F238E27FC236}">
                <ns2:creationId id="{6A625119-267A-41A1-9E2F-30D279064580}"/>
              </a:ext>
            </a:extLst>
          </p:cNvPr>
          <p:cNvSpPr>
            <a:spLocks noGrp="1"/>
          </p:cNvSpPr>
          <p:nvPr/>
        </p:nvSpPr>
        <p:spPr>
          <a:xfrm>
            <a:off x="651522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8" name="diagram block">
            <a:extLst>
              <a:ext uri="{FF2B5EF4-FFF2-40B4-BE49-F238E27FC236}">
                <ns2:creationId id="{56239816-7B42-41B8-BCFD-96395055DFC0}"/>
              </a:ext>
            </a:extLst>
          </p:cNvPr>
          <p:cNvSpPr>
            <a:spLocks noGrp="1"/>
          </p:cNvSpPr>
          <p:nvPr/>
        </p:nvSpPr>
        <p:spPr>
          <a:xfrm>
            <a:off x="662102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9" name="diagram block">
            <a:extLst>
              <a:ext uri="{FF2B5EF4-FFF2-40B4-BE49-F238E27FC236}">
                <ns2:creationId id="{20EE27C8-EE78-41F4-9488-36107A05E8CF}"/>
              </a:ext>
            </a:extLst>
          </p:cNvPr>
          <p:cNvSpPr>
            <a:spLocks noGrp="1"/>
          </p:cNvSpPr>
          <p:nvPr/>
        </p:nvSpPr>
        <p:spPr>
          <a:xfrm>
            <a:off x="6726832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0" name="diagram block">
            <a:extLst>
              <a:ext uri="{FF2B5EF4-FFF2-40B4-BE49-F238E27FC236}">
                <ns2:creationId id="{8ECEAA01-6722-44C4-89F9-FD9E152BED79}"/>
              </a:ext>
            </a:extLst>
          </p:cNvPr>
          <p:cNvSpPr>
            <a:spLocks noGrp="1"/>
          </p:cNvSpPr>
          <p:nvPr/>
        </p:nvSpPr>
        <p:spPr>
          <a:xfrm>
            <a:off x="6832638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1" name="diagram block">
            <a:extLst>
              <a:ext uri="{FF2B5EF4-FFF2-40B4-BE49-F238E27FC236}">
                <ns2:creationId id="{F3CA797B-E406-4458-A947-39F8CC02C136}"/>
              </a:ext>
            </a:extLst>
          </p:cNvPr>
          <p:cNvSpPr>
            <a:spLocks noGrp="1"/>
          </p:cNvSpPr>
          <p:nvPr/>
        </p:nvSpPr>
        <p:spPr>
          <a:xfrm>
            <a:off x="619780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2" name="diagram block">
            <a:extLst>
              <a:ext uri="{FF2B5EF4-FFF2-40B4-BE49-F238E27FC236}">
                <ns2:creationId id="{4330FFF9-DD63-4E7D-BB12-D356A41679A5}"/>
              </a:ext>
            </a:extLst>
          </p:cNvPr>
          <p:cNvSpPr>
            <a:spLocks noGrp="1"/>
          </p:cNvSpPr>
          <p:nvPr/>
        </p:nvSpPr>
        <p:spPr>
          <a:xfrm>
            <a:off x="630360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3" name="diagram block">
            <a:extLst>
              <a:ext uri="{FF2B5EF4-FFF2-40B4-BE49-F238E27FC236}">
                <ns2:creationId id="{F9630396-B374-48A3-B6CE-7FF2F6551061}"/>
              </a:ext>
            </a:extLst>
          </p:cNvPr>
          <p:cNvSpPr>
            <a:spLocks noGrp="1"/>
          </p:cNvSpPr>
          <p:nvPr/>
        </p:nvSpPr>
        <p:spPr>
          <a:xfrm>
            <a:off x="640941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4" name="diagram block">
            <a:extLst>
              <a:ext uri="{FF2B5EF4-FFF2-40B4-BE49-F238E27FC236}">
                <ns2:creationId id="{E7BA0499-E61E-485E-9357-F3E4FFD306A0}"/>
              </a:ext>
            </a:extLst>
          </p:cNvPr>
          <p:cNvSpPr>
            <a:spLocks noGrp="1"/>
          </p:cNvSpPr>
          <p:nvPr/>
        </p:nvSpPr>
        <p:spPr>
          <a:xfrm>
            <a:off x="651522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5" name="diagram block">
            <a:extLst>
              <a:ext uri="{FF2B5EF4-FFF2-40B4-BE49-F238E27FC236}">
                <ns2:creationId id="{F442D180-A8E7-4569-9BE0-CEB1A3D4FB1E}"/>
              </a:ext>
            </a:extLst>
          </p:cNvPr>
          <p:cNvSpPr>
            <a:spLocks noGrp="1"/>
          </p:cNvSpPr>
          <p:nvPr/>
        </p:nvSpPr>
        <p:spPr>
          <a:xfrm>
            <a:off x="662102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6" name="diagram block">
            <a:extLst>
              <a:ext uri="{FF2B5EF4-FFF2-40B4-BE49-F238E27FC236}">
                <ns2:creationId id="{2CEDFBA2-617B-4F9F-9F2A-08C83B9352E9}"/>
              </a:ext>
            </a:extLst>
          </p:cNvPr>
          <p:cNvSpPr>
            <a:spLocks noGrp="1"/>
          </p:cNvSpPr>
          <p:nvPr/>
        </p:nvSpPr>
        <p:spPr>
          <a:xfrm>
            <a:off x="6726832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7" name="diagram block">
            <a:extLst>
              <a:ext uri="{FF2B5EF4-FFF2-40B4-BE49-F238E27FC236}">
                <ns2:creationId id="{FE16125C-E20E-4C7E-9432-A7FE16EDC6AD}"/>
              </a:ext>
            </a:extLst>
          </p:cNvPr>
          <p:cNvSpPr>
            <a:spLocks noGrp="1"/>
          </p:cNvSpPr>
          <p:nvPr/>
        </p:nvSpPr>
        <p:spPr>
          <a:xfrm>
            <a:off x="6832638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8" name="diagram block">
            <a:extLst>
              <a:ext uri="{FF2B5EF4-FFF2-40B4-BE49-F238E27FC236}">
                <ns2:creationId id="{1DFE58FD-8DE7-42E7-9EE5-8F90D37467A9}"/>
              </a:ext>
            </a:extLst>
          </p:cNvPr>
          <p:cNvSpPr>
            <a:spLocks noGrp="1"/>
          </p:cNvSpPr>
          <p:nvPr/>
        </p:nvSpPr>
        <p:spPr>
          <a:xfrm>
            <a:off x="619780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9" name="diagram block">
            <a:extLst>
              <a:ext uri="{FF2B5EF4-FFF2-40B4-BE49-F238E27FC236}">
                <ns2:creationId id="{5159237C-3C08-4B05-8F2D-ACF577F0534D}"/>
              </a:ext>
            </a:extLst>
          </p:cNvPr>
          <p:cNvSpPr>
            <a:spLocks noGrp="1"/>
          </p:cNvSpPr>
          <p:nvPr/>
        </p:nvSpPr>
        <p:spPr>
          <a:xfrm>
            <a:off x="630360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0" name="diagram block">
            <a:extLst>
              <a:ext uri="{FF2B5EF4-FFF2-40B4-BE49-F238E27FC236}">
                <ns2:creationId id="{6B5792BC-4F6E-43C4-8697-E003696CD364}"/>
              </a:ext>
            </a:extLst>
          </p:cNvPr>
          <p:cNvSpPr>
            <a:spLocks noGrp="1"/>
          </p:cNvSpPr>
          <p:nvPr/>
        </p:nvSpPr>
        <p:spPr>
          <a:xfrm>
            <a:off x="640941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1" name="diagram block">
            <a:extLst>
              <a:ext uri="{FF2B5EF4-FFF2-40B4-BE49-F238E27FC236}">
                <ns2:creationId id="{CD5776E9-6B2E-4BD1-A891-164F8D92EABF}"/>
              </a:ext>
            </a:extLst>
          </p:cNvPr>
          <p:cNvSpPr>
            <a:spLocks noGrp="1"/>
          </p:cNvSpPr>
          <p:nvPr/>
        </p:nvSpPr>
        <p:spPr>
          <a:xfrm>
            <a:off x="651522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2" name="diagram block">
            <a:extLst>
              <a:ext uri="{FF2B5EF4-FFF2-40B4-BE49-F238E27FC236}">
                <ns2:creationId id="{F4B1189E-C0E1-48B4-9DC9-2FAAF4D05505}"/>
              </a:ext>
            </a:extLst>
          </p:cNvPr>
          <p:cNvSpPr>
            <a:spLocks noGrp="1"/>
          </p:cNvSpPr>
          <p:nvPr/>
        </p:nvSpPr>
        <p:spPr>
          <a:xfrm>
            <a:off x="662102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3" name="diagram block">
            <a:extLst>
              <a:ext uri="{FF2B5EF4-FFF2-40B4-BE49-F238E27FC236}">
                <ns2:creationId id="{F14774AC-82C1-47AE-A364-6B421F979744}"/>
              </a:ext>
            </a:extLst>
          </p:cNvPr>
          <p:cNvSpPr>
            <a:spLocks noGrp="1"/>
          </p:cNvSpPr>
          <p:nvPr/>
        </p:nvSpPr>
        <p:spPr>
          <a:xfrm>
            <a:off x="6726832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4" name="diagram block">
            <a:extLst>
              <a:ext uri="{FF2B5EF4-FFF2-40B4-BE49-F238E27FC236}">
                <ns2:creationId id="{75035361-7873-4564-B427-CD2ECC0F0607}"/>
              </a:ext>
            </a:extLst>
          </p:cNvPr>
          <p:cNvSpPr>
            <a:spLocks noGrp="1"/>
          </p:cNvSpPr>
          <p:nvPr/>
        </p:nvSpPr>
        <p:spPr>
          <a:xfrm>
            <a:off x="6832638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5" name="diagram block">
            <a:extLst>
              <a:ext uri="{FF2B5EF4-FFF2-40B4-BE49-F238E27FC236}">
                <ns2:creationId id="{1D2A3936-3C24-45FF-AE98-6563F5E668DA}"/>
              </a:ext>
            </a:extLst>
          </p:cNvPr>
          <p:cNvSpPr>
            <a:spLocks noGrp="1"/>
          </p:cNvSpPr>
          <p:nvPr/>
        </p:nvSpPr>
        <p:spPr>
          <a:xfrm>
            <a:off x="619780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6" name="diagram block">
            <a:extLst>
              <a:ext uri="{FF2B5EF4-FFF2-40B4-BE49-F238E27FC236}">
                <ns2:creationId id="{28DC4FC7-0753-4EA6-B46F-CF1D4F28B121}"/>
              </a:ext>
            </a:extLst>
          </p:cNvPr>
          <p:cNvSpPr>
            <a:spLocks noGrp="1"/>
          </p:cNvSpPr>
          <p:nvPr/>
        </p:nvSpPr>
        <p:spPr>
          <a:xfrm>
            <a:off x="630360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7" name="diagram block">
            <a:extLst>
              <a:ext uri="{FF2B5EF4-FFF2-40B4-BE49-F238E27FC236}">
                <ns2:creationId id="{88A31266-33D6-4186-BBD7-258A58EB6A64}"/>
              </a:ext>
            </a:extLst>
          </p:cNvPr>
          <p:cNvSpPr>
            <a:spLocks noGrp="1"/>
          </p:cNvSpPr>
          <p:nvPr/>
        </p:nvSpPr>
        <p:spPr>
          <a:xfrm>
            <a:off x="640941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8" name="diagram block">
            <a:extLst>
              <a:ext uri="{FF2B5EF4-FFF2-40B4-BE49-F238E27FC236}">
                <ns2:creationId id="{B730F83F-B037-45B5-BB7E-98F8E6C37D3C}"/>
              </a:ext>
            </a:extLst>
          </p:cNvPr>
          <p:cNvSpPr>
            <a:spLocks noGrp="1"/>
          </p:cNvSpPr>
          <p:nvPr/>
        </p:nvSpPr>
        <p:spPr>
          <a:xfrm>
            <a:off x="651522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9" name="diagram block">
            <a:extLst>
              <a:ext uri="{FF2B5EF4-FFF2-40B4-BE49-F238E27FC236}">
                <ns2:creationId id="{539723F5-AF89-47DB-9198-72447361F225}"/>
              </a:ext>
            </a:extLst>
          </p:cNvPr>
          <p:cNvSpPr>
            <a:spLocks noGrp="1"/>
          </p:cNvSpPr>
          <p:nvPr/>
        </p:nvSpPr>
        <p:spPr>
          <a:xfrm>
            <a:off x="662102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0" name="diagram block">
            <a:extLst>
              <a:ext uri="{FF2B5EF4-FFF2-40B4-BE49-F238E27FC236}">
                <ns2:creationId id="{08733BA0-4958-4AF4-9C4A-3E6B2289E7A7}"/>
              </a:ext>
            </a:extLst>
          </p:cNvPr>
          <p:cNvSpPr>
            <a:spLocks noGrp="1"/>
          </p:cNvSpPr>
          <p:nvPr/>
        </p:nvSpPr>
        <p:spPr>
          <a:xfrm>
            <a:off x="6726832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1" name="diagram block">
            <a:extLst>
              <a:ext uri="{FF2B5EF4-FFF2-40B4-BE49-F238E27FC236}">
                <ns2:creationId id="{9711C84F-38FB-4ABD-88B8-35550957BECE}"/>
              </a:ext>
            </a:extLst>
          </p:cNvPr>
          <p:cNvSpPr>
            <a:spLocks noGrp="1"/>
          </p:cNvSpPr>
          <p:nvPr/>
        </p:nvSpPr>
        <p:spPr>
          <a:xfrm>
            <a:off x="6832638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2" name="diagram block">
            <a:extLst>
              <a:ext uri="{FF2B5EF4-FFF2-40B4-BE49-F238E27FC236}">
                <ns2:creationId id="{3066F50B-4BAD-4FF1-80DF-5574B01F76F2}"/>
              </a:ext>
            </a:extLst>
          </p:cNvPr>
          <p:cNvSpPr>
            <a:spLocks noGrp="1"/>
          </p:cNvSpPr>
          <p:nvPr/>
        </p:nvSpPr>
        <p:spPr>
          <a:xfrm>
            <a:off x="7080379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3" name="diagram block">
            <a:extLst>
              <a:ext uri="{FF2B5EF4-FFF2-40B4-BE49-F238E27FC236}">
                <ns2:creationId id="{0E57F347-DB2E-4D8C-8BF9-3F5FF63C1D99}"/>
              </a:ext>
            </a:extLst>
          </p:cNvPr>
          <p:cNvSpPr>
            <a:spLocks noGrp="1"/>
          </p:cNvSpPr>
          <p:nvPr/>
        </p:nvSpPr>
        <p:spPr>
          <a:xfrm>
            <a:off x="7186185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4" name="diagram block">
            <a:extLst>
              <a:ext uri="{FF2B5EF4-FFF2-40B4-BE49-F238E27FC236}">
                <ns2:creationId id="{2C50521C-0A43-41CF-92F6-A1A88B8EF85B}"/>
              </a:ext>
            </a:extLst>
          </p:cNvPr>
          <p:cNvSpPr>
            <a:spLocks noGrp="1"/>
          </p:cNvSpPr>
          <p:nvPr/>
        </p:nvSpPr>
        <p:spPr>
          <a:xfrm>
            <a:off x="729199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5" name="diagram block">
            <a:extLst>
              <a:ext uri="{FF2B5EF4-FFF2-40B4-BE49-F238E27FC236}">
                <ns2:creationId id="{689B3D37-4E3F-4323-8740-7F30667CE348}"/>
              </a:ext>
            </a:extLst>
          </p:cNvPr>
          <p:cNvSpPr>
            <a:spLocks noGrp="1"/>
          </p:cNvSpPr>
          <p:nvPr/>
        </p:nvSpPr>
        <p:spPr>
          <a:xfrm>
            <a:off x="739779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6" name="diagram block">
            <a:extLst>
              <a:ext uri="{FF2B5EF4-FFF2-40B4-BE49-F238E27FC236}">
                <ns2:creationId id="{C9D50EFE-04F6-4B6C-87ED-08637C86C7A7}"/>
              </a:ext>
            </a:extLst>
          </p:cNvPr>
          <p:cNvSpPr>
            <a:spLocks noGrp="1"/>
          </p:cNvSpPr>
          <p:nvPr/>
        </p:nvSpPr>
        <p:spPr>
          <a:xfrm>
            <a:off x="750360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7" name="diagram block">
            <a:extLst>
              <a:ext uri="{FF2B5EF4-FFF2-40B4-BE49-F238E27FC236}">
                <ns2:creationId id="{A4150075-C4B3-4E6C-9AA4-0296AB7247B2}"/>
              </a:ext>
            </a:extLst>
          </p:cNvPr>
          <p:cNvSpPr>
            <a:spLocks noGrp="1"/>
          </p:cNvSpPr>
          <p:nvPr/>
        </p:nvSpPr>
        <p:spPr>
          <a:xfrm>
            <a:off x="760941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8" name="diagram block">
            <a:extLst>
              <a:ext uri="{FF2B5EF4-FFF2-40B4-BE49-F238E27FC236}">
                <ns2:creationId id="{C9901D48-0ADA-40BD-9E97-FB1EF0E66843}"/>
              </a:ext>
            </a:extLst>
          </p:cNvPr>
          <p:cNvSpPr>
            <a:spLocks noGrp="1"/>
          </p:cNvSpPr>
          <p:nvPr/>
        </p:nvSpPr>
        <p:spPr>
          <a:xfrm>
            <a:off x="771521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9" name="diagram block">
            <a:extLst>
              <a:ext uri="{FF2B5EF4-FFF2-40B4-BE49-F238E27FC236}">
                <ns2:creationId id="{A9038AA0-CF3F-41AF-BFF9-28A4A4E3AC98}"/>
              </a:ext>
            </a:extLst>
          </p:cNvPr>
          <p:cNvSpPr>
            <a:spLocks noGrp="1"/>
          </p:cNvSpPr>
          <p:nvPr/>
        </p:nvSpPr>
        <p:spPr>
          <a:xfrm>
            <a:off x="7080379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0" name="diagram block">
            <a:extLst>
              <a:ext uri="{FF2B5EF4-FFF2-40B4-BE49-F238E27FC236}">
                <ns2:creationId id="{631468F2-10AC-4B1B-9135-5ED0785194C8}"/>
              </a:ext>
            </a:extLst>
          </p:cNvPr>
          <p:cNvSpPr>
            <a:spLocks noGrp="1"/>
          </p:cNvSpPr>
          <p:nvPr/>
        </p:nvSpPr>
        <p:spPr>
          <a:xfrm>
            <a:off x="7186185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1" name="diagram block">
            <a:extLst>
              <a:ext uri="{FF2B5EF4-FFF2-40B4-BE49-F238E27FC236}">
                <ns2:creationId id="{5B993802-CD1F-4548-89C7-3A582600E960}"/>
              </a:ext>
            </a:extLst>
          </p:cNvPr>
          <p:cNvSpPr>
            <a:spLocks noGrp="1"/>
          </p:cNvSpPr>
          <p:nvPr/>
        </p:nvSpPr>
        <p:spPr>
          <a:xfrm>
            <a:off x="729199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2" name="diagram block">
            <a:extLst>
              <a:ext uri="{FF2B5EF4-FFF2-40B4-BE49-F238E27FC236}">
                <ns2:creationId id="{F2965452-8EB1-455B-ADF5-C9442DEB09AC}"/>
              </a:ext>
            </a:extLst>
          </p:cNvPr>
          <p:cNvSpPr>
            <a:spLocks noGrp="1"/>
          </p:cNvSpPr>
          <p:nvPr/>
        </p:nvSpPr>
        <p:spPr>
          <a:xfrm>
            <a:off x="739779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3" name="diagram block">
            <a:extLst>
              <a:ext uri="{FF2B5EF4-FFF2-40B4-BE49-F238E27FC236}">
                <ns2:creationId id="{294D9EAD-5763-4DC8-86A1-BFCCE48498C7}"/>
              </a:ext>
            </a:extLst>
          </p:cNvPr>
          <p:cNvSpPr>
            <a:spLocks noGrp="1"/>
          </p:cNvSpPr>
          <p:nvPr/>
        </p:nvSpPr>
        <p:spPr>
          <a:xfrm>
            <a:off x="750360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4" name="diagram block">
            <a:extLst>
              <a:ext uri="{FF2B5EF4-FFF2-40B4-BE49-F238E27FC236}">
                <ns2:creationId id="{7922AA73-1B70-47C7-8A58-EEC94FF5E1FB}"/>
              </a:ext>
            </a:extLst>
          </p:cNvPr>
          <p:cNvSpPr>
            <a:spLocks noGrp="1"/>
          </p:cNvSpPr>
          <p:nvPr/>
        </p:nvSpPr>
        <p:spPr>
          <a:xfrm>
            <a:off x="760941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5" name="diagram block">
            <a:extLst>
              <a:ext uri="{FF2B5EF4-FFF2-40B4-BE49-F238E27FC236}">
                <ns2:creationId id="{C01179A1-C833-468A-A088-3970BAA2B86D}"/>
              </a:ext>
            </a:extLst>
          </p:cNvPr>
          <p:cNvSpPr>
            <a:spLocks noGrp="1"/>
          </p:cNvSpPr>
          <p:nvPr/>
        </p:nvSpPr>
        <p:spPr>
          <a:xfrm>
            <a:off x="771521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6" name="diagram block">
            <a:extLst>
              <a:ext uri="{FF2B5EF4-FFF2-40B4-BE49-F238E27FC236}">
                <ns2:creationId id="{3CD910E0-D23F-4269-B014-5A0F84F406AD}"/>
              </a:ext>
            </a:extLst>
          </p:cNvPr>
          <p:cNvSpPr>
            <a:spLocks noGrp="1"/>
          </p:cNvSpPr>
          <p:nvPr/>
        </p:nvSpPr>
        <p:spPr>
          <a:xfrm>
            <a:off x="7080379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7" name="diagram block">
            <a:extLst>
              <a:ext uri="{FF2B5EF4-FFF2-40B4-BE49-F238E27FC236}">
                <ns2:creationId id="{C7110D24-EC67-4C18-846A-6BF3CCAEEADB}"/>
              </a:ext>
            </a:extLst>
          </p:cNvPr>
          <p:cNvSpPr>
            <a:spLocks noGrp="1"/>
          </p:cNvSpPr>
          <p:nvPr/>
        </p:nvSpPr>
        <p:spPr>
          <a:xfrm>
            <a:off x="7186185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8" name="diagram block">
            <a:extLst>
              <a:ext uri="{FF2B5EF4-FFF2-40B4-BE49-F238E27FC236}">
                <ns2:creationId id="{23B4F6E8-F16B-4380-AE3E-6F4AF3885992}"/>
              </a:ext>
            </a:extLst>
          </p:cNvPr>
          <p:cNvSpPr>
            <a:spLocks noGrp="1"/>
          </p:cNvSpPr>
          <p:nvPr/>
        </p:nvSpPr>
        <p:spPr>
          <a:xfrm>
            <a:off x="729199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9" name="diagram block">
            <a:extLst>
              <a:ext uri="{FF2B5EF4-FFF2-40B4-BE49-F238E27FC236}">
                <ns2:creationId id="{B52A54FD-B164-4347-9256-00D64A94D664}"/>
              </a:ext>
            </a:extLst>
          </p:cNvPr>
          <p:cNvSpPr>
            <a:spLocks noGrp="1"/>
          </p:cNvSpPr>
          <p:nvPr/>
        </p:nvSpPr>
        <p:spPr>
          <a:xfrm>
            <a:off x="739779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0" name="diagram block">
            <a:extLst>
              <a:ext uri="{FF2B5EF4-FFF2-40B4-BE49-F238E27FC236}">
                <ns2:creationId id="{D12BCA25-DE6F-4407-9165-3CC83AF6129E}"/>
              </a:ext>
            </a:extLst>
          </p:cNvPr>
          <p:cNvSpPr>
            <a:spLocks noGrp="1"/>
          </p:cNvSpPr>
          <p:nvPr/>
        </p:nvSpPr>
        <p:spPr>
          <a:xfrm>
            <a:off x="750360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1" name="diagram block">
            <a:extLst>
              <a:ext uri="{FF2B5EF4-FFF2-40B4-BE49-F238E27FC236}">
                <ns2:creationId id="{469FEDF9-4244-4275-91ED-B5A34FADF0BD}"/>
              </a:ext>
            </a:extLst>
          </p:cNvPr>
          <p:cNvSpPr>
            <a:spLocks noGrp="1"/>
          </p:cNvSpPr>
          <p:nvPr/>
        </p:nvSpPr>
        <p:spPr>
          <a:xfrm>
            <a:off x="760941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2" name="diagram block">
            <a:extLst>
              <a:ext uri="{FF2B5EF4-FFF2-40B4-BE49-F238E27FC236}">
                <ns2:creationId id="{FC14572A-2443-4A5A-A3E2-6D314B009650}"/>
              </a:ext>
            </a:extLst>
          </p:cNvPr>
          <p:cNvSpPr>
            <a:spLocks noGrp="1"/>
          </p:cNvSpPr>
          <p:nvPr/>
        </p:nvSpPr>
        <p:spPr>
          <a:xfrm>
            <a:off x="771521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3" name="diagram block">
            <a:extLst>
              <a:ext uri="{FF2B5EF4-FFF2-40B4-BE49-F238E27FC236}">
                <ns2:creationId id="{F38A0B0E-037A-482A-B99B-8A87F4D026DC}"/>
              </a:ext>
            </a:extLst>
          </p:cNvPr>
          <p:cNvSpPr>
            <a:spLocks noGrp="1"/>
          </p:cNvSpPr>
          <p:nvPr/>
        </p:nvSpPr>
        <p:spPr>
          <a:xfrm>
            <a:off x="7080379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4" name="diagram block">
            <a:extLst>
              <a:ext uri="{FF2B5EF4-FFF2-40B4-BE49-F238E27FC236}">
                <ns2:creationId id="{BB8E04C0-EE84-4209-9B63-DF17F25816ED}"/>
              </a:ext>
            </a:extLst>
          </p:cNvPr>
          <p:cNvSpPr>
            <a:spLocks noGrp="1"/>
          </p:cNvSpPr>
          <p:nvPr/>
        </p:nvSpPr>
        <p:spPr>
          <a:xfrm>
            <a:off x="7186185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5" name="diagram block">
            <a:extLst>
              <a:ext uri="{FF2B5EF4-FFF2-40B4-BE49-F238E27FC236}">
                <ns2:creationId id="{13617782-0E0C-431B-BB3A-B285ABCBC310}"/>
              </a:ext>
            </a:extLst>
          </p:cNvPr>
          <p:cNvSpPr>
            <a:spLocks noGrp="1"/>
          </p:cNvSpPr>
          <p:nvPr/>
        </p:nvSpPr>
        <p:spPr>
          <a:xfrm>
            <a:off x="729199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6" name="diagram block">
            <a:extLst>
              <a:ext uri="{FF2B5EF4-FFF2-40B4-BE49-F238E27FC236}">
                <ns2:creationId id="{CDDA0183-E9AE-4A47-BEDA-6C48B61774CD}"/>
              </a:ext>
            </a:extLst>
          </p:cNvPr>
          <p:cNvSpPr>
            <a:spLocks noGrp="1"/>
          </p:cNvSpPr>
          <p:nvPr/>
        </p:nvSpPr>
        <p:spPr>
          <a:xfrm>
            <a:off x="739779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7" name="diagram block">
            <a:extLst>
              <a:ext uri="{FF2B5EF4-FFF2-40B4-BE49-F238E27FC236}">
                <ns2:creationId id="{4768F3E1-5B50-4212-8272-71C51A1AA6FE}"/>
              </a:ext>
            </a:extLst>
          </p:cNvPr>
          <p:cNvSpPr>
            <a:spLocks noGrp="1"/>
          </p:cNvSpPr>
          <p:nvPr/>
        </p:nvSpPr>
        <p:spPr>
          <a:xfrm>
            <a:off x="750360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8" name="diagram block">
            <a:extLst>
              <a:ext uri="{FF2B5EF4-FFF2-40B4-BE49-F238E27FC236}">
                <ns2:creationId id="{14C51AFE-3088-435B-800E-C5ABB4FCD9E6}"/>
              </a:ext>
            </a:extLst>
          </p:cNvPr>
          <p:cNvSpPr>
            <a:spLocks noGrp="1"/>
          </p:cNvSpPr>
          <p:nvPr/>
        </p:nvSpPr>
        <p:spPr>
          <a:xfrm>
            <a:off x="760941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9" name="diagram block">
            <a:extLst>
              <a:ext uri="{FF2B5EF4-FFF2-40B4-BE49-F238E27FC236}">
                <ns2:creationId id="{4F9AF768-E0DE-40CD-AE73-87873DBFC12F}"/>
              </a:ext>
            </a:extLst>
          </p:cNvPr>
          <p:cNvSpPr>
            <a:spLocks noGrp="1"/>
          </p:cNvSpPr>
          <p:nvPr/>
        </p:nvSpPr>
        <p:spPr>
          <a:xfrm>
            <a:off x="771521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0" name="diagram block">
            <a:extLst>
              <a:ext uri="{FF2B5EF4-FFF2-40B4-BE49-F238E27FC236}">
                <ns2:creationId id="{C59CED6C-6290-49A1-998A-63C7E74644A5}"/>
              </a:ext>
            </a:extLst>
          </p:cNvPr>
          <p:cNvSpPr>
            <a:spLocks noGrp="1"/>
          </p:cNvSpPr>
          <p:nvPr/>
        </p:nvSpPr>
        <p:spPr>
          <a:xfrm>
            <a:off x="7080379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1" name="diagram block">
            <a:extLst>
              <a:ext uri="{FF2B5EF4-FFF2-40B4-BE49-F238E27FC236}">
                <ns2:creationId id="{ED964F6C-F707-47DC-A146-9299358A07B8}"/>
              </a:ext>
            </a:extLst>
          </p:cNvPr>
          <p:cNvSpPr>
            <a:spLocks noGrp="1"/>
          </p:cNvSpPr>
          <p:nvPr/>
        </p:nvSpPr>
        <p:spPr>
          <a:xfrm>
            <a:off x="7186185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2" name="diagram block">
            <a:extLst>
              <a:ext uri="{FF2B5EF4-FFF2-40B4-BE49-F238E27FC236}">
                <ns2:creationId id="{FBC97FF9-A984-4C00-9535-CE616AC3537F}"/>
              </a:ext>
            </a:extLst>
          </p:cNvPr>
          <p:cNvSpPr>
            <a:spLocks noGrp="1"/>
          </p:cNvSpPr>
          <p:nvPr/>
        </p:nvSpPr>
        <p:spPr>
          <a:xfrm>
            <a:off x="729199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3" name="diagram block">
            <a:extLst>
              <a:ext uri="{FF2B5EF4-FFF2-40B4-BE49-F238E27FC236}">
                <ns2:creationId id="{55720C2E-67F8-485E-A603-A714BCC8E08B}"/>
              </a:ext>
            </a:extLst>
          </p:cNvPr>
          <p:cNvSpPr>
            <a:spLocks noGrp="1"/>
          </p:cNvSpPr>
          <p:nvPr/>
        </p:nvSpPr>
        <p:spPr>
          <a:xfrm>
            <a:off x="739779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4" name="diagram block">
            <a:extLst>
              <a:ext uri="{FF2B5EF4-FFF2-40B4-BE49-F238E27FC236}">
                <ns2:creationId id="{A07E263D-1BF3-4952-B901-2B0AF7AFDA40}"/>
              </a:ext>
            </a:extLst>
          </p:cNvPr>
          <p:cNvSpPr>
            <a:spLocks noGrp="1"/>
          </p:cNvSpPr>
          <p:nvPr/>
        </p:nvSpPr>
        <p:spPr>
          <a:xfrm>
            <a:off x="750360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5" name="diagram block">
            <a:extLst>
              <a:ext uri="{FF2B5EF4-FFF2-40B4-BE49-F238E27FC236}">
                <ns2:creationId id="{9146BF6B-60A4-4257-B831-EBEE98102EFB}"/>
              </a:ext>
            </a:extLst>
          </p:cNvPr>
          <p:cNvSpPr>
            <a:spLocks noGrp="1"/>
          </p:cNvSpPr>
          <p:nvPr/>
        </p:nvSpPr>
        <p:spPr>
          <a:xfrm>
            <a:off x="760941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6" name="diagram block">
            <a:extLst>
              <a:ext uri="{FF2B5EF4-FFF2-40B4-BE49-F238E27FC236}">
                <ns2:creationId id="{8423AEA6-9C8C-467A-A59D-315130062EB3}"/>
              </a:ext>
            </a:extLst>
          </p:cNvPr>
          <p:cNvSpPr>
            <a:spLocks noGrp="1"/>
          </p:cNvSpPr>
          <p:nvPr/>
        </p:nvSpPr>
        <p:spPr>
          <a:xfrm>
            <a:off x="771521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7" name="diagram block">
            <a:extLst>
              <a:ext uri="{FF2B5EF4-FFF2-40B4-BE49-F238E27FC236}">
                <ns2:creationId id="{FAC2AB0A-5F58-4EA4-A8A4-1BA285391DA5}"/>
              </a:ext>
            </a:extLst>
          </p:cNvPr>
          <p:cNvSpPr>
            <a:spLocks noGrp="1"/>
          </p:cNvSpPr>
          <p:nvPr/>
        </p:nvSpPr>
        <p:spPr>
          <a:xfrm>
            <a:off x="7080379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8" name="diagram block">
            <a:extLst>
              <a:ext uri="{FF2B5EF4-FFF2-40B4-BE49-F238E27FC236}">
                <ns2:creationId id="{E9F282AD-E70E-4073-8BB1-E8A41240DEDD}"/>
              </a:ext>
            </a:extLst>
          </p:cNvPr>
          <p:cNvSpPr>
            <a:spLocks noGrp="1"/>
          </p:cNvSpPr>
          <p:nvPr/>
        </p:nvSpPr>
        <p:spPr>
          <a:xfrm>
            <a:off x="7186185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9" name="diagram block">
            <a:extLst>
              <a:ext uri="{FF2B5EF4-FFF2-40B4-BE49-F238E27FC236}">
                <ns2:creationId id="{89EE9A49-780C-4B48-B6B7-0D4C4C4003BA}"/>
              </a:ext>
            </a:extLst>
          </p:cNvPr>
          <p:cNvSpPr>
            <a:spLocks noGrp="1"/>
          </p:cNvSpPr>
          <p:nvPr/>
        </p:nvSpPr>
        <p:spPr>
          <a:xfrm>
            <a:off x="729199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0" name="diagram block">
            <a:extLst>
              <a:ext uri="{FF2B5EF4-FFF2-40B4-BE49-F238E27FC236}">
                <ns2:creationId id="{216A6E69-E898-499A-AAE7-1C3E316DEAC9}"/>
              </a:ext>
            </a:extLst>
          </p:cNvPr>
          <p:cNvSpPr>
            <a:spLocks noGrp="1"/>
          </p:cNvSpPr>
          <p:nvPr/>
        </p:nvSpPr>
        <p:spPr>
          <a:xfrm>
            <a:off x="739779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1" name="diagram block">
            <a:extLst>
              <a:ext uri="{FF2B5EF4-FFF2-40B4-BE49-F238E27FC236}">
                <ns2:creationId id="{E9B4EFD9-0BF5-4BE6-9462-37CA576244C9}"/>
              </a:ext>
            </a:extLst>
          </p:cNvPr>
          <p:cNvSpPr>
            <a:spLocks noGrp="1"/>
          </p:cNvSpPr>
          <p:nvPr/>
        </p:nvSpPr>
        <p:spPr>
          <a:xfrm>
            <a:off x="750360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2" name="diagram block">
            <a:extLst>
              <a:ext uri="{FF2B5EF4-FFF2-40B4-BE49-F238E27FC236}">
                <ns2:creationId id="{378FE214-143F-491B-8250-C8D07B03EF63}"/>
              </a:ext>
            </a:extLst>
          </p:cNvPr>
          <p:cNvSpPr>
            <a:spLocks noGrp="1"/>
          </p:cNvSpPr>
          <p:nvPr/>
        </p:nvSpPr>
        <p:spPr>
          <a:xfrm>
            <a:off x="760941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3" name="diagram block">
            <a:extLst>
              <a:ext uri="{FF2B5EF4-FFF2-40B4-BE49-F238E27FC236}">
                <ns2:creationId id="{B5EA802B-C763-4B19-9974-18129B7ADF6D}"/>
              </a:ext>
            </a:extLst>
          </p:cNvPr>
          <p:cNvSpPr>
            <a:spLocks noGrp="1"/>
          </p:cNvSpPr>
          <p:nvPr/>
        </p:nvSpPr>
        <p:spPr>
          <a:xfrm>
            <a:off x="771521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4" name="diagram block">
            <a:extLst>
              <a:ext uri="{FF2B5EF4-FFF2-40B4-BE49-F238E27FC236}">
                <ns2:creationId id="{E9CB0DDD-DAF8-4D05-8871-D6DB6AE2B446}"/>
              </a:ext>
            </a:extLst>
          </p:cNvPr>
          <p:cNvSpPr>
            <a:spLocks noGrp="1"/>
          </p:cNvSpPr>
          <p:nvPr/>
        </p:nvSpPr>
        <p:spPr>
          <a:xfrm>
            <a:off x="7080379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5" name="diagram block">
            <a:extLst>
              <a:ext uri="{FF2B5EF4-FFF2-40B4-BE49-F238E27FC236}">
                <ns2:creationId id="{9B7FB504-F132-4BBC-A661-0B079BEF6C45}"/>
              </a:ext>
            </a:extLst>
          </p:cNvPr>
          <p:cNvSpPr>
            <a:spLocks noGrp="1"/>
          </p:cNvSpPr>
          <p:nvPr/>
        </p:nvSpPr>
        <p:spPr>
          <a:xfrm>
            <a:off x="7186185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6" name="diagram block">
            <a:extLst>
              <a:ext uri="{FF2B5EF4-FFF2-40B4-BE49-F238E27FC236}">
                <ns2:creationId id="{0E41C0A7-3FCB-4993-8A23-5DD00C7E215D}"/>
              </a:ext>
            </a:extLst>
          </p:cNvPr>
          <p:cNvSpPr>
            <a:spLocks noGrp="1"/>
          </p:cNvSpPr>
          <p:nvPr/>
        </p:nvSpPr>
        <p:spPr>
          <a:xfrm>
            <a:off x="729199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7" name="diagram block">
            <a:extLst>
              <a:ext uri="{FF2B5EF4-FFF2-40B4-BE49-F238E27FC236}">
                <ns2:creationId id="{E105CA1D-CD77-4948-8708-8F7C1CC26FE1}"/>
              </a:ext>
            </a:extLst>
          </p:cNvPr>
          <p:cNvSpPr>
            <a:spLocks noGrp="1"/>
          </p:cNvSpPr>
          <p:nvPr/>
        </p:nvSpPr>
        <p:spPr>
          <a:xfrm>
            <a:off x="739779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8" name="diagram block">
            <a:extLst>
              <a:ext uri="{FF2B5EF4-FFF2-40B4-BE49-F238E27FC236}">
                <ns2:creationId id="{8BD0E8C3-780E-4819-93FB-D412E316627F}"/>
              </a:ext>
            </a:extLst>
          </p:cNvPr>
          <p:cNvSpPr>
            <a:spLocks noGrp="1"/>
          </p:cNvSpPr>
          <p:nvPr/>
        </p:nvSpPr>
        <p:spPr>
          <a:xfrm>
            <a:off x="750360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9" name="diagram block">
            <a:extLst>
              <a:ext uri="{FF2B5EF4-FFF2-40B4-BE49-F238E27FC236}">
                <ns2:creationId id="{000E55CE-F5B9-4A95-A5BF-548B5C51C9A2}"/>
              </a:ext>
            </a:extLst>
          </p:cNvPr>
          <p:cNvSpPr>
            <a:spLocks noGrp="1"/>
          </p:cNvSpPr>
          <p:nvPr/>
        </p:nvSpPr>
        <p:spPr>
          <a:xfrm>
            <a:off x="760941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20" name="diagram block">
            <a:extLst>
              <a:ext uri="{FF2B5EF4-FFF2-40B4-BE49-F238E27FC236}">
                <ns2:creationId id="{B7D4E886-E963-45EB-B3FC-99E6C78D5C89}"/>
              </a:ext>
            </a:extLst>
          </p:cNvPr>
          <p:cNvSpPr>
            <a:spLocks noGrp="1"/>
          </p:cNvSpPr>
          <p:nvPr/>
        </p:nvSpPr>
        <p:spPr>
          <a:xfrm>
            <a:off x="771521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21" name="diagram block">
            <a:extLst>
              <a:ext uri="{FF2B5EF4-FFF2-40B4-BE49-F238E27FC236}">
                <ns2:creationId id="{7A31980E-0E99-4D0D-AB04-1F09AC044D4C}"/>
              </a:ext>
            </a:extLst>
          </p:cNvPr>
          <p:cNvSpPr>
            <a:spLocks noGrp="1"/>
          </p:cNvSpPr>
          <p:nvPr/>
        </p:nvSpPr>
        <p:spPr>
          <a:xfrm>
            <a:off x="7895860" y="686449"/>
            <a:ext cx="908384" cy="1310964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4129">
            <a:solidFill>
              <a:srgbClr val="CBDFEE"/>
            </a:solidFill>
            <a:prstDash val="solid"/>
          </a:ln>
        </p:spPr>
      </p:sp>
      <p:sp>
        <p:nvSpPr>
          <p:cNvPr id="522" name="diagram block">
            <a:extLst>
              <a:ext uri="{FF2B5EF4-FFF2-40B4-BE49-F238E27FC236}">
                <ns2:creationId id="{FA108964-E17D-476F-887C-1F78B3CDC920}"/>
              </a:ext>
            </a:extLst>
          </p:cNvPr>
          <p:cNvSpPr>
            <a:spLocks noGrp="1"/>
          </p:cNvSpPr>
          <p:nvPr/>
        </p:nvSpPr>
        <p:spPr>
          <a:xfrm>
            <a:off x="7962957" y="758707"/>
            <a:ext cx="129032" cy="129032"/>
          </a:xfrm>
          <a:prstGeom prst="rect">
            <a:avLst/>
          </a:prstGeom>
          <a:solidFill>
            <a:srgbClr val="FFBE39"/>
          </a:solidFill>
          <a:ln w="4645">
            <a:solidFill>
              <a:srgbClr val="E8A321"/>
            </a:solidFill>
            <a:prstDash val="solid"/>
          </a:ln>
        </p:spPr>
      </p:sp>
      <p:sp>
        <p:nvSpPr>
          <p:cNvPr id="523" name="Latent token&#10;(48-D)">
            <a:extLst>
              <a:ext uri="{FF2B5EF4-FFF2-40B4-BE49-F238E27FC236}">
                <ns2:creationId id="{C27605E3-DE4F-44AA-ACE2-0749A3E151B8}"/>
              </a:ext>
            </a:extLst>
          </p:cNvPr>
          <p:cNvSpPr>
            <a:spLocks noGrp="1"/>
          </p:cNvSpPr>
          <p:nvPr/>
        </p:nvSpPr>
        <p:spPr>
          <a:xfrm>
            <a:off x="8138440" y="748385"/>
            <a:ext cx="609030" cy="2270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Latent token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(48-D)</a:t>
            </a:r>
          </a:p>
        </p:txBody>
      </p:sp>
      <p:sp>
        <p:nvSpPr>
          <p:cNvPr id="524" name="diagram block">
            <a:extLst>
              <a:ext uri="{FF2B5EF4-FFF2-40B4-BE49-F238E27FC236}">
                <ns2:creationId id="{E297318B-66B6-44D1-96AF-03F3132F3661}"/>
              </a:ext>
            </a:extLst>
          </p:cNvPr>
          <p:cNvSpPr>
            <a:spLocks noGrp="1"/>
          </p:cNvSpPr>
          <p:nvPr/>
        </p:nvSpPr>
        <p:spPr>
          <a:xfrm>
            <a:off x="7962957" y="980642"/>
            <a:ext cx="129032" cy="118709"/>
          </a:xfrm>
          <a:prstGeom prst="rect">
            <a:avLst/>
          </a:prstGeom>
          <a:solidFill>
            <a:srgbClr val="FF8156"/>
          </a:solidFill>
          <a:ln w="4645">
            <a:solidFill>
              <a:srgbClr val="F35A36"/>
            </a:solidFill>
            <a:prstDash val="solid"/>
          </a:ln>
        </p:spPr>
      </p:sp>
      <p:sp>
        <p:nvSpPr>
          <p:cNvPr id="525" name="Selected location">
            <a:extLst>
              <a:ext uri="{FF2B5EF4-FFF2-40B4-BE49-F238E27FC236}">
                <ns2:creationId id="{4A4F7A2D-53A4-4E37-8999-78300EB6633F}"/>
              </a:ext>
            </a:extLst>
          </p:cNvPr>
          <p:cNvSpPr>
            <a:spLocks noGrp="1"/>
          </p:cNvSpPr>
          <p:nvPr/>
        </p:nvSpPr>
        <p:spPr>
          <a:xfrm>
            <a:off x="8138440" y="985803"/>
            <a:ext cx="614192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323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Selected location</a:t>
            </a:r>
          </a:p>
        </p:txBody>
      </p:sp>
      <p:cxnSp>
        <p:nvCxnSpPr>
          <p:cNvPr id="526" name="native PowerPoint connector">
            <a:extLst>
              <a:ext uri="{FF2B5EF4-FFF2-40B4-BE49-F238E27FC236}">
                <ns2:creationId id="{B2C624F9-7895-4B65-B7C7-38E60FF12A68}"/>
              </a:ext>
            </a:extLst>
          </p:cNvPr>
          <p:cNvCxnSpPr/>
          <p:nvPr/>
        </p:nvCxnSpPr>
        <p:spPr>
          <a:xfrm flipH="0" flipV="0">
            <a:off x="7947473" y="1238706"/>
            <a:ext cx="175483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27" name="Temporal edge&#10;(same position,&#10;same camera only)">
            <a:extLst>
              <a:ext uri="{FF2B5EF4-FFF2-40B4-BE49-F238E27FC236}">
                <ns2:creationId id="{DA6BD129-AA7C-4D95-A4FE-02783A8BDD07}"/>
              </a:ext>
            </a:extLst>
          </p:cNvPr>
          <p:cNvSpPr>
            <a:spLocks noGrp="1"/>
          </p:cNvSpPr>
          <p:nvPr/>
        </p:nvSpPr>
        <p:spPr>
          <a:xfrm>
            <a:off x="8153924" y="1176770"/>
            <a:ext cx="609030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450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Temporal edge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position,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same camera only)</a:t>
            </a:r>
          </a:p>
        </p:txBody>
      </p:sp>
      <p:cxnSp>
        <p:nvCxnSpPr>
          <p:cNvPr id="528" name="native PowerPoint connector">
            <a:extLst>
              <a:ext uri="{FF2B5EF4-FFF2-40B4-BE49-F238E27FC236}">
                <ns2:creationId id="{1DFEAA61-41FB-4F93-88FF-8F9B07C57ABA}"/>
              </a:ext>
            </a:extLst>
          </p:cNvPr>
          <p:cNvCxnSpPr/>
          <p:nvPr/>
        </p:nvCxnSpPr>
        <p:spPr>
          <a:xfrm flipH="0" flipV="0">
            <a:off x="8035215" y="1486447"/>
            <a:ext cx="0" cy="211612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29" name="native PowerPoint connector">
            <a:extLst>
              <a:ext uri="{FF2B5EF4-FFF2-40B4-BE49-F238E27FC236}">
                <ns2:creationId id="{94391866-70EE-4A4D-88D8-9DF600E6C1A1}"/>
              </a:ext>
            </a:extLst>
          </p:cNvPr>
          <p:cNvCxnSpPr/>
          <p:nvPr/>
        </p:nvCxnSpPr>
        <p:spPr>
          <a:xfrm flipH="0" flipV="0">
            <a:off x="7937151" y="1594834"/>
            <a:ext cx="190967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30" name="8 spatial neighbors&#10;(same time)">
            <a:extLst>
              <a:ext uri="{FF2B5EF4-FFF2-40B4-BE49-F238E27FC236}">
                <ns2:creationId id="{AA4A11D6-334C-43A1-A10D-C90E82877E4B}"/>
              </a:ext>
            </a:extLst>
          </p:cNvPr>
          <p:cNvSpPr>
            <a:spLocks noGrp="1"/>
          </p:cNvSpPr>
          <p:nvPr/>
        </p:nvSpPr>
        <p:spPr>
          <a:xfrm>
            <a:off x="8153924" y="1548382"/>
            <a:ext cx="61419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83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spatial neighbors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(same time)</a:t>
            </a:r>
          </a:p>
        </p:txBody>
      </p:sp>
      <p:cxnSp>
        <p:nvCxnSpPr>
          <p:cNvPr id="531" name="native PowerPoint connector">
            <a:extLst>
              <a:ext uri="{FF2B5EF4-FFF2-40B4-BE49-F238E27FC236}">
                <ns2:creationId id="{2E283157-93B6-4F45-8C87-86FE49EE292A}"/>
              </a:ext>
            </a:extLst>
          </p:cNvPr>
          <p:cNvCxnSpPr/>
          <p:nvPr/>
        </p:nvCxnSpPr>
        <p:spPr>
          <a:xfrm flipH="0" flipV="0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cxnSp>
        <p:nvCxnSpPr>
          <p:cNvPr id="532" name="native PowerPoint connector">
            <a:extLst>
              <a:ext uri="{FF2B5EF4-FFF2-40B4-BE49-F238E27FC236}">
                <ns2:creationId id="{6A965FFA-7F57-4B71-A56C-2395D3633B48}"/>
              </a:ext>
            </a:extLst>
          </p:cNvPr>
          <p:cNvCxnSpPr/>
          <p:nvPr/>
        </p:nvCxnSpPr>
        <p:spPr>
          <a:xfrm flipH="1" flipV="0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sp>
        <p:nvSpPr>
          <p:cNvPr id="533" name="No cross-camera&#10;edges">
            <a:extLst>
              <a:ext uri="{FF2B5EF4-FFF2-40B4-BE49-F238E27FC236}">
                <ns2:creationId id="{A9612272-BA77-481C-A2C9-DABD83B71690}"/>
              </a:ext>
            </a:extLst>
          </p:cNvPr>
          <p:cNvSpPr>
            <a:spLocks noGrp="1"/>
          </p:cNvSpPr>
          <p:nvPr/>
        </p:nvSpPr>
        <p:spPr>
          <a:xfrm>
            <a:off x="8153924" y="1806446"/>
            <a:ext cx="609030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edges</a:t>
            </a:r>
          </a:p>
        </p:txBody>
      </p:sp>
      <p:sp>
        <p:nvSpPr>
          <p:cNvPr id="534" name="diagram block">
            <a:extLst>
              <a:ext uri="{FF2B5EF4-FFF2-40B4-BE49-F238E27FC236}">
                <ns2:creationId id="{59909AB5-DDF6-4426-9750-46FE59189139}"/>
              </a:ext>
            </a:extLst>
          </p:cNvPr>
          <p:cNvSpPr>
            <a:spLocks noGrp="1"/>
          </p:cNvSpPr>
          <p:nvPr/>
        </p:nvSpPr>
        <p:spPr>
          <a:xfrm>
            <a:off x="7901022" y="2250315"/>
            <a:ext cx="903223" cy="55225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5161">
            <a:solidFill>
              <a:srgbClr val="C3DFF6"/>
            </a:solidFill>
            <a:prstDash val="solid"/>
          </a:ln>
        </p:spPr>
      </p:sp>
      <p:sp>
        <p:nvSpPr>
          <p:cNvPr id="535" name="Each view’s original latent&#10;map is 14 × 14, pooled&#10;with 2 × 2 average pooli">
            <a:extLst>
              <a:ext uri="{FF2B5EF4-FFF2-40B4-BE49-F238E27FC236}">
                <ns2:creationId id="{865F4601-6BEF-495D-A662-BAAAE62062CD}"/>
              </a:ext>
            </a:extLst>
          </p:cNvPr>
          <p:cNvSpPr>
            <a:spLocks noGrp="1"/>
          </p:cNvSpPr>
          <p:nvPr/>
        </p:nvSpPr>
        <p:spPr>
          <a:xfrm>
            <a:off x="7926828" y="2276122"/>
            <a:ext cx="851610" cy="50064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none" lIns="0" tIns="0" rIns="0" bIns="0" anchor="ctr">
            <a:normAutofit fontScale="85446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view’s original latent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map is 14 × 14, pooled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with 2 × 2 average pooling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to 7 × 7 (separately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each view).</a:t>
            </a:r>
          </a:p>
        </p:txBody>
      </p:sp>
      <p:sp>
        <p:nvSpPr>
          <p:cNvPr id="536" name="diagram block">
            <a:extLst>
              <a:ext uri="{FF2B5EF4-FFF2-40B4-BE49-F238E27FC236}">
                <ns2:creationId id="{4C47E05E-F780-477D-A7BB-88CBAEEFAD35}"/>
              </a:ext>
            </a:extLst>
          </p:cNvPr>
          <p:cNvSpPr>
            <a:spLocks noGrp="1"/>
          </p:cNvSpPr>
          <p:nvPr/>
        </p:nvSpPr>
        <p:spPr>
          <a:xfrm>
            <a:off x="6073931" y="3163861"/>
            <a:ext cx="2719991" cy="190967"/>
          </a:xfrm>
          <a:prstGeom prst="roundRect">
            <a:avLst>
              <a:gd name="adj" fmla="val 13514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solidFill>
              <a:srgbClr val="EDCD8E"/>
            </a:solidFill>
            <a:prstDash val="solid"/>
          </a:ln>
        </p:spPr>
      </p:sp>
      <p:sp>
        <p:nvSpPr>
          <p:cNvPr id="537" name="2 future times × 2 views × 7 × 7 = 196 tokens, 48-D">
            <a:extLst>
              <a:ext uri="{FF2B5EF4-FFF2-40B4-BE49-F238E27FC236}">
                <ns2:creationId id="{B9B149E3-49C2-4D4F-9D45-99BF43F4F752}"/>
              </a:ext>
            </a:extLst>
          </p:cNvPr>
          <p:cNvSpPr>
            <a:spLocks noGrp="1"/>
          </p:cNvSpPr>
          <p:nvPr/>
        </p:nvSpPr>
        <p:spPr>
          <a:xfrm>
            <a:off x="6099737" y="3189667"/>
            <a:ext cx="2668379" cy="139354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1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2 future times × 2 views × 7 × 7 = 196 tokens, 48-D</a:t>
            </a:r>
          </a:p>
        </p:txBody>
      </p:sp>
      <p:sp>
        <p:nvSpPr>
          <p:cNvPr id="538" name="diagram block">
            <a:extLst>
              <a:ext uri="{FF2B5EF4-FFF2-40B4-BE49-F238E27FC236}">
                <ns2:creationId id="{D08707A8-84B8-4B42-804D-B63FDA22AF27}"/>
              </a:ext>
            </a:extLst>
          </p:cNvPr>
          <p:cNvSpPr>
            <a:spLocks noGrp="1"/>
          </p:cNvSpPr>
          <p:nvPr/>
        </p:nvSpPr>
        <p:spPr>
          <a:xfrm>
            <a:off x="6079092" y="3427086"/>
            <a:ext cx="2719991" cy="28387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CA0"/>
            </a:solidFill>
            <a:prstDash val="solid"/>
          </a:ln>
        </p:spPr>
      </p:sp>
      <p:sp>
        <p:nvSpPr>
          <p:cNvPr id="539" name="L_st,z = mean_i KL(p^T(· | i) || p^S(· | i))">
            <a:extLst>
              <a:ext uri="{FF2B5EF4-FFF2-40B4-BE49-F238E27FC236}">
                <ns2:creationId id="{8B8D67DD-05E6-4854-B268-580FDAA82A62}"/>
              </a:ext>
            </a:extLst>
          </p:cNvPr>
          <p:cNvSpPr>
            <a:spLocks noGrp="1"/>
          </p:cNvSpPr>
          <p:nvPr/>
        </p:nvSpPr>
        <p:spPr>
          <a:xfrm>
            <a:off x="6135866" y="3494182"/>
            <a:ext cx="2606443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16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mean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16" b="0" i="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KL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(p</a:t>
            </a:r>
            <a:r>
              <a:rPr sz="74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 || p</a:t>
            </a:r>
            <a:r>
              <a:rPr sz="742" b="0" i="1" baseline="27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(· | i))</a:t>
            </a:r>
          </a:p>
        </p:txBody>
      </p:sp>
      <p:sp>
        <p:nvSpPr>
          <p:cNvPr id="540" name="8 local spatial neighbors + same-position temporal edge (same camera only).">
            <a:extLst>
              <a:ext uri="{FF2B5EF4-FFF2-40B4-BE49-F238E27FC236}">
                <ns2:creationId id="{7E9A7FA8-BD2D-43E8-86B3-1706F9055CF8}"/>
              </a:ext>
            </a:extLst>
          </p:cNvPr>
          <p:cNvSpPr>
            <a:spLocks noGrp="1"/>
          </p:cNvSpPr>
          <p:nvPr/>
        </p:nvSpPr>
        <p:spPr>
          <a:xfrm>
            <a:off x="6058447" y="3803859"/>
            <a:ext cx="2745798" cy="2374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323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8 local spatial neighbors + same-position temporal edge (same camera only).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No cross-camera edges.</a:t>
            </a:r>
          </a:p>
        </p:txBody>
      </p:sp>
      <p:sp>
        <p:nvSpPr>
          <p:cNvPr id="541" name="diagram block">
            <a:extLst>
              <a:ext uri="{FF2B5EF4-FFF2-40B4-BE49-F238E27FC236}">
                <ns2:creationId id="{3F01082F-7F07-44C5-809E-CB99924C273A}"/>
              </a:ext>
            </a:extLst>
          </p:cNvPr>
          <p:cNvSpPr>
            <a:spLocks noGrp="1"/>
          </p:cNvSpPr>
          <p:nvPr/>
        </p:nvSpPr>
        <p:spPr>
          <a:xfrm>
            <a:off x="742335" y="4190954"/>
            <a:ext cx="7814169" cy="289031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66E8F"/>
            </a:solidFill>
            <a:prstDash val="solid"/>
          </a:ln>
        </p:spPr>
      </p:sp>
      <p:sp>
        <p:nvSpPr>
          <p:cNvPr id="542" name="L = αₐ (L_bin,a + βₐ L_temp,a) + λ α_z (L_bin,z + β_z L_st,z)">
            <a:extLst>
              <a:ext uri="{FF2B5EF4-FFF2-40B4-BE49-F238E27FC236}">
                <ns2:creationId id="{C2C20036-2140-4C9A-8902-AB3BD3D987AD}"/>
              </a:ext>
            </a:extLst>
          </p:cNvPr>
          <p:cNvSpPr>
            <a:spLocks noGrp="1"/>
          </p:cNvSpPr>
          <p:nvPr/>
        </p:nvSpPr>
        <p:spPr>
          <a:xfrm>
            <a:off x="1568139" y="4252890"/>
            <a:ext cx="6152239" cy="2167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225"/>
          </a:bodyPr>
          <a:lstStyle>
            <a:def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αₐ (L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bin,a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βₐ 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 + λ α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(L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43" name="diagram block">
            <a:extLst>
              <a:ext uri="{FF2B5EF4-FFF2-40B4-BE49-F238E27FC236}">
                <ns2:creationId id="{6B6B9099-49A6-48BA-BC35-4DA3D79181E8}"/>
              </a:ext>
            </a:extLst>
          </p:cNvPr>
          <p:cNvSpPr>
            <a:spLocks noGrp="1"/>
          </p:cNvSpPr>
          <p:nvPr/>
        </p:nvSpPr>
        <p:spPr>
          <a:xfrm>
            <a:off x="308788" y="4541921"/>
            <a:ext cx="4227083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</p:sp>
      <p:sp>
        <p:nvSpPr>
          <p:cNvPr id="544" name="T: frozen teacher. S: quantized student. Shared frozen statistics and tempe">
            <a:extLst>
              <a:ext uri="{FF2B5EF4-FFF2-40B4-BE49-F238E27FC236}">
                <ns2:creationId id="{68B53D00-93E7-489C-8304-699865379D6C}"/>
              </a:ext>
            </a:extLst>
          </p:cNvPr>
          <p:cNvSpPr>
            <a:spLocks noGrp="1"/>
          </p:cNvSpPr>
          <p:nvPr/>
        </p:nvSpPr>
        <p:spPr>
          <a:xfrm>
            <a:off x="344917" y="4578050"/>
            <a:ext cx="4154826" cy="17548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0975"/>
          </a:bodyPr>
          <a:lstStyle>
            <a:def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T: frozen teacher. S: quantized student. Shared frozen statistics and temperatures.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1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Train D and clipping ratios. Soft-bin anchors values, relation KL constrains structure.</a:t>
            </a:r>
          </a:p>
        </p:txBody>
      </p:sp>
      <p:sp>
        <p:nvSpPr>
          <p:cNvPr id="545" name="diagram block">
            <a:extLst>
              <a:ext uri="{FF2B5EF4-FFF2-40B4-BE49-F238E27FC236}">
                <ns2:creationId id="{79B9063C-9CF4-4603-9AAC-A8556F65D178}"/>
              </a:ext>
            </a:extLst>
          </p:cNvPr>
          <p:cNvSpPr>
            <a:spLocks noGrp="1"/>
          </p:cNvSpPr>
          <p:nvPr/>
        </p:nvSpPr>
        <p:spPr>
          <a:xfrm>
            <a:off x="4737161" y="4541921"/>
            <a:ext cx="4113535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</p:sp>
      <p:sp>
        <p:nvSpPr>
          <p:cNvPr id="546" name="Evidence: fixed-input fidelity. Rollout prediction and closed-loop gains aw">
            <a:extLst>
              <a:ext uri="{FF2B5EF4-FFF2-40B4-BE49-F238E27FC236}">
                <ns2:creationId id="{2084DD8D-5AD3-4D96-B47C-2B936893B914}"/>
              </a:ext>
            </a:extLst>
          </p:cNvPr>
          <p:cNvSpPr>
            <a:spLocks noGrp="1"/>
          </p:cNvSpPr>
          <p:nvPr/>
        </p:nvSpPr>
        <p:spPr>
          <a:xfrm>
            <a:off x="4778451" y="4583211"/>
            <a:ext cx="4030955" cy="165161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Evidence: fixed-input fidelity. Rollout prediction and closed-loop gains await validation.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Temporal / spatial relational KL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411FB628-A2B6-47B2-9BAB-086FCF51F7A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ction: ordered temporal windows">
            <a:extLst>
              <a:ext uri="{FF2B5EF4-FFF2-40B4-BE49-F238E27FC236}">
                <a16:creationId xmlns:a16="http://schemas.microsoft.com/office/drawing/2014/main" id="{59669466-6C53-427B-B4ED-6C46401E697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962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Action: ordered temporal windows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C8EA4C19-E5A1-4F94-BD67-8084C4839D8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12F92EAD-E5AB-4D6D-AFF8-E0F35126E1AB}"/>
              </a:ext>
            </a:extLst>
          </p:cNvPr>
          <p:cNvSpPr>
            <a:spLocks noGrp="1"/>
          </p:cNvSpPr>
          <p:nvPr/>
        </p:nvSpPr>
        <p:spPr>
          <a:xfrm>
            <a:off x="942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35D3A425-655A-4CF5-AC96-DB8385343B42}"/>
              </a:ext>
            </a:extLst>
          </p:cNvPr>
          <p:cNvSpPr>
            <a:spLocks noGrp="1"/>
          </p:cNvSpPr>
          <p:nvPr/>
        </p:nvSpPr>
        <p:spPr>
          <a:xfrm>
            <a:off x="12763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2F05203D-F118-49BB-A059-FD9378A16E44}"/>
              </a:ext>
            </a:extLst>
          </p:cNvPr>
          <p:cNvSpPr>
            <a:spLocks noGrp="1"/>
          </p:cNvSpPr>
          <p:nvPr/>
        </p:nvSpPr>
        <p:spPr>
          <a:xfrm>
            <a:off x="16097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5AB8897E-48E7-4E70-A1D2-C10E56B7D648}"/>
              </a:ext>
            </a:extLst>
          </p:cNvPr>
          <p:cNvSpPr>
            <a:spLocks noGrp="1"/>
          </p:cNvSpPr>
          <p:nvPr/>
        </p:nvSpPr>
        <p:spPr>
          <a:xfrm>
            <a:off x="19431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061D9A9B-31E1-4D59-84EA-42454C748C6D}"/>
              </a:ext>
            </a:extLst>
          </p:cNvPr>
          <p:cNvSpPr>
            <a:spLocks noGrp="1"/>
          </p:cNvSpPr>
          <p:nvPr/>
        </p:nvSpPr>
        <p:spPr>
          <a:xfrm>
            <a:off x="22764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B881E08D-C186-45CE-AB6A-882A0ECE1BA9}"/>
              </a:ext>
            </a:extLst>
          </p:cNvPr>
          <p:cNvSpPr>
            <a:spLocks noGrp="1"/>
          </p:cNvSpPr>
          <p:nvPr/>
        </p:nvSpPr>
        <p:spPr>
          <a:xfrm>
            <a:off x="26098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F78F9CFC-3714-4BF1-AF74-1101FA613B66}"/>
              </a:ext>
            </a:extLst>
          </p:cNvPr>
          <p:cNvSpPr>
            <a:spLocks noGrp="1"/>
          </p:cNvSpPr>
          <p:nvPr/>
        </p:nvSpPr>
        <p:spPr>
          <a:xfrm>
            <a:off x="29432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diagram block">
            <a:extLst>
              <a:ext uri="{FF2B5EF4-FFF2-40B4-BE49-F238E27FC236}">
                <a16:creationId xmlns:a16="http://schemas.microsoft.com/office/drawing/2014/main" id="{5963F57D-B761-48BE-BC38-27DA2272611E}"/>
              </a:ext>
            </a:extLst>
          </p:cNvPr>
          <p:cNvSpPr>
            <a:spLocks noGrp="1"/>
          </p:cNvSpPr>
          <p:nvPr/>
        </p:nvSpPr>
        <p:spPr>
          <a:xfrm>
            <a:off x="3276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56DFA513-32FE-456C-872C-54E64635EDBC}"/>
              </a:ext>
            </a:extLst>
          </p:cNvPr>
          <p:cNvSpPr>
            <a:spLocks noGrp="1"/>
          </p:cNvSpPr>
          <p:nvPr/>
        </p:nvSpPr>
        <p:spPr>
          <a:xfrm>
            <a:off x="3609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10 steps × 6 motor dimensions">
            <a:extLst>
              <a:ext uri="{FF2B5EF4-FFF2-40B4-BE49-F238E27FC236}">
                <a16:creationId xmlns:a16="http://schemas.microsoft.com/office/drawing/2014/main" id="{E49E327B-3084-4511-9DA7-C93690011C59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35337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 steps × 6 motor dimensions</a:t>
            </a:r>
          </a:p>
        </p:txBody>
      </p:sp>
      <p:cxnSp>
        <p:nvCxnSpPr>
          <p:cNvPr id="17" name="diagram connector">
            <a:extLst>
              <a:ext uri="{FF2B5EF4-FFF2-40B4-BE49-F238E27FC236}">
                <a16:creationId xmlns:a16="http://schemas.microsoft.com/office/drawing/2014/main" id="{6890D646-F940-4B68-8AF1-127767197C17}"/>
              </a:ext>
            </a:extLst>
          </p:cNvPr>
          <p:cNvCxnSpPr/>
          <p:nvPr/>
        </p:nvCxnSpPr>
        <p:spPr>
          <a:xfrm>
            <a:off x="2314575" y="1943100"/>
            <a:ext cx="0" cy="295275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8" name="[a₁,a₂,a₃]   [a₂,a₃,a₄]  …&#10;8 ordered tokens × 18 features">
            <a:extLst>
              <a:ext uri="{FF2B5EF4-FFF2-40B4-BE49-F238E27FC236}">
                <a16:creationId xmlns:a16="http://schemas.microsoft.com/office/drawing/2014/main" id="{B162DF4C-1EB1-4241-9755-ED12BC5A2C5F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486150" cy="6953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[a₁,a₂,a₃]   [a₂,a₃,a₄]  …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8 ordered tokens × 18 features</a:t>
            </a:r>
          </a:p>
        </p:txBody>
      </p:sp>
      <p:sp>
        <p:nvSpPr>
          <p:cNvPr id="19" name="Neighbors: all other windows&#10;Self-pairs masked">
            <a:extLst>
              <a:ext uri="{FF2B5EF4-FFF2-40B4-BE49-F238E27FC236}">
                <a16:creationId xmlns:a16="http://schemas.microsoft.com/office/drawing/2014/main" id="{D4304640-07F9-4A82-9AF7-C848FA9819E2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3486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Neighbors: all other windows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Self-pairs masked</a:t>
            </a:r>
          </a:p>
        </p:txBody>
      </p:sp>
      <p:sp>
        <p:nvSpPr>
          <p:cNvPr id="20" name="Latent: spatial + temporal graph">
            <a:extLst>
              <a:ext uri="{FF2B5EF4-FFF2-40B4-BE49-F238E27FC236}">
                <a16:creationId xmlns:a16="http://schemas.microsoft.com/office/drawing/2014/main" id="{72DFEF4E-7146-4551-90FC-722BDC0CC111}"/>
              </a:ext>
            </a:extLst>
          </p:cNvPr>
          <p:cNvSpPr>
            <a:spLocks noGrp="1"/>
          </p:cNvSpPr>
          <p:nvPr/>
        </p:nvSpPr>
        <p:spPr>
          <a:xfrm>
            <a:off x="4648200" y="838200"/>
            <a:ext cx="3886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Latent: spatial + temporal graph</a:t>
            </a:r>
          </a:p>
        </p:txBody>
      </p:sp>
      <p:sp>
        <p:nvSpPr>
          <p:cNvPr id="21" name="2 future times × 2 views × 7 × 7&#10;196 tokens × 48 featur">
            <a:extLst>
              <a:ext uri="{FF2B5EF4-FFF2-40B4-BE49-F238E27FC236}">
                <a16:creationId xmlns:a16="http://schemas.microsoft.com/office/drawing/2014/main" id="{7646156C-7163-4544-83D1-4D9A33235AAC}"/>
              </a:ext>
            </a:extLst>
          </p:cNvPr>
          <p:cNvSpPr>
            <a:spLocks noGrp="1"/>
          </p:cNvSpPr>
          <p:nvPr/>
        </p:nvSpPr>
        <p:spPr>
          <a:xfrm>
            <a:off x="4648200" y="1190625"/>
            <a:ext cx="3886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 future times × 2 views × 7 × 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196 tokens × 48 features</a:t>
            </a:r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5C299FB0-9DE5-46DC-AA1F-A2ABBC4A6674}"/>
              </a:ext>
            </a:extLst>
          </p:cNvPr>
          <p:cNvSpPr>
            <a:spLocks noGrp="1"/>
          </p:cNvSpPr>
          <p:nvPr/>
        </p:nvSpPr>
        <p:spPr>
          <a:xfrm>
            <a:off x="46672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diagram block">
            <a:extLst>
              <a:ext uri="{FF2B5EF4-FFF2-40B4-BE49-F238E27FC236}">
                <a16:creationId xmlns:a16="http://schemas.microsoft.com/office/drawing/2014/main" id="{0277D500-4A75-4A79-8FFB-F28CCDA25B35}"/>
              </a:ext>
            </a:extLst>
          </p:cNvPr>
          <p:cNvSpPr>
            <a:spLocks noGrp="1"/>
          </p:cNvSpPr>
          <p:nvPr/>
        </p:nvSpPr>
        <p:spPr>
          <a:xfrm>
            <a:off x="48768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D62F5704-CB85-439B-A0CC-6811BCE28745}"/>
              </a:ext>
            </a:extLst>
          </p:cNvPr>
          <p:cNvSpPr>
            <a:spLocks noGrp="1"/>
          </p:cNvSpPr>
          <p:nvPr/>
        </p:nvSpPr>
        <p:spPr>
          <a:xfrm>
            <a:off x="50863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627864E3-47CA-43FE-9203-4D773CBEBC29}"/>
              </a:ext>
            </a:extLst>
          </p:cNvPr>
          <p:cNvSpPr>
            <a:spLocks noGrp="1"/>
          </p:cNvSpPr>
          <p:nvPr/>
        </p:nvSpPr>
        <p:spPr>
          <a:xfrm>
            <a:off x="52959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C38C1028-CB9E-42EF-80E1-D7637813D175}"/>
              </a:ext>
            </a:extLst>
          </p:cNvPr>
          <p:cNvSpPr>
            <a:spLocks noGrp="1"/>
          </p:cNvSpPr>
          <p:nvPr/>
        </p:nvSpPr>
        <p:spPr>
          <a:xfrm>
            <a:off x="55054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B7CAF79A-C913-4E8C-A607-F55A025EFAD5}"/>
              </a:ext>
            </a:extLst>
          </p:cNvPr>
          <p:cNvSpPr>
            <a:spLocks noGrp="1"/>
          </p:cNvSpPr>
          <p:nvPr/>
        </p:nvSpPr>
        <p:spPr>
          <a:xfrm>
            <a:off x="57150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DAF82843-AE13-4E33-9023-85326C1B938F}"/>
              </a:ext>
            </a:extLst>
          </p:cNvPr>
          <p:cNvSpPr>
            <a:spLocks noGrp="1"/>
          </p:cNvSpPr>
          <p:nvPr/>
        </p:nvSpPr>
        <p:spPr>
          <a:xfrm>
            <a:off x="59245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C3AE6FC3-F960-4DF8-9640-FB78737BED77}"/>
              </a:ext>
            </a:extLst>
          </p:cNvPr>
          <p:cNvSpPr>
            <a:spLocks noGrp="1"/>
          </p:cNvSpPr>
          <p:nvPr/>
        </p:nvSpPr>
        <p:spPr>
          <a:xfrm>
            <a:off x="46672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D7F20901-3686-4013-B95E-42C5E7957FA0}"/>
              </a:ext>
            </a:extLst>
          </p:cNvPr>
          <p:cNvSpPr>
            <a:spLocks noGrp="1"/>
          </p:cNvSpPr>
          <p:nvPr/>
        </p:nvSpPr>
        <p:spPr>
          <a:xfrm>
            <a:off x="48768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ACCD08B-FDE5-428D-AEAC-7C04B8923B5A}"/>
              </a:ext>
            </a:extLst>
          </p:cNvPr>
          <p:cNvSpPr>
            <a:spLocks noGrp="1"/>
          </p:cNvSpPr>
          <p:nvPr/>
        </p:nvSpPr>
        <p:spPr>
          <a:xfrm>
            <a:off x="50863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diagram block">
            <a:extLst>
              <a:ext uri="{FF2B5EF4-FFF2-40B4-BE49-F238E27FC236}">
                <a16:creationId xmlns:a16="http://schemas.microsoft.com/office/drawing/2014/main" id="{EC5BDE5F-4F08-4943-9A7E-E1CC473907D6}"/>
              </a:ext>
            </a:extLst>
          </p:cNvPr>
          <p:cNvSpPr>
            <a:spLocks noGrp="1"/>
          </p:cNvSpPr>
          <p:nvPr/>
        </p:nvSpPr>
        <p:spPr>
          <a:xfrm>
            <a:off x="52959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diagram block">
            <a:extLst>
              <a:ext uri="{FF2B5EF4-FFF2-40B4-BE49-F238E27FC236}">
                <a16:creationId xmlns:a16="http://schemas.microsoft.com/office/drawing/2014/main" id="{4EADB4C4-993F-4AEE-97AA-05AFCE000C28}"/>
              </a:ext>
            </a:extLst>
          </p:cNvPr>
          <p:cNvSpPr>
            <a:spLocks noGrp="1"/>
          </p:cNvSpPr>
          <p:nvPr/>
        </p:nvSpPr>
        <p:spPr>
          <a:xfrm>
            <a:off x="55054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diagram block">
            <a:extLst>
              <a:ext uri="{FF2B5EF4-FFF2-40B4-BE49-F238E27FC236}">
                <a16:creationId xmlns:a16="http://schemas.microsoft.com/office/drawing/2014/main" id="{9CD2327A-34CB-4548-872D-429C5D7F6BDC}"/>
              </a:ext>
            </a:extLst>
          </p:cNvPr>
          <p:cNvSpPr>
            <a:spLocks noGrp="1"/>
          </p:cNvSpPr>
          <p:nvPr/>
        </p:nvSpPr>
        <p:spPr>
          <a:xfrm>
            <a:off x="57150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diagram block">
            <a:extLst>
              <a:ext uri="{FF2B5EF4-FFF2-40B4-BE49-F238E27FC236}">
                <a16:creationId xmlns:a16="http://schemas.microsoft.com/office/drawing/2014/main" id="{3713179C-A900-4F1A-827A-F8F15E1E7A72}"/>
              </a:ext>
            </a:extLst>
          </p:cNvPr>
          <p:cNvSpPr>
            <a:spLocks noGrp="1"/>
          </p:cNvSpPr>
          <p:nvPr/>
        </p:nvSpPr>
        <p:spPr>
          <a:xfrm>
            <a:off x="59245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diagram block">
            <a:extLst>
              <a:ext uri="{FF2B5EF4-FFF2-40B4-BE49-F238E27FC236}">
                <a16:creationId xmlns:a16="http://schemas.microsoft.com/office/drawing/2014/main" id="{1836D159-7302-496A-A64A-91D1E56FE2F1}"/>
              </a:ext>
            </a:extLst>
          </p:cNvPr>
          <p:cNvSpPr>
            <a:spLocks noGrp="1"/>
          </p:cNvSpPr>
          <p:nvPr/>
        </p:nvSpPr>
        <p:spPr>
          <a:xfrm>
            <a:off x="46672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diagram block">
            <a:extLst>
              <a:ext uri="{FF2B5EF4-FFF2-40B4-BE49-F238E27FC236}">
                <a16:creationId xmlns:a16="http://schemas.microsoft.com/office/drawing/2014/main" id="{5D15F292-7BEA-4C8A-B7E3-6603684C6FAD}"/>
              </a:ext>
            </a:extLst>
          </p:cNvPr>
          <p:cNvSpPr>
            <a:spLocks noGrp="1"/>
          </p:cNvSpPr>
          <p:nvPr/>
        </p:nvSpPr>
        <p:spPr>
          <a:xfrm>
            <a:off x="48768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diagram block">
            <a:extLst>
              <a:ext uri="{FF2B5EF4-FFF2-40B4-BE49-F238E27FC236}">
                <a16:creationId xmlns:a16="http://schemas.microsoft.com/office/drawing/2014/main" id="{3EFB7CE9-ECC9-43C5-AE3F-EB57414CC3EC}"/>
              </a:ext>
            </a:extLst>
          </p:cNvPr>
          <p:cNvSpPr>
            <a:spLocks noGrp="1"/>
          </p:cNvSpPr>
          <p:nvPr/>
        </p:nvSpPr>
        <p:spPr>
          <a:xfrm>
            <a:off x="50863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diagram block">
            <a:extLst>
              <a:ext uri="{FF2B5EF4-FFF2-40B4-BE49-F238E27FC236}">
                <a16:creationId xmlns:a16="http://schemas.microsoft.com/office/drawing/2014/main" id="{B9E7BE23-5961-4656-BC27-2E2F80F70D9E}"/>
              </a:ext>
            </a:extLst>
          </p:cNvPr>
          <p:cNvSpPr>
            <a:spLocks noGrp="1"/>
          </p:cNvSpPr>
          <p:nvPr/>
        </p:nvSpPr>
        <p:spPr>
          <a:xfrm>
            <a:off x="529590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diagram block">
            <a:extLst>
              <a:ext uri="{FF2B5EF4-FFF2-40B4-BE49-F238E27FC236}">
                <a16:creationId xmlns:a16="http://schemas.microsoft.com/office/drawing/2014/main" id="{085E069C-8561-46DA-BCF4-B232390F2132}"/>
              </a:ext>
            </a:extLst>
          </p:cNvPr>
          <p:cNvSpPr>
            <a:spLocks noGrp="1"/>
          </p:cNvSpPr>
          <p:nvPr/>
        </p:nvSpPr>
        <p:spPr>
          <a:xfrm>
            <a:off x="55054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diagram block">
            <a:extLst>
              <a:ext uri="{FF2B5EF4-FFF2-40B4-BE49-F238E27FC236}">
                <a16:creationId xmlns:a16="http://schemas.microsoft.com/office/drawing/2014/main" id="{435BD7AB-48AC-4277-9D3D-0025675B261B}"/>
              </a:ext>
            </a:extLst>
          </p:cNvPr>
          <p:cNvSpPr>
            <a:spLocks noGrp="1"/>
          </p:cNvSpPr>
          <p:nvPr/>
        </p:nvSpPr>
        <p:spPr>
          <a:xfrm>
            <a:off x="57150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diagram block">
            <a:extLst>
              <a:ext uri="{FF2B5EF4-FFF2-40B4-BE49-F238E27FC236}">
                <a16:creationId xmlns:a16="http://schemas.microsoft.com/office/drawing/2014/main" id="{49719A7C-A3C0-484E-ACA0-13F80DC7CF16}"/>
              </a:ext>
            </a:extLst>
          </p:cNvPr>
          <p:cNvSpPr>
            <a:spLocks noGrp="1"/>
          </p:cNvSpPr>
          <p:nvPr/>
        </p:nvSpPr>
        <p:spPr>
          <a:xfrm>
            <a:off x="59245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" name="diagram block">
            <a:extLst>
              <a:ext uri="{FF2B5EF4-FFF2-40B4-BE49-F238E27FC236}">
                <a16:creationId xmlns:a16="http://schemas.microsoft.com/office/drawing/2014/main" id="{F18AE254-8F48-49B9-B295-166379A63A50}"/>
              </a:ext>
            </a:extLst>
          </p:cNvPr>
          <p:cNvSpPr>
            <a:spLocks noGrp="1"/>
          </p:cNvSpPr>
          <p:nvPr/>
        </p:nvSpPr>
        <p:spPr>
          <a:xfrm>
            <a:off x="46672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diagram block">
            <a:extLst>
              <a:ext uri="{FF2B5EF4-FFF2-40B4-BE49-F238E27FC236}">
                <a16:creationId xmlns:a16="http://schemas.microsoft.com/office/drawing/2014/main" id="{C8C48A77-6CFE-49D9-A94F-FF7AF1EFE06D}"/>
              </a:ext>
            </a:extLst>
          </p:cNvPr>
          <p:cNvSpPr>
            <a:spLocks noGrp="1"/>
          </p:cNvSpPr>
          <p:nvPr/>
        </p:nvSpPr>
        <p:spPr>
          <a:xfrm>
            <a:off x="48768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diagram block">
            <a:extLst>
              <a:ext uri="{FF2B5EF4-FFF2-40B4-BE49-F238E27FC236}">
                <a16:creationId xmlns:a16="http://schemas.microsoft.com/office/drawing/2014/main" id="{67E5D373-C324-4B71-9A55-2D0F40F71590}"/>
              </a:ext>
            </a:extLst>
          </p:cNvPr>
          <p:cNvSpPr>
            <a:spLocks noGrp="1"/>
          </p:cNvSpPr>
          <p:nvPr/>
        </p:nvSpPr>
        <p:spPr>
          <a:xfrm>
            <a:off x="50863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diagram block">
            <a:extLst>
              <a:ext uri="{FF2B5EF4-FFF2-40B4-BE49-F238E27FC236}">
                <a16:creationId xmlns:a16="http://schemas.microsoft.com/office/drawing/2014/main" id="{1CFDF701-771D-40B0-AB90-1BEA783B2F75}"/>
              </a:ext>
            </a:extLst>
          </p:cNvPr>
          <p:cNvSpPr>
            <a:spLocks noGrp="1"/>
          </p:cNvSpPr>
          <p:nvPr/>
        </p:nvSpPr>
        <p:spPr>
          <a:xfrm>
            <a:off x="5295900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7" name="diagram block">
            <a:extLst>
              <a:ext uri="{FF2B5EF4-FFF2-40B4-BE49-F238E27FC236}">
                <a16:creationId xmlns:a16="http://schemas.microsoft.com/office/drawing/2014/main" id="{72B56902-BC82-4FCC-81E8-78EFE87BE3F3}"/>
              </a:ext>
            </a:extLst>
          </p:cNvPr>
          <p:cNvSpPr>
            <a:spLocks noGrp="1"/>
          </p:cNvSpPr>
          <p:nvPr/>
        </p:nvSpPr>
        <p:spPr>
          <a:xfrm>
            <a:off x="55054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" name="diagram block">
            <a:extLst>
              <a:ext uri="{FF2B5EF4-FFF2-40B4-BE49-F238E27FC236}">
                <a16:creationId xmlns:a16="http://schemas.microsoft.com/office/drawing/2014/main" id="{DFDB30EE-4129-48EE-9F04-E12FB456B74E}"/>
              </a:ext>
            </a:extLst>
          </p:cNvPr>
          <p:cNvSpPr>
            <a:spLocks noGrp="1"/>
          </p:cNvSpPr>
          <p:nvPr/>
        </p:nvSpPr>
        <p:spPr>
          <a:xfrm>
            <a:off x="57150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diagram block">
            <a:extLst>
              <a:ext uri="{FF2B5EF4-FFF2-40B4-BE49-F238E27FC236}">
                <a16:creationId xmlns:a16="http://schemas.microsoft.com/office/drawing/2014/main" id="{FAC0F662-8A09-4007-826A-B56C7741E363}"/>
              </a:ext>
            </a:extLst>
          </p:cNvPr>
          <p:cNvSpPr>
            <a:spLocks noGrp="1"/>
          </p:cNvSpPr>
          <p:nvPr/>
        </p:nvSpPr>
        <p:spPr>
          <a:xfrm>
            <a:off x="59245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0" name="diagram block">
            <a:extLst>
              <a:ext uri="{FF2B5EF4-FFF2-40B4-BE49-F238E27FC236}">
                <a16:creationId xmlns:a16="http://schemas.microsoft.com/office/drawing/2014/main" id="{2EAF9778-7AAF-4B85-BCC7-71B451E0DF3A}"/>
              </a:ext>
            </a:extLst>
          </p:cNvPr>
          <p:cNvSpPr>
            <a:spLocks noGrp="1"/>
          </p:cNvSpPr>
          <p:nvPr/>
        </p:nvSpPr>
        <p:spPr>
          <a:xfrm>
            <a:off x="46672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1" name="diagram block">
            <a:extLst>
              <a:ext uri="{FF2B5EF4-FFF2-40B4-BE49-F238E27FC236}">
                <a16:creationId xmlns:a16="http://schemas.microsoft.com/office/drawing/2014/main" id="{0BD3E1FF-E7BA-4D46-A86E-B06236AC3936}"/>
              </a:ext>
            </a:extLst>
          </p:cNvPr>
          <p:cNvSpPr>
            <a:spLocks noGrp="1"/>
          </p:cNvSpPr>
          <p:nvPr/>
        </p:nvSpPr>
        <p:spPr>
          <a:xfrm>
            <a:off x="48768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" name="diagram block">
            <a:extLst>
              <a:ext uri="{FF2B5EF4-FFF2-40B4-BE49-F238E27FC236}">
                <a16:creationId xmlns:a16="http://schemas.microsoft.com/office/drawing/2014/main" id="{5A6460F8-5B89-490E-AE32-A9F4E214015F}"/>
              </a:ext>
            </a:extLst>
          </p:cNvPr>
          <p:cNvSpPr>
            <a:spLocks noGrp="1"/>
          </p:cNvSpPr>
          <p:nvPr/>
        </p:nvSpPr>
        <p:spPr>
          <a:xfrm>
            <a:off x="50863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" name="diagram block">
            <a:extLst>
              <a:ext uri="{FF2B5EF4-FFF2-40B4-BE49-F238E27FC236}">
                <a16:creationId xmlns:a16="http://schemas.microsoft.com/office/drawing/2014/main" id="{0A45B5A6-D9D4-4C48-B107-722D9AF932D3}"/>
              </a:ext>
            </a:extLst>
          </p:cNvPr>
          <p:cNvSpPr>
            <a:spLocks noGrp="1"/>
          </p:cNvSpPr>
          <p:nvPr/>
        </p:nvSpPr>
        <p:spPr>
          <a:xfrm>
            <a:off x="529590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diagram block">
            <a:extLst>
              <a:ext uri="{FF2B5EF4-FFF2-40B4-BE49-F238E27FC236}">
                <a16:creationId xmlns:a16="http://schemas.microsoft.com/office/drawing/2014/main" id="{2173124A-1EA4-464F-90EB-9700E2ECF455}"/>
              </a:ext>
            </a:extLst>
          </p:cNvPr>
          <p:cNvSpPr>
            <a:spLocks noGrp="1"/>
          </p:cNvSpPr>
          <p:nvPr/>
        </p:nvSpPr>
        <p:spPr>
          <a:xfrm>
            <a:off x="55054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diagram block">
            <a:extLst>
              <a:ext uri="{FF2B5EF4-FFF2-40B4-BE49-F238E27FC236}">
                <a16:creationId xmlns:a16="http://schemas.microsoft.com/office/drawing/2014/main" id="{C253A472-BF3E-43E8-9FCC-B51944AFC8C3}"/>
              </a:ext>
            </a:extLst>
          </p:cNvPr>
          <p:cNvSpPr>
            <a:spLocks noGrp="1"/>
          </p:cNvSpPr>
          <p:nvPr/>
        </p:nvSpPr>
        <p:spPr>
          <a:xfrm>
            <a:off x="57150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6" name="diagram block">
            <a:extLst>
              <a:ext uri="{FF2B5EF4-FFF2-40B4-BE49-F238E27FC236}">
                <a16:creationId xmlns:a16="http://schemas.microsoft.com/office/drawing/2014/main" id="{BE57CAF6-8E11-4A1D-957C-B9B89B3FC17F}"/>
              </a:ext>
            </a:extLst>
          </p:cNvPr>
          <p:cNvSpPr>
            <a:spLocks noGrp="1"/>
          </p:cNvSpPr>
          <p:nvPr/>
        </p:nvSpPr>
        <p:spPr>
          <a:xfrm>
            <a:off x="59245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7" name="diagram block">
            <a:extLst>
              <a:ext uri="{FF2B5EF4-FFF2-40B4-BE49-F238E27FC236}">
                <a16:creationId xmlns:a16="http://schemas.microsoft.com/office/drawing/2014/main" id="{0F5EF98E-5745-4E1C-9DCE-2673D5B965F1}"/>
              </a:ext>
            </a:extLst>
          </p:cNvPr>
          <p:cNvSpPr>
            <a:spLocks noGrp="1"/>
          </p:cNvSpPr>
          <p:nvPr/>
        </p:nvSpPr>
        <p:spPr>
          <a:xfrm>
            <a:off x="46672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" name="diagram block">
            <a:extLst>
              <a:ext uri="{FF2B5EF4-FFF2-40B4-BE49-F238E27FC236}">
                <a16:creationId xmlns:a16="http://schemas.microsoft.com/office/drawing/2014/main" id="{0922ACE8-17D3-4DB8-93B0-81A27CAF5ECC}"/>
              </a:ext>
            </a:extLst>
          </p:cNvPr>
          <p:cNvSpPr>
            <a:spLocks noGrp="1"/>
          </p:cNvSpPr>
          <p:nvPr/>
        </p:nvSpPr>
        <p:spPr>
          <a:xfrm>
            <a:off x="48768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diagram block">
            <a:extLst>
              <a:ext uri="{FF2B5EF4-FFF2-40B4-BE49-F238E27FC236}">
                <a16:creationId xmlns:a16="http://schemas.microsoft.com/office/drawing/2014/main" id="{397DB4B8-EAEC-4BE3-A1D5-1CC4B9ABB3D1}"/>
              </a:ext>
            </a:extLst>
          </p:cNvPr>
          <p:cNvSpPr>
            <a:spLocks noGrp="1"/>
          </p:cNvSpPr>
          <p:nvPr/>
        </p:nvSpPr>
        <p:spPr>
          <a:xfrm>
            <a:off x="50863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0" name="diagram block">
            <a:extLst>
              <a:ext uri="{FF2B5EF4-FFF2-40B4-BE49-F238E27FC236}">
                <a16:creationId xmlns:a16="http://schemas.microsoft.com/office/drawing/2014/main" id="{8D15BF7C-D90B-48E5-B219-0FFB33B1394F}"/>
              </a:ext>
            </a:extLst>
          </p:cNvPr>
          <p:cNvSpPr>
            <a:spLocks noGrp="1"/>
          </p:cNvSpPr>
          <p:nvPr/>
        </p:nvSpPr>
        <p:spPr>
          <a:xfrm>
            <a:off x="52959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diagram block">
            <a:extLst>
              <a:ext uri="{FF2B5EF4-FFF2-40B4-BE49-F238E27FC236}">
                <a16:creationId xmlns:a16="http://schemas.microsoft.com/office/drawing/2014/main" id="{0CC11DC1-F7FC-48D3-9CAC-7F63D7D15735}"/>
              </a:ext>
            </a:extLst>
          </p:cNvPr>
          <p:cNvSpPr>
            <a:spLocks noGrp="1"/>
          </p:cNvSpPr>
          <p:nvPr/>
        </p:nvSpPr>
        <p:spPr>
          <a:xfrm>
            <a:off x="55054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2" name="diagram block">
            <a:extLst>
              <a:ext uri="{FF2B5EF4-FFF2-40B4-BE49-F238E27FC236}">
                <a16:creationId xmlns:a16="http://schemas.microsoft.com/office/drawing/2014/main" id="{2C3DBDFE-A886-43CB-96B2-0D8717C78287}"/>
              </a:ext>
            </a:extLst>
          </p:cNvPr>
          <p:cNvSpPr>
            <a:spLocks noGrp="1"/>
          </p:cNvSpPr>
          <p:nvPr/>
        </p:nvSpPr>
        <p:spPr>
          <a:xfrm>
            <a:off x="57150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diagram block">
            <a:extLst>
              <a:ext uri="{FF2B5EF4-FFF2-40B4-BE49-F238E27FC236}">
                <a16:creationId xmlns:a16="http://schemas.microsoft.com/office/drawing/2014/main" id="{9625C8A3-881C-4D15-8CC0-4CAF2458C9EC}"/>
              </a:ext>
            </a:extLst>
          </p:cNvPr>
          <p:cNvSpPr>
            <a:spLocks noGrp="1"/>
          </p:cNvSpPr>
          <p:nvPr/>
        </p:nvSpPr>
        <p:spPr>
          <a:xfrm>
            <a:off x="59245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" name="diagram block">
            <a:extLst>
              <a:ext uri="{FF2B5EF4-FFF2-40B4-BE49-F238E27FC236}">
                <a16:creationId xmlns:a16="http://schemas.microsoft.com/office/drawing/2014/main" id="{CF86E2B3-4603-411C-B232-BB21B4FA5516}"/>
              </a:ext>
            </a:extLst>
          </p:cNvPr>
          <p:cNvSpPr>
            <a:spLocks noGrp="1"/>
          </p:cNvSpPr>
          <p:nvPr/>
        </p:nvSpPr>
        <p:spPr>
          <a:xfrm>
            <a:off x="46672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" name="diagram block">
            <a:extLst>
              <a:ext uri="{FF2B5EF4-FFF2-40B4-BE49-F238E27FC236}">
                <a16:creationId xmlns:a16="http://schemas.microsoft.com/office/drawing/2014/main" id="{62EAA159-902E-4C0E-9158-1887788554AC}"/>
              </a:ext>
            </a:extLst>
          </p:cNvPr>
          <p:cNvSpPr>
            <a:spLocks noGrp="1"/>
          </p:cNvSpPr>
          <p:nvPr/>
        </p:nvSpPr>
        <p:spPr>
          <a:xfrm>
            <a:off x="48768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6" name="diagram block">
            <a:extLst>
              <a:ext uri="{FF2B5EF4-FFF2-40B4-BE49-F238E27FC236}">
                <a16:creationId xmlns:a16="http://schemas.microsoft.com/office/drawing/2014/main" id="{ED454461-067D-4785-A8AA-96A91D8FA733}"/>
              </a:ext>
            </a:extLst>
          </p:cNvPr>
          <p:cNvSpPr>
            <a:spLocks noGrp="1"/>
          </p:cNvSpPr>
          <p:nvPr/>
        </p:nvSpPr>
        <p:spPr>
          <a:xfrm>
            <a:off x="50863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" name="diagram block">
            <a:extLst>
              <a:ext uri="{FF2B5EF4-FFF2-40B4-BE49-F238E27FC236}">
                <a16:creationId xmlns:a16="http://schemas.microsoft.com/office/drawing/2014/main" id="{8689E9CE-3318-4997-B3A1-98A33FB6A6E1}"/>
              </a:ext>
            </a:extLst>
          </p:cNvPr>
          <p:cNvSpPr>
            <a:spLocks noGrp="1"/>
          </p:cNvSpPr>
          <p:nvPr/>
        </p:nvSpPr>
        <p:spPr>
          <a:xfrm>
            <a:off x="52959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" name="diagram block">
            <a:extLst>
              <a:ext uri="{FF2B5EF4-FFF2-40B4-BE49-F238E27FC236}">
                <a16:creationId xmlns:a16="http://schemas.microsoft.com/office/drawing/2014/main" id="{653C3A5E-0315-43C0-82D3-37611963E652}"/>
              </a:ext>
            </a:extLst>
          </p:cNvPr>
          <p:cNvSpPr>
            <a:spLocks noGrp="1"/>
          </p:cNvSpPr>
          <p:nvPr/>
        </p:nvSpPr>
        <p:spPr>
          <a:xfrm>
            <a:off x="55054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" name="diagram block">
            <a:extLst>
              <a:ext uri="{FF2B5EF4-FFF2-40B4-BE49-F238E27FC236}">
                <a16:creationId xmlns:a16="http://schemas.microsoft.com/office/drawing/2014/main" id="{4ADAAFBF-8C92-4AC2-82A2-1CE3AEF9F8E1}"/>
              </a:ext>
            </a:extLst>
          </p:cNvPr>
          <p:cNvSpPr>
            <a:spLocks noGrp="1"/>
          </p:cNvSpPr>
          <p:nvPr/>
        </p:nvSpPr>
        <p:spPr>
          <a:xfrm>
            <a:off x="57150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0" name="diagram block">
            <a:extLst>
              <a:ext uri="{FF2B5EF4-FFF2-40B4-BE49-F238E27FC236}">
                <a16:creationId xmlns:a16="http://schemas.microsoft.com/office/drawing/2014/main" id="{423EEDF4-B6F5-4F37-8885-2699A3D47D28}"/>
              </a:ext>
            </a:extLst>
          </p:cNvPr>
          <p:cNvSpPr>
            <a:spLocks noGrp="1"/>
          </p:cNvSpPr>
          <p:nvPr/>
        </p:nvSpPr>
        <p:spPr>
          <a:xfrm>
            <a:off x="59245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time 1">
            <a:extLst>
              <a:ext uri="{FF2B5EF4-FFF2-40B4-BE49-F238E27FC236}">
                <a16:creationId xmlns:a16="http://schemas.microsoft.com/office/drawing/2014/main" id="{23DC11C7-46A7-4507-AFE1-29C211BFCBF8}"/>
              </a:ext>
            </a:extLst>
          </p:cNvPr>
          <p:cNvSpPr>
            <a:spLocks noGrp="1"/>
          </p:cNvSpPr>
          <p:nvPr/>
        </p:nvSpPr>
        <p:spPr>
          <a:xfrm>
            <a:off x="4667250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72" name="diagram block">
            <a:extLst>
              <a:ext uri="{FF2B5EF4-FFF2-40B4-BE49-F238E27FC236}">
                <a16:creationId xmlns:a16="http://schemas.microsoft.com/office/drawing/2014/main" id="{52FE6C43-9316-4AA4-9E70-051634DB9DF9}"/>
              </a:ext>
            </a:extLst>
          </p:cNvPr>
          <p:cNvSpPr>
            <a:spLocks noGrp="1"/>
          </p:cNvSpPr>
          <p:nvPr/>
        </p:nvSpPr>
        <p:spPr>
          <a:xfrm>
            <a:off x="68103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diagram block">
            <a:extLst>
              <a:ext uri="{FF2B5EF4-FFF2-40B4-BE49-F238E27FC236}">
                <a16:creationId xmlns:a16="http://schemas.microsoft.com/office/drawing/2014/main" id="{FAB1C575-46A5-4CEC-8B09-A1FC7BA63074}"/>
              </a:ext>
            </a:extLst>
          </p:cNvPr>
          <p:cNvSpPr>
            <a:spLocks noGrp="1"/>
          </p:cNvSpPr>
          <p:nvPr/>
        </p:nvSpPr>
        <p:spPr>
          <a:xfrm>
            <a:off x="70199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4" name="diagram block">
            <a:extLst>
              <a:ext uri="{FF2B5EF4-FFF2-40B4-BE49-F238E27FC236}">
                <a16:creationId xmlns:a16="http://schemas.microsoft.com/office/drawing/2014/main" id="{E89FEF97-4C6B-437F-ACAD-F1FE2A5AFE99}"/>
              </a:ext>
            </a:extLst>
          </p:cNvPr>
          <p:cNvSpPr>
            <a:spLocks noGrp="1"/>
          </p:cNvSpPr>
          <p:nvPr/>
        </p:nvSpPr>
        <p:spPr>
          <a:xfrm>
            <a:off x="72294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5" name="diagram block">
            <a:extLst>
              <a:ext uri="{FF2B5EF4-FFF2-40B4-BE49-F238E27FC236}">
                <a16:creationId xmlns:a16="http://schemas.microsoft.com/office/drawing/2014/main" id="{1CE24B28-224D-4AFD-B427-FEE3A0548125}"/>
              </a:ext>
            </a:extLst>
          </p:cNvPr>
          <p:cNvSpPr>
            <a:spLocks noGrp="1"/>
          </p:cNvSpPr>
          <p:nvPr/>
        </p:nvSpPr>
        <p:spPr>
          <a:xfrm>
            <a:off x="74390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6" name="diagram block">
            <a:extLst>
              <a:ext uri="{FF2B5EF4-FFF2-40B4-BE49-F238E27FC236}">
                <a16:creationId xmlns:a16="http://schemas.microsoft.com/office/drawing/2014/main" id="{03C0DFE7-B86A-43C7-8F29-79477A799B4E}"/>
              </a:ext>
            </a:extLst>
          </p:cNvPr>
          <p:cNvSpPr>
            <a:spLocks noGrp="1"/>
          </p:cNvSpPr>
          <p:nvPr/>
        </p:nvSpPr>
        <p:spPr>
          <a:xfrm>
            <a:off x="76485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diagram block">
            <a:extLst>
              <a:ext uri="{FF2B5EF4-FFF2-40B4-BE49-F238E27FC236}">
                <a16:creationId xmlns:a16="http://schemas.microsoft.com/office/drawing/2014/main" id="{C89DDE2D-A5FA-45E1-8086-2C7271C1E6CC}"/>
              </a:ext>
            </a:extLst>
          </p:cNvPr>
          <p:cNvSpPr>
            <a:spLocks noGrp="1"/>
          </p:cNvSpPr>
          <p:nvPr/>
        </p:nvSpPr>
        <p:spPr>
          <a:xfrm>
            <a:off x="78581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" name="diagram block">
            <a:extLst>
              <a:ext uri="{FF2B5EF4-FFF2-40B4-BE49-F238E27FC236}">
                <a16:creationId xmlns:a16="http://schemas.microsoft.com/office/drawing/2014/main" id="{D63AE6CE-6550-44B3-8ECC-0FA81C014937}"/>
              </a:ext>
            </a:extLst>
          </p:cNvPr>
          <p:cNvSpPr>
            <a:spLocks noGrp="1"/>
          </p:cNvSpPr>
          <p:nvPr/>
        </p:nvSpPr>
        <p:spPr>
          <a:xfrm>
            <a:off x="80676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" name="diagram block">
            <a:extLst>
              <a:ext uri="{FF2B5EF4-FFF2-40B4-BE49-F238E27FC236}">
                <a16:creationId xmlns:a16="http://schemas.microsoft.com/office/drawing/2014/main" id="{3EB7B46B-A406-4BA9-8137-AE31C4FBBD26}"/>
              </a:ext>
            </a:extLst>
          </p:cNvPr>
          <p:cNvSpPr>
            <a:spLocks noGrp="1"/>
          </p:cNvSpPr>
          <p:nvPr/>
        </p:nvSpPr>
        <p:spPr>
          <a:xfrm>
            <a:off x="68103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" name="diagram block">
            <a:extLst>
              <a:ext uri="{FF2B5EF4-FFF2-40B4-BE49-F238E27FC236}">
                <a16:creationId xmlns:a16="http://schemas.microsoft.com/office/drawing/2014/main" id="{58F2FB3C-CFB2-49ED-BDB9-47C76EB50C6D}"/>
              </a:ext>
            </a:extLst>
          </p:cNvPr>
          <p:cNvSpPr>
            <a:spLocks noGrp="1"/>
          </p:cNvSpPr>
          <p:nvPr/>
        </p:nvSpPr>
        <p:spPr>
          <a:xfrm>
            <a:off x="70199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" name="diagram block">
            <a:extLst>
              <a:ext uri="{FF2B5EF4-FFF2-40B4-BE49-F238E27FC236}">
                <a16:creationId xmlns:a16="http://schemas.microsoft.com/office/drawing/2014/main" id="{1202F7FE-10B6-4E21-8610-E53F4E12CB68}"/>
              </a:ext>
            </a:extLst>
          </p:cNvPr>
          <p:cNvSpPr>
            <a:spLocks noGrp="1"/>
          </p:cNvSpPr>
          <p:nvPr/>
        </p:nvSpPr>
        <p:spPr>
          <a:xfrm>
            <a:off x="72294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2" name="diagram block">
            <a:extLst>
              <a:ext uri="{FF2B5EF4-FFF2-40B4-BE49-F238E27FC236}">
                <a16:creationId xmlns:a16="http://schemas.microsoft.com/office/drawing/2014/main" id="{E9B1C302-0D9E-4C0B-B561-C1DAA3F59C50}"/>
              </a:ext>
            </a:extLst>
          </p:cNvPr>
          <p:cNvSpPr>
            <a:spLocks noGrp="1"/>
          </p:cNvSpPr>
          <p:nvPr/>
        </p:nvSpPr>
        <p:spPr>
          <a:xfrm>
            <a:off x="74390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diagram block">
            <a:extLst>
              <a:ext uri="{FF2B5EF4-FFF2-40B4-BE49-F238E27FC236}">
                <a16:creationId xmlns:a16="http://schemas.microsoft.com/office/drawing/2014/main" id="{F8A31D5F-0B1F-406D-8424-C0067AED8B34}"/>
              </a:ext>
            </a:extLst>
          </p:cNvPr>
          <p:cNvSpPr>
            <a:spLocks noGrp="1"/>
          </p:cNvSpPr>
          <p:nvPr/>
        </p:nvSpPr>
        <p:spPr>
          <a:xfrm>
            <a:off x="76485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4" name="diagram block">
            <a:extLst>
              <a:ext uri="{FF2B5EF4-FFF2-40B4-BE49-F238E27FC236}">
                <a16:creationId xmlns:a16="http://schemas.microsoft.com/office/drawing/2014/main" id="{B06B37EE-6DF8-4E9D-B189-BBB0DE17F3D6}"/>
              </a:ext>
            </a:extLst>
          </p:cNvPr>
          <p:cNvSpPr>
            <a:spLocks noGrp="1"/>
          </p:cNvSpPr>
          <p:nvPr/>
        </p:nvSpPr>
        <p:spPr>
          <a:xfrm>
            <a:off x="78581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5" name="diagram block">
            <a:extLst>
              <a:ext uri="{FF2B5EF4-FFF2-40B4-BE49-F238E27FC236}">
                <a16:creationId xmlns:a16="http://schemas.microsoft.com/office/drawing/2014/main" id="{BD09C58D-ABE5-41B8-A10F-BEBF7D1967FB}"/>
              </a:ext>
            </a:extLst>
          </p:cNvPr>
          <p:cNvSpPr>
            <a:spLocks noGrp="1"/>
          </p:cNvSpPr>
          <p:nvPr/>
        </p:nvSpPr>
        <p:spPr>
          <a:xfrm>
            <a:off x="80676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6" name="diagram block">
            <a:extLst>
              <a:ext uri="{FF2B5EF4-FFF2-40B4-BE49-F238E27FC236}">
                <a16:creationId xmlns:a16="http://schemas.microsoft.com/office/drawing/2014/main" id="{FF76CDA0-479A-4226-974F-7C8C0E9F1E02}"/>
              </a:ext>
            </a:extLst>
          </p:cNvPr>
          <p:cNvSpPr>
            <a:spLocks noGrp="1"/>
          </p:cNvSpPr>
          <p:nvPr/>
        </p:nvSpPr>
        <p:spPr>
          <a:xfrm>
            <a:off x="68103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7" name="diagram block">
            <a:extLst>
              <a:ext uri="{FF2B5EF4-FFF2-40B4-BE49-F238E27FC236}">
                <a16:creationId xmlns:a16="http://schemas.microsoft.com/office/drawing/2014/main" id="{2DD35052-86F9-4F2C-B6CE-3AB2B0586620}"/>
              </a:ext>
            </a:extLst>
          </p:cNvPr>
          <p:cNvSpPr>
            <a:spLocks noGrp="1"/>
          </p:cNvSpPr>
          <p:nvPr/>
        </p:nvSpPr>
        <p:spPr>
          <a:xfrm>
            <a:off x="70199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8" name="diagram block">
            <a:extLst>
              <a:ext uri="{FF2B5EF4-FFF2-40B4-BE49-F238E27FC236}">
                <a16:creationId xmlns:a16="http://schemas.microsoft.com/office/drawing/2014/main" id="{A6F1C1EC-E66A-4A9F-B97E-85C0EA1BC2EC}"/>
              </a:ext>
            </a:extLst>
          </p:cNvPr>
          <p:cNvSpPr>
            <a:spLocks noGrp="1"/>
          </p:cNvSpPr>
          <p:nvPr/>
        </p:nvSpPr>
        <p:spPr>
          <a:xfrm>
            <a:off x="72294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9" name="diagram block">
            <a:extLst>
              <a:ext uri="{FF2B5EF4-FFF2-40B4-BE49-F238E27FC236}">
                <a16:creationId xmlns:a16="http://schemas.microsoft.com/office/drawing/2014/main" id="{2170E6D7-4871-480E-951C-883437ADDB59}"/>
              </a:ext>
            </a:extLst>
          </p:cNvPr>
          <p:cNvSpPr>
            <a:spLocks noGrp="1"/>
          </p:cNvSpPr>
          <p:nvPr/>
        </p:nvSpPr>
        <p:spPr>
          <a:xfrm>
            <a:off x="74390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" name="diagram block">
            <a:extLst>
              <a:ext uri="{FF2B5EF4-FFF2-40B4-BE49-F238E27FC236}">
                <a16:creationId xmlns:a16="http://schemas.microsoft.com/office/drawing/2014/main" id="{21C3D348-9F30-40D3-BD11-11C78E000EDF}"/>
              </a:ext>
            </a:extLst>
          </p:cNvPr>
          <p:cNvSpPr>
            <a:spLocks noGrp="1"/>
          </p:cNvSpPr>
          <p:nvPr/>
        </p:nvSpPr>
        <p:spPr>
          <a:xfrm>
            <a:off x="76485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" name="diagram block">
            <a:extLst>
              <a:ext uri="{FF2B5EF4-FFF2-40B4-BE49-F238E27FC236}">
                <a16:creationId xmlns:a16="http://schemas.microsoft.com/office/drawing/2014/main" id="{838FD6D9-1575-4939-86D0-E0EE5A574E86}"/>
              </a:ext>
            </a:extLst>
          </p:cNvPr>
          <p:cNvSpPr>
            <a:spLocks noGrp="1"/>
          </p:cNvSpPr>
          <p:nvPr/>
        </p:nvSpPr>
        <p:spPr>
          <a:xfrm>
            <a:off x="78581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2" name="diagram block">
            <a:extLst>
              <a:ext uri="{FF2B5EF4-FFF2-40B4-BE49-F238E27FC236}">
                <a16:creationId xmlns:a16="http://schemas.microsoft.com/office/drawing/2014/main" id="{B80997FD-38E7-49CB-BFBC-4777E3DD5DAB}"/>
              </a:ext>
            </a:extLst>
          </p:cNvPr>
          <p:cNvSpPr>
            <a:spLocks noGrp="1"/>
          </p:cNvSpPr>
          <p:nvPr/>
        </p:nvSpPr>
        <p:spPr>
          <a:xfrm>
            <a:off x="80676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3" name="diagram block">
            <a:extLst>
              <a:ext uri="{FF2B5EF4-FFF2-40B4-BE49-F238E27FC236}">
                <a16:creationId xmlns:a16="http://schemas.microsoft.com/office/drawing/2014/main" id="{07D98D97-684B-4C1D-AB12-47557AF81494}"/>
              </a:ext>
            </a:extLst>
          </p:cNvPr>
          <p:cNvSpPr>
            <a:spLocks noGrp="1"/>
          </p:cNvSpPr>
          <p:nvPr/>
        </p:nvSpPr>
        <p:spPr>
          <a:xfrm>
            <a:off x="68103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4" name="diagram block">
            <a:extLst>
              <a:ext uri="{FF2B5EF4-FFF2-40B4-BE49-F238E27FC236}">
                <a16:creationId xmlns:a16="http://schemas.microsoft.com/office/drawing/2014/main" id="{86175B87-EE19-4697-B88A-1B95AA69F9AD}"/>
              </a:ext>
            </a:extLst>
          </p:cNvPr>
          <p:cNvSpPr>
            <a:spLocks noGrp="1"/>
          </p:cNvSpPr>
          <p:nvPr/>
        </p:nvSpPr>
        <p:spPr>
          <a:xfrm>
            <a:off x="70199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5" name="diagram block">
            <a:extLst>
              <a:ext uri="{FF2B5EF4-FFF2-40B4-BE49-F238E27FC236}">
                <a16:creationId xmlns:a16="http://schemas.microsoft.com/office/drawing/2014/main" id="{394E75B5-AE23-48F1-B1C1-C3125DAB9C1E}"/>
              </a:ext>
            </a:extLst>
          </p:cNvPr>
          <p:cNvSpPr>
            <a:spLocks noGrp="1"/>
          </p:cNvSpPr>
          <p:nvPr/>
        </p:nvSpPr>
        <p:spPr>
          <a:xfrm>
            <a:off x="72294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6" name="diagram block">
            <a:extLst>
              <a:ext uri="{FF2B5EF4-FFF2-40B4-BE49-F238E27FC236}">
                <a16:creationId xmlns:a16="http://schemas.microsoft.com/office/drawing/2014/main" id="{9428DF12-DFF8-4B47-AFA4-9D23AA940AD0}"/>
              </a:ext>
            </a:extLst>
          </p:cNvPr>
          <p:cNvSpPr>
            <a:spLocks noGrp="1"/>
          </p:cNvSpPr>
          <p:nvPr/>
        </p:nvSpPr>
        <p:spPr>
          <a:xfrm>
            <a:off x="7439025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7" name="diagram block">
            <a:extLst>
              <a:ext uri="{FF2B5EF4-FFF2-40B4-BE49-F238E27FC236}">
                <a16:creationId xmlns:a16="http://schemas.microsoft.com/office/drawing/2014/main" id="{1DE20C87-60F9-49D6-AECC-FFB48EF8A301}"/>
              </a:ext>
            </a:extLst>
          </p:cNvPr>
          <p:cNvSpPr>
            <a:spLocks noGrp="1"/>
          </p:cNvSpPr>
          <p:nvPr/>
        </p:nvSpPr>
        <p:spPr>
          <a:xfrm>
            <a:off x="76485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8" name="diagram block">
            <a:extLst>
              <a:ext uri="{FF2B5EF4-FFF2-40B4-BE49-F238E27FC236}">
                <a16:creationId xmlns:a16="http://schemas.microsoft.com/office/drawing/2014/main" id="{3D120416-9693-4456-973E-879731B952B3}"/>
              </a:ext>
            </a:extLst>
          </p:cNvPr>
          <p:cNvSpPr>
            <a:spLocks noGrp="1"/>
          </p:cNvSpPr>
          <p:nvPr/>
        </p:nvSpPr>
        <p:spPr>
          <a:xfrm>
            <a:off x="78581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9" name="diagram block">
            <a:extLst>
              <a:ext uri="{FF2B5EF4-FFF2-40B4-BE49-F238E27FC236}">
                <a16:creationId xmlns:a16="http://schemas.microsoft.com/office/drawing/2014/main" id="{546B5BF8-45E1-4D52-8573-F23C6605CC28}"/>
              </a:ext>
            </a:extLst>
          </p:cNvPr>
          <p:cNvSpPr>
            <a:spLocks noGrp="1"/>
          </p:cNvSpPr>
          <p:nvPr/>
        </p:nvSpPr>
        <p:spPr>
          <a:xfrm>
            <a:off x="80676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0" name="diagram block">
            <a:extLst>
              <a:ext uri="{FF2B5EF4-FFF2-40B4-BE49-F238E27FC236}">
                <a16:creationId xmlns:a16="http://schemas.microsoft.com/office/drawing/2014/main" id="{4CA943BE-E663-42A9-89A5-CEE76759BE6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1" name="diagram block">
            <a:extLst>
              <a:ext uri="{FF2B5EF4-FFF2-40B4-BE49-F238E27FC236}">
                <a16:creationId xmlns:a16="http://schemas.microsoft.com/office/drawing/2014/main" id="{8BAE1047-01CF-4F4B-A194-E0FF9B2C2278}"/>
              </a:ext>
            </a:extLst>
          </p:cNvPr>
          <p:cNvSpPr>
            <a:spLocks noGrp="1"/>
          </p:cNvSpPr>
          <p:nvPr/>
        </p:nvSpPr>
        <p:spPr>
          <a:xfrm>
            <a:off x="70199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2" name="diagram block">
            <a:extLst>
              <a:ext uri="{FF2B5EF4-FFF2-40B4-BE49-F238E27FC236}">
                <a16:creationId xmlns:a16="http://schemas.microsoft.com/office/drawing/2014/main" id="{3BAF1AC4-A8E8-4335-A55E-9661FF3EDA08}"/>
              </a:ext>
            </a:extLst>
          </p:cNvPr>
          <p:cNvSpPr>
            <a:spLocks noGrp="1"/>
          </p:cNvSpPr>
          <p:nvPr/>
        </p:nvSpPr>
        <p:spPr>
          <a:xfrm>
            <a:off x="72294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3" name="diagram block">
            <a:extLst>
              <a:ext uri="{FF2B5EF4-FFF2-40B4-BE49-F238E27FC236}">
                <a16:creationId xmlns:a16="http://schemas.microsoft.com/office/drawing/2014/main" id="{C977BDC0-C914-4D4E-8368-A4F7CABE362D}"/>
              </a:ext>
            </a:extLst>
          </p:cNvPr>
          <p:cNvSpPr>
            <a:spLocks noGrp="1"/>
          </p:cNvSpPr>
          <p:nvPr/>
        </p:nvSpPr>
        <p:spPr>
          <a:xfrm>
            <a:off x="74390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4" name="diagram block">
            <a:extLst>
              <a:ext uri="{FF2B5EF4-FFF2-40B4-BE49-F238E27FC236}">
                <a16:creationId xmlns:a16="http://schemas.microsoft.com/office/drawing/2014/main" id="{783FC06B-EF00-4873-8FBB-A495A47276E5}"/>
              </a:ext>
            </a:extLst>
          </p:cNvPr>
          <p:cNvSpPr>
            <a:spLocks noGrp="1"/>
          </p:cNvSpPr>
          <p:nvPr/>
        </p:nvSpPr>
        <p:spPr>
          <a:xfrm>
            <a:off x="76485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5" name="diagram block">
            <a:extLst>
              <a:ext uri="{FF2B5EF4-FFF2-40B4-BE49-F238E27FC236}">
                <a16:creationId xmlns:a16="http://schemas.microsoft.com/office/drawing/2014/main" id="{2A0F15E8-5215-43C3-A558-CE4E441A04AB}"/>
              </a:ext>
            </a:extLst>
          </p:cNvPr>
          <p:cNvSpPr>
            <a:spLocks noGrp="1"/>
          </p:cNvSpPr>
          <p:nvPr/>
        </p:nvSpPr>
        <p:spPr>
          <a:xfrm>
            <a:off x="78581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6" name="diagram block">
            <a:extLst>
              <a:ext uri="{FF2B5EF4-FFF2-40B4-BE49-F238E27FC236}">
                <a16:creationId xmlns:a16="http://schemas.microsoft.com/office/drawing/2014/main" id="{F8CAC5D0-7027-4A93-B0D1-F6182B246BC3}"/>
              </a:ext>
            </a:extLst>
          </p:cNvPr>
          <p:cNvSpPr>
            <a:spLocks noGrp="1"/>
          </p:cNvSpPr>
          <p:nvPr/>
        </p:nvSpPr>
        <p:spPr>
          <a:xfrm>
            <a:off x="80676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7" name="diagram block">
            <a:extLst>
              <a:ext uri="{FF2B5EF4-FFF2-40B4-BE49-F238E27FC236}">
                <a16:creationId xmlns:a16="http://schemas.microsoft.com/office/drawing/2014/main" id="{8CDA0B42-EEBA-4352-84C8-ED66EDEC248C}"/>
              </a:ext>
            </a:extLst>
          </p:cNvPr>
          <p:cNvSpPr>
            <a:spLocks noGrp="1"/>
          </p:cNvSpPr>
          <p:nvPr/>
        </p:nvSpPr>
        <p:spPr>
          <a:xfrm>
            <a:off x="68103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8" name="diagram block">
            <a:extLst>
              <a:ext uri="{FF2B5EF4-FFF2-40B4-BE49-F238E27FC236}">
                <a16:creationId xmlns:a16="http://schemas.microsoft.com/office/drawing/2014/main" id="{134630EB-1D19-4BD5-A1F3-A944BA14A6B2}"/>
              </a:ext>
            </a:extLst>
          </p:cNvPr>
          <p:cNvSpPr>
            <a:spLocks noGrp="1"/>
          </p:cNvSpPr>
          <p:nvPr/>
        </p:nvSpPr>
        <p:spPr>
          <a:xfrm>
            <a:off x="70199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9" name="diagram block">
            <a:extLst>
              <a:ext uri="{FF2B5EF4-FFF2-40B4-BE49-F238E27FC236}">
                <a16:creationId xmlns:a16="http://schemas.microsoft.com/office/drawing/2014/main" id="{2AB14C96-15B0-4480-8678-25426C825DD0}"/>
              </a:ext>
            </a:extLst>
          </p:cNvPr>
          <p:cNvSpPr>
            <a:spLocks noGrp="1"/>
          </p:cNvSpPr>
          <p:nvPr/>
        </p:nvSpPr>
        <p:spPr>
          <a:xfrm>
            <a:off x="72294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0" name="diagram block">
            <a:extLst>
              <a:ext uri="{FF2B5EF4-FFF2-40B4-BE49-F238E27FC236}">
                <a16:creationId xmlns:a16="http://schemas.microsoft.com/office/drawing/2014/main" id="{9C2F33DD-8290-4007-B45A-2071FB50D934}"/>
              </a:ext>
            </a:extLst>
          </p:cNvPr>
          <p:cNvSpPr>
            <a:spLocks noGrp="1"/>
          </p:cNvSpPr>
          <p:nvPr/>
        </p:nvSpPr>
        <p:spPr>
          <a:xfrm>
            <a:off x="74390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1" name="diagram block">
            <a:extLst>
              <a:ext uri="{FF2B5EF4-FFF2-40B4-BE49-F238E27FC236}">
                <a16:creationId xmlns:a16="http://schemas.microsoft.com/office/drawing/2014/main" id="{136DAE59-5E45-493B-8838-615A52959498}"/>
              </a:ext>
            </a:extLst>
          </p:cNvPr>
          <p:cNvSpPr>
            <a:spLocks noGrp="1"/>
          </p:cNvSpPr>
          <p:nvPr/>
        </p:nvSpPr>
        <p:spPr>
          <a:xfrm>
            <a:off x="76485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2" name="diagram block">
            <a:extLst>
              <a:ext uri="{FF2B5EF4-FFF2-40B4-BE49-F238E27FC236}">
                <a16:creationId xmlns:a16="http://schemas.microsoft.com/office/drawing/2014/main" id="{2948D47D-8537-4497-857A-CAFF49136A2F}"/>
              </a:ext>
            </a:extLst>
          </p:cNvPr>
          <p:cNvSpPr>
            <a:spLocks noGrp="1"/>
          </p:cNvSpPr>
          <p:nvPr/>
        </p:nvSpPr>
        <p:spPr>
          <a:xfrm>
            <a:off x="78581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3" name="diagram block">
            <a:extLst>
              <a:ext uri="{FF2B5EF4-FFF2-40B4-BE49-F238E27FC236}">
                <a16:creationId xmlns:a16="http://schemas.microsoft.com/office/drawing/2014/main" id="{CE933839-D1F5-4963-AA16-1873E65A3B1A}"/>
              </a:ext>
            </a:extLst>
          </p:cNvPr>
          <p:cNvSpPr>
            <a:spLocks noGrp="1"/>
          </p:cNvSpPr>
          <p:nvPr/>
        </p:nvSpPr>
        <p:spPr>
          <a:xfrm>
            <a:off x="80676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4" name="diagram block">
            <a:extLst>
              <a:ext uri="{FF2B5EF4-FFF2-40B4-BE49-F238E27FC236}">
                <a16:creationId xmlns:a16="http://schemas.microsoft.com/office/drawing/2014/main" id="{F4C2C585-5F10-4DB0-8B52-EB8B585950C5}"/>
              </a:ext>
            </a:extLst>
          </p:cNvPr>
          <p:cNvSpPr>
            <a:spLocks noGrp="1"/>
          </p:cNvSpPr>
          <p:nvPr/>
        </p:nvSpPr>
        <p:spPr>
          <a:xfrm>
            <a:off x="68103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5" name="diagram block">
            <a:extLst>
              <a:ext uri="{FF2B5EF4-FFF2-40B4-BE49-F238E27FC236}">
                <a16:creationId xmlns:a16="http://schemas.microsoft.com/office/drawing/2014/main" id="{4CA55D79-88B8-4DBB-A6B0-CF20CA819DB7}"/>
              </a:ext>
            </a:extLst>
          </p:cNvPr>
          <p:cNvSpPr>
            <a:spLocks noGrp="1"/>
          </p:cNvSpPr>
          <p:nvPr/>
        </p:nvSpPr>
        <p:spPr>
          <a:xfrm>
            <a:off x="70199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6" name="diagram block">
            <a:extLst>
              <a:ext uri="{FF2B5EF4-FFF2-40B4-BE49-F238E27FC236}">
                <a16:creationId xmlns:a16="http://schemas.microsoft.com/office/drawing/2014/main" id="{741C30CF-C434-4365-A758-91DECFCE8BDA}"/>
              </a:ext>
            </a:extLst>
          </p:cNvPr>
          <p:cNvSpPr>
            <a:spLocks noGrp="1"/>
          </p:cNvSpPr>
          <p:nvPr/>
        </p:nvSpPr>
        <p:spPr>
          <a:xfrm>
            <a:off x="72294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7" name="diagram block">
            <a:extLst>
              <a:ext uri="{FF2B5EF4-FFF2-40B4-BE49-F238E27FC236}">
                <a16:creationId xmlns:a16="http://schemas.microsoft.com/office/drawing/2014/main" id="{EC5ED8B9-F366-4CD9-8ECC-A8EF1E1A70D8}"/>
              </a:ext>
            </a:extLst>
          </p:cNvPr>
          <p:cNvSpPr>
            <a:spLocks noGrp="1"/>
          </p:cNvSpPr>
          <p:nvPr/>
        </p:nvSpPr>
        <p:spPr>
          <a:xfrm>
            <a:off x="74390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8" name="diagram block">
            <a:extLst>
              <a:ext uri="{FF2B5EF4-FFF2-40B4-BE49-F238E27FC236}">
                <a16:creationId xmlns:a16="http://schemas.microsoft.com/office/drawing/2014/main" id="{08FB166E-CE6E-4373-8768-8A1987C7E936}"/>
              </a:ext>
            </a:extLst>
          </p:cNvPr>
          <p:cNvSpPr>
            <a:spLocks noGrp="1"/>
          </p:cNvSpPr>
          <p:nvPr/>
        </p:nvSpPr>
        <p:spPr>
          <a:xfrm>
            <a:off x="76485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9" name="diagram block">
            <a:extLst>
              <a:ext uri="{FF2B5EF4-FFF2-40B4-BE49-F238E27FC236}">
                <a16:creationId xmlns:a16="http://schemas.microsoft.com/office/drawing/2014/main" id="{A9196810-43F7-4FA4-8D5B-7A3C71B854F1}"/>
              </a:ext>
            </a:extLst>
          </p:cNvPr>
          <p:cNvSpPr>
            <a:spLocks noGrp="1"/>
          </p:cNvSpPr>
          <p:nvPr/>
        </p:nvSpPr>
        <p:spPr>
          <a:xfrm>
            <a:off x="78581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0" name="diagram block">
            <a:extLst>
              <a:ext uri="{FF2B5EF4-FFF2-40B4-BE49-F238E27FC236}">
                <a16:creationId xmlns:a16="http://schemas.microsoft.com/office/drawing/2014/main" id="{B8DC177F-626C-4E0F-BB68-445F9ED1ECE9}"/>
              </a:ext>
            </a:extLst>
          </p:cNvPr>
          <p:cNvSpPr>
            <a:spLocks noGrp="1"/>
          </p:cNvSpPr>
          <p:nvPr/>
        </p:nvSpPr>
        <p:spPr>
          <a:xfrm>
            <a:off x="80676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1" name="time 2">
            <a:extLst>
              <a:ext uri="{FF2B5EF4-FFF2-40B4-BE49-F238E27FC236}">
                <a16:creationId xmlns:a16="http://schemas.microsoft.com/office/drawing/2014/main" id="{9A69B97A-B054-4E59-9B9B-0FE76E58CDF0}"/>
              </a:ext>
            </a:extLst>
          </p:cNvPr>
          <p:cNvSpPr>
            <a:spLocks noGrp="1"/>
          </p:cNvSpPr>
          <p:nvPr/>
        </p:nvSpPr>
        <p:spPr>
          <a:xfrm>
            <a:off x="6810375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cxnSp>
        <p:nvCxnSpPr>
          <p:cNvPr id="122" name="diagram connector">
            <a:extLst>
              <a:ext uri="{FF2B5EF4-FFF2-40B4-BE49-F238E27FC236}">
                <a16:creationId xmlns:a16="http://schemas.microsoft.com/office/drawing/2014/main" id="{5689DA3B-ADB1-4730-9CF1-72E9BAB6F6A6}"/>
              </a:ext>
            </a:extLst>
          </p:cNvPr>
          <p:cNvCxnSpPr/>
          <p:nvPr/>
        </p:nvCxnSpPr>
        <p:spPr>
          <a:xfrm flipH="1" flipV="1">
            <a:off x="518160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3" name="diagram connector">
            <a:extLst>
              <a:ext uri="{FF2B5EF4-FFF2-40B4-BE49-F238E27FC236}">
                <a16:creationId xmlns:a16="http://schemas.microsoft.com/office/drawing/2014/main" id="{395F88DD-A677-4FE4-A3F6-601AF1157162}"/>
              </a:ext>
            </a:extLst>
          </p:cNvPr>
          <p:cNvCxnSpPr/>
          <p:nvPr/>
        </p:nvCxnSpPr>
        <p:spPr>
          <a:xfrm flipV="1">
            <a:off x="5391150" y="252412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4" name="diagram connector">
            <a:extLst>
              <a:ext uri="{FF2B5EF4-FFF2-40B4-BE49-F238E27FC236}">
                <a16:creationId xmlns:a16="http://schemas.microsoft.com/office/drawing/2014/main" id="{54A80E8C-32C7-4B3E-9B05-F5DE6867EF63}"/>
              </a:ext>
            </a:extLst>
          </p:cNvPr>
          <p:cNvCxnSpPr/>
          <p:nvPr/>
        </p:nvCxnSpPr>
        <p:spPr>
          <a:xfrm flipV="1">
            <a:off x="539115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5" name="diagram connector">
            <a:extLst>
              <a:ext uri="{FF2B5EF4-FFF2-40B4-BE49-F238E27FC236}">
                <a16:creationId xmlns:a16="http://schemas.microsoft.com/office/drawing/2014/main" id="{23897515-ED79-465A-B82A-29352E4CA0F6}"/>
              </a:ext>
            </a:extLst>
          </p:cNvPr>
          <p:cNvCxnSpPr/>
          <p:nvPr/>
        </p:nvCxnSpPr>
        <p:spPr>
          <a:xfrm flipH="1">
            <a:off x="518160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6" name="diagram connector">
            <a:extLst>
              <a:ext uri="{FF2B5EF4-FFF2-40B4-BE49-F238E27FC236}">
                <a16:creationId xmlns:a16="http://schemas.microsoft.com/office/drawing/2014/main" id="{2E3E67F0-0CDF-464C-A75D-7F22B910C552}"/>
              </a:ext>
            </a:extLst>
          </p:cNvPr>
          <p:cNvCxnSpPr/>
          <p:nvPr/>
        </p:nvCxnSpPr>
        <p:spPr>
          <a:xfrm>
            <a:off x="539115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7" name="diagram connector">
            <a:extLst>
              <a:ext uri="{FF2B5EF4-FFF2-40B4-BE49-F238E27FC236}">
                <a16:creationId xmlns:a16="http://schemas.microsoft.com/office/drawing/2014/main" id="{C7BCF471-C94B-4166-8E68-E65722A491E2}"/>
              </a:ext>
            </a:extLst>
          </p:cNvPr>
          <p:cNvCxnSpPr/>
          <p:nvPr/>
        </p:nvCxnSpPr>
        <p:spPr>
          <a:xfrm flipH="1">
            <a:off x="518160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8" name="diagram connector">
            <a:extLst>
              <a:ext uri="{FF2B5EF4-FFF2-40B4-BE49-F238E27FC236}">
                <a16:creationId xmlns:a16="http://schemas.microsoft.com/office/drawing/2014/main" id="{C570B9B2-7FA5-4100-AD3A-9FF892620DE4}"/>
              </a:ext>
            </a:extLst>
          </p:cNvPr>
          <p:cNvCxnSpPr/>
          <p:nvPr/>
        </p:nvCxnSpPr>
        <p:spPr>
          <a:xfrm>
            <a:off x="5391150" y="273367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9" name="diagram connector">
            <a:extLst>
              <a:ext uri="{FF2B5EF4-FFF2-40B4-BE49-F238E27FC236}">
                <a16:creationId xmlns:a16="http://schemas.microsoft.com/office/drawing/2014/main" id="{1A3FDE95-71ED-4A98-8617-04EB1F771DB0}"/>
              </a:ext>
            </a:extLst>
          </p:cNvPr>
          <p:cNvCxnSpPr/>
          <p:nvPr/>
        </p:nvCxnSpPr>
        <p:spPr>
          <a:xfrm>
            <a:off x="539115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30" name="diagram connector">
            <a:extLst>
              <a:ext uri="{FF2B5EF4-FFF2-40B4-BE49-F238E27FC236}">
                <a16:creationId xmlns:a16="http://schemas.microsoft.com/office/drawing/2014/main" id="{17452E4A-2D55-4BC6-B88B-896989D91BA7}"/>
              </a:ext>
            </a:extLst>
          </p:cNvPr>
          <p:cNvCxnSpPr/>
          <p:nvPr/>
        </p:nvCxnSpPr>
        <p:spPr>
          <a:xfrm>
            <a:off x="5495925" y="2724150"/>
            <a:ext cx="2019300" cy="0"/>
          </a:xfrm>
          <a:prstGeom prst="straightConnector1">
            <a:avLst/>
          </a:prstGeom>
          <a:ln w="17145">
            <a:solidFill>
              <a:srgbClr val="B5444F"/>
            </a:solidFill>
            <a:prstDash val="dash"/>
            <a:tailEnd type="triangle" w="sm" len="sm"/>
          </a:ln>
        </p:spPr>
      </p:cxnSp>
      <p:sp>
        <p:nvSpPr>
          <p:cNvPr id="131" name="8 spatial neighbors + same-position time edge&#10;2×2 pool ">
            <a:extLst>
              <a:ext uri="{FF2B5EF4-FFF2-40B4-BE49-F238E27FC236}">
                <a16:creationId xmlns:a16="http://schemas.microsoft.com/office/drawing/2014/main" id="{C947369A-C154-4929-873D-06390C5A74F5}"/>
              </a:ext>
            </a:extLst>
          </p:cNvPr>
          <p:cNvSpPr>
            <a:spLocks noGrp="1"/>
          </p:cNvSpPr>
          <p:nvPr/>
        </p:nvSpPr>
        <p:spPr>
          <a:xfrm>
            <a:off x="4648200" y="3629025"/>
            <a:ext cx="3886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8 spatial neighbors + same-position time edge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2×2 pool per view; no cross-camera edges</a:t>
            </a:r>
          </a:p>
        </p:txBody>
      </p:sp>
      <p:sp>
        <p:nvSpPr>
          <p:cNvPr id="132" name="dᵢⱼ = mean (uᵢ − uⱼ)²    p(j|i) = softmax(−dᵢⱼ / τ)">
            <a:extLst>
              <a:ext uri="{FF2B5EF4-FFF2-40B4-BE49-F238E27FC236}">
                <a16:creationId xmlns:a16="http://schemas.microsoft.com/office/drawing/2014/main" id="{200295F8-1C56-4AEA-892D-4BB7A74825C0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dᵢⱼ = mean (uᵢ − uⱼ)²    p(j|i) = softmax(−dᵢⱼ / τ)</a:t>
            </a:r>
          </a:p>
        </p:txBody>
      </p:sp>
      <p:sp>
        <p:nvSpPr>
          <p:cNvPr id="133" name="Match teacher → student neighbor distributions with KL;">
            <a:extLst>
              <a:ext uri="{FF2B5EF4-FFF2-40B4-BE49-F238E27FC236}">
                <a16:creationId xmlns:a16="http://schemas.microsoft.com/office/drawing/2014/main" id="{6CCD2EE2-D94F-428D-8B78-17C55F5B492F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Match teacher → student neighbor distributions with KL; frozen teacher statistics and temperature.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The combined KL objective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3">
            <a:extLst>
              <a:ext uri="{FF2B5EF4-FFF2-40B4-BE49-F238E27FC236}">
                <a16:creationId xmlns:a16="http://schemas.microsoft.com/office/drawing/2014/main" id="{AC833E53-C3E9-4B42-9168-EED21F0EB3B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 = α_a [ L_bin,a + β_a L_temporal,a ]">
            <a:extLst>
              <a:ext uri="{FF2B5EF4-FFF2-40B4-BE49-F238E27FC236}">
                <a16:creationId xmlns:a16="http://schemas.microsoft.com/office/drawing/2014/main" id="{28671CD8-F73C-42A0-8940-71195EE2783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 = α_a [ L_bin,a + β_a L_temporal,a ]</a:t>
            </a:r>
          </a:p>
        </p:txBody>
      </p:sp>
      <p:sp>
        <p:nvSpPr>
          <p:cNvPr id="6" name="     + λ α_z [ L_bin,z + β_z L_spatiotemporal,z ]">
            <a:extLst>
              <a:ext uri="{FF2B5EF4-FFF2-40B4-BE49-F238E27FC236}">
                <a16:creationId xmlns:a16="http://schemas.microsoft.com/office/drawing/2014/main" id="{9A9F28DE-5313-4C6A-9B6C-5E0D29156A59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     + λ α_z [ L_bin,z + β_z L_spatiotemporal,z ]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2138694-B2C3-4F50-B9E1-78B0778AFD59}"/>
              </a:ext>
            </a:extLst>
          </p:cNvPr>
          <p:cNvGraphicFramePr/>
          <p:nvPr/>
        </p:nvGraphicFramePr>
        <p:xfrm>
          <a:off x="609600" y="2266950"/>
          <a:ext cx="7924800" cy="17621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 / calibration rule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α_a, α_z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Initial C80 MSE / soft-bin KL; NMSE / soft-bin KL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λ = ρc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Original action–latent balance; ρ=1.5, λ≈0.04245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τ_a, τ_z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Median positive C80 teacher neighbor distance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β_a, β_z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0.25 × soft-bin KL / relation KL under fixed teacher noise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nly student D and clipping ratios are updated.&#10;All sta">
            <a:extLst>
              <a:ext uri="{FF2B5EF4-FFF2-40B4-BE49-F238E27FC236}">
                <a16:creationId xmlns:a16="http://schemas.microsoft.com/office/drawing/2014/main" id="{F636B259-D916-4F1A-BB13-FA6F14FE3602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Only student D and clipping ratios are updated.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All statistics and weights are frozen before training; teacher is detached.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KL refinement: current evidence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4">
            <a:extLst>
              <a:ext uri="{FF2B5EF4-FFF2-40B4-BE49-F238E27FC236}">
                <ns2:creationId id="{CFEC2950-EA3F-4C2A-B4BC-003C01097588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ame held-out 40 cases × 2 seeds · fixed final80 checkp">
            <a:extLst>
              <a:ext uri="{FF2B5EF4-FFF2-40B4-BE49-F238E27FC236}">
                <ns2:creationId id="{0821A2BB-E283-4417-9DF1-63F812B313C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Same held-out 40 cases × 2 seeds · fixed final80 checkpoints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F9A53C2F-7038-4A81-9837-9CF9D2CB05C0}"/>
              </a:ext>
            </a:extLst>
          </p:cNvPr>
          <p:cNvGraphicFramePr/>
          <p:nvPr/>
        </p:nvGraphicFramePr>
        <p:xfrm>
          <a:off x="609600" y="1362075"/>
          <a:ext cx="7924800" cy="17856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ns2:colId val="20000"/>
                    </a:ext>
                  </a:extLst>
                </a:gridCol>
                <a:gridCol w="1285875">
                  <a:extLst>
                    <a:ext uri="{9D8B030D-6E8A-4147-A177-3AD203B41FA5}">
                      <ns2:colId val="20001"/>
                    </a:ext>
                  </a:extLst>
                </a:gridCol>
                <a:gridCol w="1285875">
                  <a:extLst>
                    <a:ext uri="{9D8B030D-6E8A-4147-A177-3AD203B41FA5}">
                      <ns2:colId val="20002"/>
                    </a:ext>
                  </a:extLst>
                </a:gridCol>
                <a:gridCol w="1285875">
                  <a:extLst>
                    <a:ext uri="{9D8B030D-6E8A-4147-A177-3AD203B41FA5}">
                      <ns2:colId val="20003"/>
                    </a:ext>
                  </a:extLst>
                </a:gridCol>
                <a:gridCol w="1438275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Refinement loss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relation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MSE + NMSE (historical)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Soft-bin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0.032330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0.053033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0.040418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0.006397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Soft-bin + relational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0.031438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0.054296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0.034485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0.006147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7" name="Adding relations: temporal KL −14.68%, latent relation ">
            <a:extLst>
              <a:ext uri="{FF2B5EF4-FFF2-40B4-BE49-F238E27FC236}">
                <ns2:creationId id="{78A2CF9D-8CE6-44F8-B3B0-553F7C35E23D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7924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Adding relations: temporal KL −14.68%, latent relation KL −3.91%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Motor RMSE −2.76%, while latent NMSE rises 2.38% vs soft-bin</a:t>
            </a:r>
          </a:p>
        </p:txBody>
      </p:sp>
      <p:sp>
        <p:nvSpPr>
          <p:cNvPr id="8" name="Paired LIBERO+ evaluation is in progress; final success">
            <a:extLst>
              <a:ext uri="{FF2B5EF4-FFF2-40B4-BE49-F238E27FC236}">
                <ns2:creationId id="{BB949A31-2612-493F-A278-2B1C7EA5FFA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7924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Paired LIBERO+ evaluation is in progress; final success rates are pending.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5">
            <a:extLst>
              <a:ext uri="{FF2B5EF4-FFF2-40B4-BE49-F238E27FC236}">
                <ns2:creationId id="{108EA697-04C7-4350-B015-F56168B176B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01">
            <a:extLst>
              <a:ext uri="{FF2B5EF4-FFF2-40B4-BE49-F238E27FC236}">
                <ns2:creationId id="{B7D68348-4934-48CE-B2AF-2048ABC5B63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dentify future-latent fidelity as a key quantization t">
            <a:extLst>
              <a:ext uri="{FF2B5EF4-FFF2-40B4-BE49-F238E27FC236}">
                <ns2:creationId id="{8CF1897E-CC79-4F24-9B9B-1FCCD1C0DA33}"/>
              </a:ext>
            </a:extLst>
          </p:cNvPr>
          <p:cNvSpPr>
            <a:spLocks noGrp="1"/>
          </p:cNvSpPr>
          <p:nvPr/>
        </p:nvSpPr>
        <p:spPr>
          <a:xfrm>
            <a:off x="1219200" y="876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Identify future-latent fidelity as a key quantization target</a:t>
            </a:r>
          </a:p>
        </p:txBody>
      </p:sp>
      <p:sp>
        <p:nvSpPr>
          <p:cNvPr id="7" name="Evidence: fixed-reader interventions link latent preser">
            <a:extLst>
              <a:ext uri="{FF2B5EF4-FFF2-40B4-BE49-F238E27FC236}">
                <ns2:creationId id="{6D1A471D-42D7-49C0-BB73-DCBA9A1A1E9F}"/>
              </a:ext>
            </a:extLst>
          </p:cNvPr>
          <p:cNvSpPr>
            <a:spLocks noGrp="1"/>
          </p:cNvSpPr>
          <p:nvPr/>
        </p:nvSpPr>
        <p:spPr>
          <a:xfrm>
            <a:off x="1219200" y="1228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Evidence: fixed-reader interventions link latent preservation to mean action fidelity.</a:t>
            </a:r>
          </a:p>
        </p:txBody>
      </p:sp>
      <p:sp>
        <p:nvSpPr>
          <p:cNvPr id="8" name="02">
            <a:extLst>
              <a:ext uri="{FF2B5EF4-FFF2-40B4-BE49-F238E27FC236}">
                <ns2:creationId id="{9C4A07F1-9A5B-43D0-9759-BD313EC41EE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evelop latent + action relational distillation for WAM">
            <a:extLst>
              <a:ext uri="{FF2B5EF4-FFF2-40B4-BE49-F238E27FC236}">
                <ns2:creationId id="{3AFFE3DE-44BD-400D-9D57-33A31DD5902E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latent + action relational </a:t>
            </a:r>
            <a:r>
              <a:rPr lang="en-US"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KL</a:t>
            </a:r>
            <a:r>
              <a:rPr lang="en-US" dirty="0"/>
              <a:t> </a:t>
            </a: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distillation for WAMs</a:t>
            </a:r>
          </a:p>
        </p:txBody>
      </p:sp>
      <p:sp>
        <p:nvSpPr>
          <p:cNvPr id="10" name="Aim: preserve value and structure, and better anticipat">
            <a:extLst>
              <a:ext uri="{FF2B5EF4-FFF2-40B4-BE49-F238E27FC236}">
                <ns2:creationId id="{EA5A2CFB-6725-4FF8-A0EA-49A026D8048C}"/>
              </a:ext>
            </a:extLst>
          </p:cNvPr>
          <p:cNvSpPr>
            <a:spLocks noGrp="1"/>
          </p:cNvSpPr>
          <p:nvPr/>
        </p:nvSpPr>
        <p:spPr>
          <a:xfrm>
            <a:off x="1219200" y="21431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Aim: preserve value and structure, and better anticipate rollout error.</a:t>
            </a:r>
          </a:p>
        </p:txBody>
      </p:sp>
      <p:sp>
        <p:nvSpPr>
          <p:cNvPr id="11" name="03">
            <a:extLst>
              <a:ext uri="{FF2B5EF4-FFF2-40B4-BE49-F238E27FC236}">
                <ns2:creationId id="{4E883789-CFA6-428B-A362-71A78019108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Build a VQ framework with competitive performance at si">
            <a:extLst>
              <a:ext uri="{FF2B5EF4-FFF2-40B4-BE49-F238E27FC236}">
                <ns2:creationId id="{88CB98DB-9DE5-4235-A5CC-05B8D4C203D9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Build a VQ framework with competitive performance at similar bpw</a:t>
            </a:r>
          </a:p>
        </p:txBody>
      </p:sp>
      <p:sp>
        <p:nvSpPr>
          <p:cNvPr id="13" name="Demonstrated on Fast-WAM and Cosmos Policy; “first” req">
            <a:extLst>
              <a:ext uri="{FF2B5EF4-FFF2-40B4-BE49-F238E27FC236}">
                <ns2:creationId id="{C45C1403-C7AB-434E-911F-C7D4CA3F5BE9}"/>
              </a:ext>
            </a:extLst>
          </p:cNvPr>
          <p:cNvSpPr>
            <a:spLocks noGrp="1"/>
          </p:cNvSpPr>
          <p:nvPr/>
        </p:nvSpPr>
        <p:spPr>
          <a:xfrm>
            <a:off x="1219200" y="30575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Demonstrated on Fast-WAM and Cosmos Policy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expand to </a:t>
            </a:r>
            <a:r>
              <a:rPr lang="en-US" altLang="zh-CN" dirty="0" err="1"/>
              <a:t>Lingbot</a:t>
            </a:r>
            <a:r>
              <a:rPr lang="en-US" altLang="zh-CN" dirty="0"/>
              <a:t> VA</a:t>
            </a:r>
            <a:endParaRPr sz="1500" b="0" dirty="0">
              <a:solidFill>
                <a:srgbClr val="6471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04">
            <a:extLst>
              <a:ext uri="{FF2B5EF4-FFF2-40B4-BE49-F238E27FC236}">
                <ns2:creationId id="{8C85AD22-7EDA-40D0-B472-0C412634856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Deliver native kernel acceleration for the VQ framework">
            <a:extLst>
              <a:ext uri="{FF2B5EF4-FFF2-40B4-BE49-F238E27FC236}">
                <ns2:creationId id="{8EC93EB3-D5B4-4A5B-8CC2-FD7799875B5C}"/>
              </a:ext>
            </a:extLst>
          </p:cNvPr>
          <p:cNvSpPr>
            <a:spLocks noGrp="1"/>
          </p:cNvSpPr>
          <p:nvPr/>
        </p:nvSpPr>
        <p:spPr>
          <a:xfrm>
            <a:off x="1219200" y="36195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Deliver native kernel acceleration for the VQ framework</a:t>
            </a:r>
          </a:p>
        </p:txBody>
      </p:sp>
      <p:sp>
        <p:nvSpPr>
          <p:cNvPr id="16" name="Planned contribution · not implemented yet; no native s">
            <a:extLst>
              <a:ext uri="{FF2B5EF4-FFF2-40B4-BE49-F238E27FC236}">
                <ns2:creationId id="{27B3DB6B-892C-40B4-A6EB-38A68FB6B20A}"/>
              </a:ext>
            </a:extLst>
          </p:cNvPr>
          <p:cNvSpPr>
            <a:spLocks noGrp="1"/>
          </p:cNvSpPr>
          <p:nvPr/>
        </p:nvSpPr>
        <p:spPr>
          <a:xfrm>
            <a:off x="1219200" y="39719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not implemented yet; 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6">
            <a:extLst>
              <a:ext uri="{FF2B5EF4-FFF2-40B4-BE49-F238E27FC236}">
                <ns2:creationId id="{CEF0AC16-EF2A-415B-A3E5-8F6732FA1B7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01">
            <a:extLst>
              <a:ext uri="{FF2B5EF4-FFF2-40B4-BE49-F238E27FC236}">
                <ns2:creationId id="{305A9A48-284B-4983-9357-09DB5B76AC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fine KL against closed-loop outcomes">
            <a:extLst>
              <a:ext uri="{FF2B5EF4-FFF2-40B4-BE49-F238E27FC236}">
                <ns2:creationId id="{AEAF0434-A82E-4960-B4C0-5509583ED783}"/>
              </a:ext>
            </a:extLst>
          </p:cNvPr>
          <p:cNvSpPr>
            <a:spLocks noGrp="1"/>
          </p:cNvSpPr>
          <p:nvPr/>
        </p:nvSpPr>
        <p:spPr>
          <a:xfrm>
            <a:off x="1219200" y="81915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Refine KL against closed-loop outcomes</a:t>
            </a:r>
          </a:p>
        </p:txBody>
      </p:sp>
      <p:sp>
        <p:nvSpPr>
          <p:cNvPr id="7" name="Finish the paired run; inspect failure traces and impro">
            <a:extLst>
              <a:ext uri="{FF2B5EF4-FFF2-40B4-BE49-F238E27FC236}">
                <ns2:creationId id="{8DD053D8-9C33-4327-B94A-C845097B47EE}"/>
              </a:ext>
            </a:extLst>
          </p:cNvPr>
          <p:cNvSpPr>
            <a:spLocks noGrp="1"/>
          </p:cNvSpPr>
          <p:nvPr/>
        </p:nvSpPr>
        <p:spPr>
          <a:xfrm>
            <a:off x="1219200" y="117157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inspect failure traces and improve loss balance.</a:t>
            </a:r>
          </a:p>
        </p:txBody>
      </p:sp>
      <p:sp>
        <p:nvSpPr>
          <p:cNvPr id="8" name="02">
            <a:extLst>
              <a:ext uri="{FF2B5EF4-FFF2-40B4-BE49-F238E27FC236}">
                <ns2:creationId id="{593C0B44-80C2-45DC-A90A-BE905D1DADFC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n controlled ablations">
            <a:extLst>
              <a:ext uri="{FF2B5EF4-FFF2-40B4-BE49-F238E27FC236}">
                <ns2:creationId id="{BE4F7C39-5091-47CC-BF67-E7222212992B}"/>
              </a:ext>
            </a:extLst>
          </p:cNvPr>
          <p:cNvSpPr>
            <a:spLocks noGrp="1"/>
          </p:cNvSpPr>
          <p:nvPr/>
        </p:nvSpPr>
        <p:spPr>
          <a:xfrm>
            <a:off x="1219200" y="160972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Run controlled ablations</a:t>
            </a:r>
          </a:p>
        </p:txBody>
      </p:sp>
      <p:sp>
        <p:nvSpPr>
          <p:cNvPr id="10" name="Soft-bin / temporal / spatial terms; action–latent bala">
            <a:extLst>
              <a:ext uri="{FF2B5EF4-FFF2-40B4-BE49-F238E27FC236}">
                <ns2:creationId id="{17698A78-DC30-40E2-8305-7E85CB95C311}"/>
              </a:ext>
            </a:extLst>
          </p:cNvPr>
          <p:cNvSpPr>
            <a:spLocks noGrp="1"/>
          </p:cNvSpPr>
          <p:nvPr/>
        </p:nvSpPr>
        <p:spPr>
          <a:xfrm>
            <a:off x="1219200" y="196215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Soft-bin / temporal / spatial terms; action–latent balance; 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per channel/direct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clipping.</a:t>
            </a:r>
          </a:p>
        </p:txBody>
      </p:sp>
      <p:sp>
        <p:nvSpPr>
          <p:cNvPr id="11" name="03">
            <a:extLst>
              <a:ext uri="{FF2B5EF4-FFF2-40B4-BE49-F238E27FC236}">
                <ns2:creationId id="{F6A145ED-F72E-4811-8B19-7B384A39191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and models and benchmarks">
            <a:extLst>
              <a:ext uri="{FF2B5EF4-FFF2-40B4-BE49-F238E27FC236}">
                <ns2:creationId id="{A6D15AE7-E171-4E42-929E-F7A01F3B78E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Expand models and benchmarks</a:t>
            </a:r>
          </a:p>
        </p:txBody>
      </p:sp>
      <p:sp>
        <p:nvSpPr>
          <p:cNvPr id="13" name="Cosmos Policy on LIBERO / LIBERO+; LingBot-VA2 on RoboT">
            <a:extLst>
              <a:ext uri="{FF2B5EF4-FFF2-40B4-BE49-F238E27FC236}">
                <ns2:creationId id="{9CFD0449-E907-4C35-A204-FCEAADDAE1DA}"/>
              </a:ext>
            </a:extLst>
          </p:cNvPr>
          <p:cNvSpPr>
            <a:spLocks noGrp="1"/>
          </p:cNvSpPr>
          <p:nvPr/>
        </p:nvSpPr>
        <p:spPr>
          <a:xfrm>
            <a:off x="1219200" y="2752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FastWAM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/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Cosmos Policy on LIBERO / LIBERO+; LingBot-VA2 on </a:t>
            </a:r>
            <a:r>
              <a:rPr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RoboTwin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2.0.</a:t>
            </a:r>
          </a:p>
        </p:txBody>
      </p:sp>
      <p:sp>
        <p:nvSpPr>
          <p:cNvPr id="14" name="04">
            <a:extLst>
              <a:ext uri="{FF2B5EF4-FFF2-40B4-BE49-F238E27FC236}">
                <ns2:creationId id="{9D4437E9-FB78-4690-8601-DB7B0E1C793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alidate on a real robot and implement native accelerat">
            <a:extLst>
              <a:ext uri="{FF2B5EF4-FFF2-40B4-BE49-F238E27FC236}">
                <ns2:creationId id="{C6F0A0FD-D623-48A0-AAAE-EB969088F305}"/>
              </a:ext>
            </a:extLst>
          </p:cNvPr>
          <p:cNvSpPr>
            <a:spLocks noGrp="1"/>
          </p:cNvSpPr>
          <p:nvPr/>
        </p:nvSpPr>
        <p:spPr>
          <a:xfrm>
            <a:off x="1219200" y="319087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Validate on a real robot and implement native acceleration</a:t>
            </a:r>
          </a:p>
        </p:txBody>
      </p:sp>
      <p:sp>
        <p:nvSpPr>
          <p:cNvPr id="16" name="Measure task success and end-to-end latency; establish ">
            <a:extLst>
              <a:ext uri="{FF2B5EF4-FFF2-40B4-BE49-F238E27FC236}">
                <ns2:creationId id="{EBF3E6B8-2144-4665-9A32-83C70BBE2CC7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Measure task success and end-to-end latency; establish the actual deployment gain.</a:t>
            </a:r>
          </a:p>
        </p:txBody>
      </p:sp>
      <p:sp>
        <p:nvSpPr>
          <p:cNvPr id="17" name="Hope to catch CVPR :)">
            <a:extLst>
              <a:ext uri="{FF2B5EF4-FFF2-40B4-BE49-F238E27FC236}">
                <ns2:creationId id="{2CF3078A-33AE-451A-984C-806ADE990C82}"/>
              </a:ext>
            </a:extLst>
          </p:cNvPr>
          <p:cNvSpPr>
            <a:spLocks noGrp="1"/>
          </p:cNvSpPr>
          <p:nvPr/>
        </p:nvSpPr>
        <p:spPr>
          <a:xfrm>
            <a:off x="1219200" y="4333875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Hope to catch CVPR :)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0" y="2219325"/>
            <a:ext cx="5905500" cy="952500"/>
          </a:xfrm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Thankuuu</a:t>
            </a:r>
            <a:endParaRPr sz="3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protocol and bit-budget scope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8">
            <a:extLst>
              <a:ext uri="{FF2B5EF4-FFF2-40B4-BE49-F238E27FC236}">
                <ns2:creationId id="{E553F4E8-1507-45A2-91E3-975BB0F26FC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656A2AC1-8433-49C8-818C-C40D39F5ECE0}"/>
              </a:ext>
            </a:extLst>
          </p:cNvPr>
          <p:cNvGraphicFramePr/>
          <p:nvPr/>
        </p:nvGraphicFramePr>
        <p:xfrm>
          <a:off x="609600" y="981075"/>
          <a:ext cx="7924800" cy="274510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ns2:colId val="20000"/>
                    </a:ext>
                  </a:extLst>
                </a:gridCol>
                <a:gridCol w="3143250">
                  <a:extLst>
                    <a:ext uri="{9D8B030D-6E8A-4147-A177-3AD203B41FA5}">
                      <ns2:colId val="20001"/>
                    </a:ext>
                  </a:extLst>
                </a:gridCol>
                <a:gridCol w="29718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Closed-loop cohort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 × 7 × 10 = 280 variants / arm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280-variant protocol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Sampler / chunk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steps; execute 10/32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 denoising steps; execute 16/16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614 Linear layers; 6.016B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280 Linear layers; 1.762B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encoding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d4, 2 × K256 BF16 books, B32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encoding family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</a:tbl>
          </a:graphicData>
        </a:graphic>
      </p:graphicFrame>
      <p:sp>
        <p:nvSpPr>
          <p:cNvPr id="6" name="Equivalent bpw = encoded payload bytes × 8 / target wei">
            <a:extLst>
              <a:ext uri="{FF2B5EF4-FFF2-40B4-BE49-F238E27FC236}">
                <ns2:creationId id="{7F5AD04A-3985-40A7-BDCE-DCC19722861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Equivalent bpw = encoded payload bytes × 8 / target weight count</a:t>
            </a:r>
          </a:p>
        </p:txBody>
      </p:sp>
      <p:sp>
        <p:nvSpPr>
          <p:cNvPr id="7" name="Includes quantizer metadata where measured; excludes ac">
            <a:extLst>
              <a:ext uri="{FF2B5EF4-FFF2-40B4-BE49-F238E27FC236}">
                <ns2:creationId id="{7A315053-C4DB-414E-A876-4BFE2F0F7746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Includes quantizer metadata where measured; excludes activations, KV and non-target model weights.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Encoded bpw is not runtime VRAM. Fast-WAM rotation baselines use a different native S4 path.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C80 activation refinements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9">
            <a:extLst>
              <a:ext uri="{FF2B5EF4-FFF2-40B4-BE49-F238E27FC236}">
                <ns2:creationId id="{9E32FC7B-5329-4C38-A479-C5A9E8CFA84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2BAB3D8E-ED38-4824-8CC3-8F3BDA0833BA}"/>
              </a:ext>
            </a:extLst>
          </p:cNvPr>
          <p:cNvGraphicFramePr/>
          <p:nvPr/>
        </p:nvGraphicFramePr>
        <p:xfrm>
          <a:off x="609600" y="1057275"/>
          <a:ext cx="7924800" cy="2938056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ns2:colId val="20000"/>
                    </a:ext>
                  </a:extLst>
                </a:gridCol>
                <a:gridCol w="1476375">
                  <a:extLst>
                    <a:ext uri="{9D8B030D-6E8A-4147-A177-3AD203B41FA5}">
                      <ns2:colId val="20001"/>
                    </a:ext>
                  </a:extLst>
                </a:gridCol>
                <a:gridCol w="1476375">
                  <a:extLst>
                    <a:ext uri="{9D8B030D-6E8A-4147-A177-3AD203B41FA5}">
                      <ns2:colId val="20002"/>
                    </a:ext>
                  </a:extLst>
                </a:gridCol>
                <a:gridCol w="1971675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Closed-loop successes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ρ1.5 baseline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0.044297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0.060877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scaling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0.043987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0.054152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per-channel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0.032668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0.048842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</a:tbl>
          </a:graphicData>
        </a:graphic>
      </p:graphicFrame>
      <p:sp>
        <p:nvSpPr>
          <p:cNvPr id="6" name="Per-channel scaling substantially improves motor fideli">
            <a:extLst>
              <a:ext uri="{FF2B5EF4-FFF2-40B4-BE49-F238E27FC236}">
                <ns2:creationId id="{949242AC-9C0F-45DA-A7B8-503F8BD1F1FF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7924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Per-channel scaling substantially improves motor fidelity.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Joint optimization and latent fidelity trade-offs still need closed-loop explanation.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execution cost and kernel work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0">
            <a:extLst>
              <a:ext uri="{FF2B5EF4-FFF2-40B4-BE49-F238E27FC236}">
                <ns2:creationId id="{D78FFEF0-8EA2-44EA-9A54-A1E7A532DEA9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51F7C194-B000-43D1-91D5-790E40445C6C}"/>
              </a:ext>
            </a:extLst>
          </p:cNvPr>
          <p:cNvGraphicFramePr/>
          <p:nvPr/>
        </p:nvGraphicFramePr>
        <p:xfrm>
          <a:off x="609600" y="1066800"/>
          <a:ext cx="7924800" cy="2209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1885950">
                  <a:extLst>
                    <a:ext uri="{9D8B030D-6E8A-4147-A177-3AD203B41FA5}">
                      <ns2:colId val="20001"/>
                    </a:ext>
                  </a:extLst>
                </a:gridCol>
                <a:gridCol w="30861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/ implementation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Warm full-query mean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C80 clip / joint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4.99 s / 4.96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 + batched H128 + fake A4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4.91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Cached BF16 compensated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Cosmos BF16 / SpinQuant /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0.594 / 1.057 / 10.042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path still uses block-wise H128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6" name="Native VQ speedup is not implemented">
            <a:extLst>
              <a:ext uri="{FF2B5EF4-FFF2-40B4-BE49-F238E27FC236}">
                <ns2:creationId id="{403AED75-D17F-42AA-8F0A-CC2F339B521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Native VQ speedup is not implemented</a:t>
            </a:r>
          </a:p>
        </p:txBody>
      </p:sp>
      <p:sp>
        <p:nvSpPr>
          <p:cNvPr id="7" name="Profile transform / decoding costs and connect batched ">
            <a:extLst>
              <a:ext uri="{FF2B5EF4-FFF2-40B4-BE49-F238E27FC236}">
                <ns2:creationId id="{FC369603-515C-4EDD-8B0A-EE6196FD0747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Profile transform / decoding costs and connect batched transforms.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the native VQ path; measure end-to-end latency and memory.</a:t>
            </a:r>
          </a:p>
        </p:txBody>
      </p:sp>
      <p:sp>
        <p:nvSpPr>
          <p:cNvPr id="8" name="Different rollout trajectories yield different query co">
            <a:extLst>
              <a:ext uri="{FF2B5EF4-FFF2-40B4-BE49-F238E27FC236}">
                <ns2:creationId id="{A12EA68A-7AA4-4409-8B89-FFB01934317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Different rollout trajectories yield different query counts; these means are not paired latency benchmarks.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method figure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1">
            <a:extLst>
              <a:ext uri="{FF2B5EF4-FFF2-40B4-BE49-F238E27FC236}">
                <ns2:creationId id="{47D8878E-FE92-4FF6-827D-FC049027EACB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pSp>
        <p:nvGrpSpPr>
          <p:cNvPr id="5" name="Reviewed editable figure, Times New Roman"/>
          <p:cNvGrpSpPr/>
          <p:nvPr/>
        </p:nvGrpSpPr>
        <p:grpSpPr>
          <a:xfrm>
            <a:off x="1254830" y="742950"/>
            <a:ext cx="6634340" cy="3733800"/>
            <a:chOff x="257175" y="0"/>
            <a:chExt cx="8629650" cy="4856759"/>
          </a:xfrm>
        </p:grpSpPr>
        <p:sp>
          <p:nvSpPr>
            <p:cNvPr id="6" name="diagram block">
              <a:extLst>
                <a:ext uri="{FF2B5EF4-FFF2-40B4-BE49-F238E27FC236}">
                  <ns2:creationId id="{2D9A215E-2E0D-4E60-987A-5AD9EE209B68}"/>
                </a:ext>
              </a:extLst>
            </p:cNvPr>
            <p:cNvSpPr>
              <a:spLocks noGrp="1"/>
            </p:cNvSpPr>
            <p:nvPr/>
          </p:nvSpPr>
          <p:spPr>
            <a:xfrm>
              <a:off x="277820" y="20645"/>
              <a:ext cx="3643859" cy="3452892"/>
            </a:xfrm>
            <a:prstGeom prst="roundRect">
              <a:avLst>
                <a:gd name="adj" fmla="val 1196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</p:sp>
        <p:sp>
          <p:nvSpPr>
            <p:cNvPr id="7" name="diagram block">
              <a:extLst>
                <a:ext uri="{FF2B5EF4-FFF2-40B4-BE49-F238E27FC236}">
                  <ns2:creationId id="{75E74C69-D192-4FAE-AB88-E9AD916DDB2A}"/>
                </a:ext>
              </a:extLst>
            </p:cNvPr>
            <p:cNvSpPr>
              <a:spLocks noGrp="1"/>
            </p:cNvSpPr>
            <p:nvPr/>
          </p:nvSpPr>
          <p:spPr>
            <a:xfrm>
              <a:off x="3962970" y="20645"/>
              <a:ext cx="2467089" cy="3452892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</p:sp>
        <p:sp>
          <p:nvSpPr>
            <p:cNvPr id="8" name="diagram block">
              <a:extLst>
                <a:ext uri="{FF2B5EF4-FFF2-40B4-BE49-F238E27FC236}">
                  <ns2:creationId id="{2826DBED-1AF3-47EE-ADA0-09F01143A425}"/>
                </a:ext>
              </a:extLst>
            </p:cNvPr>
            <p:cNvSpPr>
              <a:spLocks noGrp="1"/>
            </p:cNvSpPr>
            <p:nvPr/>
          </p:nvSpPr>
          <p:spPr>
            <a:xfrm>
              <a:off x="6466188" y="20645"/>
              <a:ext cx="2399992" cy="3452892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8774">
              <a:solidFill>
                <a:srgbClr val="061A3C"/>
              </a:solidFill>
              <a:prstDash val="solid"/>
            </a:ln>
          </p:spPr>
        </p:sp>
        <p:sp>
          <p:nvSpPr>
            <p:cNvPr id="9" name="(a) Latent + action supervision">
              <a:extLst>
                <a:ext uri="{FF2B5EF4-FFF2-40B4-BE49-F238E27FC236}">
                  <ns2:creationId id="{E5FBC74F-8B4E-487E-9934-E66569BA3FE5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72258"/>
              <a:ext cx="3499344" cy="1909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(a) Latent + action supervision</a:t>
              </a:r>
            </a:p>
          </p:txBody>
        </p:sp>
        <p:sp>
          <p:nvSpPr>
            <p:cNvPr id="10" name="(b) Microscaling additive VQ weights">
              <a:extLst>
                <a:ext uri="{FF2B5EF4-FFF2-40B4-BE49-F238E27FC236}">
                  <ns2:creationId id="{1DC0C911-C147-400D-BD6B-78D098A6681C}"/>
                </a:ext>
              </a:extLst>
            </p:cNvPr>
            <p:cNvSpPr>
              <a:spLocks noGrp="1"/>
            </p:cNvSpPr>
            <p:nvPr/>
          </p:nvSpPr>
          <p:spPr>
            <a:xfrm>
              <a:off x="4030066" y="72258"/>
              <a:ext cx="2343218" cy="1909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(b) Microscaling additive VQ weights</a:t>
              </a:r>
            </a:p>
          </p:txBody>
        </p:sp>
        <p:sp>
          <p:nvSpPr>
            <p:cNvPr id="11" name="(c) Per-channel activation scaling + clipping">
              <a:extLst>
                <a:ext uri="{FF2B5EF4-FFF2-40B4-BE49-F238E27FC236}">
                  <ns2:creationId id="{F60B85F6-FE21-483C-98D6-86A63CA447FB}"/>
                </a:ext>
              </a:extLst>
            </p:cNvPr>
            <p:cNvSpPr>
              <a:spLocks noGrp="1"/>
            </p:cNvSpPr>
            <p:nvPr/>
          </p:nvSpPr>
          <p:spPr>
            <a:xfrm>
              <a:off x="6517800" y="82580"/>
              <a:ext cx="2307089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2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(c) Per-channel activation scaling + clipping</a:t>
              </a:r>
            </a:p>
          </p:txBody>
        </p:sp>
        <p:sp>
          <p:nvSpPr>
            <p:cNvPr id="12" name="diagram block">
              <a:extLst>
                <a:ext uri="{FF2B5EF4-FFF2-40B4-BE49-F238E27FC236}">
                  <ns2:creationId id="{B32EDEE8-1D44-493C-9C61-F86E7CBED16A}"/>
                </a:ext>
              </a:extLst>
            </p:cNvPr>
            <p:cNvSpPr>
              <a:spLocks noGrp="1"/>
            </p:cNvSpPr>
            <p:nvPr/>
          </p:nvSpPr>
          <p:spPr>
            <a:xfrm>
              <a:off x="1067495" y="294193"/>
              <a:ext cx="2028381" cy="1357415"/>
            </a:xfrm>
            <a:prstGeom prst="roundRect">
              <a:avLst>
                <a:gd name="adj" fmla="val 2662"/>
              </a:avLst>
            </a:prstGeom>
            <a:gradFill>
              <a:gsLst>
                <a:gs pos="0">
                  <a:srgbClr val="D9EFFF"/>
                </a:gs>
                <a:gs pos="100000">
                  <a:srgbClr val="EEF8FF"/>
                </a:gs>
              </a:gsLst>
              <a:lin ang="5400000"/>
            </a:gradFill>
            <a:ln w="5161">
              <a:noFill/>
              <a:prstDash val="solid"/>
            </a:ln>
          </p:spPr>
        </p:sp>
        <p:sp>
          <p:nvSpPr>
            <p:cNvPr id="13" name="diagram block">
              <a:extLst>
                <a:ext uri="{FF2B5EF4-FFF2-40B4-BE49-F238E27FC236}">
                  <ns2:creationId id="{65CFC280-C207-4714-BC1B-4D7EA7394529}"/>
                </a:ext>
              </a:extLst>
            </p:cNvPr>
            <p:cNvSpPr>
              <a:spLocks noGrp="1"/>
            </p:cNvSpPr>
            <p:nvPr/>
          </p:nvSpPr>
          <p:spPr>
            <a:xfrm>
              <a:off x="1067495" y="1677414"/>
              <a:ext cx="2028381" cy="1476124"/>
            </a:xfrm>
            <a:prstGeom prst="roundRect">
              <a:avLst>
                <a:gd name="adj" fmla="val 2448"/>
              </a:avLst>
            </a:prstGeom>
            <a:gradFill>
              <a:gsLst>
                <a:gs pos="0">
                  <a:srgbClr val="FFE2DC"/>
                </a:gs>
                <a:gs pos="100000">
                  <a:srgbClr val="FFF0EA"/>
                </a:gs>
              </a:gsLst>
              <a:lin ang="5400000"/>
            </a:gradFill>
            <a:ln w="5161">
              <a:noFill/>
              <a:prstDash val="solid"/>
            </a:ln>
          </p:spPr>
        </p:sp>
        <p:cxnSp>
          <p:nvCxnSpPr>
            <p:cNvPr id="14" name="native PowerPoint connector">
              <a:extLst>
                <a:ext uri="{FF2B5EF4-FFF2-40B4-BE49-F238E27FC236}">
                  <ns2:creationId id="{A0297F7C-FE64-4560-A0C8-3F9BE04EE7E8}"/>
                </a:ext>
              </a:extLst>
            </p:cNvPr>
            <p:cNvCxnSpPr/>
            <p:nvPr/>
          </p:nvCxnSpPr>
          <p:spPr>
            <a:xfrm flipH="0" flipV="0">
              <a:off x="1129430" y="397418"/>
              <a:ext cx="113548" cy="0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cxnSp>
          <p:nvCxnSpPr>
            <p:cNvPr id="15" name="native PowerPoint connector">
              <a:extLst>
                <a:ext uri="{FF2B5EF4-FFF2-40B4-BE49-F238E27FC236}">
                  <ns2:creationId id="{A22FD6BD-A1A0-4C6D-94EE-9A88BDE02A62}"/>
                </a:ext>
              </a:extLst>
            </p:cNvPr>
            <p:cNvCxnSpPr/>
            <p:nvPr/>
          </p:nvCxnSpPr>
          <p:spPr>
            <a:xfrm flipH="0" flipV="0">
              <a:off x="1157817" y="348250"/>
              <a:ext cx="56774" cy="98335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cxnSp>
          <p:nvCxnSpPr>
            <p:cNvPr id="16" name="native PowerPoint connector">
              <a:extLst>
                <a:ext uri="{FF2B5EF4-FFF2-40B4-BE49-F238E27FC236}">
                  <ns2:creationId id="{36DEFD76-3ACC-4DAA-8C6F-2A8C89F6C945}"/>
                </a:ext>
              </a:extLst>
            </p:cNvPr>
            <p:cNvCxnSpPr/>
            <p:nvPr/>
          </p:nvCxnSpPr>
          <p:spPr>
            <a:xfrm flipH="1" flipV="0">
              <a:off x="1157817" y="348250"/>
              <a:ext cx="56774" cy="98335"/>
            </a:xfrm>
            <a:prstGeom prst="straightConnector1">
              <a:avLst/>
            </a:prstGeom>
            <a:ln w="10323">
              <a:solidFill>
                <a:srgbClr val="0785D0"/>
              </a:solidFill>
              <a:prstDash val="solid"/>
            </a:ln>
          </p:spPr>
        </p:cxnSp>
        <p:sp>
          <p:nvSpPr>
            <p:cNvPr id="17" name="BF16 teacher (frozen)">
              <a:extLst>
                <a:ext uri="{FF2B5EF4-FFF2-40B4-BE49-F238E27FC236}">
                  <ns2:creationId id="{692256AC-FECE-43E6-8DCA-8AF774CC6083}"/>
                </a:ext>
              </a:extLst>
            </p:cNvPr>
            <p:cNvSpPr>
              <a:spLocks noGrp="1"/>
            </p:cNvSpPr>
            <p:nvPr/>
          </p:nvSpPr>
          <p:spPr>
            <a:xfrm>
              <a:off x="1284269" y="340644"/>
              <a:ext cx="1729027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174"/>
            </a:bodyPr>
            <a:lstStyle>
              <a:def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teacher (frozen)</a:t>
              </a:r>
            </a:p>
          </p:txBody>
        </p:sp>
        <p:sp>
          <p:nvSpPr>
            <p:cNvPr id="18" name="native vector shape">
              <a:extLst>
                <a:ext uri="{FF2B5EF4-FFF2-40B4-BE49-F238E27FC236}">
                  <ns2:creationId id="{EEC4B504-F121-4692-BB41-926EF2384B47}"/>
                </a:ext>
              </a:extLst>
            </p:cNvPr>
            <p:cNvSpPr>
              <a:spLocks noGrp="1"/>
            </p:cNvSpPr>
            <p:nvPr/>
          </p:nvSpPr>
          <p:spPr>
            <a:xfrm>
              <a:off x="1119108" y="1703220"/>
              <a:ext cx="144516" cy="185806"/>
            </a:xfrm>
            <a:custGeom>
              <a:pathLst>
                <a:path w="266700" h="342900">
                  <a:moveTo>
                    <a:pt x="114300" y="0"/>
                  </a:moveTo>
                  <a:lnTo>
                    <a:pt x="171450" y="123825"/>
                  </a:lnTo>
                  <a:lnTo>
                    <a:pt x="247650" y="200025"/>
                  </a:lnTo>
                  <a:lnTo>
                    <a:pt x="228600" y="276225"/>
                  </a:lnTo>
                  <a:lnTo>
                    <a:pt x="180975" y="333375"/>
                  </a:lnTo>
                  <a:lnTo>
                    <a:pt x="85725" y="333375"/>
                  </a:lnTo>
                  <a:lnTo>
                    <a:pt x="19050" y="266700"/>
                  </a:lnTo>
                  <a:lnTo>
                    <a:pt x="19050" y="180975"/>
                  </a:lnTo>
                  <a:lnTo>
                    <a:pt x="66675" y="95250"/>
                  </a:lnTo>
                  <a:lnTo>
                    <a:pt x="76200" y="228600"/>
                  </a:lnTo>
                  <a:lnTo>
                    <a:pt x="123825" y="161925"/>
                  </a:lnTo>
                  <a:close/>
                </a:path>
              </a:pathLst>
            </a:custGeom>
            <a:solidFill>
              <a:srgbClr val="FF9C23"/>
            </a:solidFill>
            <a:ln w="6194">
              <a:solidFill>
                <a:srgbClr val="EF711C"/>
              </a:solidFill>
            </a:ln>
          </p:spPr>
        </p:sp>
        <p:sp>
          <p:nvSpPr>
            <p:cNvPr id="19" name="native vector shape">
              <a:extLst>
                <a:ext uri="{FF2B5EF4-FFF2-40B4-BE49-F238E27FC236}">
                  <ns2:creationId id="{EFB112C4-8173-4CCD-8670-03C98F3D01DB}"/>
                </a:ext>
              </a:extLst>
            </p:cNvPr>
            <p:cNvSpPr>
              <a:spLocks noGrp="1"/>
            </p:cNvSpPr>
            <p:nvPr/>
          </p:nvSpPr>
          <p:spPr>
            <a:xfrm>
              <a:off x="1150075" y="1759994"/>
              <a:ext cx="98064" cy="129032"/>
            </a:xfrm>
            <a:custGeom>
              <a:pathLst>
                <a:path w="180975" h="238125">
                  <a:moveTo>
                    <a:pt x="85725" y="0"/>
                  </a:moveTo>
                  <a:lnTo>
                    <a:pt x="114300" y="95250"/>
                  </a:lnTo>
                  <a:lnTo>
                    <a:pt x="171450" y="133350"/>
                  </a:lnTo>
                  <a:lnTo>
                    <a:pt x="142875" y="209550"/>
                  </a:lnTo>
                  <a:lnTo>
                    <a:pt x="76200" y="228600"/>
                  </a:lnTo>
                  <a:lnTo>
                    <a:pt x="28575" y="180975"/>
                  </a:lnTo>
                  <a:lnTo>
                    <a:pt x="38100" y="114300"/>
                  </a:lnTo>
                  <a:close/>
                </a:path>
              </a:pathLst>
            </a:custGeom>
            <a:solidFill>
              <a:srgbClr val="FFD785"/>
            </a:solidFill>
            <a:ln w="6194">
              <a:noFill/>
            </a:ln>
          </p:spPr>
        </p:sp>
        <p:sp>
          <p:nvSpPr>
            <p:cNvPr id="20" name="Quantized WAM (student)">
              <a:extLst>
                <a:ext uri="{FF2B5EF4-FFF2-40B4-BE49-F238E27FC236}">
                  <ns2:creationId id="{7581BEA5-359B-46E7-99C7-0E04443F99DE}"/>
                </a:ext>
              </a:extLst>
            </p:cNvPr>
            <p:cNvSpPr>
              <a:spLocks noGrp="1"/>
            </p:cNvSpPr>
            <p:nvPr/>
          </p:nvSpPr>
          <p:spPr>
            <a:xfrm>
              <a:off x="1284269" y="1734188"/>
              <a:ext cx="1780640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174"/>
            </a:bodyPr>
            <a:lstStyle>
              <a:def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Quantized WAM (student)</a:t>
              </a:r>
            </a:p>
          </p:txBody>
        </p:sp>
        <p:sp>
          <p:nvSpPr>
            <p:cNvPr id="21" name="614 target Linear layers">
              <a:extLst>
                <a:ext uri="{FF2B5EF4-FFF2-40B4-BE49-F238E27FC236}">
                  <ns2:creationId id="{02BB3135-62D4-4D95-A306-CA10C9ABDDA6}"/>
                </a:ext>
              </a:extLst>
            </p:cNvPr>
            <p:cNvSpPr>
              <a:spLocks noGrp="1"/>
            </p:cNvSpPr>
            <p:nvPr/>
          </p:nvSpPr>
          <p:spPr>
            <a:xfrm>
              <a:off x="2027492" y="1852897"/>
              <a:ext cx="1027094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282"/>
            </a:bodyPr>
            <a:lstStyle>
              <a:def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C11B14"/>
                  </a:solidFill>
                  <a:latin typeface="Times New Roman"/>
                  <a:ea typeface="Times New Roman"/>
                  <a:cs typeface="Times New Roman"/>
                </a:rPr>
                <a:t>614 target Linear layers</a:t>
              </a:r>
            </a:p>
          </p:txBody>
        </p:sp>
        <p:cxnSp>
          <p:nvCxnSpPr>
            <p:cNvPr id="22" name="native PowerPoint connector">
              <a:extLst>
                <a:ext uri="{FF2B5EF4-FFF2-40B4-BE49-F238E27FC236}">
                  <ns2:creationId id="{CAFB4F3E-F0AB-419B-A805-1D0E13483CE9}"/>
                </a:ext>
              </a:extLst>
            </p:cNvPr>
            <p:cNvCxnSpPr/>
            <p:nvPr/>
          </p:nvCxnSpPr>
          <p:spPr>
            <a:xfrm flipH="0" flipV="0">
              <a:off x="2027492" y="1971607"/>
              <a:ext cx="1027094" cy="0"/>
            </a:xfrm>
            <a:prstGeom prst="straightConnector1">
              <a:avLst/>
            </a:prstGeom>
            <a:ln w="6710">
              <a:solidFill>
                <a:srgbClr val="C11B14"/>
              </a:solidFill>
              <a:prstDash val="solid"/>
            </a:ln>
          </p:spPr>
        </p:cxnSp>
        <p:sp>
          <p:nvSpPr>
            <p:cNvPr id="23" name="native vector shape">
              <a:extLst>
                <a:ext uri="{FF2B5EF4-FFF2-40B4-BE49-F238E27FC236}">
                  <ns2:creationId id="{D43170A2-30D4-416F-B949-A1B7B277084A}"/>
                </a:ext>
              </a:extLst>
            </p:cNvPr>
            <p:cNvSpPr>
              <a:spLocks noGrp="1"/>
            </p:cNvSpPr>
            <p:nvPr/>
          </p:nvSpPr>
          <p:spPr>
            <a:xfrm>
              <a:off x="1315236" y="531611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6710">
              <a:solidFill>
                <a:srgbClr val="0B579E"/>
              </a:solidFill>
            </a:ln>
          </p:spPr>
        </p:sp>
        <p:sp>
          <p:nvSpPr>
            <p:cNvPr id="24" name="Video DiT&#10;(BF16)">
              <a:extLst>
                <a:ext uri="{FF2B5EF4-FFF2-40B4-BE49-F238E27FC236}">
                  <ns2:creationId id="{2EB8AF2A-CFBC-46C3-85EC-8746EECEC586}"/>
                </a:ext>
              </a:extLst>
            </p:cNvPr>
            <p:cNvSpPr>
              <a:spLocks noGrp="1"/>
            </p:cNvSpPr>
            <p:nvPr/>
          </p:nvSpPr>
          <p:spPr>
            <a:xfrm>
              <a:off x="1397817" y="660643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(BF16)</a:t>
              </a:r>
            </a:p>
          </p:txBody>
        </p:sp>
        <p:sp>
          <p:nvSpPr>
            <p:cNvPr id="25" name="native vector shape">
              <a:extLst>
                <a:ext uri="{FF2B5EF4-FFF2-40B4-BE49-F238E27FC236}">
                  <ns2:creationId id="{7A91AC3D-8E7B-4985-A412-B841942AAC9D}"/>
                </a:ext>
              </a:extLst>
            </p:cNvPr>
            <p:cNvSpPr>
              <a:spLocks noGrp="1"/>
            </p:cNvSpPr>
            <p:nvPr/>
          </p:nvSpPr>
          <p:spPr>
            <a:xfrm>
              <a:off x="2306201" y="547095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6710">
              <a:solidFill>
                <a:srgbClr val="0B579E"/>
              </a:solidFill>
            </a:ln>
          </p:spPr>
        </p:sp>
        <p:sp>
          <p:nvSpPr>
            <p:cNvPr id="26" name="Action DiT&#10;(BF16)">
              <a:extLst>
                <a:ext uri="{FF2B5EF4-FFF2-40B4-BE49-F238E27FC236}">
                  <ns2:creationId id="{9C8EFD26-34FE-462B-81D3-0865B43DB9D8}"/>
                </a:ext>
              </a:extLst>
            </p:cNvPr>
            <p:cNvSpPr>
              <a:spLocks noGrp="1"/>
            </p:cNvSpPr>
            <p:nvPr/>
          </p:nvSpPr>
          <p:spPr>
            <a:xfrm>
              <a:off x="2388781" y="676127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(BF16)</a:t>
              </a:r>
            </a:p>
          </p:txBody>
        </p:sp>
        <p:sp>
          <p:nvSpPr>
            <p:cNvPr id="27" name="native vector shape">
              <a:extLst>
                <a:ext uri="{FF2B5EF4-FFF2-40B4-BE49-F238E27FC236}">
                  <ns2:creationId id="{521D52D1-CBFF-4301-B8EC-BD5E48626AAA}"/>
                </a:ext>
              </a:extLst>
            </p:cNvPr>
            <p:cNvSpPr>
              <a:spLocks noGrp="1"/>
            </p:cNvSpPr>
            <p:nvPr/>
          </p:nvSpPr>
          <p:spPr>
            <a:xfrm>
              <a:off x="1315236" y="1950962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6710">
              <a:solidFill>
                <a:srgbClr val="A92024"/>
              </a:solidFill>
            </a:ln>
          </p:spPr>
        </p:sp>
        <p:sp>
          <p:nvSpPr>
            <p:cNvPr id="28" name="Video DiT&#10;(quantized)">
              <a:extLst>
                <a:ext uri="{FF2B5EF4-FFF2-40B4-BE49-F238E27FC236}">
                  <ns2:creationId id="{D4B2F843-0FA1-47CB-B2DE-D3582D3E2F4D}"/>
                </a:ext>
              </a:extLst>
            </p:cNvPr>
            <p:cNvSpPr>
              <a:spLocks noGrp="1"/>
            </p:cNvSpPr>
            <p:nvPr/>
          </p:nvSpPr>
          <p:spPr>
            <a:xfrm>
              <a:off x="1397817" y="2079993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(quantized)</a:t>
              </a:r>
            </a:p>
          </p:txBody>
        </p:sp>
        <p:sp>
          <p:nvSpPr>
            <p:cNvPr id="29" name="native vector shape">
              <a:extLst>
                <a:ext uri="{FF2B5EF4-FFF2-40B4-BE49-F238E27FC236}">
                  <ns2:creationId id="{C6480AD4-A8F6-4DFE-BFCB-0CA82D83B501}"/>
                </a:ext>
              </a:extLst>
            </p:cNvPr>
            <p:cNvSpPr>
              <a:spLocks noGrp="1"/>
            </p:cNvSpPr>
            <p:nvPr/>
          </p:nvSpPr>
          <p:spPr>
            <a:xfrm>
              <a:off x="2306201" y="1971607"/>
              <a:ext cx="712256" cy="485160"/>
            </a:xfrm>
            <a:custGeom>
              <a:pathLst>
                <a:path w="1314450" h="895350">
                  <a:moveTo>
                    <a:pt x="0" y="0"/>
                  </a:moveTo>
                  <a:lnTo>
                    <a:pt x="1314450" y="247650"/>
                  </a:lnTo>
                  <a:lnTo>
                    <a:pt x="1314450" y="647700"/>
                  </a:lnTo>
                  <a:lnTo>
                    <a:pt x="0" y="895350"/>
                  </a:lnTo>
                  <a:close/>
                </a:path>
              </a:pathLst>
            </a:cu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6710">
              <a:solidFill>
                <a:srgbClr val="A92024"/>
              </a:solidFill>
            </a:ln>
          </p:spPr>
        </p:sp>
        <p:sp>
          <p:nvSpPr>
            <p:cNvPr id="30" name="Action DiT&#10;(quantized)">
              <a:extLst>
                <a:ext uri="{FF2B5EF4-FFF2-40B4-BE49-F238E27FC236}">
                  <ns2:creationId id="{21A451C2-A784-470D-B502-82E2433A334D}"/>
                </a:ext>
              </a:extLst>
            </p:cNvPr>
            <p:cNvSpPr>
              <a:spLocks noGrp="1"/>
            </p:cNvSpPr>
            <p:nvPr/>
          </p:nvSpPr>
          <p:spPr>
            <a:xfrm>
              <a:off x="2388781" y="2100638"/>
              <a:ext cx="562579" cy="27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DiT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(quantized)</a:t>
              </a:r>
            </a:p>
          </p:txBody>
        </p:sp>
        <p:cxnSp>
          <p:nvCxnSpPr>
            <p:cNvPr id="31" name="native PowerPoint connector">
              <a:extLst>
                <a:ext uri="{FF2B5EF4-FFF2-40B4-BE49-F238E27FC236}">
                  <ns2:creationId id="{F101F8C9-951F-420D-A12E-E14A0CEE2545}"/>
                </a:ext>
              </a:extLst>
            </p:cNvPr>
            <p:cNvCxnSpPr/>
            <p:nvPr/>
          </p:nvCxnSpPr>
          <p:spPr>
            <a:xfrm flipH="0" flipV="0">
              <a:off x="2027492" y="769030"/>
              <a:ext cx="278709" cy="0"/>
            </a:xfrm>
            <a:prstGeom prst="straightConnector1">
              <a:avLst/>
            </a:prstGeom>
            <a:ln w="9806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2" name="native PowerPoint connector">
              <a:extLst>
                <a:ext uri="{FF2B5EF4-FFF2-40B4-BE49-F238E27FC236}">
                  <ns2:creationId id="{7936E66F-47BF-49DB-8B6E-119296619C7D}"/>
                </a:ext>
              </a:extLst>
            </p:cNvPr>
            <p:cNvCxnSpPr/>
            <p:nvPr/>
          </p:nvCxnSpPr>
          <p:spPr>
            <a:xfrm flipH="0" flipV="0">
              <a:off x="2027492" y="2193541"/>
              <a:ext cx="278709" cy="0"/>
            </a:xfrm>
            <a:prstGeom prst="straightConnector1">
              <a:avLst/>
            </a:prstGeom>
            <a:ln w="980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3" name="diagram block">
              <a:extLst>
                <a:ext uri="{FF2B5EF4-FFF2-40B4-BE49-F238E27FC236}">
                  <ns2:creationId id="{A87785D2-70CA-4BE7-9974-04E4C1F965AF}"/>
                </a:ext>
              </a:extLst>
            </p:cNvPr>
            <p:cNvSpPr>
              <a:spLocks noGrp="1"/>
            </p:cNvSpPr>
            <p:nvPr/>
          </p:nvSpPr>
          <p:spPr>
            <a:xfrm>
              <a:off x="319110" y="887739"/>
              <a:ext cx="660643" cy="1274835"/>
            </a:xfrm>
            <a:prstGeom prst="roundRect">
              <a:avLst>
                <a:gd name="adj" fmla="val 3906"/>
              </a:avLst>
            </a:prstGeom>
            <a:gradFill>
              <a:gsLst>
                <a:gs pos="0">
                  <a:srgbClr val="F0F2F5"/>
                </a:gs>
                <a:gs pos="100000">
                  <a:srgbClr val="E8EBEF"/>
                </a:gs>
              </a:gsLst>
              <a:lin ang="5400000"/>
            </a:gradFill>
            <a:ln w="5161">
              <a:solidFill>
                <a:srgbClr val="63849E"/>
              </a:solidFill>
              <a:prstDash val="solid"/>
            </a:ln>
          </p:spPr>
        </p:sp>
        <p:sp>
          <p:nvSpPr>
            <p:cNvPr id="34" name="Observation&#10;+ language&#10;+ proprioception">
              <a:extLst>
                <a:ext uri="{FF2B5EF4-FFF2-40B4-BE49-F238E27FC236}">
                  <ns2:creationId id="{FFE427DF-EBF9-4BA2-BFC0-D132D6F22FDE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1073545"/>
              <a:ext cx="557418" cy="3458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9309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Observation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language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proprioception</a:t>
              </a:r>
            </a:p>
          </p:txBody>
        </p:sp>
        <p:sp>
          <p:nvSpPr>
            <p:cNvPr id="35" name="o_t, l, p_t">
              <a:extLst>
                <a:ext uri="{FF2B5EF4-FFF2-40B4-BE49-F238E27FC236}">
                  <ns2:creationId id="{121FCA57-08FB-4645-A638-859C8E383E5F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1455479"/>
              <a:ext cx="588385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l, p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36" name="Current images&#10;Instruction&#10;Robot state">
              <a:extLst>
                <a:ext uri="{FF2B5EF4-FFF2-40B4-BE49-F238E27FC236}">
                  <ns2:creationId id="{B13C1F9B-FCD1-45B6-AB1D-42EF76F6CD55}"/>
                </a:ext>
              </a:extLst>
            </p:cNvPr>
            <p:cNvSpPr>
              <a:spLocks noGrp="1"/>
            </p:cNvSpPr>
            <p:nvPr/>
          </p:nvSpPr>
          <p:spPr>
            <a:xfrm>
              <a:off x="360400" y="1692898"/>
              <a:ext cx="588385" cy="37677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809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Current images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Instruction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Robot state</a:t>
              </a:r>
            </a:p>
          </p:txBody>
        </p:sp>
        <p:cxnSp>
          <p:nvCxnSpPr>
            <p:cNvPr id="37" name="native PowerPoint connector">
              <a:extLst>
                <a:ext uri="{FF2B5EF4-FFF2-40B4-BE49-F238E27FC236}">
                  <ns2:creationId id="{903C1C30-0E17-4615-8F49-AAD246916ECF}"/>
                </a:ext>
              </a:extLst>
            </p:cNvPr>
            <p:cNvCxnSpPr/>
            <p:nvPr/>
          </p:nvCxnSpPr>
          <p:spPr>
            <a:xfrm flipH="0" flipV="0">
              <a:off x="979753" y="1187093"/>
              <a:ext cx="149677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38" name="native PowerPoint connector">
              <a:extLst>
                <a:ext uri="{FF2B5EF4-FFF2-40B4-BE49-F238E27FC236}">
                  <ns2:creationId id="{1DBB96EB-483D-4A8E-B405-A428F654AB12}"/>
                </a:ext>
              </a:extLst>
            </p:cNvPr>
            <p:cNvCxnSpPr/>
            <p:nvPr/>
          </p:nvCxnSpPr>
          <p:spPr>
            <a:xfrm flipH="0" flipV="1">
              <a:off x="1129430" y="769030"/>
              <a:ext cx="0" cy="418063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39" name="native PowerPoint connector">
              <a:extLst>
                <a:ext uri="{FF2B5EF4-FFF2-40B4-BE49-F238E27FC236}">
                  <ns2:creationId id="{2A6CF192-B735-4262-9BB3-76BEA7A7BA46}"/>
                </a:ext>
              </a:extLst>
            </p:cNvPr>
            <p:cNvCxnSpPr/>
            <p:nvPr/>
          </p:nvCxnSpPr>
          <p:spPr>
            <a:xfrm flipH="0" flipV="0">
              <a:off x="1129430" y="769030"/>
              <a:ext cx="185806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40" name="native PowerPoint connector">
              <a:extLst>
                <a:ext uri="{FF2B5EF4-FFF2-40B4-BE49-F238E27FC236}">
                  <ns2:creationId id="{89386B6D-D26B-44E2-93D6-8E397008FBBD}"/>
                </a:ext>
              </a:extLst>
            </p:cNvPr>
            <p:cNvCxnSpPr/>
            <p:nvPr/>
          </p:nvCxnSpPr>
          <p:spPr>
            <a:xfrm flipH="0" flipV="0">
              <a:off x="979753" y="2079993"/>
              <a:ext cx="149677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41" name="native PowerPoint connector">
              <a:extLst>
                <a:ext uri="{FF2B5EF4-FFF2-40B4-BE49-F238E27FC236}">
                  <ns2:creationId id="{A4ADD440-E55A-45C5-AD41-C1DF686B5777}"/>
                </a:ext>
              </a:extLst>
            </p:cNvPr>
            <p:cNvCxnSpPr/>
            <p:nvPr/>
          </p:nvCxnSpPr>
          <p:spPr>
            <a:xfrm flipH="0" flipV="0">
              <a:off x="1129430" y="2079993"/>
              <a:ext cx="0" cy="139354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</a:ln>
          </p:spPr>
        </p:cxnSp>
        <p:cxnSp>
          <p:nvCxnSpPr>
            <p:cNvPr id="42" name="native PowerPoint connector">
              <a:extLst>
                <a:ext uri="{FF2B5EF4-FFF2-40B4-BE49-F238E27FC236}">
                  <ns2:creationId id="{AEB80899-2CFD-45F5-8C6C-085E8EDBE156}"/>
                </a:ext>
              </a:extLst>
            </p:cNvPr>
            <p:cNvCxnSpPr/>
            <p:nvPr/>
          </p:nvCxnSpPr>
          <p:spPr>
            <a:xfrm flipH="0" flipV="0">
              <a:off x="1129430" y="2219348"/>
              <a:ext cx="185806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43" name="diagram block">
              <a:extLst>
                <a:ext uri="{FF2B5EF4-FFF2-40B4-BE49-F238E27FC236}">
                  <ns2:creationId id="{C34BB845-C821-43E6-9FB1-B9E9A1A788CE}"/>
                </a:ext>
              </a:extLst>
            </p:cNvPr>
            <p:cNvSpPr>
              <a:spLocks noGrp="1"/>
            </p:cNvSpPr>
            <p:nvPr/>
          </p:nvSpPr>
          <p:spPr>
            <a:xfrm>
              <a:off x="1480397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4" name="diagram block">
              <a:extLst>
                <a:ext uri="{FF2B5EF4-FFF2-40B4-BE49-F238E27FC236}">
                  <ns2:creationId id="{1C0730E7-0C71-4796-82B4-9A46F8848FA6}"/>
                </a:ext>
              </a:extLst>
            </p:cNvPr>
            <p:cNvSpPr>
              <a:spLocks noGrp="1"/>
            </p:cNvSpPr>
            <p:nvPr/>
          </p:nvSpPr>
          <p:spPr>
            <a:xfrm>
              <a:off x="1562977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5" name="diagram block">
              <a:extLst>
                <a:ext uri="{FF2B5EF4-FFF2-40B4-BE49-F238E27FC236}">
                  <ns2:creationId id="{F57BCA66-E74A-45A5-AA1F-49AAE01CEBFA}"/>
                </a:ext>
              </a:extLst>
            </p:cNvPr>
            <p:cNvSpPr>
              <a:spLocks noGrp="1"/>
            </p:cNvSpPr>
            <p:nvPr/>
          </p:nvSpPr>
          <p:spPr>
            <a:xfrm>
              <a:off x="1645558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6" name="diagram block">
              <a:extLst>
                <a:ext uri="{FF2B5EF4-FFF2-40B4-BE49-F238E27FC236}">
                  <ns2:creationId id="{CC75A530-C088-48C4-840B-051E3F8FF5A7}"/>
                </a:ext>
              </a:extLst>
            </p:cNvPr>
            <p:cNvSpPr>
              <a:spLocks noGrp="1"/>
            </p:cNvSpPr>
            <p:nvPr/>
          </p:nvSpPr>
          <p:spPr>
            <a:xfrm>
              <a:off x="1728138" y="1011610"/>
              <a:ext cx="46451" cy="201290"/>
            </a:xfrm>
            <a:prstGeom prst="rect">
              <a:avLst/>
            </a:prstGeom>
            <a:solidFill>
              <a:srgbClr val="EFB956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47" name="diagram block">
              <a:extLst>
                <a:ext uri="{FF2B5EF4-FFF2-40B4-BE49-F238E27FC236}">
                  <ns2:creationId id="{35761977-B21E-491F-ADD5-093395E367EB}"/>
                </a:ext>
              </a:extLst>
            </p:cNvPr>
            <p:cNvSpPr>
              <a:spLocks noGrp="1"/>
            </p:cNvSpPr>
            <p:nvPr/>
          </p:nvSpPr>
          <p:spPr>
            <a:xfrm>
              <a:off x="2476523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48" name="diagram block">
              <a:extLst>
                <a:ext uri="{FF2B5EF4-FFF2-40B4-BE49-F238E27FC236}">
                  <ns2:creationId id="{3A450FAD-DE30-4156-885F-52BA09744842}"/>
                </a:ext>
              </a:extLst>
            </p:cNvPr>
            <p:cNvSpPr>
              <a:spLocks noGrp="1"/>
            </p:cNvSpPr>
            <p:nvPr/>
          </p:nvSpPr>
          <p:spPr>
            <a:xfrm>
              <a:off x="2559103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49" name="diagram block">
              <a:extLst>
                <a:ext uri="{FF2B5EF4-FFF2-40B4-BE49-F238E27FC236}">
                  <ns2:creationId id="{42C6513E-6B5E-44E0-8486-3F121B5F90F9}"/>
                </a:ext>
              </a:extLst>
            </p:cNvPr>
            <p:cNvSpPr>
              <a:spLocks noGrp="1"/>
            </p:cNvSpPr>
            <p:nvPr/>
          </p:nvSpPr>
          <p:spPr>
            <a:xfrm>
              <a:off x="2641684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0" name="diagram block">
              <a:extLst>
                <a:ext uri="{FF2B5EF4-FFF2-40B4-BE49-F238E27FC236}">
                  <ns2:creationId id="{7617484A-748C-44CA-8410-4B0B165A4F65}"/>
                </a:ext>
              </a:extLst>
            </p:cNvPr>
            <p:cNvSpPr>
              <a:spLocks noGrp="1"/>
            </p:cNvSpPr>
            <p:nvPr/>
          </p:nvSpPr>
          <p:spPr>
            <a:xfrm>
              <a:off x="2724264" y="1011610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1" name="diagram block">
              <a:extLst>
                <a:ext uri="{FF2B5EF4-FFF2-40B4-BE49-F238E27FC236}">
                  <ns2:creationId id="{9146C2CB-994D-4173-9DC5-CE9A067319BC}"/>
                </a:ext>
              </a:extLst>
            </p:cNvPr>
            <p:cNvSpPr>
              <a:spLocks noGrp="1"/>
            </p:cNvSpPr>
            <p:nvPr/>
          </p:nvSpPr>
          <p:spPr>
            <a:xfrm>
              <a:off x="1480397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2" name="diagram block">
              <a:extLst>
                <a:ext uri="{FF2B5EF4-FFF2-40B4-BE49-F238E27FC236}">
                  <ns2:creationId id="{D549D0F4-5B56-4285-A70C-720DC8F34D7E}"/>
                </a:ext>
              </a:extLst>
            </p:cNvPr>
            <p:cNvSpPr>
              <a:spLocks noGrp="1"/>
            </p:cNvSpPr>
            <p:nvPr/>
          </p:nvSpPr>
          <p:spPr>
            <a:xfrm>
              <a:off x="1562977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3" name="diagram block">
              <a:extLst>
                <a:ext uri="{FF2B5EF4-FFF2-40B4-BE49-F238E27FC236}">
                  <ns2:creationId id="{06AE5F30-CC4A-42D8-B804-91894B41311E}"/>
                </a:ext>
              </a:extLst>
            </p:cNvPr>
            <p:cNvSpPr>
              <a:spLocks noGrp="1"/>
            </p:cNvSpPr>
            <p:nvPr/>
          </p:nvSpPr>
          <p:spPr>
            <a:xfrm>
              <a:off x="1645558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4" name="diagram block">
              <a:extLst>
                <a:ext uri="{FF2B5EF4-FFF2-40B4-BE49-F238E27FC236}">
                  <ns2:creationId id="{92382AB3-F3D5-404B-8D08-DB660C125F61}"/>
                </a:ext>
              </a:extLst>
            </p:cNvPr>
            <p:cNvSpPr>
              <a:spLocks noGrp="1"/>
            </p:cNvSpPr>
            <p:nvPr/>
          </p:nvSpPr>
          <p:spPr>
            <a:xfrm>
              <a:off x="1728138" y="2451605"/>
              <a:ext cx="46451" cy="201290"/>
            </a:xfrm>
            <a:prstGeom prst="rect">
              <a:avLst/>
            </a:prstGeom>
            <a:solidFill>
              <a:srgbClr val="F6BC54"/>
            </a:solidFill>
            <a:ln w="5161">
              <a:solidFill>
                <a:srgbClr val="C58823"/>
              </a:solidFill>
              <a:prstDash val="solid"/>
            </a:ln>
          </p:spPr>
        </p:sp>
        <p:sp>
          <p:nvSpPr>
            <p:cNvPr id="55" name="diagram block">
              <a:extLst>
                <a:ext uri="{FF2B5EF4-FFF2-40B4-BE49-F238E27FC236}">
                  <ns2:creationId id="{7FC8E0A6-E406-44DF-A553-31DA532EEC27}"/>
                </a:ext>
              </a:extLst>
            </p:cNvPr>
            <p:cNvSpPr>
              <a:spLocks noGrp="1"/>
            </p:cNvSpPr>
            <p:nvPr/>
          </p:nvSpPr>
          <p:spPr>
            <a:xfrm>
              <a:off x="2476523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6" name="diagram block">
              <a:extLst>
                <a:ext uri="{FF2B5EF4-FFF2-40B4-BE49-F238E27FC236}">
                  <ns2:creationId id="{050831A4-8A61-4469-A63A-F655F4EF5DC6}"/>
                </a:ext>
              </a:extLst>
            </p:cNvPr>
            <p:cNvSpPr>
              <a:spLocks noGrp="1"/>
            </p:cNvSpPr>
            <p:nvPr/>
          </p:nvSpPr>
          <p:spPr>
            <a:xfrm>
              <a:off x="2559103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7" name="diagram block">
              <a:extLst>
                <a:ext uri="{FF2B5EF4-FFF2-40B4-BE49-F238E27FC236}">
                  <ns2:creationId id="{914E83B9-3FB9-42C5-9CC9-209A373BC703}"/>
                </a:ext>
              </a:extLst>
            </p:cNvPr>
            <p:cNvSpPr>
              <a:spLocks noGrp="1"/>
            </p:cNvSpPr>
            <p:nvPr/>
          </p:nvSpPr>
          <p:spPr>
            <a:xfrm>
              <a:off x="2641684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8" name="diagram block">
              <a:extLst>
                <a:ext uri="{FF2B5EF4-FFF2-40B4-BE49-F238E27FC236}">
                  <ns2:creationId id="{0043F110-F523-422D-9543-0FD44B0D1354}"/>
                </a:ext>
              </a:extLst>
            </p:cNvPr>
            <p:cNvSpPr>
              <a:spLocks noGrp="1"/>
            </p:cNvSpPr>
            <p:nvPr/>
          </p:nvSpPr>
          <p:spPr>
            <a:xfrm>
              <a:off x="2724264" y="2451605"/>
              <a:ext cx="46451" cy="201290"/>
            </a:xfrm>
            <a:prstGeom prst="rect">
              <a:avLst/>
            </a:prstGeom>
            <a:solidFill>
              <a:srgbClr val="71C9CA"/>
            </a:solidFill>
            <a:ln w="5161">
              <a:solidFill>
                <a:srgbClr val="2E8F97"/>
              </a:solidFill>
              <a:prstDash val="solid"/>
            </a:ln>
          </p:spPr>
        </p:sp>
        <p:sp>
          <p:nvSpPr>
            <p:cNvPr id="59" name="Future latent tokens Zᵀ">
              <a:extLst>
                <a:ext uri="{FF2B5EF4-FFF2-40B4-BE49-F238E27FC236}">
                  <ns2:creationId id="{73967466-96F9-40AE-AE68-0CA1C1630A65}"/>
                </a:ext>
              </a:extLst>
            </p:cNvPr>
            <p:cNvSpPr>
              <a:spLocks noGrp="1"/>
            </p:cNvSpPr>
            <p:nvPr/>
          </p:nvSpPr>
          <p:spPr>
            <a:xfrm>
              <a:off x="1222333" y="1249028"/>
              <a:ext cx="1140642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Future latent tokens Zᵀ</a:t>
              </a:r>
            </a:p>
          </p:txBody>
        </p:sp>
        <p:sp>
          <p:nvSpPr>
            <p:cNvPr id="60" name="(teacher-generated future)">
              <a:extLst>
                <a:ext uri="{FF2B5EF4-FFF2-40B4-BE49-F238E27FC236}">
                  <ns2:creationId id="{8A09EB3E-DE65-4FF7-B418-7696DAA2FEE2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1367738"/>
              <a:ext cx="1021932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(teacher-generated future)</a:t>
              </a:r>
            </a:p>
          </p:txBody>
        </p:sp>
        <p:sp>
          <p:nvSpPr>
            <p:cNvPr id="61" name="Action chunk aᵀ">
              <a:extLst>
                <a:ext uri="{FF2B5EF4-FFF2-40B4-BE49-F238E27FC236}">
                  <ns2:creationId id="{BDB9DAB3-2595-4AA8-B3B5-E8EEB3A3C15F}"/>
                </a:ext>
              </a:extLst>
            </p:cNvPr>
            <p:cNvSpPr>
              <a:spLocks noGrp="1"/>
            </p:cNvSpPr>
            <p:nvPr/>
          </p:nvSpPr>
          <p:spPr>
            <a:xfrm>
              <a:off x="2368136" y="1249028"/>
              <a:ext cx="71741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809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chunk aᵀ</a:t>
              </a:r>
            </a:p>
          </p:txBody>
        </p:sp>
        <p:sp>
          <p:nvSpPr>
            <p:cNvPr id="62" name="(6 motor dimensions)">
              <a:extLst>
                <a:ext uri="{FF2B5EF4-FFF2-40B4-BE49-F238E27FC236}">
                  <ns2:creationId id="{C8907DEC-259A-4F29-965A-BE82ECC308A6}"/>
                </a:ext>
              </a:extLst>
            </p:cNvPr>
            <p:cNvSpPr>
              <a:spLocks noGrp="1"/>
            </p:cNvSpPr>
            <p:nvPr/>
          </p:nvSpPr>
          <p:spPr>
            <a:xfrm>
              <a:off x="2357813" y="1367738"/>
              <a:ext cx="71741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dimensions)</a:t>
              </a:r>
            </a:p>
          </p:txBody>
        </p:sp>
        <p:sp>
          <p:nvSpPr>
            <p:cNvPr id="63" name="Future latent tokens Zˢ">
              <a:extLst>
                <a:ext uri="{FF2B5EF4-FFF2-40B4-BE49-F238E27FC236}">
                  <ns2:creationId id="{10EECDA7-6CE9-4106-909A-ACF1D0BDFF6A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2714830"/>
              <a:ext cx="1109674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Future latent tokens Zˢ</a:t>
              </a:r>
            </a:p>
          </p:txBody>
        </p:sp>
        <p:sp>
          <p:nvSpPr>
            <p:cNvPr id="64" name="(student-generated future)">
              <a:extLst>
                <a:ext uri="{FF2B5EF4-FFF2-40B4-BE49-F238E27FC236}">
                  <ns2:creationId id="{56F742EC-DEFF-466A-AEBB-51D404CBF570}"/>
                </a:ext>
              </a:extLst>
            </p:cNvPr>
            <p:cNvSpPr>
              <a:spLocks noGrp="1"/>
            </p:cNvSpPr>
            <p:nvPr/>
          </p:nvSpPr>
          <p:spPr>
            <a:xfrm>
              <a:off x="1227494" y="2833539"/>
              <a:ext cx="1021932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(student-generated future)</a:t>
              </a:r>
            </a:p>
          </p:txBody>
        </p:sp>
        <p:sp>
          <p:nvSpPr>
            <p:cNvPr id="65" name="Action chunk aˢ">
              <a:extLst>
                <a:ext uri="{FF2B5EF4-FFF2-40B4-BE49-F238E27FC236}">
                  <ns2:creationId id="{9B8EA39C-A941-4445-9682-48F31ECAF1F2}"/>
                </a:ext>
              </a:extLst>
            </p:cNvPr>
            <p:cNvSpPr>
              <a:spLocks noGrp="1"/>
            </p:cNvSpPr>
            <p:nvPr/>
          </p:nvSpPr>
          <p:spPr>
            <a:xfrm>
              <a:off x="2368136" y="2714830"/>
              <a:ext cx="717417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Action chunk aˢ</a:t>
              </a:r>
            </a:p>
          </p:txBody>
        </p:sp>
        <p:sp>
          <p:nvSpPr>
            <p:cNvPr id="66" name="(6 motor dimensions)">
              <a:extLst>
                <a:ext uri="{FF2B5EF4-FFF2-40B4-BE49-F238E27FC236}">
                  <ns2:creationId id="{76F77DDB-20E4-4AD6-A507-AF55AD381358}"/>
                </a:ext>
              </a:extLst>
            </p:cNvPr>
            <p:cNvSpPr>
              <a:spLocks noGrp="1"/>
            </p:cNvSpPr>
            <p:nvPr/>
          </p:nvSpPr>
          <p:spPr>
            <a:xfrm>
              <a:off x="2357813" y="2833539"/>
              <a:ext cx="71741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5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dimensions)</a:t>
              </a:r>
            </a:p>
          </p:txBody>
        </p:sp>
        <p:cxnSp>
          <p:nvCxnSpPr>
            <p:cNvPr id="67" name="native PowerPoint connector">
              <a:extLst>
                <a:ext uri="{FF2B5EF4-FFF2-40B4-BE49-F238E27FC236}">
                  <ns2:creationId id="{039E98DC-15B3-48A0-B681-CDF0D07E51F7}"/>
                </a:ext>
              </a:extLst>
            </p:cNvPr>
            <p:cNvCxnSpPr/>
            <p:nvPr/>
          </p:nvCxnSpPr>
          <p:spPr>
            <a:xfrm flipH="0" flipV="0">
              <a:off x="1227494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68" name="native PowerPoint connector">
              <a:extLst>
                <a:ext uri="{FF2B5EF4-FFF2-40B4-BE49-F238E27FC236}">
                  <ns2:creationId id="{A6EBC979-8C5F-4EC9-B1F1-C4B5E2E882F1}"/>
                </a:ext>
              </a:extLst>
            </p:cNvPr>
            <p:cNvCxnSpPr/>
            <p:nvPr/>
          </p:nvCxnSpPr>
          <p:spPr>
            <a:xfrm flipH="0" flipV="0">
              <a:off x="1227494" y="1507092"/>
              <a:ext cx="1021932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69" name="native PowerPoint connector">
              <a:extLst>
                <a:ext uri="{FF2B5EF4-FFF2-40B4-BE49-F238E27FC236}">
                  <ns2:creationId id="{DF9B3F3F-961F-42B4-AF3B-BED1E223CD7A}"/>
                </a:ext>
              </a:extLst>
            </p:cNvPr>
            <p:cNvCxnSpPr/>
            <p:nvPr/>
          </p:nvCxnSpPr>
          <p:spPr>
            <a:xfrm flipH="0" flipV="1">
              <a:off x="2249427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0" name="T tokens (exclude frame 0)">
              <a:extLst>
                <a:ext uri="{FF2B5EF4-FFF2-40B4-BE49-F238E27FC236}">
                  <ns2:creationId id="{73A40643-635D-40DA-8CB3-3C681431777F}"/>
                </a:ext>
              </a:extLst>
            </p:cNvPr>
            <p:cNvSpPr>
              <a:spLocks noGrp="1"/>
            </p:cNvSpPr>
            <p:nvPr/>
          </p:nvSpPr>
          <p:spPr>
            <a:xfrm>
              <a:off x="1191366" y="1543221"/>
              <a:ext cx="109935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 tokens (exclude frame 0)</a:t>
              </a:r>
            </a:p>
          </p:txBody>
        </p:sp>
        <p:cxnSp>
          <p:nvCxnSpPr>
            <p:cNvPr id="71" name="native PowerPoint connector">
              <a:extLst>
                <a:ext uri="{FF2B5EF4-FFF2-40B4-BE49-F238E27FC236}">
                  <ns2:creationId id="{C5B1187F-918B-44C8-8563-D9862645293B}"/>
                </a:ext>
              </a:extLst>
            </p:cNvPr>
            <p:cNvCxnSpPr/>
            <p:nvPr/>
          </p:nvCxnSpPr>
          <p:spPr>
            <a:xfrm flipH="0" flipV="0">
              <a:off x="2316523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2" name="native PowerPoint connector">
              <a:extLst>
                <a:ext uri="{FF2B5EF4-FFF2-40B4-BE49-F238E27FC236}">
                  <ns2:creationId id="{12E141BA-2CAA-453A-B9BB-6F27BB0D8846}"/>
                </a:ext>
              </a:extLst>
            </p:cNvPr>
            <p:cNvCxnSpPr/>
            <p:nvPr/>
          </p:nvCxnSpPr>
          <p:spPr>
            <a:xfrm flipH="0" flipV="0">
              <a:off x="2316523" y="1507092"/>
              <a:ext cx="624514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3" name="native PowerPoint connector">
              <a:extLst>
                <a:ext uri="{FF2B5EF4-FFF2-40B4-BE49-F238E27FC236}">
                  <ns2:creationId id="{BFC295FB-6DBB-4934-9394-F18DEAC32634}"/>
                </a:ext>
              </a:extLst>
            </p:cNvPr>
            <p:cNvCxnSpPr/>
            <p:nvPr/>
          </p:nvCxnSpPr>
          <p:spPr>
            <a:xfrm flipH="0" flipV="1">
              <a:off x="2941037" y="1470963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4" name="H tokens">
              <a:extLst>
                <a:ext uri="{FF2B5EF4-FFF2-40B4-BE49-F238E27FC236}">
                  <ns2:creationId id="{2BDD2E0C-F7FB-4A9D-BAB0-EE7E5348247F}"/>
                </a:ext>
              </a:extLst>
            </p:cNvPr>
            <p:cNvSpPr>
              <a:spLocks noGrp="1"/>
            </p:cNvSpPr>
            <p:nvPr/>
          </p:nvSpPr>
          <p:spPr>
            <a:xfrm>
              <a:off x="2280394" y="1543221"/>
              <a:ext cx="70193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 tokens</a:t>
              </a:r>
            </a:p>
          </p:txBody>
        </p:sp>
        <p:cxnSp>
          <p:nvCxnSpPr>
            <p:cNvPr id="75" name="native PowerPoint connector">
              <a:extLst>
                <a:ext uri="{FF2B5EF4-FFF2-40B4-BE49-F238E27FC236}">
                  <ns2:creationId id="{4378965A-9E30-4DB2-B134-2B653464E15E}"/>
                </a:ext>
              </a:extLst>
            </p:cNvPr>
            <p:cNvCxnSpPr/>
            <p:nvPr/>
          </p:nvCxnSpPr>
          <p:spPr>
            <a:xfrm flipH="0" flipV="0">
              <a:off x="1227494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6" name="native PowerPoint connector">
              <a:extLst>
                <a:ext uri="{FF2B5EF4-FFF2-40B4-BE49-F238E27FC236}">
                  <ns2:creationId id="{487DB44B-B430-4BC8-850B-FB55358EDFA7}"/>
                </a:ext>
              </a:extLst>
            </p:cNvPr>
            <p:cNvCxnSpPr/>
            <p:nvPr/>
          </p:nvCxnSpPr>
          <p:spPr>
            <a:xfrm flipH="0" flipV="0">
              <a:off x="1227494" y="2967733"/>
              <a:ext cx="1021932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77" name="native PowerPoint connector">
              <a:extLst>
                <a:ext uri="{FF2B5EF4-FFF2-40B4-BE49-F238E27FC236}">
                  <ns2:creationId id="{E0596622-E6BE-4636-B87B-8566EE8B1599}"/>
                </a:ext>
              </a:extLst>
            </p:cNvPr>
            <p:cNvCxnSpPr/>
            <p:nvPr/>
          </p:nvCxnSpPr>
          <p:spPr>
            <a:xfrm flipH="0" flipV="1">
              <a:off x="2249427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78" name="T tokens (exclude frame 0)">
              <a:extLst>
                <a:ext uri="{FF2B5EF4-FFF2-40B4-BE49-F238E27FC236}">
                  <ns2:creationId id="{33DA6818-C01A-410D-A22F-F96F8B31A351}"/>
                </a:ext>
              </a:extLst>
            </p:cNvPr>
            <p:cNvSpPr>
              <a:spLocks noGrp="1"/>
            </p:cNvSpPr>
            <p:nvPr/>
          </p:nvSpPr>
          <p:spPr>
            <a:xfrm>
              <a:off x="1191366" y="3003861"/>
              <a:ext cx="109935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 tokens (exclude frame 0)</a:t>
              </a:r>
            </a:p>
          </p:txBody>
        </p:sp>
        <p:cxnSp>
          <p:nvCxnSpPr>
            <p:cNvPr id="79" name="native PowerPoint connector">
              <a:extLst>
                <a:ext uri="{FF2B5EF4-FFF2-40B4-BE49-F238E27FC236}">
                  <ns2:creationId id="{02E1B8BD-8840-4204-8041-792248613EB3}"/>
                </a:ext>
              </a:extLst>
            </p:cNvPr>
            <p:cNvCxnSpPr/>
            <p:nvPr/>
          </p:nvCxnSpPr>
          <p:spPr>
            <a:xfrm flipH="0" flipV="0">
              <a:off x="2316523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80" name="native PowerPoint connector">
              <a:extLst>
                <a:ext uri="{FF2B5EF4-FFF2-40B4-BE49-F238E27FC236}">
                  <ns2:creationId id="{97D5D522-E0C3-4FE5-AD3B-8D0A643B7CDA}"/>
                </a:ext>
              </a:extLst>
            </p:cNvPr>
            <p:cNvCxnSpPr/>
            <p:nvPr/>
          </p:nvCxnSpPr>
          <p:spPr>
            <a:xfrm flipH="0" flipV="0">
              <a:off x="2316523" y="2967733"/>
              <a:ext cx="624514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81" name="native PowerPoint connector">
              <a:extLst>
                <a:ext uri="{FF2B5EF4-FFF2-40B4-BE49-F238E27FC236}">
                  <ns2:creationId id="{0434D621-C8FE-4119-A1B0-C6E6B4CB4E52}"/>
                </a:ext>
              </a:extLst>
            </p:cNvPr>
            <p:cNvCxnSpPr/>
            <p:nvPr/>
          </p:nvCxnSpPr>
          <p:spPr>
            <a:xfrm flipH="0" flipV="1">
              <a:off x="2941037" y="2931604"/>
              <a:ext cx="0" cy="36129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82" name="H tokens">
              <a:extLst>
                <a:ext uri="{FF2B5EF4-FFF2-40B4-BE49-F238E27FC236}">
                  <ns2:creationId id="{0FDDE9A1-B740-49C5-A72A-AF9E17CF4888}"/>
                </a:ext>
              </a:extLst>
            </p:cNvPr>
            <p:cNvSpPr>
              <a:spLocks noGrp="1"/>
            </p:cNvSpPr>
            <p:nvPr/>
          </p:nvSpPr>
          <p:spPr>
            <a:xfrm>
              <a:off x="2280394" y="3003861"/>
              <a:ext cx="70193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 tokens</a:t>
              </a:r>
            </a:p>
          </p:txBody>
        </p:sp>
        <p:cxnSp>
          <p:nvCxnSpPr>
            <p:cNvPr id="83" name="native PowerPoint connector">
              <a:extLst>
                <a:ext uri="{FF2B5EF4-FFF2-40B4-BE49-F238E27FC236}">
                  <ns2:creationId id="{81B9DBF9-5E8C-4626-992A-1B3882EA12A3}"/>
                </a:ext>
              </a:extLst>
            </p:cNvPr>
            <p:cNvCxnSpPr/>
            <p:nvPr/>
          </p:nvCxnSpPr>
          <p:spPr>
            <a:xfrm flipH="0" flipV="0">
              <a:off x="1821041" y="1114835"/>
              <a:ext cx="41290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4" name="native PowerPoint connector">
              <a:extLst>
                <a:ext uri="{FF2B5EF4-FFF2-40B4-BE49-F238E27FC236}">
                  <ns2:creationId id="{8602C889-3796-44BE-B1E9-94E94667A2EC}"/>
                </a:ext>
              </a:extLst>
            </p:cNvPr>
            <p:cNvCxnSpPr/>
            <p:nvPr/>
          </p:nvCxnSpPr>
          <p:spPr>
            <a:xfrm flipH="0" flipV="1">
              <a:off x="1862331" y="954836"/>
              <a:ext cx="0" cy="159999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5" name="native PowerPoint connector">
              <a:extLst>
                <a:ext uri="{FF2B5EF4-FFF2-40B4-BE49-F238E27FC236}">
                  <ns2:creationId id="{A4262300-2E18-414E-B89D-D0A2F6D625DE}"/>
                </a:ext>
              </a:extLst>
            </p:cNvPr>
            <p:cNvCxnSpPr/>
            <p:nvPr/>
          </p:nvCxnSpPr>
          <p:spPr>
            <a:xfrm flipH="0" flipV="0">
              <a:off x="1862331" y="954836"/>
              <a:ext cx="438708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86" name="Video K/V">
              <a:extLst>
                <a:ext uri="{FF2B5EF4-FFF2-40B4-BE49-F238E27FC236}">
                  <ns2:creationId id="{5E01A65A-124B-4B76-8113-FE7F0E9F5D4C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1037416"/>
              <a:ext cx="562579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K/V</a:t>
              </a:r>
            </a:p>
          </p:txBody>
        </p:sp>
        <p:sp>
          <p:nvSpPr>
            <p:cNvPr id="87" name="(teacher future)">
              <a:extLst>
                <a:ext uri="{FF2B5EF4-FFF2-40B4-BE49-F238E27FC236}">
                  <ns2:creationId id="{4C20DC90-323A-4DBC-B697-CC08E1968C74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1145803"/>
              <a:ext cx="562579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383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 future)</a:t>
              </a:r>
            </a:p>
          </p:txBody>
        </p:sp>
        <p:cxnSp>
          <p:nvCxnSpPr>
            <p:cNvPr id="88" name="native PowerPoint connector">
              <a:extLst>
                <a:ext uri="{FF2B5EF4-FFF2-40B4-BE49-F238E27FC236}">
                  <ns2:creationId id="{0A069BEA-BC5D-4273-B60E-C5EB310EAC14}"/>
                </a:ext>
              </a:extLst>
            </p:cNvPr>
            <p:cNvCxnSpPr/>
            <p:nvPr/>
          </p:nvCxnSpPr>
          <p:spPr>
            <a:xfrm flipH="0" flipV="0">
              <a:off x="1821041" y="2565153"/>
              <a:ext cx="41290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89" name="native PowerPoint connector">
              <a:extLst>
                <a:ext uri="{FF2B5EF4-FFF2-40B4-BE49-F238E27FC236}">
                  <ns2:creationId id="{5D8C65AC-B1BD-43DD-99B5-C83939B34F1C}"/>
                </a:ext>
              </a:extLst>
            </p:cNvPr>
            <p:cNvCxnSpPr/>
            <p:nvPr/>
          </p:nvCxnSpPr>
          <p:spPr>
            <a:xfrm flipH="0" flipV="1">
              <a:off x="1862331" y="2394831"/>
              <a:ext cx="0" cy="170322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</a:ln>
          </p:spPr>
        </p:cxnSp>
        <p:cxnSp>
          <p:nvCxnSpPr>
            <p:cNvPr id="90" name="native PowerPoint connector">
              <a:extLst>
                <a:ext uri="{FF2B5EF4-FFF2-40B4-BE49-F238E27FC236}">
                  <ns2:creationId id="{CD95DE1D-9032-4B23-9E22-B001C43005F8}"/>
                </a:ext>
              </a:extLst>
            </p:cNvPr>
            <p:cNvCxnSpPr/>
            <p:nvPr/>
          </p:nvCxnSpPr>
          <p:spPr>
            <a:xfrm flipH="0" flipV="0">
              <a:off x="1862331" y="2394831"/>
              <a:ext cx="438708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91" name="Video K/V">
              <a:extLst>
                <a:ext uri="{FF2B5EF4-FFF2-40B4-BE49-F238E27FC236}">
                  <ns2:creationId id="{848A3159-4D68-4710-A406-22342721F79E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2477411"/>
              <a:ext cx="562579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Video K/V</a:t>
              </a:r>
            </a:p>
          </p:txBody>
        </p:sp>
        <p:sp>
          <p:nvSpPr>
            <p:cNvPr id="92" name="(student future)">
              <a:extLst>
                <a:ext uri="{FF2B5EF4-FFF2-40B4-BE49-F238E27FC236}">
                  <ns2:creationId id="{1556935A-858B-42E2-85FD-28BFD1E77649}"/>
                </a:ext>
              </a:extLst>
            </p:cNvPr>
            <p:cNvSpPr>
              <a:spLocks noGrp="1"/>
            </p:cNvSpPr>
            <p:nvPr/>
          </p:nvSpPr>
          <p:spPr>
            <a:xfrm>
              <a:off x="1877815" y="2585798"/>
              <a:ext cx="562579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383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(student future)</a:t>
              </a:r>
            </a:p>
          </p:txBody>
        </p:sp>
        <p:cxnSp>
          <p:nvCxnSpPr>
            <p:cNvPr id="93" name="native PowerPoint connector">
              <a:extLst>
                <a:ext uri="{FF2B5EF4-FFF2-40B4-BE49-F238E27FC236}">
                  <ns2:creationId id="{0B1DA879-E4CB-4AAD-827B-5618794C0751}"/>
                </a:ext>
              </a:extLst>
            </p:cNvPr>
            <p:cNvCxnSpPr/>
            <p:nvPr/>
          </p:nvCxnSpPr>
          <p:spPr>
            <a:xfrm flipH="0" flipV="0">
              <a:off x="2946199" y="769030"/>
              <a:ext cx="20129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4" name="native PowerPoint connector">
              <a:extLst>
                <a:ext uri="{FF2B5EF4-FFF2-40B4-BE49-F238E27FC236}">
                  <ns2:creationId id="{1E981114-B837-4BFD-B750-524E01875431}"/>
                </a:ext>
              </a:extLst>
            </p:cNvPr>
            <p:cNvCxnSpPr/>
            <p:nvPr/>
          </p:nvCxnSpPr>
          <p:spPr>
            <a:xfrm flipH="0" flipV="1">
              <a:off x="3147488" y="645159"/>
              <a:ext cx="0" cy="123871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5" name="native PowerPoint connector">
              <a:extLst>
                <a:ext uri="{FF2B5EF4-FFF2-40B4-BE49-F238E27FC236}">
                  <ns2:creationId id="{2DC68D43-2C85-49C6-85A0-DBD7DDD1A9CF}"/>
                </a:ext>
              </a:extLst>
            </p:cNvPr>
            <p:cNvCxnSpPr/>
            <p:nvPr/>
          </p:nvCxnSpPr>
          <p:spPr>
            <a:xfrm flipH="0" flipV="0">
              <a:off x="3147488" y="645159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96" name="native PowerPoint connector">
              <a:extLst>
                <a:ext uri="{FF2B5EF4-FFF2-40B4-BE49-F238E27FC236}">
                  <ns2:creationId id="{370995F8-A4E1-403F-9C91-EED7F09F8FFD}"/>
                </a:ext>
              </a:extLst>
            </p:cNvPr>
            <p:cNvCxnSpPr/>
            <p:nvPr/>
          </p:nvCxnSpPr>
          <p:spPr>
            <a:xfrm flipH="0" flipV="0">
              <a:off x="2946199" y="2193541"/>
              <a:ext cx="20129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7" name="native PowerPoint connector">
              <a:extLst>
                <a:ext uri="{FF2B5EF4-FFF2-40B4-BE49-F238E27FC236}">
                  <ns2:creationId id="{9A8A89AE-7878-4C12-8FBF-745F291E6603}"/>
                </a:ext>
              </a:extLst>
            </p:cNvPr>
            <p:cNvCxnSpPr/>
            <p:nvPr/>
          </p:nvCxnSpPr>
          <p:spPr>
            <a:xfrm flipH="0" flipV="0">
              <a:off x="3147488" y="21935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98" name="native PowerPoint connector">
              <a:extLst>
                <a:ext uri="{FF2B5EF4-FFF2-40B4-BE49-F238E27FC236}">
                  <ns2:creationId id="{245049E3-312E-47DB-B385-F036AED00F14}"/>
                </a:ext>
              </a:extLst>
            </p:cNvPr>
            <p:cNvCxnSpPr/>
            <p:nvPr/>
          </p:nvCxnSpPr>
          <p:spPr>
            <a:xfrm flipH="0" flipV="0">
              <a:off x="3147488" y="227612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99" name="native PowerPoint connector">
              <a:extLst>
                <a:ext uri="{FF2B5EF4-FFF2-40B4-BE49-F238E27FC236}">
                  <ns2:creationId id="{5137332B-8368-410D-BF19-C70DE7CD117E}"/>
                </a:ext>
              </a:extLst>
            </p:cNvPr>
            <p:cNvCxnSpPr/>
            <p:nvPr/>
          </p:nvCxnSpPr>
          <p:spPr>
            <a:xfrm flipH="0" flipV="0">
              <a:off x="3147488" y="645159"/>
              <a:ext cx="0" cy="1630963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dash"/>
            </a:ln>
          </p:spPr>
        </p:cxnSp>
        <p:sp>
          <p:nvSpPr>
            <p:cNvPr id="100" name="diagram block">
              <a:extLst>
                <a:ext uri="{FF2B5EF4-FFF2-40B4-BE49-F238E27FC236}">
                  <ns2:creationId id="{3368ACDF-6984-4497-90B6-0DB6B117D542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485160"/>
              <a:ext cx="629675" cy="903223"/>
            </a:xfrm>
            <a:prstGeom prst="roundRect">
              <a:avLst>
                <a:gd name="adj" fmla="val 4098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F0D297"/>
              </a:solidFill>
              <a:prstDash val="solid"/>
            </a:ln>
          </p:spPr>
        </p:sp>
        <p:sp>
          <p:nvSpPr>
            <p:cNvPr id="101" name="Future&#10;latent loss">
              <a:extLst>
                <a:ext uri="{FF2B5EF4-FFF2-40B4-BE49-F238E27FC236}">
                  <ns2:creationId id="{7C935A31-9F68-44E7-AFE4-F59CF259CDBB}"/>
                </a:ext>
              </a:extLst>
            </p:cNvPr>
            <p:cNvSpPr>
              <a:spLocks noGrp="1"/>
            </p:cNvSpPr>
            <p:nvPr/>
          </p:nvSpPr>
          <p:spPr>
            <a:xfrm>
              <a:off x="3312649" y="526450"/>
              <a:ext cx="526450" cy="2477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5"/>
            </a:bodyPr>
            <a:lstStyle>
              <a:def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rPr>
                <a:t>Future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76450F"/>
                  </a:solidFill>
                  <a:latin typeface="Times New Roman"/>
                  <a:ea typeface="Times New Roman"/>
                  <a:cs typeface="Times New Roman"/>
                </a:rPr>
                <a:t>latent loss</a:t>
              </a:r>
            </a:p>
          </p:txBody>
        </p:sp>
        <p:sp>
          <p:nvSpPr>
            <p:cNvPr id="102" name="L_z = NMSE">
              <a:extLst>
                <a:ext uri="{FF2B5EF4-FFF2-40B4-BE49-F238E27FC236}">
                  <ns2:creationId id="{5BA980F2-1144-49D0-B7F5-7FC195F95C5E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846449"/>
              <a:ext cx="557418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6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02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NMSE</a:t>
              </a:r>
            </a:p>
          </p:txBody>
        </p:sp>
        <p:sp>
          <p:nvSpPr>
            <p:cNvPr id="103" name="(Z^S, Z^T)">
              <a:extLst>
                <a:ext uri="{FF2B5EF4-FFF2-40B4-BE49-F238E27FC236}">
                  <ns2:creationId id="{F3E41B0B-65E3-4605-BABA-112CB8A8274B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1001287"/>
              <a:ext cx="557418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(Z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Z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104" name="(future only,&#10;frame 0 excluded)">
              <a:extLst>
                <a:ext uri="{FF2B5EF4-FFF2-40B4-BE49-F238E27FC236}">
                  <ns2:creationId id="{403B0B09-5AAB-421E-AA87-567D2B3A25C7}"/>
                </a:ext>
              </a:extLst>
            </p:cNvPr>
            <p:cNvSpPr>
              <a:spLocks noGrp="1"/>
            </p:cNvSpPr>
            <p:nvPr/>
          </p:nvSpPr>
          <p:spPr>
            <a:xfrm>
              <a:off x="3297165" y="1197416"/>
              <a:ext cx="557418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5969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(future only,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frame 0 excluded)</a:t>
              </a:r>
            </a:p>
          </p:txBody>
        </p:sp>
        <p:sp>
          <p:nvSpPr>
            <p:cNvPr id="105" name="diagram block">
              <a:extLst>
                <a:ext uri="{FF2B5EF4-FFF2-40B4-BE49-F238E27FC236}">
                  <ns2:creationId id="{5E7609EF-41BD-4B1B-966B-16CD126BAAF4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1723865"/>
              <a:ext cx="629675" cy="1068384"/>
            </a:xfrm>
            <a:prstGeom prst="roundRect">
              <a:avLst>
                <a:gd name="adj" fmla="val 4098"/>
              </a:avLst>
            </a:prstGeom>
            <a:gradFill>
              <a:gsLst>
                <a:gs pos="0">
                  <a:srgbClr val="D9F2F4"/>
                </a:gs>
                <a:gs pos="100000">
                  <a:srgbClr val="EDF9FA"/>
                </a:gs>
              </a:gsLst>
              <a:lin ang="5400000"/>
            </a:gradFill>
            <a:ln w="5161">
              <a:solidFill>
                <a:srgbClr val="98D7DE"/>
              </a:solidFill>
              <a:prstDash val="solid"/>
            </a:ln>
          </p:spPr>
        </p:sp>
        <p:sp>
          <p:nvSpPr>
            <p:cNvPr id="106" name="First-10&#10;motor action&#10;loss">
              <a:extLst>
                <a:ext uri="{FF2B5EF4-FFF2-40B4-BE49-F238E27FC236}">
                  <ns2:creationId id="{81B7BCBA-EB41-4BF0-ACA2-560141A45A9A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1790962"/>
              <a:ext cx="541934" cy="33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867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First-10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motor action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loss</a:t>
              </a:r>
            </a:p>
          </p:txBody>
        </p:sp>
        <p:sp>
          <p:nvSpPr>
            <p:cNvPr id="107" name="L_a = MSE">
              <a:extLst>
                <a:ext uri="{FF2B5EF4-FFF2-40B4-BE49-F238E27FC236}">
                  <ns2:creationId id="{ECB078F5-0820-4357-B41A-C3795D476F3D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167735"/>
              <a:ext cx="557418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25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1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MSE</a:t>
              </a:r>
            </a:p>
          </p:txBody>
        </p:sp>
        <p:sp>
          <p:nvSpPr>
            <p:cNvPr id="108" name="(a^S, a^T)">
              <a:extLst>
                <a:ext uri="{FF2B5EF4-FFF2-40B4-BE49-F238E27FC236}">
                  <ns2:creationId id="{81C63380-F8CD-42B9-B0F1-22A63131754D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327735"/>
              <a:ext cx="557418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a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109" name="(6 motor dims&#10;only, gripper&#10;excluded)">
              <a:extLst>
                <a:ext uri="{FF2B5EF4-FFF2-40B4-BE49-F238E27FC236}">
                  <ns2:creationId id="{9C7C470E-F26F-479E-B808-A1A401A5C0DF}"/>
                </a:ext>
              </a:extLst>
            </p:cNvPr>
            <p:cNvSpPr>
              <a:spLocks noGrp="1"/>
            </p:cNvSpPr>
            <p:nvPr/>
          </p:nvSpPr>
          <p:spPr>
            <a:xfrm>
              <a:off x="3302327" y="2503218"/>
              <a:ext cx="536772" cy="2683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0194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(6 motor dims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only, gripper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excluded)</a:t>
              </a:r>
            </a:p>
          </p:txBody>
        </p:sp>
        <p:sp>
          <p:nvSpPr>
            <p:cNvPr id="110" name="Transform weight rows into groups of 32 scalars">
              <a:extLst>
                <a:ext uri="{FF2B5EF4-FFF2-40B4-BE49-F238E27FC236}">
                  <ns2:creationId id="{4BC4A093-B40A-4A77-B9BE-502A9CC983B5}"/>
                </a:ext>
              </a:extLst>
            </p:cNvPr>
            <p:cNvSpPr>
              <a:spLocks noGrp="1"/>
            </p:cNvSpPr>
            <p:nvPr/>
          </p:nvSpPr>
          <p:spPr>
            <a:xfrm>
              <a:off x="4066195" y="273548"/>
              <a:ext cx="2296767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Transform weight rows into groups of 32 scalars</a:t>
              </a:r>
            </a:p>
          </p:txBody>
        </p:sp>
        <p:sp>
          <p:nvSpPr>
            <p:cNvPr id="111" name="(each vector has d = 4)">
              <a:extLst>
                <a:ext uri="{FF2B5EF4-FFF2-40B4-BE49-F238E27FC236}">
                  <ns2:creationId id="{ADAEA0E0-FA0B-4636-AC78-D72620A39330}"/>
                </a:ext>
              </a:extLst>
            </p:cNvPr>
            <p:cNvSpPr>
              <a:spLocks noGrp="1"/>
            </p:cNvSpPr>
            <p:nvPr/>
          </p:nvSpPr>
          <p:spPr>
            <a:xfrm>
              <a:off x="4122969" y="387096"/>
              <a:ext cx="2198703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(each vector has d = 4)</a:t>
              </a:r>
            </a:p>
          </p:txBody>
        </p:sp>
        <p:sp>
          <p:nvSpPr>
            <p:cNvPr id="112" name="Transformed weight row  w">
              <a:extLst>
                <a:ext uri="{FF2B5EF4-FFF2-40B4-BE49-F238E27FC236}">
                  <ns2:creationId id="{B9C8A3AA-F907-4EC5-8998-4A9781938A03}"/>
                </a:ext>
              </a:extLst>
            </p:cNvPr>
            <p:cNvSpPr>
              <a:spLocks noGrp="1"/>
            </p:cNvSpPr>
            <p:nvPr/>
          </p:nvSpPr>
          <p:spPr>
            <a:xfrm>
              <a:off x="4210711" y="521289"/>
              <a:ext cx="1971607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809"/>
            </a:bodyPr>
            <a:lstStyle>
              <a:def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Transformed weight row  w</a:t>
              </a:r>
            </a:p>
          </p:txBody>
        </p:sp>
        <p:sp>
          <p:nvSpPr>
            <p:cNvPr id="113" name="diagram block">
              <a:extLst>
                <a:ext uri="{FF2B5EF4-FFF2-40B4-BE49-F238E27FC236}">
                  <ns2:creationId id="{090E9709-8656-4B03-889E-63609F39DBE2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4" name="diagram block">
              <a:extLst>
                <a:ext uri="{FF2B5EF4-FFF2-40B4-BE49-F238E27FC236}">
                  <ns2:creationId id="{79007B9F-EC38-437A-9A01-F4F6C3C09CB1}"/>
                </a:ext>
              </a:extLst>
            </p:cNvPr>
            <p:cNvSpPr>
              <a:spLocks noGrp="1"/>
            </p:cNvSpPr>
            <p:nvPr/>
          </p:nvSpPr>
          <p:spPr>
            <a:xfrm>
              <a:off x="437554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5" name="diagram block">
              <a:extLst>
                <a:ext uri="{FF2B5EF4-FFF2-40B4-BE49-F238E27FC236}">
                  <ns2:creationId id="{4E5159A9-1207-481E-A538-CE996FD80F13}"/>
                </a:ext>
              </a:extLst>
            </p:cNvPr>
            <p:cNvSpPr>
              <a:spLocks noGrp="1"/>
            </p:cNvSpPr>
            <p:nvPr/>
          </p:nvSpPr>
          <p:spPr>
            <a:xfrm>
              <a:off x="449393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6" name="diagram block">
              <a:extLst>
                <a:ext uri="{FF2B5EF4-FFF2-40B4-BE49-F238E27FC236}">
                  <ns2:creationId id="{C8824878-40A7-4AEA-B386-C1CD93244A0C}"/>
                </a:ext>
              </a:extLst>
            </p:cNvPr>
            <p:cNvSpPr>
              <a:spLocks noGrp="1"/>
            </p:cNvSpPr>
            <p:nvPr/>
          </p:nvSpPr>
          <p:spPr>
            <a:xfrm>
              <a:off x="4612322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7" name="diagram block">
              <a:extLst>
                <a:ext uri="{FF2B5EF4-FFF2-40B4-BE49-F238E27FC236}">
                  <ns2:creationId id="{B4075AA6-A10C-42BC-8A0A-C3614D4EA75C}"/>
                </a:ext>
              </a:extLst>
            </p:cNvPr>
            <p:cNvSpPr>
              <a:spLocks noGrp="1"/>
            </p:cNvSpPr>
            <p:nvPr/>
          </p:nvSpPr>
          <p:spPr>
            <a:xfrm>
              <a:off x="473070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8" name="diagram block">
              <a:extLst>
                <a:ext uri="{FF2B5EF4-FFF2-40B4-BE49-F238E27FC236}">
                  <ns2:creationId id="{3AEB5AEF-74A6-4FDF-9972-3B34BC9790F7}"/>
                </a:ext>
              </a:extLst>
            </p:cNvPr>
            <p:cNvSpPr>
              <a:spLocks noGrp="1"/>
            </p:cNvSpPr>
            <p:nvPr/>
          </p:nvSpPr>
          <p:spPr>
            <a:xfrm>
              <a:off x="484909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19" name="diagram block">
              <a:extLst>
                <a:ext uri="{FF2B5EF4-FFF2-40B4-BE49-F238E27FC236}">
                  <ns2:creationId id="{4DFC4803-CDD3-4262-B4F5-52791F5E2C0E}"/>
                </a:ext>
              </a:extLst>
            </p:cNvPr>
            <p:cNvSpPr>
              <a:spLocks noGrp="1"/>
            </p:cNvSpPr>
            <p:nvPr/>
          </p:nvSpPr>
          <p:spPr>
            <a:xfrm>
              <a:off x="496748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0" name="diagram block">
              <a:extLst>
                <a:ext uri="{FF2B5EF4-FFF2-40B4-BE49-F238E27FC236}">
                  <ns2:creationId id="{BF42835D-4A44-469A-B8F2-0827EE43B98E}"/>
                </a:ext>
              </a:extLst>
            </p:cNvPr>
            <p:cNvSpPr>
              <a:spLocks noGrp="1"/>
            </p:cNvSpPr>
            <p:nvPr/>
          </p:nvSpPr>
          <p:spPr>
            <a:xfrm>
              <a:off x="508586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1" name="diagram block">
              <a:extLst>
                <a:ext uri="{FF2B5EF4-FFF2-40B4-BE49-F238E27FC236}">
                  <ns2:creationId id="{52D1C051-F851-477C-8602-B82565180DA9}"/>
                </a:ext>
              </a:extLst>
            </p:cNvPr>
            <p:cNvSpPr>
              <a:spLocks noGrp="1"/>
            </p:cNvSpPr>
            <p:nvPr/>
          </p:nvSpPr>
          <p:spPr>
            <a:xfrm>
              <a:off x="520425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2" name="diagram block">
              <a:extLst>
                <a:ext uri="{FF2B5EF4-FFF2-40B4-BE49-F238E27FC236}">
                  <ns2:creationId id="{AD1F08CC-4038-4A53-BA6B-155094C47B5D}"/>
                </a:ext>
              </a:extLst>
            </p:cNvPr>
            <p:cNvSpPr>
              <a:spLocks noGrp="1"/>
            </p:cNvSpPr>
            <p:nvPr/>
          </p:nvSpPr>
          <p:spPr>
            <a:xfrm>
              <a:off x="532264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3" name="diagram block">
              <a:extLst>
                <a:ext uri="{FF2B5EF4-FFF2-40B4-BE49-F238E27FC236}">
                  <ns2:creationId id="{ED4A9CC0-FE69-43B1-A497-15D03F868259}"/>
                </a:ext>
              </a:extLst>
            </p:cNvPr>
            <p:cNvSpPr>
              <a:spLocks noGrp="1"/>
            </p:cNvSpPr>
            <p:nvPr/>
          </p:nvSpPr>
          <p:spPr>
            <a:xfrm>
              <a:off x="5441029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4" name="diagram block">
              <a:extLst>
                <a:ext uri="{FF2B5EF4-FFF2-40B4-BE49-F238E27FC236}">
                  <ns2:creationId id="{BF6EB278-A7C4-423F-B5D5-D84D5AD672A5}"/>
                </a:ext>
              </a:extLst>
            </p:cNvPr>
            <p:cNvSpPr>
              <a:spLocks noGrp="1"/>
            </p:cNvSpPr>
            <p:nvPr/>
          </p:nvSpPr>
          <p:spPr>
            <a:xfrm>
              <a:off x="555941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5" name="diagram block">
              <a:extLst>
                <a:ext uri="{FF2B5EF4-FFF2-40B4-BE49-F238E27FC236}">
                  <ns2:creationId id="{41986CFD-1376-41D0-815E-D4AD429A2E4D}"/>
                </a:ext>
              </a:extLst>
            </p:cNvPr>
            <p:cNvSpPr>
              <a:spLocks noGrp="1"/>
            </p:cNvSpPr>
            <p:nvPr/>
          </p:nvSpPr>
          <p:spPr>
            <a:xfrm>
              <a:off x="567780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6" name="diagram block">
              <a:extLst>
                <a:ext uri="{FF2B5EF4-FFF2-40B4-BE49-F238E27FC236}">
                  <ns2:creationId id="{802D8112-9AC1-4ED9-93EC-CB36FF7F965D}"/>
                </a:ext>
              </a:extLst>
            </p:cNvPr>
            <p:cNvSpPr>
              <a:spLocks noGrp="1"/>
            </p:cNvSpPr>
            <p:nvPr/>
          </p:nvSpPr>
          <p:spPr>
            <a:xfrm>
              <a:off x="5796190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7" name="diagram block">
              <a:extLst>
                <a:ext uri="{FF2B5EF4-FFF2-40B4-BE49-F238E27FC236}">
                  <ns2:creationId id="{ACB5CC87-0637-499F-BECD-F45216828C74}"/>
                </a:ext>
              </a:extLst>
            </p:cNvPr>
            <p:cNvSpPr>
              <a:spLocks noGrp="1"/>
            </p:cNvSpPr>
            <p:nvPr/>
          </p:nvSpPr>
          <p:spPr>
            <a:xfrm>
              <a:off x="5914576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8" name="diagram block">
              <a:extLst>
                <a:ext uri="{FF2B5EF4-FFF2-40B4-BE49-F238E27FC236}">
                  <ns2:creationId id="{6A4AE3BB-0C43-4C6A-90E1-BC38AA30CE04}"/>
                </a:ext>
              </a:extLst>
            </p:cNvPr>
            <p:cNvSpPr>
              <a:spLocks noGrp="1"/>
            </p:cNvSpPr>
            <p:nvPr/>
          </p:nvSpPr>
          <p:spPr>
            <a:xfrm>
              <a:off x="6032963" y="634837"/>
              <a:ext cx="118387" cy="108387"/>
            </a:xfrm>
            <a:prstGeom prst="rect">
              <a:avLst/>
            </a:prstGeom>
            <a:solidFill>
              <a:srgbClr val="F3F4F5"/>
            </a:solidFill>
            <a:ln w="3871">
              <a:solidFill>
                <a:srgbClr val="58697C"/>
              </a:solidFill>
              <a:prstDash val="solid"/>
            </a:ln>
          </p:spPr>
        </p:sp>
        <p:sp>
          <p:nvSpPr>
            <p:cNvPr id="129" name="diagram block">
              <a:extLst>
                <a:ext uri="{FF2B5EF4-FFF2-40B4-BE49-F238E27FC236}">
                  <ns2:creationId id="{2975805C-20A7-4A45-BCC7-505C3377887E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0" name="diagram block">
              <a:extLst>
                <a:ext uri="{FF2B5EF4-FFF2-40B4-BE49-F238E27FC236}">
                  <ns2:creationId id="{B70976BF-23C2-46BA-B7E6-A5EC673EDD64}"/>
                </a:ext>
              </a:extLst>
            </p:cNvPr>
            <p:cNvSpPr>
              <a:spLocks noGrp="1"/>
            </p:cNvSpPr>
            <p:nvPr/>
          </p:nvSpPr>
          <p:spPr>
            <a:xfrm>
              <a:off x="435845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1" name="diagram block">
              <a:extLst>
                <a:ext uri="{FF2B5EF4-FFF2-40B4-BE49-F238E27FC236}">
                  <ns2:creationId id="{80C5F457-2125-4490-8835-9B4AD34F8D4F}"/>
                </a:ext>
              </a:extLst>
            </p:cNvPr>
            <p:cNvSpPr>
              <a:spLocks noGrp="1"/>
            </p:cNvSpPr>
            <p:nvPr/>
          </p:nvSpPr>
          <p:spPr>
            <a:xfrm>
              <a:off x="445974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2" name="diagram block">
              <a:extLst>
                <a:ext uri="{FF2B5EF4-FFF2-40B4-BE49-F238E27FC236}">
                  <ns2:creationId id="{F307D569-7DC8-4A15-B894-2AA64F232294}"/>
                </a:ext>
              </a:extLst>
            </p:cNvPr>
            <p:cNvSpPr>
              <a:spLocks noGrp="1"/>
            </p:cNvSpPr>
            <p:nvPr/>
          </p:nvSpPr>
          <p:spPr>
            <a:xfrm>
              <a:off x="456103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3" name="diagram block">
              <a:extLst>
                <a:ext uri="{FF2B5EF4-FFF2-40B4-BE49-F238E27FC236}">
                  <ns2:creationId id="{E194B8A3-DE9D-442A-82D3-74F2F0DCA69B}"/>
                </a:ext>
              </a:extLst>
            </p:cNvPr>
            <p:cNvSpPr>
              <a:spLocks noGrp="1"/>
            </p:cNvSpPr>
            <p:nvPr/>
          </p:nvSpPr>
          <p:spPr>
            <a:xfrm>
              <a:off x="466232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4" name="diagram block">
              <a:extLst>
                <a:ext uri="{FF2B5EF4-FFF2-40B4-BE49-F238E27FC236}">
                  <ns2:creationId id="{D39B4214-877E-4481-AB28-5FB504C18E11}"/>
                </a:ext>
              </a:extLst>
            </p:cNvPr>
            <p:cNvSpPr>
              <a:spLocks noGrp="1"/>
            </p:cNvSpPr>
            <p:nvPr/>
          </p:nvSpPr>
          <p:spPr>
            <a:xfrm>
              <a:off x="476361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5" name="diagram block">
              <a:extLst>
                <a:ext uri="{FF2B5EF4-FFF2-40B4-BE49-F238E27FC236}">
                  <ns2:creationId id="{EC8BB4FC-7B9E-406F-AD1D-1D0CBDF0BCFB}"/>
                </a:ext>
              </a:extLst>
            </p:cNvPr>
            <p:cNvSpPr>
              <a:spLocks noGrp="1"/>
            </p:cNvSpPr>
            <p:nvPr/>
          </p:nvSpPr>
          <p:spPr>
            <a:xfrm>
              <a:off x="486490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6" name="diagram block">
              <a:extLst>
                <a:ext uri="{FF2B5EF4-FFF2-40B4-BE49-F238E27FC236}">
                  <ns2:creationId id="{3D7789C9-1ECC-4D06-93D5-63BDA66D76CE}"/>
                </a:ext>
              </a:extLst>
            </p:cNvPr>
            <p:cNvSpPr>
              <a:spLocks noGrp="1"/>
            </p:cNvSpPr>
            <p:nvPr/>
          </p:nvSpPr>
          <p:spPr>
            <a:xfrm>
              <a:off x="4966192" y="794836"/>
              <a:ext cx="101290" cy="103225"/>
            </a:xfrm>
            <a:prstGeom prst="rect">
              <a:avLst/>
            </a:prstGeom>
            <a:solidFill>
              <a:srgbClr val="A3DBED"/>
            </a:solidFill>
            <a:ln w="4129">
              <a:solidFill>
                <a:srgbClr val="2F89AB"/>
              </a:solidFill>
              <a:prstDash val="solid"/>
            </a:ln>
          </p:spPr>
        </p:sp>
        <p:sp>
          <p:nvSpPr>
            <p:cNvPr id="137" name="diagram block">
              <a:extLst>
                <a:ext uri="{FF2B5EF4-FFF2-40B4-BE49-F238E27FC236}">
                  <ns2:creationId id="{F062B576-DC66-4B16-ADEE-9655B2F01472}"/>
                </a:ext>
              </a:extLst>
            </p:cNvPr>
            <p:cNvSpPr>
              <a:spLocks noGrp="1"/>
            </p:cNvSpPr>
            <p:nvPr/>
          </p:nvSpPr>
          <p:spPr>
            <a:xfrm>
              <a:off x="5103611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38" name="diagram block">
              <a:extLst>
                <a:ext uri="{FF2B5EF4-FFF2-40B4-BE49-F238E27FC236}">
                  <ns2:creationId id="{12E9F3DF-FA2B-409E-8EF0-72ABFA3BC966}"/>
                </a:ext>
              </a:extLst>
            </p:cNvPr>
            <p:cNvSpPr>
              <a:spLocks noGrp="1"/>
            </p:cNvSpPr>
            <p:nvPr/>
          </p:nvSpPr>
          <p:spPr>
            <a:xfrm>
              <a:off x="5199095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39" name="diagram block">
              <a:extLst>
                <a:ext uri="{FF2B5EF4-FFF2-40B4-BE49-F238E27FC236}">
                  <ns2:creationId id="{DEA5BD46-5873-405F-ABFB-F09BA4BB8FA1}"/>
                </a:ext>
              </a:extLst>
            </p:cNvPr>
            <p:cNvSpPr>
              <a:spLocks noGrp="1"/>
            </p:cNvSpPr>
            <p:nvPr/>
          </p:nvSpPr>
          <p:spPr>
            <a:xfrm>
              <a:off x="5294578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0" name="diagram block">
              <a:extLst>
                <a:ext uri="{FF2B5EF4-FFF2-40B4-BE49-F238E27FC236}">
                  <ns2:creationId id="{72C97A67-824E-4AC4-9E02-86310C7AFC0B}"/>
                </a:ext>
              </a:extLst>
            </p:cNvPr>
            <p:cNvSpPr>
              <a:spLocks noGrp="1"/>
            </p:cNvSpPr>
            <p:nvPr/>
          </p:nvSpPr>
          <p:spPr>
            <a:xfrm>
              <a:off x="5390062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1" name="diagram block">
              <a:extLst>
                <a:ext uri="{FF2B5EF4-FFF2-40B4-BE49-F238E27FC236}">
                  <ns2:creationId id="{C1A25972-3292-4CB3-A988-F099BBBB65E4}"/>
                </a:ext>
              </a:extLst>
            </p:cNvPr>
            <p:cNvSpPr>
              <a:spLocks noGrp="1"/>
            </p:cNvSpPr>
            <p:nvPr/>
          </p:nvSpPr>
          <p:spPr>
            <a:xfrm>
              <a:off x="5485545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2" name="diagram block">
              <a:extLst>
                <a:ext uri="{FF2B5EF4-FFF2-40B4-BE49-F238E27FC236}">
                  <ns2:creationId id="{F3B97B3F-FC1B-4E77-B88E-1D794890EF41}"/>
                </a:ext>
              </a:extLst>
            </p:cNvPr>
            <p:cNvSpPr>
              <a:spLocks noGrp="1"/>
            </p:cNvSpPr>
            <p:nvPr/>
          </p:nvSpPr>
          <p:spPr>
            <a:xfrm>
              <a:off x="5581029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3" name="diagram block">
              <a:extLst>
                <a:ext uri="{FF2B5EF4-FFF2-40B4-BE49-F238E27FC236}">
                  <ns2:creationId id="{6DEAB5AD-D232-4382-B65C-67E84773BF34}"/>
                </a:ext>
              </a:extLst>
            </p:cNvPr>
            <p:cNvSpPr>
              <a:spLocks noGrp="1"/>
            </p:cNvSpPr>
            <p:nvPr/>
          </p:nvSpPr>
          <p:spPr>
            <a:xfrm>
              <a:off x="5676513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4" name="diagram block">
              <a:extLst>
                <a:ext uri="{FF2B5EF4-FFF2-40B4-BE49-F238E27FC236}">
                  <ns2:creationId id="{19950443-8E05-4390-92A3-3C550204F1F9}"/>
                </a:ext>
              </a:extLst>
            </p:cNvPr>
            <p:cNvSpPr>
              <a:spLocks noGrp="1"/>
            </p:cNvSpPr>
            <p:nvPr/>
          </p:nvSpPr>
          <p:spPr>
            <a:xfrm>
              <a:off x="5771996" y="794836"/>
              <a:ext cx="95484" cy="103225"/>
            </a:xfrm>
            <a:prstGeom prst="rect">
              <a:avLst/>
            </a:prstGeom>
            <a:solidFill>
              <a:srgbClr val="A1DAD7"/>
            </a:solidFill>
            <a:ln w="4129">
              <a:solidFill>
                <a:srgbClr val="378C8E"/>
              </a:solidFill>
              <a:prstDash val="solid"/>
            </a:ln>
          </p:spPr>
        </p:sp>
        <p:sp>
          <p:nvSpPr>
            <p:cNvPr id="145" name="…">
              <a:extLst>
                <a:ext uri="{FF2B5EF4-FFF2-40B4-BE49-F238E27FC236}">
                  <ns2:creationId id="{818A4CA8-64BA-4770-B343-12D815DCB16F}"/>
                </a:ext>
              </a:extLst>
            </p:cNvPr>
            <p:cNvSpPr>
              <a:spLocks noGrp="1"/>
            </p:cNvSpPr>
            <p:nvPr/>
          </p:nvSpPr>
          <p:spPr>
            <a:xfrm>
              <a:off x="6027479" y="738062"/>
              <a:ext cx="247741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231"/>
            </a:bodyPr>
            <a:lstStyle>
              <a:def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cxnSp>
          <p:nvCxnSpPr>
            <p:cNvPr id="146" name="native PowerPoint connector">
              <a:extLst>
                <a:ext uri="{FF2B5EF4-FFF2-40B4-BE49-F238E27FC236}">
                  <ns2:creationId id="{1985DEBD-C34C-4976-AD08-0F76D1AA8693}"/>
                </a:ext>
              </a:extLst>
            </p:cNvPr>
            <p:cNvCxnSpPr/>
            <p:nvPr/>
          </p:nvCxnSpPr>
          <p:spPr>
            <a:xfrm flipH="0" flipV="0">
              <a:off x="4257162" y="918707"/>
              <a:ext cx="0" cy="30968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cxnSp>
          <p:nvCxnSpPr>
            <p:cNvPr id="147" name="native PowerPoint connector">
              <a:extLst>
                <a:ext uri="{FF2B5EF4-FFF2-40B4-BE49-F238E27FC236}">
                  <ns2:creationId id="{867A9CBD-3774-45F5-938A-8F49B40D2DBE}"/>
                </a:ext>
              </a:extLst>
            </p:cNvPr>
            <p:cNvCxnSpPr/>
            <p:nvPr/>
          </p:nvCxnSpPr>
          <p:spPr>
            <a:xfrm flipH="0" flipV="0">
              <a:off x="4257162" y="949674"/>
              <a:ext cx="799997" cy="0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cxnSp>
          <p:nvCxnSpPr>
            <p:cNvPr id="148" name="native PowerPoint connector">
              <a:extLst>
                <a:ext uri="{FF2B5EF4-FFF2-40B4-BE49-F238E27FC236}">
                  <ns2:creationId id="{D7C29A1F-7EA6-4446-8AF5-FAC50F1A02B7}"/>
                </a:ext>
              </a:extLst>
            </p:cNvPr>
            <p:cNvCxnSpPr/>
            <p:nvPr/>
          </p:nvCxnSpPr>
          <p:spPr>
            <a:xfrm flipH="0" flipV="1">
              <a:off x="5057160" y="918707"/>
              <a:ext cx="0" cy="30968"/>
            </a:xfrm>
            <a:prstGeom prst="straightConnector1">
              <a:avLst/>
            </a:prstGeom>
            <a:ln w="5677">
              <a:solidFill>
                <a:srgbClr val="074A8B"/>
              </a:solidFill>
              <a:prstDash val="solid"/>
            </a:ln>
          </p:spPr>
        </p:cxnSp>
        <p:sp>
          <p:nvSpPr>
            <p:cNvPr id="149" name="Group g (32 scalars)">
              <a:extLst>
                <a:ext uri="{FF2B5EF4-FFF2-40B4-BE49-F238E27FC236}">
                  <ns2:creationId id="{F35726CD-A1B1-4AF9-A9F1-142576546A71}"/>
                </a:ext>
              </a:extLst>
            </p:cNvPr>
            <p:cNvSpPr>
              <a:spLocks noGrp="1"/>
            </p:cNvSpPr>
            <p:nvPr/>
          </p:nvSpPr>
          <p:spPr>
            <a:xfrm>
              <a:off x="4257162" y="970319"/>
              <a:ext cx="856771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Group g (32 scalars)</a:t>
              </a:r>
            </a:p>
          </p:txBody>
        </p:sp>
        <p:sp>
          <p:nvSpPr>
            <p:cNvPr id="150" name="Group g + 1">
              <a:extLst>
                <a:ext uri="{FF2B5EF4-FFF2-40B4-BE49-F238E27FC236}">
                  <ns2:creationId id="{43634080-D69D-484A-8512-BD16553C5404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970319"/>
              <a:ext cx="614192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Group g + 1</a:t>
              </a:r>
            </a:p>
          </p:txBody>
        </p:sp>
        <p:sp>
          <p:nvSpPr>
            <p:cNvPr id="151" name="diagram block">
              <a:extLst>
                <a:ext uri="{FF2B5EF4-FFF2-40B4-BE49-F238E27FC236}">
                  <ns2:creationId id="{FF4CDA9C-F354-4C54-844C-ACA8236CAF81}"/>
                </a:ext>
              </a:extLst>
            </p:cNvPr>
            <p:cNvSpPr>
              <a:spLocks noGrp="1"/>
            </p:cNvSpPr>
            <p:nvPr/>
          </p:nvSpPr>
          <p:spPr>
            <a:xfrm>
              <a:off x="4061034" y="1145803"/>
              <a:ext cx="2178058" cy="319999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5161">
              <a:solidFill>
                <a:srgbClr val="5C6D82"/>
              </a:solidFill>
              <a:prstDash val="dash"/>
            </a:ln>
          </p:spPr>
        </p:sp>
        <p:sp>
          <p:nvSpPr>
            <p:cNvPr id="152" name="32 scalars = 8 vectors (d = 4)">
              <a:extLst>
                <a:ext uri="{FF2B5EF4-FFF2-40B4-BE49-F238E27FC236}">
                  <ns2:creationId id="{CA1EC2CA-B305-476C-822D-5528BF5A4D54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1171609"/>
              <a:ext cx="2043864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32 scalars = 8 vectors (d = 4)</a:t>
              </a:r>
            </a:p>
          </p:txBody>
        </p:sp>
        <p:sp>
          <p:nvSpPr>
            <p:cNvPr id="153" name="diagram block">
              <a:extLst>
                <a:ext uri="{FF2B5EF4-FFF2-40B4-BE49-F238E27FC236}">
                  <ns2:creationId id="{C1BCE9AC-FA19-46C6-A56B-99B84407DF34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4" name="diagram block">
              <a:extLst>
                <a:ext uri="{FF2B5EF4-FFF2-40B4-BE49-F238E27FC236}">
                  <ns2:creationId id="{1E66AFDB-3D86-49E0-82F4-7C8A2C4E7E70}"/>
                </a:ext>
              </a:extLst>
            </p:cNvPr>
            <p:cNvSpPr>
              <a:spLocks noGrp="1"/>
            </p:cNvSpPr>
            <p:nvPr/>
          </p:nvSpPr>
          <p:spPr>
            <a:xfrm>
              <a:off x="4310065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5" name="diagram block">
              <a:extLst>
                <a:ext uri="{FF2B5EF4-FFF2-40B4-BE49-F238E27FC236}">
                  <ns2:creationId id="{60D126BB-7ACE-4EA2-85B5-8A7D89A09548}"/>
                </a:ext>
              </a:extLst>
            </p:cNvPr>
            <p:cNvSpPr>
              <a:spLocks noGrp="1"/>
            </p:cNvSpPr>
            <p:nvPr/>
          </p:nvSpPr>
          <p:spPr>
            <a:xfrm>
              <a:off x="4414581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6" name="diagram block">
              <a:extLst>
                <a:ext uri="{FF2B5EF4-FFF2-40B4-BE49-F238E27FC236}">
                  <ns2:creationId id="{47E2BEFB-FD85-4C36-8E0C-92FE5194221A}"/>
                </a:ext>
              </a:extLst>
            </p:cNvPr>
            <p:cNvSpPr>
              <a:spLocks noGrp="1"/>
            </p:cNvSpPr>
            <p:nvPr/>
          </p:nvSpPr>
          <p:spPr>
            <a:xfrm>
              <a:off x="4519097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7" name="diagram block">
              <a:extLst>
                <a:ext uri="{FF2B5EF4-FFF2-40B4-BE49-F238E27FC236}">
                  <ns2:creationId id="{0FB34075-3B7F-4CD9-A381-5B65B9518A97}"/>
                </a:ext>
              </a:extLst>
            </p:cNvPr>
            <p:cNvSpPr>
              <a:spLocks noGrp="1"/>
            </p:cNvSpPr>
            <p:nvPr/>
          </p:nvSpPr>
          <p:spPr>
            <a:xfrm>
              <a:off x="4695871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8" name="diagram block">
              <a:extLst>
                <a:ext uri="{FF2B5EF4-FFF2-40B4-BE49-F238E27FC236}">
                  <ns2:creationId id="{50E73494-D700-448E-8723-9C39957EEEE2}"/>
                </a:ext>
              </a:extLst>
            </p:cNvPr>
            <p:cNvSpPr>
              <a:spLocks noGrp="1"/>
            </p:cNvSpPr>
            <p:nvPr/>
          </p:nvSpPr>
          <p:spPr>
            <a:xfrm>
              <a:off x="4800386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59" name="diagram block">
              <a:extLst>
                <a:ext uri="{FF2B5EF4-FFF2-40B4-BE49-F238E27FC236}">
                  <ns2:creationId id="{AB4900D6-A905-4199-AF23-0AD45850D6A7}"/>
                </a:ext>
              </a:extLst>
            </p:cNvPr>
            <p:cNvSpPr>
              <a:spLocks noGrp="1"/>
            </p:cNvSpPr>
            <p:nvPr/>
          </p:nvSpPr>
          <p:spPr>
            <a:xfrm>
              <a:off x="4904902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0" name="diagram block">
              <a:extLst>
                <a:ext uri="{FF2B5EF4-FFF2-40B4-BE49-F238E27FC236}">
                  <ns2:creationId id="{29681BEE-3642-4784-B5EB-7F7CB3373E25}"/>
                </a:ext>
              </a:extLst>
            </p:cNvPr>
            <p:cNvSpPr>
              <a:spLocks noGrp="1"/>
            </p:cNvSpPr>
            <p:nvPr/>
          </p:nvSpPr>
          <p:spPr>
            <a:xfrm>
              <a:off x="5009418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1" name="diagram block">
              <a:extLst>
                <a:ext uri="{FF2B5EF4-FFF2-40B4-BE49-F238E27FC236}">
                  <ns2:creationId id="{0A9D34F3-8F71-489D-A11D-6D8001D09C74}"/>
                </a:ext>
              </a:extLst>
            </p:cNvPr>
            <p:cNvSpPr>
              <a:spLocks noGrp="1"/>
            </p:cNvSpPr>
            <p:nvPr/>
          </p:nvSpPr>
          <p:spPr>
            <a:xfrm>
              <a:off x="5284256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2" name="diagram block">
              <a:extLst>
                <a:ext uri="{FF2B5EF4-FFF2-40B4-BE49-F238E27FC236}">
                  <ns2:creationId id="{36171803-74B7-4A2F-A9B5-06B1143C068E}"/>
                </a:ext>
              </a:extLst>
            </p:cNvPr>
            <p:cNvSpPr>
              <a:spLocks noGrp="1"/>
            </p:cNvSpPr>
            <p:nvPr/>
          </p:nvSpPr>
          <p:spPr>
            <a:xfrm>
              <a:off x="5388772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3" name="diagram block">
              <a:extLst>
                <a:ext uri="{FF2B5EF4-FFF2-40B4-BE49-F238E27FC236}">
                  <ns2:creationId id="{3D36768B-CC95-4D7E-8DB8-64BA66C321B9}"/>
                </a:ext>
              </a:extLst>
            </p:cNvPr>
            <p:cNvSpPr>
              <a:spLocks noGrp="1"/>
            </p:cNvSpPr>
            <p:nvPr/>
          </p:nvSpPr>
          <p:spPr>
            <a:xfrm>
              <a:off x="5493287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4" name="diagram block">
              <a:extLst>
                <a:ext uri="{FF2B5EF4-FFF2-40B4-BE49-F238E27FC236}">
                  <ns2:creationId id="{E05D3853-0DA3-4C3F-9CEB-E946D24EAFE4}"/>
                </a:ext>
              </a:extLst>
            </p:cNvPr>
            <p:cNvSpPr>
              <a:spLocks noGrp="1"/>
            </p:cNvSpPr>
            <p:nvPr/>
          </p:nvSpPr>
          <p:spPr>
            <a:xfrm>
              <a:off x="5597803" y="1326447"/>
              <a:ext cx="104516" cy="92903"/>
            </a:xfrm>
            <a:prstGeom prst="rect">
              <a:avLst/>
            </a:prstGeom>
            <a:solidFill>
              <a:srgbClr val="F1F3F4"/>
            </a:solidFill>
            <a:ln w="3355">
              <a:solidFill>
                <a:srgbClr val="627386"/>
              </a:solidFill>
              <a:prstDash val="solid"/>
            </a:ln>
          </p:spPr>
        </p:sp>
        <p:sp>
          <p:nvSpPr>
            <p:cNvPr id="165" name="…">
              <a:extLst>
                <a:ext uri="{FF2B5EF4-FFF2-40B4-BE49-F238E27FC236}">
                  <ns2:creationId id="{B211E4A6-B1B8-4DAD-BA4B-36887A29F9A9}"/>
                </a:ext>
              </a:extLst>
            </p:cNvPr>
            <p:cNvSpPr>
              <a:spLocks noGrp="1"/>
            </p:cNvSpPr>
            <p:nvPr/>
          </p:nvSpPr>
          <p:spPr>
            <a:xfrm>
              <a:off x="5129418" y="1300641"/>
              <a:ext cx="123871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4"/>
            </a:bodyPr>
            <a:lstStyle>
              <a:def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6" name="…">
              <a:extLst>
                <a:ext uri="{FF2B5EF4-FFF2-40B4-BE49-F238E27FC236}">
                  <ns2:creationId id="{E8E18477-E1F1-416C-A8E5-56821C734F55}"/>
                </a:ext>
              </a:extLst>
            </p:cNvPr>
            <p:cNvSpPr>
              <a:spLocks noGrp="1"/>
            </p:cNvSpPr>
            <p:nvPr/>
          </p:nvSpPr>
          <p:spPr>
            <a:xfrm>
              <a:off x="5944899" y="1300641"/>
              <a:ext cx="134193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4"/>
            </a:bodyPr>
            <a:lstStyle>
              <a:def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cxnSp>
          <p:nvCxnSpPr>
            <p:cNvPr id="167" name="native PowerPoint connector">
              <a:extLst>
                <a:ext uri="{FF2B5EF4-FFF2-40B4-BE49-F238E27FC236}">
                  <ns2:creationId id="{9375AE94-F0E9-4589-BA22-B29DAE1CCFAE}"/>
                </a:ext>
              </a:extLst>
            </p:cNvPr>
            <p:cNvCxnSpPr/>
            <p:nvPr/>
          </p:nvCxnSpPr>
          <p:spPr>
            <a:xfrm flipH="1" flipV="0">
              <a:off x="4169421" y="799997"/>
              <a:ext cx="92903" cy="0"/>
            </a:xfrm>
            <a:prstGeom prst="straightConnector1">
              <a:avLst/>
            </a:prstGeom>
            <a:ln w="6194">
              <a:solidFill>
                <a:srgbClr val="246EAF"/>
              </a:solidFill>
              <a:prstDash val="dash"/>
            </a:ln>
          </p:spPr>
        </p:cxnSp>
        <p:cxnSp>
          <p:nvCxnSpPr>
            <p:cNvPr id="168" name="native PowerPoint connector">
              <a:extLst>
                <a:ext uri="{FF2B5EF4-FFF2-40B4-BE49-F238E27FC236}">
                  <ns2:creationId id="{339933C2-93AF-4879-83FC-67715A813B6B}"/>
                </a:ext>
              </a:extLst>
            </p:cNvPr>
            <p:cNvCxnSpPr/>
            <p:nvPr/>
          </p:nvCxnSpPr>
          <p:spPr>
            <a:xfrm flipH="1" flipV="0">
              <a:off x="4076518" y="799997"/>
              <a:ext cx="92903" cy="345805"/>
            </a:xfrm>
            <a:prstGeom prst="straightConnector1">
              <a:avLst/>
            </a:prstGeom>
            <a:ln w="6194">
              <a:solidFill>
                <a:srgbClr val="246EAF"/>
              </a:solidFill>
              <a:prstDash val="dash"/>
              <a:tailEnd type="triangle" w="sm" len="sm"/>
            </a:ln>
          </p:spPr>
        </p:cxnSp>
        <p:cxnSp>
          <p:nvCxnSpPr>
            <p:cNvPr id="169" name="native PowerPoint connector">
              <a:extLst>
                <a:ext uri="{FF2B5EF4-FFF2-40B4-BE49-F238E27FC236}">
                  <ns2:creationId id="{E3B70F9D-DD5D-4A47-8660-2762132725C6}"/>
                </a:ext>
              </a:extLst>
            </p:cNvPr>
            <p:cNvCxnSpPr/>
            <p:nvPr/>
          </p:nvCxnSpPr>
          <p:spPr>
            <a:xfrm flipH="0" flipV="0">
              <a:off x="5862318" y="908384"/>
              <a:ext cx="211612" cy="82580"/>
            </a:xfrm>
            <a:prstGeom prst="straightConnector1">
              <a:avLst/>
            </a:prstGeom>
            <a:ln w="5677">
              <a:solidFill>
                <a:srgbClr val="69748A"/>
              </a:solidFill>
              <a:prstDash val="dash"/>
            </a:ln>
          </p:spPr>
        </p:cxnSp>
        <p:cxnSp>
          <p:nvCxnSpPr>
            <p:cNvPr id="170" name="native PowerPoint connector">
              <a:extLst>
                <a:ext uri="{FF2B5EF4-FFF2-40B4-BE49-F238E27FC236}">
                  <ns2:creationId id="{9B79C00A-6276-44C5-91A1-64018092EA31}"/>
                </a:ext>
              </a:extLst>
            </p:cNvPr>
            <p:cNvCxnSpPr/>
            <p:nvPr/>
          </p:nvCxnSpPr>
          <p:spPr>
            <a:xfrm flipH="0" flipV="0">
              <a:off x="6073931" y="990965"/>
              <a:ext cx="118709" cy="149677"/>
            </a:xfrm>
            <a:prstGeom prst="straightConnector1">
              <a:avLst/>
            </a:prstGeom>
            <a:ln w="5677">
              <a:solidFill>
                <a:srgbClr val="69748A"/>
              </a:solidFill>
              <a:prstDash val="dash"/>
            </a:ln>
          </p:spPr>
        </p:cxnSp>
        <p:sp>
          <p:nvSpPr>
            <p:cNvPr id="171" name="diagram block">
              <a:extLst>
                <a:ext uri="{FF2B5EF4-FFF2-40B4-BE49-F238E27FC236}">
                  <ns2:creationId id="{EA5BCF92-2DFF-4C58-9AC4-52E4CABFCD7C}"/>
                </a:ext>
              </a:extLst>
            </p:cNvPr>
            <p:cNvSpPr>
              <a:spLocks noGrp="1"/>
            </p:cNvSpPr>
            <p:nvPr/>
          </p:nvSpPr>
          <p:spPr>
            <a:xfrm>
              <a:off x="4035228" y="1517415"/>
              <a:ext cx="1109674" cy="954836"/>
            </a:xfrm>
            <a:prstGeom prst="roundRect">
              <a:avLst>
                <a:gd name="adj" fmla="val 2162"/>
              </a:avLst>
            </a:prstGeom>
            <a:solidFill>
              <a:srgbClr val="F3F9FF"/>
            </a:solidFill>
            <a:ln w="5161">
              <a:solidFill>
                <a:srgbClr val="6BB7EB"/>
              </a:solidFill>
              <a:prstDash val="solid"/>
            </a:ln>
          </p:spPr>
        </p:sp>
        <p:sp>
          <p:nvSpPr>
            <p:cNvPr id="172" name="Codebook 1">
              <a:extLst>
                <a:ext uri="{FF2B5EF4-FFF2-40B4-BE49-F238E27FC236}">
                  <ns2:creationId id="{CF06005B-D580-4F4C-B6CE-60E53088088B}"/>
                </a:ext>
              </a:extLst>
            </p:cNvPr>
            <p:cNvSpPr>
              <a:spLocks noGrp="1"/>
            </p:cNvSpPr>
            <p:nvPr/>
          </p:nvSpPr>
          <p:spPr>
            <a:xfrm>
              <a:off x="4086840" y="1543221"/>
              <a:ext cx="1006448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Codebook 1</a:t>
              </a:r>
            </a:p>
          </p:txBody>
        </p:sp>
        <p:sp>
          <p:nvSpPr>
            <p:cNvPr id="173" name="C₁ ∈ ℝ²⁵⁶×⁴, BF16">
              <a:extLst>
                <a:ext uri="{FF2B5EF4-FFF2-40B4-BE49-F238E27FC236}">
                  <ns2:creationId id="{792F84A6-73FE-43DE-BDBB-6A926465AA7B}"/>
                </a:ext>
              </a:extLst>
            </p:cNvPr>
            <p:cNvSpPr>
              <a:spLocks noGrp="1"/>
            </p:cNvSpPr>
            <p:nvPr/>
          </p:nvSpPr>
          <p:spPr>
            <a:xfrm>
              <a:off x="4092002" y="1667091"/>
              <a:ext cx="990965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49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C₁ ∈ ℝ²⁵⁶×⁴, BF16</a:t>
              </a:r>
            </a:p>
          </p:txBody>
        </p:sp>
        <p:sp>
          <p:nvSpPr>
            <p:cNvPr id="174" name="8 indices">
              <a:extLst>
                <a:ext uri="{FF2B5EF4-FFF2-40B4-BE49-F238E27FC236}">
                  <ns2:creationId id="{FC3C79E3-44AC-429F-9838-AE9AD46CC017}"/>
                </a:ext>
              </a:extLst>
            </p:cNvPr>
            <p:cNvSpPr>
              <a:spLocks noGrp="1"/>
            </p:cNvSpPr>
            <p:nvPr/>
          </p:nvSpPr>
          <p:spPr>
            <a:xfrm>
              <a:off x="4076518" y="1796123"/>
              <a:ext cx="428386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indices</a:t>
              </a:r>
            </a:p>
          </p:txBody>
        </p:sp>
        <p:sp>
          <p:nvSpPr>
            <p:cNvPr id="175" name="i₁ (8-bit)">
              <a:extLst>
                <a:ext uri="{FF2B5EF4-FFF2-40B4-BE49-F238E27FC236}">
                  <ns2:creationId id="{061F90E7-4FF3-4B94-BFCB-DAA70B5D0FAD}"/>
                </a:ext>
              </a:extLst>
            </p:cNvPr>
            <p:cNvSpPr>
              <a:spLocks noGrp="1"/>
            </p:cNvSpPr>
            <p:nvPr/>
          </p:nvSpPr>
          <p:spPr>
            <a:xfrm>
              <a:off x="4107485" y="1909671"/>
              <a:ext cx="4129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 (8-bit)</a:t>
              </a:r>
            </a:p>
          </p:txBody>
        </p:sp>
        <p:sp>
          <p:nvSpPr>
            <p:cNvPr id="176" name="diagram block">
              <a:extLst>
                <a:ext uri="{FF2B5EF4-FFF2-40B4-BE49-F238E27FC236}">
                  <ns2:creationId id="{17E2516B-58E7-49D5-81AC-9FDFC3311BD2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04902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177" name="i₁,1">
              <a:extLst>
                <a:ext uri="{FF2B5EF4-FFF2-40B4-BE49-F238E27FC236}">
                  <ns2:creationId id="{E12996FD-31C9-47DA-824B-236480EAAF3D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074832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i₁,1</a:t>
              </a:r>
            </a:p>
          </p:txBody>
        </p:sp>
        <p:sp>
          <p:nvSpPr>
            <p:cNvPr id="178" name="diagram block">
              <a:extLst>
                <a:ext uri="{FF2B5EF4-FFF2-40B4-BE49-F238E27FC236}">
                  <ns2:creationId id="{3A266EDB-A096-4041-A767-6BBEEA3BFC2F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17289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179" name="i₁,2">
              <a:extLst>
                <a:ext uri="{FF2B5EF4-FFF2-40B4-BE49-F238E27FC236}">
                  <ns2:creationId id="{F9555AB2-F373-4941-B225-7F22F6FFC0C7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198703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i₁,2</a:t>
              </a:r>
            </a:p>
          </p:txBody>
        </p:sp>
        <p:sp>
          <p:nvSpPr>
            <p:cNvPr id="180" name="diagram block">
              <a:extLst>
                <a:ext uri="{FF2B5EF4-FFF2-40B4-BE49-F238E27FC236}">
                  <ns2:creationId id="{B1EA1EDC-EAD8-4CA8-9A5B-7C365799BF70}"/>
                </a:ext>
              </a:extLst>
            </p:cNvPr>
            <p:cNvSpPr>
              <a:spLocks noGrp="1"/>
            </p:cNvSpPr>
            <p:nvPr/>
          </p:nvSpPr>
          <p:spPr>
            <a:xfrm>
              <a:off x="4128130" y="2343218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181" name="i₁,8">
              <a:extLst>
                <a:ext uri="{FF2B5EF4-FFF2-40B4-BE49-F238E27FC236}">
                  <ns2:creationId id="{45EB3E69-3378-4F15-BC36-DED8B13FCBCD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2369025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i₁,8</a:t>
              </a:r>
            </a:p>
          </p:txBody>
        </p:sp>
        <p:sp>
          <p:nvSpPr>
            <p:cNvPr id="182" name="⋮">
              <a:extLst>
                <a:ext uri="{FF2B5EF4-FFF2-40B4-BE49-F238E27FC236}">
                  <ns2:creationId id="{9744C01E-69E6-4161-8A0B-BB32BBDFEF37}"/>
                </a:ext>
              </a:extLst>
            </p:cNvPr>
            <p:cNvSpPr>
              <a:spLocks noGrp="1"/>
            </p:cNvSpPr>
            <p:nvPr/>
          </p:nvSpPr>
          <p:spPr>
            <a:xfrm>
              <a:off x="4174582" y="2260638"/>
              <a:ext cx="129032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8652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183" name="8 codewords">
              <a:extLst>
                <a:ext uri="{FF2B5EF4-FFF2-40B4-BE49-F238E27FC236}">
                  <ns2:creationId id="{6D208940-9081-4E18-8155-42C62EA40CAF}"/>
                </a:ext>
              </a:extLst>
            </p:cNvPr>
            <p:cNvSpPr>
              <a:spLocks noGrp="1"/>
            </p:cNvSpPr>
            <p:nvPr/>
          </p:nvSpPr>
          <p:spPr>
            <a:xfrm>
              <a:off x="4572000" y="1796123"/>
              <a:ext cx="53161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codewords</a:t>
              </a:r>
            </a:p>
          </p:txBody>
        </p:sp>
        <p:sp>
          <p:nvSpPr>
            <p:cNvPr id="184" name="(4 scalars each)">
              <a:extLst>
                <a:ext uri="{FF2B5EF4-FFF2-40B4-BE49-F238E27FC236}">
                  <ns2:creationId id="{E4E1EFAF-F399-4CB7-B21E-51E93FF3FFF2}"/>
                </a:ext>
              </a:extLst>
            </p:cNvPr>
            <p:cNvSpPr>
              <a:spLocks noGrp="1"/>
            </p:cNvSpPr>
            <p:nvPr/>
          </p:nvSpPr>
          <p:spPr>
            <a:xfrm>
              <a:off x="4551355" y="1919994"/>
              <a:ext cx="567740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 scalars each)</a:t>
              </a:r>
            </a:p>
          </p:txBody>
        </p:sp>
        <p:sp>
          <p:nvSpPr>
            <p:cNvPr id="185" name="Lookup">
              <a:extLst>
                <a:ext uri="{FF2B5EF4-FFF2-40B4-BE49-F238E27FC236}">
                  <ns2:creationId id="{950669B3-5807-46BA-A3A0-7959ECBC5F4B}"/>
                </a:ext>
              </a:extLst>
            </p:cNvPr>
            <p:cNvSpPr>
              <a:spLocks noGrp="1"/>
            </p:cNvSpPr>
            <p:nvPr/>
          </p:nvSpPr>
          <p:spPr>
            <a:xfrm>
              <a:off x="4386194" y="2059348"/>
              <a:ext cx="309676" cy="980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cxnSp>
          <p:nvCxnSpPr>
            <p:cNvPr id="186" name="native PowerPoint connector">
              <a:extLst>
                <a:ext uri="{FF2B5EF4-FFF2-40B4-BE49-F238E27FC236}">
                  <ns2:creationId id="{A0C1CAB9-7A47-4C28-B700-17807E1A665A}"/>
                </a:ext>
              </a:extLst>
            </p:cNvPr>
            <p:cNvCxnSpPr/>
            <p:nvPr/>
          </p:nvCxnSpPr>
          <p:spPr>
            <a:xfrm flipH="0" flipV="0">
              <a:off x="4396517" y="2239993"/>
              <a:ext cx="299354" cy="0"/>
            </a:xfrm>
            <a:prstGeom prst="straightConnector1">
              <a:avLst/>
            </a:prstGeom>
            <a:ln w="7226">
              <a:solidFill>
                <a:srgbClr val="074A8B"/>
              </a:solidFill>
              <a:prstDash val="solid"/>
              <a:tailEnd type="triangle" w="sm" len="sm"/>
            </a:ln>
          </p:spPr>
        </p:cxnSp>
        <p:sp>
          <p:nvSpPr>
            <p:cNvPr id="187" name="diagram block">
              <a:extLst>
                <a:ext uri="{FF2B5EF4-FFF2-40B4-BE49-F238E27FC236}">
                  <ns2:creationId id="{BD778386-34D0-4A8B-9F02-B3567BA68792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88" name="diagram block">
              <a:extLst>
                <a:ext uri="{FF2B5EF4-FFF2-40B4-BE49-F238E27FC236}">
                  <ns2:creationId id="{877E915C-8489-48C2-A89B-9B31FAE9FD3B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89" name="diagram block">
              <a:extLst>
                <a:ext uri="{FF2B5EF4-FFF2-40B4-BE49-F238E27FC236}">
                  <ns2:creationId id="{0B1EBCB0-E9A8-4F61-8597-4EB4265AA48B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0" name="diagram block">
              <a:extLst>
                <a:ext uri="{FF2B5EF4-FFF2-40B4-BE49-F238E27FC236}">
                  <ns2:creationId id="{7B8DC7D2-B769-481C-BC6E-C9A69567E12E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054187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1" name="diagram block">
              <a:extLst>
                <a:ext uri="{FF2B5EF4-FFF2-40B4-BE49-F238E27FC236}">
                  <ns2:creationId id="{24B7E905-6D4A-4363-A1AF-40C493D10643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2" name="diagram block">
              <a:extLst>
                <a:ext uri="{FF2B5EF4-FFF2-40B4-BE49-F238E27FC236}">
                  <ns2:creationId id="{2BE88A07-F797-4804-984E-C0B551446C80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3" name="diagram block">
              <a:extLst>
                <a:ext uri="{FF2B5EF4-FFF2-40B4-BE49-F238E27FC236}">
                  <ns2:creationId id="{EEF2AC5A-7553-4DC7-8826-65DCE98C6211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4" name="diagram block">
              <a:extLst>
                <a:ext uri="{FF2B5EF4-FFF2-40B4-BE49-F238E27FC236}">
                  <ns2:creationId id="{0699597A-E52D-44E1-8413-C9AF0A20334E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17289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5" name="diagram block">
              <a:extLst>
                <a:ext uri="{FF2B5EF4-FFF2-40B4-BE49-F238E27FC236}">
                  <ns2:creationId id="{E8681A09-C296-4F24-B74F-6B732ED0EB23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6" name="diagram block">
              <a:extLst>
                <a:ext uri="{FF2B5EF4-FFF2-40B4-BE49-F238E27FC236}">
                  <ns2:creationId id="{5D5DFC6F-2922-4053-B426-885FB76196AA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7" name="diagram block">
              <a:extLst>
                <a:ext uri="{FF2B5EF4-FFF2-40B4-BE49-F238E27FC236}">
                  <ns2:creationId id="{C7CE7779-24FA-482D-9432-C20B6753CB2B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8" name="diagram block">
              <a:extLst>
                <a:ext uri="{FF2B5EF4-FFF2-40B4-BE49-F238E27FC236}">
                  <ns2:creationId id="{86FE5F2E-CD8E-4E16-BBB2-2DB9339168D2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291606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199" name="diagram block">
              <a:extLst>
                <a:ext uri="{FF2B5EF4-FFF2-40B4-BE49-F238E27FC236}">
                  <ns2:creationId id="{E53E97D6-AE71-443C-BF2A-AE4E1669F5A8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0" name="diagram block">
              <a:extLst>
                <a:ext uri="{FF2B5EF4-FFF2-40B4-BE49-F238E27FC236}">
                  <ns2:creationId id="{14AB0D85-4193-422A-898D-24B82DB03752}"/>
                </a:ext>
              </a:extLst>
            </p:cNvPr>
            <p:cNvSpPr>
              <a:spLocks noGrp="1"/>
            </p:cNvSpPr>
            <p:nvPr/>
          </p:nvSpPr>
          <p:spPr>
            <a:xfrm>
              <a:off x="4815870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1" name="diagram block">
              <a:extLst>
                <a:ext uri="{FF2B5EF4-FFF2-40B4-BE49-F238E27FC236}">
                  <ns2:creationId id="{0BD749BC-EC03-4420-8A01-D2E570491D80}"/>
                </a:ext>
              </a:extLst>
            </p:cNvPr>
            <p:cNvSpPr>
              <a:spLocks noGrp="1"/>
            </p:cNvSpPr>
            <p:nvPr/>
          </p:nvSpPr>
          <p:spPr>
            <a:xfrm>
              <a:off x="4884257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2" name="diagram block">
              <a:extLst>
                <a:ext uri="{FF2B5EF4-FFF2-40B4-BE49-F238E27FC236}">
                  <ns2:creationId id="{61BA9D72-6F1B-423B-B9D8-8EFE22CF990B}"/>
                </a:ext>
              </a:extLst>
            </p:cNvPr>
            <p:cNvSpPr>
              <a:spLocks noGrp="1"/>
            </p:cNvSpPr>
            <p:nvPr/>
          </p:nvSpPr>
          <p:spPr>
            <a:xfrm>
              <a:off x="4952644" y="2399992"/>
              <a:ext cx="68387" cy="61935"/>
            </a:xfrm>
            <a:prstGeom prst="rect">
              <a:avLst/>
            </a:prstGeom>
            <a:solidFill>
              <a:srgbClr val="8DC7EE"/>
            </a:solidFill>
            <a:ln w="3871">
              <a:solidFill>
                <a:srgbClr val="6BB7EB"/>
              </a:solidFill>
              <a:prstDash val="solid"/>
            </a:ln>
          </p:spPr>
        </p:sp>
        <p:sp>
          <p:nvSpPr>
            <p:cNvPr id="203" name="diagram block">
              <a:extLst>
                <a:ext uri="{FF2B5EF4-FFF2-40B4-BE49-F238E27FC236}">
                  <ns2:creationId id="{265E9D1D-F798-4014-A3E9-640CFB4ECF5E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1517415"/>
              <a:ext cx="1109674" cy="954836"/>
            </a:xfrm>
            <a:prstGeom prst="roundRect">
              <a:avLst>
                <a:gd name="adj" fmla="val 2162"/>
              </a:avLst>
            </a:prstGeom>
            <a:solidFill>
              <a:srgbClr val="EFFAF8"/>
            </a:solidFill>
            <a:ln w="5161">
              <a:solidFill>
                <a:srgbClr val="41A0A5"/>
              </a:solidFill>
              <a:prstDash val="solid"/>
            </a:ln>
          </p:spPr>
        </p:sp>
        <p:sp>
          <p:nvSpPr>
            <p:cNvPr id="204" name="Codebook 2">
              <a:extLst>
                <a:ext uri="{FF2B5EF4-FFF2-40B4-BE49-F238E27FC236}">
                  <ns2:creationId id="{FD558FC0-25DE-4AAB-BA17-E1EBADE899AF}"/>
                </a:ext>
              </a:extLst>
            </p:cNvPr>
            <p:cNvSpPr>
              <a:spLocks noGrp="1"/>
            </p:cNvSpPr>
            <p:nvPr/>
          </p:nvSpPr>
          <p:spPr>
            <a:xfrm>
              <a:off x="5341030" y="1543221"/>
              <a:ext cx="1006448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Codebook 2</a:t>
              </a:r>
            </a:p>
          </p:txBody>
        </p:sp>
        <p:sp>
          <p:nvSpPr>
            <p:cNvPr id="205" name="C₂ ∈ ℝ²⁵⁶×⁴, BF16">
              <a:extLst>
                <a:ext uri="{FF2B5EF4-FFF2-40B4-BE49-F238E27FC236}">
                  <ns2:creationId id="{A4ADB599-3A4C-4451-99A0-3F8EF42F245E}"/>
                </a:ext>
              </a:extLst>
            </p:cNvPr>
            <p:cNvSpPr>
              <a:spLocks noGrp="1"/>
            </p:cNvSpPr>
            <p:nvPr/>
          </p:nvSpPr>
          <p:spPr>
            <a:xfrm>
              <a:off x="5346191" y="1667091"/>
              <a:ext cx="990965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493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C₂ ∈ ℝ²⁵⁶×⁴, BF16</a:t>
              </a:r>
            </a:p>
          </p:txBody>
        </p:sp>
        <p:sp>
          <p:nvSpPr>
            <p:cNvPr id="206" name="8 indices">
              <a:extLst>
                <a:ext uri="{FF2B5EF4-FFF2-40B4-BE49-F238E27FC236}">
                  <ns2:creationId id="{97E1930C-B896-49F6-86EC-54022B53AA76}"/>
                </a:ext>
              </a:extLst>
            </p:cNvPr>
            <p:cNvSpPr>
              <a:spLocks noGrp="1"/>
            </p:cNvSpPr>
            <p:nvPr/>
          </p:nvSpPr>
          <p:spPr>
            <a:xfrm>
              <a:off x="5330707" y="1796123"/>
              <a:ext cx="428386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indices</a:t>
              </a:r>
            </a:p>
          </p:txBody>
        </p:sp>
        <p:sp>
          <p:nvSpPr>
            <p:cNvPr id="207" name="i₂ (8-bit)">
              <a:extLst>
                <a:ext uri="{FF2B5EF4-FFF2-40B4-BE49-F238E27FC236}">
                  <ns2:creationId id="{FD8D534D-D5F7-40B6-B19E-34F36616529F}"/>
                </a:ext>
              </a:extLst>
            </p:cNvPr>
            <p:cNvSpPr>
              <a:spLocks noGrp="1"/>
            </p:cNvSpPr>
            <p:nvPr/>
          </p:nvSpPr>
          <p:spPr>
            <a:xfrm>
              <a:off x="5361675" y="1909671"/>
              <a:ext cx="4129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 (8-bit)</a:t>
              </a:r>
            </a:p>
          </p:txBody>
        </p:sp>
        <p:sp>
          <p:nvSpPr>
            <p:cNvPr id="208" name="diagram block">
              <a:extLst>
                <a:ext uri="{FF2B5EF4-FFF2-40B4-BE49-F238E27FC236}">
                  <ns2:creationId id="{E6043E87-5972-4031-B4E1-6F2808925683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04902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209" name="i₂,1">
              <a:extLst>
                <a:ext uri="{FF2B5EF4-FFF2-40B4-BE49-F238E27FC236}">
                  <ns2:creationId id="{2C6EFF2F-4712-46E4-B12E-6EC1243555F9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074832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i₂,1</a:t>
              </a:r>
            </a:p>
          </p:txBody>
        </p:sp>
        <p:sp>
          <p:nvSpPr>
            <p:cNvPr id="210" name="diagram block">
              <a:extLst>
                <a:ext uri="{FF2B5EF4-FFF2-40B4-BE49-F238E27FC236}">
                  <ns2:creationId id="{C69A4F0C-6224-4A37-B30E-AB59B6F6FA85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172896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211" name="i₂,2">
              <a:extLst>
                <a:ext uri="{FF2B5EF4-FFF2-40B4-BE49-F238E27FC236}">
                  <ns2:creationId id="{478F4158-820D-4EF9-826C-E2CCBE44C32F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198703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i₂,2</a:t>
              </a:r>
            </a:p>
          </p:txBody>
        </p:sp>
        <p:sp>
          <p:nvSpPr>
            <p:cNvPr id="212" name="diagram block">
              <a:extLst>
                <a:ext uri="{FF2B5EF4-FFF2-40B4-BE49-F238E27FC236}">
                  <ns2:creationId id="{783A0402-8790-46D7-B2BE-59527FD9BC6C}"/>
                </a:ext>
              </a:extLst>
            </p:cNvPr>
            <p:cNvSpPr>
              <a:spLocks noGrp="1"/>
            </p:cNvSpPr>
            <p:nvPr/>
          </p:nvSpPr>
          <p:spPr>
            <a:xfrm>
              <a:off x="5382320" y="2343218"/>
              <a:ext cx="211612" cy="108387"/>
            </a:xfrm>
            <a:prstGeom prst="rect">
              <a:avLst/>
            </a:prstGeom>
            <a:solidFill>
              <a:srgbClr val="F6FAFE"/>
            </a:solidFill>
            <a:ln w="5161">
              <a:solidFill>
                <a:srgbClr val="64778C"/>
              </a:solidFill>
              <a:prstDash val="solid"/>
            </a:ln>
          </p:spPr>
        </p:sp>
        <p:sp>
          <p:nvSpPr>
            <p:cNvPr id="213" name="i₂,8">
              <a:extLst>
                <a:ext uri="{FF2B5EF4-FFF2-40B4-BE49-F238E27FC236}">
                  <ns2:creationId id="{3CB7BBDA-A258-4F9D-8BEA-0007DF71D95C}"/>
                </a:ext>
              </a:extLst>
            </p:cNvPr>
            <p:cNvSpPr>
              <a:spLocks noGrp="1"/>
            </p:cNvSpPr>
            <p:nvPr/>
          </p:nvSpPr>
          <p:spPr>
            <a:xfrm>
              <a:off x="5408126" y="2369025"/>
              <a:ext cx="159999" cy="56774"/>
            </a:xfrm>
            <a:prstGeom prst="rect">
              <a:avLst/>
            </a:prstGeom>
            <a:solidFill>
              <a:srgbClr val="F6FAFE"/>
            </a:solidFill>
            <a:ln w="0">
              <a:noFill/>
            </a:ln>
          </p:spPr>
          <p:txBody>
            <a:bodyPr wrap="none" lIns="0" tIns="0" rIns="0" bIns="0" anchor="ctr">
              <a:normAutofit fontScale="57313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i₂,8</a:t>
              </a:r>
            </a:p>
          </p:txBody>
        </p:sp>
        <p:sp>
          <p:nvSpPr>
            <p:cNvPr id="214" name="⋮">
              <a:extLst>
                <a:ext uri="{FF2B5EF4-FFF2-40B4-BE49-F238E27FC236}">
                  <ns2:creationId id="{F9A09753-CF3F-45C6-A6C9-9FD1B34EEC6F}"/>
                </a:ext>
              </a:extLst>
            </p:cNvPr>
            <p:cNvSpPr>
              <a:spLocks noGrp="1"/>
            </p:cNvSpPr>
            <p:nvPr/>
          </p:nvSpPr>
          <p:spPr>
            <a:xfrm>
              <a:off x="5428771" y="2260638"/>
              <a:ext cx="129032" cy="877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8652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215" name="8 codewords">
              <a:extLst>
                <a:ext uri="{FF2B5EF4-FFF2-40B4-BE49-F238E27FC236}">
                  <ns2:creationId id="{D24AED40-C370-4EDE-AEE6-A4E58F5C340C}"/>
                </a:ext>
              </a:extLst>
            </p:cNvPr>
            <p:cNvSpPr>
              <a:spLocks noGrp="1"/>
            </p:cNvSpPr>
            <p:nvPr/>
          </p:nvSpPr>
          <p:spPr>
            <a:xfrm>
              <a:off x="5826190" y="1796123"/>
              <a:ext cx="53161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codewords</a:t>
              </a:r>
            </a:p>
          </p:txBody>
        </p:sp>
        <p:sp>
          <p:nvSpPr>
            <p:cNvPr id="216" name="(4 scalars each)">
              <a:extLst>
                <a:ext uri="{FF2B5EF4-FFF2-40B4-BE49-F238E27FC236}">
                  <ns2:creationId id="{5DF670F4-2A79-42B9-B095-B75C9F64A045}"/>
                </a:ext>
              </a:extLst>
            </p:cNvPr>
            <p:cNvSpPr>
              <a:spLocks noGrp="1"/>
            </p:cNvSpPr>
            <p:nvPr/>
          </p:nvSpPr>
          <p:spPr>
            <a:xfrm>
              <a:off x="5805544" y="1919994"/>
              <a:ext cx="567740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 scalars each)</a:t>
              </a:r>
            </a:p>
          </p:txBody>
        </p:sp>
        <p:sp>
          <p:nvSpPr>
            <p:cNvPr id="217" name="Lookup">
              <a:extLst>
                <a:ext uri="{FF2B5EF4-FFF2-40B4-BE49-F238E27FC236}">
                  <ns2:creationId id="{F997C6F8-8C40-44A0-8BF3-AE84D7EB566E}"/>
                </a:ext>
              </a:extLst>
            </p:cNvPr>
            <p:cNvSpPr>
              <a:spLocks noGrp="1"/>
            </p:cNvSpPr>
            <p:nvPr/>
          </p:nvSpPr>
          <p:spPr>
            <a:xfrm>
              <a:off x="5640384" y="2059348"/>
              <a:ext cx="309676" cy="980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6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cxnSp>
          <p:nvCxnSpPr>
            <p:cNvPr id="218" name="native PowerPoint connector">
              <a:extLst>
                <a:ext uri="{FF2B5EF4-FFF2-40B4-BE49-F238E27FC236}">
                  <ns2:creationId id="{AB9FDA54-E479-498D-B253-C1A4391DAC38}"/>
                </a:ext>
              </a:extLst>
            </p:cNvPr>
            <p:cNvCxnSpPr/>
            <p:nvPr/>
          </p:nvCxnSpPr>
          <p:spPr>
            <a:xfrm flipH="0" flipV="0">
              <a:off x="5650706" y="2239993"/>
              <a:ext cx="299354" cy="0"/>
            </a:xfrm>
            <a:prstGeom prst="straightConnector1">
              <a:avLst/>
            </a:prstGeom>
            <a:ln w="7226">
              <a:solidFill>
                <a:srgbClr val="00696D"/>
              </a:solidFill>
              <a:prstDash val="solid"/>
              <a:tailEnd type="triangle" w="sm" len="sm"/>
            </a:ln>
          </p:spPr>
        </p:cxnSp>
        <p:sp>
          <p:nvSpPr>
            <p:cNvPr id="219" name="diagram block">
              <a:extLst>
                <a:ext uri="{FF2B5EF4-FFF2-40B4-BE49-F238E27FC236}">
                  <ns2:creationId id="{5E509109-D411-440A-A843-A157A7C61172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0" name="diagram block">
              <a:extLst>
                <a:ext uri="{FF2B5EF4-FFF2-40B4-BE49-F238E27FC236}">
                  <ns2:creationId id="{AA32EF82-64CE-4B29-B4F1-479FC928FAEF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1" name="diagram block">
              <a:extLst>
                <a:ext uri="{FF2B5EF4-FFF2-40B4-BE49-F238E27FC236}">
                  <ns2:creationId id="{54BAF9A1-E0BD-4779-908B-217F53DABBF3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2" name="diagram block">
              <a:extLst>
                <a:ext uri="{FF2B5EF4-FFF2-40B4-BE49-F238E27FC236}">
                  <ns2:creationId id="{F3724AB5-8EC0-4C77-BE16-DA52BFE92F12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054187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3" name="diagram block">
              <a:extLst>
                <a:ext uri="{FF2B5EF4-FFF2-40B4-BE49-F238E27FC236}">
                  <ns2:creationId id="{C6884020-0EE9-4709-BC3E-B1A7BFC84D28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4" name="diagram block">
              <a:extLst>
                <a:ext uri="{FF2B5EF4-FFF2-40B4-BE49-F238E27FC236}">
                  <ns2:creationId id="{452E1A61-9F89-4527-9311-5FD040532BD9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5" name="diagram block">
              <a:extLst>
                <a:ext uri="{FF2B5EF4-FFF2-40B4-BE49-F238E27FC236}">
                  <ns2:creationId id="{7B49511E-624C-4F04-A690-833A88E93696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6" name="diagram block">
              <a:extLst>
                <a:ext uri="{FF2B5EF4-FFF2-40B4-BE49-F238E27FC236}">
                  <ns2:creationId id="{6B2653B8-193F-41EC-BBCF-D9F73CE7F68D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17289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7" name="diagram block">
              <a:extLst>
                <a:ext uri="{FF2B5EF4-FFF2-40B4-BE49-F238E27FC236}">
                  <ns2:creationId id="{B3183CA5-DC5C-4E8B-A5F2-C1CCE8C430CA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8" name="diagram block">
              <a:extLst>
                <a:ext uri="{FF2B5EF4-FFF2-40B4-BE49-F238E27FC236}">
                  <ns2:creationId id="{13A95EBC-697B-4336-8954-BCF38D09E0EE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29" name="diagram block">
              <a:extLst>
                <a:ext uri="{FF2B5EF4-FFF2-40B4-BE49-F238E27FC236}">
                  <ns2:creationId id="{6DACA253-DC84-453B-9760-8F7AA522C9DB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0" name="diagram block">
              <a:extLst>
                <a:ext uri="{FF2B5EF4-FFF2-40B4-BE49-F238E27FC236}">
                  <ns2:creationId id="{B8B13BB0-FA9F-4D31-A2B8-CC6FB0ECEC47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291606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1" name="diagram block">
              <a:extLst>
                <a:ext uri="{FF2B5EF4-FFF2-40B4-BE49-F238E27FC236}">
                  <ns2:creationId id="{03F7F929-D3B5-487C-B8C3-42B921A6C4F8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2" name="diagram block">
              <a:extLst>
                <a:ext uri="{FF2B5EF4-FFF2-40B4-BE49-F238E27FC236}">
                  <ns2:creationId id="{7878F3C3-4726-4D52-93D7-8D755D6D823E}"/>
                </a:ext>
              </a:extLst>
            </p:cNvPr>
            <p:cNvSpPr>
              <a:spLocks noGrp="1"/>
            </p:cNvSpPr>
            <p:nvPr/>
          </p:nvSpPr>
          <p:spPr>
            <a:xfrm>
              <a:off x="6070060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3" name="diagram block">
              <a:extLst>
                <a:ext uri="{FF2B5EF4-FFF2-40B4-BE49-F238E27FC236}">
                  <ns2:creationId id="{ACDD4DB3-85B9-4B68-B79E-880DC6EEBAD8}"/>
                </a:ext>
              </a:extLst>
            </p:cNvPr>
            <p:cNvSpPr>
              <a:spLocks noGrp="1"/>
            </p:cNvSpPr>
            <p:nvPr/>
          </p:nvSpPr>
          <p:spPr>
            <a:xfrm>
              <a:off x="6138447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4" name="diagram block">
              <a:extLst>
                <a:ext uri="{FF2B5EF4-FFF2-40B4-BE49-F238E27FC236}">
                  <ns2:creationId id="{2DC104E0-BF93-403F-8A8D-A25E9E22CE19}"/>
                </a:ext>
              </a:extLst>
            </p:cNvPr>
            <p:cNvSpPr>
              <a:spLocks noGrp="1"/>
            </p:cNvSpPr>
            <p:nvPr/>
          </p:nvSpPr>
          <p:spPr>
            <a:xfrm>
              <a:off x="6206834" y="2399992"/>
              <a:ext cx="68387" cy="61935"/>
            </a:xfrm>
            <a:prstGeom prst="rect">
              <a:avLst/>
            </a:prstGeom>
            <a:solidFill>
              <a:srgbClr val="87CDCC"/>
            </a:solidFill>
            <a:ln w="3871">
              <a:solidFill>
                <a:srgbClr val="41A0A5"/>
              </a:solidFill>
              <a:prstDash val="solid"/>
            </a:ln>
          </p:spPr>
        </p:sp>
        <p:sp>
          <p:nvSpPr>
            <p:cNvPr id="235" name="+">
              <a:extLst>
                <a:ext uri="{FF2B5EF4-FFF2-40B4-BE49-F238E27FC236}">
                  <ns2:creationId id="{54A9A25A-2163-49EA-85E8-C33729C1DF68}"/>
                </a:ext>
              </a:extLst>
            </p:cNvPr>
            <p:cNvSpPr>
              <a:spLocks noGrp="1"/>
            </p:cNvSpPr>
            <p:nvPr/>
          </p:nvSpPr>
          <p:spPr>
            <a:xfrm>
              <a:off x="5150063" y="2033542"/>
              <a:ext cx="129032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9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36" name="diagram block">
              <a:extLst>
                <a:ext uri="{FF2B5EF4-FFF2-40B4-BE49-F238E27FC236}">
                  <ns2:creationId id="{A5E4969D-255D-48AD-8E1E-8915BD550283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2529024"/>
              <a:ext cx="2307089" cy="221935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F3DCA8"/>
              </a:solidFill>
              <a:prstDash val="solid"/>
            </a:ln>
          </p:spPr>
        </p:sp>
        <p:sp>
          <p:nvSpPr>
            <p:cNvPr id="237" name="Ŵ[g] = r_row × 2^{e(g)} × (C₁[i₁] + C₂[i₂])">
              <a:extLst>
                <a:ext uri="{FF2B5EF4-FFF2-40B4-BE49-F238E27FC236}">
                  <ns2:creationId id="{27CB6319-C543-49F5-B178-C561C719F6FA}"/>
                </a:ext>
              </a:extLst>
            </p:cNvPr>
            <p:cNvSpPr>
              <a:spLocks noGrp="1"/>
            </p:cNvSpPr>
            <p:nvPr/>
          </p:nvSpPr>
          <p:spPr>
            <a:xfrm>
              <a:off x="4086840" y="2570314"/>
              <a:ext cx="2214187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Ŵ[g] = r</a:t>
              </a:r>
              <a:r>
                <a:rPr sz="547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2</a:t>
              </a:r>
              <a:r>
                <a:rPr sz="547" b="0" i="1" baseline="27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e(g)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(C₁[i₁] + C₂[i₂])</a:t>
              </a:r>
            </a:p>
          </p:txBody>
        </p:sp>
        <p:cxnSp>
          <p:nvCxnSpPr>
            <p:cNvPr id="238" name="native PowerPoint connector">
              <a:extLst>
                <a:ext uri="{FF2B5EF4-FFF2-40B4-BE49-F238E27FC236}">
                  <ns2:creationId id="{32BF77A7-3005-4FC3-92EC-7D95B981E8CC}"/>
                </a:ext>
              </a:extLst>
            </p:cNvPr>
            <p:cNvCxnSpPr/>
            <p:nvPr/>
          </p:nvCxnSpPr>
          <p:spPr>
            <a:xfrm flipH="0" flipV="1">
              <a:off x="4298452" y="2756120"/>
              <a:ext cx="87742" cy="123871"/>
            </a:xfrm>
            <a:prstGeom prst="straightConnector1">
              <a:avLst/>
            </a:prstGeom>
            <a:ln w="6194">
              <a:solidFill>
                <a:srgbClr val="074A8B"/>
              </a:solidFill>
              <a:prstDash val="solid"/>
              <a:tailEnd type="triangle" w="sm" len="sm"/>
            </a:ln>
          </p:spPr>
        </p:cxnSp>
        <p:cxnSp>
          <p:nvCxnSpPr>
            <p:cNvPr id="239" name="native PowerPoint connector">
              <a:extLst>
                <a:ext uri="{FF2B5EF4-FFF2-40B4-BE49-F238E27FC236}">
                  <ns2:creationId id="{03F669B3-7738-4058-B00E-443BD65F1FDF}"/>
                </a:ext>
              </a:extLst>
            </p:cNvPr>
            <p:cNvCxnSpPr/>
            <p:nvPr/>
          </p:nvCxnSpPr>
          <p:spPr>
            <a:xfrm flipH="0" flipV="1">
              <a:off x="4886838" y="2756120"/>
              <a:ext cx="82580" cy="118709"/>
            </a:xfrm>
            <a:prstGeom prst="straightConnector1">
              <a:avLst/>
            </a:prstGeom>
            <a:ln w="6194">
              <a:solidFill>
                <a:srgbClr val="0776A5"/>
              </a:solidFill>
              <a:prstDash val="solid"/>
              <a:tailEnd type="triangle" w="sm" len="sm"/>
            </a:ln>
          </p:spPr>
        </p:cxnSp>
        <p:cxnSp>
          <p:nvCxnSpPr>
            <p:cNvPr id="240" name="native PowerPoint connector">
              <a:extLst>
                <a:ext uri="{FF2B5EF4-FFF2-40B4-BE49-F238E27FC236}">
                  <ns2:creationId id="{792B942F-DB8D-4798-A59C-1C289E48417A}"/>
                </a:ext>
              </a:extLst>
            </p:cNvPr>
            <p:cNvCxnSpPr/>
            <p:nvPr/>
          </p:nvCxnSpPr>
          <p:spPr>
            <a:xfrm flipH="0" flipV="1">
              <a:off x="5521674" y="2756120"/>
              <a:ext cx="0" cy="123871"/>
            </a:xfrm>
            <a:prstGeom prst="straightConnector1">
              <a:avLst/>
            </a:prstGeom>
            <a:ln w="6194">
              <a:solidFill>
                <a:srgbClr val="00696D"/>
              </a:solidFill>
              <a:prstDash val="solid"/>
              <a:tailEnd type="triangle" w="sm" len="sm"/>
            </a:ln>
          </p:spPr>
        </p:cxnSp>
        <p:cxnSp>
          <p:nvCxnSpPr>
            <p:cNvPr id="241" name="native PowerPoint connector">
              <a:extLst>
                <a:ext uri="{FF2B5EF4-FFF2-40B4-BE49-F238E27FC236}">
                  <ns2:creationId id="{CCAE9D37-0F51-42D3-8CC7-B41D5843D3CE}"/>
                </a:ext>
              </a:extLst>
            </p:cNvPr>
            <p:cNvCxnSpPr/>
            <p:nvPr/>
          </p:nvCxnSpPr>
          <p:spPr>
            <a:xfrm flipH="0" flipV="1">
              <a:off x="6130705" y="2756120"/>
              <a:ext cx="0" cy="123871"/>
            </a:xfrm>
            <a:prstGeom prst="straightConnector1">
              <a:avLst/>
            </a:prstGeom>
            <a:ln w="6194">
              <a:solidFill>
                <a:srgbClr val="061A3C"/>
              </a:solidFill>
              <a:prstDash val="solid"/>
              <a:tailEnd type="triangle" w="sm" len="sm"/>
            </a:ln>
          </p:spPr>
        </p:cxnSp>
        <p:sp>
          <p:nvSpPr>
            <p:cNvPr id="242" name="BF16 row gain">
              <a:extLst>
                <a:ext uri="{FF2B5EF4-FFF2-40B4-BE49-F238E27FC236}">
                  <ns2:creationId id="{47A07A58-FCBE-4B57-B415-801F92B903E1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2869668"/>
              <a:ext cx="51612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869"/>
            </a:bodyPr>
            <a:lstStyle>
              <a:def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row gain</a:t>
              </a:r>
            </a:p>
          </p:txBody>
        </p:sp>
        <p:sp>
          <p:nvSpPr>
            <p:cNvPr id="243" name="r_row">
              <a:extLst>
                <a:ext uri="{FF2B5EF4-FFF2-40B4-BE49-F238E27FC236}">
                  <ns2:creationId id="{9B5E376E-7442-492B-B0EC-A67439962EE5}"/>
                </a:ext>
              </a:extLst>
            </p:cNvPr>
            <p:cNvSpPr>
              <a:spLocks noGrp="1"/>
            </p:cNvSpPr>
            <p:nvPr/>
          </p:nvSpPr>
          <p:spPr>
            <a:xfrm>
              <a:off x="4159098" y="2988378"/>
              <a:ext cx="294193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124"/>
            </a:bodyPr>
            <a:lstStyle>
              <a:def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  <a:r>
                <a:rPr sz="434" b="0" i="1" baseline="-2300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</a:p>
          </p:txBody>
        </p:sp>
        <p:sp>
          <p:nvSpPr>
            <p:cNvPr id="244" name="B32 power-of-two&#10;scales">
              <a:extLst>
                <a:ext uri="{FF2B5EF4-FFF2-40B4-BE49-F238E27FC236}">
                  <ns2:creationId id="{F6E11C3E-A998-415C-8CBD-32C0B294480F}"/>
                </a:ext>
              </a:extLst>
            </p:cNvPr>
            <p:cNvSpPr>
              <a:spLocks noGrp="1"/>
            </p:cNvSpPr>
            <p:nvPr/>
          </p:nvSpPr>
          <p:spPr>
            <a:xfrm>
              <a:off x="4597806" y="2864507"/>
              <a:ext cx="655482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992"/>
            </a:bodyPr>
            <a:lstStyle>
              <a:def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rPr>
                <a:t>B32 power-of-two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877A6"/>
                  </a:solidFill>
                  <a:latin typeface="Times New Roman"/>
                  <a:ea typeface="Times New Roman"/>
                  <a:cs typeface="Times New Roman"/>
                </a:rPr>
                <a:t>scales</a:t>
              </a:r>
            </a:p>
          </p:txBody>
        </p:sp>
        <p:sp>
          <p:nvSpPr>
            <p:cNvPr id="245" name="2 × 8-bit indices /&#10;4 weights = 4 core bpw">
              <a:extLst>
                <a:ext uri="{FF2B5EF4-FFF2-40B4-BE49-F238E27FC236}">
                  <ns2:creationId id="{96C44AED-EF82-40AA-8FA1-B6182638CCCD}"/>
                </a:ext>
              </a:extLst>
            </p:cNvPr>
            <p:cNvSpPr>
              <a:spLocks noGrp="1"/>
            </p:cNvSpPr>
            <p:nvPr/>
          </p:nvSpPr>
          <p:spPr>
            <a:xfrm>
              <a:off x="5289417" y="2864507"/>
              <a:ext cx="650321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6351"/>
            </a:bodyPr>
            <a:lstStyle>
              <a:def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2 × 8-bit indices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4 weights = 4 core bpw</a:t>
              </a:r>
            </a:p>
          </p:txBody>
        </p:sp>
        <p:sp>
          <p:nvSpPr>
            <p:cNvPr id="246" name="~4.27 bpw&#10;including&#10;metadata">
              <a:extLst>
                <a:ext uri="{FF2B5EF4-FFF2-40B4-BE49-F238E27FC236}">
                  <ns2:creationId id="{5A2E7F88-01B7-46B0-A54E-2BD6BE94DDF4}"/>
                </a:ext>
              </a:extLst>
            </p:cNvPr>
            <p:cNvSpPr>
              <a:spLocks noGrp="1"/>
            </p:cNvSpPr>
            <p:nvPr/>
          </p:nvSpPr>
          <p:spPr>
            <a:xfrm>
              <a:off x="6011995" y="2843862"/>
              <a:ext cx="392257" cy="28387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4821"/>
            </a:bodyPr>
            <a:lstStyle>
              <a:def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~4.27 bpw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including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metadata</a:t>
              </a:r>
            </a:p>
          </p:txBody>
        </p:sp>
        <p:sp>
          <p:nvSpPr>
            <p:cNvPr id="247" name="diagram block">
              <a:extLst>
                <a:ext uri="{FF2B5EF4-FFF2-40B4-BE49-F238E27FC236}">
                  <ns2:creationId id="{EEF32D05-5177-458B-AA03-D47393FC1ADD}"/>
                </a:ext>
              </a:extLst>
            </p:cNvPr>
            <p:cNvSpPr>
              <a:spLocks noGrp="1"/>
            </p:cNvSpPr>
            <p:nvPr/>
          </p:nvSpPr>
          <p:spPr>
            <a:xfrm>
              <a:off x="4040389" y="3163861"/>
              <a:ext cx="2307089" cy="242580"/>
            </a:xfrm>
            <a:prstGeom prst="roundRect">
              <a:avLst>
                <a:gd name="adj" fmla="val 10638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49BA3"/>
              </a:solidFill>
              <a:prstDash val="solid"/>
            </a:ln>
          </p:spPr>
        </p:sp>
        <p:sp>
          <p:nvSpPr>
            <p:cNvPr id="248" name="Indices and B32 exponents are frozen">
              <a:extLst>
                <a:ext uri="{FF2B5EF4-FFF2-40B4-BE49-F238E27FC236}">
                  <ns2:creationId id="{EAFEA390-4F27-491D-9149-3C263BFA8040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3205151"/>
              <a:ext cx="219354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644"/>
            </a:bodyPr>
            <a:lstStyle>
              <a:def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Indices and B32 exponents are frozen</a:t>
              </a:r>
            </a:p>
          </p:txBody>
        </p:sp>
        <p:sp>
          <p:nvSpPr>
            <p:cNvPr id="249" name="Codebooks and row gains calibrated with action + latent supervision">
              <a:extLst>
                <a:ext uri="{FF2B5EF4-FFF2-40B4-BE49-F238E27FC236}">
                  <ns2:creationId id="{C0244A17-D08F-4F58-B1A7-62CAFF61B35A}"/>
                </a:ext>
              </a:extLst>
            </p:cNvPr>
            <p:cNvSpPr>
              <a:spLocks noGrp="1"/>
            </p:cNvSpPr>
            <p:nvPr/>
          </p:nvSpPr>
          <p:spPr>
            <a:xfrm>
              <a:off x="4092002" y="3318699"/>
              <a:ext cx="2209025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785"/>
            </a:bodyPr>
            <a:lstStyle>
              <a:def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Codebooks and row gains calibrated with action + latent supervision</a:t>
              </a:r>
            </a:p>
          </p:txBody>
        </p:sp>
        <p:sp>
          <p:nvSpPr>
            <p:cNvPr id="250" name="diagram block">
              <a:extLst>
                <a:ext uri="{FF2B5EF4-FFF2-40B4-BE49-F238E27FC236}">
                  <ns2:creationId id="{290C0195-C7F1-449B-BDB8-8A4A43E84BE7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309676"/>
              <a:ext cx="1223222" cy="190967"/>
            </a:xfrm>
            <a:prstGeom prst="roundRect">
              <a:avLst>
                <a:gd name="adj" fmla="val 8108"/>
              </a:avLst>
            </a:prstGeom>
            <a:solidFill>
              <a:srgbClr val="DDEFFF"/>
            </a:solidFill>
            <a:ln w="5161">
              <a:noFill/>
              <a:prstDash val="solid"/>
            </a:ln>
          </p:spPr>
        </p:sp>
        <p:sp>
          <p:nvSpPr>
            <p:cNvPr id="251" name="Activation path (input X)">
              <a:extLst>
                <a:ext uri="{FF2B5EF4-FFF2-40B4-BE49-F238E27FC236}">
                  <ns2:creationId id="{8CDBE43B-8FCA-4F7F-BEA2-6ADE62BA24F5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335483"/>
              <a:ext cx="1171609" cy="139354"/>
            </a:xfrm>
            <a:prstGeom prst="rect">
              <a:avLst/>
            </a:prstGeom>
            <a:solidFill>
              <a:srgbClr val="DDEFFF"/>
            </a:soli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C3873"/>
                  </a:solidFill>
                  <a:latin typeface="Times New Roman"/>
                  <a:ea typeface="Times New Roman"/>
                  <a:cs typeface="Times New Roman"/>
                </a:rPr>
                <a:t>Activation path (input X)</a:t>
              </a:r>
            </a:p>
          </p:txBody>
        </p:sp>
        <p:sp>
          <p:nvSpPr>
            <p:cNvPr id="252" name="X">
              <a:extLst>
                <a:ext uri="{FF2B5EF4-FFF2-40B4-BE49-F238E27FC236}">
                  <ns2:creationId id="{70270B25-68F8-44FE-BC81-139E65C7BEDA}"/>
                </a:ext>
              </a:extLst>
            </p:cNvPr>
            <p:cNvSpPr>
              <a:spLocks noGrp="1"/>
            </p:cNvSpPr>
            <p:nvPr/>
          </p:nvSpPr>
          <p:spPr>
            <a:xfrm>
              <a:off x="6548768" y="815481"/>
              <a:ext cx="134193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047"/>
            </a:bodyPr>
            <a:lstStyle>
              <a:def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</a:p>
          </p:txBody>
        </p:sp>
        <p:sp>
          <p:nvSpPr>
            <p:cNvPr id="253" name="diagram block">
              <a:extLst>
                <a:ext uri="{FF2B5EF4-FFF2-40B4-BE49-F238E27FC236}">
                  <ns2:creationId id="{87CE1341-8E03-486B-AC5A-9ED07BA27AB5}"/>
                </a:ext>
              </a:extLst>
            </p:cNvPr>
            <p:cNvSpPr>
              <a:spLocks noGrp="1"/>
            </p:cNvSpPr>
            <p:nvPr/>
          </p:nvSpPr>
          <p:spPr>
            <a:xfrm>
              <a:off x="6806832" y="650321"/>
              <a:ext cx="469676" cy="46451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269AC"/>
              </a:solidFill>
              <a:prstDash val="solid"/>
            </a:ln>
          </p:spPr>
        </p:sp>
        <p:sp>
          <p:nvSpPr>
            <p:cNvPr id="254" name="Smooth&#10;(α = 0.5)&#10;+ H128">
              <a:extLst>
                <a:ext uri="{FF2B5EF4-FFF2-40B4-BE49-F238E27FC236}">
                  <ns2:creationId id="{88A3AA63-589F-457F-9B65-A0432654E50F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676127"/>
              <a:ext cx="418063" cy="41290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Smooth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(α = 0.5)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+ H128</a:t>
              </a:r>
            </a:p>
          </p:txBody>
        </p:sp>
        <p:sp>
          <p:nvSpPr>
            <p:cNvPr id="255" name="diagram block">
              <a:extLst>
                <a:ext uri="{FF2B5EF4-FFF2-40B4-BE49-F238E27FC236}">
                  <ns2:creationId id="{3849A827-05FA-4EAF-A12D-C8498454D6F7}"/>
                </a:ext>
              </a:extLst>
            </p:cNvPr>
            <p:cNvSpPr>
              <a:spLocks noGrp="1"/>
            </p:cNvSpPr>
            <p:nvPr/>
          </p:nvSpPr>
          <p:spPr>
            <a:xfrm>
              <a:off x="7488120" y="738062"/>
              <a:ext cx="263225" cy="283870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4088B5"/>
              </a:solidFill>
              <a:prstDash val="solid"/>
            </a:ln>
          </p:spPr>
        </p:sp>
        <p:sp>
          <p:nvSpPr>
            <p:cNvPr id="256" name="÷ D">
              <a:extLst>
                <a:ext uri="{FF2B5EF4-FFF2-40B4-BE49-F238E27FC236}">
                  <ns2:creationId id="{90CC77B3-AE01-42B6-8BFC-73C461133E3F}"/>
                </a:ext>
              </a:extLst>
            </p:cNvPr>
            <p:cNvSpPr>
              <a:spLocks noGrp="1"/>
            </p:cNvSpPr>
            <p:nvPr/>
          </p:nvSpPr>
          <p:spPr>
            <a:xfrm>
              <a:off x="7513926" y="763869"/>
              <a:ext cx="211612" cy="232257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÷ D</a:t>
              </a:r>
            </a:p>
          </p:txBody>
        </p:sp>
        <p:sp>
          <p:nvSpPr>
            <p:cNvPr id="257" name="diagram block">
              <a:extLst>
                <a:ext uri="{FF2B5EF4-FFF2-40B4-BE49-F238E27FC236}">
                  <ns2:creationId id="{3BBD12B1-0C94-4ACC-88D0-4CF98FABB903}"/>
                </a:ext>
              </a:extLst>
            </p:cNvPr>
            <p:cNvSpPr>
              <a:spLocks noGrp="1"/>
            </p:cNvSpPr>
            <p:nvPr/>
          </p:nvSpPr>
          <p:spPr>
            <a:xfrm>
              <a:off x="7859731" y="655482"/>
              <a:ext cx="449031" cy="459353"/>
            </a:xfrm>
            <a:prstGeom prst="rect">
              <a:avLst/>
            </a:prstGeom>
            <a:gradFill>
              <a:gsLst>
                <a:gs pos="0">
                  <a:srgbClr val="76D1D5"/>
                </a:gs>
                <a:gs pos="100000">
                  <a:srgbClr val="B4E4E3"/>
                </a:gs>
              </a:gsLst>
              <a:lin ang="5400000"/>
            </a:gradFill>
            <a:ln w="5161">
              <a:solidFill>
                <a:srgbClr val="106C7A"/>
              </a:solidFill>
              <a:prstDash val="solid"/>
            </a:ln>
          </p:spPr>
        </p:sp>
        <p:sp>
          <p:nvSpPr>
            <p:cNvPr id="258" name="Dynamic&#10;signed A4">
              <a:extLst>
                <a:ext uri="{FF2B5EF4-FFF2-40B4-BE49-F238E27FC236}">
                  <ns2:creationId id="{226D108E-7888-437D-A976-F711EC969A59}"/>
                </a:ext>
              </a:extLst>
            </p:cNvPr>
            <p:cNvSpPr>
              <a:spLocks noGrp="1"/>
            </p:cNvSpPr>
            <p:nvPr/>
          </p:nvSpPr>
          <p:spPr>
            <a:xfrm>
              <a:off x="7885538" y="681288"/>
              <a:ext cx="397418" cy="407741"/>
            </a:xfrm>
            <a:prstGeom prst="rect">
              <a:avLst/>
            </a:prstGeom>
            <a:gradFill>
              <a:gsLst>
                <a:gs pos="0">
                  <a:srgbClr val="76D1D5"/>
                </a:gs>
                <a:gs pos="100000">
                  <a:srgbClr val="B4E4E3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6630"/>
            </a:bodyPr>
            <a:lstStyle>
              <a:def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Dynamic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signed A4</a:t>
              </a:r>
            </a:p>
          </p:txBody>
        </p:sp>
        <p:sp>
          <p:nvSpPr>
            <p:cNvPr id="259" name="diagram block">
              <a:extLst>
                <a:ext uri="{FF2B5EF4-FFF2-40B4-BE49-F238E27FC236}">
                  <ns2:creationId id="{466E8CDC-D7F7-47A7-9185-E5C0629E2004}"/>
                </a:ext>
              </a:extLst>
            </p:cNvPr>
            <p:cNvSpPr>
              <a:spLocks noGrp="1"/>
            </p:cNvSpPr>
            <p:nvPr/>
          </p:nvSpPr>
          <p:spPr>
            <a:xfrm>
              <a:off x="8411988" y="650321"/>
              <a:ext cx="381934" cy="46451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666AC"/>
              </a:solidFill>
              <a:prstDash val="solid"/>
            </a:ln>
          </p:spPr>
        </p:sp>
        <p:sp>
          <p:nvSpPr>
            <p:cNvPr id="260" name="BF16&#10;dense&#10;Linear">
              <a:extLst>
                <a:ext uri="{FF2B5EF4-FFF2-40B4-BE49-F238E27FC236}">
                  <ns2:creationId id="{78B76FA2-CEC3-4B81-BDA6-0F53B7BD160F}"/>
                </a:ext>
              </a:extLst>
            </p:cNvPr>
            <p:cNvSpPr>
              <a:spLocks noGrp="1"/>
            </p:cNvSpPr>
            <p:nvPr/>
          </p:nvSpPr>
          <p:spPr>
            <a:xfrm>
              <a:off x="8437794" y="676127"/>
              <a:ext cx="330322" cy="41290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BF16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dense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Linear</a:t>
              </a:r>
            </a:p>
          </p:txBody>
        </p:sp>
        <p:cxnSp>
          <p:nvCxnSpPr>
            <p:cNvPr id="261" name="native PowerPoint connector">
              <a:extLst>
                <a:ext uri="{FF2B5EF4-FFF2-40B4-BE49-F238E27FC236}">
                  <ns2:creationId id="{1E68DB72-823C-4031-8311-022A06352A61}"/>
                </a:ext>
              </a:extLst>
            </p:cNvPr>
            <p:cNvCxnSpPr/>
            <p:nvPr/>
          </p:nvCxnSpPr>
          <p:spPr>
            <a:xfrm flipH="0" flipV="0">
              <a:off x="6677800" y="882578"/>
              <a:ext cx="123871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62" name="native PowerPoint connector">
              <a:extLst>
                <a:ext uri="{FF2B5EF4-FFF2-40B4-BE49-F238E27FC236}">
                  <ns2:creationId id="{712C0F7A-0DC7-4FED-8168-99602D9FE320}"/>
                </a:ext>
              </a:extLst>
            </p:cNvPr>
            <p:cNvCxnSpPr/>
            <p:nvPr/>
          </p:nvCxnSpPr>
          <p:spPr>
            <a:xfrm flipH="0" flipV="0">
              <a:off x="7281669" y="877417"/>
              <a:ext cx="196128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3" name="Z">
              <a:extLst>
                <a:ext uri="{FF2B5EF4-FFF2-40B4-BE49-F238E27FC236}">
                  <ns2:creationId id="{027A40F4-1B42-4181-A7BA-A5A739C16117}"/>
                </a:ext>
              </a:extLst>
            </p:cNvPr>
            <p:cNvSpPr>
              <a:spLocks noGrp="1"/>
            </p:cNvSpPr>
            <p:nvPr/>
          </p:nvSpPr>
          <p:spPr>
            <a:xfrm>
              <a:off x="7333282" y="743223"/>
              <a:ext cx="123871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931"/>
            </a:bodyPr>
            <a:lstStyle>
              <a:def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cxnSp>
          <p:nvCxnSpPr>
            <p:cNvPr id="264" name="native PowerPoint connector">
              <a:extLst>
                <a:ext uri="{FF2B5EF4-FFF2-40B4-BE49-F238E27FC236}">
                  <ns2:creationId id="{B046ECE6-93DE-4997-B970-B2CE125D97E8}"/>
                </a:ext>
              </a:extLst>
            </p:cNvPr>
            <p:cNvCxnSpPr/>
            <p:nvPr/>
          </p:nvCxnSpPr>
          <p:spPr>
            <a:xfrm flipH="0" flipV="0">
              <a:off x="7756506" y="877417"/>
              <a:ext cx="98064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65" name="native PowerPoint connector">
              <a:extLst>
                <a:ext uri="{FF2B5EF4-FFF2-40B4-BE49-F238E27FC236}">
                  <ns2:creationId id="{12DF407C-7184-4692-9463-C0B063B9E19E}"/>
                </a:ext>
              </a:extLst>
            </p:cNvPr>
            <p:cNvCxnSpPr/>
            <p:nvPr/>
          </p:nvCxnSpPr>
          <p:spPr>
            <a:xfrm flipH="0" flipV="0">
              <a:off x="8313924" y="877417"/>
              <a:ext cx="92903" cy="0"/>
            </a:xfrm>
            <a:prstGeom prst="straightConnector1">
              <a:avLst/>
            </a:prstGeom>
            <a:ln w="7226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6" name="D: one positive scale per physical input channel">
              <a:extLst>
                <a:ext uri="{FF2B5EF4-FFF2-40B4-BE49-F238E27FC236}">
                  <ns2:creationId id="{2959C765-9280-4644-BD5A-C60833A5EB2C}"/>
                </a:ext>
              </a:extLst>
            </p:cNvPr>
            <p:cNvSpPr>
              <a:spLocks noGrp="1"/>
            </p:cNvSpPr>
            <p:nvPr/>
          </p:nvSpPr>
          <p:spPr>
            <a:xfrm>
              <a:off x="6590058" y="1187093"/>
              <a:ext cx="2193541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D: one positive scale per physical input channel</a:t>
              </a:r>
            </a:p>
          </p:txBody>
        </p:sp>
        <p:sp>
          <p:nvSpPr>
            <p:cNvPr id="267" name="v = Z / D">
              <a:extLst>
                <a:ext uri="{FF2B5EF4-FFF2-40B4-BE49-F238E27FC236}">
                  <ns2:creationId id="{C5ED7D17-7491-4280-82A1-C46693E3CE9E}"/>
                </a:ext>
              </a:extLst>
            </p:cNvPr>
            <p:cNvSpPr>
              <a:spLocks noGrp="1"/>
            </p:cNvSpPr>
            <p:nvPr/>
          </p:nvSpPr>
          <p:spPr>
            <a:xfrm>
              <a:off x="6605542" y="1460641"/>
              <a:ext cx="629675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v = Z / D</a:t>
              </a:r>
            </a:p>
          </p:txBody>
        </p:sp>
        <p:sp>
          <p:nvSpPr>
            <p:cNvPr id="268" name="diagram block">
              <a:extLst>
                <a:ext uri="{FF2B5EF4-FFF2-40B4-BE49-F238E27FC236}">
                  <ns2:creationId id="{BB587B56-BEDD-4378-BF7E-394F1ED32964}"/>
                </a:ext>
              </a:extLst>
            </p:cNvPr>
            <p:cNvSpPr>
              <a:spLocks noGrp="1"/>
            </p:cNvSpPr>
            <p:nvPr/>
          </p:nvSpPr>
          <p:spPr>
            <a:xfrm>
              <a:off x="7240379" y="1321286"/>
              <a:ext cx="1548382" cy="541934"/>
            </a:xfrm>
            <a:prstGeom prst="roundRect">
              <a:avLst>
                <a:gd name="adj" fmla="val 4762"/>
              </a:avLst>
            </a:prstGeom>
            <a:gradFill>
              <a:gsLst>
                <a:gs pos="0">
                  <a:srgbClr val="E1F5FC"/>
                </a:gs>
                <a:gs pos="100000">
                  <a:srgbClr val="F1FBFE"/>
                </a:gs>
              </a:gsLst>
              <a:lin ang="5400000"/>
            </a:gradFill>
            <a:ln w="5161">
              <a:solidFill>
                <a:srgbClr val="B6E0EE"/>
              </a:solidFill>
              <a:prstDash val="solid"/>
            </a:ln>
          </p:spPr>
        </p:sp>
        <p:sp>
          <p:nvSpPr>
            <p:cNvPr id="269" name="Per-token dynamic signed A4 (per Linear)">
              <a:extLst>
                <a:ext uri="{FF2B5EF4-FFF2-40B4-BE49-F238E27FC236}">
                  <ns2:creationId id="{3D85489B-3D03-4D8B-934E-C7A6A7BCDC7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372899"/>
              <a:ext cx="1445157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794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Per-token dynamic signed A4 (per Linear)</a:t>
              </a:r>
            </a:p>
          </p:txBody>
        </p:sp>
        <p:sp>
          <p:nvSpPr>
            <p:cNvPr id="270" name="sₜ = r_{ℓ} × max |vₜ| / 7">
              <a:extLst>
                <a:ext uri="{FF2B5EF4-FFF2-40B4-BE49-F238E27FC236}">
                  <ns2:creationId id="{E9A9E789-F747-4D77-BAA6-48853F282073}"/>
                </a:ext>
              </a:extLst>
            </p:cNvPr>
            <p:cNvSpPr>
              <a:spLocks noGrp="1"/>
            </p:cNvSpPr>
            <p:nvPr/>
          </p:nvSpPr>
          <p:spPr>
            <a:xfrm>
              <a:off x="7395217" y="1527737"/>
              <a:ext cx="1269673" cy="14967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sₜ = r</a:t>
              </a:r>
              <a:r>
                <a:rPr sz="547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× </a:t>
              </a:r>
              <a:r>
                <a:rPr sz="75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max</a:t>
              </a: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|vₜ| / 7</a:t>
              </a:r>
            </a:p>
          </p:txBody>
        </p:sp>
        <p:sp>
          <p:nvSpPr>
            <p:cNvPr id="271" name="q = clamp(round(v / sₜ), −7, 7)">
              <a:extLst>
                <a:ext uri="{FF2B5EF4-FFF2-40B4-BE49-F238E27FC236}">
                  <ns2:creationId id="{E76B8021-F4E3-4420-99F0-9B9F2E83E0B9}"/>
                </a:ext>
              </a:extLst>
            </p:cNvPr>
            <p:cNvSpPr>
              <a:spLocks noGrp="1"/>
            </p:cNvSpPr>
            <p:nvPr/>
          </p:nvSpPr>
          <p:spPr>
            <a:xfrm>
              <a:off x="7317798" y="1687737"/>
              <a:ext cx="1383221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199"/>
            </a:bodyPr>
            <a:lstStyle>
              <a:def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q = 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clamp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  <a:r>
                <a:rPr sz="68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round</a:t>
              </a:r>
              <a:r>
                <a:rPr sz="6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(v / sₜ), −7, 7)</a:t>
              </a:r>
            </a:p>
          </p:txBody>
        </p:sp>
        <p:sp>
          <p:nvSpPr>
            <p:cNvPr id="272" name="r_{ℓ}: one clipping ratio per Linear">
              <a:extLst>
                <a:ext uri="{FF2B5EF4-FFF2-40B4-BE49-F238E27FC236}">
                  <ns2:creationId id="{1FA5ADC2-554B-43C2-B4E0-720205506ABD}"/>
                </a:ext>
              </a:extLst>
            </p:cNvPr>
            <p:cNvSpPr>
              <a:spLocks noGrp="1"/>
            </p:cNvSpPr>
            <p:nvPr/>
          </p:nvSpPr>
          <p:spPr>
            <a:xfrm>
              <a:off x="7276508" y="1914833"/>
              <a:ext cx="1512253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r</a:t>
              </a:r>
              <a:r>
                <a:rPr sz="434" b="0" i="0" baseline="-2300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  <a:r>
                <a:rPr sz="594" b="0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: one clipping ratio per Linear</a:t>
              </a:r>
            </a:p>
          </p:txBody>
        </p:sp>
        <p:sp>
          <p:nvSpPr>
            <p:cNvPr id="273" name="(distinct from per-channel D)">
              <a:extLst>
                <a:ext uri="{FF2B5EF4-FFF2-40B4-BE49-F238E27FC236}">
                  <ns2:creationId id="{D48DD06E-B541-4C50-B410-00B806D4F6F9}"/>
                </a:ext>
              </a:extLst>
            </p:cNvPr>
            <p:cNvSpPr>
              <a:spLocks noGrp="1"/>
            </p:cNvSpPr>
            <p:nvPr/>
          </p:nvSpPr>
          <p:spPr>
            <a:xfrm>
              <a:off x="7415862" y="2033542"/>
              <a:ext cx="134193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51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(distinct from per-channel D)</a:t>
              </a:r>
            </a:p>
          </p:txBody>
        </p:sp>
        <p:sp>
          <p:nvSpPr>
            <p:cNvPr id="274" name="diagram block">
              <a:extLst>
                <a:ext uri="{FF2B5EF4-FFF2-40B4-BE49-F238E27FC236}">
                  <ns2:creationId id="{8F997B49-79B4-4811-8207-7D34FFF6A824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193541"/>
              <a:ext cx="753546" cy="206451"/>
            </a:xfrm>
            <a:prstGeom prst="roundRect">
              <a:avLst>
                <a:gd name="adj" fmla="val 10000"/>
              </a:avLst>
            </a:prstGeom>
            <a:solidFill>
              <a:srgbClr val="FDE7E5"/>
            </a:solidFill>
            <a:ln w="5161">
              <a:noFill/>
              <a:prstDash val="solid"/>
            </a:ln>
          </p:spPr>
        </p:sp>
        <p:sp>
          <p:nvSpPr>
            <p:cNvPr id="275" name="Weight path">
              <a:extLst>
                <a:ext uri="{FF2B5EF4-FFF2-40B4-BE49-F238E27FC236}">
                  <ns2:creationId id="{6E89F585-32D6-4D86-A9E7-B735221D3FF8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2219348"/>
              <a:ext cx="701933" cy="154838"/>
            </a:xfrm>
            <a:prstGeom prst="rect">
              <a:avLst/>
            </a:prstGeom>
            <a:solidFill>
              <a:srgbClr val="FDE7E5"/>
            </a:soli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Weight path</a:t>
              </a:r>
            </a:p>
          </p:txBody>
        </p:sp>
        <p:sp>
          <p:nvSpPr>
            <p:cNvPr id="276" name="diagram block">
              <a:extLst>
                <a:ext uri="{FF2B5EF4-FFF2-40B4-BE49-F238E27FC236}">
                  <ns2:creationId id="{7EAE839E-8838-4F4F-BB2A-E87D141CC4BE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461928"/>
              <a:ext cx="660643" cy="361289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C94E64"/>
              </a:solidFill>
              <a:prstDash val="solid"/>
            </a:ln>
          </p:spPr>
        </p:sp>
        <p:sp>
          <p:nvSpPr>
            <p:cNvPr id="277" name="Decode VQ&#10;(frozen)">
              <a:extLst>
                <a:ext uri="{FF2B5EF4-FFF2-40B4-BE49-F238E27FC236}">
                  <ns2:creationId id="{C0FC2D6A-FB0D-47BA-A2F1-E39C1D9F78F6}"/>
                </a:ext>
              </a:extLst>
            </p:cNvPr>
            <p:cNvSpPr>
              <a:spLocks noGrp="1"/>
            </p:cNvSpPr>
            <p:nvPr/>
          </p:nvSpPr>
          <p:spPr>
            <a:xfrm>
              <a:off x="6564252" y="2487734"/>
              <a:ext cx="609030" cy="309676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Decode VQ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278" name="Ŵ">
              <a:extLst>
                <a:ext uri="{FF2B5EF4-FFF2-40B4-BE49-F238E27FC236}">
                  <ns2:creationId id="{27CA2D31-B509-4F32-8EE8-C9960F75467A}"/>
                </a:ext>
              </a:extLst>
            </p:cNvPr>
            <p:cNvSpPr>
              <a:spLocks noGrp="1"/>
            </p:cNvSpPr>
            <p:nvPr/>
          </p:nvSpPr>
          <p:spPr>
            <a:xfrm>
              <a:off x="7286830" y="2518702"/>
              <a:ext cx="185806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255"/>
            </a:bodyPr>
            <a:lstStyle>
              <a:def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</a:t>
              </a:r>
            </a:p>
          </p:txBody>
        </p:sp>
        <p:sp>
          <p:nvSpPr>
            <p:cNvPr id="279" name="diagram block">
              <a:extLst>
                <a:ext uri="{FF2B5EF4-FFF2-40B4-BE49-F238E27FC236}">
                  <ns2:creationId id="{BD4F83DF-C7E7-433E-984E-891B8C948FD8}"/>
                </a:ext>
              </a:extLst>
            </p:cNvPr>
            <p:cNvSpPr>
              <a:spLocks noGrp="1"/>
            </p:cNvSpPr>
            <p:nvPr/>
          </p:nvSpPr>
          <p:spPr>
            <a:xfrm>
              <a:off x="7519087" y="2498057"/>
              <a:ext cx="588385" cy="294193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EBC778"/>
              </a:solidFill>
              <a:prstDash val="solid"/>
            </a:ln>
          </p:spPr>
        </p:sp>
        <p:sp>
          <p:nvSpPr>
            <p:cNvPr id="280" name="Ŵ × D">
              <a:extLst>
                <a:ext uri="{FF2B5EF4-FFF2-40B4-BE49-F238E27FC236}">
                  <ns2:creationId id="{093E6E3E-5E74-43CF-B974-A26BCA2D5066}"/>
                </a:ext>
              </a:extLst>
            </p:cNvPr>
            <p:cNvSpPr>
              <a:spLocks noGrp="1"/>
            </p:cNvSpPr>
            <p:nvPr/>
          </p:nvSpPr>
          <p:spPr>
            <a:xfrm>
              <a:off x="7544894" y="2523863"/>
              <a:ext cx="536772" cy="242580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Ŵ × D</a:t>
              </a:r>
            </a:p>
          </p:txBody>
        </p:sp>
        <p:sp>
          <p:nvSpPr>
            <p:cNvPr id="281" name="diagram block">
              <a:extLst>
                <a:ext uri="{FF2B5EF4-FFF2-40B4-BE49-F238E27FC236}">
                  <ns2:creationId id="{0C5AC76A-E0E3-46B2-9B2F-F2FCE32990F8}"/>
                </a:ext>
              </a:extLst>
            </p:cNvPr>
            <p:cNvSpPr>
              <a:spLocks noGrp="1"/>
            </p:cNvSpPr>
            <p:nvPr/>
          </p:nvSpPr>
          <p:spPr>
            <a:xfrm>
              <a:off x="8313924" y="2420637"/>
              <a:ext cx="474837" cy="454192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156CB0"/>
              </a:solidFill>
              <a:prstDash val="solid"/>
            </a:ln>
          </p:spPr>
        </p:sp>
        <p:sp>
          <p:nvSpPr>
            <p:cNvPr id="282" name="BF16&#10;dense&#10;Linear">
              <a:extLst>
                <a:ext uri="{FF2B5EF4-FFF2-40B4-BE49-F238E27FC236}">
                  <ns2:creationId id="{F1FBA2DB-8DF3-4978-A698-9C88297FCE7D}"/>
                </a:ext>
              </a:extLst>
            </p:cNvPr>
            <p:cNvSpPr>
              <a:spLocks noGrp="1"/>
            </p:cNvSpPr>
            <p:nvPr/>
          </p:nvSpPr>
          <p:spPr>
            <a:xfrm>
              <a:off x="8339730" y="2446444"/>
              <a:ext cx="423224" cy="402579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dense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Linear</a:t>
              </a:r>
            </a:p>
          </p:txBody>
        </p:sp>
        <p:cxnSp>
          <p:nvCxnSpPr>
            <p:cNvPr id="283" name="native PowerPoint connector">
              <a:extLst>
                <a:ext uri="{FF2B5EF4-FFF2-40B4-BE49-F238E27FC236}">
                  <ns2:creationId id="{C1203ADE-B35C-4CEA-B08B-416131BA3750}"/>
                </a:ext>
              </a:extLst>
            </p:cNvPr>
            <p:cNvCxnSpPr/>
            <p:nvPr/>
          </p:nvCxnSpPr>
          <p:spPr>
            <a:xfrm flipH="0" flipV="0">
              <a:off x="7204250" y="2642572"/>
              <a:ext cx="309676" cy="0"/>
            </a:xfrm>
            <a:prstGeom prst="straightConnector1">
              <a:avLst/>
            </a:prstGeom>
            <a:ln w="8258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84" name="native PowerPoint connector">
              <a:extLst>
                <a:ext uri="{FF2B5EF4-FFF2-40B4-BE49-F238E27FC236}">
                  <ns2:creationId id="{AA29B414-60BA-46CC-83C0-6F702ED997D3}"/>
                </a:ext>
              </a:extLst>
            </p:cNvPr>
            <p:cNvCxnSpPr/>
            <p:nvPr/>
          </p:nvCxnSpPr>
          <p:spPr>
            <a:xfrm flipH="0" flipV="0">
              <a:off x="8112634" y="2642572"/>
              <a:ext cx="196128" cy="0"/>
            </a:xfrm>
            <a:prstGeom prst="straightConnector1">
              <a:avLst/>
            </a:prstGeom>
            <a:ln w="8258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85" name="diagram block">
              <a:extLst>
                <a:ext uri="{FF2B5EF4-FFF2-40B4-BE49-F238E27FC236}">
                  <ns2:creationId id="{5EE72DE8-EB16-4151-8B2A-40E0DE7FB4A8}"/>
                </a:ext>
              </a:extLst>
            </p:cNvPr>
            <p:cNvSpPr>
              <a:spLocks noGrp="1"/>
            </p:cNvSpPr>
            <p:nvPr/>
          </p:nvSpPr>
          <p:spPr>
            <a:xfrm>
              <a:off x="6538445" y="2947087"/>
              <a:ext cx="2250315" cy="459353"/>
            </a:xfrm>
            <a:prstGeom prst="roundRect">
              <a:avLst>
                <a:gd name="adj" fmla="val 6742"/>
              </a:avLst>
            </a:prstGeom>
            <a:gradFill>
              <a:gsLst>
                <a:gs pos="0">
                  <a:srgbClr val="DBF0F0"/>
                </a:gs>
                <a:gs pos="100000">
                  <a:srgbClr val="F4FCFC"/>
                </a:gs>
              </a:gsLst>
              <a:lin ang="5400000"/>
            </a:gradFill>
            <a:ln w="5161">
              <a:solidFill>
                <a:srgbClr val="95D0D1"/>
              </a:solidFill>
              <a:prstDash val="solid"/>
            </a:ln>
          </p:spPr>
        </p:sp>
        <p:sp>
          <p:nvSpPr>
            <p:cNvPr id="286" name="Training refinement (activation only)">
              <a:extLst>
                <a:ext uri="{FF2B5EF4-FFF2-40B4-BE49-F238E27FC236}">
                  <ns2:creationId id="{66761767-20BA-453B-A838-64BD0A651BB8}"/>
                </a:ext>
              </a:extLst>
            </p:cNvPr>
            <p:cNvSpPr>
              <a:spLocks noGrp="1"/>
            </p:cNvSpPr>
            <p:nvPr/>
          </p:nvSpPr>
          <p:spPr>
            <a:xfrm>
              <a:off x="6584897" y="2983216"/>
              <a:ext cx="2147090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287"/>
            </a:bodyPr>
            <a:lstStyle>
              <a:def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0696D"/>
                  </a:solidFill>
                  <a:latin typeface="Times New Roman"/>
                  <a:ea typeface="Times New Roman"/>
                  <a:cs typeface="Times New Roman"/>
                </a:rPr>
                <a:t>Training refinement (activation only)</a:t>
              </a:r>
            </a:p>
          </p:txBody>
        </p:sp>
        <p:sp>
          <p:nvSpPr>
            <p:cNvPr id="287" name="• Freeze indices, B32 exponents,&#10;  codebooks and row gains">
              <a:extLst>
                <a:ext uri="{FF2B5EF4-FFF2-40B4-BE49-F238E27FC236}">
                  <ns2:creationId id="{97EDF5BD-E1F0-4FE0-A2E3-297CBCF49F06}"/>
                </a:ext>
              </a:extLst>
            </p:cNvPr>
            <p:cNvSpPr>
              <a:spLocks noGrp="1"/>
            </p:cNvSpPr>
            <p:nvPr/>
          </p:nvSpPr>
          <p:spPr>
            <a:xfrm>
              <a:off x="6595219" y="3117409"/>
              <a:ext cx="2141929" cy="1754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574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• Freeze indices, B32 exponents,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 codebooks and row gains</a:t>
              </a:r>
            </a:p>
          </p:txBody>
        </p:sp>
        <p:sp>
          <p:nvSpPr>
            <p:cNvPr id="288" name="• Learn per-channel D and per-Linear r_{ℓ}">
              <a:extLst>
                <a:ext uri="{FF2B5EF4-FFF2-40B4-BE49-F238E27FC236}">
                  <ns2:creationId id="{A928610C-B29F-48AD-BE24-EB7FE97C618E}"/>
                </a:ext>
              </a:extLst>
            </p:cNvPr>
            <p:cNvSpPr>
              <a:spLocks noGrp="1"/>
            </p:cNvSpPr>
            <p:nvPr/>
          </p:nvSpPr>
          <p:spPr>
            <a:xfrm>
              <a:off x="6595219" y="3298054"/>
              <a:ext cx="2136767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• Learn per-channel D and per-Linear r</a:t>
              </a:r>
              <a:r>
                <a:rPr sz="364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</a:p>
          </p:txBody>
        </p:sp>
        <p:sp>
          <p:nvSpPr>
            <p:cNvPr id="289" name="diagram block">
              <a:extLst>
                <a:ext uri="{FF2B5EF4-FFF2-40B4-BE49-F238E27FC236}">
                  <ns2:creationId id="{AC56E0EC-E9EC-43BD-B322-74DCA0285F5A}"/>
                </a:ext>
              </a:extLst>
            </p:cNvPr>
            <p:cNvSpPr>
              <a:spLocks noGrp="1"/>
            </p:cNvSpPr>
            <p:nvPr/>
          </p:nvSpPr>
          <p:spPr>
            <a:xfrm>
              <a:off x="277820" y="3530311"/>
              <a:ext cx="8588360" cy="1300641"/>
            </a:xfrm>
            <a:prstGeom prst="roundRect">
              <a:avLst>
                <a:gd name="adj" fmla="val 3175"/>
              </a:avLst>
            </a:prstGeom>
            <a:solidFill>
              <a:srgbClr val="FFFFFF"/>
            </a:solidFill>
            <a:ln w="8258">
              <a:solidFill>
                <a:srgbClr val="061A3C"/>
              </a:solidFill>
              <a:prstDash val="solid"/>
            </a:ln>
          </p:spPr>
        </p:sp>
        <p:sp>
          <p:nvSpPr>
            <p:cNvPr id="290" name="Offline training loop (action + latent supervision)">
              <a:extLst>
                <a:ext uri="{FF2B5EF4-FFF2-40B4-BE49-F238E27FC236}">
                  <ns2:creationId id="{9B2A7E1A-64A9-4F00-999E-5C0B67BB2E1F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3587085"/>
              <a:ext cx="3829665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training loop (action + latent supervision)</a:t>
              </a:r>
            </a:p>
          </p:txBody>
        </p:sp>
        <p:sp>
          <p:nvSpPr>
            <p:cNvPr id="291" name="Offline gradients (no gradient to frozen components)">
              <a:extLst>
                <a:ext uri="{FF2B5EF4-FFF2-40B4-BE49-F238E27FC236}">
                  <ns2:creationId id="{FDA62494-EB2F-45B1-9EDE-DCD0C13624A4}"/>
                </a:ext>
              </a:extLst>
            </p:cNvPr>
            <p:cNvSpPr>
              <a:spLocks noGrp="1"/>
            </p:cNvSpPr>
            <p:nvPr/>
          </p:nvSpPr>
          <p:spPr>
            <a:xfrm>
              <a:off x="4417162" y="3654182"/>
              <a:ext cx="278708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gradients (no gradient to frozen components)</a:t>
              </a:r>
            </a:p>
          </p:txBody>
        </p:sp>
        <p:cxnSp>
          <p:nvCxnSpPr>
            <p:cNvPr id="292" name="native PowerPoint connector">
              <a:extLst>
                <a:ext uri="{FF2B5EF4-FFF2-40B4-BE49-F238E27FC236}">
                  <ns2:creationId id="{DDAC5244-1E25-49E4-8466-DA4A35D17440}"/>
                </a:ext>
              </a:extLst>
            </p:cNvPr>
            <p:cNvCxnSpPr/>
            <p:nvPr/>
          </p:nvCxnSpPr>
          <p:spPr>
            <a:xfrm flipH="0" flipV="0">
              <a:off x="7436507" y="3654182"/>
              <a:ext cx="325160" cy="0"/>
            </a:xfrm>
            <a:prstGeom prst="straightConnector1">
              <a:avLst/>
            </a:prstGeom>
            <a:ln w="11355">
              <a:solidFill>
                <a:srgbClr val="003C82"/>
              </a:solidFill>
              <a:prstDash val="solid"/>
              <a:tailEnd type="triangle" w="sm" len="sm"/>
            </a:ln>
          </p:spPr>
        </p:cxnSp>
        <p:sp>
          <p:nvSpPr>
            <p:cNvPr id="293" name="Forward data">
              <a:extLst>
                <a:ext uri="{FF2B5EF4-FFF2-40B4-BE49-F238E27FC236}">
                  <ns2:creationId id="{8BAF6FF1-FEF7-488A-B123-68EC3373F59B}"/>
                </a:ext>
              </a:extLst>
            </p:cNvPr>
            <p:cNvSpPr>
              <a:spLocks noGrp="1"/>
            </p:cNvSpPr>
            <p:nvPr/>
          </p:nvSpPr>
          <p:spPr>
            <a:xfrm>
              <a:off x="7802957" y="3602569"/>
              <a:ext cx="934191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Forward data</a:t>
              </a:r>
            </a:p>
          </p:txBody>
        </p:sp>
        <p:cxnSp>
          <p:nvCxnSpPr>
            <p:cNvPr id="294" name="native PowerPoint connector">
              <a:extLst>
                <a:ext uri="{FF2B5EF4-FFF2-40B4-BE49-F238E27FC236}">
                  <ns2:creationId id="{5C6C9B82-C809-46F3-8388-93CF96361E73}"/>
                </a:ext>
              </a:extLst>
            </p:cNvPr>
            <p:cNvCxnSpPr/>
            <p:nvPr/>
          </p:nvCxnSpPr>
          <p:spPr>
            <a:xfrm flipH="0" flipV="0">
              <a:off x="7436507" y="3767730"/>
              <a:ext cx="325160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295" name="Offline gradient /&#10;parameter update">
              <a:extLst>
                <a:ext uri="{FF2B5EF4-FFF2-40B4-BE49-F238E27FC236}">
                  <ns2:creationId id="{FBECCB63-FBBF-42D3-A6AE-63287761B211}"/>
                </a:ext>
              </a:extLst>
            </p:cNvPr>
            <p:cNvSpPr>
              <a:spLocks noGrp="1"/>
            </p:cNvSpPr>
            <p:nvPr/>
          </p:nvSpPr>
          <p:spPr>
            <a:xfrm>
              <a:off x="7802957" y="3721278"/>
              <a:ext cx="934191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762"/>
            </a:bodyPr>
            <a:lstStyle>
              <a:def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Offline gradient /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48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parameter update</a:t>
              </a:r>
            </a:p>
          </p:txBody>
        </p:sp>
        <p:sp>
          <p:nvSpPr>
            <p:cNvPr id="296" name="diagram block">
              <a:extLst>
                <a:ext uri="{FF2B5EF4-FFF2-40B4-BE49-F238E27FC236}">
                  <ns2:creationId id="{B7B4FA40-AFA3-4091-9791-AE7F51178E2E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3974181"/>
              <a:ext cx="794836" cy="273548"/>
            </a:xfrm>
            <a:prstGeom prst="roundRect">
              <a:avLst>
                <a:gd name="adj" fmla="val 7547"/>
              </a:avLst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5161">
              <a:solidFill>
                <a:srgbClr val="4C9ED7"/>
              </a:solidFill>
              <a:prstDash val="solid"/>
            </a:ln>
          </p:spPr>
        </p:sp>
        <p:sp>
          <p:nvSpPr>
            <p:cNvPr id="297" name="BF16 teacher&#10;(frozen)">
              <a:extLst>
                <a:ext uri="{FF2B5EF4-FFF2-40B4-BE49-F238E27FC236}">
                  <ns2:creationId id="{65913DC9-56ED-4B0A-A918-1588E5EFECB2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3999987"/>
              <a:ext cx="743223" cy="221935"/>
            </a:xfrm>
            <a:prstGeom prst="rect">
              <a:avLst/>
            </a:prstGeom>
            <a:gradFill>
              <a:gsLst>
                <a:gs pos="0">
                  <a:srgbClr val="B9E4FF"/>
                </a:gs>
                <a:gs pos="100000">
                  <a:srgbClr val="DFF3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9561"/>
            </a:bodyPr>
            <a:lstStyle>
              <a:def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BF16 teacher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74A8B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298" name="diagram block">
              <a:extLst>
                <a:ext uri="{FF2B5EF4-FFF2-40B4-BE49-F238E27FC236}">
                  <ns2:creationId id="{0CA9FD97-87BC-408B-BFDA-019A0BD3FF15}"/>
                </a:ext>
              </a:extLst>
            </p:cNvPr>
            <p:cNvSpPr>
              <a:spLocks noGrp="1"/>
            </p:cNvSpPr>
            <p:nvPr/>
          </p:nvSpPr>
          <p:spPr>
            <a:xfrm>
              <a:off x="350078" y="4335470"/>
              <a:ext cx="794836" cy="268386"/>
            </a:xfrm>
            <a:prstGeom prst="roundRect">
              <a:avLst>
                <a:gd name="adj" fmla="val 7692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06F80"/>
              </a:solidFill>
              <a:prstDash val="solid"/>
            </a:ln>
          </p:spPr>
        </p:sp>
        <p:sp>
          <p:nvSpPr>
            <p:cNvPr id="299" name="Quantized WAM&#10;(student)">
              <a:extLst>
                <a:ext uri="{FF2B5EF4-FFF2-40B4-BE49-F238E27FC236}">
                  <ns2:creationId id="{98325E86-E4DB-4F23-A306-7F5CE9E5B3EF}"/>
                </a:ext>
              </a:extLst>
            </p:cNvPr>
            <p:cNvSpPr>
              <a:spLocks noGrp="1"/>
            </p:cNvSpPr>
            <p:nvPr/>
          </p:nvSpPr>
          <p:spPr>
            <a:xfrm>
              <a:off x="375884" y="4361276"/>
              <a:ext cx="743223" cy="216774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Quantized WAM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(student)</a:t>
              </a:r>
            </a:p>
          </p:txBody>
        </p:sp>
        <p:sp>
          <p:nvSpPr>
            <p:cNvPr id="300" name="diagram block">
              <a:extLst>
                <a:ext uri="{FF2B5EF4-FFF2-40B4-BE49-F238E27FC236}">
                  <ns2:creationId id="{A383F713-641D-4F7B-B32B-DD0F98D6F2D9}"/>
                </a:ext>
              </a:extLst>
            </p:cNvPr>
            <p:cNvSpPr>
              <a:spLocks noGrp="1"/>
            </p:cNvSpPr>
            <p:nvPr/>
          </p:nvSpPr>
          <p:spPr>
            <a:xfrm>
              <a:off x="1320397" y="4046439"/>
              <a:ext cx="1114835" cy="500644"/>
            </a:xfrm>
            <a:prstGeom prst="roundRect">
              <a:avLst>
                <a:gd name="adj" fmla="val 4124"/>
              </a:avLst>
            </a:prstGeom>
            <a:solidFill>
              <a:srgbClr val="F8FBFF"/>
            </a:solidFill>
            <a:ln w="5161">
              <a:solidFill>
                <a:srgbClr val="17619B"/>
              </a:solidFill>
              <a:prstDash val="solid"/>
            </a:ln>
          </p:spPr>
        </p:sp>
        <p:sp>
          <p:nvSpPr>
            <p:cNvPr id="301" name="Forward pass&#10;on training data&#10;(action + latent supervision)">
              <a:extLst>
                <a:ext uri="{FF2B5EF4-FFF2-40B4-BE49-F238E27FC236}">
                  <ns2:creationId id="{8D71770D-E9D1-423A-9415-6C46DA823C22}"/>
                </a:ext>
              </a:extLst>
            </p:cNvPr>
            <p:cNvSpPr>
              <a:spLocks noGrp="1"/>
            </p:cNvSpPr>
            <p:nvPr/>
          </p:nvSpPr>
          <p:spPr>
            <a:xfrm>
              <a:off x="1346204" y="4072245"/>
              <a:ext cx="1063222" cy="449031"/>
            </a:xfrm>
            <a:prstGeom prst="rect">
              <a:avLst/>
            </a:prstGeom>
            <a:solidFill>
              <a:srgbClr val="F8FBFF"/>
            </a:solidFill>
            <a:ln w="0">
              <a:noFill/>
            </a:ln>
          </p:spPr>
          <p:txBody>
            <a:bodyPr wrap="none" lIns="0" tIns="0" rIns="0" bIns="0" anchor="ctr">
              <a:normAutofit fontScale="86865"/>
            </a:bodyPr>
            <a:lstStyle>
              <a:def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Forward pass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on training data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(action + latent supervision)</a:t>
              </a:r>
            </a:p>
          </p:txBody>
        </p:sp>
        <p:cxnSp>
          <p:nvCxnSpPr>
            <p:cNvPr id="302" name="native PowerPoint connector">
              <a:extLst>
                <a:ext uri="{FF2B5EF4-FFF2-40B4-BE49-F238E27FC236}">
                  <ns2:creationId id="{601547D8-4B03-456C-BC86-C0D6C15C216E}"/>
                </a:ext>
              </a:extLst>
            </p:cNvPr>
            <p:cNvCxnSpPr/>
            <p:nvPr/>
          </p:nvCxnSpPr>
          <p:spPr>
            <a:xfrm flipH="0" flipV="0">
              <a:off x="1150075" y="4113535"/>
              <a:ext cx="165161" cy="0"/>
            </a:xfrm>
            <a:prstGeom prst="straightConnector1">
              <a:avLst/>
            </a:prstGeom>
            <a:ln w="9290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03" name="native PowerPoint connector">
              <a:extLst>
                <a:ext uri="{FF2B5EF4-FFF2-40B4-BE49-F238E27FC236}">
                  <ns2:creationId id="{C0F770E2-AA93-45FB-9F2F-C53B5F0AAF79}"/>
                </a:ext>
              </a:extLst>
            </p:cNvPr>
            <p:cNvCxnSpPr/>
            <p:nvPr/>
          </p:nvCxnSpPr>
          <p:spPr>
            <a:xfrm flipH="0" flipV="0">
              <a:off x="1150075" y="4464502"/>
              <a:ext cx="165161" cy="0"/>
            </a:xfrm>
            <a:prstGeom prst="straightConnector1">
              <a:avLst/>
            </a:prstGeom>
            <a:ln w="9290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04" name="diagram block">
              <a:extLst>
                <a:ext uri="{FF2B5EF4-FFF2-40B4-BE49-F238E27FC236}">
                  <ns2:creationId id="{953230D1-F0AE-4C7A-B01E-67C4A1968620}"/>
                </a:ext>
              </a:extLst>
            </p:cNvPr>
            <p:cNvSpPr>
              <a:spLocks noGrp="1"/>
            </p:cNvSpPr>
            <p:nvPr/>
          </p:nvSpPr>
          <p:spPr>
            <a:xfrm>
              <a:off x="2584910" y="4010310"/>
              <a:ext cx="1228383" cy="221935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5161">
              <a:solidFill>
                <a:srgbClr val="EDBE67"/>
              </a:solidFill>
              <a:prstDash val="solid"/>
            </a:ln>
          </p:spPr>
        </p:sp>
        <p:sp>
          <p:nvSpPr>
            <p:cNvPr id="305" name="Future latent loss  L_z">
              <a:extLst>
                <a:ext uri="{FF2B5EF4-FFF2-40B4-BE49-F238E27FC236}">
                  <ns2:creationId id="{179805E6-BB01-4E93-8CD6-AB14256D51FB}"/>
                </a:ext>
              </a:extLst>
            </p:cNvPr>
            <p:cNvSpPr>
              <a:spLocks noGrp="1"/>
            </p:cNvSpPr>
            <p:nvPr/>
          </p:nvSpPr>
          <p:spPr>
            <a:xfrm>
              <a:off x="2610716" y="4036116"/>
              <a:ext cx="1176770" cy="170322"/>
            </a:xfrm>
            <a:prstGeom prst="rect">
              <a:avLst/>
            </a:prstGeom>
            <a:gradFill>
              <a:gsLst>
                <a:gs pos="0">
                  <a:srgbClr val="FFE6B3"/>
                </a:gs>
                <a:gs pos="100000">
                  <a:srgbClr val="FFF3D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rPr>
                <a:t>Future latent loss  L</a:t>
              </a:r>
              <a:r>
                <a:rPr sz="479" b="0" i="0" baseline="-23000">
                  <a:solidFill>
                    <a:srgbClr val="845217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sp>
          <p:nvSpPr>
            <p:cNvPr id="306" name="diagram block">
              <a:extLst>
                <a:ext uri="{FF2B5EF4-FFF2-40B4-BE49-F238E27FC236}">
                  <ns2:creationId id="{C1AA4E02-39B7-41F2-AA96-E627FD34DC06}"/>
                </a:ext>
              </a:extLst>
            </p:cNvPr>
            <p:cNvSpPr>
              <a:spLocks noGrp="1"/>
            </p:cNvSpPr>
            <p:nvPr/>
          </p:nvSpPr>
          <p:spPr>
            <a:xfrm>
              <a:off x="2584910" y="4330309"/>
              <a:ext cx="1228383" cy="227096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D7EFF1"/>
                </a:gs>
                <a:gs pos="100000">
                  <a:srgbClr val="F0FAFA"/>
                </a:gs>
              </a:gsLst>
              <a:lin ang="5400000"/>
            </a:gradFill>
            <a:ln w="5161">
              <a:solidFill>
                <a:srgbClr val="72BFCA"/>
              </a:solidFill>
              <a:prstDash val="solid"/>
            </a:ln>
          </p:spPr>
        </p:sp>
        <p:sp>
          <p:nvSpPr>
            <p:cNvPr id="307" name="First-10 motor action loss  L_a">
              <a:extLst>
                <a:ext uri="{FF2B5EF4-FFF2-40B4-BE49-F238E27FC236}">
                  <ns2:creationId id="{05CBB6FF-349F-4AF0-BF29-ADD7D8E9F2DC}"/>
                </a:ext>
              </a:extLst>
            </p:cNvPr>
            <p:cNvSpPr>
              <a:spLocks noGrp="1"/>
            </p:cNvSpPr>
            <p:nvPr/>
          </p:nvSpPr>
          <p:spPr>
            <a:xfrm>
              <a:off x="2610716" y="4356115"/>
              <a:ext cx="1176770" cy="175483"/>
            </a:xfrm>
            <a:prstGeom prst="rect">
              <a:avLst/>
            </a:prstGeom>
            <a:gradFill>
              <a:gsLst>
                <a:gs pos="0">
                  <a:srgbClr val="D7EFF1"/>
                </a:gs>
                <a:gs pos="100000">
                  <a:srgbClr val="F0FAFA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523"/>
            </a:bodyPr>
            <a:lstStyle>
              <a:def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rPr>
                <a:t>First-10 motor action loss  L</a:t>
              </a:r>
              <a:r>
                <a:rPr sz="456" b="1" i="0" baseline="-23000">
                  <a:solidFill>
                    <a:srgbClr val="004F65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cxnSp>
          <p:nvCxnSpPr>
            <p:cNvPr id="308" name="native PowerPoint connector">
              <a:extLst>
                <a:ext uri="{FF2B5EF4-FFF2-40B4-BE49-F238E27FC236}">
                  <ns2:creationId id="{DC58E001-8196-45E0-8615-442CF64E6342}"/>
                </a:ext>
              </a:extLst>
            </p:cNvPr>
            <p:cNvCxnSpPr/>
            <p:nvPr/>
          </p:nvCxnSpPr>
          <p:spPr>
            <a:xfrm flipH="0" flipV="0">
              <a:off x="2440394" y="4118697"/>
              <a:ext cx="139354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09" name="native PowerPoint connector">
              <a:extLst>
                <a:ext uri="{FF2B5EF4-FFF2-40B4-BE49-F238E27FC236}">
                  <ns2:creationId id="{1536C4E2-3EDD-4F47-8797-89CC122E3455}"/>
                </a:ext>
              </a:extLst>
            </p:cNvPr>
            <p:cNvCxnSpPr/>
            <p:nvPr/>
          </p:nvCxnSpPr>
          <p:spPr>
            <a:xfrm flipH="0" flipV="0">
              <a:off x="2440394" y="4443857"/>
              <a:ext cx="139354" cy="0"/>
            </a:xfrm>
            <a:prstGeom prst="straightConnector1">
              <a:avLst/>
            </a:prstGeom>
            <a:ln w="8774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10" name="native PowerPoint connector">
              <a:extLst>
                <a:ext uri="{FF2B5EF4-FFF2-40B4-BE49-F238E27FC236}">
                  <ns2:creationId id="{76F7E405-E072-436D-8D64-C48B8552215C}"/>
                </a:ext>
              </a:extLst>
            </p:cNvPr>
            <p:cNvCxnSpPr/>
            <p:nvPr/>
          </p:nvCxnSpPr>
          <p:spPr>
            <a:xfrm flipH="0" flipV="0">
              <a:off x="3818454" y="4123858"/>
              <a:ext cx="103225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1" name="native PowerPoint connector">
              <a:extLst>
                <a:ext uri="{FF2B5EF4-FFF2-40B4-BE49-F238E27FC236}">
                  <ns2:creationId id="{8B71033A-EA02-4C06-A126-7F99D745C425}"/>
                </a:ext>
              </a:extLst>
            </p:cNvPr>
            <p:cNvCxnSpPr/>
            <p:nvPr/>
          </p:nvCxnSpPr>
          <p:spPr>
            <a:xfrm flipH="0" flipV="0">
              <a:off x="3921679" y="4123858"/>
              <a:ext cx="0" cy="139354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2" name="native PowerPoint connector">
              <a:extLst>
                <a:ext uri="{FF2B5EF4-FFF2-40B4-BE49-F238E27FC236}">
                  <ns2:creationId id="{422037BA-B1DD-474B-AA17-C4EA4F37E892}"/>
                </a:ext>
              </a:extLst>
            </p:cNvPr>
            <p:cNvCxnSpPr/>
            <p:nvPr/>
          </p:nvCxnSpPr>
          <p:spPr>
            <a:xfrm flipH="0" flipV="0">
              <a:off x="3921679" y="426321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313" name="native PowerPoint connector">
              <a:extLst>
                <a:ext uri="{FF2B5EF4-FFF2-40B4-BE49-F238E27FC236}">
                  <ns2:creationId id="{139CDCBF-0C1F-49FD-90B4-0B37CAB9FC6B}"/>
                </a:ext>
              </a:extLst>
            </p:cNvPr>
            <p:cNvCxnSpPr/>
            <p:nvPr/>
          </p:nvCxnSpPr>
          <p:spPr>
            <a:xfrm flipH="0" flipV="0">
              <a:off x="3818454" y="4443857"/>
              <a:ext cx="103225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4" name="native PowerPoint connector">
              <a:extLst>
                <a:ext uri="{FF2B5EF4-FFF2-40B4-BE49-F238E27FC236}">
                  <ns2:creationId id="{1376580F-88C0-4C08-8677-EA7EBF941C0B}"/>
                </a:ext>
              </a:extLst>
            </p:cNvPr>
            <p:cNvCxnSpPr/>
            <p:nvPr/>
          </p:nvCxnSpPr>
          <p:spPr>
            <a:xfrm flipH="0" flipV="1">
              <a:off x="3921679" y="4263212"/>
              <a:ext cx="0" cy="180645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</a:ln>
          </p:spPr>
        </p:cxnSp>
        <p:cxnSp>
          <p:nvCxnSpPr>
            <p:cNvPr id="315" name="native PowerPoint connector">
              <a:extLst>
                <a:ext uri="{FF2B5EF4-FFF2-40B4-BE49-F238E27FC236}">
                  <ns2:creationId id="{497CB0E6-3A6C-4DBC-9A39-DF92E58DB46C}"/>
                </a:ext>
              </a:extLst>
            </p:cNvPr>
            <p:cNvCxnSpPr/>
            <p:nvPr/>
          </p:nvCxnSpPr>
          <p:spPr>
            <a:xfrm flipH="0" flipV="0">
              <a:off x="3921679" y="4263212"/>
              <a:ext cx="113548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16" name="Total loss">
              <a:extLst>
                <a:ext uri="{FF2B5EF4-FFF2-40B4-BE49-F238E27FC236}">
                  <ns2:creationId id="{38636A9E-4232-475C-B283-9EFC9236C98D}"/>
                </a:ext>
              </a:extLst>
            </p:cNvPr>
            <p:cNvSpPr>
              <a:spLocks noGrp="1"/>
            </p:cNvSpPr>
            <p:nvPr/>
          </p:nvSpPr>
          <p:spPr>
            <a:xfrm>
              <a:off x="4153937" y="4103213"/>
              <a:ext cx="660643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553"/>
            </a:bodyPr>
            <a:lstStyle>
              <a:def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Total loss</a:t>
              </a:r>
            </a:p>
          </p:txBody>
        </p:sp>
        <p:sp>
          <p:nvSpPr>
            <p:cNvPr id="317" name="L = L_a + λL_z">
              <a:extLst>
                <a:ext uri="{FF2B5EF4-FFF2-40B4-BE49-F238E27FC236}">
                  <ns2:creationId id="{D1A2EAA2-C689-4BCF-AF23-6A88D51690A5}"/>
                </a:ext>
              </a:extLst>
            </p:cNvPr>
            <p:cNvSpPr>
              <a:spLocks noGrp="1"/>
            </p:cNvSpPr>
            <p:nvPr/>
          </p:nvSpPr>
          <p:spPr>
            <a:xfrm>
              <a:off x="4081679" y="4258051"/>
              <a:ext cx="825804" cy="18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3388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 = L</a:t>
              </a:r>
              <a:r>
                <a:rPr sz="616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λL</a:t>
              </a:r>
              <a:r>
                <a:rPr sz="616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  <p:sp>
          <p:nvSpPr>
            <p:cNvPr id="318" name="λ = ρc (frozen)">
              <a:extLst>
                <a:ext uri="{FF2B5EF4-FFF2-40B4-BE49-F238E27FC236}">
                  <ns2:creationId id="{11069D5F-87CC-4207-BF0B-7A0FCECA441E}"/>
                </a:ext>
              </a:extLst>
            </p:cNvPr>
            <p:cNvSpPr>
              <a:spLocks noGrp="1"/>
            </p:cNvSpPr>
            <p:nvPr/>
          </p:nvSpPr>
          <p:spPr>
            <a:xfrm>
              <a:off x="4076518" y="4469663"/>
              <a:ext cx="825804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λ = ρc (frozen)</a:t>
              </a:r>
            </a:p>
          </p:txBody>
        </p:sp>
        <p:sp>
          <p:nvSpPr>
            <p:cNvPr id="319" name="diagram block">
              <a:extLst>
                <a:ext uri="{FF2B5EF4-FFF2-40B4-BE49-F238E27FC236}">
                  <ns2:creationId id="{0A6FCC9A-B805-43F6-8246-EB62A23A9DFE}"/>
                </a:ext>
              </a:extLst>
            </p:cNvPr>
            <p:cNvSpPr>
              <a:spLocks noGrp="1"/>
            </p:cNvSpPr>
            <p:nvPr/>
          </p:nvSpPr>
          <p:spPr>
            <a:xfrm>
              <a:off x="5124256" y="3943213"/>
              <a:ext cx="1109674" cy="356128"/>
            </a:xfrm>
            <a:prstGeom prst="roundRect">
              <a:avLst>
                <a:gd name="adj" fmla="val 7246"/>
              </a:avLst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5161">
              <a:solidFill>
                <a:srgbClr val="F18591"/>
              </a:solidFill>
              <a:prstDash val="solid"/>
            </a:ln>
          </p:spPr>
        </p:sp>
        <p:sp>
          <p:nvSpPr>
            <p:cNvPr id="320" name="Calibrate codebooks /&#10;row gains&#10;(section b)">
              <a:extLst>
                <a:ext uri="{FF2B5EF4-FFF2-40B4-BE49-F238E27FC236}">
                  <ns2:creationId id="{9F4ABD3F-A5A6-4EE7-9D19-9DDB7A239590}"/>
                </a:ext>
              </a:extLst>
            </p:cNvPr>
            <p:cNvSpPr>
              <a:spLocks noGrp="1"/>
            </p:cNvSpPr>
            <p:nvPr/>
          </p:nvSpPr>
          <p:spPr>
            <a:xfrm>
              <a:off x="5150063" y="3969020"/>
              <a:ext cx="1058061" cy="304515"/>
            </a:xfrm>
            <a:prstGeom prst="rect">
              <a:avLst/>
            </a:prstGeom>
            <a:gradFill>
              <a:gsLst>
                <a:gs pos="0">
                  <a:srgbClr val="FFC1C1"/>
                </a:gs>
                <a:gs pos="100000">
                  <a:srgbClr val="FFE8E2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4501"/>
            </a:bodyPr>
            <a:lstStyle>
              <a:def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Calibrate codebooks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row gains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B10818"/>
                  </a:solidFill>
                  <a:latin typeface="Times New Roman"/>
                  <a:ea typeface="Times New Roman"/>
                  <a:cs typeface="Times New Roman"/>
                </a:rPr>
                <a:t>(section b)</a:t>
              </a:r>
            </a:p>
          </p:txBody>
        </p:sp>
        <p:sp>
          <p:nvSpPr>
            <p:cNvPr id="321" name="diagram block">
              <a:extLst>
                <a:ext uri="{FF2B5EF4-FFF2-40B4-BE49-F238E27FC236}">
                  <ns2:creationId id="{1BD48EDC-0941-4528-A44C-D1BB34643861}"/>
                </a:ext>
              </a:extLst>
            </p:cNvPr>
            <p:cNvSpPr>
              <a:spLocks noGrp="1"/>
            </p:cNvSpPr>
            <p:nvPr/>
          </p:nvSpPr>
          <p:spPr>
            <a:xfrm>
              <a:off x="6388768" y="3943213"/>
              <a:ext cx="1094190" cy="356128"/>
            </a:xfrm>
            <a:prstGeom prst="roundRect">
              <a:avLst>
                <a:gd name="adj" fmla="val 7246"/>
              </a:avLst>
            </a:prstGeom>
            <a:gradFill>
              <a:gsLst>
                <a:gs pos="0">
                  <a:srgbClr val="ACE3E4"/>
                </a:gs>
                <a:gs pos="100000">
                  <a:srgbClr val="D9F1F1"/>
                </a:gs>
              </a:gsLst>
              <a:lin ang="5400000"/>
            </a:gradFill>
            <a:ln w="5161">
              <a:solidFill>
                <a:srgbClr val="84CDD1"/>
              </a:solidFill>
              <a:prstDash val="solid"/>
            </a:ln>
          </p:spPr>
        </p:sp>
        <p:sp>
          <p:nvSpPr>
            <p:cNvPr id="322" name="Refine per-channel D /&#10;clipping ratio&#10;(section c)">
              <a:extLst>
                <a:ext uri="{FF2B5EF4-FFF2-40B4-BE49-F238E27FC236}">
                  <ns2:creationId id="{3EB6D57F-3905-41FA-A867-94548CEB5E4B}"/>
                </a:ext>
              </a:extLst>
            </p:cNvPr>
            <p:cNvSpPr>
              <a:spLocks noGrp="1"/>
            </p:cNvSpPr>
            <p:nvPr/>
          </p:nvSpPr>
          <p:spPr>
            <a:xfrm>
              <a:off x="6414575" y="3969020"/>
              <a:ext cx="1042577" cy="304515"/>
            </a:xfrm>
            <a:prstGeom prst="rect">
              <a:avLst/>
            </a:prstGeom>
            <a:gradFill>
              <a:gsLst>
                <a:gs pos="0">
                  <a:srgbClr val="ACE3E4"/>
                </a:gs>
                <a:gs pos="100000">
                  <a:srgbClr val="D9F1F1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4501"/>
            </a:bodyPr>
            <a:lstStyle>
              <a:def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Refine per-channel D /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clipping ratio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04D61"/>
                  </a:solidFill>
                  <a:latin typeface="Times New Roman"/>
                  <a:ea typeface="Times New Roman"/>
                  <a:cs typeface="Times New Roman"/>
                </a:rPr>
                <a:t>(section c)</a:t>
              </a:r>
            </a:p>
          </p:txBody>
        </p:sp>
        <p:cxnSp>
          <p:nvCxnSpPr>
            <p:cNvPr id="323" name="native PowerPoint connector">
              <a:extLst>
                <a:ext uri="{FF2B5EF4-FFF2-40B4-BE49-F238E27FC236}">
                  <ns2:creationId id="{18827FD9-6F44-4C4F-A25F-DE003C4A5A37}"/>
                </a:ext>
              </a:extLst>
            </p:cNvPr>
            <p:cNvCxnSpPr/>
            <p:nvPr/>
          </p:nvCxnSpPr>
          <p:spPr>
            <a:xfrm flipH="0" flipV="0">
              <a:off x="4830064" y="4263212"/>
              <a:ext cx="149677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324" name="native PowerPoint connector">
              <a:extLst>
                <a:ext uri="{FF2B5EF4-FFF2-40B4-BE49-F238E27FC236}">
                  <ns2:creationId id="{6C66468F-5A5E-4481-9D08-93649147BB6C}"/>
                </a:ext>
              </a:extLst>
            </p:cNvPr>
            <p:cNvCxnSpPr/>
            <p:nvPr/>
          </p:nvCxnSpPr>
          <p:spPr>
            <a:xfrm flipH="0" flipV="1">
              <a:off x="4979741" y="4082568"/>
              <a:ext cx="0" cy="180645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</a:ln>
          </p:spPr>
        </p:cxnSp>
        <p:cxnSp>
          <p:nvCxnSpPr>
            <p:cNvPr id="325" name="native PowerPoint connector">
              <a:extLst>
                <a:ext uri="{FF2B5EF4-FFF2-40B4-BE49-F238E27FC236}">
                  <ns2:creationId id="{9B1266D0-FF76-4460-B819-F7F3EEF943EE}"/>
                </a:ext>
              </a:extLst>
            </p:cNvPr>
            <p:cNvCxnSpPr/>
            <p:nvPr/>
          </p:nvCxnSpPr>
          <p:spPr>
            <a:xfrm flipH="0" flipV="0">
              <a:off x="4979741" y="4082568"/>
              <a:ext cx="139354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326" name="Update: codebooks C₁, C₂&#10;and row gains r_row">
              <a:extLst>
                <a:ext uri="{FF2B5EF4-FFF2-40B4-BE49-F238E27FC236}">
                  <ns2:creationId id="{A79B0C66-43E2-4A04-8C91-2FC8D9AEF1DC}"/>
                </a:ext>
              </a:extLst>
            </p:cNvPr>
            <p:cNvSpPr>
              <a:spLocks noGrp="1"/>
            </p:cNvSpPr>
            <p:nvPr/>
          </p:nvSpPr>
          <p:spPr>
            <a:xfrm>
              <a:off x="5211998" y="4345793"/>
              <a:ext cx="970319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219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Update: codebooks C₁, C₂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row gains r</a:t>
              </a:r>
              <a:r>
                <a:rPr sz="411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row</a:t>
              </a:r>
            </a:p>
          </p:txBody>
        </p:sp>
        <p:sp>
          <p:nvSpPr>
            <p:cNvPr id="327" name="(indices and B32 exponents remain frozen)">
              <a:extLst>
                <a:ext uri="{FF2B5EF4-FFF2-40B4-BE49-F238E27FC236}">
                  <ns2:creationId id="{6BA7B20B-47A0-4777-83B4-518A64B3A2D3}"/>
                </a:ext>
              </a:extLst>
            </p:cNvPr>
            <p:cNvSpPr>
              <a:spLocks noGrp="1"/>
            </p:cNvSpPr>
            <p:nvPr/>
          </p:nvSpPr>
          <p:spPr>
            <a:xfrm>
              <a:off x="5113934" y="4557405"/>
              <a:ext cx="1130319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4723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(indices and B32 exponents remain frozen)</a:t>
              </a:r>
            </a:p>
          </p:txBody>
        </p:sp>
        <p:sp>
          <p:nvSpPr>
            <p:cNvPr id="328" name="Update: per-channel scales D&#10;and per-Linear clipping ratio r_{ℓ}">
              <a:extLst>
                <a:ext uri="{FF2B5EF4-FFF2-40B4-BE49-F238E27FC236}">
                  <ns2:creationId id="{77A98841-5E27-4AA2-AC5F-C42F722C37FF}"/>
                </a:ext>
              </a:extLst>
            </p:cNvPr>
            <p:cNvSpPr>
              <a:spLocks noGrp="1"/>
            </p:cNvSpPr>
            <p:nvPr/>
          </p:nvSpPr>
          <p:spPr>
            <a:xfrm>
              <a:off x="6424897" y="4345793"/>
              <a:ext cx="1042577" cy="2064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Update: per-channel scales 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per-Linear clipping ratio r</a:t>
              </a:r>
              <a:r>
                <a:rPr sz="411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ℓ</a:t>
              </a:r>
            </a:p>
          </p:txBody>
        </p:sp>
        <p:sp>
          <p:nvSpPr>
            <p:cNvPr id="329" name="(VQ weights remain frozen)">
              <a:extLst>
                <a:ext uri="{FF2B5EF4-FFF2-40B4-BE49-F238E27FC236}">
                  <ns2:creationId id="{A921D5B1-43E2-4199-A36D-E54B331894DB}"/>
                </a:ext>
              </a:extLst>
            </p:cNvPr>
            <p:cNvSpPr>
              <a:spLocks noGrp="1"/>
            </p:cNvSpPr>
            <p:nvPr/>
          </p:nvSpPr>
          <p:spPr>
            <a:xfrm>
              <a:off x="6512639" y="4562566"/>
              <a:ext cx="913545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644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(VQ weights remain frozen)</a:t>
              </a:r>
            </a:p>
          </p:txBody>
        </p:sp>
        <p:cxnSp>
          <p:nvCxnSpPr>
            <p:cNvPr id="330" name="native PowerPoint connector">
              <a:extLst>
                <a:ext uri="{FF2B5EF4-FFF2-40B4-BE49-F238E27FC236}">
                  <ns2:creationId id="{BA404C26-8FED-4F57-B395-8C3850CC7B97}"/>
                </a:ext>
              </a:extLst>
            </p:cNvPr>
            <p:cNvCxnSpPr/>
            <p:nvPr/>
          </p:nvCxnSpPr>
          <p:spPr>
            <a:xfrm flipH="0" flipV="1">
              <a:off x="5691996" y="3850310"/>
              <a:ext cx="0" cy="87742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1" name="native PowerPoint connector">
              <a:extLst>
                <a:ext uri="{FF2B5EF4-FFF2-40B4-BE49-F238E27FC236}">
                  <ns2:creationId id="{D8811B37-0F95-4D13-BE80-E34911F2C163}"/>
                </a:ext>
              </a:extLst>
            </p:cNvPr>
            <p:cNvCxnSpPr/>
            <p:nvPr/>
          </p:nvCxnSpPr>
          <p:spPr>
            <a:xfrm flipH="1" flipV="0">
              <a:off x="3333294" y="3850310"/>
              <a:ext cx="2358702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2" name="native PowerPoint connector">
              <a:extLst>
                <a:ext uri="{FF2B5EF4-FFF2-40B4-BE49-F238E27FC236}">
                  <ns2:creationId id="{A25F7FDE-F741-47E1-8FCB-BFE6E22CB085}"/>
                </a:ext>
              </a:extLst>
            </p:cNvPr>
            <p:cNvCxnSpPr/>
            <p:nvPr/>
          </p:nvCxnSpPr>
          <p:spPr>
            <a:xfrm flipH="0" flipV="0">
              <a:off x="3333294" y="3850310"/>
              <a:ext cx="0" cy="154838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  <a:tailEnd type="triangle" w="sm" len="sm"/>
            </a:ln>
          </p:spPr>
        </p:cxnSp>
        <p:cxnSp>
          <p:nvCxnSpPr>
            <p:cNvPr id="333" name="native PowerPoint connector">
              <a:extLst>
                <a:ext uri="{FF2B5EF4-FFF2-40B4-BE49-F238E27FC236}">
                  <ns2:creationId id="{02E10FAC-1E99-4125-BF89-7C9136B8C2A8}"/>
                </a:ext>
              </a:extLst>
            </p:cNvPr>
            <p:cNvCxnSpPr/>
            <p:nvPr/>
          </p:nvCxnSpPr>
          <p:spPr>
            <a:xfrm flipH="0" flipV="1">
              <a:off x="6930702" y="3757407"/>
              <a:ext cx="0" cy="180645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4" name="native PowerPoint connector">
              <a:extLst>
                <a:ext uri="{FF2B5EF4-FFF2-40B4-BE49-F238E27FC236}">
                  <ns2:creationId id="{51EAE853-C92C-4E61-BB2D-1BCE74371E6C}"/>
                </a:ext>
              </a:extLst>
            </p:cNvPr>
            <p:cNvCxnSpPr/>
            <p:nvPr/>
          </p:nvCxnSpPr>
          <p:spPr>
            <a:xfrm flipH="1" flipV="0">
              <a:off x="1609429" y="3757407"/>
              <a:ext cx="5321273" cy="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</a:ln>
          </p:spPr>
        </p:cxnSp>
        <p:cxnSp>
          <p:nvCxnSpPr>
            <p:cNvPr id="335" name="native PowerPoint connector">
              <a:extLst>
                <a:ext uri="{FF2B5EF4-FFF2-40B4-BE49-F238E27FC236}">
                  <ns2:creationId id="{E50EC262-A324-4558-8C83-F3D9FC35881A}"/>
                </a:ext>
              </a:extLst>
            </p:cNvPr>
            <p:cNvCxnSpPr/>
            <p:nvPr/>
          </p:nvCxnSpPr>
          <p:spPr>
            <a:xfrm flipH="0" flipV="0">
              <a:off x="1609429" y="3757407"/>
              <a:ext cx="0" cy="283870"/>
            </a:xfrm>
            <a:prstGeom prst="straightConnector1">
              <a:avLst/>
            </a:prstGeom>
            <a:ln w="6710">
              <a:solidFill>
                <a:srgbClr val="071B3C"/>
              </a:solidFill>
              <a:prstDash val="dash"/>
              <a:tailEnd type="triangle" w="sm" len="sm"/>
            </a:ln>
          </p:spPr>
        </p:cxnSp>
        <p:sp>
          <p:nvSpPr>
            <p:cNvPr id="336" name="Decoded BF16 weights + fake A4 + BF16 KV. Native kernel: future work.">
              <a:extLst>
                <a:ext uri="{FF2B5EF4-FFF2-40B4-BE49-F238E27FC236}">
                  <ns2:creationId id="{CC38FFFB-891C-4E30-BD74-B500BACC491F}"/>
                </a:ext>
              </a:extLst>
            </p:cNvPr>
            <p:cNvSpPr>
              <a:spLocks noGrp="1"/>
            </p:cNvSpPr>
            <p:nvPr/>
          </p:nvSpPr>
          <p:spPr>
            <a:xfrm>
              <a:off x="5697158" y="4717404"/>
              <a:ext cx="308644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34526A"/>
                  </a:solidFill>
                  <a:latin typeface="Times New Roman"/>
                  <a:ea typeface="Times New Roman"/>
                  <a:cs typeface="Times New Roman"/>
                </a:rPr>
                <a:t>Decoded BF16 weights + fake A4 + BF16 KV. Native kernel: future work.</a:t>
              </a:r>
            </a:p>
          </p:txBody>
        </p:sp>
      </p:grpSp>
      <p:sp>
        <p:nvSpPr>
          <p:cNvPr id="337" name="Generated design reference; the method on slides 2–4 is">
            <a:extLst>
              <a:ext uri="{FF2B5EF4-FFF2-40B4-BE49-F238E27FC236}">
                <ns2:creationId id="{AD4ED069-00EC-4C77-8CC3-984DF7FCEB3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Editable figure, synchronized with slide 2. All figure text uses Times New Roman.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loss figure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2">
            <a:extLst>
              <a:ext uri="{FF2B5EF4-FFF2-40B4-BE49-F238E27FC236}">
                <ns2:creationId id="{29253F7E-5BEC-46C8-AE00-7BE1B2CD156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pSp>
        <p:nvGrpSpPr>
          <p:cNvPr id="5" name="Reviewed editable figure, Times New Roman"/>
          <p:cNvGrpSpPr/>
          <p:nvPr/>
        </p:nvGrpSpPr>
        <p:grpSpPr>
          <a:xfrm>
            <a:off x="1254830" y="742950"/>
            <a:ext cx="6634340" cy="3733800"/>
            <a:chOff x="257175" y="0"/>
            <a:chExt cx="8629650" cy="4856759"/>
          </a:xfrm>
        </p:grpSpPr>
        <p:sp>
          <p:nvSpPr>
            <p:cNvPr id="6" name="diagram block">
              <a:extLst>
                <a:ext uri="{FF2B5EF4-FFF2-40B4-BE49-F238E27FC236}">
                  <ns2:creationId id="{B1A131B3-9E20-42B2-8CA0-0B65A5032BFD}"/>
                </a:ext>
              </a:extLst>
            </p:cNvPr>
            <p:cNvSpPr>
              <a:spLocks noGrp="1"/>
            </p:cNvSpPr>
            <p:nvPr/>
          </p:nvSpPr>
          <p:spPr>
            <a:xfrm>
              <a:off x="288143" y="20645"/>
              <a:ext cx="2854184" cy="4113535"/>
            </a:xfrm>
            <a:prstGeom prst="roundRect">
              <a:avLst>
                <a:gd name="adj" fmla="val 1266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</p:sp>
        <p:sp>
          <p:nvSpPr>
            <p:cNvPr id="7" name="diagram block">
              <a:extLst>
                <a:ext uri="{FF2B5EF4-FFF2-40B4-BE49-F238E27FC236}">
                  <ns2:creationId id="{3C4B54ED-0AC2-4FA4-869A-69EAB6844F1B}"/>
                </a:ext>
              </a:extLst>
            </p:cNvPr>
            <p:cNvSpPr>
              <a:spLocks noGrp="1"/>
            </p:cNvSpPr>
            <p:nvPr/>
          </p:nvSpPr>
          <p:spPr>
            <a:xfrm>
              <a:off x="3183617" y="20645"/>
              <a:ext cx="2776765" cy="4113535"/>
            </a:xfrm>
            <a:prstGeom prst="roundRect">
              <a:avLst>
                <a:gd name="adj" fmla="val 1301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</p:sp>
        <p:sp>
          <p:nvSpPr>
            <p:cNvPr id="8" name="diagram block">
              <a:extLst>
                <a:ext uri="{FF2B5EF4-FFF2-40B4-BE49-F238E27FC236}">
                  <ns2:creationId id="{56F81212-F464-4E26-9C89-2CFD6F909F86}"/>
                </a:ext>
              </a:extLst>
            </p:cNvPr>
            <p:cNvSpPr>
              <a:spLocks noGrp="1"/>
            </p:cNvSpPr>
            <p:nvPr/>
          </p:nvSpPr>
          <p:spPr>
            <a:xfrm>
              <a:off x="6001673" y="20645"/>
              <a:ext cx="2864507" cy="4113535"/>
            </a:xfrm>
            <a:prstGeom prst="roundRect">
              <a:avLst>
                <a:gd name="adj" fmla="val 1261"/>
              </a:avLst>
            </a:prstGeom>
            <a:solidFill>
              <a:srgbClr val="FFFFFF"/>
            </a:solidFill>
            <a:ln w="6710">
              <a:solidFill>
                <a:srgbClr val="0B2B5C"/>
              </a:solidFill>
              <a:prstDash val="solid"/>
            </a:ln>
          </p:spPr>
        </p:sp>
        <p:sp>
          <p:nvSpPr>
            <p:cNvPr id="9" name="(a) Soft-bin: preserve absolute values">
              <a:extLst>
                <a:ext uri="{FF2B5EF4-FFF2-40B4-BE49-F238E27FC236}">
                  <ns2:creationId id="{BA68B683-0900-478B-ADF1-9047ADA8C59A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77419"/>
              <a:ext cx="2740636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(a) Soft-bin: preserve absolute values</a:t>
              </a:r>
            </a:p>
          </p:txBody>
        </p:sp>
        <p:sp>
          <p:nvSpPr>
            <p:cNvPr id="10" name="(b) Action: temporal relations">
              <a:extLst>
                <a:ext uri="{FF2B5EF4-FFF2-40B4-BE49-F238E27FC236}">
                  <ns2:creationId id="{2AEC72A2-B6D3-4035-AFEA-17207F897902}"/>
                </a:ext>
              </a:extLst>
            </p:cNvPr>
            <p:cNvSpPr>
              <a:spLocks noGrp="1"/>
            </p:cNvSpPr>
            <p:nvPr/>
          </p:nvSpPr>
          <p:spPr>
            <a:xfrm>
              <a:off x="3245553" y="77419"/>
              <a:ext cx="2658056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(b) Action: temporal relations</a:t>
              </a:r>
            </a:p>
          </p:txBody>
        </p:sp>
        <p:sp>
          <p:nvSpPr>
            <p:cNvPr id="11" name="(c) Latent: spatial + temporal relations">
              <a:extLst>
                <a:ext uri="{FF2B5EF4-FFF2-40B4-BE49-F238E27FC236}">
                  <ns2:creationId id="{3A69E0A1-EC31-4A80-8AF3-CB7106142A43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77419"/>
              <a:ext cx="2735475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(c) Latent: spatial + temporal relations</a:t>
              </a:r>
            </a:p>
          </p:txBody>
        </p:sp>
        <p:sp>
          <p:nvSpPr>
            <p:cNvPr id="12" name="diagram block">
              <a:extLst>
                <a:ext uri="{FF2B5EF4-FFF2-40B4-BE49-F238E27FC236}">
                  <ns2:creationId id="{0E05F3AA-32C9-4C42-8603-891161150A87}"/>
                </a:ext>
              </a:extLst>
            </p:cNvPr>
            <p:cNvSpPr>
              <a:spLocks noGrp="1"/>
            </p:cNvSpPr>
            <p:nvPr/>
          </p:nvSpPr>
          <p:spPr>
            <a:xfrm>
              <a:off x="355239" y="278709"/>
              <a:ext cx="2725153" cy="345805"/>
            </a:xfrm>
            <a:prstGeom prst="roundRect">
              <a:avLst>
                <a:gd name="adj" fmla="val 746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</p:sp>
        <p:sp>
          <p:nvSpPr>
            <p:cNvPr id="13" name="Per-scalar distribution: each value is mapped to a 16-bin&#10;probability distr">
              <a:extLst>
                <a:ext uri="{FF2B5EF4-FFF2-40B4-BE49-F238E27FC236}">
                  <ns2:creationId id="{ED65D1CB-E5C1-4E59-94B5-8154E6175D01}"/>
                </a:ext>
              </a:extLst>
            </p:cNvPr>
            <p:cNvSpPr>
              <a:spLocks noGrp="1"/>
            </p:cNvSpPr>
            <p:nvPr/>
          </p:nvSpPr>
          <p:spPr>
            <a:xfrm>
              <a:off x="381046" y="304515"/>
              <a:ext cx="2673540" cy="294193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5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Per-scalar distribution: each value is mapped to a 16-bin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 distribution using a Gaussian and shared teacher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normalization statistics.</a:t>
              </a:r>
            </a:p>
          </p:txBody>
        </p:sp>
        <p:sp>
          <p:nvSpPr>
            <p:cNvPr id="14" name="diagram block">
              <a:extLst>
                <a:ext uri="{FF2B5EF4-FFF2-40B4-BE49-F238E27FC236}">
                  <ns2:creationId id="{6E6DC68D-41C3-42EB-9B5D-CE86376494A2}"/>
                </a:ext>
              </a:extLst>
            </p:cNvPr>
            <p:cNvSpPr>
              <a:spLocks noGrp="1"/>
            </p:cNvSpPr>
            <p:nvPr/>
          </p:nvSpPr>
          <p:spPr>
            <a:xfrm>
              <a:off x="3255875" y="278709"/>
              <a:ext cx="2632250" cy="314838"/>
            </a:xfrm>
            <a:prstGeom prst="roundRect">
              <a:avLst>
                <a:gd name="adj" fmla="val 819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</p:sp>
        <p:sp>
          <p:nvSpPr>
            <p:cNvPr id="15" name="Match neighbor distributions over 3-step action windows&#10;to preserve tempora">
              <a:extLst>
                <a:ext uri="{FF2B5EF4-FFF2-40B4-BE49-F238E27FC236}">
                  <ns2:creationId id="{9C766BC0-B2CA-4728-914A-81EF511802E8}"/>
                </a:ext>
              </a:extLst>
            </p:cNvPr>
            <p:cNvSpPr>
              <a:spLocks noGrp="1"/>
            </p:cNvSpPr>
            <p:nvPr/>
          </p:nvSpPr>
          <p:spPr>
            <a:xfrm>
              <a:off x="3281682" y="304515"/>
              <a:ext cx="2580637" cy="263225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Match neighbor distributions over 3-step action windows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 preserve temporal structure in the action sequence.</a:t>
              </a:r>
            </a:p>
          </p:txBody>
        </p:sp>
        <p:sp>
          <p:nvSpPr>
            <p:cNvPr id="16" name="diagram block">
              <a:extLst>
                <a:ext uri="{FF2B5EF4-FFF2-40B4-BE49-F238E27FC236}">
                  <ns2:creationId id="{ED3A5DEB-EEFD-41CE-BE96-8F1DBE95DC6B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78709"/>
              <a:ext cx="2725153" cy="309676"/>
            </a:xfrm>
            <a:prstGeom prst="roundRect">
              <a:avLst>
                <a:gd name="adj" fmla="val 833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0E0FC"/>
              </a:solidFill>
              <a:prstDash val="solid"/>
            </a:ln>
          </p:spPr>
        </p:sp>
        <p:sp>
          <p:nvSpPr>
            <p:cNvPr id="17" name="Match neighbor distributions over spatial and temporal neighbors&#10;in the lat">
              <a:extLst>
                <a:ext uri="{FF2B5EF4-FFF2-40B4-BE49-F238E27FC236}">
                  <ns2:creationId id="{453398F7-B4CF-45E1-BACC-E48B7EAB22B7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304515"/>
              <a:ext cx="2673540" cy="258064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Match neighbor distributions over spatial and temporal neighbors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in the latent maps to preserve spatiotemporal structure.</a:t>
              </a:r>
            </a:p>
          </p:txBody>
        </p:sp>
        <p:sp>
          <p:nvSpPr>
            <p:cNvPr id="18" name="diagram block">
              <a:extLst>
                <a:ext uri="{FF2B5EF4-FFF2-40B4-BE49-F238E27FC236}">
                  <ns2:creationId id="{B0BB0454-68DA-407E-83F9-C6C961B29310}"/>
                </a:ext>
              </a:extLst>
            </p:cNvPr>
            <p:cNvSpPr>
              <a:spLocks noGrp="1"/>
            </p:cNvSpPr>
            <p:nvPr/>
          </p:nvSpPr>
          <p:spPr>
            <a:xfrm>
              <a:off x="391368" y="686449"/>
              <a:ext cx="1326447" cy="165161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D8F7EC"/>
                </a:gs>
                <a:gs pos="100000">
                  <a:srgbClr val="EDFCF6"/>
                </a:gs>
              </a:gsLst>
              <a:lin ang="5400000"/>
            </a:gradFill>
            <a:ln w="5161">
              <a:solidFill>
                <a:srgbClr val="7FCAB6"/>
              </a:solidFill>
              <a:prstDash val="solid"/>
            </a:ln>
          </p:spPr>
        </p:sp>
        <p:sp>
          <p:nvSpPr>
            <p:cNvPr id="19" name="BF16 teacher scalar x">
              <a:extLst>
                <a:ext uri="{FF2B5EF4-FFF2-40B4-BE49-F238E27FC236}">
                  <ns2:creationId id="{71B65F98-1A8F-43B2-A6FA-2591F37AC9CB}"/>
                </a:ext>
              </a:extLst>
            </p:cNvPr>
            <p:cNvSpPr>
              <a:spLocks noGrp="1"/>
            </p:cNvSpPr>
            <p:nvPr/>
          </p:nvSpPr>
          <p:spPr>
            <a:xfrm>
              <a:off x="417174" y="712256"/>
              <a:ext cx="1274835" cy="113548"/>
            </a:xfrm>
            <a:prstGeom prst="rect">
              <a:avLst/>
            </a:prstGeom>
            <a:gradFill>
              <a:gsLst>
                <a:gs pos="0">
                  <a:srgbClr val="D8F7EC"/>
                </a:gs>
                <a:gs pos="100000">
                  <a:srgbClr val="EDFCF6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346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BF16 teacher scalar x</a:t>
              </a:r>
            </a:p>
          </p:txBody>
        </p:sp>
        <p:sp>
          <p:nvSpPr>
            <p:cNvPr id="20" name="diagram block">
              <a:extLst>
                <a:ext uri="{FF2B5EF4-FFF2-40B4-BE49-F238E27FC236}">
                  <ns2:creationId id="{A4048B33-964B-4CE4-AEA3-A908A69294B2}"/>
                </a:ext>
              </a:extLst>
            </p:cNvPr>
            <p:cNvSpPr>
              <a:spLocks noGrp="1"/>
            </p:cNvSpPr>
            <p:nvPr/>
          </p:nvSpPr>
          <p:spPr>
            <a:xfrm>
              <a:off x="1815880" y="686449"/>
              <a:ext cx="1264512" cy="165161"/>
            </a:xfrm>
            <a:prstGeom prst="roundRect">
              <a:avLst>
                <a:gd name="adj" fmla="val 15625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8ABFF4"/>
              </a:solidFill>
              <a:prstDash val="solid"/>
            </a:ln>
          </p:spPr>
        </p:sp>
        <p:sp>
          <p:nvSpPr>
            <p:cNvPr id="21" name="Quantized student scalar x̂">
              <a:extLst>
                <a:ext uri="{FF2B5EF4-FFF2-40B4-BE49-F238E27FC236}">
                  <ns2:creationId id="{8066C867-9FD4-46E1-A72C-8C80D8502A45}"/>
                </a:ext>
              </a:extLst>
            </p:cNvPr>
            <p:cNvSpPr>
              <a:spLocks noGrp="1"/>
            </p:cNvSpPr>
            <p:nvPr/>
          </p:nvSpPr>
          <p:spPr>
            <a:xfrm>
              <a:off x="1841686" y="712256"/>
              <a:ext cx="1212899" cy="113548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7346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Quantized student scalar x̂</a:t>
              </a:r>
            </a:p>
          </p:txBody>
        </p:sp>
        <p:sp>
          <p:nvSpPr>
            <p:cNvPr id="22" name="e.g., x = 1.24 (BF16)">
              <a:extLst>
                <a:ext uri="{FF2B5EF4-FFF2-40B4-BE49-F238E27FC236}">
                  <ns2:creationId id="{8B31A281-8E11-45D3-BF05-4FAEB781948C}"/>
                </a:ext>
              </a:extLst>
            </p:cNvPr>
            <p:cNvSpPr>
              <a:spLocks noGrp="1"/>
            </p:cNvSpPr>
            <p:nvPr/>
          </p:nvSpPr>
          <p:spPr>
            <a:xfrm>
              <a:off x="535884" y="898062"/>
              <a:ext cx="1135480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e.g., x = 1.24 (BF16)</a:t>
              </a:r>
            </a:p>
          </p:txBody>
        </p:sp>
        <p:sp>
          <p:nvSpPr>
            <p:cNvPr id="23" name="e.g., x̂ = 1.08 (quantized)">
              <a:extLst>
                <a:ext uri="{FF2B5EF4-FFF2-40B4-BE49-F238E27FC236}">
                  <ns2:creationId id="{C8359E9E-0FFE-4BBC-9017-A462D0B1F883}"/>
                </a:ext>
              </a:extLst>
            </p:cNvPr>
            <p:cNvSpPr>
              <a:spLocks noGrp="1"/>
            </p:cNvSpPr>
            <p:nvPr/>
          </p:nvSpPr>
          <p:spPr>
            <a:xfrm>
              <a:off x="1939750" y="898062"/>
              <a:ext cx="1140642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e.g., x̂ = 1.08 (quantized)</a:t>
              </a:r>
            </a:p>
          </p:txBody>
        </p:sp>
        <p:cxnSp>
          <p:nvCxnSpPr>
            <p:cNvPr id="24" name="native PowerPoint connector">
              <a:extLst>
                <a:ext uri="{FF2B5EF4-FFF2-40B4-BE49-F238E27FC236}">
                  <ns2:creationId id="{B592C220-E4C9-4868-AAEC-4355EE989406}"/>
                </a:ext>
              </a:extLst>
            </p:cNvPr>
            <p:cNvCxnSpPr/>
            <p:nvPr/>
          </p:nvCxnSpPr>
          <p:spPr>
            <a:xfrm flipH="0" flipV="0">
              <a:off x="1036527" y="1032255"/>
              <a:ext cx="0" cy="36129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5" name="native PowerPoint connector">
              <a:extLst>
                <a:ext uri="{FF2B5EF4-FFF2-40B4-BE49-F238E27FC236}">
                  <ns2:creationId id="{18259446-12FC-4846-B35A-222ABD0B3B3E}"/>
                </a:ext>
              </a:extLst>
            </p:cNvPr>
            <p:cNvCxnSpPr/>
            <p:nvPr/>
          </p:nvCxnSpPr>
          <p:spPr>
            <a:xfrm flipH="0" flipV="0">
              <a:off x="2430071" y="1032255"/>
              <a:ext cx="0" cy="36129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26" name="diagram block">
              <a:extLst>
                <a:ext uri="{FF2B5EF4-FFF2-40B4-BE49-F238E27FC236}">
                  <ns2:creationId id="{4D7B590A-0593-4CF4-BDBB-2FBCBA0F0D07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1068384"/>
              <a:ext cx="2461928" cy="232257"/>
            </a:xfrm>
            <a:prstGeom prst="roundRect">
              <a:avLst>
                <a:gd name="adj" fmla="val 11111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FABB9"/>
              </a:solidFill>
              <a:prstDash val="solid"/>
            </a:ln>
          </p:spPr>
        </p:sp>
        <p:sp>
          <p:nvSpPr>
            <p:cNvPr id="27" name="Shared frozen teacher statistics&#10;mean μ_c, scale s_c = max(σ_c, 0.02)">
              <a:extLst>
                <a:ext uri="{FF2B5EF4-FFF2-40B4-BE49-F238E27FC236}">
                  <ns2:creationId id="{A5A72E60-4B75-4321-BB52-580B7F082F6B}"/>
                </a:ext>
              </a:extLst>
            </p:cNvPr>
            <p:cNvSpPr>
              <a:spLocks noGrp="1"/>
            </p:cNvSpPr>
            <p:nvPr/>
          </p:nvSpPr>
          <p:spPr>
            <a:xfrm>
              <a:off x="525561" y="1094190"/>
              <a:ext cx="2410315" cy="180645"/>
            </a:xfrm>
            <a:prstGeom prst="rect">
              <a:avLst/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72899"/>
            </a:bodyPr>
            <a:lstStyle>
              <a:def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Shared frozen teacher statistics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mean μ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scale s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= max(σ</a:t>
              </a:r>
              <a:r>
                <a:rPr sz="456" b="0" i="0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  <a:r>
                <a:rPr sz="62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, 0.02)</a:t>
              </a:r>
            </a:p>
          </p:txBody>
        </p:sp>
        <p:cxnSp>
          <p:nvCxnSpPr>
            <p:cNvPr id="28" name="native PowerPoint connector">
              <a:extLst>
                <a:ext uri="{FF2B5EF4-FFF2-40B4-BE49-F238E27FC236}">
                  <ns2:creationId id="{5896CC27-4557-47B3-810D-63100F51602E}"/>
                </a:ext>
              </a:extLst>
            </p:cNvPr>
            <p:cNvCxnSpPr/>
            <p:nvPr/>
          </p:nvCxnSpPr>
          <p:spPr>
            <a:xfrm flipH="0" flipV="0">
              <a:off x="1036527" y="13006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cxnSp>
          <p:nvCxnSpPr>
            <p:cNvPr id="29" name="native PowerPoint connector">
              <a:extLst>
                <a:ext uri="{FF2B5EF4-FFF2-40B4-BE49-F238E27FC236}">
                  <ns2:creationId id="{610E128A-E0BF-41A0-B03C-0660C0DB9275}"/>
                </a:ext>
              </a:extLst>
            </p:cNvPr>
            <p:cNvCxnSpPr/>
            <p:nvPr/>
          </p:nvCxnSpPr>
          <p:spPr>
            <a:xfrm flipH="0" flipV="0">
              <a:off x="2430071" y="1300641"/>
              <a:ext cx="0" cy="8258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30" name="z =">
              <a:extLst>
                <a:ext uri="{FF2B5EF4-FFF2-40B4-BE49-F238E27FC236}">
                  <ns2:creationId id="{690692ED-0D0C-403C-BD5C-E7A030EE9138}"/>
                </a:ext>
              </a:extLst>
            </p:cNvPr>
            <p:cNvSpPr>
              <a:spLocks noGrp="1"/>
            </p:cNvSpPr>
            <p:nvPr/>
          </p:nvSpPr>
          <p:spPr>
            <a:xfrm>
              <a:off x="742335" y="1429673"/>
              <a:ext cx="237419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91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 =</a:t>
              </a:r>
            </a:p>
          </p:txBody>
        </p:sp>
        <p:sp>
          <p:nvSpPr>
            <p:cNvPr id="31" name="x − μ_c">
              <a:extLst>
                <a:ext uri="{FF2B5EF4-FFF2-40B4-BE49-F238E27FC236}">
                  <ns2:creationId id="{52E24E10-560A-4D9B-9C04-504153AF0AE1}"/>
                </a:ext>
              </a:extLst>
            </p:cNvPr>
            <p:cNvSpPr>
              <a:spLocks noGrp="1"/>
            </p:cNvSpPr>
            <p:nvPr/>
          </p:nvSpPr>
          <p:spPr>
            <a:xfrm>
              <a:off x="974592" y="1378060"/>
              <a:ext cx="381934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 − μ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cxnSp>
          <p:nvCxnSpPr>
            <p:cNvPr id="32" name="native PowerPoint connector">
              <a:extLst>
                <a:ext uri="{FF2B5EF4-FFF2-40B4-BE49-F238E27FC236}">
                  <ns2:creationId id="{2D3ABDD5-11E5-4B30-A194-429D5D3193BB}"/>
                </a:ext>
              </a:extLst>
            </p:cNvPr>
            <p:cNvCxnSpPr/>
            <p:nvPr/>
          </p:nvCxnSpPr>
          <p:spPr>
            <a:xfrm flipH="0" flipV="0">
              <a:off x="990076" y="1504511"/>
              <a:ext cx="350967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3" name="s_c">
              <a:extLst>
                <a:ext uri="{FF2B5EF4-FFF2-40B4-BE49-F238E27FC236}">
                  <ns2:creationId id="{11DA8C37-B7DD-4056-B266-FD2E46B2C8B3}"/>
                </a:ext>
              </a:extLst>
            </p:cNvPr>
            <p:cNvSpPr>
              <a:spLocks noGrp="1"/>
            </p:cNvSpPr>
            <p:nvPr/>
          </p:nvSpPr>
          <p:spPr>
            <a:xfrm>
              <a:off x="974592" y="1512253"/>
              <a:ext cx="381934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4" name="ẑ =">
              <a:extLst>
                <a:ext uri="{FF2B5EF4-FFF2-40B4-BE49-F238E27FC236}">
                  <ns2:creationId id="{3CA0D9C2-6282-4C2E-A3F7-76ED223C134A}"/>
                </a:ext>
              </a:extLst>
            </p:cNvPr>
            <p:cNvSpPr>
              <a:spLocks noGrp="1"/>
            </p:cNvSpPr>
            <p:nvPr/>
          </p:nvSpPr>
          <p:spPr>
            <a:xfrm>
              <a:off x="2089427" y="1429673"/>
              <a:ext cx="242580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91"/>
            </a:bodyPr>
            <a:lstStyle>
              <a:def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4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ẑ =</a:t>
              </a:r>
            </a:p>
          </p:txBody>
        </p:sp>
        <p:sp>
          <p:nvSpPr>
            <p:cNvPr id="35" name="x̂ − μ_c">
              <a:extLst>
                <a:ext uri="{FF2B5EF4-FFF2-40B4-BE49-F238E27FC236}">
                  <ns2:creationId id="{B5769AF1-0F92-448F-93C6-556132017D73}"/>
                </a:ext>
              </a:extLst>
            </p:cNvPr>
            <p:cNvSpPr>
              <a:spLocks noGrp="1"/>
            </p:cNvSpPr>
            <p:nvPr/>
          </p:nvSpPr>
          <p:spPr>
            <a:xfrm>
              <a:off x="2332007" y="1378060"/>
              <a:ext cx="39741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x̂ − μ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cxnSp>
          <p:nvCxnSpPr>
            <p:cNvPr id="36" name="native PowerPoint connector">
              <a:extLst>
                <a:ext uri="{FF2B5EF4-FFF2-40B4-BE49-F238E27FC236}">
                  <ns2:creationId id="{B2C28B99-FC7E-4713-AB54-74199052847D}"/>
                </a:ext>
              </a:extLst>
            </p:cNvPr>
            <p:cNvCxnSpPr/>
            <p:nvPr/>
          </p:nvCxnSpPr>
          <p:spPr>
            <a:xfrm flipH="0" flipV="0">
              <a:off x="2347491" y="1504511"/>
              <a:ext cx="366450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7" name="s_c">
              <a:extLst>
                <a:ext uri="{FF2B5EF4-FFF2-40B4-BE49-F238E27FC236}">
                  <ns2:creationId id="{761D9621-3E70-4DBD-AF89-99AC668BE5DA}"/>
                </a:ext>
              </a:extLst>
            </p:cNvPr>
            <p:cNvSpPr>
              <a:spLocks noGrp="1"/>
            </p:cNvSpPr>
            <p:nvPr/>
          </p:nvSpPr>
          <p:spPr>
            <a:xfrm>
              <a:off x="2332007" y="1512253"/>
              <a:ext cx="39741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70000"/>
            </a:bodyPr>
            <a:lstStyle>
              <a:def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570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8" name="diagram block">
              <a:extLst>
                <a:ext uri="{FF2B5EF4-FFF2-40B4-BE49-F238E27FC236}">
                  <ns2:creationId id="{0A4C8A4A-CEFB-4E3B-9595-8DC85D8EEE09}"/>
                </a:ext>
              </a:extLst>
            </p:cNvPr>
            <p:cNvSpPr>
              <a:spLocks noGrp="1"/>
            </p:cNvSpPr>
            <p:nvPr/>
          </p:nvSpPr>
          <p:spPr>
            <a:xfrm>
              <a:off x="391368" y="1641285"/>
              <a:ext cx="2621927" cy="810320"/>
            </a:xfrm>
            <a:prstGeom prst="roundRect">
              <a:avLst>
                <a:gd name="adj" fmla="val 3822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3DDFC"/>
              </a:solidFill>
              <a:prstDash val="solid"/>
            </a:ln>
          </p:spPr>
        </p:sp>
        <p:sp>
          <p:nvSpPr>
            <p:cNvPr id="39" name="Map each standardized scalar to 16 bins&#10;using a Gaussian with σ = 0.375 and">
              <a:extLst>
                <a:ext uri="{FF2B5EF4-FFF2-40B4-BE49-F238E27FC236}">
                  <ns2:creationId id="{5C5AD1C7-2779-4D26-A9FA-6F6280761783}"/>
                </a:ext>
              </a:extLst>
            </p:cNvPr>
            <p:cNvSpPr>
              <a:spLocks noGrp="1"/>
            </p:cNvSpPr>
            <p:nvPr/>
          </p:nvSpPr>
          <p:spPr>
            <a:xfrm>
              <a:off x="442981" y="1698059"/>
              <a:ext cx="2518702" cy="21161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931"/>
            </a:bodyPr>
            <a:lstStyle>
              <a:def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Map each standardized scalar to 16 bins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using a Gaussian with σ = 0.375 and fixed edges.</a:t>
              </a:r>
            </a:p>
          </p:txBody>
        </p:sp>
        <p:sp>
          <p:nvSpPr>
            <p:cNvPr id="40" name="p_b(z) =">
              <a:extLst>
                <a:ext uri="{FF2B5EF4-FFF2-40B4-BE49-F238E27FC236}">
                  <ns2:creationId id="{029460DA-F436-49D5-9306-9E3CC64E3614}"/>
                </a:ext>
              </a:extLst>
            </p:cNvPr>
            <p:cNvSpPr>
              <a:spLocks noGrp="1"/>
            </p:cNvSpPr>
            <p:nvPr/>
          </p:nvSpPr>
          <p:spPr>
            <a:xfrm>
              <a:off x="566851" y="1976768"/>
              <a:ext cx="541934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325"/>
            </a:bodyPr>
            <a:lstStyle>
              <a:def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  <a:r>
                <a:rPr sz="594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(z) =</a:t>
              </a:r>
            </a:p>
          </p:txBody>
        </p:sp>
        <p:sp>
          <p:nvSpPr>
            <p:cNvPr id="41" name="∫">
              <a:extLst>
                <a:ext uri="{FF2B5EF4-FFF2-40B4-BE49-F238E27FC236}">
                  <ns2:creationId id="{21239FBA-1E3B-4C47-A84F-5694AABDDDDD}"/>
                </a:ext>
              </a:extLst>
            </p:cNvPr>
            <p:cNvSpPr>
              <a:spLocks noGrp="1"/>
            </p:cNvSpPr>
            <p:nvPr/>
          </p:nvSpPr>
          <p:spPr>
            <a:xfrm>
              <a:off x="1144914" y="1914833"/>
              <a:ext cx="159999" cy="26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2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∫</a:t>
              </a:r>
            </a:p>
          </p:txBody>
        </p:sp>
        <p:sp>
          <p:nvSpPr>
            <p:cNvPr id="42" name="e_{b+1}">
              <a:extLst>
                <a:ext uri="{FF2B5EF4-FFF2-40B4-BE49-F238E27FC236}">
                  <ns2:creationId id="{B2506689-6BE1-4EC2-8D80-40B2936D2646}"/>
                </a:ext>
              </a:extLst>
            </p:cNvPr>
            <p:cNvSpPr>
              <a:spLocks noGrp="1"/>
            </p:cNvSpPr>
            <p:nvPr/>
          </p:nvSpPr>
          <p:spPr>
            <a:xfrm>
              <a:off x="1299752" y="1904510"/>
              <a:ext cx="27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r>
                <a:rPr sz="41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b+1</a:t>
              </a:r>
            </a:p>
          </p:txBody>
        </p:sp>
        <p:sp>
          <p:nvSpPr>
            <p:cNvPr id="43" name="e_b">
              <a:extLst>
                <a:ext uri="{FF2B5EF4-FFF2-40B4-BE49-F238E27FC236}">
                  <ns2:creationId id="{BEF14556-15CE-40B1-A1BC-FC0A04E0EE2C}"/>
                </a:ext>
              </a:extLst>
            </p:cNvPr>
            <p:cNvSpPr>
              <a:spLocks noGrp="1"/>
            </p:cNvSpPr>
            <p:nvPr/>
          </p:nvSpPr>
          <p:spPr>
            <a:xfrm>
              <a:off x="1299752" y="2121284"/>
              <a:ext cx="23225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531"/>
            </a:bodyPr>
            <a:lstStyle>
              <a:def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r>
                <a:rPr sz="41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44" name="N(t; z, 0.375²) dt">
              <a:extLst>
                <a:ext uri="{FF2B5EF4-FFF2-40B4-BE49-F238E27FC236}">
                  <ns2:creationId id="{9BA3C3B4-6DE7-4DBF-B1C0-143AAAFF4F98}"/>
                </a:ext>
              </a:extLst>
            </p:cNvPr>
            <p:cNvSpPr>
              <a:spLocks noGrp="1"/>
            </p:cNvSpPr>
            <p:nvPr/>
          </p:nvSpPr>
          <p:spPr>
            <a:xfrm>
              <a:off x="1568139" y="1976768"/>
              <a:ext cx="1347092" cy="17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N(t; z, 0.375²) dt</a:t>
              </a:r>
            </a:p>
          </p:txBody>
        </p:sp>
        <p:sp>
          <p:nvSpPr>
            <p:cNvPr id="45" name="15 interior edges from −3.5 to 3.5, plus two infinite tails">
              <a:extLst>
                <a:ext uri="{FF2B5EF4-FFF2-40B4-BE49-F238E27FC236}">
                  <ns2:creationId id="{50159E10-FC6C-4C00-94F8-0F3B184619DA}"/>
                </a:ext>
              </a:extLst>
            </p:cNvPr>
            <p:cNvSpPr>
              <a:spLocks noGrp="1"/>
            </p:cNvSpPr>
            <p:nvPr/>
          </p:nvSpPr>
          <p:spPr>
            <a:xfrm>
              <a:off x="442981" y="2245154"/>
              <a:ext cx="2518702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15 interior edges from −3.5 to 3.5, plus two infinite tails</a:t>
              </a:r>
            </a:p>
          </p:txBody>
        </p:sp>
        <p:sp>
          <p:nvSpPr>
            <p:cNvPr id="46" name="e = [−∞, −3.5, −3.0, …, 3.0, 3.5, +∞]">
              <a:extLst>
                <a:ext uri="{FF2B5EF4-FFF2-40B4-BE49-F238E27FC236}">
                  <ns2:creationId id="{1CC42099-617D-41E1-BD2E-C3C9E3C5A552}"/>
                </a:ext>
              </a:extLst>
            </p:cNvPr>
            <p:cNvSpPr>
              <a:spLocks noGrp="1"/>
            </p:cNvSpPr>
            <p:nvPr/>
          </p:nvSpPr>
          <p:spPr>
            <a:xfrm>
              <a:off x="437820" y="2348380"/>
              <a:ext cx="2534185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2531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 = [−∞, −3.5, −3.0, …, 3.0, 3.5, +∞]</a:t>
              </a:r>
            </a:p>
          </p:txBody>
        </p:sp>
        <p:sp>
          <p:nvSpPr>
            <p:cNvPr id="47" name="diagram block">
              <a:extLst>
                <a:ext uri="{FF2B5EF4-FFF2-40B4-BE49-F238E27FC236}">
                  <ns2:creationId id="{787061DA-46CE-420A-BEA7-3B720E156919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2487734"/>
              <a:ext cx="1176770" cy="154838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D8F7EC"/>
                </a:gs>
                <a:gs pos="100000">
                  <a:srgbClr val="F4FCF8"/>
                </a:gs>
              </a:gsLst>
              <a:lin ang="5400000"/>
            </a:gradFill>
            <a:ln w="5161">
              <a:solidFill>
                <a:srgbClr val="87CFBA"/>
              </a:solidFill>
              <a:prstDash val="solid"/>
            </a:ln>
          </p:spPr>
        </p:sp>
        <p:sp>
          <p:nvSpPr>
            <p:cNvPr id="48" name="Teacher scalar distribution">
              <a:extLst>
                <a:ext uri="{FF2B5EF4-FFF2-40B4-BE49-F238E27FC236}">
                  <ns2:creationId id="{03508AC9-AC02-4BF1-9C04-6D0C5CACC75C}"/>
                </a:ext>
              </a:extLst>
            </p:cNvPr>
            <p:cNvSpPr>
              <a:spLocks noGrp="1"/>
            </p:cNvSpPr>
            <p:nvPr/>
          </p:nvSpPr>
          <p:spPr>
            <a:xfrm>
              <a:off x="525561" y="2513540"/>
              <a:ext cx="1125158" cy="103225"/>
            </a:xfrm>
            <a:prstGeom prst="rect">
              <a:avLst/>
            </a:prstGeom>
            <a:gradFill>
              <a:gsLst>
                <a:gs pos="0">
                  <a:srgbClr val="D8F7EC"/>
                </a:gs>
                <a:gs pos="100000">
                  <a:srgbClr val="F4FCF8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12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Teacher scalar distribution</a:t>
              </a:r>
            </a:p>
          </p:txBody>
        </p:sp>
        <p:sp>
          <p:nvSpPr>
            <p:cNvPr id="49" name="diagram block">
              <a:extLst>
                <a:ext uri="{FF2B5EF4-FFF2-40B4-BE49-F238E27FC236}">
                  <ns2:creationId id="{75F88940-C23A-404D-93B4-108FB7111239}"/>
                </a:ext>
              </a:extLst>
            </p:cNvPr>
            <p:cNvSpPr>
              <a:spLocks noGrp="1"/>
            </p:cNvSpPr>
            <p:nvPr/>
          </p:nvSpPr>
          <p:spPr>
            <a:xfrm>
              <a:off x="1908783" y="2487734"/>
              <a:ext cx="1176770" cy="154838"/>
            </a:xfrm>
            <a:prstGeom prst="roundRect">
              <a:avLst>
                <a:gd name="adj" fmla="val 1333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8ABFF4"/>
              </a:solidFill>
              <a:prstDash val="solid"/>
            </a:ln>
          </p:spPr>
        </p:sp>
        <p:sp>
          <p:nvSpPr>
            <p:cNvPr id="50" name="Student scalar distribution">
              <a:extLst>
                <a:ext uri="{FF2B5EF4-FFF2-40B4-BE49-F238E27FC236}">
                  <ns2:creationId id="{05BB197B-A730-4A9B-8240-54B7FC2EFFFE}"/>
                </a:ext>
              </a:extLst>
            </p:cNvPr>
            <p:cNvSpPr>
              <a:spLocks noGrp="1"/>
            </p:cNvSpPr>
            <p:nvPr/>
          </p:nvSpPr>
          <p:spPr>
            <a:xfrm>
              <a:off x="1934589" y="2513540"/>
              <a:ext cx="1125158" cy="103225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3312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Student scalar distribution</a:t>
              </a:r>
            </a:p>
          </p:txBody>
        </p:sp>
        <p:sp>
          <p:nvSpPr>
            <p:cNvPr id="51" name="diagram block">
              <a:extLst>
                <a:ext uri="{FF2B5EF4-FFF2-40B4-BE49-F238E27FC236}">
                  <ns2:creationId id="{AAD5AF12-640A-4F7F-86A9-04751103B53F}"/>
                </a:ext>
              </a:extLst>
            </p:cNvPr>
            <p:cNvSpPr>
              <a:spLocks noGrp="1"/>
            </p:cNvSpPr>
            <p:nvPr/>
          </p:nvSpPr>
          <p:spPr>
            <a:xfrm>
              <a:off x="602980" y="2725153"/>
              <a:ext cx="1042577" cy="438708"/>
            </a:xfrm>
            <a:prstGeom prst="rect">
              <a:avLst/>
            </a:prstGeom>
            <a:solidFill>
              <a:srgbClr val="FFFFFF"/>
            </a:solidFill>
            <a:ln w="4129">
              <a:solidFill>
                <a:srgbClr val="D9DEE5"/>
              </a:solidFill>
              <a:prstDash val="solid"/>
            </a:ln>
          </p:spPr>
        </p:sp>
        <p:cxnSp>
          <p:nvCxnSpPr>
            <p:cNvPr id="52" name="native PowerPoint connector">
              <a:extLst>
                <a:ext uri="{FF2B5EF4-FFF2-40B4-BE49-F238E27FC236}">
                  <ns2:creationId id="{349990B8-C1E9-4B57-A919-793E5198AAA4}"/>
                </a:ext>
              </a:extLst>
            </p:cNvPr>
            <p:cNvCxnSpPr/>
            <p:nvPr/>
          </p:nvCxnSpPr>
          <p:spPr>
            <a:xfrm flipH="0" flipV="0">
              <a:off x="602980" y="3017625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3" name="0.1">
              <a:extLst>
                <a:ext uri="{FF2B5EF4-FFF2-40B4-BE49-F238E27FC236}">
                  <ns2:creationId id="{2B2F9DF1-79D4-46A8-A4B1-77C43D307805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971173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0.1</a:t>
              </a:r>
            </a:p>
          </p:txBody>
        </p:sp>
        <p:cxnSp>
          <p:nvCxnSpPr>
            <p:cNvPr id="54" name="native PowerPoint connector">
              <a:extLst>
                <a:ext uri="{FF2B5EF4-FFF2-40B4-BE49-F238E27FC236}">
                  <ns2:creationId id="{3E69A562-E98D-4029-B01D-52CE79A67D56}"/>
                </a:ext>
              </a:extLst>
            </p:cNvPr>
            <p:cNvCxnSpPr/>
            <p:nvPr/>
          </p:nvCxnSpPr>
          <p:spPr>
            <a:xfrm flipH="0" flipV="0">
              <a:off x="602980" y="2871389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5" name="0.2">
              <a:extLst>
                <a:ext uri="{FF2B5EF4-FFF2-40B4-BE49-F238E27FC236}">
                  <ns2:creationId id="{A35300C9-1767-4D35-BCE7-79880B867EFF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824937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0.2</a:t>
              </a:r>
            </a:p>
          </p:txBody>
        </p:sp>
        <p:cxnSp>
          <p:nvCxnSpPr>
            <p:cNvPr id="56" name="native PowerPoint connector">
              <a:extLst>
                <a:ext uri="{FF2B5EF4-FFF2-40B4-BE49-F238E27FC236}">
                  <ns2:creationId id="{1208B4A4-51F6-46AC-B698-B0A67A3181BF}"/>
                </a:ext>
              </a:extLst>
            </p:cNvPr>
            <p:cNvCxnSpPr/>
            <p:nvPr/>
          </p:nvCxnSpPr>
          <p:spPr>
            <a:xfrm flipH="0" flipV="0">
              <a:off x="602980" y="2725153"/>
              <a:ext cx="1042577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57" name="0.3">
              <a:extLst>
                <a:ext uri="{FF2B5EF4-FFF2-40B4-BE49-F238E27FC236}">
                  <ns2:creationId id="{09226937-ED06-471E-9C50-9D432578C946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2678701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0.3</a:t>
              </a:r>
            </a:p>
          </p:txBody>
        </p:sp>
        <p:cxnSp>
          <p:nvCxnSpPr>
            <p:cNvPr id="58" name="native PowerPoint connector">
              <a:extLst>
                <a:ext uri="{FF2B5EF4-FFF2-40B4-BE49-F238E27FC236}">
                  <ns2:creationId id="{9A11F7D8-677E-4928-B60D-84DC46EB3879}"/>
                </a:ext>
              </a:extLst>
            </p:cNvPr>
            <p:cNvCxnSpPr/>
            <p:nvPr/>
          </p:nvCxnSpPr>
          <p:spPr>
            <a:xfrm flipH="0" flipV="0">
              <a:off x="602980" y="2725153"/>
              <a:ext cx="0" cy="438708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59" name="native PowerPoint connector">
              <a:extLst>
                <a:ext uri="{FF2B5EF4-FFF2-40B4-BE49-F238E27FC236}">
                  <ns2:creationId id="{C9F46859-CA25-4D0D-B635-FB1E42D662B9}"/>
                </a:ext>
              </a:extLst>
            </p:cNvPr>
            <p:cNvCxnSpPr/>
            <p:nvPr/>
          </p:nvCxnSpPr>
          <p:spPr>
            <a:xfrm flipH="0" flipV="0">
              <a:off x="602980" y="3163861"/>
              <a:ext cx="1042577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60" name="0.0">
              <a:extLst>
                <a:ext uri="{FF2B5EF4-FFF2-40B4-BE49-F238E27FC236}">
                  <ns2:creationId id="{8E3E75DD-F6D1-4431-8149-06B9558A1675}"/>
                </a:ext>
              </a:extLst>
            </p:cNvPr>
            <p:cNvSpPr>
              <a:spLocks noGrp="1"/>
            </p:cNvSpPr>
            <p:nvPr/>
          </p:nvSpPr>
          <p:spPr>
            <a:xfrm>
              <a:off x="427497" y="3117409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0.0</a:t>
              </a:r>
            </a:p>
          </p:txBody>
        </p:sp>
        <p:sp>
          <p:nvSpPr>
            <p:cNvPr id="61" name="diagram block">
              <a:extLst>
                <a:ext uri="{FF2B5EF4-FFF2-40B4-BE49-F238E27FC236}">
                  <ns2:creationId id="{2E2EE546-BF49-4F4A-AC54-7C186EF40EB5}"/>
                </a:ext>
              </a:extLst>
            </p:cNvPr>
            <p:cNvSpPr>
              <a:spLocks noGrp="1"/>
            </p:cNvSpPr>
            <p:nvPr/>
          </p:nvSpPr>
          <p:spPr>
            <a:xfrm>
              <a:off x="610722" y="3161229"/>
              <a:ext cx="49677" cy="2632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2" name="native PowerPoint connector">
              <a:extLst>
                <a:ext uri="{FF2B5EF4-FFF2-40B4-BE49-F238E27FC236}">
                  <ns2:creationId id="{48CCEEA1-AFF9-478C-866B-A94387A9F422}"/>
                </a:ext>
              </a:extLst>
            </p:cNvPr>
            <p:cNvCxnSpPr/>
            <p:nvPr/>
          </p:nvCxnSpPr>
          <p:spPr>
            <a:xfrm flipH="0" flipV="0">
              <a:off x="63556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3" name="diagram block">
              <a:extLst>
                <a:ext uri="{FF2B5EF4-FFF2-40B4-BE49-F238E27FC236}">
                  <ns2:creationId id="{60D9B758-1CB4-4327-B27B-78F03BDE8B14}"/>
                </a:ext>
              </a:extLst>
            </p:cNvPr>
            <p:cNvSpPr>
              <a:spLocks noGrp="1"/>
            </p:cNvSpPr>
            <p:nvPr/>
          </p:nvSpPr>
          <p:spPr>
            <a:xfrm>
              <a:off x="675883" y="3158158"/>
              <a:ext cx="49677" cy="570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4" name="native PowerPoint connector">
              <a:extLst>
                <a:ext uri="{FF2B5EF4-FFF2-40B4-BE49-F238E27FC236}">
                  <ns2:creationId id="{16D54074-D238-4EC1-814B-B995B358DF71}"/>
                </a:ext>
              </a:extLst>
            </p:cNvPr>
            <p:cNvCxnSpPr/>
            <p:nvPr/>
          </p:nvCxnSpPr>
          <p:spPr>
            <a:xfrm flipH="0" flipV="0">
              <a:off x="70072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5" name="diagram block">
              <a:extLst>
                <a:ext uri="{FF2B5EF4-FFF2-40B4-BE49-F238E27FC236}">
                  <ns2:creationId id="{0632BA63-F36D-458F-A3DC-3B2BFBEC9FDF}"/>
                </a:ext>
              </a:extLst>
            </p:cNvPr>
            <p:cNvSpPr>
              <a:spLocks noGrp="1"/>
            </p:cNvSpPr>
            <p:nvPr/>
          </p:nvSpPr>
          <p:spPr>
            <a:xfrm>
              <a:off x="741044" y="3151577"/>
              <a:ext cx="49677" cy="12284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6" name="native PowerPoint connector">
              <a:extLst>
                <a:ext uri="{FF2B5EF4-FFF2-40B4-BE49-F238E27FC236}">
                  <ns2:creationId id="{E864356A-D085-47B8-B6D2-3930E4159F28}"/>
                </a:ext>
              </a:extLst>
            </p:cNvPr>
            <p:cNvCxnSpPr/>
            <p:nvPr/>
          </p:nvCxnSpPr>
          <p:spPr>
            <a:xfrm flipH="0" flipV="0">
              <a:off x="76588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7" name="diagram block">
              <a:extLst>
                <a:ext uri="{FF2B5EF4-FFF2-40B4-BE49-F238E27FC236}">
                  <ns2:creationId id="{083DA0F7-E0C1-4E1E-8ED8-1038B7A7E0DE}"/>
                </a:ext>
              </a:extLst>
            </p:cNvPr>
            <p:cNvSpPr>
              <a:spLocks noGrp="1"/>
            </p:cNvSpPr>
            <p:nvPr/>
          </p:nvSpPr>
          <p:spPr>
            <a:xfrm>
              <a:off x="806206" y="3139732"/>
              <a:ext cx="49677" cy="24129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68" name="native PowerPoint connector">
              <a:extLst>
                <a:ext uri="{FF2B5EF4-FFF2-40B4-BE49-F238E27FC236}">
                  <ns2:creationId id="{DC71877C-2BE4-4A9F-A5A2-ED7DE83184B7}"/>
                </a:ext>
              </a:extLst>
            </p:cNvPr>
            <p:cNvCxnSpPr/>
            <p:nvPr/>
          </p:nvCxnSpPr>
          <p:spPr>
            <a:xfrm flipH="0" flipV="0">
              <a:off x="83104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69" name="diagram block">
              <a:extLst>
                <a:ext uri="{FF2B5EF4-FFF2-40B4-BE49-F238E27FC236}">
                  <ns2:creationId id="{2AA3AE79-B0AE-441C-BA5B-C904E00B2BFE}"/>
                </a:ext>
              </a:extLst>
            </p:cNvPr>
            <p:cNvSpPr>
              <a:spLocks noGrp="1"/>
            </p:cNvSpPr>
            <p:nvPr/>
          </p:nvSpPr>
          <p:spPr>
            <a:xfrm>
              <a:off x="871367" y="3119990"/>
              <a:ext cx="49677" cy="43871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0" name="native PowerPoint connector">
              <a:extLst>
                <a:ext uri="{FF2B5EF4-FFF2-40B4-BE49-F238E27FC236}">
                  <ns2:creationId id="{1A7AF256-3A99-492D-B220-C7179E8253F1}"/>
                </a:ext>
              </a:extLst>
            </p:cNvPr>
            <p:cNvCxnSpPr/>
            <p:nvPr/>
          </p:nvCxnSpPr>
          <p:spPr>
            <a:xfrm flipH="0" flipV="0">
              <a:off x="8962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1" name="diagram block">
              <a:extLst>
                <a:ext uri="{FF2B5EF4-FFF2-40B4-BE49-F238E27FC236}">
                  <ns2:creationId id="{88737209-66C5-4C2A-B04F-FFFFB86C22BC}"/>
                </a:ext>
              </a:extLst>
            </p:cNvPr>
            <p:cNvSpPr>
              <a:spLocks noGrp="1"/>
            </p:cNvSpPr>
            <p:nvPr/>
          </p:nvSpPr>
          <p:spPr>
            <a:xfrm>
              <a:off x="936528" y="3093668"/>
              <a:ext cx="49677" cy="70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2" name="native PowerPoint connector">
              <a:extLst>
                <a:ext uri="{FF2B5EF4-FFF2-40B4-BE49-F238E27FC236}">
                  <ns2:creationId id="{A29C2354-AC2B-4A9E-8102-BADBC2143682}"/>
                </a:ext>
              </a:extLst>
            </p:cNvPr>
            <p:cNvCxnSpPr/>
            <p:nvPr/>
          </p:nvCxnSpPr>
          <p:spPr>
            <a:xfrm flipH="0" flipV="0">
              <a:off x="96136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3" name="diagram block">
              <a:extLst>
                <a:ext uri="{FF2B5EF4-FFF2-40B4-BE49-F238E27FC236}">
                  <ns2:creationId id="{B2E3B5A6-38BA-4B9F-8F89-3D92D81C16E9}"/>
                </a:ext>
              </a:extLst>
            </p:cNvPr>
            <p:cNvSpPr>
              <a:spLocks noGrp="1"/>
            </p:cNvSpPr>
            <p:nvPr/>
          </p:nvSpPr>
          <p:spPr>
            <a:xfrm>
              <a:off x="1001689" y="3041023"/>
              <a:ext cx="49677" cy="122838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4" name="native PowerPoint connector">
              <a:extLst>
                <a:ext uri="{FF2B5EF4-FFF2-40B4-BE49-F238E27FC236}">
                  <ns2:creationId id="{20FB9F4E-07AF-48EA-9F2A-F0FD9BA1584F}"/>
                </a:ext>
              </a:extLst>
            </p:cNvPr>
            <p:cNvCxnSpPr/>
            <p:nvPr/>
          </p:nvCxnSpPr>
          <p:spPr>
            <a:xfrm flipH="0" flipV="0">
              <a:off x="102652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5" name="diagram block">
              <a:extLst>
                <a:ext uri="{FF2B5EF4-FFF2-40B4-BE49-F238E27FC236}">
                  <ns2:creationId id="{6D3E3118-5669-4CE9-A13A-463C5110B892}"/>
                </a:ext>
              </a:extLst>
            </p:cNvPr>
            <p:cNvSpPr>
              <a:spLocks noGrp="1"/>
            </p:cNvSpPr>
            <p:nvPr/>
          </p:nvSpPr>
          <p:spPr>
            <a:xfrm>
              <a:off x="1066850" y="2957668"/>
              <a:ext cx="49677" cy="206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6" name="native PowerPoint connector">
              <a:extLst>
                <a:ext uri="{FF2B5EF4-FFF2-40B4-BE49-F238E27FC236}">
                  <ns2:creationId id="{DA8DF2E1-A379-433F-BD11-5267CDB61CB6}"/>
                </a:ext>
              </a:extLst>
            </p:cNvPr>
            <p:cNvCxnSpPr/>
            <p:nvPr/>
          </p:nvCxnSpPr>
          <p:spPr>
            <a:xfrm flipH="0" flipV="0">
              <a:off x="1091688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7" name="diagram block">
              <a:extLst>
                <a:ext uri="{FF2B5EF4-FFF2-40B4-BE49-F238E27FC236}">
                  <ns2:creationId id="{4FBC1E7B-FB3E-469D-BB64-DBEBFAE52C94}"/>
                </a:ext>
              </a:extLst>
            </p:cNvPr>
            <p:cNvSpPr>
              <a:spLocks noGrp="1"/>
            </p:cNvSpPr>
            <p:nvPr/>
          </p:nvSpPr>
          <p:spPr>
            <a:xfrm>
              <a:off x="1132011" y="2856765"/>
              <a:ext cx="49677" cy="307096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78" name="native PowerPoint connector">
              <a:extLst>
                <a:ext uri="{FF2B5EF4-FFF2-40B4-BE49-F238E27FC236}">
                  <ns2:creationId id="{C044BA91-039F-4F07-B099-726A8DFACEF8}"/>
                </a:ext>
              </a:extLst>
            </p:cNvPr>
            <p:cNvCxnSpPr/>
            <p:nvPr/>
          </p:nvCxnSpPr>
          <p:spPr>
            <a:xfrm flipH="0" flipV="0">
              <a:off x="115685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79" name="diagram block">
              <a:extLst>
                <a:ext uri="{FF2B5EF4-FFF2-40B4-BE49-F238E27FC236}">
                  <ns2:creationId id="{BE619DAA-B658-4E61-9CF2-58D85A5DDF51}"/>
                </a:ext>
              </a:extLst>
            </p:cNvPr>
            <p:cNvSpPr>
              <a:spLocks noGrp="1"/>
            </p:cNvSpPr>
            <p:nvPr/>
          </p:nvSpPr>
          <p:spPr>
            <a:xfrm>
              <a:off x="1197172" y="2773411"/>
              <a:ext cx="49677" cy="390450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0" name="native PowerPoint connector">
              <a:extLst>
                <a:ext uri="{FF2B5EF4-FFF2-40B4-BE49-F238E27FC236}">
                  <ns2:creationId id="{AAA9518A-DA60-483B-81A8-E478D7B3D0BC}"/>
                </a:ext>
              </a:extLst>
            </p:cNvPr>
            <p:cNvCxnSpPr/>
            <p:nvPr/>
          </p:nvCxnSpPr>
          <p:spPr>
            <a:xfrm flipH="0" flipV="0">
              <a:off x="122201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1" name="diagram block">
              <a:extLst>
                <a:ext uri="{FF2B5EF4-FFF2-40B4-BE49-F238E27FC236}">
                  <ns2:creationId id="{03FFE9CC-63E5-4039-BA95-AA0263AF45CF}"/>
                </a:ext>
              </a:extLst>
            </p:cNvPr>
            <p:cNvSpPr>
              <a:spLocks noGrp="1"/>
            </p:cNvSpPr>
            <p:nvPr/>
          </p:nvSpPr>
          <p:spPr>
            <a:xfrm>
              <a:off x="1262333" y="2826056"/>
              <a:ext cx="49677" cy="337805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2" name="native PowerPoint connector">
              <a:extLst>
                <a:ext uri="{FF2B5EF4-FFF2-40B4-BE49-F238E27FC236}">
                  <ns2:creationId id="{837BFF51-8203-4961-BEEA-E7D1CCF8B759}"/>
                </a:ext>
              </a:extLst>
            </p:cNvPr>
            <p:cNvCxnSpPr/>
            <p:nvPr/>
          </p:nvCxnSpPr>
          <p:spPr>
            <a:xfrm flipH="0" flipV="0">
              <a:off x="128717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3" name="diagram block">
              <a:extLst>
                <a:ext uri="{FF2B5EF4-FFF2-40B4-BE49-F238E27FC236}">
                  <ns2:creationId id="{74CBBE57-ACFA-4B67-88A0-F1058E93ECBB}"/>
                </a:ext>
              </a:extLst>
            </p:cNvPr>
            <p:cNvSpPr>
              <a:spLocks noGrp="1"/>
            </p:cNvSpPr>
            <p:nvPr/>
          </p:nvSpPr>
          <p:spPr>
            <a:xfrm>
              <a:off x="1327494" y="2957668"/>
              <a:ext cx="49677" cy="2061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4" name="native PowerPoint connector">
              <a:extLst>
                <a:ext uri="{FF2B5EF4-FFF2-40B4-BE49-F238E27FC236}">
                  <ns2:creationId id="{26104914-6BA3-4EE6-BECF-576023447508}"/>
                </a:ext>
              </a:extLst>
            </p:cNvPr>
            <p:cNvCxnSpPr/>
            <p:nvPr/>
          </p:nvCxnSpPr>
          <p:spPr>
            <a:xfrm flipH="0" flipV="0">
              <a:off x="135233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5" name="diagram block">
              <a:extLst>
                <a:ext uri="{FF2B5EF4-FFF2-40B4-BE49-F238E27FC236}">
                  <ns2:creationId id="{BFCB32F0-A4C8-4292-B323-3D4E85631980}"/>
                </a:ext>
              </a:extLst>
            </p:cNvPr>
            <p:cNvSpPr>
              <a:spLocks noGrp="1"/>
            </p:cNvSpPr>
            <p:nvPr/>
          </p:nvSpPr>
          <p:spPr>
            <a:xfrm>
              <a:off x="1392655" y="3067345"/>
              <a:ext cx="49677" cy="96516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6" name="native PowerPoint connector">
              <a:extLst>
                <a:ext uri="{FF2B5EF4-FFF2-40B4-BE49-F238E27FC236}">
                  <ns2:creationId id="{87CF1CD3-FDB3-483E-B96F-BE662D498291}"/>
                </a:ext>
              </a:extLst>
            </p:cNvPr>
            <p:cNvCxnSpPr/>
            <p:nvPr/>
          </p:nvCxnSpPr>
          <p:spPr>
            <a:xfrm flipH="0" flipV="0">
              <a:off x="141749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7" name="diagram block">
              <a:extLst>
                <a:ext uri="{FF2B5EF4-FFF2-40B4-BE49-F238E27FC236}">
                  <ns2:creationId id="{926159FF-593B-489B-B7DC-7071965E3D5F}"/>
                </a:ext>
              </a:extLst>
            </p:cNvPr>
            <p:cNvSpPr>
              <a:spLocks noGrp="1"/>
            </p:cNvSpPr>
            <p:nvPr/>
          </p:nvSpPr>
          <p:spPr>
            <a:xfrm>
              <a:off x="1457816" y="3124377"/>
              <a:ext cx="49677" cy="39484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88" name="native PowerPoint connector">
              <a:extLst>
                <a:ext uri="{FF2B5EF4-FFF2-40B4-BE49-F238E27FC236}">
                  <ns2:creationId id="{76D167DC-A158-46A2-B449-C996191B6F0F}"/>
                </a:ext>
              </a:extLst>
            </p:cNvPr>
            <p:cNvCxnSpPr/>
            <p:nvPr/>
          </p:nvCxnSpPr>
          <p:spPr>
            <a:xfrm flipH="0" flipV="0">
              <a:off x="148265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89" name="diagram block">
              <a:extLst>
                <a:ext uri="{FF2B5EF4-FFF2-40B4-BE49-F238E27FC236}">
                  <ns2:creationId id="{DDEA0189-80D6-4E66-89C5-81349F4195FC}"/>
                </a:ext>
              </a:extLst>
            </p:cNvPr>
            <p:cNvSpPr>
              <a:spLocks noGrp="1"/>
            </p:cNvSpPr>
            <p:nvPr/>
          </p:nvSpPr>
          <p:spPr>
            <a:xfrm>
              <a:off x="1522977" y="3148067"/>
              <a:ext cx="49677" cy="1579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90" name="native PowerPoint connector">
              <a:extLst>
                <a:ext uri="{FF2B5EF4-FFF2-40B4-BE49-F238E27FC236}">
                  <ns2:creationId id="{C1FEA5E9-6312-49C5-89BF-71D47854D1FD}"/>
                </a:ext>
              </a:extLst>
            </p:cNvPr>
            <p:cNvCxnSpPr/>
            <p:nvPr/>
          </p:nvCxnSpPr>
          <p:spPr>
            <a:xfrm flipH="0" flipV="0">
              <a:off x="154781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91" name="diagram block">
              <a:extLst>
                <a:ext uri="{FF2B5EF4-FFF2-40B4-BE49-F238E27FC236}">
                  <ns2:creationId id="{29D39F7B-45F8-4548-B90B-25F164952A92}"/>
                </a:ext>
              </a:extLst>
            </p:cNvPr>
            <p:cNvSpPr>
              <a:spLocks noGrp="1"/>
            </p:cNvSpPr>
            <p:nvPr/>
          </p:nvSpPr>
          <p:spPr>
            <a:xfrm>
              <a:off x="1588139" y="3158158"/>
              <a:ext cx="49677" cy="5703"/>
            </a:xfrm>
            <a:prstGeom prst="rect">
              <a:avLst/>
            </a:prstGeom>
            <a:gradFill>
              <a:gsLst>
                <a:gs pos="0">
                  <a:srgbClr val="31B694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35806E"/>
              </a:solidFill>
              <a:prstDash val="solid"/>
            </a:ln>
          </p:spPr>
        </p:sp>
        <p:cxnSp>
          <p:nvCxnSpPr>
            <p:cNvPr id="92" name="native PowerPoint connector">
              <a:extLst>
                <a:ext uri="{FF2B5EF4-FFF2-40B4-BE49-F238E27FC236}">
                  <ns2:creationId id="{4CCC371B-9EA3-4833-BADA-5BAA83EEAB55}"/>
                </a:ext>
              </a:extLst>
            </p:cNvPr>
            <p:cNvCxnSpPr/>
            <p:nvPr/>
          </p:nvCxnSpPr>
          <p:spPr>
            <a:xfrm flipH="0" flipV="0">
              <a:off x="161297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93" name="1">
              <a:extLst>
                <a:ext uri="{FF2B5EF4-FFF2-40B4-BE49-F238E27FC236}">
                  <ns2:creationId id="{2A1CB333-E793-4E41-B36C-B185C3F89E40}"/>
                </a:ext>
              </a:extLst>
            </p:cNvPr>
            <p:cNvSpPr>
              <a:spLocks noGrp="1"/>
            </p:cNvSpPr>
            <p:nvPr/>
          </p:nvSpPr>
          <p:spPr>
            <a:xfrm>
              <a:off x="577174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94" name="4">
              <a:extLst>
                <a:ext uri="{FF2B5EF4-FFF2-40B4-BE49-F238E27FC236}">
                  <ns2:creationId id="{242674D1-E80D-42D6-AD06-BF1104B04B80}"/>
                </a:ext>
              </a:extLst>
            </p:cNvPr>
            <p:cNvSpPr>
              <a:spLocks noGrp="1"/>
            </p:cNvSpPr>
            <p:nvPr/>
          </p:nvSpPr>
          <p:spPr>
            <a:xfrm>
              <a:off x="772657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95" name="8">
              <a:extLst>
                <a:ext uri="{FF2B5EF4-FFF2-40B4-BE49-F238E27FC236}">
                  <ns2:creationId id="{6B861E0D-9F75-454B-B745-5BB13CCE61BB}"/>
                </a:ext>
              </a:extLst>
            </p:cNvPr>
            <p:cNvSpPr>
              <a:spLocks noGrp="1"/>
            </p:cNvSpPr>
            <p:nvPr/>
          </p:nvSpPr>
          <p:spPr>
            <a:xfrm>
              <a:off x="1033302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96" name="12">
              <a:extLst>
                <a:ext uri="{FF2B5EF4-FFF2-40B4-BE49-F238E27FC236}">
                  <ns2:creationId id="{4584741A-BA55-463F-ADCE-23DDC07623E7}"/>
                </a:ext>
              </a:extLst>
            </p:cNvPr>
            <p:cNvSpPr>
              <a:spLocks noGrp="1"/>
            </p:cNvSpPr>
            <p:nvPr/>
          </p:nvSpPr>
          <p:spPr>
            <a:xfrm>
              <a:off x="1293946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12</a:t>
              </a:r>
            </a:p>
          </p:txBody>
        </p:sp>
        <p:sp>
          <p:nvSpPr>
            <p:cNvPr id="97" name="16">
              <a:extLst>
                <a:ext uri="{FF2B5EF4-FFF2-40B4-BE49-F238E27FC236}">
                  <ns2:creationId id="{E41FC3F9-7E35-48BC-BC97-9B2F8A5A45C3}"/>
                </a:ext>
              </a:extLst>
            </p:cNvPr>
            <p:cNvSpPr>
              <a:spLocks noGrp="1"/>
            </p:cNvSpPr>
            <p:nvPr/>
          </p:nvSpPr>
          <p:spPr>
            <a:xfrm>
              <a:off x="1554590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16</a:t>
              </a:r>
            </a:p>
          </p:txBody>
        </p:sp>
        <p:sp>
          <p:nvSpPr>
            <p:cNvPr id="98" name="Bin index">
              <a:extLst>
                <a:ext uri="{FF2B5EF4-FFF2-40B4-BE49-F238E27FC236}">
                  <ns2:creationId id="{1F87A511-5614-4CA2-89A9-F3805A24AED7}"/>
                </a:ext>
              </a:extLst>
            </p:cNvPr>
            <p:cNvSpPr>
              <a:spLocks noGrp="1"/>
            </p:cNvSpPr>
            <p:nvPr/>
          </p:nvSpPr>
          <p:spPr>
            <a:xfrm>
              <a:off x="835238" y="3323860"/>
              <a:ext cx="603869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 index</a:t>
              </a:r>
            </a:p>
          </p:txBody>
        </p:sp>
        <p:sp>
          <p:nvSpPr>
            <p:cNvPr id="99" name="Probability">
              <a:extLst>
                <a:ext uri="{FF2B5EF4-FFF2-40B4-BE49-F238E27FC236}">
                  <ns2:creationId id="{BC370D19-A947-4BE4-BD4F-BA7163C80E31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102337" y="2895475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</a:t>
              </a:r>
            </a:p>
          </p:txBody>
        </p:sp>
        <p:sp>
          <p:nvSpPr>
            <p:cNvPr id="100" name="diagram block">
              <a:extLst>
                <a:ext uri="{FF2B5EF4-FFF2-40B4-BE49-F238E27FC236}">
                  <ns2:creationId id="{CCD3CEA4-68ED-4920-A64D-73D88D369BB3}"/>
                </a:ext>
              </a:extLst>
            </p:cNvPr>
            <p:cNvSpPr>
              <a:spLocks noGrp="1"/>
            </p:cNvSpPr>
            <p:nvPr/>
          </p:nvSpPr>
          <p:spPr>
            <a:xfrm>
              <a:off x="2001686" y="2725153"/>
              <a:ext cx="1037416" cy="438708"/>
            </a:xfrm>
            <a:prstGeom prst="rect">
              <a:avLst/>
            </a:prstGeom>
            <a:solidFill>
              <a:srgbClr val="FFFFFF"/>
            </a:solidFill>
            <a:ln w="4129">
              <a:solidFill>
                <a:srgbClr val="D9DEE5"/>
              </a:solidFill>
              <a:prstDash val="solid"/>
            </a:ln>
          </p:spPr>
        </p:sp>
        <p:cxnSp>
          <p:nvCxnSpPr>
            <p:cNvPr id="101" name="native PowerPoint connector">
              <a:extLst>
                <a:ext uri="{FF2B5EF4-FFF2-40B4-BE49-F238E27FC236}">
                  <ns2:creationId id="{55BB8DAC-2B20-4557-B565-DCCD0424B89E}"/>
                </a:ext>
              </a:extLst>
            </p:cNvPr>
            <p:cNvCxnSpPr/>
            <p:nvPr/>
          </p:nvCxnSpPr>
          <p:spPr>
            <a:xfrm flipH="0" flipV="0">
              <a:off x="2001686" y="3017625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2" name="0.1">
              <a:extLst>
                <a:ext uri="{FF2B5EF4-FFF2-40B4-BE49-F238E27FC236}">
                  <ns2:creationId id="{BE9A7BCF-72E2-45FF-8535-8980038AF92F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971173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0.1</a:t>
              </a:r>
            </a:p>
          </p:txBody>
        </p:sp>
        <p:cxnSp>
          <p:nvCxnSpPr>
            <p:cNvPr id="103" name="native PowerPoint connector">
              <a:extLst>
                <a:ext uri="{FF2B5EF4-FFF2-40B4-BE49-F238E27FC236}">
                  <ns2:creationId id="{AECCE57C-E207-4F9F-AEA8-4CC2F36B4C46}"/>
                </a:ext>
              </a:extLst>
            </p:cNvPr>
            <p:cNvCxnSpPr/>
            <p:nvPr/>
          </p:nvCxnSpPr>
          <p:spPr>
            <a:xfrm flipH="0" flipV="0">
              <a:off x="2001686" y="2871389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4" name="0.2">
              <a:extLst>
                <a:ext uri="{FF2B5EF4-FFF2-40B4-BE49-F238E27FC236}">
                  <ns2:creationId id="{5146B78B-8B5B-48CD-B02B-FF0E1A6D220D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824937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0.2</a:t>
              </a:r>
            </a:p>
          </p:txBody>
        </p:sp>
        <p:cxnSp>
          <p:nvCxnSpPr>
            <p:cNvPr id="105" name="native PowerPoint connector">
              <a:extLst>
                <a:ext uri="{FF2B5EF4-FFF2-40B4-BE49-F238E27FC236}">
                  <ns2:creationId id="{CE22F70D-957C-49BC-A354-D69A352943AE}"/>
                </a:ext>
              </a:extLst>
            </p:cNvPr>
            <p:cNvCxnSpPr/>
            <p:nvPr/>
          </p:nvCxnSpPr>
          <p:spPr>
            <a:xfrm flipH="0" flipV="0">
              <a:off x="2001686" y="2725153"/>
              <a:ext cx="1037416" cy="0"/>
            </a:xfrm>
            <a:prstGeom prst="straightConnector1">
              <a:avLst/>
            </a:prstGeom>
            <a:ln w="3097">
              <a:solidFill>
                <a:srgbClr val="E3E8ED"/>
              </a:solidFill>
              <a:prstDash val="solid"/>
            </a:ln>
          </p:spPr>
        </p:cxnSp>
        <p:sp>
          <p:nvSpPr>
            <p:cNvPr id="106" name="0.3">
              <a:extLst>
                <a:ext uri="{FF2B5EF4-FFF2-40B4-BE49-F238E27FC236}">
                  <ns2:creationId id="{D73A54FD-9999-4054-9B29-7E8AFF17C6D9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2678701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0.3</a:t>
              </a:r>
            </a:p>
          </p:txBody>
        </p:sp>
        <p:cxnSp>
          <p:nvCxnSpPr>
            <p:cNvPr id="107" name="native PowerPoint connector">
              <a:extLst>
                <a:ext uri="{FF2B5EF4-FFF2-40B4-BE49-F238E27FC236}">
                  <ns2:creationId id="{308DC787-CA54-4B99-BB7A-02329B9BCD96}"/>
                </a:ext>
              </a:extLst>
            </p:cNvPr>
            <p:cNvCxnSpPr/>
            <p:nvPr/>
          </p:nvCxnSpPr>
          <p:spPr>
            <a:xfrm flipH="0" flipV="0">
              <a:off x="2001686" y="2725153"/>
              <a:ext cx="0" cy="438708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cxnSp>
          <p:nvCxnSpPr>
            <p:cNvPr id="108" name="native PowerPoint connector">
              <a:extLst>
                <a:ext uri="{FF2B5EF4-FFF2-40B4-BE49-F238E27FC236}">
                  <ns2:creationId id="{DD621231-1599-4833-8408-3A9EE70636C7}"/>
                </a:ext>
              </a:extLst>
            </p:cNvPr>
            <p:cNvCxnSpPr/>
            <p:nvPr/>
          </p:nvCxnSpPr>
          <p:spPr>
            <a:xfrm flipH="0" flipV="0">
              <a:off x="2001686" y="3163861"/>
              <a:ext cx="1037416" cy="0"/>
            </a:xfrm>
            <a:prstGeom prst="straightConnector1">
              <a:avLst/>
            </a:prstGeom>
            <a:ln w="6194">
              <a:solidFill>
                <a:srgbClr val="071B3C"/>
              </a:solidFill>
              <a:prstDash val="solid"/>
            </a:ln>
          </p:spPr>
        </p:cxnSp>
        <p:sp>
          <p:nvSpPr>
            <p:cNvPr id="109" name="0.0">
              <a:extLst>
                <a:ext uri="{FF2B5EF4-FFF2-40B4-BE49-F238E27FC236}">
                  <ns2:creationId id="{00E3D20D-1714-4341-B8AB-EF62B7B647C4}"/>
                </a:ext>
              </a:extLst>
            </p:cNvPr>
            <p:cNvSpPr>
              <a:spLocks noGrp="1"/>
            </p:cNvSpPr>
            <p:nvPr/>
          </p:nvSpPr>
          <p:spPr>
            <a:xfrm>
              <a:off x="1826202" y="3117409"/>
              <a:ext cx="154838" cy="9290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8220"/>
            </a:bodyPr>
            <a:lstStyle>
              <a:def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0" name="diagram block">
              <a:extLst>
                <a:ext uri="{FF2B5EF4-FFF2-40B4-BE49-F238E27FC236}">
                  <ns2:creationId id="{43EC301D-9586-4841-9C39-28BC7AB766F3}"/>
                </a:ext>
              </a:extLst>
            </p:cNvPr>
            <p:cNvSpPr>
              <a:spLocks noGrp="1"/>
            </p:cNvSpPr>
            <p:nvPr/>
          </p:nvSpPr>
          <p:spPr>
            <a:xfrm>
              <a:off x="2009427" y="3160790"/>
              <a:ext cx="49355" cy="3071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1" name="native PowerPoint connector">
              <a:extLst>
                <a:ext uri="{FF2B5EF4-FFF2-40B4-BE49-F238E27FC236}">
                  <ns2:creationId id="{FE09983E-8B41-4563-AA35-92E9D5390D4A}"/>
                </a:ext>
              </a:extLst>
            </p:cNvPr>
            <p:cNvCxnSpPr/>
            <p:nvPr/>
          </p:nvCxnSpPr>
          <p:spPr>
            <a:xfrm flipH="0" flipV="0">
              <a:off x="20341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2" name="diagram block">
              <a:extLst>
                <a:ext uri="{FF2B5EF4-FFF2-40B4-BE49-F238E27FC236}">
                  <ns2:creationId id="{13FAD47F-15AF-43AF-8AAD-25855BD83CDA}"/>
                </a:ext>
              </a:extLst>
            </p:cNvPr>
            <p:cNvSpPr>
              <a:spLocks noGrp="1"/>
            </p:cNvSpPr>
            <p:nvPr/>
          </p:nvSpPr>
          <p:spPr>
            <a:xfrm>
              <a:off x="2074266" y="3155964"/>
              <a:ext cx="49355" cy="789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3" name="native PowerPoint connector">
              <a:extLst>
                <a:ext uri="{FF2B5EF4-FFF2-40B4-BE49-F238E27FC236}">
                  <ns2:creationId id="{4B754C80-83E8-430B-982B-7AD119D42E64}"/>
                </a:ext>
              </a:extLst>
            </p:cNvPr>
            <p:cNvCxnSpPr/>
            <p:nvPr/>
          </p:nvCxnSpPr>
          <p:spPr>
            <a:xfrm flipH="0" flipV="0">
              <a:off x="209894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4" name="diagram block">
              <a:extLst>
                <a:ext uri="{FF2B5EF4-FFF2-40B4-BE49-F238E27FC236}">
                  <ns2:creationId id="{FA42FA3D-1998-4DE4-BBC3-3DD0D05A2811}"/>
                </a:ext>
              </a:extLst>
            </p:cNvPr>
            <p:cNvSpPr>
              <a:spLocks noGrp="1"/>
            </p:cNvSpPr>
            <p:nvPr/>
          </p:nvSpPr>
          <p:spPr>
            <a:xfrm>
              <a:off x="2139105" y="3145435"/>
              <a:ext cx="49355" cy="18426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5" name="native PowerPoint connector">
              <a:extLst>
                <a:ext uri="{FF2B5EF4-FFF2-40B4-BE49-F238E27FC236}">
                  <ns2:creationId id="{FF1706F9-80E6-41FF-B8A5-C714679D68B0}"/>
                </a:ext>
              </a:extLst>
            </p:cNvPr>
            <p:cNvCxnSpPr/>
            <p:nvPr/>
          </p:nvCxnSpPr>
          <p:spPr>
            <a:xfrm flipH="0" flipV="0">
              <a:off x="216378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6" name="diagram block">
              <a:extLst>
                <a:ext uri="{FF2B5EF4-FFF2-40B4-BE49-F238E27FC236}">
                  <ns2:creationId id="{418FA027-D635-42D2-AE72-3D269DA84FDC}"/>
                </a:ext>
              </a:extLst>
            </p:cNvPr>
            <p:cNvSpPr>
              <a:spLocks noGrp="1"/>
            </p:cNvSpPr>
            <p:nvPr/>
          </p:nvSpPr>
          <p:spPr>
            <a:xfrm>
              <a:off x="2203943" y="3124377"/>
              <a:ext cx="49355" cy="39484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7" name="native PowerPoint connector">
              <a:extLst>
                <a:ext uri="{FF2B5EF4-FFF2-40B4-BE49-F238E27FC236}">
                  <ns2:creationId id="{9929CC14-148A-41F1-98FA-03F2680FE7ED}"/>
                </a:ext>
              </a:extLst>
            </p:cNvPr>
            <p:cNvCxnSpPr/>
            <p:nvPr/>
          </p:nvCxnSpPr>
          <p:spPr>
            <a:xfrm flipH="0" flipV="0">
              <a:off x="222862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18" name="diagram block">
              <a:extLst>
                <a:ext uri="{FF2B5EF4-FFF2-40B4-BE49-F238E27FC236}">
                  <ns2:creationId id="{0D456C2C-FB01-468B-8B41-D50EFB62B165}"/>
                </a:ext>
              </a:extLst>
            </p:cNvPr>
            <p:cNvSpPr>
              <a:spLocks noGrp="1"/>
            </p:cNvSpPr>
            <p:nvPr/>
          </p:nvSpPr>
          <p:spPr>
            <a:xfrm>
              <a:off x="2268782" y="3084893"/>
              <a:ext cx="49355" cy="7896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19" name="native PowerPoint connector">
              <a:extLst>
                <a:ext uri="{FF2B5EF4-FFF2-40B4-BE49-F238E27FC236}">
                  <ns2:creationId id="{42E19791-018D-4690-98D6-197012116FBB}"/>
                </a:ext>
              </a:extLst>
            </p:cNvPr>
            <p:cNvCxnSpPr/>
            <p:nvPr/>
          </p:nvCxnSpPr>
          <p:spPr>
            <a:xfrm flipH="0" flipV="0">
              <a:off x="2293459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0" name="diagram block">
              <a:extLst>
                <a:ext uri="{FF2B5EF4-FFF2-40B4-BE49-F238E27FC236}">
                  <ns2:creationId id="{B4E57229-AA13-4130-A897-953349F3581C}"/>
                </a:ext>
              </a:extLst>
            </p:cNvPr>
            <p:cNvSpPr>
              <a:spLocks noGrp="1"/>
            </p:cNvSpPr>
            <p:nvPr/>
          </p:nvSpPr>
          <p:spPr>
            <a:xfrm>
              <a:off x="2333620" y="3010313"/>
              <a:ext cx="49355" cy="153548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1" name="native PowerPoint connector">
              <a:extLst>
                <a:ext uri="{FF2B5EF4-FFF2-40B4-BE49-F238E27FC236}">
                  <ns2:creationId id="{929D11A6-F713-4F1F-A761-0280701867D1}"/>
                </a:ext>
              </a:extLst>
            </p:cNvPr>
            <p:cNvCxnSpPr/>
            <p:nvPr/>
          </p:nvCxnSpPr>
          <p:spPr>
            <a:xfrm flipH="0" flipV="0">
              <a:off x="235829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2" name="diagram block">
              <a:extLst>
                <a:ext uri="{FF2B5EF4-FFF2-40B4-BE49-F238E27FC236}">
                  <ns2:creationId id="{D2552E09-2721-4618-A702-A32DE0E4DDBC}"/>
                </a:ext>
              </a:extLst>
            </p:cNvPr>
            <p:cNvSpPr>
              <a:spLocks noGrp="1"/>
            </p:cNvSpPr>
            <p:nvPr/>
          </p:nvSpPr>
          <p:spPr>
            <a:xfrm>
              <a:off x="2398459" y="2900636"/>
              <a:ext cx="49355" cy="263225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3" name="native PowerPoint connector">
              <a:extLst>
                <a:ext uri="{FF2B5EF4-FFF2-40B4-BE49-F238E27FC236}">
                  <ns2:creationId id="{85C4C2DE-931D-49BE-8D8F-009585CDF12C}"/>
                </a:ext>
              </a:extLst>
            </p:cNvPr>
            <p:cNvCxnSpPr/>
            <p:nvPr/>
          </p:nvCxnSpPr>
          <p:spPr>
            <a:xfrm flipH="0" flipV="0">
              <a:off x="2423136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4" name="diagram block">
              <a:extLst>
                <a:ext uri="{FF2B5EF4-FFF2-40B4-BE49-F238E27FC236}">
                  <ns2:creationId id="{6E9E5515-47B6-464D-BF2A-2CFA7049E7AF}"/>
                </a:ext>
              </a:extLst>
            </p:cNvPr>
            <p:cNvSpPr>
              <a:spLocks noGrp="1"/>
            </p:cNvSpPr>
            <p:nvPr/>
          </p:nvSpPr>
          <p:spPr>
            <a:xfrm>
              <a:off x="2463297" y="2804120"/>
              <a:ext cx="49355" cy="359741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5" name="native PowerPoint connector">
              <a:extLst>
                <a:ext uri="{FF2B5EF4-FFF2-40B4-BE49-F238E27FC236}">
                  <ns2:creationId id="{C5D1BBCB-70B0-456F-8AD3-CE48764F5DB5}"/>
                </a:ext>
              </a:extLst>
            </p:cNvPr>
            <p:cNvCxnSpPr/>
            <p:nvPr/>
          </p:nvCxnSpPr>
          <p:spPr>
            <a:xfrm flipH="0" flipV="0">
              <a:off x="248797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6" name="diagram block">
              <a:extLst>
                <a:ext uri="{FF2B5EF4-FFF2-40B4-BE49-F238E27FC236}">
                  <ns2:creationId id="{EE33462A-3263-46EB-95E9-A22BEE402BAC}"/>
                </a:ext>
              </a:extLst>
            </p:cNvPr>
            <p:cNvSpPr>
              <a:spLocks noGrp="1"/>
            </p:cNvSpPr>
            <p:nvPr/>
          </p:nvSpPr>
          <p:spPr>
            <a:xfrm>
              <a:off x="2528136" y="2777798"/>
              <a:ext cx="49355" cy="386063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7" name="native PowerPoint connector">
              <a:extLst>
                <a:ext uri="{FF2B5EF4-FFF2-40B4-BE49-F238E27FC236}">
                  <ns2:creationId id="{8E84CD0E-7A5E-48E1-A3E4-D29FDB3563E8}"/>
                </a:ext>
              </a:extLst>
            </p:cNvPr>
            <p:cNvCxnSpPr/>
            <p:nvPr/>
          </p:nvCxnSpPr>
          <p:spPr>
            <a:xfrm flipH="0" flipV="0">
              <a:off x="2552813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28" name="diagram block">
              <a:extLst>
                <a:ext uri="{FF2B5EF4-FFF2-40B4-BE49-F238E27FC236}">
                  <ns2:creationId id="{55231882-D226-4FC7-A519-F17A48195516}"/>
                </a:ext>
              </a:extLst>
            </p:cNvPr>
            <p:cNvSpPr>
              <a:spLocks noGrp="1"/>
            </p:cNvSpPr>
            <p:nvPr/>
          </p:nvSpPr>
          <p:spPr>
            <a:xfrm>
              <a:off x="2592974" y="2878701"/>
              <a:ext cx="49355" cy="285160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29" name="native PowerPoint connector">
              <a:extLst>
                <a:ext uri="{FF2B5EF4-FFF2-40B4-BE49-F238E27FC236}">
                  <ns2:creationId id="{BB9C8921-92CF-44C4-A8F9-494785977AF1}"/>
                </a:ext>
              </a:extLst>
            </p:cNvPr>
            <p:cNvCxnSpPr/>
            <p:nvPr/>
          </p:nvCxnSpPr>
          <p:spPr>
            <a:xfrm flipH="0" flipV="0">
              <a:off x="2617651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0" name="diagram block">
              <a:extLst>
                <a:ext uri="{FF2B5EF4-FFF2-40B4-BE49-F238E27FC236}">
                  <ns2:creationId id="{E414B75A-E1EF-4D44-BCE3-EC0041A7D3D3}"/>
                </a:ext>
              </a:extLst>
            </p:cNvPr>
            <p:cNvSpPr>
              <a:spLocks noGrp="1"/>
            </p:cNvSpPr>
            <p:nvPr/>
          </p:nvSpPr>
          <p:spPr>
            <a:xfrm>
              <a:off x="2657813" y="3001539"/>
              <a:ext cx="49355" cy="16232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1" name="native PowerPoint connector">
              <a:extLst>
                <a:ext uri="{FF2B5EF4-FFF2-40B4-BE49-F238E27FC236}">
                  <ns2:creationId id="{C696C2ED-0D15-47AA-83EA-C5EBCD3C0B2D}"/>
                </a:ext>
              </a:extLst>
            </p:cNvPr>
            <p:cNvCxnSpPr/>
            <p:nvPr/>
          </p:nvCxnSpPr>
          <p:spPr>
            <a:xfrm flipH="0" flipV="0">
              <a:off x="2682490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2" name="diagram block">
              <a:extLst>
                <a:ext uri="{FF2B5EF4-FFF2-40B4-BE49-F238E27FC236}">
                  <ns2:creationId id="{D74AE8BE-D8DA-44A5-9AC4-6F246552F2C3}"/>
                </a:ext>
              </a:extLst>
            </p:cNvPr>
            <p:cNvSpPr>
              <a:spLocks noGrp="1"/>
            </p:cNvSpPr>
            <p:nvPr/>
          </p:nvSpPr>
          <p:spPr>
            <a:xfrm>
              <a:off x="2722651" y="3089281"/>
              <a:ext cx="49355" cy="74580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3" name="native PowerPoint connector">
              <a:extLst>
                <a:ext uri="{FF2B5EF4-FFF2-40B4-BE49-F238E27FC236}">
                  <ns2:creationId id="{A73FB2B4-70B5-4B22-8F76-CDCA57BFB95D}"/>
                </a:ext>
              </a:extLst>
            </p:cNvPr>
            <p:cNvCxnSpPr/>
            <p:nvPr/>
          </p:nvCxnSpPr>
          <p:spPr>
            <a:xfrm flipH="0" flipV="0">
              <a:off x="2747328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4" name="diagram block">
              <a:extLst>
                <a:ext uri="{FF2B5EF4-FFF2-40B4-BE49-F238E27FC236}">
                  <ns2:creationId id="{30EF71D3-B99E-4D06-B8DC-7E00273A3C20}"/>
                </a:ext>
              </a:extLst>
            </p:cNvPr>
            <p:cNvSpPr>
              <a:spLocks noGrp="1"/>
            </p:cNvSpPr>
            <p:nvPr/>
          </p:nvSpPr>
          <p:spPr>
            <a:xfrm>
              <a:off x="2787490" y="3128764"/>
              <a:ext cx="49355" cy="3509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5" name="native PowerPoint connector">
              <a:extLst>
                <a:ext uri="{FF2B5EF4-FFF2-40B4-BE49-F238E27FC236}">
                  <ns2:creationId id="{07375FDA-E7AD-44F2-A34C-8005DDEDA571}"/>
                </a:ext>
              </a:extLst>
            </p:cNvPr>
            <p:cNvCxnSpPr/>
            <p:nvPr/>
          </p:nvCxnSpPr>
          <p:spPr>
            <a:xfrm flipH="0" flipV="0">
              <a:off x="2812167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6" name="diagram block">
              <a:extLst>
                <a:ext uri="{FF2B5EF4-FFF2-40B4-BE49-F238E27FC236}">
                  <ns2:creationId id="{E2F672C3-0315-4138-AF08-D68139307643}"/>
                </a:ext>
              </a:extLst>
            </p:cNvPr>
            <p:cNvSpPr>
              <a:spLocks noGrp="1"/>
            </p:cNvSpPr>
            <p:nvPr/>
          </p:nvSpPr>
          <p:spPr>
            <a:xfrm>
              <a:off x="2852328" y="3149384"/>
              <a:ext cx="49355" cy="14477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7" name="native PowerPoint connector">
              <a:extLst>
                <a:ext uri="{FF2B5EF4-FFF2-40B4-BE49-F238E27FC236}">
                  <ns2:creationId id="{5345A220-06FE-4058-92C2-F39AA5C5C05A}"/>
                </a:ext>
              </a:extLst>
            </p:cNvPr>
            <p:cNvCxnSpPr/>
            <p:nvPr/>
          </p:nvCxnSpPr>
          <p:spPr>
            <a:xfrm flipH="0" flipV="0">
              <a:off x="2877005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38" name="diagram block">
              <a:extLst>
                <a:ext uri="{FF2B5EF4-FFF2-40B4-BE49-F238E27FC236}">
                  <ns2:creationId id="{4285D79C-9277-41A7-83C8-3BB5BB3D67DE}"/>
                </a:ext>
              </a:extLst>
            </p:cNvPr>
            <p:cNvSpPr>
              <a:spLocks noGrp="1"/>
            </p:cNvSpPr>
            <p:nvPr/>
          </p:nvSpPr>
          <p:spPr>
            <a:xfrm>
              <a:off x="2917167" y="3157719"/>
              <a:ext cx="49355" cy="614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39" name="native PowerPoint connector">
              <a:extLst>
                <a:ext uri="{FF2B5EF4-FFF2-40B4-BE49-F238E27FC236}">
                  <ns2:creationId id="{A2084FD5-1F95-4F4C-9C6E-0F054B0B531B}"/>
                </a:ext>
              </a:extLst>
            </p:cNvPr>
            <p:cNvCxnSpPr/>
            <p:nvPr/>
          </p:nvCxnSpPr>
          <p:spPr>
            <a:xfrm flipH="0" flipV="0">
              <a:off x="2941844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40" name="diagram block">
              <a:extLst>
                <a:ext uri="{FF2B5EF4-FFF2-40B4-BE49-F238E27FC236}">
                  <ns2:creationId id="{9018F205-099C-4704-B6DA-34A9CA2D56FF}"/>
                </a:ext>
              </a:extLst>
            </p:cNvPr>
            <p:cNvSpPr>
              <a:spLocks noGrp="1"/>
            </p:cNvSpPr>
            <p:nvPr/>
          </p:nvSpPr>
          <p:spPr>
            <a:xfrm>
              <a:off x="2982005" y="3161229"/>
              <a:ext cx="49355" cy="2632"/>
            </a:xfrm>
            <a:prstGeom prst="rect">
              <a:avLst/>
            </a:prstGeom>
            <a:gradFill>
              <a:gsLst>
                <a:gs pos="0">
                  <a:srgbClr val="3E9CE0"/>
                </a:gs>
                <a:gs pos="100000">
                  <a:srgbClr val="DCEFEB"/>
                </a:gs>
              </a:gsLst>
              <a:lin ang="5400000"/>
            </a:gradFill>
            <a:ln w="3097">
              <a:solidFill>
                <a:srgbClr val="2E639F"/>
              </a:solidFill>
              <a:prstDash val="solid"/>
            </a:ln>
          </p:spPr>
        </p:sp>
        <p:cxnSp>
          <p:nvCxnSpPr>
            <p:cNvPr id="141" name="native PowerPoint connector">
              <a:extLst>
                <a:ext uri="{FF2B5EF4-FFF2-40B4-BE49-F238E27FC236}">
                  <ns2:creationId id="{14EF2DDE-2F72-49F4-B778-AE527FE36B9B}"/>
                </a:ext>
              </a:extLst>
            </p:cNvPr>
            <p:cNvCxnSpPr/>
            <p:nvPr/>
          </p:nvCxnSpPr>
          <p:spPr>
            <a:xfrm flipH="0" flipV="0">
              <a:off x="3006682" y="3163861"/>
              <a:ext cx="0" cy="20645"/>
            </a:xfrm>
            <a:prstGeom prst="straightConnector1">
              <a:avLst/>
            </a:prstGeom>
            <a:ln w="3613">
              <a:solidFill>
                <a:srgbClr val="071B3C"/>
              </a:solidFill>
              <a:prstDash val="solid"/>
            </a:ln>
          </p:spPr>
        </p:cxnSp>
        <p:sp>
          <p:nvSpPr>
            <p:cNvPr id="142" name="1">
              <a:extLst>
                <a:ext uri="{FF2B5EF4-FFF2-40B4-BE49-F238E27FC236}">
                  <ns2:creationId id="{06377970-D1C3-422C-9295-CC4BA9DCC31C}"/>
                </a:ext>
              </a:extLst>
            </p:cNvPr>
            <p:cNvSpPr>
              <a:spLocks noGrp="1"/>
            </p:cNvSpPr>
            <p:nvPr/>
          </p:nvSpPr>
          <p:spPr>
            <a:xfrm>
              <a:off x="1975879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43" name="4">
              <a:extLst>
                <a:ext uri="{FF2B5EF4-FFF2-40B4-BE49-F238E27FC236}">
                  <ns2:creationId id="{E8BC80BB-43D4-487E-B4E4-D7F0BEF1E5AF}"/>
                </a:ext>
              </a:extLst>
            </p:cNvPr>
            <p:cNvSpPr>
              <a:spLocks noGrp="1"/>
            </p:cNvSpPr>
            <p:nvPr/>
          </p:nvSpPr>
          <p:spPr>
            <a:xfrm>
              <a:off x="2170395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144" name="8">
              <a:extLst>
                <a:ext uri="{FF2B5EF4-FFF2-40B4-BE49-F238E27FC236}">
                  <ns2:creationId id="{1BB1C3AE-5966-45C7-B9D4-7DAF15FC8071}"/>
                </a:ext>
              </a:extLst>
            </p:cNvPr>
            <p:cNvSpPr>
              <a:spLocks noGrp="1"/>
            </p:cNvSpPr>
            <p:nvPr/>
          </p:nvSpPr>
          <p:spPr>
            <a:xfrm>
              <a:off x="2429749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145" name="12">
              <a:extLst>
                <a:ext uri="{FF2B5EF4-FFF2-40B4-BE49-F238E27FC236}">
                  <ns2:creationId id="{3FD65E10-CB26-42B5-9A29-D41838A40FEA}"/>
                </a:ext>
              </a:extLst>
            </p:cNvPr>
            <p:cNvSpPr>
              <a:spLocks noGrp="1"/>
            </p:cNvSpPr>
            <p:nvPr/>
          </p:nvSpPr>
          <p:spPr>
            <a:xfrm>
              <a:off x="2689103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12</a:t>
              </a:r>
            </a:p>
          </p:txBody>
        </p:sp>
        <p:sp>
          <p:nvSpPr>
            <p:cNvPr id="146" name="16">
              <a:extLst>
                <a:ext uri="{FF2B5EF4-FFF2-40B4-BE49-F238E27FC236}">
                  <ns2:creationId id="{285B5A0C-5356-470B-A4EB-E7F9A6BEEF87}"/>
                </a:ext>
              </a:extLst>
            </p:cNvPr>
            <p:cNvSpPr>
              <a:spLocks noGrp="1"/>
            </p:cNvSpPr>
            <p:nvPr/>
          </p:nvSpPr>
          <p:spPr>
            <a:xfrm>
              <a:off x="2948457" y="3210312"/>
              <a:ext cx="113548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16</a:t>
              </a:r>
            </a:p>
          </p:txBody>
        </p:sp>
        <p:sp>
          <p:nvSpPr>
            <p:cNvPr id="147" name="Bin index">
              <a:extLst>
                <a:ext uri="{FF2B5EF4-FFF2-40B4-BE49-F238E27FC236}">
                  <ns2:creationId id="{208E75CD-CF4B-419D-9C8E-8C9574E9222D}"/>
                </a:ext>
              </a:extLst>
            </p:cNvPr>
            <p:cNvSpPr>
              <a:spLocks noGrp="1"/>
            </p:cNvSpPr>
            <p:nvPr/>
          </p:nvSpPr>
          <p:spPr>
            <a:xfrm>
              <a:off x="2233943" y="3323860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 index</a:t>
              </a:r>
            </a:p>
          </p:txBody>
        </p:sp>
        <p:sp>
          <p:nvSpPr>
            <p:cNvPr id="148" name="Probability">
              <a:extLst>
                <a:ext uri="{FF2B5EF4-FFF2-40B4-BE49-F238E27FC236}">
                  <ns2:creationId id="{8D536E41-E099-46B1-8D50-0D8F2BE4CB64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1501042" y="2895475"/>
              <a:ext cx="598708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Probability</a:t>
              </a:r>
            </a:p>
          </p:txBody>
        </p:sp>
        <p:sp>
          <p:nvSpPr>
            <p:cNvPr id="149" name="diagram block">
              <a:extLst>
                <a:ext uri="{FF2B5EF4-FFF2-40B4-BE49-F238E27FC236}">
                  <ns2:creationId id="{F982C92F-4535-4552-AC48-B16DB708E0A6}"/>
                </a:ext>
              </a:extLst>
            </p:cNvPr>
            <p:cNvSpPr>
              <a:spLocks noGrp="1"/>
            </p:cNvSpPr>
            <p:nvPr/>
          </p:nvSpPr>
          <p:spPr>
            <a:xfrm>
              <a:off x="499755" y="3458054"/>
              <a:ext cx="2461928" cy="216774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A8098"/>
              </a:solidFill>
              <a:prstDash val="solid"/>
            </a:ln>
          </p:spPr>
        </p:sp>
        <p:sp>
          <p:nvSpPr>
            <p:cNvPr id="150" name="L_bin = mean KL(p(z) || p(ẑ))">
              <a:extLst>
                <a:ext uri="{FF2B5EF4-FFF2-40B4-BE49-F238E27FC236}">
                  <ns2:creationId id="{AE218132-E71D-4409-AB8C-995381135722}"/>
                </a:ext>
              </a:extLst>
            </p:cNvPr>
            <p:cNvSpPr>
              <a:spLocks noGrp="1"/>
            </p:cNvSpPr>
            <p:nvPr/>
          </p:nvSpPr>
          <p:spPr>
            <a:xfrm>
              <a:off x="613303" y="3504505"/>
              <a:ext cx="2245154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121"/>
            </a:bodyPr>
            <a:lstStyle>
              <a:def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94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bin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813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813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813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(p(z) || p(ẑ))</a:t>
              </a:r>
            </a:p>
          </p:txBody>
        </p:sp>
        <p:sp>
          <p:nvSpPr>
            <p:cNvPr id="151" name="diagram block">
              <a:extLst>
                <a:ext uri="{FF2B5EF4-FFF2-40B4-BE49-F238E27FC236}">
                  <ns2:creationId id="{858D04D6-51F5-42AC-ADC2-9621A03792B4}"/>
                </a:ext>
              </a:extLst>
            </p:cNvPr>
            <p:cNvSpPr>
              <a:spLocks noGrp="1"/>
            </p:cNvSpPr>
            <p:nvPr/>
          </p:nvSpPr>
          <p:spPr>
            <a:xfrm>
              <a:off x="355239" y="3731601"/>
              <a:ext cx="2725153" cy="159999"/>
            </a:xfrm>
            <a:prstGeom prst="roundRect">
              <a:avLst>
                <a:gd name="adj" fmla="val 12903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2DDF7"/>
              </a:solidFill>
              <a:prstDash val="solid"/>
            </a:ln>
          </p:spPr>
        </p:sp>
        <p:sp>
          <p:nvSpPr>
            <p:cNvPr id="152" name="Motor actions: 10 × 6   |   Future latents: t &gt; 0">
              <a:extLst>
                <a:ext uri="{FF2B5EF4-FFF2-40B4-BE49-F238E27FC236}">
                  <ns2:creationId id="{819F6BFF-7E7C-4722-882F-469813E0EB7D}"/>
                </a:ext>
              </a:extLst>
            </p:cNvPr>
            <p:cNvSpPr>
              <a:spLocks noGrp="1"/>
            </p:cNvSpPr>
            <p:nvPr/>
          </p:nvSpPr>
          <p:spPr>
            <a:xfrm>
              <a:off x="381046" y="3757407"/>
              <a:ext cx="2673540" cy="108387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4575"/>
            </a:bodyPr>
            <a:lstStyle>
              <a:def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78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Motor actions: 10 × 6   |   Future latents: t &gt; 0</a:t>
              </a:r>
            </a:p>
          </p:txBody>
        </p:sp>
        <p:sp>
          <p:nvSpPr>
            <p:cNvPr id="153" name="Compute a 16-bin distribution for each scalar independently&#10;and average the">
              <a:extLst>
                <a:ext uri="{FF2B5EF4-FFF2-40B4-BE49-F238E27FC236}">
                  <ns2:creationId id="{2DFCB06A-E21A-4E14-84F5-5ECB150BD90D}"/>
                </a:ext>
              </a:extLst>
            </p:cNvPr>
            <p:cNvSpPr>
              <a:spLocks noGrp="1"/>
            </p:cNvSpPr>
            <p:nvPr/>
          </p:nvSpPr>
          <p:spPr>
            <a:xfrm>
              <a:off x="432658" y="3927729"/>
              <a:ext cx="2580637" cy="20129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0219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Compute a 16-bin distribution for each scalar independently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and average the KL over all scalars.</a:t>
              </a:r>
            </a:p>
          </p:txBody>
        </p:sp>
        <p:sp>
          <p:nvSpPr>
            <p:cNvPr id="154" name="diagram block">
              <a:extLst>
                <a:ext uri="{FF2B5EF4-FFF2-40B4-BE49-F238E27FC236}">
                  <ns2:creationId id="{4AD6DD87-99C4-4F1B-828A-DDFAA87D9871}"/>
                </a:ext>
              </a:extLst>
            </p:cNvPr>
            <p:cNvSpPr>
              <a:spLocks noGrp="1"/>
            </p:cNvSpPr>
            <p:nvPr/>
          </p:nvSpPr>
          <p:spPr>
            <a:xfrm>
              <a:off x="3261036" y="686449"/>
              <a:ext cx="2621927" cy="149677"/>
            </a:xfrm>
            <a:prstGeom prst="rect">
              <a:avLst/>
            </a:prstGeom>
            <a:solidFill>
              <a:srgbClr val="E6F2FF"/>
            </a:solidFill>
            <a:ln w="5161">
              <a:noFill/>
              <a:prstDash val="solid"/>
            </a:ln>
          </p:spPr>
        </p:sp>
        <p:sp>
          <p:nvSpPr>
            <p:cNvPr id="155" name="Ten ordered 6-D action vectors (first 10 actions)">
              <a:extLst>
                <a:ext uri="{FF2B5EF4-FFF2-40B4-BE49-F238E27FC236}">
                  <ns2:creationId id="{22AD0E07-9EBD-4AC5-817B-BD6D73DFDEA5}"/>
                </a:ext>
              </a:extLst>
            </p:cNvPr>
            <p:cNvSpPr>
              <a:spLocks noGrp="1"/>
            </p:cNvSpPr>
            <p:nvPr/>
          </p:nvSpPr>
          <p:spPr>
            <a:xfrm>
              <a:off x="3286843" y="712256"/>
              <a:ext cx="2570314" cy="98064"/>
            </a:xfrm>
            <a:prstGeom prst="rect">
              <a:avLst/>
            </a:prstGeom>
            <a:solidFill>
              <a:srgbClr val="E6F2FF"/>
            </a:solidFill>
            <a:ln w="0">
              <a:noFill/>
            </a:ln>
          </p:spPr>
          <p:txBody>
            <a:bodyPr wrap="none" lIns="0" tIns="0" rIns="0" bIns="0" anchor="ctr">
              <a:normAutofit fontScale="79147"/>
            </a:bodyPr>
            <a:lstStyle>
              <a:def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Ten ordered 6-D action vectors (first 10 actions)</a:t>
              </a:r>
            </a:p>
          </p:txBody>
        </p:sp>
        <p:sp>
          <p:nvSpPr>
            <p:cNvPr id="156" name="diagram block">
              <a:extLst>
                <a:ext uri="{FF2B5EF4-FFF2-40B4-BE49-F238E27FC236}">
                  <ns2:creationId id="{4E891FEE-4DB2-4B5F-860E-7DC0993D78C7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57" name="a₁">
              <a:extLst>
                <a:ext uri="{FF2B5EF4-FFF2-40B4-BE49-F238E27FC236}">
                  <ns2:creationId id="{B2CB0B3E-FAF5-4B9A-9789-D356A3482133}"/>
                </a:ext>
              </a:extLst>
            </p:cNvPr>
            <p:cNvSpPr>
              <a:spLocks noGrp="1"/>
            </p:cNvSpPr>
            <p:nvPr/>
          </p:nvSpPr>
          <p:spPr>
            <a:xfrm>
              <a:off x="3348778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a₁</a:t>
              </a:r>
            </a:p>
          </p:txBody>
        </p:sp>
        <p:sp>
          <p:nvSpPr>
            <p:cNvPr id="158" name="diagram block">
              <a:extLst>
                <a:ext uri="{FF2B5EF4-FFF2-40B4-BE49-F238E27FC236}">
                  <ns2:creationId id="{7DE4F343-73DE-47C2-B9B3-CACDD9D4DB68}"/>
                </a:ext>
              </a:extLst>
            </p:cNvPr>
            <p:cNvSpPr>
              <a:spLocks noGrp="1"/>
            </p:cNvSpPr>
            <p:nvPr/>
          </p:nvSpPr>
          <p:spPr>
            <a:xfrm>
              <a:off x="3529423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59" name="a₂">
              <a:extLst>
                <a:ext uri="{FF2B5EF4-FFF2-40B4-BE49-F238E27FC236}">
                  <ns2:creationId id="{FFB96122-0545-4DDB-AF17-1A44EB7147BD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a₂</a:t>
              </a:r>
            </a:p>
          </p:txBody>
        </p:sp>
        <p:sp>
          <p:nvSpPr>
            <p:cNvPr id="160" name="diagram block">
              <a:extLst>
                <a:ext uri="{FF2B5EF4-FFF2-40B4-BE49-F238E27FC236}">
                  <ns2:creationId id="{75DF7345-4F56-43D3-8EB3-AE9AC32CF071}"/>
                </a:ext>
              </a:extLst>
            </p:cNvPr>
            <p:cNvSpPr>
              <a:spLocks noGrp="1"/>
            </p:cNvSpPr>
            <p:nvPr/>
          </p:nvSpPr>
          <p:spPr>
            <a:xfrm>
              <a:off x="3735874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1" name="a₃">
              <a:extLst>
                <a:ext uri="{FF2B5EF4-FFF2-40B4-BE49-F238E27FC236}">
                  <ns2:creationId id="{3488C1DF-8949-49E2-AC3D-3A8417ADC1FA}"/>
                </a:ext>
              </a:extLst>
            </p:cNvPr>
            <p:cNvSpPr>
              <a:spLocks noGrp="1"/>
            </p:cNvSpPr>
            <p:nvPr/>
          </p:nvSpPr>
          <p:spPr>
            <a:xfrm>
              <a:off x="3761680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a₃</a:t>
              </a:r>
            </a:p>
          </p:txBody>
        </p:sp>
        <p:sp>
          <p:nvSpPr>
            <p:cNvPr id="162" name="diagram block">
              <a:extLst>
                <a:ext uri="{FF2B5EF4-FFF2-40B4-BE49-F238E27FC236}">
                  <ns2:creationId id="{2757CA49-A98D-4A92-AE2A-618645F2994F}"/>
                </a:ext>
              </a:extLst>
            </p:cNvPr>
            <p:cNvSpPr>
              <a:spLocks noGrp="1"/>
            </p:cNvSpPr>
            <p:nvPr/>
          </p:nvSpPr>
          <p:spPr>
            <a:xfrm>
              <a:off x="3942325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3" name="a₄">
              <a:extLst>
                <a:ext uri="{FF2B5EF4-FFF2-40B4-BE49-F238E27FC236}">
                  <ns2:creationId id="{720D909F-E810-4D94-9E28-F6F685CAF938}"/>
                </a:ext>
              </a:extLst>
            </p:cNvPr>
            <p:cNvSpPr>
              <a:spLocks noGrp="1"/>
            </p:cNvSpPr>
            <p:nvPr/>
          </p:nvSpPr>
          <p:spPr>
            <a:xfrm>
              <a:off x="3968131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a₄</a:t>
              </a:r>
            </a:p>
          </p:txBody>
        </p:sp>
        <p:sp>
          <p:nvSpPr>
            <p:cNvPr id="164" name="diagram block">
              <a:extLst>
                <a:ext uri="{FF2B5EF4-FFF2-40B4-BE49-F238E27FC236}">
                  <ns2:creationId id="{8F008FB3-17B1-4020-81E1-830B0EDA743A}"/>
                </a:ext>
              </a:extLst>
            </p:cNvPr>
            <p:cNvSpPr>
              <a:spLocks noGrp="1"/>
            </p:cNvSpPr>
            <p:nvPr/>
          </p:nvSpPr>
          <p:spPr>
            <a:xfrm>
              <a:off x="4148776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5" name="a₅">
              <a:extLst>
                <a:ext uri="{FF2B5EF4-FFF2-40B4-BE49-F238E27FC236}">
                  <ns2:creationId id="{8AF44089-F4C0-4A63-8D48-DEEF79C8A68D}"/>
                </a:ext>
              </a:extLst>
            </p:cNvPr>
            <p:cNvSpPr>
              <a:spLocks noGrp="1"/>
            </p:cNvSpPr>
            <p:nvPr/>
          </p:nvSpPr>
          <p:spPr>
            <a:xfrm>
              <a:off x="4174582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a₅</a:t>
              </a:r>
            </a:p>
          </p:txBody>
        </p:sp>
        <p:sp>
          <p:nvSpPr>
            <p:cNvPr id="166" name="diagram block">
              <a:extLst>
                <a:ext uri="{FF2B5EF4-FFF2-40B4-BE49-F238E27FC236}">
                  <ns2:creationId id="{64BEA62C-C957-46B6-BDFE-CB1047EC237D}"/>
                </a:ext>
              </a:extLst>
            </p:cNvPr>
            <p:cNvSpPr>
              <a:spLocks noGrp="1"/>
            </p:cNvSpPr>
            <p:nvPr/>
          </p:nvSpPr>
          <p:spPr>
            <a:xfrm>
              <a:off x="4355226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7" name="a₆">
              <a:extLst>
                <a:ext uri="{FF2B5EF4-FFF2-40B4-BE49-F238E27FC236}">
                  <ns2:creationId id="{DE5E07FA-48E9-4754-809B-85EE8182E6E6}"/>
                </a:ext>
              </a:extLst>
            </p:cNvPr>
            <p:cNvSpPr>
              <a:spLocks noGrp="1"/>
            </p:cNvSpPr>
            <p:nvPr/>
          </p:nvSpPr>
          <p:spPr>
            <a:xfrm>
              <a:off x="4381033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a₆</a:t>
              </a:r>
            </a:p>
          </p:txBody>
        </p:sp>
        <p:sp>
          <p:nvSpPr>
            <p:cNvPr id="168" name="diagram block">
              <a:extLst>
                <a:ext uri="{FF2B5EF4-FFF2-40B4-BE49-F238E27FC236}">
                  <ns2:creationId id="{A9FC29DF-3ED5-4A5A-863D-3A737A261058}"/>
                </a:ext>
              </a:extLst>
            </p:cNvPr>
            <p:cNvSpPr>
              <a:spLocks noGrp="1"/>
            </p:cNvSpPr>
            <p:nvPr/>
          </p:nvSpPr>
          <p:spPr>
            <a:xfrm>
              <a:off x="4561677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69" name="a₇">
              <a:extLst>
                <a:ext uri="{FF2B5EF4-FFF2-40B4-BE49-F238E27FC236}">
                  <ns2:creationId id="{7331E442-83B0-457A-A0DE-FC9345805220}"/>
                </a:ext>
              </a:extLst>
            </p:cNvPr>
            <p:cNvSpPr>
              <a:spLocks noGrp="1"/>
            </p:cNvSpPr>
            <p:nvPr/>
          </p:nvSpPr>
          <p:spPr>
            <a:xfrm>
              <a:off x="4587484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a₇</a:t>
              </a:r>
            </a:p>
          </p:txBody>
        </p:sp>
        <p:sp>
          <p:nvSpPr>
            <p:cNvPr id="170" name="diagram block">
              <a:extLst>
                <a:ext uri="{FF2B5EF4-FFF2-40B4-BE49-F238E27FC236}">
                  <ns2:creationId id="{C1963D83-88BF-4330-8697-4FB3169AC69C}"/>
                </a:ext>
              </a:extLst>
            </p:cNvPr>
            <p:cNvSpPr>
              <a:spLocks noGrp="1"/>
            </p:cNvSpPr>
            <p:nvPr/>
          </p:nvSpPr>
          <p:spPr>
            <a:xfrm>
              <a:off x="4768128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71" name="a₈">
              <a:extLst>
                <a:ext uri="{FF2B5EF4-FFF2-40B4-BE49-F238E27FC236}">
                  <ns2:creationId id="{501A658F-E440-479D-8FF4-31B17324B501}"/>
                </a:ext>
              </a:extLst>
            </p:cNvPr>
            <p:cNvSpPr>
              <a:spLocks noGrp="1"/>
            </p:cNvSpPr>
            <p:nvPr/>
          </p:nvSpPr>
          <p:spPr>
            <a:xfrm>
              <a:off x="4793935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a₈</a:t>
              </a:r>
            </a:p>
          </p:txBody>
        </p:sp>
        <p:sp>
          <p:nvSpPr>
            <p:cNvPr id="172" name="diagram block">
              <a:extLst>
                <a:ext uri="{FF2B5EF4-FFF2-40B4-BE49-F238E27FC236}">
                  <ns2:creationId id="{3B0528EA-574F-4B13-9813-867A0EBEED37}"/>
                </a:ext>
              </a:extLst>
            </p:cNvPr>
            <p:cNvSpPr>
              <a:spLocks noGrp="1"/>
            </p:cNvSpPr>
            <p:nvPr/>
          </p:nvSpPr>
          <p:spPr>
            <a:xfrm>
              <a:off x="4974579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73" name="a₉">
              <a:extLst>
                <a:ext uri="{FF2B5EF4-FFF2-40B4-BE49-F238E27FC236}">
                  <ns2:creationId id="{A953F53E-0642-4185-BBEF-AF74600D7EE3}"/>
                </a:ext>
              </a:extLst>
            </p:cNvPr>
            <p:cNvSpPr>
              <a:spLocks noGrp="1"/>
            </p:cNvSpPr>
            <p:nvPr/>
          </p:nvSpPr>
          <p:spPr>
            <a:xfrm>
              <a:off x="5000386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a₉</a:t>
              </a:r>
            </a:p>
          </p:txBody>
        </p:sp>
        <p:sp>
          <p:nvSpPr>
            <p:cNvPr id="174" name="diagram block">
              <a:extLst>
                <a:ext uri="{FF2B5EF4-FFF2-40B4-BE49-F238E27FC236}">
                  <ns2:creationId id="{93A83F1D-E036-4E39-A955-CD56DDE8904D}"/>
                </a:ext>
              </a:extLst>
            </p:cNvPr>
            <p:cNvSpPr>
              <a:spLocks noGrp="1"/>
            </p:cNvSpPr>
            <p:nvPr/>
          </p:nvSpPr>
          <p:spPr>
            <a:xfrm>
              <a:off x="5181030" y="851610"/>
              <a:ext cx="185806" cy="221935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5161">
              <a:solidFill>
                <a:srgbClr val="5FACA0"/>
              </a:solidFill>
              <a:prstDash val="solid"/>
            </a:ln>
          </p:spPr>
        </p:sp>
        <p:sp>
          <p:nvSpPr>
            <p:cNvPr id="175" name="a₁₀">
              <a:extLst>
                <a:ext uri="{FF2B5EF4-FFF2-40B4-BE49-F238E27FC236}">
                  <ns2:creationId id="{DC9EF85E-6427-465E-AF4A-DE00261FF483}"/>
                </a:ext>
              </a:extLst>
            </p:cNvPr>
            <p:cNvSpPr>
              <a:spLocks noGrp="1"/>
            </p:cNvSpPr>
            <p:nvPr/>
          </p:nvSpPr>
          <p:spPr>
            <a:xfrm>
              <a:off x="5206837" y="877417"/>
              <a:ext cx="134193" cy="170322"/>
            </a:xfrm>
            <a:prstGeom prst="rect">
              <a:avLst/>
            </a:prstGeom>
            <a:gradFill>
              <a:gsLst>
                <a:gs pos="0">
                  <a:srgbClr val="D7F2E8"/>
                </a:gs>
                <a:gs pos="100000">
                  <a:srgbClr val="EFFAF5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7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a₁₀</a:t>
              </a:r>
            </a:p>
          </p:txBody>
        </p:sp>
        <p:sp>
          <p:nvSpPr>
            <p:cNvPr id="176" name="Each aₜ ∈ ℝ⁶">
              <a:extLst>
                <a:ext uri="{FF2B5EF4-FFF2-40B4-BE49-F238E27FC236}">
                  <ns2:creationId id="{F81C71FF-1C5E-40E9-83C5-1CD0C51AE866}"/>
                </a:ext>
              </a:extLst>
            </p:cNvPr>
            <p:cNvSpPr>
              <a:spLocks noGrp="1"/>
            </p:cNvSpPr>
            <p:nvPr/>
          </p:nvSpPr>
          <p:spPr>
            <a:xfrm>
              <a:off x="5423610" y="939352"/>
              <a:ext cx="474837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082"/>
            </a:bodyPr>
            <a:lstStyle>
              <a:def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aₜ ∈ ℝ⁶</a:t>
              </a:r>
            </a:p>
          </p:txBody>
        </p:sp>
        <p:cxnSp>
          <p:nvCxnSpPr>
            <p:cNvPr id="177" name="native PowerPoint connector">
              <a:extLst>
                <a:ext uri="{FF2B5EF4-FFF2-40B4-BE49-F238E27FC236}">
                  <ns2:creationId id="{B68AC116-BF74-4E52-BAE5-2558BCAA4FC5}"/>
                </a:ext>
              </a:extLst>
            </p:cNvPr>
            <p:cNvCxnSpPr/>
            <p:nvPr/>
          </p:nvCxnSpPr>
          <p:spPr>
            <a:xfrm flipH="0" flipV="0">
              <a:off x="4515226" y="1109674"/>
              <a:ext cx="0" cy="144516"/>
            </a:xfrm>
            <a:prstGeom prst="straightConnector1">
              <a:avLst/>
            </a:prstGeom>
            <a:ln w="10323">
              <a:solidFill>
                <a:srgbClr val="071B3C"/>
              </a:solidFill>
              <a:prstDash val="solid"/>
              <a:tailEnd type="triangle" w="sm" len="sm"/>
            </a:ln>
          </p:spPr>
        </p:cxnSp>
        <p:sp>
          <p:nvSpPr>
            <p:cNvPr id="178" name="diagram block">
              <a:extLst>
                <a:ext uri="{FF2B5EF4-FFF2-40B4-BE49-F238E27FC236}">
                  <ns2:creationId id="{610705A5-AE16-4F63-9EC6-94388C4133FD}"/>
                </a:ext>
              </a:extLst>
            </p:cNvPr>
            <p:cNvSpPr>
              <a:spLocks noGrp="1"/>
            </p:cNvSpPr>
            <p:nvPr/>
          </p:nvSpPr>
          <p:spPr>
            <a:xfrm>
              <a:off x="3266198" y="1274835"/>
              <a:ext cx="2621927" cy="159999"/>
            </a:xfrm>
            <a:prstGeom prst="roundRect">
              <a:avLst>
                <a:gd name="adj" fmla="val 9677"/>
              </a:avLst>
            </a:prstGeom>
            <a:solidFill>
              <a:srgbClr val="DEEEFF"/>
            </a:solidFill>
            <a:ln w="5161">
              <a:solidFill>
                <a:srgbClr val="BCDFFF"/>
              </a:solidFill>
              <a:prstDash val="solid"/>
            </a:ln>
          </p:spPr>
        </p:sp>
        <p:sp>
          <p:nvSpPr>
            <p:cNvPr id="179" name="Overlapping 3-step ordered windows → 8 tokens (18-D)">
              <a:extLst>
                <a:ext uri="{FF2B5EF4-FFF2-40B4-BE49-F238E27FC236}">
                  <ns2:creationId id="{15D31A65-1FEC-420D-936D-A8E90166DA70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1300641"/>
              <a:ext cx="2570314" cy="108387"/>
            </a:xfrm>
            <a:prstGeom prst="rect">
              <a:avLst/>
            </a:prstGeom>
            <a:solidFill>
              <a:srgbClr val="DE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Overlapping 3-step ordered windows → 8 tokens (18-D)</a:t>
              </a:r>
            </a:p>
          </p:txBody>
        </p:sp>
        <p:sp>
          <p:nvSpPr>
            <p:cNvPr id="180" name="diagram block">
              <a:extLst>
                <a:ext uri="{FF2B5EF4-FFF2-40B4-BE49-F238E27FC236}">
                  <ns2:creationId id="{6F8B8196-45DF-4228-A581-C7FB125D7070}"/>
                </a:ext>
              </a:extLst>
            </p:cNvPr>
            <p:cNvSpPr>
              <a:spLocks noGrp="1"/>
            </p:cNvSpPr>
            <p:nvPr/>
          </p:nvSpPr>
          <p:spPr>
            <a:xfrm>
              <a:off x="3312649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81" name="w₁">
              <a:extLst>
                <a:ext uri="{FF2B5EF4-FFF2-40B4-BE49-F238E27FC236}">
                  <ns2:creationId id="{108F5270-C48F-49FD-B012-E05277975A24}"/>
                </a:ext>
              </a:extLst>
            </p:cNvPr>
            <p:cNvSpPr>
              <a:spLocks noGrp="1"/>
            </p:cNvSpPr>
            <p:nvPr/>
          </p:nvSpPr>
          <p:spPr>
            <a:xfrm>
              <a:off x="3353939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w₁</a:t>
              </a:r>
            </a:p>
          </p:txBody>
        </p:sp>
        <p:sp>
          <p:nvSpPr>
            <p:cNvPr id="182" name="(a₁, a₂, a₃)">
              <a:extLst>
                <a:ext uri="{FF2B5EF4-FFF2-40B4-BE49-F238E27FC236}">
                  <ns2:creationId id="{23393E3B-B97C-4CD6-B561-7C5D173A7EA0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(a₁, a₂, a₃)</a:t>
              </a:r>
            </a:p>
          </p:txBody>
        </p:sp>
        <p:sp>
          <p:nvSpPr>
            <p:cNvPr id="183" name="diagram block">
              <a:extLst>
                <a:ext uri="{FF2B5EF4-FFF2-40B4-BE49-F238E27FC236}">
                  <ns2:creationId id="{8BFB5B2F-FFD2-4A1D-AD69-896E6C84E944}"/>
                </a:ext>
              </a:extLst>
            </p:cNvPr>
            <p:cNvSpPr>
              <a:spLocks noGrp="1"/>
            </p:cNvSpPr>
            <p:nvPr/>
          </p:nvSpPr>
          <p:spPr>
            <a:xfrm>
              <a:off x="3870067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84" name="w₂">
              <a:extLst>
                <a:ext uri="{FF2B5EF4-FFF2-40B4-BE49-F238E27FC236}">
                  <ns2:creationId id="{6453F061-8B3D-4099-AE3A-613AA98821EB}"/>
                </a:ext>
              </a:extLst>
            </p:cNvPr>
            <p:cNvSpPr>
              <a:spLocks noGrp="1"/>
            </p:cNvSpPr>
            <p:nvPr/>
          </p:nvSpPr>
          <p:spPr>
            <a:xfrm>
              <a:off x="3911357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w₂</a:t>
              </a:r>
            </a:p>
          </p:txBody>
        </p:sp>
        <p:sp>
          <p:nvSpPr>
            <p:cNvPr id="185" name="(a₂, a₃, a₄)">
              <a:extLst>
                <a:ext uri="{FF2B5EF4-FFF2-40B4-BE49-F238E27FC236}">
                  <ns2:creationId id="{436194C9-5524-4843-BD54-D75D70653D60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(a₂, a₃, a₄)</a:t>
              </a:r>
            </a:p>
          </p:txBody>
        </p:sp>
        <p:sp>
          <p:nvSpPr>
            <p:cNvPr id="186" name="diagram block">
              <a:extLst>
                <a:ext uri="{FF2B5EF4-FFF2-40B4-BE49-F238E27FC236}">
                  <ns2:creationId id="{E8B8E3AD-FE7F-4B67-92E2-89EFC86DA4B3}"/>
                </a:ext>
              </a:extLst>
            </p:cNvPr>
            <p:cNvSpPr>
              <a:spLocks noGrp="1"/>
            </p:cNvSpPr>
            <p:nvPr/>
          </p:nvSpPr>
          <p:spPr>
            <a:xfrm>
              <a:off x="4427484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87" name="w₃">
              <a:extLst>
                <a:ext uri="{FF2B5EF4-FFF2-40B4-BE49-F238E27FC236}">
                  <ns2:creationId id="{0AD6CF3A-6B98-4866-B93D-309A46C14E16}"/>
                </a:ext>
              </a:extLst>
            </p:cNvPr>
            <p:cNvSpPr>
              <a:spLocks noGrp="1"/>
            </p:cNvSpPr>
            <p:nvPr/>
          </p:nvSpPr>
          <p:spPr>
            <a:xfrm>
              <a:off x="4468775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w₃</a:t>
              </a:r>
            </a:p>
          </p:txBody>
        </p:sp>
        <p:sp>
          <p:nvSpPr>
            <p:cNvPr id="188" name="(a₃, a₄, a₅)">
              <a:extLst>
                <a:ext uri="{FF2B5EF4-FFF2-40B4-BE49-F238E27FC236}">
                  <ns2:creationId id="{FC33B044-2C8E-4747-9DA5-772FB2A98414}"/>
                </a:ext>
              </a:extLst>
            </p:cNvPr>
            <p:cNvSpPr>
              <a:spLocks noGrp="1"/>
            </p:cNvSpPr>
            <p:nvPr/>
          </p:nvSpPr>
          <p:spPr>
            <a:xfrm>
              <a:off x="4437807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(a₃, a₄, a₅)</a:t>
              </a:r>
            </a:p>
          </p:txBody>
        </p:sp>
        <p:sp>
          <p:nvSpPr>
            <p:cNvPr id="189" name="diagram block">
              <a:extLst>
                <a:ext uri="{FF2B5EF4-FFF2-40B4-BE49-F238E27FC236}">
                  <ns2:creationId id="{1EACB69E-1F6E-42C1-A923-7542BC44757A}"/>
                </a:ext>
              </a:extLst>
            </p:cNvPr>
            <p:cNvSpPr>
              <a:spLocks noGrp="1"/>
            </p:cNvSpPr>
            <p:nvPr/>
          </p:nvSpPr>
          <p:spPr>
            <a:xfrm>
              <a:off x="5320385" y="1496769"/>
              <a:ext cx="526450" cy="283870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4488C8"/>
              </a:solidFill>
              <a:prstDash val="solid"/>
            </a:ln>
          </p:spPr>
        </p:sp>
        <p:sp>
          <p:nvSpPr>
            <p:cNvPr id="190" name="w₈">
              <a:extLst>
                <a:ext uri="{FF2B5EF4-FFF2-40B4-BE49-F238E27FC236}">
                  <ns2:creationId id="{2AAFDA7B-1F14-4279-80E4-E2822C598D38}"/>
                </a:ext>
              </a:extLst>
            </p:cNvPr>
            <p:cNvSpPr>
              <a:spLocks noGrp="1"/>
            </p:cNvSpPr>
            <p:nvPr/>
          </p:nvSpPr>
          <p:spPr>
            <a:xfrm>
              <a:off x="5361675" y="1538060"/>
              <a:ext cx="438708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1317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w₈</a:t>
              </a:r>
            </a:p>
          </p:txBody>
        </p:sp>
        <p:sp>
          <p:nvSpPr>
            <p:cNvPr id="191" name="(a₈, a₉, a₁₀)">
              <a:extLst>
                <a:ext uri="{FF2B5EF4-FFF2-40B4-BE49-F238E27FC236}">
                  <ns2:creationId id="{1484B021-0810-4CDD-B8BE-79A4E2A8519E}"/>
                </a:ext>
              </a:extLst>
            </p:cNvPr>
            <p:cNvSpPr>
              <a:spLocks noGrp="1"/>
            </p:cNvSpPr>
            <p:nvPr/>
          </p:nvSpPr>
          <p:spPr>
            <a:xfrm>
              <a:off x="5330707" y="1667091"/>
              <a:ext cx="505805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59"/>
            </a:bodyPr>
            <a:lstStyle>
              <a:def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(a₈, a₉, a₁₀)</a:t>
              </a:r>
            </a:p>
          </p:txBody>
        </p:sp>
        <p:sp>
          <p:nvSpPr>
            <p:cNvPr id="192" name="…">
              <a:extLst>
                <a:ext uri="{FF2B5EF4-FFF2-40B4-BE49-F238E27FC236}">
                  <ns2:creationId id="{27CC6419-FF1F-4D9D-BFC7-33731737B824}"/>
                </a:ext>
              </a:extLst>
            </p:cNvPr>
            <p:cNvSpPr>
              <a:spLocks noGrp="1"/>
            </p:cNvSpPr>
            <p:nvPr/>
          </p:nvSpPr>
          <p:spPr>
            <a:xfrm>
              <a:off x="5026192" y="1548382"/>
              <a:ext cx="216774" cy="15483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79"/>
            </a:bodyPr>
            <a:lstStyle>
              <a:def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75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93" name="Each token uᵢ ∈ ℝ¹⁸ (concatenate 3 actions)">
              <a:extLst>
                <a:ext uri="{FF2B5EF4-FFF2-40B4-BE49-F238E27FC236}">
                  <ns2:creationId id="{1BA083F5-C54D-4FCC-A6B8-773DB155EC52}"/>
                </a:ext>
              </a:extLst>
            </p:cNvPr>
            <p:cNvSpPr>
              <a:spLocks noGrp="1"/>
            </p:cNvSpPr>
            <p:nvPr/>
          </p:nvSpPr>
          <p:spPr>
            <a:xfrm>
              <a:off x="3390068" y="1863220"/>
              <a:ext cx="2425799" cy="1341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token uᵢ ∈ ℝ¹⁸ (concatenate 3 actions)</a:t>
              </a:r>
            </a:p>
          </p:txBody>
        </p:sp>
        <p:sp>
          <p:nvSpPr>
            <p:cNvPr id="194" name="diagram block">
              <a:extLst>
                <a:ext uri="{FF2B5EF4-FFF2-40B4-BE49-F238E27FC236}">
                  <ns2:creationId id="{D7F05093-FC7C-434C-9F4E-9CB88CDFB4A3}"/>
                </a:ext>
              </a:extLst>
            </p:cNvPr>
            <p:cNvSpPr>
              <a:spLocks noGrp="1"/>
            </p:cNvSpPr>
            <p:nvPr/>
          </p:nvSpPr>
          <p:spPr>
            <a:xfrm>
              <a:off x="3266198" y="2038703"/>
              <a:ext cx="1383221" cy="159999"/>
            </a:xfrm>
            <a:prstGeom prst="roundRect">
              <a:avLst>
                <a:gd name="adj" fmla="val 9677"/>
              </a:avLst>
            </a:prstGeom>
            <a:solidFill>
              <a:srgbClr val="DFEEFF"/>
            </a:solidFill>
            <a:ln w="5161">
              <a:solidFill>
                <a:srgbClr val="C0DFFF"/>
              </a:solidFill>
              <a:prstDash val="solid"/>
            </a:ln>
          </p:spPr>
        </p:sp>
        <p:sp>
          <p:nvSpPr>
            <p:cNvPr id="195" name="Relation matrix (8 tokens)">
              <a:extLst>
                <a:ext uri="{FF2B5EF4-FFF2-40B4-BE49-F238E27FC236}">
                  <ns2:creationId id="{1580289B-2441-415E-98E2-1F13480572BC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2064510"/>
              <a:ext cx="1331609" cy="108387"/>
            </a:xfrm>
            <a:prstGeom prst="rect">
              <a:avLst/>
            </a:prstGeom>
            <a:solidFill>
              <a:srgbClr val="DF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Relation matrix (8 tokens)</a:t>
              </a:r>
            </a:p>
          </p:txBody>
        </p:sp>
        <p:sp>
          <p:nvSpPr>
            <p:cNvPr id="196" name="diagram block">
              <a:extLst>
                <a:ext uri="{FF2B5EF4-FFF2-40B4-BE49-F238E27FC236}">
                  <ns2:creationId id="{AB9D6FDD-66B8-4DB2-82BD-A3DBDAD01F14}"/>
                </a:ext>
              </a:extLst>
            </p:cNvPr>
            <p:cNvSpPr>
              <a:spLocks noGrp="1"/>
            </p:cNvSpPr>
            <p:nvPr/>
          </p:nvSpPr>
          <p:spPr>
            <a:xfrm>
              <a:off x="4721677" y="2038703"/>
              <a:ext cx="1176770" cy="159999"/>
            </a:xfrm>
            <a:prstGeom prst="roundRect">
              <a:avLst>
                <a:gd name="adj" fmla="val 9677"/>
              </a:avLst>
            </a:prstGeom>
            <a:solidFill>
              <a:srgbClr val="DFEEFF"/>
            </a:solidFill>
            <a:ln w="5161">
              <a:solidFill>
                <a:srgbClr val="C0DFFF"/>
              </a:solidFill>
              <a:prstDash val="solid"/>
            </a:ln>
          </p:spPr>
        </p:sp>
        <p:sp>
          <p:nvSpPr>
            <p:cNvPr id="197" name="Neighbor probabilities">
              <a:extLst>
                <a:ext uri="{FF2B5EF4-FFF2-40B4-BE49-F238E27FC236}">
                  <ns2:creationId id="{60B4BA74-F2D2-4393-9B45-E2262B5A5F25}"/>
                </a:ext>
              </a:extLst>
            </p:cNvPr>
            <p:cNvSpPr>
              <a:spLocks noGrp="1"/>
            </p:cNvSpPr>
            <p:nvPr/>
          </p:nvSpPr>
          <p:spPr>
            <a:xfrm>
              <a:off x="4747483" y="2064510"/>
              <a:ext cx="1125158" cy="108387"/>
            </a:xfrm>
            <a:prstGeom prst="rect">
              <a:avLst/>
            </a:prstGeom>
            <a:solidFill>
              <a:srgbClr val="DFEEFF"/>
            </a:solidFill>
            <a:ln w="0">
              <a:noFill/>
            </a:ln>
          </p:spPr>
          <p:txBody>
            <a:bodyPr wrap="none" lIns="0" tIns="0" rIns="0" bIns="0" anchor="ctr">
              <a:normAutofit fontScale="87479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Neighbor probabilities</a:t>
              </a:r>
            </a:p>
          </p:txBody>
        </p:sp>
        <p:sp>
          <p:nvSpPr>
            <p:cNvPr id="198" name="1">
              <a:extLst>
                <a:ext uri="{FF2B5EF4-FFF2-40B4-BE49-F238E27FC236}">
                  <ns2:creationId id="{DD5588F9-AF4D-46A8-99F3-B3AE8838C8CB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199" name="1">
              <a:extLst>
                <a:ext uri="{FF2B5EF4-FFF2-40B4-BE49-F238E27FC236}">
                  <ns2:creationId id="{671A06C7-24F1-420E-B9F3-C457A8BA0EAB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348380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200" name="diagram block">
              <a:extLst>
                <a:ext uri="{FF2B5EF4-FFF2-40B4-BE49-F238E27FC236}">
                  <ns2:creationId id="{02865B73-A088-4D2A-8F30-93D8FE984002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343218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1" name="×">
              <a:extLst>
                <a:ext uri="{FF2B5EF4-FFF2-40B4-BE49-F238E27FC236}">
                  <ns2:creationId id="{4F236BCB-8A71-43A3-BC44-88183DD1C52D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338057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02" name="diagram block">
              <a:extLst>
                <a:ext uri="{FF2B5EF4-FFF2-40B4-BE49-F238E27FC236}">
                  <ns2:creationId id="{220378EF-BB82-4450-8F70-AF7C84B2BAD5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343218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3" name="diagram block">
              <a:extLst>
                <a:ext uri="{FF2B5EF4-FFF2-40B4-BE49-F238E27FC236}">
                  <ns2:creationId id="{8213E792-7748-4F59-A93D-35C040C5F169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343218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4" name="diagram block">
              <a:extLst>
                <a:ext uri="{FF2B5EF4-FFF2-40B4-BE49-F238E27FC236}">
                  <ns2:creationId id="{26961993-C013-4299-9E7D-50B8C6DCC227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343218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5" name="diagram block">
              <a:extLst>
                <a:ext uri="{FF2B5EF4-FFF2-40B4-BE49-F238E27FC236}">
                  <ns2:creationId id="{44394718-5A27-4AAC-933C-4CE604A29860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343218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6" name="diagram block">
              <a:extLst>
                <a:ext uri="{FF2B5EF4-FFF2-40B4-BE49-F238E27FC236}">
                  <ns2:creationId id="{B57414B3-DD94-429A-8759-CBC2CEF54C4B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343218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7" name="diagram block">
              <a:extLst>
                <a:ext uri="{FF2B5EF4-FFF2-40B4-BE49-F238E27FC236}">
                  <ns2:creationId id="{634186AA-56B3-43CD-A53E-212C5705EA29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343218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8" name="diagram block">
              <a:extLst>
                <a:ext uri="{FF2B5EF4-FFF2-40B4-BE49-F238E27FC236}">
                  <ns2:creationId id="{430F9BE2-EECC-497D-B2ED-1169424AA48E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343218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09" name="2">
              <a:extLst>
                <a:ext uri="{FF2B5EF4-FFF2-40B4-BE49-F238E27FC236}">
                  <ns2:creationId id="{64C8FC93-0D5A-4290-B2B3-A8BE6F7A8F9C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210" name="2">
              <a:extLst>
                <a:ext uri="{FF2B5EF4-FFF2-40B4-BE49-F238E27FC236}">
                  <ns2:creationId id="{24B29667-F706-4F7A-B68E-BA22C0BF2A60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454186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211" name="diagram block">
              <a:extLst>
                <a:ext uri="{FF2B5EF4-FFF2-40B4-BE49-F238E27FC236}">
                  <ns2:creationId id="{905B6CF6-12C9-4FEF-ACB3-E74B034C5EAE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449024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2" name="diagram block">
              <a:extLst>
                <a:ext uri="{FF2B5EF4-FFF2-40B4-BE49-F238E27FC236}">
                  <ns2:creationId id="{BCC40538-30F1-44FA-9A5C-E49B23F6249A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449024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3" name="×">
              <a:extLst>
                <a:ext uri="{FF2B5EF4-FFF2-40B4-BE49-F238E27FC236}">
                  <ns2:creationId id="{7D545C61-1FAF-4B64-A301-D2F1F28888B3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443863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14" name="diagram block">
              <a:extLst>
                <a:ext uri="{FF2B5EF4-FFF2-40B4-BE49-F238E27FC236}">
                  <ns2:creationId id="{C2E9E311-D325-4C5D-A612-5CCD55BFFCE0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449024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5" name="diagram block">
              <a:extLst>
                <a:ext uri="{FF2B5EF4-FFF2-40B4-BE49-F238E27FC236}">
                  <ns2:creationId id="{43477838-773A-49CC-BA78-57F45A41C427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449024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6" name="diagram block">
              <a:extLst>
                <a:ext uri="{FF2B5EF4-FFF2-40B4-BE49-F238E27FC236}">
                  <ns2:creationId id="{0A74BD74-FCC4-47EE-9A5E-7B175A4A6B0B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449024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7" name="diagram block">
              <a:extLst>
                <a:ext uri="{FF2B5EF4-FFF2-40B4-BE49-F238E27FC236}">
                  <ns2:creationId id="{7016C955-ECE3-4D56-956B-EC639329A33A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449024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8" name="diagram block">
              <a:extLst>
                <a:ext uri="{FF2B5EF4-FFF2-40B4-BE49-F238E27FC236}">
                  <ns2:creationId id="{215D400C-9445-40EB-8CF7-D27FF5FE2247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449024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19" name="diagram block">
              <a:extLst>
                <a:ext uri="{FF2B5EF4-FFF2-40B4-BE49-F238E27FC236}">
                  <ns2:creationId id="{1C5ACF90-DFD5-4583-800B-4113C5E358A7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449024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0" name="3">
              <a:extLst>
                <a:ext uri="{FF2B5EF4-FFF2-40B4-BE49-F238E27FC236}">
                  <ns2:creationId id="{15F0A2DA-CFE8-4D3A-BA77-DF66E5CF0E67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221" name="3">
              <a:extLst>
                <a:ext uri="{FF2B5EF4-FFF2-40B4-BE49-F238E27FC236}">
                  <ns2:creationId id="{936BC870-AF4C-419F-B229-F9ABE8476EAB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559992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222" name="diagram block">
              <a:extLst>
                <a:ext uri="{FF2B5EF4-FFF2-40B4-BE49-F238E27FC236}">
                  <ns2:creationId id="{523BB5F5-F1B2-411E-94A5-F362DCD76C7A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554831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3" name="diagram block">
              <a:extLst>
                <a:ext uri="{FF2B5EF4-FFF2-40B4-BE49-F238E27FC236}">
                  <ns2:creationId id="{135845B3-BD0E-4994-8F92-91CC8BD72786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554831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4" name="diagram block">
              <a:extLst>
                <a:ext uri="{FF2B5EF4-FFF2-40B4-BE49-F238E27FC236}">
                  <ns2:creationId id="{BB514498-BA31-4BB4-B1CE-EFF4C8FA38E4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554831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5" name="×">
              <a:extLst>
                <a:ext uri="{FF2B5EF4-FFF2-40B4-BE49-F238E27FC236}">
                  <ns2:creationId id="{CB9AC806-78CE-4D3C-9A9B-E55408B08B48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549669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26" name="diagram block">
              <a:extLst>
                <a:ext uri="{FF2B5EF4-FFF2-40B4-BE49-F238E27FC236}">
                  <ns2:creationId id="{A194518C-99F2-4B4E-A526-DC33DC0B5D0C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554831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7" name="diagram block">
              <a:extLst>
                <a:ext uri="{FF2B5EF4-FFF2-40B4-BE49-F238E27FC236}">
                  <ns2:creationId id="{025CBEA4-230C-4D00-9012-ADFC379DD5E2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554831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8" name="diagram block">
              <a:extLst>
                <a:ext uri="{FF2B5EF4-FFF2-40B4-BE49-F238E27FC236}">
                  <ns2:creationId id="{A3166C2D-5E7D-429C-A586-04ECDDB61A7A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554831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29" name="diagram block">
              <a:extLst>
                <a:ext uri="{FF2B5EF4-FFF2-40B4-BE49-F238E27FC236}">
                  <ns2:creationId id="{A42487A8-5105-47C0-AD74-506F1ADB8D65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554831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0" name="diagram block">
              <a:extLst>
                <a:ext uri="{FF2B5EF4-FFF2-40B4-BE49-F238E27FC236}">
                  <ns2:creationId id="{A71F386E-3C16-41F8-82D5-98F2A2D00223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554831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1" name="4">
              <a:extLst>
                <a:ext uri="{FF2B5EF4-FFF2-40B4-BE49-F238E27FC236}">
                  <ns2:creationId id="{B05A34EE-C4BC-4E4C-9D4E-69C7BFE59D98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32" name="4">
              <a:extLst>
                <a:ext uri="{FF2B5EF4-FFF2-40B4-BE49-F238E27FC236}">
                  <ns2:creationId id="{4AECC0C4-7F5A-4DA2-80F8-ED7A4F2513ED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665798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233" name="diagram block">
              <a:extLst>
                <a:ext uri="{FF2B5EF4-FFF2-40B4-BE49-F238E27FC236}">
                  <ns2:creationId id="{25062C1F-E8EF-4251-BFD7-382D185BD947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660637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4" name="diagram block">
              <a:extLst>
                <a:ext uri="{FF2B5EF4-FFF2-40B4-BE49-F238E27FC236}">
                  <ns2:creationId id="{720D3A5F-2F4F-432B-9F7E-9EC07E4DAEA0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660637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5" name="diagram block">
              <a:extLst>
                <a:ext uri="{FF2B5EF4-FFF2-40B4-BE49-F238E27FC236}">
                  <ns2:creationId id="{D00528C1-C53C-4A3F-B4CD-BF2C18517DAE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660637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6" name="diagram block">
              <a:extLst>
                <a:ext uri="{FF2B5EF4-FFF2-40B4-BE49-F238E27FC236}">
                  <ns2:creationId id="{D8E365CD-C395-4093-84E1-084748B8ED44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660637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7" name="×">
              <a:extLst>
                <a:ext uri="{FF2B5EF4-FFF2-40B4-BE49-F238E27FC236}">
                  <ns2:creationId id="{30EC70F1-60D9-4345-ADCE-EE84E0CE9C9E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655475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38" name="diagram block">
              <a:extLst>
                <a:ext uri="{FF2B5EF4-FFF2-40B4-BE49-F238E27FC236}">
                  <ns2:creationId id="{14BD0C37-8FE0-4EE6-9028-E05B1BE12469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660637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39" name="diagram block">
              <a:extLst>
                <a:ext uri="{FF2B5EF4-FFF2-40B4-BE49-F238E27FC236}">
                  <ns2:creationId id="{5033BF28-5B6B-488E-A9D4-605A1112161A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660637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0" name="diagram block">
              <a:extLst>
                <a:ext uri="{FF2B5EF4-FFF2-40B4-BE49-F238E27FC236}">
                  <ns2:creationId id="{1930CAFA-AFA1-4EB3-AA53-3A77D35735AA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660637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1" name="diagram block">
              <a:extLst>
                <a:ext uri="{FF2B5EF4-FFF2-40B4-BE49-F238E27FC236}">
                  <ns2:creationId id="{558B8169-6C68-4EF4-A1C0-1A65EC743837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660637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2" name="5">
              <a:extLst>
                <a:ext uri="{FF2B5EF4-FFF2-40B4-BE49-F238E27FC236}">
                  <ns2:creationId id="{C6BEA7A1-712F-49DB-9FB7-6893D71D5653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243" name="5">
              <a:extLst>
                <a:ext uri="{FF2B5EF4-FFF2-40B4-BE49-F238E27FC236}">
                  <ns2:creationId id="{9AFAB453-C30C-4A0D-BB94-52CA8D1B1ACA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771604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</a:p>
          </p:txBody>
        </p:sp>
        <p:sp>
          <p:nvSpPr>
            <p:cNvPr id="244" name="diagram block">
              <a:extLst>
                <a:ext uri="{FF2B5EF4-FFF2-40B4-BE49-F238E27FC236}">
                  <ns2:creationId id="{6B5A2D4F-1420-45EA-9E50-5384F0322248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766443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5" name="diagram block">
              <a:extLst>
                <a:ext uri="{FF2B5EF4-FFF2-40B4-BE49-F238E27FC236}">
                  <ns2:creationId id="{0C34062C-6CAE-44E4-A525-9E645E9920D8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766443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6" name="diagram block">
              <a:extLst>
                <a:ext uri="{FF2B5EF4-FFF2-40B4-BE49-F238E27FC236}">
                  <ns2:creationId id="{E106C458-A9CB-4B32-AA6E-9865D3160D98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766443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7" name="diagram block">
              <a:extLst>
                <a:ext uri="{FF2B5EF4-FFF2-40B4-BE49-F238E27FC236}">
                  <ns2:creationId id="{B8493D5E-E766-4B7F-8234-F3A6CF76AC4F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766443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8" name="diagram block">
              <a:extLst>
                <a:ext uri="{FF2B5EF4-FFF2-40B4-BE49-F238E27FC236}">
                  <ns2:creationId id="{E5D0D5E4-4AA6-4FA4-A6E3-626371653583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766443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49" name="×">
              <a:extLst>
                <a:ext uri="{FF2B5EF4-FFF2-40B4-BE49-F238E27FC236}">
                  <ns2:creationId id="{EA264AC5-5C63-4F0A-A298-60B0886CDC35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761282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50" name="diagram block">
              <a:extLst>
                <a:ext uri="{FF2B5EF4-FFF2-40B4-BE49-F238E27FC236}">
                  <ns2:creationId id="{B0C51F45-8F30-482E-A1B5-3631BAD2B844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766443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1" name="diagram block">
              <a:extLst>
                <a:ext uri="{FF2B5EF4-FFF2-40B4-BE49-F238E27FC236}">
                  <ns2:creationId id="{60ADCD61-994E-4C1F-A211-1ECC149F5D72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766443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2" name="diagram block">
              <a:extLst>
                <a:ext uri="{FF2B5EF4-FFF2-40B4-BE49-F238E27FC236}">
                  <ns2:creationId id="{8C97363B-CFC7-44A2-92E1-FA71672A0521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766443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3" name="6">
              <a:extLst>
                <a:ext uri="{FF2B5EF4-FFF2-40B4-BE49-F238E27FC236}">
                  <ns2:creationId id="{C75F220A-B681-49B1-BEE6-8B570BF19F1A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254" name="6">
              <a:extLst>
                <a:ext uri="{FF2B5EF4-FFF2-40B4-BE49-F238E27FC236}">
                  <ns2:creationId id="{E1316EE5-4918-400A-8437-D8DA24C6BA80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877410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</a:p>
          </p:txBody>
        </p:sp>
        <p:sp>
          <p:nvSpPr>
            <p:cNvPr id="255" name="diagram block">
              <a:extLst>
                <a:ext uri="{FF2B5EF4-FFF2-40B4-BE49-F238E27FC236}">
                  <ns2:creationId id="{26A2EDCE-1870-4879-A2D6-9AF0DA63C3C6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872249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6" name="diagram block">
              <a:extLst>
                <a:ext uri="{FF2B5EF4-FFF2-40B4-BE49-F238E27FC236}">
                  <ns2:creationId id="{8A874AED-505E-4697-956E-EB9B94D581E7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872249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7" name="diagram block">
              <a:extLst>
                <a:ext uri="{FF2B5EF4-FFF2-40B4-BE49-F238E27FC236}">
                  <ns2:creationId id="{26EE4A13-945C-4277-8BB2-B2F382A27F86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872249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8" name="diagram block">
              <a:extLst>
                <a:ext uri="{FF2B5EF4-FFF2-40B4-BE49-F238E27FC236}">
                  <ns2:creationId id="{FE299D08-C271-49D9-BACF-BBBD393EB7DB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872249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59" name="diagram block">
              <a:extLst>
                <a:ext uri="{FF2B5EF4-FFF2-40B4-BE49-F238E27FC236}">
                  <ns2:creationId id="{DB53E72E-75FB-4D84-B32A-A8F404C47DA4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872249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0" name="diagram block">
              <a:extLst>
                <a:ext uri="{FF2B5EF4-FFF2-40B4-BE49-F238E27FC236}">
                  <ns2:creationId id="{755730D4-6F35-4094-9B86-71CD4E9D9E2F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872249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1" name="×">
              <a:extLst>
                <a:ext uri="{FF2B5EF4-FFF2-40B4-BE49-F238E27FC236}">
                  <ns2:creationId id="{AF1EFC26-E2CE-4B93-AE7A-EDBE0732585F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867088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62" name="diagram block">
              <a:extLst>
                <a:ext uri="{FF2B5EF4-FFF2-40B4-BE49-F238E27FC236}">
                  <ns2:creationId id="{9B4997E7-C188-4D10-BEF5-40C1143B1082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872249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3" name="diagram block">
              <a:extLst>
                <a:ext uri="{FF2B5EF4-FFF2-40B4-BE49-F238E27FC236}">
                  <ns2:creationId id="{2071F937-7146-4BFD-B7E8-990718CAD32D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872249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4" name="7">
              <a:extLst>
                <a:ext uri="{FF2B5EF4-FFF2-40B4-BE49-F238E27FC236}">
                  <ns2:creationId id="{7647099E-99AE-45BF-88E0-3332AE0A34D7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sp>
          <p:nvSpPr>
            <p:cNvPr id="265" name="7">
              <a:extLst>
                <a:ext uri="{FF2B5EF4-FFF2-40B4-BE49-F238E27FC236}">
                  <ns2:creationId id="{29727305-F189-4926-8EDE-A69407CC2E0C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2983216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</a:p>
          </p:txBody>
        </p:sp>
        <p:sp>
          <p:nvSpPr>
            <p:cNvPr id="266" name="diagram block">
              <a:extLst>
                <a:ext uri="{FF2B5EF4-FFF2-40B4-BE49-F238E27FC236}">
                  <ns2:creationId id="{41AC3660-F5EC-437B-A887-E425063A83EF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2978055"/>
              <a:ext cx="108387" cy="105806"/>
            </a:xfrm>
            <a:prstGeom prst="rect">
              <a:avLst/>
            </a:prstGeom>
            <a:solidFill>
              <a:srgbClr val="2D6FA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7" name="diagram block">
              <a:extLst>
                <a:ext uri="{FF2B5EF4-FFF2-40B4-BE49-F238E27FC236}">
                  <ns2:creationId id="{8D85C005-4887-4674-8101-4AC19CEE3B36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2978055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8" name="diagram block">
              <a:extLst>
                <a:ext uri="{FF2B5EF4-FFF2-40B4-BE49-F238E27FC236}">
                  <ns2:creationId id="{AD99848F-6839-4523-9AED-92DD16190C41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2978055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69" name="diagram block">
              <a:extLst>
                <a:ext uri="{FF2B5EF4-FFF2-40B4-BE49-F238E27FC236}">
                  <ns2:creationId id="{D31986F3-37A1-446C-9C37-67758A02D55A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2978055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0" name="diagram block">
              <a:extLst>
                <a:ext uri="{FF2B5EF4-FFF2-40B4-BE49-F238E27FC236}">
                  <ns2:creationId id="{5D4F9FB7-D319-4349-8215-9E87070FD118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2978055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1" name="diagram block">
              <a:extLst>
                <a:ext uri="{FF2B5EF4-FFF2-40B4-BE49-F238E27FC236}">
                  <ns2:creationId id="{9F44678A-E451-4726-B868-319A7D7B9D5D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2978055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2" name="diagram block">
              <a:extLst>
                <a:ext uri="{FF2B5EF4-FFF2-40B4-BE49-F238E27FC236}">
                  <ns2:creationId id="{5A8AE7E2-67C6-45AE-BD9D-53D79225D685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978055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3" name="×">
              <a:extLst>
                <a:ext uri="{FF2B5EF4-FFF2-40B4-BE49-F238E27FC236}">
                  <ns2:creationId id="{EE44BF63-2F7B-4759-9BE1-C4070FB2E9E7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2972894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74" name="diagram block">
              <a:extLst>
                <a:ext uri="{FF2B5EF4-FFF2-40B4-BE49-F238E27FC236}">
                  <ns2:creationId id="{597D8FFC-A1CA-406C-8866-1083D92336A5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978055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5" name="8">
              <a:extLst>
                <a:ext uri="{FF2B5EF4-FFF2-40B4-BE49-F238E27FC236}">
                  <ns2:creationId id="{7CBFC231-B851-4592-BDA4-D6BE898F5F0D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2219348"/>
              <a:ext cx="108387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276" name="8">
              <a:extLst>
                <a:ext uri="{FF2B5EF4-FFF2-40B4-BE49-F238E27FC236}">
                  <ns2:creationId id="{5AAEE8AF-FD97-4289-963B-E736964A855A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089022"/>
              <a:ext cx="113548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22"/>
            </a:bodyPr>
            <a:lstStyle>
              <a:def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31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</a:t>
              </a:r>
            </a:p>
          </p:txBody>
        </p:sp>
        <p:sp>
          <p:nvSpPr>
            <p:cNvPr id="277" name="diagram block">
              <a:extLst>
                <a:ext uri="{FF2B5EF4-FFF2-40B4-BE49-F238E27FC236}">
                  <ns2:creationId id="{14CF1D6C-F203-4C61-8C01-3DCBF2B9C4D2}"/>
                </a:ext>
              </a:extLst>
            </p:cNvPr>
            <p:cNvSpPr>
              <a:spLocks noGrp="1"/>
            </p:cNvSpPr>
            <p:nvPr/>
          </p:nvSpPr>
          <p:spPr>
            <a:xfrm>
              <a:off x="3446842" y="3083861"/>
              <a:ext cx="108387" cy="105806"/>
            </a:xfrm>
            <a:prstGeom prst="rect">
              <a:avLst/>
            </a:prstGeom>
            <a:solidFill>
              <a:srgbClr val="1F5F9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8" name="diagram block">
              <a:extLst>
                <a:ext uri="{FF2B5EF4-FFF2-40B4-BE49-F238E27FC236}">
                  <ns2:creationId id="{890CC493-099B-45AE-9AEC-FF81D6E5B41B}"/>
                </a:ext>
              </a:extLst>
            </p:cNvPr>
            <p:cNvSpPr>
              <a:spLocks noGrp="1"/>
            </p:cNvSpPr>
            <p:nvPr/>
          </p:nvSpPr>
          <p:spPr>
            <a:xfrm>
              <a:off x="3555229" y="3083861"/>
              <a:ext cx="108387" cy="105806"/>
            </a:xfrm>
            <a:prstGeom prst="rect">
              <a:avLst/>
            </a:prstGeom>
            <a:solidFill>
              <a:srgbClr val="346CA8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79" name="diagram block">
              <a:extLst>
                <a:ext uri="{FF2B5EF4-FFF2-40B4-BE49-F238E27FC236}">
                  <ns2:creationId id="{5B853A71-6E3C-4ABA-9134-8397DE82B747}"/>
                </a:ext>
              </a:extLst>
            </p:cNvPr>
            <p:cNvSpPr>
              <a:spLocks noGrp="1"/>
            </p:cNvSpPr>
            <p:nvPr/>
          </p:nvSpPr>
          <p:spPr>
            <a:xfrm>
              <a:off x="3663616" y="3083861"/>
              <a:ext cx="108387" cy="105806"/>
            </a:xfrm>
            <a:prstGeom prst="rect">
              <a:avLst/>
            </a:prstGeom>
            <a:solidFill>
              <a:srgbClr val="467FB9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0" name="diagram block">
              <a:extLst>
                <a:ext uri="{FF2B5EF4-FFF2-40B4-BE49-F238E27FC236}">
                  <ns2:creationId id="{B3EAF11A-5D5F-499D-89B8-F1089E0182E2}"/>
                </a:ext>
              </a:extLst>
            </p:cNvPr>
            <p:cNvSpPr>
              <a:spLocks noGrp="1"/>
            </p:cNvSpPr>
            <p:nvPr/>
          </p:nvSpPr>
          <p:spPr>
            <a:xfrm>
              <a:off x="3772003" y="3083861"/>
              <a:ext cx="108387" cy="105806"/>
            </a:xfrm>
            <a:prstGeom prst="rect">
              <a:avLst/>
            </a:prstGeom>
            <a:solidFill>
              <a:srgbClr val="5D93C7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1" name="diagram block">
              <a:extLst>
                <a:ext uri="{FF2B5EF4-FFF2-40B4-BE49-F238E27FC236}">
                  <ns2:creationId id="{44080FF6-7C09-4267-9620-B1FADB3CE8E3}"/>
                </a:ext>
              </a:extLst>
            </p:cNvPr>
            <p:cNvSpPr>
              <a:spLocks noGrp="1"/>
            </p:cNvSpPr>
            <p:nvPr/>
          </p:nvSpPr>
          <p:spPr>
            <a:xfrm>
              <a:off x="3880389" y="3083861"/>
              <a:ext cx="108387" cy="105806"/>
            </a:xfrm>
            <a:prstGeom prst="rect">
              <a:avLst/>
            </a:prstGeom>
            <a:solidFill>
              <a:srgbClr val="7DADDA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2" name="diagram block">
              <a:extLst>
                <a:ext uri="{FF2B5EF4-FFF2-40B4-BE49-F238E27FC236}">
                  <ns2:creationId id="{09E4674C-C0D7-4604-9B4E-CE0864300811}"/>
                </a:ext>
              </a:extLst>
            </p:cNvPr>
            <p:cNvSpPr>
              <a:spLocks noGrp="1"/>
            </p:cNvSpPr>
            <p:nvPr/>
          </p:nvSpPr>
          <p:spPr>
            <a:xfrm>
              <a:off x="3988776" y="3083861"/>
              <a:ext cx="108387" cy="105806"/>
            </a:xfrm>
            <a:prstGeom prst="rect">
              <a:avLst/>
            </a:prstGeom>
            <a:solidFill>
              <a:srgbClr val="91BBDF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3" name="diagram block">
              <a:extLst>
                <a:ext uri="{FF2B5EF4-FFF2-40B4-BE49-F238E27FC236}">
                  <ns2:creationId id="{66AC8B38-D446-470A-8CF9-3FE137B5BA29}"/>
                </a:ext>
              </a:extLst>
            </p:cNvPr>
            <p:cNvSpPr>
              <a:spLocks noGrp="1"/>
            </p:cNvSpPr>
            <p:nvPr/>
          </p:nvSpPr>
          <p:spPr>
            <a:xfrm>
              <a:off x="4097163" y="3083861"/>
              <a:ext cx="108387" cy="105806"/>
            </a:xfrm>
            <a:prstGeom prst="rect">
              <a:avLst/>
            </a:prstGeom>
            <a:solidFill>
              <a:srgbClr val="5D99CD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4" name="diagram block">
              <a:extLst>
                <a:ext uri="{FF2B5EF4-FFF2-40B4-BE49-F238E27FC236}">
                  <ns2:creationId id="{536302CA-B095-492B-84CC-B715ACDF597A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3083861"/>
              <a:ext cx="108387" cy="105806"/>
            </a:xfrm>
            <a:prstGeom prst="rect">
              <a:avLst/>
            </a:prstGeom>
            <a:solidFill>
              <a:srgbClr val="A9B4C1"/>
            </a:solidFill>
            <a:ln w="1806">
              <a:solidFill>
                <a:srgbClr val="C5D7E5"/>
              </a:solidFill>
              <a:prstDash val="solid"/>
            </a:ln>
          </p:spPr>
        </p:sp>
        <p:sp>
          <p:nvSpPr>
            <p:cNvPr id="285" name="×">
              <a:extLst>
                <a:ext uri="{FF2B5EF4-FFF2-40B4-BE49-F238E27FC236}">
                  <ns2:creationId id="{6DCD3595-FBCB-43F8-A63A-D505ED5ED8A5}"/>
                </a:ext>
              </a:extLst>
            </p:cNvPr>
            <p:cNvSpPr>
              <a:spLocks noGrp="1"/>
            </p:cNvSpPr>
            <p:nvPr/>
          </p:nvSpPr>
          <p:spPr>
            <a:xfrm>
              <a:off x="4205550" y="3078700"/>
              <a:ext cx="108387" cy="105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243647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286" name="dᵢⱼ">
              <a:extLst>
                <a:ext uri="{FF2B5EF4-FFF2-40B4-BE49-F238E27FC236}">
                  <ns2:creationId id="{6199C30B-B576-4D2B-AB73-086F248731F9}"/>
                </a:ext>
              </a:extLst>
            </p:cNvPr>
            <p:cNvSpPr>
              <a:spLocks noGrp="1"/>
            </p:cNvSpPr>
            <p:nvPr/>
          </p:nvSpPr>
          <p:spPr>
            <a:xfrm>
              <a:off x="4422323" y="2260638"/>
              <a:ext cx="175483" cy="1187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dᵢⱼ</a:t>
              </a:r>
            </a:p>
          </p:txBody>
        </p:sp>
        <p:sp>
          <p:nvSpPr>
            <p:cNvPr id="287" name="diagram block">
              <a:extLst>
                <a:ext uri="{FF2B5EF4-FFF2-40B4-BE49-F238E27FC236}">
                  <ns2:creationId id="{F14D1B20-4893-440B-AF29-7E0CD329CFA4}"/>
                </a:ext>
              </a:extLst>
            </p:cNvPr>
            <p:cNvSpPr>
              <a:spLocks noGrp="1"/>
            </p:cNvSpPr>
            <p:nvPr/>
          </p:nvSpPr>
          <p:spPr>
            <a:xfrm>
              <a:off x="4386194" y="2394831"/>
              <a:ext cx="77419" cy="707095"/>
            </a:xfrm>
            <a:prstGeom prst="rect">
              <a:avLst/>
            </a:prstGeom>
            <a:gradFill>
              <a:gsLst>
                <a:gs pos="0">
                  <a:srgbClr val="1E609E"/>
                </a:gs>
                <a:gs pos="100000">
                  <a:srgbClr val="D2E6F4"/>
                </a:gs>
              </a:gsLst>
              <a:lin ang="5400000"/>
            </a:gradFill>
            <a:ln w="3097">
              <a:solidFill>
                <a:srgbClr val="B6CADB"/>
              </a:solidFill>
              <a:prstDash val="solid"/>
            </a:ln>
          </p:spPr>
        </p:sp>
        <p:sp>
          <p:nvSpPr>
            <p:cNvPr id="288" name="high">
              <a:extLst>
                <a:ext uri="{FF2B5EF4-FFF2-40B4-BE49-F238E27FC236}">
                  <ns2:creationId id="{4DC9ED9C-79C7-4D74-8D5B-3536BCA54F06}"/>
                </a:ext>
              </a:extLst>
            </p:cNvPr>
            <p:cNvSpPr>
              <a:spLocks noGrp="1"/>
            </p:cNvSpPr>
            <p:nvPr/>
          </p:nvSpPr>
          <p:spPr>
            <a:xfrm>
              <a:off x="4504903" y="2405154"/>
              <a:ext cx="149677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high</a:t>
              </a:r>
            </a:p>
          </p:txBody>
        </p:sp>
        <p:sp>
          <p:nvSpPr>
            <p:cNvPr id="289" name="low">
              <a:extLst>
                <a:ext uri="{FF2B5EF4-FFF2-40B4-BE49-F238E27FC236}">
                  <ns2:creationId id="{8CC86A3A-F88D-4578-9DBE-B8BB2E0E6EAF}"/>
                </a:ext>
              </a:extLst>
            </p:cNvPr>
            <p:cNvSpPr>
              <a:spLocks noGrp="1"/>
            </p:cNvSpPr>
            <p:nvPr/>
          </p:nvSpPr>
          <p:spPr>
            <a:xfrm>
              <a:off x="4504903" y="3019345"/>
              <a:ext cx="149677" cy="1083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low</a:t>
              </a:r>
            </a:p>
          </p:txBody>
        </p:sp>
        <p:sp>
          <p:nvSpPr>
            <p:cNvPr id="290" name="Diagonal masked (no self-relation)">
              <a:extLst>
                <a:ext uri="{FF2B5EF4-FFF2-40B4-BE49-F238E27FC236}">
                  <ns2:creationId id="{952948A7-4D12-4C0A-BC72-C5F2683CEC47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277409"/>
              <a:ext cx="1378060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Diagonal masked (no self-relation)</a:t>
              </a:r>
            </a:p>
          </p:txBody>
        </p:sp>
        <p:sp>
          <p:nvSpPr>
            <p:cNvPr id="291" name="All other windows are neighbors">
              <a:extLst>
                <a:ext uri="{FF2B5EF4-FFF2-40B4-BE49-F238E27FC236}">
                  <ns2:creationId id="{1F6DD448-BCF6-48C7-B730-C6318B8DA41A}"/>
                </a:ext>
              </a:extLst>
            </p:cNvPr>
            <p:cNvSpPr>
              <a:spLocks noGrp="1"/>
            </p:cNvSpPr>
            <p:nvPr/>
          </p:nvSpPr>
          <p:spPr>
            <a:xfrm>
              <a:off x="3307488" y="3401280"/>
              <a:ext cx="1378060" cy="11354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All other windows are neighbors</a:t>
              </a:r>
            </a:p>
          </p:txBody>
        </p:sp>
        <p:sp>
          <p:nvSpPr>
            <p:cNvPr id="292" name="diagram block">
              <a:extLst>
                <a:ext uri="{FF2B5EF4-FFF2-40B4-BE49-F238E27FC236}">
                  <ns2:creationId id="{537968B8-3EEE-4249-A23A-B07855C035A9}"/>
                </a:ext>
              </a:extLst>
            </p:cNvPr>
            <p:cNvSpPr>
              <a:spLocks noGrp="1"/>
            </p:cNvSpPr>
            <p:nvPr/>
          </p:nvSpPr>
          <p:spPr>
            <a:xfrm>
              <a:off x="4721677" y="2229670"/>
              <a:ext cx="1176770" cy="1326447"/>
            </a:xfrm>
            <a:prstGeom prst="roundRect">
              <a:avLst>
                <a:gd name="adj" fmla="val 1754"/>
              </a:avLst>
            </a:prstGeom>
            <a:solidFill>
              <a:srgbClr val="F8FBFF"/>
            </a:solidFill>
            <a:ln w="3871">
              <a:solidFill>
                <a:srgbClr val="C3DDF3"/>
              </a:solidFill>
              <a:prstDash val="solid"/>
            </a:ln>
          </p:spPr>
        </p:sp>
        <p:sp>
          <p:nvSpPr>
            <p:cNvPr id="293" name="dᵢⱼ =">
              <a:extLst>
                <a:ext uri="{FF2B5EF4-FFF2-40B4-BE49-F238E27FC236}">
                  <ns2:creationId id="{03D9E068-C79F-4CF4-9B29-E7C110F7DE80}"/>
                </a:ext>
              </a:extLst>
            </p:cNvPr>
            <p:cNvSpPr>
              <a:spLocks noGrp="1"/>
            </p:cNvSpPr>
            <p:nvPr/>
          </p:nvSpPr>
          <p:spPr>
            <a:xfrm>
              <a:off x="4799096" y="2379347"/>
              <a:ext cx="283870" cy="15999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dᵢⱼ =</a:t>
              </a:r>
            </a:p>
          </p:txBody>
        </p:sp>
        <p:sp>
          <p:nvSpPr>
            <p:cNvPr id="294" name="1">
              <a:extLst>
                <a:ext uri="{FF2B5EF4-FFF2-40B4-BE49-F238E27FC236}">
                  <ns2:creationId id="{C1F8DD31-DEEE-4521-AE25-A8D2E2B6AB6B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2332896"/>
              <a:ext cx="129032" cy="110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27"/>
            </a:bodyPr>
            <a:lstStyle>
              <a:def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cxnSp>
          <p:nvCxnSpPr>
            <p:cNvPr id="295" name="native PowerPoint connector">
              <a:extLst>
                <a:ext uri="{FF2B5EF4-FFF2-40B4-BE49-F238E27FC236}">
                  <ns2:creationId id="{7B8C3B4E-47D5-42E2-B6B0-A2970C47EBB8}"/>
                </a:ext>
              </a:extLst>
            </p:cNvPr>
            <p:cNvCxnSpPr/>
            <p:nvPr/>
          </p:nvCxnSpPr>
          <p:spPr>
            <a:xfrm flipH="0" flipV="0">
              <a:off x="5103611" y="2461876"/>
              <a:ext cx="98064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296" name="18">
              <a:extLst>
                <a:ext uri="{FF2B5EF4-FFF2-40B4-BE49-F238E27FC236}">
                  <ns2:creationId id="{82D026B9-E668-481E-8C10-ADCCDB2EF059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2469773"/>
              <a:ext cx="129032" cy="110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9227"/>
            </a:bodyPr>
            <a:lstStyle>
              <a:def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18</a:t>
              </a:r>
            </a:p>
          </p:txBody>
        </p:sp>
        <p:sp>
          <p:nvSpPr>
            <p:cNvPr id="297" name="∑">
              <a:extLst>
                <a:ext uri="{FF2B5EF4-FFF2-40B4-BE49-F238E27FC236}">
                  <ns2:creationId id="{F33B8DDF-B073-4A7E-96B3-0126F6B37E89}"/>
                </a:ext>
              </a:extLst>
            </p:cNvPr>
            <p:cNvSpPr>
              <a:spLocks noGrp="1"/>
            </p:cNvSpPr>
            <p:nvPr/>
          </p:nvSpPr>
          <p:spPr>
            <a:xfrm>
              <a:off x="5227482" y="2332896"/>
              <a:ext cx="201290" cy="23225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704"/>
            </a:bodyPr>
            <a:lstStyle>
              <a:def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87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∑</a:t>
              </a:r>
            </a:p>
          </p:txBody>
        </p:sp>
        <p:sp>
          <p:nvSpPr>
            <p:cNvPr id="298" name="18">
              <a:extLst>
                <a:ext uri="{FF2B5EF4-FFF2-40B4-BE49-F238E27FC236}">
                  <ns2:creationId id="{E14659CC-96F7-4584-9745-4E7AF8B3672F}"/>
                </a:ext>
              </a:extLst>
            </p:cNvPr>
            <p:cNvSpPr>
              <a:spLocks noGrp="1"/>
            </p:cNvSpPr>
            <p:nvPr/>
          </p:nvSpPr>
          <p:spPr>
            <a:xfrm>
              <a:off x="5279095" y="2260638"/>
              <a:ext cx="149677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18</a:t>
              </a:r>
            </a:p>
          </p:txBody>
        </p:sp>
        <p:sp>
          <p:nvSpPr>
            <p:cNvPr id="299" name="k=1">
              <a:extLst>
                <a:ext uri="{FF2B5EF4-FFF2-40B4-BE49-F238E27FC236}">
                  <ns2:creationId id="{61506C91-2352-4321-B594-B3000A150F49}"/>
                </a:ext>
              </a:extLst>
            </p:cNvPr>
            <p:cNvSpPr>
              <a:spLocks noGrp="1"/>
            </p:cNvSpPr>
            <p:nvPr/>
          </p:nvSpPr>
          <p:spPr>
            <a:xfrm>
              <a:off x="5211998" y="2559992"/>
              <a:ext cx="221935" cy="103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00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k=1</a:t>
              </a:r>
            </a:p>
          </p:txBody>
        </p:sp>
        <p:sp>
          <p:nvSpPr>
            <p:cNvPr id="300" name="(uᵢₖ − uⱼₖ)²">
              <a:extLst>
                <a:ext uri="{FF2B5EF4-FFF2-40B4-BE49-F238E27FC236}">
                  <ns2:creationId id="{D4BAFEFF-BE53-425B-A99F-54DE3B44A9E3}"/>
                </a:ext>
              </a:extLst>
            </p:cNvPr>
            <p:cNvSpPr>
              <a:spLocks noGrp="1"/>
            </p:cNvSpPr>
            <p:nvPr/>
          </p:nvSpPr>
          <p:spPr>
            <a:xfrm>
              <a:off x="5402965" y="2394831"/>
              <a:ext cx="469676" cy="1651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8009"/>
            </a:bodyPr>
            <a:lstStyle>
              <a:def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(uᵢₖ − uⱼₖ)²</a:t>
              </a:r>
            </a:p>
          </p:txBody>
        </p:sp>
        <p:sp>
          <p:nvSpPr>
            <p:cNvPr id="301" name="p(j | i) =">
              <a:extLst>
                <a:ext uri="{FF2B5EF4-FFF2-40B4-BE49-F238E27FC236}">
                  <ns2:creationId id="{BFFD4DC8-6803-48FA-9C6F-B27463C1CCBA}"/>
                </a:ext>
              </a:extLst>
            </p:cNvPr>
            <p:cNvSpPr>
              <a:spLocks noGrp="1"/>
            </p:cNvSpPr>
            <p:nvPr/>
          </p:nvSpPr>
          <p:spPr>
            <a:xfrm>
              <a:off x="4773290" y="2776765"/>
              <a:ext cx="459353" cy="17548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p(j | i) =</a:t>
              </a:r>
            </a:p>
          </p:txBody>
        </p:sp>
        <p:sp>
          <p:nvSpPr>
            <p:cNvPr id="302" name="exp(−dᵢⱼ / τₐ)">
              <a:extLst>
                <a:ext uri="{FF2B5EF4-FFF2-40B4-BE49-F238E27FC236}">
                  <ns2:creationId id="{3B4F9A4F-968E-43B0-90A7-C6DD76DD86E0}"/>
                </a:ext>
              </a:extLst>
            </p:cNvPr>
            <p:cNvSpPr>
              <a:spLocks noGrp="1"/>
            </p:cNvSpPr>
            <p:nvPr/>
          </p:nvSpPr>
          <p:spPr>
            <a:xfrm>
              <a:off x="5217159" y="2689024"/>
              <a:ext cx="650321" cy="1322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(−dᵢⱼ / τₐ)</a:t>
              </a:r>
            </a:p>
          </p:txBody>
        </p:sp>
        <p:cxnSp>
          <p:nvCxnSpPr>
            <p:cNvPr id="303" name="native PowerPoint connector">
              <a:extLst>
                <a:ext uri="{FF2B5EF4-FFF2-40B4-BE49-F238E27FC236}">
                  <ns2:creationId id="{C6503CA3-6531-4F09-B3AF-166332F72E78}"/>
                </a:ext>
              </a:extLst>
            </p:cNvPr>
            <p:cNvCxnSpPr/>
            <p:nvPr/>
          </p:nvCxnSpPr>
          <p:spPr>
            <a:xfrm flipH="0" flipV="0">
              <a:off x="5232643" y="2843294"/>
              <a:ext cx="619353" cy="0"/>
            </a:xfrm>
            <a:prstGeom prst="straightConnector1">
              <a:avLst/>
            </a:prstGeom>
            <a:ln w="5677">
              <a:solidFill>
                <a:srgbClr val="061A3C"/>
              </a:solidFill>
              <a:prstDash val="solid"/>
            </a:ln>
          </p:spPr>
        </p:cxnSp>
        <p:sp>
          <p:nvSpPr>
            <p:cNvPr id="304" name="∑ₖ≠ᵢ exp(−dᵢₖ / τₐ)">
              <a:extLst>
                <a:ext uri="{FF2B5EF4-FFF2-40B4-BE49-F238E27FC236}">
                  <ns2:creationId id="{AF119F7D-12A0-4AFE-B23D-30B9C37F9B6A}"/>
                </a:ext>
              </a:extLst>
            </p:cNvPr>
            <p:cNvSpPr>
              <a:spLocks noGrp="1"/>
            </p:cNvSpPr>
            <p:nvPr/>
          </p:nvSpPr>
          <p:spPr>
            <a:xfrm>
              <a:off x="5217159" y="2852739"/>
              <a:ext cx="650321" cy="1322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5283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∑ₖ≠ᵢ </a:t>
              </a:r>
              <a:r>
                <a:rPr sz="656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exp</a:t>
              </a: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(−dᵢₖ / τₐ)</a:t>
              </a:r>
            </a:p>
          </p:txBody>
        </p:sp>
        <p:sp>
          <p:nvSpPr>
            <p:cNvPr id="305" name="for j ≠ i">
              <a:extLst>
                <a:ext uri="{FF2B5EF4-FFF2-40B4-BE49-F238E27FC236}">
                  <ns2:creationId id="{5CB09DE3-0C59-47AE-B397-186430E13DD3}"/>
                </a:ext>
              </a:extLst>
            </p:cNvPr>
            <p:cNvSpPr>
              <a:spLocks noGrp="1"/>
            </p:cNvSpPr>
            <p:nvPr/>
          </p:nvSpPr>
          <p:spPr>
            <a:xfrm>
              <a:off x="5088127" y="3081281"/>
              <a:ext cx="717417" cy="1393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796"/>
            </a:bodyPr>
            <a:lstStyle>
              <a:def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19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 j ≠ i</a:t>
              </a:r>
            </a:p>
          </p:txBody>
        </p:sp>
        <p:sp>
          <p:nvSpPr>
            <p:cNvPr id="306" name="τₐ: frozen temperature">
              <a:extLst>
                <a:ext uri="{FF2B5EF4-FFF2-40B4-BE49-F238E27FC236}">
                  <ns2:creationId id="{392953E2-6D6A-42F7-9D71-243C7CDE1F21}"/>
                </a:ext>
              </a:extLst>
            </p:cNvPr>
            <p:cNvSpPr>
              <a:spLocks noGrp="1"/>
            </p:cNvSpPr>
            <p:nvPr/>
          </p:nvSpPr>
          <p:spPr>
            <a:xfrm>
              <a:off x="4799096" y="3215474"/>
              <a:ext cx="1037416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257"/>
            </a:bodyPr>
            <a:lstStyle>
              <a:def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τₐ: frozen temperature</a:t>
              </a:r>
            </a:p>
          </p:txBody>
        </p:sp>
        <p:sp>
          <p:nvSpPr>
            <p:cNvPr id="307" name="(teacher and student share τₐ)">
              <a:extLst>
                <a:ext uri="{FF2B5EF4-FFF2-40B4-BE49-F238E27FC236}">
                  <ns2:creationId id="{EDA9D700-54F9-4C7E-A3CB-6D0F5CAB539F}"/>
                </a:ext>
              </a:extLst>
            </p:cNvPr>
            <p:cNvSpPr>
              <a:spLocks noGrp="1"/>
            </p:cNvSpPr>
            <p:nvPr/>
          </p:nvSpPr>
          <p:spPr>
            <a:xfrm>
              <a:off x="4793935" y="3349667"/>
              <a:ext cx="1047739" cy="12903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146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(teacher and student share τₐ)</a:t>
              </a:r>
            </a:p>
          </p:txBody>
        </p:sp>
        <p:sp>
          <p:nvSpPr>
            <p:cNvPr id="308" name="diagram block">
              <a:extLst>
                <a:ext uri="{FF2B5EF4-FFF2-40B4-BE49-F238E27FC236}">
                  <ns2:creationId id="{A1C30B04-4885-4D39-9333-39FDA4B65DFB}"/>
                </a:ext>
              </a:extLst>
            </p:cNvPr>
            <p:cNvSpPr>
              <a:spLocks noGrp="1"/>
            </p:cNvSpPr>
            <p:nvPr/>
          </p:nvSpPr>
          <p:spPr>
            <a:xfrm>
              <a:off x="3292004" y="3623214"/>
              <a:ext cx="2611605" cy="304515"/>
            </a:xfrm>
            <a:prstGeom prst="roundRect">
              <a:avLst>
                <a:gd name="adj" fmla="val 10169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889A0"/>
              </a:solidFill>
              <a:prstDash val="solid"/>
            </a:ln>
          </p:spPr>
        </p:sp>
        <p:sp>
          <p:nvSpPr>
            <p:cNvPr id="309" name="L_temp,a = mean_i KL(p^T(· | i) || p^S(· | i))">
              <a:extLst>
                <a:ext uri="{FF2B5EF4-FFF2-40B4-BE49-F238E27FC236}">
                  <ns2:creationId id="{E4D4FDCF-EDB4-4501-9878-61B6A09543C2}"/>
                </a:ext>
              </a:extLst>
            </p:cNvPr>
            <p:cNvSpPr>
              <a:spLocks noGrp="1"/>
            </p:cNvSpPr>
            <p:nvPr/>
          </p:nvSpPr>
          <p:spPr>
            <a:xfrm>
              <a:off x="3348778" y="3710956"/>
              <a:ext cx="2503218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47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temp,a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50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547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50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</a:t>
              </a:r>
              <a:r>
                <a:rPr sz="547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 || p</a:t>
              </a:r>
              <a:r>
                <a:rPr sz="547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50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i))</a:t>
              </a:r>
            </a:p>
          </p:txBody>
        </p:sp>
        <p:sp>
          <p:nvSpPr>
            <p:cNvPr id="310" name="All other windows are neighbors (diagonal masked).">
              <a:extLst>
                <a:ext uri="{FF2B5EF4-FFF2-40B4-BE49-F238E27FC236}">
                  <ns2:creationId id="{AA5C3A0B-E1DE-4088-B329-79F862E943EF}"/>
                </a:ext>
              </a:extLst>
            </p:cNvPr>
            <p:cNvSpPr>
              <a:spLocks noGrp="1"/>
            </p:cNvSpPr>
            <p:nvPr/>
          </p:nvSpPr>
          <p:spPr>
            <a:xfrm>
              <a:off x="3322972" y="3999987"/>
              <a:ext cx="25341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All other windows are neighbors (diagonal masked).</a:t>
              </a:r>
            </a:p>
          </p:txBody>
        </p:sp>
        <p:sp>
          <p:nvSpPr>
            <p:cNvPr id="311" name="diagram block">
              <a:extLst>
                <a:ext uri="{FF2B5EF4-FFF2-40B4-BE49-F238E27FC236}">
                  <ns2:creationId id="{47B78E69-801A-41FC-99A1-428BAB921F52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650321"/>
              <a:ext cx="1775478" cy="1300641"/>
            </a:xfrm>
            <a:prstGeom prst="roundRect">
              <a:avLst>
                <a:gd name="adj" fmla="val 2778"/>
              </a:avLst>
            </a:prstGeom>
            <a:gradFill>
              <a:gsLst>
                <a:gs pos="0">
                  <a:srgbClr val="FFF5DC"/>
                </a:gs>
                <a:gs pos="100000">
                  <a:srgbClr val="FFFDF8"/>
                </a:gs>
              </a:gsLst>
              <a:lin ang="5400000"/>
            </a:gradFill>
            <a:ln w="5161">
              <a:solidFill>
                <a:srgbClr val="F3D18C"/>
              </a:solidFill>
              <a:prstDash val="solid"/>
            </a:ln>
          </p:spPr>
        </p:sp>
        <p:sp>
          <p:nvSpPr>
            <p:cNvPr id="312" name="diagram block">
              <a:extLst>
                <a:ext uri="{FF2B5EF4-FFF2-40B4-BE49-F238E27FC236}">
                  <ns2:creationId id="{F781A8CE-5488-4CA5-AF86-9E77047E7518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650321"/>
              <a:ext cx="1775478" cy="175483"/>
            </a:xfrm>
            <a:prstGeom prst="roundRect">
              <a:avLst>
                <a:gd name="adj" fmla="val 14706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noFill/>
              <a:prstDash val="solid"/>
            </a:ln>
          </p:spPr>
        </p:sp>
        <p:sp>
          <p:nvSpPr>
            <p:cNvPr id="313" name="Camera 1 (view 1)">
              <a:extLst>
                <a:ext uri="{FF2B5EF4-FFF2-40B4-BE49-F238E27FC236}">
                  <ns2:creationId id="{B3F4B4AD-7F2D-4EEA-BFC1-848A6E93BBAE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676127"/>
              <a:ext cx="1723865" cy="123871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5287"/>
            </a:bodyPr>
            <a:lstStyle>
              <a:def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Camera 1 (view 1)</a:t>
              </a:r>
            </a:p>
          </p:txBody>
        </p:sp>
        <p:sp>
          <p:nvSpPr>
            <p:cNvPr id="314" name="Time 1 (future)">
              <a:extLst>
                <a:ext uri="{FF2B5EF4-FFF2-40B4-BE49-F238E27FC236}">
                  <ns2:creationId id="{C1A0A746-9FFE-4BCA-98A0-F62C02C5323B}"/>
                </a:ext>
              </a:extLst>
            </p:cNvPr>
            <p:cNvSpPr>
              <a:spLocks noGrp="1"/>
            </p:cNvSpPr>
            <p:nvPr/>
          </p:nvSpPr>
          <p:spPr>
            <a:xfrm>
              <a:off x="6182317" y="877417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1 (future)</a:t>
              </a:r>
            </a:p>
          </p:txBody>
        </p:sp>
        <p:sp>
          <p:nvSpPr>
            <p:cNvPr id="315" name="Time 2 (future)">
              <a:extLst>
                <a:ext uri="{FF2B5EF4-FFF2-40B4-BE49-F238E27FC236}">
                  <ns2:creationId id="{7323CB58-75AA-4744-A27E-0B7A538BF018}"/>
                </a:ext>
              </a:extLst>
            </p:cNvPr>
            <p:cNvSpPr>
              <a:spLocks noGrp="1"/>
            </p:cNvSpPr>
            <p:nvPr/>
          </p:nvSpPr>
          <p:spPr>
            <a:xfrm>
              <a:off x="7064895" y="877417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2 (future)</a:t>
              </a:r>
            </a:p>
          </p:txBody>
        </p:sp>
        <p:sp>
          <p:nvSpPr>
            <p:cNvPr id="316" name="diagram block">
              <a:extLst>
                <a:ext uri="{FF2B5EF4-FFF2-40B4-BE49-F238E27FC236}">
                  <ns2:creationId id="{11D25D9D-07F8-49EC-9C76-C5E6D5221000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17" name="diagram block">
              <a:extLst>
                <a:ext uri="{FF2B5EF4-FFF2-40B4-BE49-F238E27FC236}">
                  <ns2:creationId id="{59B76705-EDFE-4F4D-8EA0-841CBCF3A76B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18" name="diagram block">
              <a:extLst>
                <a:ext uri="{FF2B5EF4-FFF2-40B4-BE49-F238E27FC236}">
                  <ns2:creationId id="{C112C702-BC80-413A-B18D-DB6E823486EC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19" name="diagram block">
              <a:extLst>
                <a:ext uri="{FF2B5EF4-FFF2-40B4-BE49-F238E27FC236}">
                  <ns2:creationId id="{5F9A1DA4-123D-493F-940F-70F70D6CF932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0" name="diagram block">
              <a:extLst>
                <a:ext uri="{FF2B5EF4-FFF2-40B4-BE49-F238E27FC236}">
                  <ns2:creationId id="{FB1112F6-5CF1-415C-9E1C-C90D10B65471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1" name="diagram block">
              <a:extLst>
                <a:ext uri="{FF2B5EF4-FFF2-40B4-BE49-F238E27FC236}">
                  <ns2:creationId id="{B4DC380B-E89B-4498-BA82-9A030DDBC5E6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2" name="diagram block">
              <a:extLst>
                <a:ext uri="{FF2B5EF4-FFF2-40B4-BE49-F238E27FC236}">
                  <ns2:creationId id="{968BD5CA-389C-4AF2-9B6E-F892AA3D16C1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3" name="diagram block">
              <a:extLst>
                <a:ext uri="{FF2B5EF4-FFF2-40B4-BE49-F238E27FC236}">
                  <ns2:creationId id="{48D42FA3-3D5C-4E27-AEB8-F96F291EBDD9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4" name="diagram block">
              <a:extLst>
                <a:ext uri="{FF2B5EF4-FFF2-40B4-BE49-F238E27FC236}">
                  <ns2:creationId id="{25AC4ED2-4870-4CAC-8EA0-4E7B45843C5C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5" name="diagram block">
              <a:extLst>
                <a:ext uri="{FF2B5EF4-FFF2-40B4-BE49-F238E27FC236}">
                  <ns2:creationId id="{1C2F8946-454A-4960-A18F-E286E05CC82E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6" name="diagram block">
              <a:extLst>
                <a:ext uri="{FF2B5EF4-FFF2-40B4-BE49-F238E27FC236}">
                  <ns2:creationId id="{A44D445D-442D-4836-BAC6-53FB77053CB1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7" name="diagram block">
              <a:extLst>
                <a:ext uri="{FF2B5EF4-FFF2-40B4-BE49-F238E27FC236}">
                  <ns2:creationId id="{CF06EEBE-A504-4BB2-842E-1889BF84C216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8" name="diagram block">
              <a:extLst>
                <a:ext uri="{FF2B5EF4-FFF2-40B4-BE49-F238E27FC236}">
                  <ns2:creationId id="{6E30B5F2-E52E-4696-9126-FA42DE36816C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29" name="diagram block">
              <a:extLst>
                <a:ext uri="{FF2B5EF4-FFF2-40B4-BE49-F238E27FC236}">
                  <ns2:creationId id="{89407BE6-C327-4082-A7A1-A9419056CA25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0" name="diagram block">
              <a:extLst>
                <a:ext uri="{FF2B5EF4-FFF2-40B4-BE49-F238E27FC236}">
                  <ns2:creationId id="{24317B10-4A95-4418-BCA5-2E69FD31FDF9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1" name="diagram block">
              <a:extLst>
                <a:ext uri="{FF2B5EF4-FFF2-40B4-BE49-F238E27FC236}">
                  <ns2:creationId id="{5F9CCFF5-E053-4A73-9132-8481DD8A70A2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2" name="diagram block">
              <a:extLst>
                <a:ext uri="{FF2B5EF4-FFF2-40B4-BE49-F238E27FC236}">
                  <ns2:creationId id="{5A2A7BF0-5A80-405A-A30F-E6B5EBCC342B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3" name="diagram block">
              <a:extLst>
                <a:ext uri="{FF2B5EF4-FFF2-40B4-BE49-F238E27FC236}">
                  <ns2:creationId id="{93D34F83-A83D-4CF1-89CE-5137323597E9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4" name="diagram block">
              <a:extLst>
                <a:ext uri="{FF2B5EF4-FFF2-40B4-BE49-F238E27FC236}">
                  <ns2:creationId id="{C984DB3F-2EE1-4050-B20F-6FE323FA5DBC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202577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5" name="diagram block">
              <a:extLst>
                <a:ext uri="{FF2B5EF4-FFF2-40B4-BE49-F238E27FC236}">
                  <ns2:creationId id="{9330B4B3-AD4B-4577-8AF1-C78A9ABF0D7F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6" name="diagram block">
              <a:extLst>
                <a:ext uri="{FF2B5EF4-FFF2-40B4-BE49-F238E27FC236}">
                  <ns2:creationId id="{B8FAADD5-8903-4E5F-9B47-E02C5E0B642F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7" name="diagram block">
              <a:extLst>
                <a:ext uri="{FF2B5EF4-FFF2-40B4-BE49-F238E27FC236}">
                  <ns2:creationId id="{07784A1E-E954-4AF5-A3C3-34B8F0AC68AC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8" name="diagram block">
              <a:extLst>
                <a:ext uri="{FF2B5EF4-FFF2-40B4-BE49-F238E27FC236}">
                  <ns2:creationId id="{E90210FA-91AE-4414-86D0-7F0143E7E031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39" name="diagram block">
              <a:extLst>
                <a:ext uri="{FF2B5EF4-FFF2-40B4-BE49-F238E27FC236}">
                  <ns2:creationId id="{9D5034C0-0681-4E4C-B32A-0474F13EC3B3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308383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0" name="diagram block">
              <a:extLst>
                <a:ext uri="{FF2B5EF4-FFF2-40B4-BE49-F238E27FC236}">
                  <ns2:creationId id="{9E6AE8F6-61F2-4974-8AE5-61A9A8F5BC45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308383"/>
              <a:ext cx="99096" cy="99096"/>
            </a:xfrm>
            <a:prstGeom prst="rect">
              <a:avLst/>
            </a:prstGeom>
            <a:solidFill>
              <a:srgbClr val="FF8156"/>
            </a:solidFill>
            <a:ln w="7226">
              <a:solidFill>
                <a:srgbClr val="D74425"/>
              </a:solidFill>
              <a:prstDash val="solid"/>
            </a:ln>
          </p:spPr>
        </p:sp>
        <p:sp>
          <p:nvSpPr>
            <p:cNvPr id="341" name="diagram block">
              <a:extLst>
                <a:ext uri="{FF2B5EF4-FFF2-40B4-BE49-F238E27FC236}">
                  <ns2:creationId id="{55690669-4535-492E-8422-66202466F807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308383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2" name="diagram block">
              <a:extLst>
                <a:ext uri="{FF2B5EF4-FFF2-40B4-BE49-F238E27FC236}">
                  <ns2:creationId id="{3BF31B34-75C7-4E19-9E39-79F429B7BF75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3" name="diagram block">
              <a:extLst>
                <a:ext uri="{FF2B5EF4-FFF2-40B4-BE49-F238E27FC236}">
                  <ns2:creationId id="{827EFC5A-A6EC-4FEA-B996-27FC90A80F1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4" name="diagram block">
              <a:extLst>
                <a:ext uri="{FF2B5EF4-FFF2-40B4-BE49-F238E27FC236}">
                  <ns2:creationId id="{325B1037-16B7-4C51-B49C-68C7BC361C61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5" name="diagram block">
              <a:extLst>
                <a:ext uri="{FF2B5EF4-FFF2-40B4-BE49-F238E27FC236}">
                  <ns2:creationId id="{FC4D1AB0-5AEF-475D-8529-FAC764F1F6B2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6" name="diagram block">
              <a:extLst>
                <a:ext uri="{FF2B5EF4-FFF2-40B4-BE49-F238E27FC236}">
                  <ns2:creationId id="{54DE2D5E-6B4A-4332-BFA7-8B02B0FC1952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7" name="diagram block">
              <a:extLst>
                <a:ext uri="{FF2B5EF4-FFF2-40B4-BE49-F238E27FC236}">
                  <ns2:creationId id="{5F0A9A55-E2B1-4DBD-96CE-BCC1A174B806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8" name="diagram block">
              <a:extLst>
                <a:ext uri="{FF2B5EF4-FFF2-40B4-BE49-F238E27FC236}">
                  <ns2:creationId id="{051FD983-2A05-43EE-9C0F-D2D0582308A7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414189"/>
              <a:ext cx="99096" cy="99096"/>
            </a:xfrm>
            <a:prstGeom prst="rect">
              <a:avLst/>
            </a:prstGeom>
            <a:solidFill>
              <a:srgbClr val="FFD251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49" name="diagram block">
              <a:extLst>
                <a:ext uri="{FF2B5EF4-FFF2-40B4-BE49-F238E27FC236}">
                  <ns2:creationId id="{436512C2-F484-470D-9434-41C1B5739410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0" name="diagram block">
              <a:extLst>
                <a:ext uri="{FF2B5EF4-FFF2-40B4-BE49-F238E27FC236}">
                  <ns2:creationId id="{E58885A6-082C-4F29-B710-70BBDDE6BD2D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1" name="diagram block">
              <a:extLst>
                <a:ext uri="{FF2B5EF4-FFF2-40B4-BE49-F238E27FC236}">
                  <ns2:creationId id="{83C63A0B-75F3-403D-BB67-2F7470D4B256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2" name="diagram block">
              <a:extLst>
                <a:ext uri="{FF2B5EF4-FFF2-40B4-BE49-F238E27FC236}">
                  <ns2:creationId id="{6B65EA30-50B7-4A43-8D2C-0D8EF746685B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3" name="diagram block">
              <a:extLst>
                <a:ext uri="{FF2B5EF4-FFF2-40B4-BE49-F238E27FC236}">
                  <ns2:creationId id="{8C6FCBB3-75E6-4574-90A9-4AD33774BFF0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4" name="diagram block">
              <a:extLst>
                <a:ext uri="{FF2B5EF4-FFF2-40B4-BE49-F238E27FC236}">
                  <ns2:creationId id="{115B15F0-94E0-419A-A47E-A884E7B0A7DB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5" name="diagram block">
              <a:extLst>
                <a:ext uri="{FF2B5EF4-FFF2-40B4-BE49-F238E27FC236}">
                  <ns2:creationId id="{CA4C42E7-7A28-4AE9-A5B9-C4B404F09A38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6" name="diagram block">
              <a:extLst>
                <a:ext uri="{FF2B5EF4-FFF2-40B4-BE49-F238E27FC236}">
                  <ns2:creationId id="{8FF5DA78-B7DE-4BBF-B234-840167D53B96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7" name="diagram block">
              <a:extLst>
                <a:ext uri="{FF2B5EF4-FFF2-40B4-BE49-F238E27FC236}">
                  <ns2:creationId id="{46FA4D6F-DEFE-4669-A825-A8E132F9BD61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8" name="diagram block">
              <a:extLst>
                <a:ext uri="{FF2B5EF4-FFF2-40B4-BE49-F238E27FC236}">
                  <ns2:creationId id="{6BDA27DC-4C44-4245-A62D-8D096AAA5C5E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59" name="diagram block">
              <a:extLst>
                <a:ext uri="{FF2B5EF4-FFF2-40B4-BE49-F238E27FC236}">
                  <ns2:creationId id="{AF2DAC0B-4F99-41EB-8957-2880E7608AB6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0" name="diagram block">
              <a:extLst>
                <a:ext uri="{FF2B5EF4-FFF2-40B4-BE49-F238E27FC236}">
                  <ns2:creationId id="{A86622FE-6191-4DD8-817A-C4A42D43045E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1" name="diagram block">
              <a:extLst>
                <a:ext uri="{FF2B5EF4-FFF2-40B4-BE49-F238E27FC236}">
                  <ns2:creationId id="{08A6C810-FA78-4A81-AF89-64DB8A9D371A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2" name="diagram block">
              <a:extLst>
                <a:ext uri="{FF2B5EF4-FFF2-40B4-BE49-F238E27FC236}">
                  <ns2:creationId id="{E59377E9-F85A-4B63-9C62-0CA2F9C17948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3" name="diagram block">
              <a:extLst>
                <a:ext uri="{FF2B5EF4-FFF2-40B4-BE49-F238E27FC236}">
                  <ns2:creationId id="{E5C7AB2B-F5AE-4B5C-A237-D9B12809AE6E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4" name="diagram block">
              <a:extLst>
                <a:ext uri="{FF2B5EF4-FFF2-40B4-BE49-F238E27FC236}">
                  <ns2:creationId id="{0B59482B-C04A-4B6F-A773-84D65EAC5628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5" name="diagram block">
              <a:extLst>
                <a:ext uri="{FF2B5EF4-FFF2-40B4-BE49-F238E27FC236}">
                  <ns2:creationId id="{3917BAFA-7A38-4207-A382-C7438F1549C2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6" name="diagram block">
              <a:extLst>
                <a:ext uri="{FF2B5EF4-FFF2-40B4-BE49-F238E27FC236}">
                  <ns2:creationId id="{4CE1D786-8FD4-410E-A295-1DDAF57E6D28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7" name="diagram block">
              <a:extLst>
                <a:ext uri="{FF2B5EF4-FFF2-40B4-BE49-F238E27FC236}">
                  <ns2:creationId id="{30C78EDD-4449-45E3-8E81-AB98386DFDAE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8" name="diagram block">
              <a:extLst>
                <a:ext uri="{FF2B5EF4-FFF2-40B4-BE49-F238E27FC236}">
                  <ns2:creationId id="{E4DA89E9-CC5D-46F5-B40D-5442C3846DEA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69" name="diagram block">
              <a:extLst>
                <a:ext uri="{FF2B5EF4-FFF2-40B4-BE49-F238E27FC236}">
                  <ns2:creationId id="{53413091-9D83-4C63-96E5-8BF479E58A75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0" name="diagram block">
              <a:extLst>
                <a:ext uri="{FF2B5EF4-FFF2-40B4-BE49-F238E27FC236}">
                  <ns2:creationId id="{658A4CED-4D65-499A-805A-1E53823EF2A8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1" name="diagram block">
              <a:extLst>
                <a:ext uri="{FF2B5EF4-FFF2-40B4-BE49-F238E27FC236}">
                  <ns2:creationId id="{6CB648C6-34A8-45A1-9A1F-7BF96913201C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9909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2" name="diagram block">
              <a:extLst>
                <a:ext uri="{FF2B5EF4-FFF2-40B4-BE49-F238E27FC236}">
                  <ns2:creationId id="{1EE5CBD3-1239-4C42-8133-2ACD129EF026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3" name="diagram block">
              <a:extLst>
                <a:ext uri="{FF2B5EF4-FFF2-40B4-BE49-F238E27FC236}">
                  <ns2:creationId id="{C3309112-AFC2-443A-B571-E063DBA9BD3F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4" name="diagram block">
              <a:extLst>
                <a:ext uri="{FF2B5EF4-FFF2-40B4-BE49-F238E27FC236}">
                  <ns2:creationId id="{4BFB06C8-181B-44AC-B144-AEF2FA594432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5" name="diagram block">
              <a:extLst>
                <a:ext uri="{FF2B5EF4-FFF2-40B4-BE49-F238E27FC236}">
                  <ns2:creationId id="{0E2ADAD8-0874-4FB5-AA07-5E5A996496AB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6" name="diagram block">
              <a:extLst>
                <a:ext uri="{FF2B5EF4-FFF2-40B4-BE49-F238E27FC236}">
                  <ns2:creationId id="{EDAB2DF9-01B2-46DC-B13A-801367B8983D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7" name="diagram block">
              <a:extLst>
                <a:ext uri="{FF2B5EF4-FFF2-40B4-BE49-F238E27FC236}">
                  <ns2:creationId id="{9176764B-25FD-45D6-AEFC-6BBDC7AE1D65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8" name="diagram block">
              <a:extLst>
                <a:ext uri="{FF2B5EF4-FFF2-40B4-BE49-F238E27FC236}">
                  <ns2:creationId id="{2B4E21B6-F46C-43FC-8D21-C47C072043A7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0967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79" name="diagram block">
              <a:extLst>
                <a:ext uri="{FF2B5EF4-FFF2-40B4-BE49-F238E27FC236}">
                  <ns2:creationId id="{49A976CB-E26E-40FE-A843-A2CC331CC11A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0" name="diagram block">
              <a:extLst>
                <a:ext uri="{FF2B5EF4-FFF2-40B4-BE49-F238E27FC236}">
                  <ns2:creationId id="{DC9DDEF5-A213-4017-ACCE-1FD265BB7288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1" name="diagram block">
              <a:extLst>
                <a:ext uri="{FF2B5EF4-FFF2-40B4-BE49-F238E27FC236}">
                  <ns2:creationId id="{39307B8D-B7B8-442C-BFAB-3EE5F1AB4F8E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2" name="diagram block">
              <a:extLst>
                <a:ext uri="{FF2B5EF4-FFF2-40B4-BE49-F238E27FC236}">
                  <ns2:creationId id="{C6DE669A-557E-4258-9DDC-62B932827436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3" name="diagram block">
              <a:extLst>
                <a:ext uri="{FF2B5EF4-FFF2-40B4-BE49-F238E27FC236}">
                  <ns2:creationId id="{6033ED77-DF7C-43BA-915B-D9AF20FD9BA2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4" name="diagram block">
              <a:extLst>
                <a:ext uri="{FF2B5EF4-FFF2-40B4-BE49-F238E27FC236}">
                  <ns2:creationId id="{43162E82-94F5-46F6-A0F7-A5B0BC6BF1D5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5" name="diagram block">
              <a:extLst>
                <a:ext uri="{FF2B5EF4-FFF2-40B4-BE49-F238E27FC236}">
                  <ns2:creationId id="{81610235-8B68-42A7-B23A-9C145D5FC268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20257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6" name="diagram block">
              <a:extLst>
                <a:ext uri="{FF2B5EF4-FFF2-40B4-BE49-F238E27FC236}">
                  <ns2:creationId id="{6EDA90E3-FD4E-4309-AAAB-463B803EDD54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7" name="diagram block">
              <a:extLst>
                <a:ext uri="{FF2B5EF4-FFF2-40B4-BE49-F238E27FC236}">
                  <ns2:creationId id="{22C766D0-DC4C-4AE3-8D85-909C356945B6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8" name="diagram block">
              <a:extLst>
                <a:ext uri="{FF2B5EF4-FFF2-40B4-BE49-F238E27FC236}">
                  <ns2:creationId id="{F103AFCF-F0E2-4278-B908-B6D6B1448D03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89" name="diagram block">
              <a:extLst>
                <a:ext uri="{FF2B5EF4-FFF2-40B4-BE49-F238E27FC236}">
                  <ns2:creationId id="{3A977714-195A-4657-8629-289329EB0722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308383"/>
              <a:ext cx="99096" cy="99096"/>
            </a:xfrm>
            <a:prstGeom prst="rect">
              <a:avLst/>
            </a:prstGeom>
            <a:solidFill>
              <a:srgbClr val="FF8156"/>
            </a:solidFill>
            <a:ln w="7226">
              <a:solidFill>
                <a:srgbClr val="D74425"/>
              </a:solidFill>
              <a:prstDash val="solid"/>
            </a:ln>
          </p:spPr>
        </p:sp>
        <p:sp>
          <p:nvSpPr>
            <p:cNvPr id="390" name="diagram block">
              <a:extLst>
                <a:ext uri="{FF2B5EF4-FFF2-40B4-BE49-F238E27FC236}">
                  <ns2:creationId id="{1D366DF3-EBC6-477E-AEDB-31C5589757E7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1" name="diagram block">
              <a:extLst>
                <a:ext uri="{FF2B5EF4-FFF2-40B4-BE49-F238E27FC236}">
                  <ns2:creationId id="{9E265245-5C16-4832-85D3-5552D586E1E0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2" name="diagram block">
              <a:extLst>
                <a:ext uri="{FF2B5EF4-FFF2-40B4-BE49-F238E27FC236}">
                  <ns2:creationId id="{02AA9E96-3BD6-40AB-9AE9-6FF5CC8D9DCD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30838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3" name="diagram block">
              <a:extLst>
                <a:ext uri="{FF2B5EF4-FFF2-40B4-BE49-F238E27FC236}">
                  <ns2:creationId id="{A2933DFA-5443-4BCE-8B39-733708FB311B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4" name="diagram block">
              <a:extLst>
                <a:ext uri="{FF2B5EF4-FFF2-40B4-BE49-F238E27FC236}">
                  <ns2:creationId id="{2E4BF23B-9316-4861-B055-9C829231D05F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5" name="diagram block">
              <a:extLst>
                <a:ext uri="{FF2B5EF4-FFF2-40B4-BE49-F238E27FC236}">
                  <ns2:creationId id="{E1C1F67B-91C7-46B0-8BA1-B7694864B6EF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6" name="diagram block">
              <a:extLst>
                <a:ext uri="{FF2B5EF4-FFF2-40B4-BE49-F238E27FC236}">
                  <ns2:creationId id="{0B7DCA2C-18CB-4EC2-9C5C-A2BE4FA263C7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7" name="diagram block">
              <a:extLst>
                <a:ext uri="{FF2B5EF4-FFF2-40B4-BE49-F238E27FC236}">
                  <ns2:creationId id="{21D33046-E045-4EBB-B51B-C8DBEEC3ABDB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8" name="diagram block">
              <a:extLst>
                <a:ext uri="{FF2B5EF4-FFF2-40B4-BE49-F238E27FC236}">
                  <ns2:creationId id="{97B57745-9B80-40B5-92F6-FB07E0C26D2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399" name="diagram block">
              <a:extLst>
                <a:ext uri="{FF2B5EF4-FFF2-40B4-BE49-F238E27FC236}">
                  <ns2:creationId id="{4B219D9F-EC7D-4655-BC98-F00EFE23C15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41418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0" name="diagram block">
              <a:extLst>
                <a:ext uri="{FF2B5EF4-FFF2-40B4-BE49-F238E27FC236}">
                  <ns2:creationId id="{18DB3837-98FD-40F3-BDFC-6DF79F2D8FC8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1" name="diagram block">
              <a:extLst>
                <a:ext uri="{FF2B5EF4-FFF2-40B4-BE49-F238E27FC236}">
                  <ns2:creationId id="{B3944C2A-A73F-4CCD-B78C-8280E1CF11C7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2" name="diagram block">
              <a:extLst>
                <a:ext uri="{FF2B5EF4-FFF2-40B4-BE49-F238E27FC236}">
                  <ns2:creationId id="{32CE7C56-2790-4154-8981-0BCD80E2B0A0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3" name="diagram block">
              <a:extLst>
                <a:ext uri="{FF2B5EF4-FFF2-40B4-BE49-F238E27FC236}">
                  <ns2:creationId id="{0F73EC8F-41F3-47B0-B88C-09DEF211D304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4" name="diagram block">
              <a:extLst>
                <a:ext uri="{FF2B5EF4-FFF2-40B4-BE49-F238E27FC236}">
                  <ns2:creationId id="{09FA5ABD-CA2C-44E4-A1C6-A85E6B1E59BB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5" name="diagram block">
              <a:extLst>
                <a:ext uri="{FF2B5EF4-FFF2-40B4-BE49-F238E27FC236}">
                  <ns2:creationId id="{011D38FD-ADF1-400D-A885-7CBDDA2D373F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6" name="diagram block">
              <a:extLst>
                <a:ext uri="{FF2B5EF4-FFF2-40B4-BE49-F238E27FC236}">
                  <ns2:creationId id="{2A97A9DB-F921-4E58-BAA2-CBE2C33E585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51999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7" name="diagram block">
              <a:extLst>
                <a:ext uri="{FF2B5EF4-FFF2-40B4-BE49-F238E27FC236}">
                  <ns2:creationId id="{97CC22C3-0624-4DA2-A8B5-CED08F164093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8" name="diagram block">
              <a:extLst>
                <a:ext uri="{FF2B5EF4-FFF2-40B4-BE49-F238E27FC236}">
                  <ns2:creationId id="{0F3691FC-F51C-4F31-B565-9F67DCEB077C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09" name="diagram block">
              <a:extLst>
                <a:ext uri="{FF2B5EF4-FFF2-40B4-BE49-F238E27FC236}">
                  <ns2:creationId id="{6993A693-850C-4EBC-B6EF-B2A934B93C95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0" name="diagram block">
              <a:extLst>
                <a:ext uri="{FF2B5EF4-FFF2-40B4-BE49-F238E27FC236}">
                  <ns2:creationId id="{F10BC95D-C268-4DA1-ACA8-1C9C5147BAAC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1" name="diagram block">
              <a:extLst>
                <a:ext uri="{FF2B5EF4-FFF2-40B4-BE49-F238E27FC236}">
                  <ns2:creationId id="{7547B796-E687-4F7D-AFC4-4D03063D12B1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2" name="diagram block">
              <a:extLst>
                <a:ext uri="{FF2B5EF4-FFF2-40B4-BE49-F238E27FC236}">
                  <ns2:creationId id="{620F1BC0-5E61-43CD-BB71-DB63739210CC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13" name="diagram block">
              <a:extLst>
                <a:ext uri="{FF2B5EF4-FFF2-40B4-BE49-F238E27FC236}">
                  <ns2:creationId id="{4EA61F4F-8713-4913-B04C-495D4432EA3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162580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cxnSp>
          <p:nvCxnSpPr>
            <p:cNvPr id="414" name="native PowerPoint connector">
              <a:extLst>
                <a:ext uri="{FF2B5EF4-FFF2-40B4-BE49-F238E27FC236}">
                  <ns2:creationId id="{3A04C02E-6462-4B02-9671-74C96D2D581B}"/>
                </a:ext>
              </a:extLst>
            </p:cNvPr>
            <p:cNvCxnSpPr/>
            <p:nvPr/>
          </p:nvCxnSpPr>
          <p:spPr>
            <a:xfrm flipH="1" flipV="1">
              <a:off x="6337156" y="1130319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5" name="native PowerPoint connector">
              <a:extLst>
                <a:ext uri="{FF2B5EF4-FFF2-40B4-BE49-F238E27FC236}">
                  <ns2:creationId id="{F7F899B6-E2DD-4359-ABC0-854F34DFDCDD}"/>
                </a:ext>
              </a:extLst>
            </p:cNvPr>
            <p:cNvCxnSpPr/>
            <p:nvPr/>
          </p:nvCxnSpPr>
          <p:spPr>
            <a:xfrm flipH="0" flipV="1">
              <a:off x="6564252" y="1130319"/>
              <a:ext cx="0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6" name="native PowerPoint connector">
              <a:extLst>
                <a:ext uri="{FF2B5EF4-FFF2-40B4-BE49-F238E27FC236}">
                  <ns2:creationId id="{1E2C828A-DAAB-4A91-911A-F42092E1D134}"/>
                </a:ext>
              </a:extLst>
            </p:cNvPr>
            <p:cNvCxnSpPr/>
            <p:nvPr/>
          </p:nvCxnSpPr>
          <p:spPr>
            <a:xfrm flipH="0" flipV="1">
              <a:off x="6564252" y="1130319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7" name="native PowerPoint connector">
              <a:extLst>
                <a:ext uri="{FF2B5EF4-FFF2-40B4-BE49-F238E27FC236}">
                  <ns2:creationId id="{8D144876-6E2B-4462-AC1E-81F0FA7F1155}"/>
                </a:ext>
              </a:extLst>
            </p:cNvPr>
            <p:cNvCxnSpPr/>
            <p:nvPr/>
          </p:nvCxnSpPr>
          <p:spPr>
            <a:xfrm flipH="1" flipV="0">
              <a:off x="6337156" y="1357415"/>
              <a:ext cx="227096" cy="0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8" name="native PowerPoint connector">
              <a:extLst>
                <a:ext uri="{FF2B5EF4-FFF2-40B4-BE49-F238E27FC236}">
                  <ns2:creationId id="{40B84A02-A35B-46F7-BEFC-0D08B333757B}"/>
                </a:ext>
              </a:extLst>
            </p:cNvPr>
            <p:cNvCxnSpPr/>
            <p:nvPr/>
          </p:nvCxnSpPr>
          <p:spPr>
            <a:xfrm flipH="0" flipV="0">
              <a:off x="6564252" y="1357415"/>
              <a:ext cx="227096" cy="0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19" name="native PowerPoint connector">
              <a:extLst>
                <a:ext uri="{FF2B5EF4-FFF2-40B4-BE49-F238E27FC236}">
                  <ns2:creationId id="{6361AA1B-9610-4833-99B6-E6353F1E167C}"/>
                </a:ext>
              </a:extLst>
            </p:cNvPr>
            <p:cNvCxnSpPr/>
            <p:nvPr/>
          </p:nvCxnSpPr>
          <p:spPr>
            <a:xfrm flipH="1" flipV="0">
              <a:off x="6337156" y="1357415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0" name="native PowerPoint connector">
              <a:extLst>
                <a:ext uri="{FF2B5EF4-FFF2-40B4-BE49-F238E27FC236}">
                  <ns2:creationId id="{C8AE7567-8340-4F20-A1B6-724D7EC9B036}"/>
                </a:ext>
              </a:extLst>
            </p:cNvPr>
            <p:cNvCxnSpPr/>
            <p:nvPr/>
          </p:nvCxnSpPr>
          <p:spPr>
            <a:xfrm flipH="0" flipV="0">
              <a:off x="6564252" y="1357415"/>
              <a:ext cx="0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1" name="native PowerPoint connector">
              <a:extLst>
                <a:ext uri="{FF2B5EF4-FFF2-40B4-BE49-F238E27FC236}">
                  <ns2:creationId id="{5203AD64-EC46-4E53-B513-6D8E6D6BD4EC}"/>
                </a:ext>
              </a:extLst>
            </p:cNvPr>
            <p:cNvCxnSpPr/>
            <p:nvPr/>
          </p:nvCxnSpPr>
          <p:spPr>
            <a:xfrm flipH="0" flipV="0">
              <a:off x="6564252" y="1357415"/>
              <a:ext cx="227096" cy="227096"/>
            </a:xfrm>
            <a:prstGeom prst="straightConnector1">
              <a:avLst/>
            </a:prstGeom>
            <a:ln w="7742">
              <a:solidFill>
                <a:srgbClr val="153B6A"/>
              </a:solidFill>
              <a:prstDash val="solid"/>
              <a:tailEnd type="triangle" w="sm" len="sm"/>
            </a:ln>
          </p:spPr>
        </p:cxnSp>
        <p:cxnSp>
          <p:nvCxnSpPr>
            <p:cNvPr id="422" name="native PowerPoint connector">
              <a:extLst>
                <a:ext uri="{FF2B5EF4-FFF2-40B4-BE49-F238E27FC236}">
                  <ns2:creationId id="{B8399FC8-DDA8-4C88-B23E-2CD116803DFB}"/>
                </a:ext>
              </a:extLst>
            </p:cNvPr>
            <p:cNvCxnSpPr/>
            <p:nvPr/>
          </p:nvCxnSpPr>
          <p:spPr>
            <a:xfrm flipH="0" flipV="0">
              <a:off x="6631348" y="1357415"/>
              <a:ext cx="753546" cy="0"/>
            </a:xfrm>
            <a:prstGeom prst="straightConnector1">
              <a:avLst/>
            </a:prstGeom>
            <a:ln w="8258">
              <a:solidFill>
                <a:srgbClr val="153B6A"/>
              </a:solidFill>
              <a:prstDash val="dash"/>
              <a:headEnd type="triangle" w="sm" len="sm"/>
              <a:tailEnd type="triangle" w="sm" len="sm"/>
            </a:ln>
          </p:spPr>
        </p:cxnSp>
        <p:sp>
          <p:nvSpPr>
            <p:cNvPr id="423" name="diagram block">
              <a:extLst>
                <a:ext uri="{FF2B5EF4-FFF2-40B4-BE49-F238E27FC236}">
                  <ns2:creationId id="{19114772-411F-4B04-80B3-284BC29412A2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012897"/>
              <a:ext cx="1775478" cy="1300641"/>
            </a:xfrm>
            <a:prstGeom prst="roundRect">
              <a:avLst>
                <a:gd name="adj" fmla="val 2778"/>
              </a:avLst>
            </a:prstGeom>
            <a:gradFill>
              <a:gsLst>
                <a:gs pos="0">
                  <a:srgbClr val="FFF5DC"/>
                </a:gs>
                <a:gs pos="100000">
                  <a:srgbClr val="FFFDF8"/>
                </a:gs>
              </a:gsLst>
              <a:lin ang="5400000"/>
            </a:gradFill>
            <a:ln w="5161">
              <a:solidFill>
                <a:srgbClr val="F3D18C"/>
              </a:solidFill>
              <a:prstDash val="solid"/>
            </a:ln>
          </p:spPr>
        </p:sp>
        <p:sp>
          <p:nvSpPr>
            <p:cNvPr id="424" name="diagram block">
              <a:extLst>
                <a:ext uri="{FF2B5EF4-FFF2-40B4-BE49-F238E27FC236}">
                  <ns2:creationId id="{958945C5-DB98-4983-8FF2-4439035B1B0D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2012897"/>
              <a:ext cx="1775478" cy="175483"/>
            </a:xfrm>
            <a:prstGeom prst="roundRect">
              <a:avLst>
                <a:gd name="adj" fmla="val 14706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noFill/>
              <a:prstDash val="solid"/>
            </a:ln>
          </p:spPr>
        </p:sp>
        <p:sp>
          <p:nvSpPr>
            <p:cNvPr id="425" name="Camera 2 (view 2)">
              <a:extLst>
                <a:ext uri="{FF2B5EF4-FFF2-40B4-BE49-F238E27FC236}">
                  <ns2:creationId id="{4EFC6510-1DE1-4972-9D58-991E163F4BDA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2038703"/>
              <a:ext cx="1723865" cy="123871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95287"/>
            </a:bodyPr>
            <a:lstStyle>
              <a:def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Camera 2 (view 2)</a:t>
              </a:r>
            </a:p>
          </p:txBody>
        </p:sp>
        <p:sp>
          <p:nvSpPr>
            <p:cNvPr id="426" name="Time 1 (future)">
              <a:extLst>
                <a:ext uri="{FF2B5EF4-FFF2-40B4-BE49-F238E27FC236}">
                  <ns2:creationId id="{4E9D2978-66B6-4D97-845C-943274101F41}"/>
                </a:ext>
              </a:extLst>
            </p:cNvPr>
            <p:cNvSpPr>
              <a:spLocks noGrp="1"/>
            </p:cNvSpPr>
            <p:nvPr/>
          </p:nvSpPr>
          <p:spPr>
            <a:xfrm>
              <a:off x="6182317" y="2239993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1 (future)</a:t>
              </a:r>
            </a:p>
          </p:txBody>
        </p:sp>
        <p:sp>
          <p:nvSpPr>
            <p:cNvPr id="427" name="Time 2 (future)">
              <a:extLst>
                <a:ext uri="{FF2B5EF4-FFF2-40B4-BE49-F238E27FC236}">
                  <ns2:creationId id="{4DC68DFE-DD15-47E4-AA71-CDF0DE2171BC}"/>
                </a:ext>
              </a:extLst>
            </p:cNvPr>
            <p:cNvSpPr>
              <a:spLocks noGrp="1"/>
            </p:cNvSpPr>
            <p:nvPr/>
          </p:nvSpPr>
          <p:spPr>
            <a:xfrm>
              <a:off x="7064895" y="2239993"/>
              <a:ext cx="748385" cy="1238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9976"/>
            </a:bodyPr>
            <a:lstStyle>
              <a:def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25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Time 2 (future)</a:t>
              </a:r>
            </a:p>
          </p:txBody>
        </p:sp>
        <p:sp>
          <p:nvSpPr>
            <p:cNvPr id="428" name="diagram block">
              <a:extLst>
                <a:ext uri="{FF2B5EF4-FFF2-40B4-BE49-F238E27FC236}">
                  <ns2:creationId id="{CD7C10DA-81F8-4238-BADC-312AF6B96E04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29" name="diagram block">
              <a:extLst>
                <a:ext uri="{FF2B5EF4-FFF2-40B4-BE49-F238E27FC236}">
                  <ns2:creationId id="{EB769CCF-1465-4B49-82DA-CBC2E067A6A0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0" name="diagram block">
              <a:extLst>
                <a:ext uri="{FF2B5EF4-FFF2-40B4-BE49-F238E27FC236}">
                  <ns2:creationId id="{E8C72BEC-505B-4B50-9B58-A173C43D7C61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1" name="diagram block">
              <a:extLst>
                <a:ext uri="{FF2B5EF4-FFF2-40B4-BE49-F238E27FC236}">
                  <ns2:creationId id="{523D25A1-0BF8-402A-A6B2-6E994AEBFDFC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2" name="diagram block">
              <a:extLst>
                <a:ext uri="{FF2B5EF4-FFF2-40B4-BE49-F238E27FC236}">
                  <ns2:creationId id="{995C6FE1-36A9-47E2-94BC-4F1A8BB60AB6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3" name="diagram block">
              <a:extLst>
                <a:ext uri="{FF2B5EF4-FFF2-40B4-BE49-F238E27FC236}">
                  <ns2:creationId id="{26AC64B0-3C15-4091-A431-6AF6546D3373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4" name="diagram block">
              <a:extLst>
                <a:ext uri="{FF2B5EF4-FFF2-40B4-BE49-F238E27FC236}">
                  <ns2:creationId id="{054CD5FF-6E29-45A8-8151-BE256A33535B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5" name="diagram block">
              <a:extLst>
                <a:ext uri="{FF2B5EF4-FFF2-40B4-BE49-F238E27FC236}">
                  <ns2:creationId id="{FA05A90E-F9CB-41DE-9ED0-7A8ED4678ECC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6" name="diagram block">
              <a:extLst>
                <a:ext uri="{FF2B5EF4-FFF2-40B4-BE49-F238E27FC236}">
                  <ns2:creationId id="{C197DFD0-4311-43AF-AF5E-CD5455190B9F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7" name="diagram block">
              <a:extLst>
                <a:ext uri="{FF2B5EF4-FFF2-40B4-BE49-F238E27FC236}">
                  <ns2:creationId id="{7ED23DD1-A17F-4A81-B221-732A801A9FA2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8" name="diagram block">
              <a:extLst>
                <a:ext uri="{FF2B5EF4-FFF2-40B4-BE49-F238E27FC236}">
                  <ns2:creationId id="{814CA28E-7101-4811-85E7-906288AD5AEF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39" name="diagram block">
              <a:extLst>
                <a:ext uri="{FF2B5EF4-FFF2-40B4-BE49-F238E27FC236}">
                  <ns2:creationId id="{EBA0323E-45F5-4117-9D0D-09419557585A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0" name="diagram block">
              <a:extLst>
                <a:ext uri="{FF2B5EF4-FFF2-40B4-BE49-F238E27FC236}">
                  <ns2:creationId id="{9746A92D-668E-49C3-898C-9CA580912859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1" name="diagram block">
              <a:extLst>
                <a:ext uri="{FF2B5EF4-FFF2-40B4-BE49-F238E27FC236}">
                  <ns2:creationId id="{48BE024C-4232-47D0-9C78-6D0B3B97AF72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2" name="diagram block">
              <a:extLst>
                <a:ext uri="{FF2B5EF4-FFF2-40B4-BE49-F238E27FC236}">
                  <ns2:creationId id="{F6C7EC1C-6998-4F48-9B43-00397487F09D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3" name="diagram block">
              <a:extLst>
                <a:ext uri="{FF2B5EF4-FFF2-40B4-BE49-F238E27FC236}">
                  <ns2:creationId id="{1C9ED654-7C9A-4910-A389-4472B96F949B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4" name="diagram block">
              <a:extLst>
                <a:ext uri="{FF2B5EF4-FFF2-40B4-BE49-F238E27FC236}">
                  <ns2:creationId id="{43E1430A-5359-4CE0-8932-AED28B91451D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5" name="diagram block">
              <a:extLst>
                <a:ext uri="{FF2B5EF4-FFF2-40B4-BE49-F238E27FC236}">
                  <ns2:creationId id="{0831FCC0-15C8-44AE-9C86-BC710B86C89E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6" name="diagram block">
              <a:extLst>
                <a:ext uri="{FF2B5EF4-FFF2-40B4-BE49-F238E27FC236}">
                  <ns2:creationId id="{90CCB6F4-B5F5-451A-B210-879A6EB32C9F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7" name="diagram block">
              <a:extLst>
                <a:ext uri="{FF2B5EF4-FFF2-40B4-BE49-F238E27FC236}">
                  <ns2:creationId id="{DEA81AD9-DBE2-4E47-B302-71ED4BD913B7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8" name="diagram block">
              <a:extLst>
                <a:ext uri="{FF2B5EF4-FFF2-40B4-BE49-F238E27FC236}">
                  <ns2:creationId id="{36391DA1-0DCA-4B7F-AFE8-5AE206505246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49" name="diagram block">
              <a:extLst>
                <a:ext uri="{FF2B5EF4-FFF2-40B4-BE49-F238E27FC236}">
                  <ns2:creationId id="{BEB5D7DF-2A7D-4028-BEB8-B885E8C5A788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0" name="diagram block">
              <a:extLst>
                <a:ext uri="{FF2B5EF4-FFF2-40B4-BE49-F238E27FC236}">
                  <ns2:creationId id="{FA147142-C976-4CFF-B338-DD27B50E8FFA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1" name="diagram block">
              <a:extLst>
                <a:ext uri="{FF2B5EF4-FFF2-40B4-BE49-F238E27FC236}">
                  <ns2:creationId id="{FF456DDE-5AB4-4F09-88D4-8C3E8F304CD5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2" name="diagram block">
              <a:extLst>
                <a:ext uri="{FF2B5EF4-FFF2-40B4-BE49-F238E27FC236}">
                  <ns2:creationId id="{6A625119-267A-41A1-9E2F-30D279064580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3" name="diagram block">
              <a:extLst>
                <a:ext uri="{FF2B5EF4-FFF2-40B4-BE49-F238E27FC236}">
                  <ns2:creationId id="{56239816-7B42-41B8-BCFD-96395055DFC0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4" name="diagram block">
              <a:extLst>
                <a:ext uri="{FF2B5EF4-FFF2-40B4-BE49-F238E27FC236}">
                  <ns2:creationId id="{20EE27C8-EE78-41F4-9488-36107A05E8CF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5" name="diagram block">
              <a:extLst>
                <a:ext uri="{FF2B5EF4-FFF2-40B4-BE49-F238E27FC236}">
                  <ns2:creationId id="{8ECEAA01-6722-44C4-89F9-FD9E152BED79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6" name="diagram block">
              <a:extLst>
                <a:ext uri="{FF2B5EF4-FFF2-40B4-BE49-F238E27FC236}">
                  <ns2:creationId id="{F3CA797B-E406-4458-A947-39F8CC02C136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7" name="diagram block">
              <a:extLst>
                <a:ext uri="{FF2B5EF4-FFF2-40B4-BE49-F238E27FC236}">
                  <ns2:creationId id="{4330FFF9-DD63-4E7D-BB12-D356A41679A5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8" name="diagram block">
              <a:extLst>
                <a:ext uri="{FF2B5EF4-FFF2-40B4-BE49-F238E27FC236}">
                  <ns2:creationId id="{F9630396-B374-48A3-B6CE-7FF2F6551061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59" name="diagram block">
              <a:extLst>
                <a:ext uri="{FF2B5EF4-FFF2-40B4-BE49-F238E27FC236}">
                  <ns2:creationId id="{E7BA0499-E61E-485E-9357-F3E4FFD306A0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0" name="diagram block">
              <a:extLst>
                <a:ext uri="{FF2B5EF4-FFF2-40B4-BE49-F238E27FC236}">
                  <ns2:creationId id="{F442D180-A8E7-4569-9BE0-CEB1A3D4FB1E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1" name="diagram block">
              <a:extLst>
                <a:ext uri="{FF2B5EF4-FFF2-40B4-BE49-F238E27FC236}">
                  <ns2:creationId id="{2CEDFBA2-617B-4F9F-9F2A-08C83B9352E9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2" name="diagram block">
              <a:extLst>
                <a:ext uri="{FF2B5EF4-FFF2-40B4-BE49-F238E27FC236}">
                  <ns2:creationId id="{FE16125C-E20E-4C7E-9432-A7FE16EDC6AD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3" name="diagram block">
              <a:extLst>
                <a:ext uri="{FF2B5EF4-FFF2-40B4-BE49-F238E27FC236}">
                  <ns2:creationId id="{1DFE58FD-8DE7-42E7-9EE5-8F90D37467A9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4" name="diagram block">
              <a:extLst>
                <a:ext uri="{FF2B5EF4-FFF2-40B4-BE49-F238E27FC236}">
                  <ns2:creationId id="{5159237C-3C08-4B05-8F2D-ACF577F0534D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5" name="diagram block">
              <a:extLst>
                <a:ext uri="{FF2B5EF4-FFF2-40B4-BE49-F238E27FC236}">
                  <ns2:creationId id="{6B5792BC-4F6E-43C4-8697-E003696CD364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6" name="diagram block">
              <a:extLst>
                <a:ext uri="{FF2B5EF4-FFF2-40B4-BE49-F238E27FC236}">
                  <ns2:creationId id="{CD5776E9-6B2E-4BD1-A891-164F8D92EABF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7" name="diagram block">
              <a:extLst>
                <a:ext uri="{FF2B5EF4-FFF2-40B4-BE49-F238E27FC236}">
                  <ns2:creationId id="{F4B1189E-C0E1-48B4-9DC9-2FAAF4D05505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8" name="diagram block">
              <a:extLst>
                <a:ext uri="{FF2B5EF4-FFF2-40B4-BE49-F238E27FC236}">
                  <ns2:creationId id="{F14774AC-82C1-47AE-A364-6B421F979744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69" name="diagram block">
              <a:extLst>
                <a:ext uri="{FF2B5EF4-FFF2-40B4-BE49-F238E27FC236}">
                  <ns2:creationId id="{75035361-7873-4564-B427-CD2ECC0F0607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0" name="diagram block">
              <a:extLst>
                <a:ext uri="{FF2B5EF4-FFF2-40B4-BE49-F238E27FC236}">
                  <ns2:creationId id="{1D2A3936-3C24-45FF-AE98-6563F5E668DA}"/>
                </a:ext>
              </a:extLst>
            </p:cNvPr>
            <p:cNvSpPr>
              <a:spLocks noGrp="1"/>
            </p:cNvSpPr>
            <p:nvPr/>
          </p:nvSpPr>
          <p:spPr>
            <a:xfrm>
              <a:off x="6197801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1" name="diagram block">
              <a:extLst>
                <a:ext uri="{FF2B5EF4-FFF2-40B4-BE49-F238E27FC236}">
                  <ns2:creationId id="{28DC4FC7-0753-4EA6-B46F-CF1D4F28B121}"/>
                </a:ext>
              </a:extLst>
            </p:cNvPr>
            <p:cNvSpPr>
              <a:spLocks noGrp="1"/>
            </p:cNvSpPr>
            <p:nvPr/>
          </p:nvSpPr>
          <p:spPr>
            <a:xfrm>
              <a:off x="6303607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2" name="diagram block">
              <a:extLst>
                <a:ext uri="{FF2B5EF4-FFF2-40B4-BE49-F238E27FC236}">
                  <ns2:creationId id="{88A31266-33D6-4186-BBD7-258A58EB6A64}"/>
                </a:ext>
              </a:extLst>
            </p:cNvPr>
            <p:cNvSpPr>
              <a:spLocks noGrp="1"/>
            </p:cNvSpPr>
            <p:nvPr/>
          </p:nvSpPr>
          <p:spPr>
            <a:xfrm>
              <a:off x="6409414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3" name="diagram block">
              <a:extLst>
                <a:ext uri="{FF2B5EF4-FFF2-40B4-BE49-F238E27FC236}">
                  <ns2:creationId id="{B730F83F-B037-45B5-BB7E-98F8E6C37D3C}"/>
                </a:ext>
              </a:extLst>
            </p:cNvPr>
            <p:cNvSpPr>
              <a:spLocks noGrp="1"/>
            </p:cNvSpPr>
            <p:nvPr/>
          </p:nvSpPr>
          <p:spPr>
            <a:xfrm>
              <a:off x="6515220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4" name="diagram block">
              <a:extLst>
                <a:ext uri="{FF2B5EF4-FFF2-40B4-BE49-F238E27FC236}">
                  <ns2:creationId id="{539723F5-AF89-47DB-9198-72447361F225}"/>
                </a:ext>
              </a:extLst>
            </p:cNvPr>
            <p:cNvSpPr>
              <a:spLocks noGrp="1"/>
            </p:cNvSpPr>
            <p:nvPr/>
          </p:nvSpPr>
          <p:spPr>
            <a:xfrm>
              <a:off x="6621026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5" name="diagram block">
              <a:extLst>
                <a:ext uri="{FF2B5EF4-FFF2-40B4-BE49-F238E27FC236}">
                  <ns2:creationId id="{08733BA0-4958-4AF4-9C4A-3E6B2289E7A7}"/>
                </a:ext>
              </a:extLst>
            </p:cNvPr>
            <p:cNvSpPr>
              <a:spLocks noGrp="1"/>
            </p:cNvSpPr>
            <p:nvPr/>
          </p:nvSpPr>
          <p:spPr>
            <a:xfrm>
              <a:off x="6726832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6" name="diagram block">
              <a:extLst>
                <a:ext uri="{FF2B5EF4-FFF2-40B4-BE49-F238E27FC236}">
                  <ns2:creationId id="{9711C84F-38FB-4ABD-88B8-35550957BECE}"/>
                </a:ext>
              </a:extLst>
            </p:cNvPr>
            <p:cNvSpPr>
              <a:spLocks noGrp="1"/>
            </p:cNvSpPr>
            <p:nvPr/>
          </p:nvSpPr>
          <p:spPr>
            <a:xfrm>
              <a:off x="6832638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7" name="diagram block">
              <a:extLst>
                <a:ext uri="{FF2B5EF4-FFF2-40B4-BE49-F238E27FC236}">
                  <ns2:creationId id="{3066F50B-4BAD-4FF1-80DF-5574B01F76F2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8" name="diagram block">
              <a:extLst>
                <a:ext uri="{FF2B5EF4-FFF2-40B4-BE49-F238E27FC236}">
                  <ns2:creationId id="{0E57F347-DB2E-4D8C-8BF9-3F5FF63C1D99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79" name="diagram block">
              <a:extLst>
                <a:ext uri="{FF2B5EF4-FFF2-40B4-BE49-F238E27FC236}">
                  <ns2:creationId id="{2C50521C-0A43-41CF-92F6-A1A88B8EF85B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0" name="diagram block">
              <a:extLst>
                <a:ext uri="{FF2B5EF4-FFF2-40B4-BE49-F238E27FC236}">
                  <ns2:creationId id="{689B3D37-4E3F-4323-8740-7F30667CE348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1" name="diagram block">
              <a:extLst>
                <a:ext uri="{FF2B5EF4-FFF2-40B4-BE49-F238E27FC236}">
                  <ns2:creationId id="{C9D50EFE-04F6-4B6C-87ED-08637C86C7A7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2" name="diagram block">
              <a:extLst>
                <a:ext uri="{FF2B5EF4-FFF2-40B4-BE49-F238E27FC236}">
                  <ns2:creationId id="{A4150075-C4B3-4E6C-9AA4-0296AB7247B2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3" name="diagram block">
              <a:extLst>
                <a:ext uri="{FF2B5EF4-FFF2-40B4-BE49-F238E27FC236}">
                  <ns2:creationId id="{C9901D48-0ADA-40BD-9E97-FB1EF0E66843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35354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4" name="diagram block">
              <a:extLst>
                <a:ext uri="{FF2B5EF4-FFF2-40B4-BE49-F238E27FC236}">
                  <ns2:creationId id="{A9038AA0-CF3F-41AF-BFF9-28A4A4E3AC98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5" name="diagram block">
              <a:extLst>
                <a:ext uri="{FF2B5EF4-FFF2-40B4-BE49-F238E27FC236}">
                  <ns2:creationId id="{631468F2-10AC-4B1B-9135-5ED0785194C8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6" name="diagram block">
              <a:extLst>
                <a:ext uri="{FF2B5EF4-FFF2-40B4-BE49-F238E27FC236}">
                  <ns2:creationId id="{5B993802-CD1F-4548-89C7-3A582600E960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7" name="diagram block">
              <a:extLst>
                <a:ext uri="{FF2B5EF4-FFF2-40B4-BE49-F238E27FC236}">
                  <ns2:creationId id="{F2965452-8EB1-455B-ADF5-C9442DEB09AC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8" name="diagram block">
              <a:extLst>
                <a:ext uri="{FF2B5EF4-FFF2-40B4-BE49-F238E27FC236}">
                  <ns2:creationId id="{294D9EAD-5763-4DC8-86A1-BFCCE48498C7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89" name="diagram block">
              <a:extLst>
                <a:ext uri="{FF2B5EF4-FFF2-40B4-BE49-F238E27FC236}">
                  <ns2:creationId id="{7922AA73-1B70-47C7-8A58-EEC94FF5E1FB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0" name="diagram block">
              <a:extLst>
                <a:ext uri="{FF2B5EF4-FFF2-40B4-BE49-F238E27FC236}">
                  <ns2:creationId id="{C01179A1-C833-468A-A088-3970BAA2B86D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459347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1" name="diagram block">
              <a:extLst>
                <a:ext uri="{FF2B5EF4-FFF2-40B4-BE49-F238E27FC236}">
                  <ns2:creationId id="{3CD910E0-D23F-4269-B014-5A0F84F406AD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2" name="diagram block">
              <a:extLst>
                <a:ext uri="{FF2B5EF4-FFF2-40B4-BE49-F238E27FC236}">
                  <ns2:creationId id="{C7110D24-EC67-4C18-846A-6BF3CCAEEADB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3" name="diagram block">
              <a:extLst>
                <a:ext uri="{FF2B5EF4-FFF2-40B4-BE49-F238E27FC236}">
                  <ns2:creationId id="{23B4F6E8-F16B-4380-AE3E-6F4AF3885992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4" name="diagram block">
              <a:extLst>
                <a:ext uri="{FF2B5EF4-FFF2-40B4-BE49-F238E27FC236}">
                  <ns2:creationId id="{B52A54FD-B164-4347-9256-00D64A94D664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5" name="diagram block">
              <a:extLst>
                <a:ext uri="{FF2B5EF4-FFF2-40B4-BE49-F238E27FC236}">
                  <ns2:creationId id="{D12BCA25-DE6F-4407-9165-3CC83AF6129E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6" name="diagram block">
              <a:extLst>
                <a:ext uri="{FF2B5EF4-FFF2-40B4-BE49-F238E27FC236}">
                  <ns2:creationId id="{469FEDF9-4244-4275-91ED-B5A34FADF0BD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7" name="diagram block">
              <a:extLst>
                <a:ext uri="{FF2B5EF4-FFF2-40B4-BE49-F238E27FC236}">
                  <ns2:creationId id="{FC14572A-2443-4A5A-A3E2-6D314B009650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565153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8" name="diagram block">
              <a:extLst>
                <a:ext uri="{FF2B5EF4-FFF2-40B4-BE49-F238E27FC236}">
                  <ns2:creationId id="{F38A0B0E-037A-482A-B99B-8A87F4D026DC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499" name="diagram block">
              <a:extLst>
                <a:ext uri="{FF2B5EF4-FFF2-40B4-BE49-F238E27FC236}">
                  <ns2:creationId id="{BB8E04C0-EE84-4209-9B63-DF17F25816E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0" name="diagram block">
              <a:extLst>
                <a:ext uri="{FF2B5EF4-FFF2-40B4-BE49-F238E27FC236}">
                  <ns2:creationId id="{13617782-0E0C-431B-BB3A-B285ABCBC310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1" name="diagram block">
              <a:extLst>
                <a:ext uri="{FF2B5EF4-FFF2-40B4-BE49-F238E27FC236}">
                  <ns2:creationId id="{CDDA0183-E9AE-4A47-BEDA-6C48B61774CD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2" name="diagram block">
              <a:extLst>
                <a:ext uri="{FF2B5EF4-FFF2-40B4-BE49-F238E27FC236}">
                  <ns2:creationId id="{4768F3E1-5B50-4212-8272-71C51A1AA6FE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3" name="diagram block">
              <a:extLst>
                <a:ext uri="{FF2B5EF4-FFF2-40B4-BE49-F238E27FC236}">
                  <ns2:creationId id="{14C51AFE-3088-435B-800E-C5ABB4FCD9E6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4" name="diagram block">
              <a:extLst>
                <a:ext uri="{FF2B5EF4-FFF2-40B4-BE49-F238E27FC236}">
                  <ns2:creationId id="{4F9AF768-E0DE-40CD-AE73-87873DBFC12F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670959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5" name="diagram block">
              <a:extLst>
                <a:ext uri="{FF2B5EF4-FFF2-40B4-BE49-F238E27FC236}">
                  <ns2:creationId id="{C59CED6C-6290-49A1-998A-63C7E74644A5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6" name="diagram block">
              <a:extLst>
                <a:ext uri="{FF2B5EF4-FFF2-40B4-BE49-F238E27FC236}">
                  <ns2:creationId id="{ED964F6C-F707-47DC-A146-9299358A07B8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7" name="diagram block">
              <a:extLst>
                <a:ext uri="{FF2B5EF4-FFF2-40B4-BE49-F238E27FC236}">
                  <ns2:creationId id="{FBC97FF9-A984-4C00-9535-CE616AC3537F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8" name="diagram block">
              <a:extLst>
                <a:ext uri="{FF2B5EF4-FFF2-40B4-BE49-F238E27FC236}">
                  <ns2:creationId id="{55720C2E-67F8-485E-A603-A714BCC8E08B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09" name="diagram block">
              <a:extLst>
                <a:ext uri="{FF2B5EF4-FFF2-40B4-BE49-F238E27FC236}">
                  <ns2:creationId id="{A07E263D-1BF3-4952-B901-2B0AF7AFDA40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0" name="diagram block">
              <a:extLst>
                <a:ext uri="{FF2B5EF4-FFF2-40B4-BE49-F238E27FC236}">
                  <ns2:creationId id="{9146BF6B-60A4-4257-B831-EBEE98102EFB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1" name="diagram block">
              <a:extLst>
                <a:ext uri="{FF2B5EF4-FFF2-40B4-BE49-F238E27FC236}">
                  <ns2:creationId id="{8423AEA6-9C8C-467A-A59D-315130062EB3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776765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2" name="diagram block">
              <a:extLst>
                <a:ext uri="{FF2B5EF4-FFF2-40B4-BE49-F238E27FC236}">
                  <ns2:creationId id="{FAC2AB0A-5F58-4EA4-A8A4-1BA285391DA5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3" name="diagram block">
              <a:extLst>
                <a:ext uri="{FF2B5EF4-FFF2-40B4-BE49-F238E27FC236}">
                  <ns2:creationId id="{E9F282AD-E70E-4073-8BB1-E8A41240DEDD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4" name="diagram block">
              <a:extLst>
                <a:ext uri="{FF2B5EF4-FFF2-40B4-BE49-F238E27FC236}">
                  <ns2:creationId id="{89EE9A49-780C-4B48-B6B7-0D4C4C4003BA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5" name="diagram block">
              <a:extLst>
                <a:ext uri="{FF2B5EF4-FFF2-40B4-BE49-F238E27FC236}">
                  <ns2:creationId id="{216A6E69-E898-499A-AAE7-1C3E316DEAC9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6" name="diagram block">
              <a:extLst>
                <a:ext uri="{FF2B5EF4-FFF2-40B4-BE49-F238E27FC236}">
                  <ns2:creationId id="{E9B4EFD9-0BF5-4BE6-9462-37CA576244C9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7" name="diagram block">
              <a:extLst>
                <a:ext uri="{FF2B5EF4-FFF2-40B4-BE49-F238E27FC236}">
                  <ns2:creationId id="{378FE214-143F-491B-8250-C8D07B03EF63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8" name="diagram block">
              <a:extLst>
                <a:ext uri="{FF2B5EF4-FFF2-40B4-BE49-F238E27FC236}">
                  <ns2:creationId id="{B5EA802B-C763-4B19-9974-18129B7ADF6D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882571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19" name="diagram block">
              <a:extLst>
                <a:ext uri="{FF2B5EF4-FFF2-40B4-BE49-F238E27FC236}">
                  <ns2:creationId id="{E9CB0DDD-DAF8-4D05-8871-D6DB6AE2B446}"/>
                </a:ext>
              </a:extLst>
            </p:cNvPr>
            <p:cNvSpPr>
              <a:spLocks noGrp="1"/>
            </p:cNvSpPr>
            <p:nvPr/>
          </p:nvSpPr>
          <p:spPr>
            <a:xfrm>
              <a:off x="7080379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0" name="diagram block">
              <a:extLst>
                <a:ext uri="{FF2B5EF4-FFF2-40B4-BE49-F238E27FC236}">
                  <ns2:creationId id="{9B7FB504-F132-4BBC-A661-0B079BEF6C45}"/>
                </a:ext>
              </a:extLst>
            </p:cNvPr>
            <p:cNvSpPr>
              <a:spLocks noGrp="1"/>
            </p:cNvSpPr>
            <p:nvPr/>
          </p:nvSpPr>
          <p:spPr>
            <a:xfrm>
              <a:off x="7186185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1" name="diagram block">
              <a:extLst>
                <a:ext uri="{FF2B5EF4-FFF2-40B4-BE49-F238E27FC236}">
                  <ns2:creationId id="{0E41C0A7-3FCB-4993-8A23-5DD00C7E215D}"/>
                </a:ext>
              </a:extLst>
            </p:cNvPr>
            <p:cNvSpPr>
              <a:spLocks noGrp="1"/>
            </p:cNvSpPr>
            <p:nvPr/>
          </p:nvSpPr>
          <p:spPr>
            <a:xfrm>
              <a:off x="7291991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2" name="diagram block">
              <a:extLst>
                <a:ext uri="{FF2B5EF4-FFF2-40B4-BE49-F238E27FC236}">
                  <ns2:creationId id="{E105CA1D-CD77-4948-8708-8F7C1CC26FE1}"/>
                </a:ext>
              </a:extLst>
            </p:cNvPr>
            <p:cNvSpPr>
              <a:spLocks noGrp="1"/>
            </p:cNvSpPr>
            <p:nvPr/>
          </p:nvSpPr>
          <p:spPr>
            <a:xfrm>
              <a:off x="7397797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3" name="diagram block">
              <a:extLst>
                <a:ext uri="{FF2B5EF4-FFF2-40B4-BE49-F238E27FC236}">
                  <ns2:creationId id="{8BD0E8C3-780E-4819-93FB-D412E316627F}"/>
                </a:ext>
              </a:extLst>
            </p:cNvPr>
            <p:cNvSpPr>
              <a:spLocks noGrp="1"/>
            </p:cNvSpPr>
            <p:nvPr/>
          </p:nvSpPr>
          <p:spPr>
            <a:xfrm>
              <a:off x="7503604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4" name="diagram block">
              <a:extLst>
                <a:ext uri="{FF2B5EF4-FFF2-40B4-BE49-F238E27FC236}">
                  <ns2:creationId id="{000E55CE-F5B9-4A95-A5BF-548B5C51C9A2}"/>
                </a:ext>
              </a:extLst>
            </p:cNvPr>
            <p:cNvSpPr>
              <a:spLocks noGrp="1"/>
            </p:cNvSpPr>
            <p:nvPr/>
          </p:nvSpPr>
          <p:spPr>
            <a:xfrm>
              <a:off x="7609410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5" name="diagram block">
              <a:extLst>
                <a:ext uri="{FF2B5EF4-FFF2-40B4-BE49-F238E27FC236}">
                  <ns2:creationId id="{B7D4E886-E963-45EB-B3FC-99E6C78D5C89}"/>
                </a:ext>
              </a:extLst>
            </p:cNvPr>
            <p:cNvSpPr>
              <a:spLocks noGrp="1"/>
            </p:cNvSpPr>
            <p:nvPr/>
          </p:nvSpPr>
          <p:spPr>
            <a:xfrm>
              <a:off x="7715216" y="2988378"/>
              <a:ext cx="99096" cy="99096"/>
            </a:xfrm>
            <a:prstGeom prst="rect">
              <a:avLst/>
            </a:prstGeom>
            <a:solidFill>
              <a:srgbClr val="FFBE39"/>
            </a:solidFill>
            <a:ln w="2839">
              <a:solidFill>
                <a:srgbClr val="F0A71C"/>
              </a:solidFill>
              <a:prstDash val="solid"/>
            </a:ln>
          </p:spPr>
        </p:sp>
        <p:sp>
          <p:nvSpPr>
            <p:cNvPr id="526" name="diagram block">
              <a:extLst>
                <a:ext uri="{FF2B5EF4-FFF2-40B4-BE49-F238E27FC236}">
                  <ns2:creationId id="{7A31980E-0E99-4D0D-AB04-1F09AC044D4C}"/>
                </a:ext>
              </a:extLst>
            </p:cNvPr>
            <p:cNvSpPr>
              <a:spLocks noGrp="1"/>
            </p:cNvSpPr>
            <p:nvPr/>
          </p:nvSpPr>
          <p:spPr>
            <a:xfrm>
              <a:off x="7895860" y="686449"/>
              <a:ext cx="908384" cy="1310964"/>
            </a:xfrm>
            <a:prstGeom prst="roundRect">
              <a:avLst>
                <a:gd name="adj" fmla="val 2841"/>
              </a:avLst>
            </a:prstGeom>
            <a:solidFill>
              <a:srgbClr val="FFFFFF"/>
            </a:solidFill>
            <a:ln w="4129">
              <a:solidFill>
                <a:srgbClr val="CBDFEE"/>
              </a:solidFill>
              <a:prstDash val="solid"/>
            </a:ln>
          </p:spPr>
        </p:sp>
        <p:sp>
          <p:nvSpPr>
            <p:cNvPr id="527" name="diagram block">
              <a:extLst>
                <a:ext uri="{FF2B5EF4-FFF2-40B4-BE49-F238E27FC236}">
                  <ns2:creationId id="{FA108964-E17D-476F-887C-1F78B3CDC920}"/>
                </a:ext>
              </a:extLst>
            </p:cNvPr>
            <p:cNvSpPr>
              <a:spLocks noGrp="1"/>
            </p:cNvSpPr>
            <p:nvPr/>
          </p:nvSpPr>
          <p:spPr>
            <a:xfrm>
              <a:off x="7962957" y="758707"/>
              <a:ext cx="129032" cy="129032"/>
            </a:xfrm>
            <a:prstGeom prst="rect">
              <a:avLst/>
            </a:prstGeom>
            <a:solidFill>
              <a:srgbClr val="FFBE39"/>
            </a:solidFill>
            <a:ln w="4645">
              <a:solidFill>
                <a:srgbClr val="E8A321"/>
              </a:solidFill>
              <a:prstDash val="solid"/>
            </a:ln>
          </p:spPr>
        </p:sp>
        <p:sp>
          <p:nvSpPr>
            <p:cNvPr id="528" name="Latent token&#10;(48-D)">
              <a:extLst>
                <a:ext uri="{FF2B5EF4-FFF2-40B4-BE49-F238E27FC236}">
                  <ns2:creationId id="{C27605E3-DE4F-44AA-ACE2-0749A3E151B8}"/>
                </a:ext>
              </a:extLst>
            </p:cNvPr>
            <p:cNvSpPr>
              <a:spLocks noGrp="1"/>
            </p:cNvSpPr>
            <p:nvPr/>
          </p:nvSpPr>
          <p:spPr>
            <a:xfrm>
              <a:off x="8138440" y="748385"/>
              <a:ext cx="609030" cy="2270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6511"/>
            </a:bodyPr>
            <a:lstStyle>
              <a:def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Latent token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94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(48-D)</a:t>
              </a:r>
            </a:p>
          </p:txBody>
        </p:sp>
        <p:sp>
          <p:nvSpPr>
            <p:cNvPr id="529" name="diagram block">
              <a:extLst>
                <a:ext uri="{FF2B5EF4-FFF2-40B4-BE49-F238E27FC236}">
                  <ns2:creationId id="{E297318B-66B6-44D1-96AF-03F3132F3661}"/>
                </a:ext>
              </a:extLst>
            </p:cNvPr>
            <p:cNvSpPr>
              <a:spLocks noGrp="1"/>
            </p:cNvSpPr>
            <p:nvPr/>
          </p:nvSpPr>
          <p:spPr>
            <a:xfrm>
              <a:off x="7962957" y="980642"/>
              <a:ext cx="129032" cy="118709"/>
            </a:xfrm>
            <a:prstGeom prst="rect">
              <a:avLst/>
            </a:prstGeom>
            <a:solidFill>
              <a:srgbClr val="FF8156"/>
            </a:solidFill>
            <a:ln w="4645">
              <a:solidFill>
                <a:srgbClr val="F35A36"/>
              </a:solidFill>
              <a:prstDash val="solid"/>
            </a:ln>
          </p:spPr>
        </p:sp>
        <p:sp>
          <p:nvSpPr>
            <p:cNvPr id="530" name="Selected location">
              <a:extLst>
                <a:ext uri="{FF2B5EF4-FFF2-40B4-BE49-F238E27FC236}">
                  <ns2:creationId id="{4A4F7A2D-53A4-4E37-8999-78300EB6633F}"/>
                </a:ext>
              </a:extLst>
            </p:cNvPr>
            <p:cNvSpPr>
              <a:spLocks noGrp="1"/>
            </p:cNvSpPr>
            <p:nvPr/>
          </p:nvSpPr>
          <p:spPr>
            <a:xfrm>
              <a:off x="8138440" y="985803"/>
              <a:ext cx="614192" cy="1445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323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Selected location</a:t>
              </a:r>
            </a:p>
          </p:txBody>
        </p:sp>
        <p:cxnSp>
          <p:nvCxnSpPr>
            <p:cNvPr id="531" name="native PowerPoint connector">
              <a:extLst>
                <a:ext uri="{FF2B5EF4-FFF2-40B4-BE49-F238E27FC236}">
                  <ns2:creationId id="{B2C624F9-7895-4B65-B7C7-38E60FF12A68}"/>
                </a:ext>
              </a:extLst>
            </p:cNvPr>
            <p:cNvCxnSpPr/>
            <p:nvPr/>
          </p:nvCxnSpPr>
          <p:spPr>
            <a:xfrm flipH="0" flipV="0">
              <a:off x="7947473" y="1238706"/>
              <a:ext cx="175483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dash"/>
              <a:headEnd type="triangle" w="sm" len="sm"/>
              <a:tailEnd type="triangle" w="sm" len="sm"/>
            </a:ln>
          </p:spPr>
        </p:cxnSp>
        <p:sp>
          <p:nvSpPr>
            <p:cNvPr id="532" name="Temporal edge&#10;(same position,&#10;same camera only)">
              <a:extLst>
                <a:ext uri="{FF2B5EF4-FFF2-40B4-BE49-F238E27FC236}">
                  <ns2:creationId id="{DA6BD129-AA7C-4D95-A4FE-02783A8BDD07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176770"/>
              <a:ext cx="609030" cy="3303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450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Temporal edge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(same position,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same camera only)</a:t>
              </a:r>
            </a:p>
          </p:txBody>
        </p:sp>
        <p:cxnSp>
          <p:nvCxnSpPr>
            <p:cNvPr id="533" name="native PowerPoint connector">
              <a:extLst>
                <a:ext uri="{FF2B5EF4-FFF2-40B4-BE49-F238E27FC236}">
                  <ns2:creationId id="{1DFEAA61-41FB-4F93-88FF-8F9B07C57ABA}"/>
                </a:ext>
              </a:extLst>
            </p:cNvPr>
            <p:cNvCxnSpPr/>
            <p:nvPr/>
          </p:nvCxnSpPr>
          <p:spPr>
            <a:xfrm flipH="0" flipV="0">
              <a:off x="8035215" y="1486447"/>
              <a:ext cx="0" cy="211612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headEnd type="triangle" w="sm" len="sm"/>
              <a:tailEnd type="triangle" w="sm" len="sm"/>
            </a:ln>
          </p:spPr>
        </p:cxnSp>
        <p:cxnSp>
          <p:nvCxnSpPr>
            <p:cNvPr id="534" name="native PowerPoint connector">
              <a:extLst>
                <a:ext uri="{FF2B5EF4-FFF2-40B4-BE49-F238E27FC236}">
                  <ns2:creationId id="{94391866-70EE-4A4D-88D8-9DF600E6C1A1}"/>
                </a:ext>
              </a:extLst>
            </p:cNvPr>
            <p:cNvCxnSpPr/>
            <p:nvPr/>
          </p:nvCxnSpPr>
          <p:spPr>
            <a:xfrm flipH="0" flipV="0">
              <a:off x="7937151" y="1594834"/>
              <a:ext cx="190967" cy="0"/>
            </a:xfrm>
            <a:prstGeom prst="straightConnector1">
              <a:avLst/>
            </a:prstGeom>
            <a:ln w="7742">
              <a:solidFill>
                <a:srgbClr val="071B3C"/>
              </a:solidFill>
              <a:prstDash val="solid"/>
              <a:headEnd type="triangle" w="sm" len="sm"/>
              <a:tailEnd type="triangle" w="sm" len="sm"/>
            </a:ln>
          </p:spPr>
        </p:cxnSp>
        <p:sp>
          <p:nvSpPr>
            <p:cNvPr id="535" name="8 spatial neighbors&#10;(same time)">
              <a:extLst>
                <a:ext uri="{FF2B5EF4-FFF2-40B4-BE49-F238E27FC236}">
                  <ns2:creationId id="{AA4A11D6-334C-43A1-A10D-C90E82877E4B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548382"/>
              <a:ext cx="614192" cy="22193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86983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spatial neighbors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(same time)</a:t>
              </a:r>
            </a:p>
          </p:txBody>
        </p:sp>
        <p:cxnSp>
          <p:nvCxnSpPr>
            <p:cNvPr id="536" name="native PowerPoint connector">
              <a:extLst>
                <a:ext uri="{FF2B5EF4-FFF2-40B4-BE49-F238E27FC236}">
                  <ns2:creationId id="{2E283157-93B6-4F45-8C87-86FE49EE292A}"/>
                </a:ext>
              </a:extLst>
            </p:cNvPr>
            <p:cNvCxnSpPr/>
            <p:nvPr/>
          </p:nvCxnSpPr>
          <p:spPr>
            <a:xfrm flipH="0" flipV="0">
              <a:off x="7968118" y="1811607"/>
              <a:ext cx="98064" cy="98064"/>
            </a:xfrm>
            <a:prstGeom prst="straightConnector1">
              <a:avLst/>
            </a:prstGeom>
            <a:ln w="12387">
              <a:solidFill>
                <a:srgbClr val="F31627"/>
              </a:solidFill>
              <a:prstDash val="solid"/>
            </a:ln>
          </p:spPr>
        </p:cxnSp>
        <p:cxnSp>
          <p:nvCxnSpPr>
            <p:cNvPr id="537" name="native PowerPoint connector">
              <a:extLst>
                <a:ext uri="{FF2B5EF4-FFF2-40B4-BE49-F238E27FC236}">
                  <ns2:creationId id="{6A965FFA-7F57-4B71-A56C-2395D3633B48}"/>
                </a:ext>
              </a:extLst>
            </p:cNvPr>
            <p:cNvCxnSpPr/>
            <p:nvPr/>
          </p:nvCxnSpPr>
          <p:spPr>
            <a:xfrm flipH="1" flipV="0">
              <a:off x="7968118" y="1811607"/>
              <a:ext cx="98064" cy="98064"/>
            </a:xfrm>
            <a:prstGeom prst="straightConnector1">
              <a:avLst/>
            </a:prstGeom>
            <a:ln w="12387">
              <a:solidFill>
                <a:srgbClr val="F31627"/>
              </a:solidFill>
              <a:prstDash val="solid"/>
            </a:ln>
          </p:spPr>
        </p:cxnSp>
        <p:sp>
          <p:nvSpPr>
            <p:cNvPr id="538" name="No cross-camera&#10;edges">
              <a:extLst>
                <a:ext uri="{FF2B5EF4-FFF2-40B4-BE49-F238E27FC236}">
                  <ns2:creationId id="{A9612272-BA77-481C-A2C9-DABD83B71690}"/>
                </a:ext>
              </a:extLst>
            </p:cNvPr>
            <p:cNvSpPr>
              <a:spLocks noGrp="1"/>
            </p:cNvSpPr>
            <p:nvPr/>
          </p:nvSpPr>
          <p:spPr>
            <a:xfrm>
              <a:off x="8153924" y="1806446"/>
              <a:ext cx="609030" cy="21161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4845"/>
            </a:bodyPr>
            <a:lstStyle>
              <a:def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 cross-camera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edges</a:t>
              </a:r>
            </a:p>
          </p:txBody>
        </p:sp>
        <p:sp>
          <p:nvSpPr>
            <p:cNvPr id="539" name="diagram block">
              <a:extLst>
                <a:ext uri="{FF2B5EF4-FFF2-40B4-BE49-F238E27FC236}">
                  <ns2:creationId id="{59909AB5-DDF6-4426-9750-46FE59189139}"/>
                </a:ext>
              </a:extLst>
            </p:cNvPr>
            <p:cNvSpPr>
              <a:spLocks noGrp="1"/>
            </p:cNvSpPr>
            <p:nvPr/>
          </p:nvSpPr>
          <p:spPr>
            <a:xfrm>
              <a:off x="7901022" y="2250315"/>
              <a:ext cx="903223" cy="552256"/>
            </a:xfrm>
            <a:prstGeom prst="roundRect">
              <a:avLst>
                <a:gd name="adj" fmla="val 4673"/>
              </a:avLst>
            </a:prstGeom>
            <a:solidFill>
              <a:srgbClr val="FFFFFF"/>
            </a:solidFill>
            <a:ln w="5161">
              <a:solidFill>
                <a:srgbClr val="C3DFF6"/>
              </a:solidFill>
              <a:prstDash val="solid"/>
            </a:ln>
          </p:spPr>
        </p:sp>
        <p:sp>
          <p:nvSpPr>
            <p:cNvPr id="540" name="Each view’s original latent&#10;map is 14 × 14, pooled&#10;with 2 × 2 average pooli">
              <a:extLst>
                <a:ext uri="{FF2B5EF4-FFF2-40B4-BE49-F238E27FC236}">
                  <ns2:creationId id="{865F4601-6BEF-495D-A662-BAAAE62062CD}"/>
                </a:ext>
              </a:extLst>
            </p:cNvPr>
            <p:cNvSpPr>
              <a:spLocks noGrp="1"/>
            </p:cNvSpPr>
            <p:nvPr/>
          </p:nvSpPr>
          <p:spPr>
            <a:xfrm>
              <a:off x="7926828" y="2276122"/>
              <a:ext cx="851610" cy="500644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wrap="none" lIns="0" tIns="0" rIns="0" bIns="0" anchor="ctr">
              <a:normAutofit fontScale="85446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Each view’s original latent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map is 14 × 14, pooled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with 2 × 2 average pooling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to 7 × 7 (separately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for each view).</a:t>
              </a:r>
            </a:p>
          </p:txBody>
        </p:sp>
        <p:sp>
          <p:nvSpPr>
            <p:cNvPr id="541" name="diagram block">
              <a:extLst>
                <a:ext uri="{FF2B5EF4-FFF2-40B4-BE49-F238E27FC236}">
                  <ns2:creationId id="{4C47E05E-F780-477D-A7BB-88CBAEEFAD35}"/>
                </a:ext>
              </a:extLst>
            </p:cNvPr>
            <p:cNvSpPr>
              <a:spLocks noGrp="1"/>
            </p:cNvSpPr>
            <p:nvPr/>
          </p:nvSpPr>
          <p:spPr>
            <a:xfrm>
              <a:off x="6073931" y="3163861"/>
              <a:ext cx="2719991" cy="190967"/>
            </a:xfrm>
            <a:prstGeom prst="roundRect">
              <a:avLst>
                <a:gd name="adj" fmla="val 13514"/>
              </a:avLst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5161">
              <a:solidFill>
                <a:srgbClr val="EDCD8E"/>
              </a:solidFill>
              <a:prstDash val="solid"/>
            </a:ln>
          </p:spPr>
        </p:sp>
        <p:sp>
          <p:nvSpPr>
            <p:cNvPr id="542" name="2 future times × 2 views × 7 × 7 = 196 tokens, 48-D">
              <a:extLst>
                <a:ext uri="{FF2B5EF4-FFF2-40B4-BE49-F238E27FC236}">
                  <ns2:creationId id="{B9B149E3-49C2-4D4F-9D45-99BF43F4F752}"/>
                </a:ext>
              </a:extLst>
            </p:cNvPr>
            <p:cNvSpPr>
              <a:spLocks noGrp="1"/>
            </p:cNvSpPr>
            <p:nvPr/>
          </p:nvSpPr>
          <p:spPr>
            <a:xfrm>
              <a:off x="6099737" y="3189667"/>
              <a:ext cx="2668379" cy="139354"/>
            </a:xfrm>
            <a:prstGeom prst="rect">
              <a:avLst/>
            </a:prstGeom>
            <a:gradFill>
              <a:gsLst>
                <a:gs pos="0">
                  <a:srgbClr val="FFF1D0"/>
                </a:gs>
                <a:gs pos="100000">
                  <a:srgbClr val="FFF9ED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56" b="1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2 future times × 2 views × 7 × 7 = 196 tokens, 48-D</a:t>
              </a:r>
            </a:p>
          </p:txBody>
        </p:sp>
        <p:sp>
          <p:nvSpPr>
            <p:cNvPr id="543" name="diagram block">
              <a:extLst>
                <a:ext uri="{FF2B5EF4-FFF2-40B4-BE49-F238E27FC236}">
                  <ns2:creationId id="{D08707A8-84B8-4B42-804D-B63FDA22AF27}"/>
                </a:ext>
              </a:extLst>
            </p:cNvPr>
            <p:cNvSpPr>
              <a:spLocks noGrp="1"/>
            </p:cNvSpPr>
            <p:nvPr/>
          </p:nvSpPr>
          <p:spPr>
            <a:xfrm>
              <a:off x="6079092" y="3427086"/>
              <a:ext cx="2719991" cy="28387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88CA0"/>
              </a:solidFill>
              <a:prstDash val="solid"/>
            </a:ln>
          </p:spPr>
        </p:sp>
        <p:sp>
          <p:nvSpPr>
            <p:cNvPr id="544" name="L_st,z = mean_i KL(p^T(· | i) || p^S(· | i))">
              <a:extLst>
                <a:ext uri="{FF2B5EF4-FFF2-40B4-BE49-F238E27FC236}">
                  <ns2:creationId id="{8B8D67DD-05E6-4854-B268-580FDAA82A62}"/>
                </a:ext>
              </a:extLst>
            </p:cNvPr>
            <p:cNvSpPr>
              <a:spLocks noGrp="1"/>
            </p:cNvSpPr>
            <p:nvPr/>
          </p:nvSpPr>
          <p:spPr>
            <a:xfrm>
              <a:off x="6135866" y="3494182"/>
              <a:ext cx="2606443" cy="1806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100000"/>
            </a:bodyPr>
            <a:lstStyle>
              <a:def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570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st,z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  <a:r>
                <a:rPr sz="781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mean</a:t>
              </a:r>
              <a:r>
                <a:rPr sz="570" b="0" i="1" baseline="-23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i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781" b="0" i="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KL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(p</a:t>
              </a:r>
              <a:r>
                <a:rPr sz="570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 || p</a:t>
              </a:r>
              <a:r>
                <a:rPr sz="570" b="0" i="1" baseline="27000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sz="781" b="0" i="1">
                  <a:solidFill>
                    <a:srgbClr val="CE1737"/>
                  </a:solidFill>
                  <a:latin typeface="Times New Roman"/>
                  <a:ea typeface="Times New Roman"/>
                  <a:cs typeface="Times New Roman"/>
                </a:rPr>
                <a:t>(· | i))</a:t>
              </a:r>
            </a:p>
          </p:txBody>
        </p:sp>
        <p:sp>
          <p:nvSpPr>
            <p:cNvPr id="545" name="8 local spatial neighbors + same-position temporal edge (same camera only).">
              <a:extLst>
                <a:ext uri="{FF2B5EF4-FFF2-40B4-BE49-F238E27FC236}">
                  <ns2:creationId id="{7E9A7FA8-BD2D-43E8-86B3-1706F9055CF8}"/>
                </a:ext>
              </a:extLst>
            </p:cNvPr>
            <p:cNvSpPr>
              <a:spLocks noGrp="1"/>
            </p:cNvSpPr>
            <p:nvPr/>
          </p:nvSpPr>
          <p:spPr>
            <a:xfrm>
              <a:off x="6058447" y="3803859"/>
              <a:ext cx="2745798" cy="23741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5323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8 local spatial neighbors + same-position temporal edge (same camera only).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No cross-camera edges.</a:t>
              </a:r>
            </a:p>
          </p:txBody>
        </p:sp>
        <p:sp>
          <p:nvSpPr>
            <p:cNvPr id="546" name="diagram block">
              <a:extLst>
                <a:ext uri="{FF2B5EF4-FFF2-40B4-BE49-F238E27FC236}">
                  <ns2:creationId id="{3F01082F-7F07-44C5-809E-CB99924C273A}"/>
                </a:ext>
              </a:extLst>
            </p:cNvPr>
            <p:cNvSpPr>
              <a:spLocks noGrp="1"/>
            </p:cNvSpPr>
            <p:nvPr/>
          </p:nvSpPr>
          <p:spPr>
            <a:xfrm>
              <a:off x="742335" y="4190954"/>
              <a:ext cx="7814169" cy="289031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FFF0F2"/>
                </a:gs>
                <a:gs pos="100000">
                  <a:srgbClr val="FFF8F8"/>
                </a:gs>
              </a:gsLst>
              <a:lin ang="5400000"/>
            </a:gradFill>
            <a:ln w="5161">
              <a:solidFill>
                <a:srgbClr val="F66E8F"/>
              </a:solidFill>
              <a:prstDash val="solid"/>
            </a:ln>
          </p:spPr>
        </p:sp>
        <p:sp>
          <p:nvSpPr>
            <p:cNvPr id="547" name="L = αₐ (L_bin,a + βₐ L_temp,a) + λ α_z (L_bin,z + β_z L_st,z)">
              <a:extLst>
                <a:ext uri="{FF2B5EF4-FFF2-40B4-BE49-F238E27FC236}">
                  <ns2:creationId id="{C2C20036-2140-4C9A-8902-AB3BD3D987AD}"/>
                </a:ext>
              </a:extLst>
            </p:cNvPr>
            <p:cNvSpPr>
              <a:spLocks noGrp="1"/>
            </p:cNvSpPr>
            <p:nvPr/>
          </p:nvSpPr>
          <p:spPr>
            <a:xfrm>
              <a:off x="1568139" y="4252890"/>
              <a:ext cx="6152239" cy="21677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rmAutofit fontScale="97225"/>
            </a:bodyPr>
            <a:lstStyle>
              <a:def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L = αₐ (L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bin,a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βₐ 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temp,a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 + λ α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(L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bin,z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+ β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 L</a:t>
              </a:r>
              <a:r>
                <a:rPr sz="821" b="0" i="1" baseline="-2300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st,z</a:t>
              </a:r>
              <a:r>
                <a:rPr sz="1125" b="0" i="1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  <p:sp>
          <p:nvSpPr>
            <p:cNvPr id="548" name="diagram block">
              <a:extLst>
                <a:ext uri="{FF2B5EF4-FFF2-40B4-BE49-F238E27FC236}">
                  <ns2:creationId id="{6B6B9099-49A6-48BA-BC35-4DA3D79181E8}"/>
                </a:ext>
              </a:extLst>
            </p:cNvPr>
            <p:cNvSpPr>
              <a:spLocks noGrp="1"/>
            </p:cNvSpPr>
            <p:nvPr/>
          </p:nvSpPr>
          <p:spPr>
            <a:xfrm>
              <a:off x="308788" y="4541921"/>
              <a:ext cx="4227083" cy="247741"/>
            </a:xfrm>
            <a:prstGeom prst="roundRect">
              <a:avLst>
                <a:gd name="adj" fmla="val 1041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5DFF6"/>
              </a:solidFill>
              <a:prstDash val="solid"/>
            </a:ln>
          </p:spPr>
        </p:sp>
        <p:sp>
          <p:nvSpPr>
            <p:cNvPr id="549" name="T: frozen teacher. S: quantized student. Shared frozen statistics and tempe">
              <a:extLst>
                <a:ext uri="{FF2B5EF4-FFF2-40B4-BE49-F238E27FC236}">
                  <ns2:creationId id="{68B53D00-93E7-489C-8304-699865379D6C}"/>
                </a:ext>
              </a:extLst>
            </p:cNvPr>
            <p:cNvSpPr>
              <a:spLocks noGrp="1"/>
            </p:cNvSpPr>
            <p:nvPr/>
          </p:nvSpPr>
          <p:spPr>
            <a:xfrm>
              <a:off x="344917" y="4578050"/>
              <a:ext cx="4154826" cy="175483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80975"/>
            </a:bodyPr>
            <a:lstStyle>
              <a:def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T: frozen teacher. S: quantized student. Shared frozen statistics and temperatures.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47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Train D and clipping ratios. Soft-bin anchors values, relation KL constrains structure.</a:t>
              </a:r>
            </a:p>
          </p:txBody>
        </p:sp>
        <p:sp>
          <p:nvSpPr>
            <p:cNvPr id="550" name="diagram block">
              <a:extLst>
                <a:ext uri="{FF2B5EF4-FFF2-40B4-BE49-F238E27FC236}">
                  <ns2:creationId id="{79B9063C-9CF4-4603-9AAC-A8556F65D178}"/>
                </a:ext>
              </a:extLst>
            </p:cNvPr>
            <p:cNvSpPr>
              <a:spLocks noGrp="1"/>
            </p:cNvSpPr>
            <p:nvPr/>
          </p:nvSpPr>
          <p:spPr>
            <a:xfrm>
              <a:off x="4737161" y="4541921"/>
              <a:ext cx="4113535" cy="247741"/>
            </a:xfrm>
            <a:prstGeom prst="roundRect">
              <a:avLst>
                <a:gd name="adj" fmla="val 10417"/>
              </a:avLst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5161">
              <a:solidFill>
                <a:srgbClr val="C5DFF6"/>
              </a:solidFill>
              <a:prstDash val="solid"/>
            </a:ln>
          </p:spPr>
        </p:sp>
        <p:sp>
          <p:nvSpPr>
            <p:cNvPr id="551" name="Evidence: fixed-input fidelity. Rollout prediction and closed-loop gains aw">
              <a:extLst>
                <a:ext uri="{FF2B5EF4-FFF2-40B4-BE49-F238E27FC236}">
                  <ns2:creationId id="{2084DD8D-5AD3-4D96-B47C-2B936893B914}"/>
                </a:ext>
              </a:extLst>
            </p:cNvPr>
            <p:cNvSpPr>
              <a:spLocks noGrp="1"/>
            </p:cNvSpPr>
            <p:nvPr/>
          </p:nvSpPr>
          <p:spPr>
            <a:xfrm>
              <a:off x="4778451" y="4583211"/>
              <a:ext cx="4030955" cy="165161"/>
            </a:xfrm>
            <a:prstGeom prst="rect">
              <a:avLst/>
            </a:prstGeom>
            <a:gradFill>
              <a:gsLst>
                <a:gs pos="0">
                  <a:srgbClr val="E6F2FF"/>
                </a:gs>
                <a:gs pos="100000">
                  <a:srgbClr val="F5FAFF"/>
                </a:gs>
              </a:gsLst>
              <a:lin ang="5400000"/>
            </a:gradFill>
            <a:ln w="0">
              <a:noFill/>
            </a:ln>
          </p:spPr>
          <p:txBody>
            <a:bodyPr wrap="none" lIns="0" tIns="0" rIns="0" bIns="0" anchor="ctr">
              <a:normAutofit fontScale="100000"/>
            </a:bodyPr>
            <a:lstStyle>
              <a:def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563" b="0" i="0">
                  <a:solidFill>
                    <a:srgbClr val="061A3C"/>
                  </a:solidFill>
                  <a:latin typeface="Times New Roman"/>
                  <a:ea typeface="Times New Roman"/>
                  <a:cs typeface="Times New Roman"/>
                </a:rPr>
                <a:t>Evidence: fixed-input fidelity. Rollout prediction and closed-loop gains await validation.</a:t>
              </a:r>
            </a:p>
          </p:txBody>
        </p:sp>
      </p:grpSp>
      <p:sp>
        <p:nvSpPr>
          <p:cNvPr id="552" name="Generated design reference; editable loss definitions a">
            <a:extLst>
              <a:ext uri="{FF2B5EF4-FFF2-40B4-BE49-F238E27FC236}">
                <ns2:creationId id="{F57EA025-168B-4D46-9CD7-36E66674BA5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Editable figure, synchronized with slide 9. All figure text uses Times New Roman.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4613</Words>
  <Application>Microsoft Office PowerPoint</Application>
  <DocSecurity>0</DocSecurity>
  <PresentationFormat>全屏显示(16:9)</PresentationFormat>
  <Paragraphs>557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Latent + Action-Aware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Thankuuu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4</cp:revision>
  <dcterms:created xsi:type="dcterms:W3CDTF">2026-10-20T12:58:15Z</dcterms:created>
  <dcterms:modified xsi:type="dcterms:W3CDTF">2026-10-20T13:23:27Z</dcterms:modified>
</cp:coreProperties>
</file>