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d22085e89a4fa6" /><Relationship Type="http://schemas.openxmlformats.org/officeDocument/2006/relationships/extended-properties" Target="/docProps/app.xml" Id="R39602337ef0641eb" /><Relationship Type="http://schemas.openxmlformats.org/officeDocument/2006/relationships/officeDocument" Target="/ppt/presentation.xml" Id="R6484c1887da3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c7ebe690774083"/>
  </p:sldMasterIdLst>
  <p:notesMasterIdLst>
    <p:notesMasterId xmlns:r="http://schemas.openxmlformats.org/officeDocument/2006/relationships" r:id="R88ddb18da59941d0"/>
  </p:notesMasterIdLst>
  <p:sldIdLst>
    <p:sldId xmlns:r="http://schemas.openxmlformats.org/officeDocument/2006/relationships" id="256" r:id="R3777c371e5ae4451"/>
    <p:sldId xmlns:r="http://schemas.openxmlformats.org/officeDocument/2006/relationships" id="257" r:id="Rbd1196a50991496b"/>
  </p:sldIdLst>
  <p:sldSz cx="9144000" cy="5143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5e86bfd144bec" /><Relationship Type="http://schemas.openxmlformats.org/officeDocument/2006/relationships/slideMaster" Target="/ppt/slideMasters/slideMaster1.xml" Id="Ra5c7ebe690774083" /><Relationship Type="http://schemas.openxmlformats.org/officeDocument/2006/relationships/notesMaster" Target="/ppt/notesMasters/notesMaster1.xml" Id="R88ddb18da59941d0" /><Relationship Type="http://schemas.openxmlformats.org/officeDocument/2006/relationships/presProps" Target="/ppt/presProps.xml" Id="Rb52be1fdbd1e448a" /><Relationship Type="http://schemas.openxmlformats.org/officeDocument/2006/relationships/viewProps" Target="/ppt/viewProps.xml" Id="R4fdc4ca1f52a4e8e" /><Relationship Type="http://schemas.openxmlformats.org/officeDocument/2006/relationships/tableStyles" Target="/ppt/tableStyles.xml" Id="Rb2b072745631453f" /><Relationship Type="http://schemas.openxmlformats.org/officeDocument/2006/relationships/slide" Target="/ppt/slides/slide1.xml" Id="R3777c371e5ae4451" /><Relationship Type="http://schemas.openxmlformats.org/officeDocument/2006/relationships/slide" Target="/ppt/slides/slide2.xml" Id="Rbd1196a50991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ccedc5800646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d17bbcb214947" /><Relationship Type="http://schemas.openxmlformats.org/officeDocument/2006/relationships/notesMaster" Target="/ppt/notesMasters/notesMaster1.xml" Id="Rc21be5b1e443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9622b49a004ad7" /><Relationship Type="http://schemas.openxmlformats.org/officeDocument/2006/relationships/notesMaster" Target="/ppt/notesMasters/notesMaster1.xml" Id="Rdb3a60ec8416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当前实现：latent+action-aware Microscaling additive VQ，随后进行 per-input-channel D 和 per-Linear clipping ratio 的 refinement。本页按照原第21页ImageGen设计逐项重建；所有diagram、文字、公式、矩阵与箭头为PowerPoint原生可编辑对象。Source: Weekly Slides/2026-10-21_assets/method-imagegen-reference.png。数值定义以本地实现为准：原future loss是NMSE并带冻结rho*c系数；图中Lz为该latent监督项的简写；底部loss加法为示意，不代表两项未经标定等权。Per-token动态A4，gripper与observed frame0不参与监督。当前执行decodedBF16+fakeA4+BF16KV，非nativeVQkernel。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本页严格按原第22页ImageGen设计重建Soft-bin + temporal/spatial relational KL。全部文字、数学文字、矩阵、柱图、网格和箭头均为PowerPoint原生可编辑对象。Source: Weekly Slides/2026-10-21_assets/loss-imagegen-reference.png。柱图和relationmatrix颜色为原图概念示意，不是新增实验观测。实际Gaussian CDF binning、action 3-step windows、两camera分开pooling和spatiotemporal邻接保持原实现。结构KL不估计完整action-latent联合密度；闭环结果仍待验证。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b62bbc57e46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f496cda284f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8687868284f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41807766b41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1d3f93bc349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4882e99674d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92cdf5e2b486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a69de40914c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af304d115438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89ae53c495d4bf9" /><Relationship Type="http://schemas.openxmlformats.org/officeDocument/2006/relationships/image" Target="/ppt/media/image2.png" Id="R10c536eccbcc4244" /><Relationship Type="http://schemas.openxmlformats.org/officeDocument/2006/relationships/theme" Target="/ppt/slideMasters/theme/theme2.xml" Id="Rd8755f49e3d64f04" /><Relationship Type="http://schemas.openxmlformats.org/officeDocument/2006/relationships/slideLayout" Target="/ppt/slideLayouts/slideLayout1.xml" Id="Rdb3b36193e014f81" /><Relationship Type="http://schemas.openxmlformats.org/officeDocument/2006/relationships/slideLayout" Target="/ppt/slideLayouts/slideLayout2.xml" Id="Raf4e5b5ba9994ad2" /><Relationship Type="http://schemas.openxmlformats.org/officeDocument/2006/relationships/slideLayout" Target="/ppt/slideLayouts/slideLayout3.xml" Id="Ra6282258ea6b4b2b" /><Relationship Type="http://schemas.openxmlformats.org/officeDocument/2006/relationships/slideLayout" Target="/ppt/slideLayouts/slideLayout4.xml" Id="Rac2be812e5fe499a" /><Relationship Type="http://schemas.openxmlformats.org/officeDocument/2006/relationships/slideLayout" Target="/ppt/slideLayouts/slideLayout5.xml" Id="R6eac5ed06d8442bf" /><Relationship Type="http://schemas.openxmlformats.org/officeDocument/2006/relationships/slideLayout" Target="/ppt/slideLayouts/slideLayout6.xml" Id="Rea2bf6db0a9a420c" /><Relationship Type="http://schemas.openxmlformats.org/officeDocument/2006/relationships/slideLayout" Target="/ppt/slideLayouts/slideLayout7.xml" Id="R469f89b9f274494a" /><Relationship Type="http://schemas.openxmlformats.org/officeDocument/2006/relationships/slideLayout" Target="/ppt/slideLayouts/slideLayout8.xml" Id="R89b731a6452b427e" /><Relationship Type="http://schemas.openxmlformats.org/officeDocument/2006/relationships/slideLayout" Target="/ppt/slideLayouts/slideLayout9.xml" Id="Ra2da3cdbb56d43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 xmlns:a="http://schemas.openxmlformats.org/drawingml/2006/main">
              <a:ext uri="{FF2B5EF4-FFF2-40B4-BE49-F238E27FC236}">
                <a16:creationId xmlns:a16="http://schemas.microsoft.com/office/drawing/2014/main" id="{50BBA190-0947-4593-9667-83FCEF2D0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ae53c495d4b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>
            <a:extLst xmlns:a="http://schemas.openxmlformats.org/drawingml/2006/main">
              <a:ext uri="{FF2B5EF4-FFF2-40B4-BE49-F238E27FC236}">
                <a16:creationId xmlns:a16="http://schemas.microsoft.com/office/drawing/2014/main" id="{D89799C8-195A-4FC9-AEE4-FE68D6E0E0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c536eccbcc4244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b36193e014f81"/>
    <p:sldLayoutId xmlns:r="http://schemas.openxmlformats.org/officeDocument/2006/relationships" id="2147483650" r:id="Raf4e5b5ba9994ad2"/>
    <p:sldLayoutId xmlns:r="http://schemas.openxmlformats.org/officeDocument/2006/relationships" id="2147483651" r:id="Ra6282258ea6b4b2b"/>
    <p:sldLayoutId xmlns:r="http://schemas.openxmlformats.org/officeDocument/2006/relationships" id="2147483652" r:id="Rac2be812e5fe499a"/>
    <p:sldLayoutId xmlns:r="http://schemas.openxmlformats.org/officeDocument/2006/relationships" id="2147483653" r:id="R6eac5ed06d8442bf"/>
    <p:sldLayoutId xmlns:r="http://schemas.openxmlformats.org/officeDocument/2006/relationships" id="2147483654" r:id="Rea2bf6db0a9a420c"/>
    <p:sldLayoutId xmlns:r="http://schemas.openxmlformats.org/officeDocument/2006/relationships" id="2147483655" r:id="R469f89b9f274494a"/>
    <p:sldLayoutId xmlns:r="http://schemas.openxmlformats.org/officeDocument/2006/relationships" id="2147483656" r:id="R89b731a6452b427e"/>
    <p:sldLayoutId xmlns:r="http://schemas.openxmlformats.org/officeDocument/2006/relationships" id="2147483657" r:id="Ra2da3cdbb56d4383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0edbfeba44185" /><Relationship Type="http://schemas.openxmlformats.org/officeDocument/2006/relationships/notesSlide" Target="/ppt/notesSlides/notesSlide1.xml" Id="R08dee4988f594f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8b9f8263544a8d" /><Relationship Type="http://schemas.openxmlformats.org/officeDocument/2006/relationships/notesSlide" Target="/ppt/notesSlides/notesSlide2.xml" Id="R2dbe0e01e95042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1EF9CB-5AA0-4656-B54B-CBDDC06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20" y="20645"/>
            <a:ext cx="3643859" cy="3452892"/>
          </a:xfrm>
          <a:prstGeom xmlns:a="http://schemas.openxmlformats.org/drawingml/2006/main" prst="roundRect">
            <a:avLst>
              <a:gd name="adj" fmla="val 1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774">
            <a:solidFill>
              <a:srgbClr val="061A3C"/>
            </a:solidFill>
            <a:prstDash val="solid"/>
          </a:ln>
        </p:spPr>
      </p:sp>
      <p:sp>
        <p:nvSpPr>
          <p:cNvPr id="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0AAACA-4A17-4232-9776-53AF3852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970" y="20645"/>
            <a:ext cx="2467089" cy="3452892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774">
            <a:solidFill>
              <a:srgbClr val="061A3C"/>
            </a:solidFill>
            <a:prstDash val="solid"/>
          </a:ln>
        </p:spPr>
      </p:sp>
      <p:sp>
        <p:nvSpPr>
          <p:cNvPr id="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E2A8147-EC16-4DA9-B4FE-2270C983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188" y="20645"/>
            <a:ext cx="2399992" cy="3452892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774">
            <a:solidFill>
              <a:srgbClr val="061A3C"/>
            </a:solidFill>
            <a:prstDash val="solid"/>
          </a:ln>
        </p:spPr>
      </p:sp>
      <p:sp>
        <p:nvSpPr>
          <p:cNvPr id="4" name="(a) Latent + action supervision">
            <a:extLst xmlns:a="http://schemas.openxmlformats.org/drawingml/2006/main">
              <a:ext uri="{FF2B5EF4-FFF2-40B4-BE49-F238E27FC236}">
                <a16:creationId xmlns:a16="http://schemas.microsoft.com/office/drawing/2014/main" id="{7EDFBF44-1D56-4823-A4EE-2540835B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7" y="72258"/>
            <a:ext cx="3499344" cy="19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(a) Latent + action supervision</a:t>
            </a:r>
          </a:p>
        </p:txBody>
      </p:sp>
      <p:sp>
        <p:nvSpPr>
          <p:cNvPr id="5" name="(b) Microscaling additive VQ weights">
            <a:extLst xmlns:a="http://schemas.openxmlformats.org/drawingml/2006/main">
              <a:ext uri="{FF2B5EF4-FFF2-40B4-BE49-F238E27FC236}">
                <a16:creationId xmlns:a16="http://schemas.microsoft.com/office/drawing/2014/main" id="{BB23AC21-B6F1-4C9E-BA62-B7592FF1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066" y="72258"/>
            <a:ext cx="2343218" cy="19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(b) Microscaling additive VQ weights</a:t>
            </a:r>
          </a:p>
        </p:txBody>
      </p:sp>
      <p:sp>
        <p:nvSpPr>
          <p:cNvPr id="6" name="(c) Per-channel activation scaling + clipping">
            <a:extLst xmlns:a="http://schemas.openxmlformats.org/drawingml/2006/main">
              <a:ext uri="{FF2B5EF4-FFF2-40B4-BE49-F238E27FC236}">
                <a16:creationId xmlns:a16="http://schemas.microsoft.com/office/drawing/2014/main" id="{0E973F6E-C53C-4581-9B61-134CEAB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800" y="82580"/>
            <a:ext cx="2307089" cy="1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(c) Per-channel activation scaling + clipping</a:t>
            </a:r>
          </a:p>
        </p:txBody>
      </p:sp>
      <p:sp>
        <p:nvSpPr>
          <p:cNvPr id="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4ED551E-08D3-4F78-A258-2CB6C89B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95" y="294193"/>
            <a:ext cx="2028381" cy="1357415"/>
          </a:xfrm>
          <a:prstGeom xmlns:a="http://schemas.openxmlformats.org/drawingml/2006/main" prst="roundRect">
            <a:avLst>
              <a:gd name="adj" fmla="val 2662"/>
            </a:avLst>
          </a:prstGeom>
          <a:gradFill xmlns:a="http://schemas.openxmlformats.org/drawingml/2006/main">
            <a:gsLst>
              <a:gs pos="0">
                <a:srgbClr val="D9EFFF"/>
              </a:gs>
              <a:gs pos="100000">
                <a:srgbClr val="EEF8FF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sp>
        <p:nvSpPr>
          <p:cNvPr id="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7E767C-890C-413D-ABAC-5A36B779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95" y="1677414"/>
            <a:ext cx="2028381" cy="1476124"/>
          </a:xfrm>
          <a:prstGeom xmlns:a="http://schemas.openxmlformats.org/drawingml/2006/main" prst="roundRect">
            <a:avLst>
              <a:gd name="adj" fmla="val 2448"/>
            </a:avLst>
          </a:prstGeom>
          <a:gradFill xmlns:a="http://schemas.openxmlformats.org/drawingml/2006/main">
            <a:gsLst>
              <a:gs pos="0">
                <a:srgbClr val="FFE2DC"/>
              </a:gs>
              <a:gs pos="100000">
                <a:srgbClr val="FFF0EA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cxnSp>
        <p:nvCxnSpPr>
          <p:cNvPr id="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86665E7-5DE2-4B07-BCC5-6E5614DA59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397418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85D0"/>
            </a:solidFill>
            <a:prstDash val="solid"/>
          </a:ln>
        </p:spPr>
      </p:cxnSp>
      <p:cxnSp>
        <p:nvCxnSpPr>
          <p:cNvPr id="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38E46B1-EC71-4A58-B046-752C58C4A5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817" y="348250"/>
            <a:ext cx="56774" cy="98335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85D0"/>
            </a:solidFill>
            <a:prstDash val="solid"/>
          </a:ln>
        </p:spPr>
      </p:cxnSp>
      <p:cxnSp>
        <p:nvCxnSpPr>
          <p:cNvPr id="1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36B7E82-EDE1-4C51-97A6-F4EEC352F00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157817" y="348250"/>
            <a:ext cx="56774" cy="98335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85D0"/>
            </a:solidFill>
            <a:prstDash val="solid"/>
          </a:ln>
        </p:spPr>
      </p:cxnSp>
      <p:sp>
        <p:nvSpPr>
          <p:cNvPr id="12" name="BF16 teacher (frozen)">
            <a:extLst xmlns:a="http://schemas.openxmlformats.org/drawingml/2006/main">
              <a:ext uri="{FF2B5EF4-FFF2-40B4-BE49-F238E27FC236}">
                <a16:creationId xmlns:a16="http://schemas.microsoft.com/office/drawing/2014/main" id="{D1F06664-1751-400A-9CEB-2245C17A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69" y="340644"/>
            <a:ext cx="1729027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174"/>
          </a:bodyPr>
          <a:lstStyle xmlns:a="http://schemas.openxmlformats.org/drawingml/2006/main">
            <a:def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 teacher (frozen)</a:t>
            </a:r>
          </a:p>
        </p:txBody>
      </p:sp>
      <p:sp>
        <p:nvSpPr>
          <p:cNvPr id="13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F04F52A1-821F-4F43-BD73-C658CFD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8" y="1703220"/>
            <a:ext cx="144516" cy="185806"/>
          </a:xfrm>
          <a:custGeom xmlns:a="http://schemas.openxmlformats.org/drawingml/2006/main">
            <a:pathLst>
              <a:path w="266700" h="342900">
                <a:moveTo>
                  <a:pt x="114300" y="0"/>
                </a:moveTo>
                <a:lnTo>
                  <a:pt x="171450" y="123825"/>
                </a:lnTo>
                <a:lnTo>
                  <a:pt x="247650" y="200025"/>
                </a:lnTo>
                <a:lnTo>
                  <a:pt x="228600" y="276225"/>
                </a:lnTo>
                <a:lnTo>
                  <a:pt x="180975" y="333375"/>
                </a:lnTo>
                <a:lnTo>
                  <a:pt x="85725" y="333375"/>
                </a:lnTo>
                <a:lnTo>
                  <a:pt x="19050" y="266700"/>
                </a:lnTo>
                <a:lnTo>
                  <a:pt x="19050" y="180975"/>
                </a:lnTo>
                <a:lnTo>
                  <a:pt x="66675" y="95250"/>
                </a:lnTo>
                <a:lnTo>
                  <a:pt x="76200" y="228600"/>
                </a:lnTo>
                <a:lnTo>
                  <a:pt x="123825" y="161925"/>
                </a:lnTo>
                <a:close/>
              </a:path>
            </a:pathLst>
          </a:custGeom>
          <a:solidFill xmlns:a="http://schemas.openxmlformats.org/drawingml/2006/main">
            <a:srgbClr val="FF9C23"/>
          </a:solidFill>
          <a:ln xmlns:a="http://schemas.openxmlformats.org/drawingml/2006/main" w="6194">
            <a:solidFill>
              <a:srgbClr val="EF711C"/>
            </a:solidFill>
          </a:ln>
        </p:spPr>
      </p:sp>
      <p:sp>
        <p:nvSpPr>
          <p:cNvPr id="14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A496BC83-02DD-43CD-971E-781D77BA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75" y="1759994"/>
            <a:ext cx="98064" cy="129032"/>
          </a:xfrm>
          <a:custGeom xmlns:a="http://schemas.openxmlformats.org/drawingml/2006/main">
            <a:pathLst>
              <a:path w="180975" h="238125">
                <a:moveTo>
                  <a:pt x="85725" y="0"/>
                </a:moveTo>
                <a:lnTo>
                  <a:pt x="114300" y="95250"/>
                </a:lnTo>
                <a:lnTo>
                  <a:pt x="171450" y="133350"/>
                </a:lnTo>
                <a:lnTo>
                  <a:pt x="142875" y="209550"/>
                </a:lnTo>
                <a:lnTo>
                  <a:pt x="76200" y="228600"/>
                </a:lnTo>
                <a:lnTo>
                  <a:pt x="28575" y="180975"/>
                </a:lnTo>
                <a:lnTo>
                  <a:pt x="38100" y="114300"/>
                </a:lnTo>
                <a:close/>
              </a:path>
            </a:pathLst>
          </a:custGeom>
          <a:solidFill xmlns:a="http://schemas.openxmlformats.org/drawingml/2006/main">
            <a:srgbClr val="FFD785"/>
          </a:solidFill>
          <a:ln xmlns:a="http://schemas.openxmlformats.org/drawingml/2006/main" w="6194">
            <a:noFill/>
          </a:ln>
        </p:spPr>
      </p:sp>
      <p:sp>
        <p:nvSpPr>
          <p:cNvPr id="15" name="Quantized WAM (student)">
            <a:extLst xmlns:a="http://schemas.openxmlformats.org/drawingml/2006/main">
              <a:ext uri="{FF2B5EF4-FFF2-40B4-BE49-F238E27FC236}">
                <a16:creationId xmlns:a16="http://schemas.microsoft.com/office/drawing/2014/main" id="{1966E076-CA0D-4660-AA4F-640D6E74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69" y="1734188"/>
            <a:ext cx="1780640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174"/>
          </a:bodyPr>
          <a:lstStyle xmlns:a="http://schemas.openxmlformats.org/drawingml/2006/main">
            <a:def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Quantized WAM (student)</a:t>
            </a:r>
          </a:p>
        </p:txBody>
      </p:sp>
      <p:sp>
        <p:nvSpPr>
          <p:cNvPr id="16" name="614 target Linear layers">
            <a:extLst xmlns:a="http://schemas.openxmlformats.org/drawingml/2006/main">
              <a:ext uri="{FF2B5EF4-FFF2-40B4-BE49-F238E27FC236}">
                <a16:creationId xmlns:a16="http://schemas.microsoft.com/office/drawing/2014/main" id="{B1CCCFCB-F865-4D6F-8D76-E7396D2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92" y="1852897"/>
            <a:ext cx="1027094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rPr>
              <a:t>614 target Linear layers</a:t>
            </a:r>
          </a:p>
        </p:txBody>
      </p:sp>
      <p:cxnSp>
        <p:nvCxnSpPr>
          <p:cNvPr id="1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E303F12-20AA-4F86-9EBF-AF58209401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7492" y="1971607"/>
            <a:ext cx="1027094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C11B14"/>
            </a:solidFill>
            <a:prstDash val="solid"/>
          </a:ln>
        </p:spPr>
      </p:cxnSp>
      <p:sp>
        <p:nvSpPr>
          <p:cNvPr id="18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AB6854E3-ECD9-459B-B6B3-1304F451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36" y="531611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6710">
            <a:solidFill>
              <a:srgbClr val="0B579E"/>
            </a:solidFill>
          </a:ln>
        </p:spPr>
      </p:sp>
      <p:sp>
        <p:nvSpPr>
          <p:cNvPr id="19" name="Video DiT&#10;(BF16)">
            <a:extLst xmlns:a="http://schemas.openxmlformats.org/drawingml/2006/main">
              <a:ext uri="{FF2B5EF4-FFF2-40B4-BE49-F238E27FC236}">
                <a16:creationId xmlns:a16="http://schemas.microsoft.com/office/drawing/2014/main" id="{97022EAB-4E93-4CD4-A99F-3E02B585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17" y="660643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(BF16)</a:t>
            </a:r>
          </a:p>
        </p:txBody>
      </p:sp>
      <p:sp>
        <p:nvSpPr>
          <p:cNvPr id="20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AA3A0B7B-7520-422F-9787-0B9D850F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201" y="547095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6710">
            <a:solidFill>
              <a:srgbClr val="0B579E"/>
            </a:solidFill>
          </a:ln>
        </p:spPr>
      </p:sp>
      <p:sp>
        <p:nvSpPr>
          <p:cNvPr id="21" name="Action DiT&#10;(BF16)">
            <a:extLst xmlns:a="http://schemas.openxmlformats.org/drawingml/2006/main">
              <a:ext uri="{FF2B5EF4-FFF2-40B4-BE49-F238E27FC236}">
                <a16:creationId xmlns:a16="http://schemas.microsoft.com/office/drawing/2014/main" id="{B6DD1213-DF46-4DE8-BBFB-79335DB6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81" y="676127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(BF16)</a:t>
            </a:r>
          </a:p>
        </p:txBody>
      </p:sp>
      <p:sp>
        <p:nvSpPr>
          <p:cNvPr id="22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B6DAC573-E413-4474-88D1-5F313F38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36" y="1950962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6710">
            <a:solidFill>
              <a:srgbClr val="A92024"/>
            </a:solidFill>
          </a:ln>
        </p:spPr>
      </p:sp>
      <p:sp>
        <p:nvSpPr>
          <p:cNvPr id="23" name="Video DiT&#10;(quantized)">
            <a:extLst xmlns:a="http://schemas.openxmlformats.org/drawingml/2006/main">
              <a:ext uri="{FF2B5EF4-FFF2-40B4-BE49-F238E27FC236}">
                <a16:creationId xmlns:a16="http://schemas.microsoft.com/office/drawing/2014/main" id="{74EAD127-D903-4FB6-B25E-69B06707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17" y="2079993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(quantized)</a:t>
            </a:r>
          </a:p>
        </p:txBody>
      </p:sp>
      <p:sp>
        <p:nvSpPr>
          <p:cNvPr id="24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D60C0483-AF2D-4A41-9B6A-95DD47E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201" y="1971607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6710">
            <a:solidFill>
              <a:srgbClr val="A92024"/>
            </a:solidFill>
          </a:ln>
        </p:spPr>
      </p:sp>
      <p:sp>
        <p:nvSpPr>
          <p:cNvPr id="25" name="Action DiT&#10;(quantized)">
            <a:extLst xmlns:a="http://schemas.openxmlformats.org/drawingml/2006/main">
              <a:ext uri="{FF2B5EF4-FFF2-40B4-BE49-F238E27FC236}">
                <a16:creationId xmlns:a16="http://schemas.microsoft.com/office/drawing/2014/main" id="{36971ADF-A6C1-46AA-9BF9-CE097D3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81" y="2100638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(quantized)</a:t>
            </a:r>
          </a:p>
        </p:txBody>
      </p:sp>
      <p:cxnSp>
        <p:nvCxnSpPr>
          <p:cNvPr id="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2317C53-EFBB-4BD2-B1A7-A319BFD9A0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7492" y="769030"/>
            <a:ext cx="278709" cy="0"/>
          </a:xfrm>
          <a:prstGeom xmlns:a="http://schemas.openxmlformats.org/drawingml/2006/main" prst="straightConnector1">
            <a:avLst/>
          </a:prstGeom>
          <a:ln xmlns:a="http://schemas.openxmlformats.org/drawingml/2006/main" w="980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661E1F7-4D9A-4AE8-BA72-83CB30B62C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7492" y="2193541"/>
            <a:ext cx="278709" cy="0"/>
          </a:xfrm>
          <a:prstGeom xmlns:a="http://schemas.openxmlformats.org/drawingml/2006/main" prst="straightConnector1">
            <a:avLst/>
          </a:prstGeom>
          <a:ln xmlns:a="http://schemas.openxmlformats.org/drawingml/2006/main" w="980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9EE06F3-EE62-4284-A8FC-9271744C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10" y="887739"/>
            <a:ext cx="660643" cy="1274835"/>
          </a:xfrm>
          <a:prstGeom xmlns:a="http://schemas.openxmlformats.org/drawingml/2006/main" prst="roundRect">
            <a:avLst>
              <a:gd name="adj" fmla="val 3906"/>
            </a:avLst>
          </a:prstGeom>
          <a:gradFill xmlns:a="http://schemas.openxmlformats.org/drawingml/2006/main">
            <a:gsLst>
              <a:gs pos="0">
                <a:srgbClr val="F0F2F5"/>
              </a:gs>
              <a:gs pos="100000">
                <a:srgbClr val="E8EBEF"/>
              </a:gs>
            </a:gsLst>
            <a:lin ang="5400000"/>
          </a:gradFill>
          <a:ln xmlns:a="http://schemas.openxmlformats.org/drawingml/2006/main" w="5161">
            <a:solidFill>
              <a:srgbClr val="63849E"/>
            </a:solidFill>
            <a:prstDash val="solid"/>
          </a:ln>
        </p:spPr>
      </p:sp>
      <p:sp>
        <p:nvSpPr>
          <p:cNvPr id="29" name="Observation&#10;+ language&#10;+ proprioception">
            <a:extLst xmlns:a="http://schemas.openxmlformats.org/drawingml/2006/main">
              <a:ext uri="{FF2B5EF4-FFF2-40B4-BE49-F238E27FC236}">
                <a16:creationId xmlns:a16="http://schemas.microsoft.com/office/drawing/2014/main" id="{7EFF4A6A-7C9B-42ED-B31B-F8F20EC6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1073545"/>
            <a:ext cx="557418" cy="345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2553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Observation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+ language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+ proprioception</a:t>
            </a:r>
          </a:p>
        </p:txBody>
      </p:sp>
      <p:sp>
        <p:nvSpPr>
          <p:cNvPr id="30" name="o, l, p">
            <a:extLst xmlns:a="http://schemas.openxmlformats.org/drawingml/2006/main">
              <a:ext uri="{FF2B5EF4-FFF2-40B4-BE49-F238E27FC236}">
                <a16:creationId xmlns:a16="http://schemas.microsoft.com/office/drawing/2014/main" id="{7F9293E7-46F1-446F-A171-8ECF90BD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42" y="1445157"/>
            <a:ext cx="428386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o, l, p</a:t>
            </a:r>
          </a:p>
        </p:txBody>
      </p:sp>
      <p:sp>
        <p:nvSpPr>
          <p:cNvPr id="31" name="{ x₀, …, xT">
            <a:extLst xmlns:a="http://schemas.openxmlformats.org/drawingml/2006/main">
              <a:ext uri="{FF2B5EF4-FFF2-40B4-BE49-F238E27FC236}">
                <a16:creationId xmlns:a16="http://schemas.microsoft.com/office/drawing/2014/main" id="{FB5D1D73-41DE-4921-8BCD-EBD3B8D6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00" y="1620640"/>
            <a:ext cx="609030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{ x₀, …, xT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9C23564-5F7D-482A-8057-B14E8193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20" y="1832252"/>
            <a:ext cx="412902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text</a:t>
            </a:r>
          </a:p>
        </p:txBody>
      </p:sp>
      <p:sp>
        <p:nvSpPr>
          <p:cNvPr id="33" name="q, q̂">
            <a:extLst xmlns:a="http://schemas.openxmlformats.org/drawingml/2006/main">
              <a:ext uri="{FF2B5EF4-FFF2-40B4-BE49-F238E27FC236}">
                <a16:creationId xmlns:a16="http://schemas.microsoft.com/office/drawing/2014/main" id="{F71A91D6-8D47-4251-9E46-882BE1A5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58" y="1971607"/>
            <a:ext cx="428386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333"/>
          </a:bodyPr>
          <a:lstStyle xmlns:a="http://schemas.openxmlformats.org/drawingml/2006/main"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q, q̂</a:t>
            </a:r>
          </a:p>
        </p:txBody>
      </p:sp>
      <p:cxnSp>
        <p:nvCxnSpPr>
          <p:cNvPr id="3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062937D-08D9-488A-89E8-50579F66E5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9753" y="1187093"/>
            <a:ext cx="149677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4F8B028-24F2-4D30-9C32-B79BB29FC72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29430" y="769030"/>
            <a:ext cx="0" cy="418063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AABD650-5E9D-42A5-B761-80E8E0A41A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769030"/>
            <a:ext cx="185806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9BCE260-BBE2-4F67-91DD-81A0045E36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9753" y="2079993"/>
            <a:ext cx="149677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0B3745B-BCFB-4D04-B0A6-7AF5982B3C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2079993"/>
            <a:ext cx="0" cy="139354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697E497-F21F-4C34-950E-D152C28DFF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2219348"/>
            <a:ext cx="185806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25B227F-A6E4-4197-AB2C-66C1345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97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DDE2FD8-7E03-4345-A16B-A746986E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977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2AA78D-10B9-497E-B0FD-7A8D2FEC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558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70C5AE5-2704-4281-9F80-26094C9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38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F5A1E84-D9F4-4A20-B5C9-BB8C7DB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23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B006AD2-22DD-48BA-9B70-6C1D1E1E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103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2B95ED1-1ADE-4DB3-933B-C31D480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84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F22638F-A785-49EC-B4B7-631C8C0A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264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16581C-2D2A-4D3F-900C-1826E19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97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196D015-DB1F-41F2-9D06-E6DD1207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977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01BDCE2-9BA3-418D-BFD8-28AC19B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558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7B79BAD-D2A3-41AE-818A-DB8FC7B9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38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5BB267F-2BDB-4E38-A0E6-DF4A9F8F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23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06AEC7A-C787-41F8-9679-149DD1B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103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25762F-40DD-4D87-B5F2-610812F0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84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E42DC88-12BD-4C49-A80A-5CBC2826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264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6" name="Future latent tokens Zᵀ">
            <a:extLst xmlns:a="http://schemas.openxmlformats.org/drawingml/2006/main">
              <a:ext uri="{FF2B5EF4-FFF2-40B4-BE49-F238E27FC236}">
                <a16:creationId xmlns:a16="http://schemas.microsoft.com/office/drawing/2014/main" id="{8C71DE41-9AED-4C94-B506-9FDF8303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33" y="1249028"/>
            <a:ext cx="1140642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Future latent tokens Zᵀ</a:t>
            </a:r>
          </a:p>
        </p:txBody>
      </p:sp>
      <p:sp>
        <p:nvSpPr>
          <p:cNvPr id="57" name="(from future frames 1 … T)">
            <a:extLst xmlns:a="http://schemas.openxmlformats.org/drawingml/2006/main">
              <a:ext uri="{FF2B5EF4-FFF2-40B4-BE49-F238E27FC236}">
                <a16:creationId xmlns:a16="http://schemas.microsoft.com/office/drawing/2014/main" id="{088D9598-9350-4A3C-A821-4CC16595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17" y="1367738"/>
            <a:ext cx="1094190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future frames 1 … T)</a:t>
            </a:r>
          </a:p>
        </p:txBody>
      </p:sp>
      <p:sp>
        <p:nvSpPr>
          <p:cNvPr id="58" name="Action chunk aᵀ">
            <a:extLst xmlns:a="http://schemas.openxmlformats.org/drawingml/2006/main">
              <a:ext uri="{FF2B5EF4-FFF2-40B4-BE49-F238E27FC236}">
                <a16:creationId xmlns:a16="http://schemas.microsoft.com/office/drawing/2014/main" id="{39F6242F-E5C2-4847-AFAF-255DB0C6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36" y="1249028"/>
            <a:ext cx="717417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809"/>
          </a:bodyPr>
          <a:lstStyle xmlns:a="http://schemas.openxmlformats.org/drawingml/2006/main">
            <a:def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chunk aᵀ</a:t>
            </a:r>
          </a:p>
        </p:txBody>
      </p:sp>
      <p:sp>
        <p:nvSpPr>
          <p:cNvPr id="59" name="(6 motor dims, gripper excluded)">
            <a:extLst xmlns:a="http://schemas.openxmlformats.org/drawingml/2006/main">
              <a:ext uri="{FF2B5EF4-FFF2-40B4-BE49-F238E27FC236}">
                <a16:creationId xmlns:a16="http://schemas.microsoft.com/office/drawing/2014/main" id="{4FA7F6AD-6FB9-4536-8698-24EBEFE0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330" y="1367738"/>
            <a:ext cx="908384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7361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(6 motor dims, gripper excluded)</a:t>
            </a:r>
          </a:p>
        </p:txBody>
      </p:sp>
      <p:sp>
        <p:nvSpPr>
          <p:cNvPr id="60" name="Future latent tokens Zˢ">
            <a:extLst xmlns:a="http://schemas.openxmlformats.org/drawingml/2006/main">
              <a:ext uri="{FF2B5EF4-FFF2-40B4-BE49-F238E27FC236}">
                <a16:creationId xmlns:a16="http://schemas.microsoft.com/office/drawing/2014/main" id="{55C6B064-FCC4-4D96-BB1F-0860D00B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94" y="2714830"/>
            <a:ext cx="1109674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Future latent tokens Zˢ</a:t>
            </a:r>
          </a:p>
        </p:txBody>
      </p:sp>
      <p:sp>
        <p:nvSpPr>
          <p:cNvPr id="61" name="(from student’s own generation)">
            <a:extLst xmlns:a="http://schemas.openxmlformats.org/drawingml/2006/main">
              <a:ext uri="{FF2B5EF4-FFF2-40B4-BE49-F238E27FC236}">
                <a16:creationId xmlns:a16="http://schemas.microsoft.com/office/drawing/2014/main" id="{5B0AD7DF-E0DE-4BCC-81B7-B6DE2A63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72" y="2833539"/>
            <a:ext cx="1037416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548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student’s own generation)</a:t>
            </a:r>
          </a:p>
        </p:txBody>
      </p:sp>
      <p:sp>
        <p:nvSpPr>
          <p:cNvPr id="62" name="Action chunk aˢ">
            <a:extLst xmlns:a="http://schemas.openxmlformats.org/drawingml/2006/main">
              <a:ext uri="{FF2B5EF4-FFF2-40B4-BE49-F238E27FC236}">
                <a16:creationId xmlns:a16="http://schemas.microsoft.com/office/drawing/2014/main" id="{DD101D0B-EE68-4524-8F92-55CDC6D8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36" y="2714830"/>
            <a:ext cx="717417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chunk aˢ</a:t>
            </a:r>
          </a:p>
        </p:txBody>
      </p:sp>
      <p:sp>
        <p:nvSpPr>
          <p:cNvPr id="63" name="(6 motor dims, gripper excluded)">
            <a:extLst xmlns:a="http://schemas.openxmlformats.org/drawingml/2006/main">
              <a:ext uri="{FF2B5EF4-FFF2-40B4-BE49-F238E27FC236}">
                <a16:creationId xmlns:a16="http://schemas.microsoft.com/office/drawing/2014/main" id="{1D74AC3F-050D-47AC-9370-A01E8C92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233" y="2833539"/>
            <a:ext cx="805159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68949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(6 motor dims, gripper excluded)</a:t>
            </a:r>
          </a:p>
        </p:txBody>
      </p:sp>
      <p:cxnSp>
        <p:nvCxnSpPr>
          <p:cNvPr id="6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9793A0E-57C2-461D-AB2E-0BDD76B87D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6CC8BEF-94FD-4964-88EE-6BF25855E9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1507092"/>
            <a:ext cx="1021932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3BD6DD6-3FE8-4926-B0AA-2A2BFF9E945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49427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67" name="T tokens (exclude frame 0)">
            <a:extLst xmlns:a="http://schemas.openxmlformats.org/drawingml/2006/main">
              <a:ext uri="{FF2B5EF4-FFF2-40B4-BE49-F238E27FC236}">
                <a16:creationId xmlns:a16="http://schemas.microsoft.com/office/drawing/2014/main" id="{9372A1A8-77EC-4305-8C4F-85C51147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66" y="1543221"/>
            <a:ext cx="1099351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 tokens (exclude frame 0)</a:t>
            </a:r>
          </a:p>
        </p:txBody>
      </p:sp>
      <p:cxnSp>
        <p:nvCxnSpPr>
          <p:cNvPr id="6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6ED8A4B-D018-4A2B-B138-61AE8A1EF6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78B1E8A-3AFD-46F4-9F94-46847368C3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1507092"/>
            <a:ext cx="624514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406A64D-89C6-4F70-B35B-AFE110322A0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41037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71" name="H tokens">
            <a:extLst xmlns:a="http://schemas.openxmlformats.org/drawingml/2006/main">
              <a:ext uri="{FF2B5EF4-FFF2-40B4-BE49-F238E27FC236}">
                <a16:creationId xmlns:a16="http://schemas.microsoft.com/office/drawing/2014/main" id="{941420EF-A938-4A51-AF3C-7E7AF99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94" y="1543221"/>
            <a:ext cx="70193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H tokens</a:t>
            </a:r>
          </a:p>
        </p:txBody>
      </p:sp>
      <p:cxnSp>
        <p:nvCxnSpPr>
          <p:cNvPr id="7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73F3B78-F32B-4886-AC6C-86305A58F1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8108E68-6AE7-444C-A969-438F285797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2967733"/>
            <a:ext cx="1021932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BD0019F-EF71-4E82-8D62-95D455C12FB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49427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75" name="T tokens (exclude frame 0)">
            <a:extLst xmlns:a="http://schemas.openxmlformats.org/drawingml/2006/main">
              <a:ext uri="{FF2B5EF4-FFF2-40B4-BE49-F238E27FC236}">
                <a16:creationId xmlns:a16="http://schemas.microsoft.com/office/drawing/2014/main" id="{308ABC21-C304-481C-BF03-ADA9544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66" y="3003861"/>
            <a:ext cx="1099351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 tokens (exclude frame 0)</a:t>
            </a:r>
          </a:p>
        </p:txBody>
      </p:sp>
      <p:cxnSp>
        <p:nvCxnSpPr>
          <p:cNvPr id="7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4AB8A61-2D24-4068-AE12-8B9726E121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2F487A8-F239-476A-8FF1-ADD103537B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2967733"/>
            <a:ext cx="624514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6AC3B0C-CBBD-49C3-B61C-CE1A31F5522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41037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79" name="H tokens">
            <a:extLst xmlns:a="http://schemas.openxmlformats.org/drawingml/2006/main">
              <a:ext uri="{FF2B5EF4-FFF2-40B4-BE49-F238E27FC236}">
                <a16:creationId xmlns:a16="http://schemas.microsoft.com/office/drawing/2014/main" id="{D208A7A0-EDBF-4C9A-8559-011683E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94" y="3003861"/>
            <a:ext cx="70193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H tokens</a:t>
            </a:r>
          </a:p>
        </p:txBody>
      </p:sp>
      <p:cxnSp>
        <p:nvCxnSpPr>
          <p:cNvPr id="8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2ADA28C-76FD-4907-8021-A67939002B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21041" y="1135480"/>
            <a:ext cx="510966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</a:ln>
        </p:spPr>
      </p:cxnSp>
      <p:cxnSp>
        <p:nvCxnSpPr>
          <p:cNvPr id="8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2929E2B-4140-4FEA-A4F2-0C3562F2EFB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32007" y="990965"/>
            <a:ext cx="0" cy="144516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2" name="Video K/V">
            <a:extLst xmlns:a="http://schemas.openxmlformats.org/drawingml/2006/main">
              <a:ext uri="{FF2B5EF4-FFF2-40B4-BE49-F238E27FC236}">
                <a16:creationId xmlns:a16="http://schemas.microsoft.com/office/drawing/2014/main" id="{BD2F8320-65B3-4479-AC99-BF5E4B7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89" y="980642"/>
            <a:ext cx="43354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K/V</a:t>
            </a:r>
          </a:p>
        </p:txBody>
      </p:sp>
      <p:sp>
        <p:nvSpPr>
          <p:cNvPr id="83" name="(from teacher Zᵀ)">
            <a:extLst xmlns:a="http://schemas.openxmlformats.org/drawingml/2006/main">
              <a:ext uri="{FF2B5EF4-FFF2-40B4-BE49-F238E27FC236}">
                <a16:creationId xmlns:a16="http://schemas.microsoft.com/office/drawing/2014/main" id="{BF78D134-E767-4DD4-96B4-68F5CA0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686" y="1083868"/>
            <a:ext cx="500644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359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teacher Zᵀ)</a:t>
            </a:r>
          </a:p>
        </p:txBody>
      </p:sp>
      <p:cxnSp>
        <p:nvCxnSpPr>
          <p:cNvPr id="8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5ECEBC6-C2EF-4317-85C0-5B3BD6E380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21041" y="2580637"/>
            <a:ext cx="510966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</a:ln>
        </p:spPr>
      </p:cxnSp>
      <p:cxnSp>
        <p:nvCxnSpPr>
          <p:cNvPr id="8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064BF55-029C-49FC-A2D5-3F16C4E5D95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32007" y="2425799"/>
            <a:ext cx="0" cy="154838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6" name="Video K/V">
            <a:extLst xmlns:a="http://schemas.openxmlformats.org/drawingml/2006/main">
              <a:ext uri="{FF2B5EF4-FFF2-40B4-BE49-F238E27FC236}">
                <a16:creationId xmlns:a16="http://schemas.microsoft.com/office/drawing/2014/main" id="{9C473F24-C6BF-40E4-BDAF-48254C36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28" y="2425799"/>
            <a:ext cx="423224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K/V</a:t>
            </a:r>
          </a:p>
        </p:txBody>
      </p:sp>
      <p:sp>
        <p:nvSpPr>
          <p:cNvPr id="87" name="(from student Zˢ)">
            <a:extLst xmlns:a="http://schemas.openxmlformats.org/drawingml/2006/main">
              <a:ext uri="{FF2B5EF4-FFF2-40B4-BE49-F238E27FC236}">
                <a16:creationId xmlns:a16="http://schemas.microsoft.com/office/drawing/2014/main" id="{FC729820-E486-4880-B477-220BFE67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686" y="2529024"/>
            <a:ext cx="510966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539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student Zˢ)</a:t>
            </a:r>
          </a:p>
        </p:txBody>
      </p:sp>
      <p:cxnSp>
        <p:nvCxnSpPr>
          <p:cNvPr id="8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B6ABA01-1993-41DD-B17D-C44E840B78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6199" y="769030"/>
            <a:ext cx="201290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8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49A1131-1A96-418F-8B95-3A703F5A41A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147488" y="645159"/>
            <a:ext cx="0" cy="123871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9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E6C3AC5-6B7C-4B8A-B0A2-388ACD73E3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645159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37819E3-089E-48E9-B25F-E291797031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6199" y="2193541"/>
            <a:ext cx="201290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9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70C06BB-F239-4CBE-B34F-2C17A61E70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2193541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9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B8394D8-A1AD-47A0-9498-132FE3767D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2276122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0C7E231-0A42-413C-8D41-88424836EE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645159"/>
            <a:ext cx="0" cy="1630963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dash"/>
          </a:ln>
        </p:spPr>
      </p:cxnSp>
      <p:sp>
        <p:nvSpPr>
          <p:cNvPr id="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AA65BAF-A3A2-49FF-89BD-080B8AE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36" y="485160"/>
            <a:ext cx="629675" cy="903223"/>
          </a:xfrm>
          <a:prstGeom xmlns:a="http://schemas.openxmlformats.org/drawingml/2006/main" prst="roundRect">
            <a:avLst>
              <a:gd name="adj" fmla="val 4098"/>
            </a:avLst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F0D297"/>
            </a:solidFill>
            <a:prstDash val="solid"/>
          </a:ln>
        </p:spPr>
      </p:sp>
      <p:sp>
        <p:nvSpPr>
          <p:cNvPr id="96" name="Future&#10;latent loss">
            <a:extLst xmlns:a="http://schemas.openxmlformats.org/drawingml/2006/main">
              <a:ext uri="{FF2B5EF4-FFF2-40B4-BE49-F238E27FC236}">
                <a16:creationId xmlns:a16="http://schemas.microsoft.com/office/drawing/2014/main" id="{9AC57052-3997-453D-B1B3-DD40E76F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649" y="526450"/>
            <a:ext cx="526450" cy="247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5"/>
          </a:bodyPr>
          <a:lstStyle xmlns:a="http://schemas.openxmlformats.org/drawingml/2006/main">
            <a:def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rPr>
              <a:t>Future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rPr>
              <a:t>latent loss</a:t>
            </a:r>
          </a:p>
        </p:txBody>
      </p:sp>
      <p:sp>
        <p:nvSpPr>
          <p:cNvPr id="97" name="L_z = ‖Z^T_{1:T} −">
            <a:extLst xmlns:a="http://schemas.openxmlformats.org/drawingml/2006/main">
              <a:ext uri="{FF2B5EF4-FFF2-40B4-BE49-F238E27FC236}">
                <a16:creationId xmlns:a16="http://schemas.microsoft.com/office/drawing/2014/main" id="{F4F5A494-9836-499A-A09A-9BBD2390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846449"/>
            <a:ext cx="557418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56073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L_z = ‖Z^T_{1:T} −</a:t>
            </a:r>
          </a:p>
        </p:txBody>
      </p:sp>
      <p:sp>
        <p:nvSpPr>
          <p:cNvPr id="98" name="Z^S_{1:T}‖²₂">
            <a:extLst xmlns:a="http://schemas.openxmlformats.org/drawingml/2006/main">
              <a:ext uri="{FF2B5EF4-FFF2-40B4-BE49-F238E27FC236}">
                <a16:creationId xmlns:a16="http://schemas.microsoft.com/office/drawing/2014/main" id="{70AD809F-AF8C-4EE9-A716-5D75A2EB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01" y="985803"/>
            <a:ext cx="505805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0735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Z^S_{1:T}‖²₂</a:t>
            </a:r>
          </a:p>
        </p:txBody>
      </p:sp>
      <p:sp>
        <p:nvSpPr>
          <p:cNvPr id="99" name="(exclude&#10;frame 0)">
            <a:extLst xmlns:a="http://schemas.openxmlformats.org/drawingml/2006/main">
              <a:ext uri="{FF2B5EF4-FFF2-40B4-BE49-F238E27FC236}">
                <a16:creationId xmlns:a16="http://schemas.microsoft.com/office/drawing/2014/main" id="{DC56D129-6758-415B-B4DE-D3F1CE5B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939" y="1161287"/>
            <a:ext cx="474837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219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(exclude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frame 0)</a:t>
            </a:r>
          </a:p>
        </p:txBody>
      </p:sp>
      <p:sp>
        <p:nvSpPr>
          <p:cNvPr id="1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7DAB5D-067B-4A6E-A159-D4AF9FF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36" y="1723865"/>
            <a:ext cx="629675" cy="1068384"/>
          </a:xfrm>
          <a:prstGeom xmlns:a="http://schemas.openxmlformats.org/drawingml/2006/main" prst="roundRect">
            <a:avLst>
              <a:gd name="adj" fmla="val 4098"/>
            </a:avLst>
          </a:prstGeom>
          <a:gradFill xmlns:a="http://schemas.openxmlformats.org/drawingml/2006/main">
            <a:gsLst>
              <a:gs pos="0">
                <a:srgbClr val="D9F2F4"/>
              </a:gs>
              <a:gs pos="100000">
                <a:srgbClr val="EDF9FA"/>
              </a:gs>
            </a:gsLst>
            <a:lin ang="5400000"/>
          </a:gradFill>
          <a:ln xmlns:a="http://schemas.openxmlformats.org/drawingml/2006/main" w="5161">
            <a:solidFill>
              <a:srgbClr val="98D7DE"/>
            </a:solidFill>
            <a:prstDash val="solid"/>
          </a:ln>
        </p:spPr>
      </p:sp>
      <p:sp>
        <p:nvSpPr>
          <p:cNvPr id="101" name="First-10&#10;motor action&#10;loss">
            <a:extLst xmlns:a="http://schemas.openxmlformats.org/drawingml/2006/main">
              <a:ext uri="{FF2B5EF4-FFF2-40B4-BE49-F238E27FC236}">
                <a16:creationId xmlns:a16="http://schemas.microsoft.com/office/drawing/2014/main" id="{DDD8EACB-7E89-4C23-8518-A15B63B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1790962"/>
            <a:ext cx="541934" cy="33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867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First-10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motor action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loss</a:t>
            </a:r>
          </a:p>
        </p:txBody>
      </p:sp>
      <p:sp>
        <p:nvSpPr>
          <p:cNvPr id="102" name="L_a = ‖a^T_{1:10} −">
            <a:extLst xmlns:a="http://schemas.openxmlformats.org/drawingml/2006/main">
              <a:ext uri="{FF2B5EF4-FFF2-40B4-BE49-F238E27FC236}">
                <a16:creationId xmlns:a16="http://schemas.microsoft.com/office/drawing/2014/main" id="{638689B2-D9DE-4706-ABFF-3FF237EE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165" y="2167735"/>
            <a:ext cx="562579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55063"/>
          </a:bodyPr>
          <a:lstStyle xmlns:a="http://schemas.openxmlformats.org/drawingml/2006/main"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L_a = ‖a^T_{1:10} −</a:t>
            </a:r>
          </a:p>
        </p:txBody>
      </p:sp>
      <p:sp>
        <p:nvSpPr>
          <p:cNvPr id="103" name="a^S_{1:10}‖²₂">
            <a:extLst xmlns:a="http://schemas.openxmlformats.org/drawingml/2006/main">
              <a:ext uri="{FF2B5EF4-FFF2-40B4-BE49-F238E27FC236}">
                <a16:creationId xmlns:a16="http://schemas.microsoft.com/office/drawing/2014/main" id="{0A624480-40D3-4B8B-9795-E7656C7B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778" y="2322573"/>
            <a:ext cx="516127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8910"/>
          </a:bodyPr>
          <a:lstStyle xmlns:a="http://schemas.openxmlformats.org/drawingml/2006/main"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a^S_{1:10}‖²₂</a:t>
            </a:r>
          </a:p>
        </p:txBody>
      </p:sp>
      <p:sp>
        <p:nvSpPr>
          <p:cNvPr id="104" name="(6 motor dims&#10;only, gripper&#10;excluded)">
            <a:extLst xmlns:a="http://schemas.openxmlformats.org/drawingml/2006/main">
              <a:ext uri="{FF2B5EF4-FFF2-40B4-BE49-F238E27FC236}">
                <a16:creationId xmlns:a16="http://schemas.microsoft.com/office/drawing/2014/main" id="{86A175C3-F7D9-41F8-ADA0-FA15982A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2503218"/>
            <a:ext cx="536772" cy="268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0194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(6 motor dims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only, gripper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excluded)</a:t>
            </a:r>
          </a:p>
        </p:txBody>
      </p:sp>
      <p:sp>
        <p:nvSpPr>
          <p:cNvPr id="105" name="Transform a weight row and split into groups of 32 scalars">
            <a:extLst xmlns:a="http://schemas.openxmlformats.org/drawingml/2006/main">
              <a:ext uri="{FF2B5EF4-FFF2-40B4-BE49-F238E27FC236}">
                <a16:creationId xmlns:a16="http://schemas.microsoft.com/office/drawing/2014/main" id="{0C17D59F-7A67-4731-B882-C981EFC7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195" y="273548"/>
            <a:ext cx="2296767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078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Transform a weight row and split into groups of 32 scalars</a:t>
            </a:r>
          </a:p>
        </p:txBody>
      </p:sp>
      <p:sp>
        <p:nvSpPr>
          <p:cNvPr id="106" name="(each vector has d = 4)">
            <a:extLst xmlns:a="http://schemas.openxmlformats.org/drawingml/2006/main">
              <a:ext uri="{FF2B5EF4-FFF2-40B4-BE49-F238E27FC236}">
                <a16:creationId xmlns:a16="http://schemas.microsoft.com/office/drawing/2014/main" id="{7A6B1627-7C9B-4485-84EC-01DF40CE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969" y="387096"/>
            <a:ext cx="2198703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(each vector has d = 4)</a:t>
            </a:r>
          </a:p>
        </p:txBody>
      </p:sp>
      <p:sp>
        <p:nvSpPr>
          <p:cNvPr id="107" name="Transformed weight row  w">
            <a:extLst xmlns:a="http://schemas.openxmlformats.org/drawingml/2006/main">
              <a:ext uri="{FF2B5EF4-FFF2-40B4-BE49-F238E27FC236}">
                <a16:creationId xmlns:a16="http://schemas.microsoft.com/office/drawing/2014/main" id="{04D4698D-A1F0-4202-BCF2-585AA11C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711" y="521289"/>
            <a:ext cx="1971607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809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Transformed weight row  w</a:t>
            </a:r>
          </a:p>
        </p:txBody>
      </p:sp>
      <p:sp>
        <p:nvSpPr>
          <p:cNvPr id="1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56B522C-ED8E-4AC1-B2D6-E3108D5E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62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9DF05C2-285C-4163-B1BB-85C46178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54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E8D59E-190E-4B74-8D28-17A9E597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93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0101E86-2CD1-4AF6-BAE7-BE3154F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322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8E5D1C4-B386-4DB3-A631-D909701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70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C496FA-5631-4EE3-A0C4-2A4BE63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9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D1C4E0-FA00-40FC-AFB9-5469F4A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48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706D6C5-3B5B-48CB-9BD5-07EE4D64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86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58D1A41-FD45-4090-84AE-88489376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25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0CA5442-706E-4738-9596-D28365B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4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35D089-535F-43E2-852B-C815E8D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02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D7ADDD-CA8A-419A-AC62-591DFEA6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1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019576-626D-4006-9CE9-55DE48A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0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D0CF53-770F-4214-8682-7F388F4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190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8F803B7-AB4B-4484-A823-70CC800E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57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E8F88E3-06E0-4150-89F2-FB9D1839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6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283FE2-5B6D-44B0-BCE2-7315EB58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6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4A4F2F9-6736-4313-B1D3-3DD98FCD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45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71F964B-5EA9-454F-B192-4D3A313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74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8F4D59E-E828-466A-9B9A-256F21D9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03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FFCED6E-D366-42C3-8F80-038AA04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2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D0F4BD3-74F4-49A3-B62C-F982CBF7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61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EBFA71-B955-4104-9A42-B2565B7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90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E22C8F-A9A5-4126-8BAC-9833DE9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19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0DEDACF-D482-4AA5-9BB5-2B612DB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611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0592DE-A73F-4106-9778-7A23F292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095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F3ADEF3-884C-44EB-9903-FF234120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578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BCA7806-ADB4-46CA-B4D8-CB7A94F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062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7A467F-05D1-4883-9DA3-7F3C503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545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84469DD-3D77-4BFD-8AE9-DFF7EA0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029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0732BFC-9087-44CC-8262-36CF980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513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62EE651-C476-4180-82E7-40EB9B3F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996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40" name="…">
            <a:extLst xmlns:a="http://schemas.openxmlformats.org/drawingml/2006/main">
              <a:ext uri="{FF2B5EF4-FFF2-40B4-BE49-F238E27FC236}">
                <a16:creationId xmlns:a16="http://schemas.microsoft.com/office/drawing/2014/main" id="{72AA25C1-ECFD-4788-B111-B9DDB585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479" y="738062"/>
            <a:ext cx="247741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31"/>
          </a:bodyPr>
          <a:lstStyle xmlns:a="http://schemas.openxmlformats.org/drawingml/2006/main">
            <a:def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cxnSp>
        <p:nvCxnSpPr>
          <p:cNvPr id="14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6E510FC-A669-44D3-BA03-007F56DF9E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7162" y="918707"/>
            <a:ext cx="0" cy="30968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74A8B"/>
            </a:solidFill>
            <a:prstDash val="solid"/>
          </a:ln>
        </p:spPr>
      </p:cxnSp>
      <p:cxnSp>
        <p:nvCxnSpPr>
          <p:cNvPr id="14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6858803-B6D0-41B8-AAD8-573451815B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7162" y="949674"/>
            <a:ext cx="799997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74A8B"/>
            </a:solidFill>
            <a:prstDash val="solid"/>
          </a:ln>
        </p:spPr>
      </p:cxnSp>
      <p:cxnSp>
        <p:nvCxnSpPr>
          <p:cNvPr id="14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BFFA6D6-AF2B-4151-8383-C9E14C15CE6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57160" y="918707"/>
            <a:ext cx="0" cy="30968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74A8B"/>
            </a:solidFill>
            <a:prstDash val="solid"/>
          </a:ln>
        </p:spPr>
      </p:cxnSp>
      <p:sp>
        <p:nvSpPr>
          <p:cNvPr id="144" name="Group g (32 scalars)">
            <a:extLst xmlns:a="http://schemas.openxmlformats.org/drawingml/2006/main">
              <a:ext uri="{FF2B5EF4-FFF2-40B4-BE49-F238E27FC236}">
                <a16:creationId xmlns:a16="http://schemas.microsoft.com/office/drawing/2014/main" id="{AD348296-3067-4226-A1BE-7D2DC0A6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62" y="970319"/>
            <a:ext cx="856771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Group g (32 scalars)</a:t>
            </a:r>
          </a:p>
        </p:txBody>
      </p:sp>
      <p:sp>
        <p:nvSpPr>
          <p:cNvPr id="145" name="Group g + 1">
            <a:extLst xmlns:a="http://schemas.openxmlformats.org/drawingml/2006/main">
              <a:ext uri="{FF2B5EF4-FFF2-40B4-BE49-F238E27FC236}">
                <a16:creationId xmlns:a16="http://schemas.microsoft.com/office/drawing/2014/main" id="{8679BAA6-AF78-4823-8156-41390AA6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7" y="970319"/>
            <a:ext cx="614192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Group g + 1</a:t>
            </a:r>
          </a:p>
        </p:txBody>
      </p:sp>
      <p:sp>
        <p:nvSpPr>
          <p:cNvPr id="1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1CB54E-22F6-45D3-97BF-805BBDC6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034" y="1145803"/>
            <a:ext cx="2178058" cy="319999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161">
            <a:solidFill>
              <a:srgbClr val="5C6D82"/>
            </a:solidFill>
            <a:prstDash val="dash"/>
          </a:ln>
        </p:spPr>
      </p:sp>
      <p:sp>
        <p:nvSpPr>
          <p:cNvPr id="147" name="32 scalars = 8 vectors (d = 4)">
            <a:extLst xmlns:a="http://schemas.openxmlformats.org/drawingml/2006/main">
              <a:ext uri="{FF2B5EF4-FFF2-40B4-BE49-F238E27FC236}">
                <a16:creationId xmlns:a16="http://schemas.microsoft.com/office/drawing/2014/main" id="{9CD8EB21-E756-40F8-B871-DE862C67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0" y="1171609"/>
            <a:ext cx="2043864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32 scalars = 8 vectors (d = 4)</a:t>
            </a:r>
          </a:p>
        </p:txBody>
      </p:sp>
      <p:sp>
        <p:nvSpPr>
          <p:cNvPr id="1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0F511B-762C-4CBA-85CC-4D8ADCF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5694209-261F-49A1-93D7-E767B65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5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2F15657-32E1-4B0D-B388-743CC18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581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CEFDA3F-738F-4F70-B3F7-F90B8BAA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097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4F18B07-853F-4F1B-9070-7C4818E4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71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9BAC10-5AB4-4E9D-BB46-CFF5100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386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A72202-43E8-4AC9-BE0D-BB91EC63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902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70CFA1-767F-4418-88D1-A32D583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418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A1A8D00-5472-41B4-97C7-C55D5B4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256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D53ED9-EC70-475D-BFA1-F85D266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72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7025502-4B58-4BEF-B024-4E89678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287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156211-1460-4F09-9102-A53F6E9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803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60" name="…">
            <a:extLst xmlns:a="http://schemas.openxmlformats.org/drawingml/2006/main">
              <a:ext uri="{FF2B5EF4-FFF2-40B4-BE49-F238E27FC236}">
                <a16:creationId xmlns:a16="http://schemas.microsoft.com/office/drawing/2014/main" id="{5190A440-0E78-4D90-B891-5D80AE9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418" y="1300641"/>
            <a:ext cx="123871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4"/>
          </a:bodyPr>
          <a:lstStyle xmlns:a="http://schemas.openxmlformats.org/drawingml/2006/main">
            <a:def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sp>
        <p:nvSpPr>
          <p:cNvPr id="161" name="…">
            <a:extLst xmlns:a="http://schemas.openxmlformats.org/drawingml/2006/main">
              <a:ext uri="{FF2B5EF4-FFF2-40B4-BE49-F238E27FC236}">
                <a16:creationId xmlns:a16="http://schemas.microsoft.com/office/drawing/2014/main" id="{B13CEF04-463E-4183-87D7-44B19AAD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9" y="1300641"/>
            <a:ext cx="134193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4"/>
          </a:bodyPr>
          <a:lstStyle xmlns:a="http://schemas.openxmlformats.org/drawingml/2006/main">
            <a:def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cxnSp>
        <p:nvCxnSpPr>
          <p:cNvPr id="16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DBD72DE-4DF2-4F33-A9D5-ADE999E71CC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169421" y="799997"/>
            <a:ext cx="92903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246EAF"/>
            </a:solidFill>
            <a:prstDash val="dash"/>
          </a:ln>
        </p:spPr>
      </p:cxnSp>
      <p:cxnSp>
        <p:nvCxnSpPr>
          <p:cNvPr id="16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DE30AEB-C39E-49D2-8B45-F778C038014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076518" y="799997"/>
            <a:ext cx="92903" cy="345805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246EAF"/>
            </a:solidFill>
            <a:prstDash val="dash"/>
            <a:tailEnd type="triangle" w="sm" len="sm"/>
          </a:ln>
        </p:spPr>
      </p:cxnSp>
      <p:cxnSp>
        <p:nvCxnSpPr>
          <p:cNvPr id="16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AA7C812-69D4-43B2-BA97-8DAE1E643A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62318" y="908384"/>
            <a:ext cx="211612" cy="8258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69748A"/>
            </a:solidFill>
            <a:prstDash val="dash"/>
          </a:ln>
        </p:spPr>
      </p:cxnSp>
      <p:cxnSp>
        <p:nvCxnSpPr>
          <p:cNvPr id="16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D92AF54-A4BE-4B9C-8F29-BB08A80B53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73931" y="990965"/>
            <a:ext cx="118709" cy="149677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69748A"/>
            </a:solidFill>
            <a:prstDash val="dash"/>
          </a:ln>
        </p:spPr>
      </p:cxnSp>
      <p:sp>
        <p:nvSpPr>
          <p:cNvPr id="1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3F304FC-D6EC-4135-866B-EE6F2A9D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228" y="1517415"/>
            <a:ext cx="1109674" cy="954836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3F9FF"/>
          </a:solidFill>
          <a:ln xmlns:a="http://schemas.openxmlformats.org/drawingml/2006/main" w="5161">
            <a:solidFill>
              <a:srgbClr val="6BB7EB"/>
            </a:solidFill>
            <a:prstDash val="solid"/>
          </a:ln>
        </p:spPr>
      </p:sp>
      <p:sp>
        <p:nvSpPr>
          <p:cNvPr id="167" name="Codebook 1">
            <a:extLst xmlns:a="http://schemas.openxmlformats.org/drawingml/2006/main">
              <a:ext uri="{FF2B5EF4-FFF2-40B4-BE49-F238E27FC236}">
                <a16:creationId xmlns:a16="http://schemas.microsoft.com/office/drawing/2014/main" id="{2D058B74-D0E0-464F-9BAE-6970B50B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840" y="1543221"/>
            <a:ext cx="1006448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7"/>
          </a:bodyPr>
          <a:lstStyle xmlns:a="http://schemas.openxmlformats.org/drawingml/2006/main">
            <a:def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Codebook 1</a:t>
            </a:r>
          </a:p>
        </p:txBody>
      </p:sp>
      <p:sp>
        <p:nvSpPr>
          <p:cNvPr id="168" name="C₁ ∈ ℝ²⁵⁶×⁴, BF16">
            <a:extLst xmlns:a="http://schemas.openxmlformats.org/drawingml/2006/main">
              <a:ext uri="{FF2B5EF4-FFF2-40B4-BE49-F238E27FC236}">
                <a16:creationId xmlns:a16="http://schemas.microsoft.com/office/drawing/2014/main" id="{85DFD3D8-B1BC-415C-AB4A-F6C28BAA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002" y="1667091"/>
            <a:ext cx="990965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93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C₁ ∈ ℝ²⁵⁶×⁴, BF16</a:t>
            </a:r>
          </a:p>
        </p:txBody>
      </p:sp>
      <p:sp>
        <p:nvSpPr>
          <p:cNvPr id="169" name="8 indices">
            <a:extLst xmlns:a="http://schemas.openxmlformats.org/drawingml/2006/main">
              <a:ext uri="{FF2B5EF4-FFF2-40B4-BE49-F238E27FC236}">
                <a16:creationId xmlns:a16="http://schemas.microsoft.com/office/drawing/2014/main" id="{EE46E9AA-B9CB-4F1A-86CC-CA9E959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1796123"/>
            <a:ext cx="428386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indices</a:t>
            </a:r>
          </a:p>
        </p:txBody>
      </p:sp>
      <p:sp>
        <p:nvSpPr>
          <p:cNvPr id="170" name="i₁ (8-bit)">
            <a:extLst xmlns:a="http://schemas.openxmlformats.org/drawingml/2006/main">
              <a:ext uri="{FF2B5EF4-FFF2-40B4-BE49-F238E27FC236}">
                <a16:creationId xmlns:a16="http://schemas.microsoft.com/office/drawing/2014/main" id="{5679B3A3-D01C-47AE-891B-C756E65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0" y="1904510"/>
            <a:ext cx="423224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i₁ (8-bit)</a:t>
            </a:r>
          </a:p>
        </p:txBody>
      </p:sp>
      <p:sp>
        <p:nvSpPr>
          <p:cNvPr id="1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E8D749B-975E-4BDF-AA5B-EDB3DCD3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76" y="1981929"/>
            <a:ext cx="211612" cy="113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172" name="i₁,1">
            <a:extLst xmlns:a="http://schemas.openxmlformats.org/drawingml/2006/main">
              <a:ext uri="{FF2B5EF4-FFF2-40B4-BE49-F238E27FC236}">
                <a16:creationId xmlns:a16="http://schemas.microsoft.com/office/drawing/2014/main" id="{6C3DFACA-ACD7-4552-B293-85E70C1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82" y="2007736"/>
            <a:ext cx="159999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6252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i₁,1</a:t>
            </a:r>
          </a:p>
        </p:txBody>
      </p:sp>
      <p:sp>
        <p:nvSpPr>
          <p:cNvPr id="1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49724FD-954C-4E42-BE73-C0D4EF2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76" y="2105800"/>
            <a:ext cx="211612" cy="113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174" name="i₁,2">
            <a:extLst xmlns:a="http://schemas.openxmlformats.org/drawingml/2006/main">
              <a:ext uri="{FF2B5EF4-FFF2-40B4-BE49-F238E27FC236}">
                <a16:creationId xmlns:a16="http://schemas.microsoft.com/office/drawing/2014/main" id="{C7A90E00-D2DB-47C6-A42A-FCF3A01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82" y="2131606"/>
            <a:ext cx="159999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6252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i₁,2</a:t>
            </a:r>
          </a:p>
        </p:txBody>
      </p:sp>
      <p:sp>
        <p:nvSpPr>
          <p:cNvPr id="1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47ED497-CB28-4775-941A-AF4C3D02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76" y="2312251"/>
            <a:ext cx="211612" cy="113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176" name="i₁,8">
            <a:extLst xmlns:a="http://schemas.openxmlformats.org/drawingml/2006/main">
              <a:ext uri="{FF2B5EF4-FFF2-40B4-BE49-F238E27FC236}">
                <a16:creationId xmlns:a16="http://schemas.microsoft.com/office/drawing/2014/main" id="{FA0A22F9-7780-49CB-B2C0-C03C1619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82" y="2338057"/>
            <a:ext cx="159999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6252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i₁,8</a:t>
            </a:r>
          </a:p>
        </p:txBody>
      </p:sp>
      <p:sp>
        <p:nvSpPr>
          <p:cNvPr id="177" name="⋮">
            <a:extLst xmlns:a="http://schemas.openxmlformats.org/drawingml/2006/main">
              <a:ext uri="{FF2B5EF4-FFF2-40B4-BE49-F238E27FC236}">
                <a16:creationId xmlns:a16="http://schemas.microsoft.com/office/drawing/2014/main" id="{28C84535-840A-4C85-9807-790A7FA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227" y="2219348"/>
            <a:ext cx="129032" cy="9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9147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⋮</a:t>
            </a:r>
          </a:p>
        </p:txBody>
      </p:sp>
      <p:sp>
        <p:nvSpPr>
          <p:cNvPr id="178" name="8 codewords">
            <a:extLst xmlns:a="http://schemas.openxmlformats.org/drawingml/2006/main">
              <a:ext uri="{FF2B5EF4-FFF2-40B4-BE49-F238E27FC236}">
                <a16:creationId xmlns:a16="http://schemas.microsoft.com/office/drawing/2014/main" id="{F358065B-5E1A-42BD-8DB2-83FAD26A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32252"/>
            <a:ext cx="51612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codewords</a:t>
            </a:r>
          </a:p>
        </p:txBody>
      </p:sp>
      <p:sp>
        <p:nvSpPr>
          <p:cNvPr id="179" name="(each 4 scalars)">
            <a:extLst xmlns:a="http://schemas.openxmlformats.org/drawingml/2006/main">
              <a:ext uri="{FF2B5EF4-FFF2-40B4-BE49-F238E27FC236}">
                <a16:creationId xmlns:a16="http://schemas.microsoft.com/office/drawing/2014/main" id="{7AE51040-3B2E-4A0F-8CEC-DD517790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355" y="1940639"/>
            <a:ext cx="54709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(each 4 scalars)</a:t>
            </a:r>
          </a:p>
        </p:txBody>
      </p:sp>
      <p:sp>
        <p:nvSpPr>
          <p:cNvPr id="180" name="Lookup">
            <a:extLst xmlns:a="http://schemas.openxmlformats.org/drawingml/2006/main">
              <a:ext uri="{FF2B5EF4-FFF2-40B4-BE49-F238E27FC236}">
                <a16:creationId xmlns:a16="http://schemas.microsoft.com/office/drawing/2014/main" id="{DF3BD7A1-0207-4ED2-84FB-7320291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839" y="2033542"/>
            <a:ext cx="283870" cy="9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994"/>
          </a:bodyPr>
          <a:lstStyle xmlns:a="http://schemas.openxmlformats.org/drawingml/2006/main">
            <a:def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Lookup</a:t>
            </a:r>
          </a:p>
        </p:txBody>
      </p:sp>
      <p:cxnSp>
        <p:nvCxnSpPr>
          <p:cNvPr id="18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50D2910-C5D4-4BA8-BF90-15D9A8F556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12001" y="2157413"/>
            <a:ext cx="258064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4A8B"/>
            </a:solidFill>
            <a:prstDash val="solid"/>
            <a:tailEnd type="triangle" w="sm" len="sm"/>
          </a:ln>
        </p:spPr>
      </p:cxnSp>
      <p:sp>
        <p:nvSpPr>
          <p:cNvPr id="1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D46AEE0-870B-4831-AE8C-7C474A2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D1E2DC8-068E-4130-9ACC-BB404845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F48EC0D-32C9-4C71-8D21-22E4846C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3A9CF6-1148-44A4-A2EF-E806176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EEF213F-FC8A-44A4-9946-521FFF34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B287D67-4F3F-475D-BCA2-668E2C33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17C3F3-15D1-4ECF-945E-ED173BA3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B0A3799-356D-4E7D-838F-972E3C1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D042D5E-97B8-40E8-80C6-7BC7576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28D6322-5A61-4B98-A855-EEDA3993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A04BB7-F90D-4F5B-AFCB-2A4A900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4BFF7F5-CB72-440D-A69A-18A9232E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F2F6A6E-8463-4ADF-BC3F-5BD7061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B683C5C-9283-4D15-8582-7BDC8E9C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FFCE6A8-78EA-4DB5-B285-F1CF9BC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69DF2BD-1DCB-460A-AF04-B15762A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E01E07D-CABA-46BB-B77E-60988CDF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7" y="1517415"/>
            <a:ext cx="1109674" cy="954836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FFAF8"/>
          </a:solidFill>
          <a:ln xmlns:a="http://schemas.openxmlformats.org/drawingml/2006/main" w="5161">
            <a:solidFill>
              <a:srgbClr val="41A0A5"/>
            </a:solidFill>
            <a:prstDash val="solid"/>
          </a:ln>
        </p:spPr>
      </p:sp>
      <p:sp>
        <p:nvSpPr>
          <p:cNvPr id="199" name="Codebook 2">
            <a:extLst xmlns:a="http://schemas.openxmlformats.org/drawingml/2006/main">
              <a:ext uri="{FF2B5EF4-FFF2-40B4-BE49-F238E27FC236}">
                <a16:creationId xmlns:a16="http://schemas.microsoft.com/office/drawing/2014/main" id="{A83B82A5-E1E5-42D7-A434-1A177DF6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030" y="1543221"/>
            <a:ext cx="1006448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7"/>
          </a:bodyPr>
          <a:lstStyle xmlns:a="http://schemas.openxmlformats.org/drawingml/2006/main">
            <a:def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Codebook 2</a:t>
            </a:r>
          </a:p>
        </p:txBody>
      </p:sp>
      <p:sp>
        <p:nvSpPr>
          <p:cNvPr id="200" name="C₂ ∈ ℝ²⁵⁶×⁴, BF16">
            <a:extLst xmlns:a="http://schemas.openxmlformats.org/drawingml/2006/main">
              <a:ext uri="{FF2B5EF4-FFF2-40B4-BE49-F238E27FC236}">
                <a16:creationId xmlns:a16="http://schemas.microsoft.com/office/drawing/2014/main" id="{A458F884-0B2C-45B5-B8D3-E5B6D928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91" y="1667091"/>
            <a:ext cx="990965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93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C₂ ∈ ℝ²⁵⁶×⁴, BF16</a:t>
            </a:r>
          </a:p>
        </p:txBody>
      </p:sp>
      <p:sp>
        <p:nvSpPr>
          <p:cNvPr id="201" name="8 indices">
            <a:extLst xmlns:a="http://schemas.openxmlformats.org/drawingml/2006/main">
              <a:ext uri="{FF2B5EF4-FFF2-40B4-BE49-F238E27FC236}">
                <a16:creationId xmlns:a16="http://schemas.microsoft.com/office/drawing/2014/main" id="{4539CA9A-0BDE-4701-9756-9A40D805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352" y="1796123"/>
            <a:ext cx="428386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indices</a:t>
            </a:r>
          </a:p>
        </p:txBody>
      </p:sp>
      <p:sp>
        <p:nvSpPr>
          <p:cNvPr id="202" name="i₂ (8-bit)">
            <a:extLst xmlns:a="http://schemas.openxmlformats.org/drawingml/2006/main">
              <a:ext uri="{FF2B5EF4-FFF2-40B4-BE49-F238E27FC236}">
                <a16:creationId xmlns:a16="http://schemas.microsoft.com/office/drawing/2014/main" id="{00EABF12-07DF-4B4B-95F0-90A9F5E7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320" y="1904510"/>
            <a:ext cx="423224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i₂ (8-bit)</a:t>
            </a:r>
          </a:p>
        </p:txBody>
      </p:sp>
      <p:sp>
        <p:nvSpPr>
          <p:cNvPr id="2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2BEB27-5AFE-4D4D-9E18-72530EB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965" y="1981929"/>
            <a:ext cx="211612" cy="113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204" name="i₂,1">
            <a:extLst xmlns:a="http://schemas.openxmlformats.org/drawingml/2006/main">
              <a:ext uri="{FF2B5EF4-FFF2-40B4-BE49-F238E27FC236}">
                <a16:creationId xmlns:a16="http://schemas.microsoft.com/office/drawing/2014/main" id="{4B36236B-4E25-49F9-9ADA-73CBE403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771" y="2007736"/>
            <a:ext cx="159999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6252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i₂,1</a:t>
            </a:r>
          </a:p>
        </p:txBody>
      </p:sp>
      <p:sp>
        <p:nvSpPr>
          <p:cNvPr id="2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2ECD4D1-4991-45A5-BC18-F68E91A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965" y="2105800"/>
            <a:ext cx="211612" cy="113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206" name="i₂,2">
            <a:extLst xmlns:a="http://schemas.openxmlformats.org/drawingml/2006/main">
              <a:ext uri="{FF2B5EF4-FFF2-40B4-BE49-F238E27FC236}">
                <a16:creationId xmlns:a16="http://schemas.microsoft.com/office/drawing/2014/main" id="{81B15418-2EB2-4BB9-B135-133E3FA6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771" y="2131606"/>
            <a:ext cx="159999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6252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i₂,2</a:t>
            </a:r>
          </a:p>
        </p:txBody>
      </p:sp>
      <p:sp>
        <p:nvSpPr>
          <p:cNvPr id="2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142F4EC-C683-44A3-8F11-50FDF44F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965" y="2312251"/>
            <a:ext cx="211612" cy="113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208" name="i₂,8">
            <a:extLst xmlns:a="http://schemas.openxmlformats.org/drawingml/2006/main">
              <a:ext uri="{FF2B5EF4-FFF2-40B4-BE49-F238E27FC236}">
                <a16:creationId xmlns:a16="http://schemas.microsoft.com/office/drawing/2014/main" id="{C80D0133-EE68-44C5-AEFA-6C026BE4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771" y="2338057"/>
            <a:ext cx="159999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6252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i₂,8</a:t>
            </a:r>
          </a:p>
        </p:txBody>
      </p:sp>
      <p:sp>
        <p:nvSpPr>
          <p:cNvPr id="209" name="⋮">
            <a:extLst xmlns:a="http://schemas.openxmlformats.org/drawingml/2006/main">
              <a:ext uri="{FF2B5EF4-FFF2-40B4-BE49-F238E27FC236}">
                <a16:creationId xmlns:a16="http://schemas.microsoft.com/office/drawing/2014/main" id="{34ACAA14-C0F8-471C-99A8-6E510D1B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17" y="2219348"/>
            <a:ext cx="129032" cy="9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9147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⋮</a:t>
            </a:r>
          </a:p>
        </p:txBody>
      </p:sp>
      <p:sp>
        <p:nvSpPr>
          <p:cNvPr id="210" name="8 codewords">
            <a:extLst xmlns:a="http://schemas.openxmlformats.org/drawingml/2006/main">
              <a:ext uri="{FF2B5EF4-FFF2-40B4-BE49-F238E27FC236}">
                <a16:creationId xmlns:a16="http://schemas.microsoft.com/office/drawing/2014/main" id="{B631ABCB-2C56-4063-AF53-4651A4C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190" y="1832252"/>
            <a:ext cx="51612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codewords</a:t>
            </a:r>
          </a:p>
        </p:txBody>
      </p:sp>
      <p:sp>
        <p:nvSpPr>
          <p:cNvPr id="211" name="(each 4 scalars)">
            <a:extLst xmlns:a="http://schemas.openxmlformats.org/drawingml/2006/main">
              <a:ext uri="{FF2B5EF4-FFF2-40B4-BE49-F238E27FC236}">
                <a16:creationId xmlns:a16="http://schemas.microsoft.com/office/drawing/2014/main" id="{37D21CC2-EBE1-41F8-BA0D-1B46DCFE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544" y="1940639"/>
            <a:ext cx="54709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(each 4 scalars)</a:t>
            </a:r>
          </a:p>
        </p:txBody>
      </p:sp>
      <p:sp>
        <p:nvSpPr>
          <p:cNvPr id="212" name="Lookup">
            <a:extLst xmlns:a="http://schemas.openxmlformats.org/drawingml/2006/main">
              <a:ext uri="{FF2B5EF4-FFF2-40B4-BE49-F238E27FC236}">
                <a16:creationId xmlns:a16="http://schemas.microsoft.com/office/drawing/2014/main" id="{6CD1F477-4B16-40E1-8A95-BCB03632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9" y="2033542"/>
            <a:ext cx="283870" cy="9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994"/>
          </a:bodyPr>
          <a:lstStyle xmlns:a="http://schemas.openxmlformats.org/drawingml/2006/main">
            <a:def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Lookup</a:t>
            </a:r>
          </a:p>
        </p:txBody>
      </p:sp>
      <p:cxnSp>
        <p:nvCxnSpPr>
          <p:cNvPr id="21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6F61D30-9D87-4934-A9C5-12D53A43B3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66190" y="2157413"/>
            <a:ext cx="258064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0696D"/>
            </a:solidFill>
            <a:prstDash val="solid"/>
            <a:tailEnd type="triangle" w="sm" len="sm"/>
          </a:ln>
        </p:spPr>
      </p:cxnSp>
      <p:sp>
        <p:nvSpPr>
          <p:cNvPr id="2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F72A9F-FF46-4102-A090-21F3C47E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B1FE9BF-1E93-4392-871A-CDBE356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195DFB6-529E-45F0-9A86-B92E4AA2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3E98ACD-92D9-4305-8A5B-3658A99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012897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0FB9335-6B06-488D-8A10-CA585B66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21A27FC-C37D-4E0E-AB9C-DACCC74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36ABD9C-625A-4A2A-94C1-5C11E18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766F006-DCA9-4CF3-96E0-6F8E978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147090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1D20A23-9B44-437D-9AF2-CCB16761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CC3B47C-0880-44D3-9F73-A97C38B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BCABBF0-D7DC-4D6A-9E60-5FD4D9F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94D095E-DDBA-4AEA-91C5-2B09123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281283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BB4A6B9-22E9-4164-815C-84598B67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437A320-1B22-48A7-BB4A-D01C1BFE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ECF5B0-8E68-43D4-B792-F6B4DD6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61A61C0-78D8-4639-85D4-BB9D64D3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399992"/>
            <a:ext cx="68387" cy="72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30" name="+">
            <a:extLst xmlns:a="http://schemas.openxmlformats.org/drawingml/2006/main">
              <a:ext uri="{FF2B5EF4-FFF2-40B4-BE49-F238E27FC236}">
                <a16:creationId xmlns:a16="http://schemas.microsoft.com/office/drawing/2014/main" id="{DBB80142-6AD0-4D62-9F51-384F8EDE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063" y="2033542"/>
            <a:ext cx="129032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+</a:t>
            </a:r>
          </a:p>
        </p:txBody>
      </p:sp>
      <p:sp>
        <p:nvSpPr>
          <p:cNvPr id="2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D209EC1-860C-4ABC-B338-3E256403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89" y="2529024"/>
            <a:ext cx="2307089" cy="221935"/>
          </a:xfrm>
          <a:prstGeom xmlns:a="http://schemas.openxmlformats.org/drawingml/2006/main" prst="roundRect">
            <a:avLst>
              <a:gd name="adj" fmla="val 9302"/>
            </a:avLst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F3DCA8"/>
            </a:solidFill>
            <a:prstDash val="solid"/>
          </a:ln>
        </p:spPr>
      </p:sp>
      <p:sp>
        <p:nvSpPr>
          <p:cNvPr id="232" name="Ŵ[g] = r_row × 2ᵉᵍ × (C₁[i₁] + C₂[i₂])">
            <a:extLst xmlns:a="http://schemas.openxmlformats.org/drawingml/2006/main">
              <a:ext uri="{FF2B5EF4-FFF2-40B4-BE49-F238E27FC236}">
                <a16:creationId xmlns:a16="http://schemas.microsoft.com/office/drawing/2014/main" id="{442EBF5F-1897-4D69-82AF-4E849013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840" y="2570314"/>
            <a:ext cx="2214187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Ŵ[g] = r_row × 2ᵉᵍ × (C₁[i₁] + C₂[i₂])</a:t>
            </a:r>
          </a:p>
        </p:txBody>
      </p:sp>
      <p:cxnSp>
        <p:nvCxnSpPr>
          <p:cNvPr id="23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3B78311-FE49-4A4C-B2DB-4B70F7AAADC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298452" y="2756120"/>
            <a:ext cx="87742" cy="123871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4A8B"/>
            </a:solidFill>
            <a:prstDash val="solid"/>
            <a:tailEnd type="triangle" w="sm" len="sm"/>
          </a:ln>
        </p:spPr>
      </p:cxnSp>
      <p:cxnSp>
        <p:nvCxnSpPr>
          <p:cNvPr id="23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9AE9943-0595-4188-9899-5766849B637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86838" y="2756120"/>
            <a:ext cx="82580" cy="11870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76A5"/>
            </a:solidFill>
            <a:prstDash val="solid"/>
            <a:tailEnd type="triangle" w="sm" len="sm"/>
          </a:ln>
        </p:spPr>
      </p:cxnSp>
      <p:cxnSp>
        <p:nvCxnSpPr>
          <p:cNvPr id="23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5EFCB07-4086-4021-895A-393D128ADDB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521674" y="2756120"/>
            <a:ext cx="0" cy="123871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0696D"/>
            </a:solidFill>
            <a:prstDash val="solid"/>
            <a:tailEnd type="triangle" w="sm" len="sm"/>
          </a:ln>
        </p:spPr>
      </p:cxnSp>
      <p:cxnSp>
        <p:nvCxnSpPr>
          <p:cNvPr id="23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78E655D-2AC6-4B9C-AA3A-9066A31873F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30705" y="2756120"/>
            <a:ext cx="0" cy="123871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61A3C"/>
            </a:solidFill>
            <a:prstDash val="solid"/>
            <a:tailEnd type="triangle" w="sm" len="sm"/>
          </a:ln>
        </p:spPr>
      </p:cxnSp>
      <p:sp>
        <p:nvSpPr>
          <p:cNvPr id="237" name="BF16 row gain">
            <a:extLst xmlns:a="http://schemas.openxmlformats.org/drawingml/2006/main">
              <a:ext uri="{FF2B5EF4-FFF2-40B4-BE49-F238E27FC236}">
                <a16:creationId xmlns:a16="http://schemas.microsoft.com/office/drawing/2014/main" id="{539D9D59-D737-4D27-A5CC-AE316E38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89" y="2869668"/>
            <a:ext cx="51612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 row gain</a:t>
            </a:r>
          </a:p>
        </p:txBody>
      </p:sp>
      <p:sp>
        <p:nvSpPr>
          <p:cNvPr id="238" name="r_row">
            <a:extLst xmlns:a="http://schemas.openxmlformats.org/drawingml/2006/main">
              <a:ext uri="{FF2B5EF4-FFF2-40B4-BE49-F238E27FC236}">
                <a16:creationId xmlns:a16="http://schemas.microsoft.com/office/drawing/2014/main" id="{949D89C9-3D3C-4783-BE4A-C21FDE68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098" y="2988378"/>
            <a:ext cx="294193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124"/>
          </a:bodyPr>
          <a:lstStyle xmlns:a="http://schemas.openxmlformats.org/drawingml/2006/main">
            <a:def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r_row</a:t>
            </a:r>
          </a:p>
        </p:txBody>
      </p:sp>
      <p:sp>
        <p:nvSpPr>
          <p:cNvPr id="239" name="B32 power-of-two&#10;scales 2ᵉᵍ">
            <a:extLst xmlns:a="http://schemas.openxmlformats.org/drawingml/2006/main">
              <a:ext uri="{FF2B5EF4-FFF2-40B4-BE49-F238E27FC236}">
                <a16:creationId xmlns:a16="http://schemas.microsoft.com/office/drawing/2014/main" id="{DB118D04-0DA3-4851-AA4E-07C5417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806" y="2864507"/>
            <a:ext cx="655482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51"/>
          </a:bodyPr>
          <a:lstStyle xmlns:a="http://schemas.openxmlformats.org/drawingml/2006/main">
            <a:def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rPr>
              <a:t>B32 power-of-two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rPr>
              <a:t>scales 2ᵉᵍ</a:t>
            </a:r>
          </a:p>
        </p:txBody>
      </p:sp>
      <p:sp>
        <p:nvSpPr>
          <p:cNvPr id="240" name="2 × 8-bit indices /&#10;4 weights = 4 core bpw">
            <a:extLst xmlns:a="http://schemas.openxmlformats.org/drawingml/2006/main">
              <a:ext uri="{FF2B5EF4-FFF2-40B4-BE49-F238E27FC236}">
                <a16:creationId xmlns:a16="http://schemas.microsoft.com/office/drawing/2014/main" id="{4F1F0CDC-888F-4276-B529-0562BD1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7" y="2864507"/>
            <a:ext cx="650321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7296"/>
          </a:bodyPr>
          <a:lstStyle xmlns:a="http://schemas.openxmlformats.org/drawingml/2006/main">
            <a:def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2 × 8-bit indices /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4 weights = 4 core bpw</a:t>
            </a:r>
          </a:p>
        </p:txBody>
      </p:sp>
      <p:sp>
        <p:nvSpPr>
          <p:cNvPr id="241" name="~4.27 bpw&#10;including&#10;metadata">
            <a:extLst xmlns:a="http://schemas.openxmlformats.org/drawingml/2006/main">
              <a:ext uri="{FF2B5EF4-FFF2-40B4-BE49-F238E27FC236}">
                <a16:creationId xmlns:a16="http://schemas.microsoft.com/office/drawing/2014/main" id="{F7D5D6C3-B370-4A00-AD1A-C249A89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995" y="2843862"/>
            <a:ext cx="392257" cy="28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4821"/>
          </a:bodyPr>
          <a:lstStyle xmlns:a="http://schemas.openxmlformats.org/drawingml/2006/main">
            <a:def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~4.27 bpw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including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metadata</a:t>
            </a:r>
          </a:p>
        </p:txBody>
      </p:sp>
      <p:sp>
        <p:nvSpPr>
          <p:cNvPr id="2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F25C0AA-331F-4258-A933-741946F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89" y="3163861"/>
            <a:ext cx="2307089" cy="242580"/>
          </a:xfrm>
          <a:prstGeom xmlns:a="http://schemas.openxmlformats.org/drawingml/2006/main" prst="roundRect">
            <a:avLst>
              <a:gd name="adj" fmla="val 10638"/>
            </a:avLst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F49BA3"/>
            </a:solidFill>
            <a:prstDash val="solid"/>
          </a:ln>
        </p:spPr>
      </p:sp>
      <p:sp>
        <p:nvSpPr>
          <p:cNvPr id="243" name="Indices and B32 exponents are frozen">
            <a:extLst xmlns:a="http://schemas.openxmlformats.org/drawingml/2006/main">
              <a:ext uri="{FF2B5EF4-FFF2-40B4-BE49-F238E27FC236}">
                <a16:creationId xmlns:a16="http://schemas.microsoft.com/office/drawing/2014/main" id="{E79CB583-D3CD-4303-81BC-8A6406F1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3205151"/>
            <a:ext cx="219354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644"/>
          </a:bodyPr>
          <a:lstStyle xmlns:a="http://schemas.openxmlformats.org/drawingml/2006/main">
            <a:def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Indices and B32 exponents are frozen</a:t>
            </a:r>
          </a:p>
        </p:txBody>
      </p:sp>
      <p:sp>
        <p:nvSpPr>
          <p:cNvPr id="244" name="Codebooks and row gains calibrated with action + latent supervision">
            <a:extLst xmlns:a="http://schemas.openxmlformats.org/drawingml/2006/main">
              <a:ext uri="{FF2B5EF4-FFF2-40B4-BE49-F238E27FC236}">
                <a16:creationId xmlns:a16="http://schemas.microsoft.com/office/drawing/2014/main" id="{31BF1207-2959-4F5E-B2CE-1173893F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002" y="3318699"/>
            <a:ext cx="2209025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5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Codebooks and row gains calibrated with action + latent supervision</a:t>
            </a:r>
          </a:p>
        </p:txBody>
      </p:sp>
      <p:sp>
        <p:nvSpPr>
          <p:cNvPr id="2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711758-9602-4DC5-9EBF-017EAD96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309676"/>
            <a:ext cx="1223222" cy="190967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FFF"/>
          </a:solidFill>
          <a:ln xmlns:a="http://schemas.openxmlformats.org/drawingml/2006/main" w="5161">
            <a:noFill/>
            <a:prstDash val="solid"/>
          </a:ln>
        </p:spPr>
      </p:sp>
      <p:sp>
        <p:nvSpPr>
          <p:cNvPr id="246" name="Activation path (input X)">
            <a:extLst xmlns:a="http://schemas.openxmlformats.org/drawingml/2006/main">
              <a:ext uri="{FF2B5EF4-FFF2-40B4-BE49-F238E27FC236}">
                <a16:creationId xmlns:a16="http://schemas.microsoft.com/office/drawing/2014/main" id="{CAE41A19-07AE-4FEA-B5CE-A99EAE1C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52" y="335483"/>
            <a:ext cx="1171609" cy="139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rPr>
              <a:t>Activation path (input X)</a:t>
            </a:r>
          </a:p>
        </p:txBody>
      </p:sp>
      <p:sp>
        <p:nvSpPr>
          <p:cNvPr id="247" name="X">
            <a:extLst xmlns:a="http://schemas.openxmlformats.org/drawingml/2006/main">
              <a:ext uri="{FF2B5EF4-FFF2-40B4-BE49-F238E27FC236}">
                <a16:creationId xmlns:a16="http://schemas.microsoft.com/office/drawing/2014/main" id="{AE23C5C0-B926-4A38-B7CC-F27A7B93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768" y="815481"/>
            <a:ext cx="134193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047"/>
          </a:bodyPr>
          <a:lstStyle xmlns:a="http://schemas.openxmlformats.org/drawingml/2006/main"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935374D-0959-4A58-BF8C-BF4C6EF2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832" y="650321"/>
            <a:ext cx="469676" cy="46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1269AC"/>
            </a:solidFill>
            <a:prstDash val="solid"/>
          </a:ln>
        </p:spPr>
      </p:sp>
      <p:sp>
        <p:nvSpPr>
          <p:cNvPr id="249" name="Smooth&#10;(α = 0.5)&#10;+ H128">
            <a:extLst xmlns:a="http://schemas.openxmlformats.org/drawingml/2006/main">
              <a:ext uri="{FF2B5EF4-FFF2-40B4-BE49-F238E27FC236}">
                <a16:creationId xmlns:a16="http://schemas.microsoft.com/office/drawing/2014/main" id="{8508BB34-6400-4CF5-82D6-6D45085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676127"/>
            <a:ext cx="418063" cy="41290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Smooth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(α = 0.5)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+ H128</a:t>
            </a:r>
          </a:p>
        </p:txBody>
      </p:sp>
      <p:sp>
        <p:nvSpPr>
          <p:cNvPr id="2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ADE6A85-3F73-4ECD-A85E-9FC0AF4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120" y="738062"/>
            <a:ext cx="263225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4088B5"/>
            </a:solidFill>
            <a:prstDash val="solid"/>
          </a:ln>
        </p:spPr>
      </p:sp>
      <p:sp>
        <p:nvSpPr>
          <p:cNvPr id="251" name="÷ D">
            <a:extLst xmlns:a="http://schemas.openxmlformats.org/drawingml/2006/main">
              <a:ext uri="{FF2B5EF4-FFF2-40B4-BE49-F238E27FC236}">
                <a16:creationId xmlns:a16="http://schemas.microsoft.com/office/drawing/2014/main" id="{856E09F3-08B9-42CC-9BAA-9285AAB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926" y="763869"/>
            <a:ext cx="211612" cy="23225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÷ D</a:t>
            </a:r>
          </a:p>
        </p:txBody>
      </p:sp>
      <p:sp>
        <p:nvSpPr>
          <p:cNvPr id="2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EE1F0FA-A18E-4619-85D4-15BFD4AC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731" y="655482"/>
            <a:ext cx="449031" cy="45935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xmlns:a="http://schemas.openxmlformats.org/drawingml/2006/main" w="5161">
            <a:solidFill>
              <a:srgbClr val="106C7A"/>
            </a:solidFill>
            <a:prstDash val="solid"/>
          </a:ln>
        </p:spPr>
      </p:sp>
      <p:sp>
        <p:nvSpPr>
          <p:cNvPr id="253" name="Dynamic&#10;signed A4">
            <a:extLst xmlns:a="http://schemas.openxmlformats.org/drawingml/2006/main">
              <a:ext uri="{FF2B5EF4-FFF2-40B4-BE49-F238E27FC236}">
                <a16:creationId xmlns:a16="http://schemas.microsoft.com/office/drawing/2014/main" id="{F86FCFB0-DEC9-4DC0-974B-96422BDA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538" y="681288"/>
            <a:ext cx="397418" cy="40774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Dynamic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signed A4</a:t>
            </a:r>
          </a:p>
        </p:txBody>
      </p:sp>
      <p:sp>
        <p:nvSpPr>
          <p:cNvPr id="2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9D4BCC3-4ACB-42F9-9CCE-FC92B12C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88" y="650321"/>
            <a:ext cx="381934" cy="46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1666AC"/>
            </a:solidFill>
            <a:prstDash val="solid"/>
          </a:ln>
        </p:spPr>
      </p:sp>
      <p:sp>
        <p:nvSpPr>
          <p:cNvPr id="255" name="BF16&#10;dense&#10;Linear">
            <a:extLst xmlns:a="http://schemas.openxmlformats.org/drawingml/2006/main">
              <a:ext uri="{FF2B5EF4-FFF2-40B4-BE49-F238E27FC236}">
                <a16:creationId xmlns:a16="http://schemas.microsoft.com/office/drawing/2014/main" id="{E84A698E-A009-48D8-AC39-0AC80EDD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794" y="676127"/>
            <a:ext cx="330322" cy="41290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BF16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dense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Linear</a:t>
            </a:r>
          </a:p>
        </p:txBody>
      </p:sp>
      <p:cxnSp>
        <p:nvCxnSpPr>
          <p:cNvPr id="25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C8204F2-2B77-4E56-A44C-6547A87015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77800" y="882578"/>
            <a:ext cx="123871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5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E455A38-1C1A-447D-9984-73B124205C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81669" y="877417"/>
            <a:ext cx="196128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8" name="Z">
            <a:extLst xmlns:a="http://schemas.openxmlformats.org/drawingml/2006/main">
              <a:ext uri="{FF2B5EF4-FFF2-40B4-BE49-F238E27FC236}">
                <a16:creationId xmlns:a16="http://schemas.microsoft.com/office/drawing/2014/main" id="{F978ECB8-19E4-4FCE-B393-13C13FEA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282" y="743223"/>
            <a:ext cx="123871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6931"/>
          </a:bodyPr>
          <a:lstStyle xmlns:a="http://schemas.openxmlformats.org/drawingml/2006/main"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25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49975D4-D7C4-4511-99FA-11BA023B75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56506" y="877417"/>
            <a:ext cx="98064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6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AA3717B-68E7-4D2E-A8CE-9508CDB381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13924" y="877417"/>
            <a:ext cx="92903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61" name="D: one learned positive scale per physical input channel">
            <a:extLst xmlns:a="http://schemas.openxmlformats.org/drawingml/2006/main">
              <a:ext uri="{FF2B5EF4-FFF2-40B4-BE49-F238E27FC236}">
                <a16:creationId xmlns:a16="http://schemas.microsoft.com/office/drawing/2014/main" id="{D20F76F1-CAAE-478F-AA7B-909D474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058" y="1187093"/>
            <a:ext cx="2193541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663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D: one learned positive scale per physical input channel</a:t>
            </a:r>
          </a:p>
        </p:txBody>
      </p:sp>
      <p:sp>
        <p:nvSpPr>
          <p:cNvPr id="262" name="v = Z / D">
            <a:extLst xmlns:a="http://schemas.openxmlformats.org/drawingml/2006/main">
              <a:ext uri="{FF2B5EF4-FFF2-40B4-BE49-F238E27FC236}">
                <a16:creationId xmlns:a16="http://schemas.microsoft.com/office/drawing/2014/main" id="{296260AE-C5C5-4F16-B253-82EAD806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42" y="1460641"/>
            <a:ext cx="629675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 = Z / D</a:t>
            </a:r>
          </a:p>
        </p:txBody>
      </p:sp>
      <p:sp>
        <p:nvSpPr>
          <p:cNvPr id="2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55ADDE-6218-4B3F-B497-3341AC5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379" y="1321286"/>
            <a:ext cx="1548382" cy="541934"/>
          </a:xfrm>
          <a:prstGeom xmlns:a="http://schemas.openxmlformats.org/drawingml/2006/main" prst="roundRect">
            <a:avLst>
              <a:gd name="adj" fmla="val 4762"/>
            </a:avLst>
          </a:prstGeom>
          <a:gradFill xmlns:a="http://schemas.openxmlformats.org/drawingml/2006/main">
            <a:gsLst>
              <a:gs pos="0">
                <a:srgbClr val="E1F5FC"/>
              </a:gs>
              <a:gs pos="100000">
                <a:srgbClr val="F1FBFE"/>
              </a:gs>
            </a:gsLst>
            <a:lin ang="5400000"/>
          </a:gradFill>
          <a:ln xmlns:a="http://schemas.openxmlformats.org/drawingml/2006/main" w="5161">
            <a:solidFill>
              <a:srgbClr val="B6E0EE"/>
            </a:solidFill>
            <a:prstDash val="solid"/>
          </a:ln>
        </p:spPr>
      </p:sp>
      <p:sp>
        <p:nvSpPr>
          <p:cNvPr id="264" name="Per-token dynamic signed A4 (per Linear)">
            <a:extLst xmlns:a="http://schemas.openxmlformats.org/drawingml/2006/main">
              <a:ext uri="{FF2B5EF4-FFF2-40B4-BE49-F238E27FC236}">
                <a16:creationId xmlns:a16="http://schemas.microsoft.com/office/drawing/2014/main" id="{D24E864E-5D1D-4A18-A478-D1493DBA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372899"/>
            <a:ext cx="1445157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905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Per-token dynamic signed A4 (per Linear)</a:t>
            </a:r>
          </a:p>
        </p:txBody>
      </p:sp>
      <p:sp>
        <p:nvSpPr>
          <p:cNvPr id="265" name="sₜ = r_l × max |vₜ| / 7">
            <a:extLst xmlns:a="http://schemas.openxmlformats.org/drawingml/2006/main">
              <a:ext uri="{FF2B5EF4-FFF2-40B4-BE49-F238E27FC236}">
                <a16:creationId xmlns:a16="http://schemas.microsoft.com/office/drawing/2014/main" id="{02C8B0C2-F123-4A2C-92B1-CA9CBC41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7" y="1527737"/>
            <a:ext cx="1269673" cy="149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sₜ = r_l × max |vₜ| / 7</a:t>
            </a:r>
          </a:p>
        </p:txBody>
      </p:sp>
      <p:sp>
        <p:nvSpPr>
          <p:cNvPr id="266" name="q = clamp(round(v / sₜ), −7, 7)">
            <a:extLst xmlns:a="http://schemas.openxmlformats.org/drawingml/2006/main">
              <a:ext uri="{FF2B5EF4-FFF2-40B4-BE49-F238E27FC236}">
                <a16:creationId xmlns:a16="http://schemas.microsoft.com/office/drawing/2014/main" id="{9B5EE9FE-DE21-460E-88AE-5E75DE4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798" y="1687737"/>
            <a:ext cx="1383221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99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 = clamp(round(v / sₜ), −7, 7)</a:t>
            </a:r>
          </a:p>
        </p:txBody>
      </p:sp>
      <p:sp>
        <p:nvSpPr>
          <p:cNvPr id="267" name="r_l: one clipping ratio per Linear">
            <a:extLst xmlns:a="http://schemas.openxmlformats.org/drawingml/2006/main">
              <a:ext uri="{FF2B5EF4-FFF2-40B4-BE49-F238E27FC236}">
                <a16:creationId xmlns:a16="http://schemas.microsoft.com/office/drawing/2014/main" id="{7A4D0CBB-005E-4178-B089-C92FBAB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508" y="1914833"/>
            <a:ext cx="1512253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r_l: one clipping ratio per Linear</a:t>
            </a:r>
          </a:p>
        </p:txBody>
      </p:sp>
      <p:sp>
        <p:nvSpPr>
          <p:cNvPr id="268" name="(distinct from per-channel D)">
            <a:extLst xmlns:a="http://schemas.openxmlformats.org/drawingml/2006/main">
              <a:ext uri="{FF2B5EF4-FFF2-40B4-BE49-F238E27FC236}">
                <a16:creationId xmlns:a16="http://schemas.microsoft.com/office/drawing/2014/main" id="{E20BBE40-8733-466B-BC0D-3555598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862" y="2033542"/>
            <a:ext cx="134193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511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(distinct from per-channel D)</a:t>
            </a:r>
          </a:p>
        </p:txBody>
      </p:sp>
      <p:sp>
        <p:nvSpPr>
          <p:cNvPr id="2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6F42EDE-021A-4256-8477-347B312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2193541"/>
            <a:ext cx="753546" cy="206451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7E5"/>
          </a:solidFill>
          <a:ln xmlns:a="http://schemas.openxmlformats.org/drawingml/2006/main" w="5161">
            <a:noFill/>
            <a:prstDash val="solid"/>
          </a:ln>
        </p:spPr>
      </p:sp>
      <p:sp>
        <p:nvSpPr>
          <p:cNvPr id="270" name="Weight path">
            <a:extLst xmlns:a="http://schemas.openxmlformats.org/drawingml/2006/main">
              <a:ext uri="{FF2B5EF4-FFF2-40B4-BE49-F238E27FC236}">
                <a16:creationId xmlns:a16="http://schemas.microsoft.com/office/drawing/2014/main" id="{85725A22-4621-4D41-91B4-6E1033BD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52" y="2219348"/>
            <a:ext cx="701933" cy="15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Weight path</a:t>
            </a:r>
          </a:p>
        </p:txBody>
      </p:sp>
      <p:sp>
        <p:nvSpPr>
          <p:cNvPr id="2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0D891EB-6F33-428C-9043-1A15A6F8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2461928"/>
            <a:ext cx="660643" cy="36128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C94E64"/>
            </a:solidFill>
            <a:prstDash val="solid"/>
          </a:ln>
        </p:spPr>
      </p:sp>
      <p:sp>
        <p:nvSpPr>
          <p:cNvPr id="272" name="Decode VQ&#10;(frozen)">
            <a:extLst xmlns:a="http://schemas.openxmlformats.org/drawingml/2006/main">
              <a:ext uri="{FF2B5EF4-FFF2-40B4-BE49-F238E27FC236}">
                <a16:creationId xmlns:a16="http://schemas.microsoft.com/office/drawing/2014/main" id="{07A78664-E8EE-4603-A3AA-78FE6D38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52" y="2487734"/>
            <a:ext cx="609030" cy="30967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Decode VQ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(frozen)</a:t>
            </a:r>
          </a:p>
        </p:txBody>
      </p:sp>
      <p:sp>
        <p:nvSpPr>
          <p:cNvPr id="273" name="Ŵ">
            <a:extLst xmlns:a="http://schemas.openxmlformats.org/drawingml/2006/main">
              <a:ext uri="{FF2B5EF4-FFF2-40B4-BE49-F238E27FC236}">
                <a16:creationId xmlns:a16="http://schemas.microsoft.com/office/drawing/2014/main" id="{1B1EA3A3-102D-4912-BE90-C02435CE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830" y="2518702"/>
            <a:ext cx="185806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255"/>
          </a:bodyPr>
          <a:lstStyle xmlns:a="http://schemas.openxmlformats.org/drawingml/2006/main">
            <a:def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</a:t>
            </a:r>
          </a:p>
        </p:txBody>
      </p:sp>
      <p:sp>
        <p:nvSpPr>
          <p:cNvPr id="2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B73597-E2C1-4744-B3E3-F367ED90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87" y="2498057"/>
            <a:ext cx="588385" cy="294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EBC778"/>
            </a:solidFill>
            <a:prstDash val="solid"/>
          </a:ln>
        </p:spPr>
      </p:sp>
      <p:sp>
        <p:nvSpPr>
          <p:cNvPr id="275" name="Ŵ × D">
            <a:extLst xmlns:a="http://schemas.openxmlformats.org/drawingml/2006/main">
              <a:ext uri="{FF2B5EF4-FFF2-40B4-BE49-F238E27FC236}">
                <a16:creationId xmlns:a16="http://schemas.microsoft.com/office/drawing/2014/main" id="{39ADF2E1-A610-4486-8DA1-D20F783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94" y="2523863"/>
            <a:ext cx="536772" cy="2425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 × D</a:t>
            </a:r>
          </a:p>
        </p:txBody>
      </p:sp>
      <p:sp>
        <p:nvSpPr>
          <p:cNvPr id="2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15C7923-957F-45AB-9B04-11A42D81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924" y="2420637"/>
            <a:ext cx="474837" cy="4541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156CB0"/>
            </a:solidFill>
            <a:prstDash val="solid"/>
          </a:ln>
        </p:spPr>
      </p:sp>
      <p:sp>
        <p:nvSpPr>
          <p:cNvPr id="277" name="BF16&#10;dense&#10;Linear">
            <a:extLst xmlns:a="http://schemas.openxmlformats.org/drawingml/2006/main">
              <a:ext uri="{FF2B5EF4-FFF2-40B4-BE49-F238E27FC236}">
                <a16:creationId xmlns:a16="http://schemas.microsoft.com/office/drawing/2014/main" id="{8DA914AB-6808-4B59-AEE9-0C6534E2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730" y="2446444"/>
            <a:ext cx="423224" cy="40257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dense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Linear</a:t>
            </a:r>
          </a:p>
        </p:txBody>
      </p:sp>
      <p:cxnSp>
        <p:nvCxnSpPr>
          <p:cNvPr id="27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8F1BE21-379A-4CB0-9A85-C36D39F44A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04250" y="2642572"/>
            <a:ext cx="309676" cy="0"/>
          </a:xfrm>
          <a:prstGeom xmlns:a="http://schemas.openxmlformats.org/drawingml/2006/main" prst="straightConnector1">
            <a:avLst/>
          </a:prstGeom>
          <a:ln xmlns:a="http://schemas.openxmlformats.org/drawingml/2006/main" w="8258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22F8688-A19C-4D22-88E3-801412BF06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12634" y="2642572"/>
            <a:ext cx="196128" cy="0"/>
          </a:xfrm>
          <a:prstGeom xmlns:a="http://schemas.openxmlformats.org/drawingml/2006/main" prst="straightConnector1">
            <a:avLst/>
          </a:prstGeom>
          <a:ln xmlns:a="http://schemas.openxmlformats.org/drawingml/2006/main" w="8258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E5F0BC6-1463-4108-91C3-684B66E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2947087"/>
            <a:ext cx="2250315" cy="438708"/>
          </a:xfrm>
          <a:prstGeom xmlns:a="http://schemas.openxmlformats.org/drawingml/2006/main" prst="roundRect">
            <a:avLst>
              <a:gd name="adj" fmla="val 7059"/>
            </a:avLst>
          </a:prstGeom>
          <a:gradFill xmlns:a="http://schemas.openxmlformats.org/drawingml/2006/main">
            <a:gsLst>
              <a:gs pos="0">
                <a:srgbClr val="DBF0F0"/>
              </a:gs>
              <a:gs pos="100000">
                <a:srgbClr val="F4FCFC"/>
              </a:gs>
            </a:gsLst>
            <a:lin ang="5400000"/>
          </a:gradFill>
          <a:ln xmlns:a="http://schemas.openxmlformats.org/drawingml/2006/main" w="5161">
            <a:solidFill>
              <a:srgbClr val="95D0D1"/>
            </a:solidFill>
            <a:prstDash val="solid"/>
          </a:ln>
        </p:spPr>
      </p:sp>
      <p:sp>
        <p:nvSpPr>
          <p:cNvPr id="281" name="Training refinement (activation only)">
            <a:extLst xmlns:a="http://schemas.openxmlformats.org/drawingml/2006/main">
              <a:ext uri="{FF2B5EF4-FFF2-40B4-BE49-F238E27FC236}">
                <a16:creationId xmlns:a16="http://schemas.microsoft.com/office/drawing/2014/main" id="{6B1C4B24-AAC4-4464-8CFD-16B9DB1F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897" y="2983216"/>
            <a:ext cx="2147090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Training refinement (activation only)</a:t>
            </a:r>
          </a:p>
        </p:txBody>
      </p:sp>
      <p:sp>
        <p:nvSpPr>
          <p:cNvPr id="282" name="• Keep VQ weights frozen (indices, B32 exponents, codebooks, row gains)">
            <a:extLst xmlns:a="http://schemas.openxmlformats.org/drawingml/2006/main">
              <a:ext uri="{FF2B5EF4-FFF2-40B4-BE49-F238E27FC236}">
                <a16:creationId xmlns:a16="http://schemas.microsoft.com/office/drawing/2014/main" id="{6E17F70D-9499-45FB-8645-87418C4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219" y="3122571"/>
            <a:ext cx="2141929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2223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• Keep VQ weights frozen (indices, B32 exponents, codebooks, row gains)</a:t>
            </a:r>
          </a:p>
        </p:txBody>
      </p:sp>
      <p:sp>
        <p:nvSpPr>
          <p:cNvPr id="283" name="• Learn per-channel scales D and clipping ratio r_l">
            <a:extLst xmlns:a="http://schemas.openxmlformats.org/drawingml/2006/main">
              <a:ext uri="{FF2B5EF4-FFF2-40B4-BE49-F238E27FC236}">
                <a16:creationId xmlns:a16="http://schemas.microsoft.com/office/drawing/2014/main" id="{78D24738-0B8C-4275-8F5C-5F1CE20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219" y="3251603"/>
            <a:ext cx="213676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531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• Learn per-channel scales D and clipping ratio r_l</a:t>
            </a:r>
          </a:p>
        </p:txBody>
      </p:sp>
      <p:sp>
        <p:nvSpPr>
          <p:cNvPr id="2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ABBDBC-D770-439E-9ADE-E772388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20" y="3530311"/>
            <a:ext cx="8588360" cy="1300641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8">
            <a:solidFill>
              <a:srgbClr val="061A3C"/>
            </a:solidFill>
            <a:prstDash val="solid"/>
          </a:ln>
        </p:spPr>
      </p:sp>
      <p:sp>
        <p:nvSpPr>
          <p:cNvPr id="285" name="Offline training loop (action + latent supervision)">
            <a:extLst xmlns:a="http://schemas.openxmlformats.org/drawingml/2006/main">
              <a:ext uri="{FF2B5EF4-FFF2-40B4-BE49-F238E27FC236}">
                <a16:creationId xmlns:a16="http://schemas.microsoft.com/office/drawing/2014/main" id="{1D93CA62-1127-4C7A-93B6-519B6DC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8" y="3587085"/>
            <a:ext cx="3829665" cy="18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Offline training loop (action + latent supervision)</a:t>
            </a:r>
          </a:p>
        </p:txBody>
      </p:sp>
      <p:sp>
        <p:nvSpPr>
          <p:cNvPr id="286" name="Offline gradients (no gradient to frozen components)">
            <a:extLst xmlns:a="http://schemas.openxmlformats.org/drawingml/2006/main">
              <a:ext uri="{FF2B5EF4-FFF2-40B4-BE49-F238E27FC236}">
                <a16:creationId xmlns:a16="http://schemas.microsoft.com/office/drawing/2014/main" id="{82B25BE3-8804-4E36-AF52-F80D139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162" y="3654182"/>
            <a:ext cx="278708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Offline gradients (no gradient to frozen components)</a:t>
            </a:r>
          </a:p>
        </p:txBody>
      </p:sp>
      <p:cxnSp>
        <p:nvCxnSpPr>
          <p:cNvPr id="28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4B9F2A8-C548-4B64-89AC-F32AA5DA94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36507" y="3654182"/>
            <a:ext cx="325160" cy="0"/>
          </a:xfrm>
          <a:prstGeom xmlns:a="http://schemas.openxmlformats.org/drawingml/2006/main" prst="straightConnector1">
            <a:avLst/>
          </a:prstGeom>
          <a:ln xmlns:a="http://schemas.openxmlformats.org/drawingml/2006/main" w="11355">
            <a:solidFill>
              <a:srgbClr val="003C82"/>
            </a:solidFill>
            <a:prstDash val="solid"/>
            <a:tailEnd type="triangle" w="sm" len="sm"/>
          </a:ln>
        </p:spPr>
      </p:cxnSp>
      <p:sp>
        <p:nvSpPr>
          <p:cNvPr id="288" name="Forward data">
            <a:extLst xmlns:a="http://schemas.openxmlformats.org/drawingml/2006/main">
              <a:ext uri="{FF2B5EF4-FFF2-40B4-BE49-F238E27FC236}">
                <a16:creationId xmlns:a16="http://schemas.microsoft.com/office/drawing/2014/main" id="{9F5F4ED7-3FB3-48F6-A800-4B64B8B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957" y="3602569"/>
            <a:ext cx="93419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Forward data</a:t>
            </a:r>
          </a:p>
        </p:txBody>
      </p:sp>
      <p:cxnSp>
        <p:nvCxnSpPr>
          <p:cNvPr id="28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BC49086-DD57-4C0A-9AA1-F193FA3A02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36507" y="3767730"/>
            <a:ext cx="325160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290" name="Offline gradient / parameter update">
            <a:extLst xmlns:a="http://schemas.openxmlformats.org/drawingml/2006/main">
              <a:ext uri="{FF2B5EF4-FFF2-40B4-BE49-F238E27FC236}">
                <a16:creationId xmlns:a16="http://schemas.microsoft.com/office/drawing/2014/main" id="{96E7CD8E-BB7C-4882-83C2-5ACE9BE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957" y="3726440"/>
            <a:ext cx="996126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2725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Offline gradient / parameter update</a:t>
            </a:r>
          </a:p>
        </p:txBody>
      </p:sp>
      <p:sp>
        <p:nvSpPr>
          <p:cNvPr id="2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0A1299F-3070-41BD-B964-03651FBC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8" y="3974181"/>
            <a:ext cx="794836" cy="273548"/>
          </a:xfrm>
          <a:prstGeom xmlns:a="http://schemas.openxmlformats.org/drawingml/2006/main" prst="roundRect">
            <a:avLst>
              <a:gd name="adj" fmla="val 7547"/>
            </a:avLst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4C9ED7"/>
            </a:solidFill>
            <a:prstDash val="solid"/>
          </a:ln>
        </p:spPr>
      </p:sp>
      <p:sp>
        <p:nvSpPr>
          <p:cNvPr id="292" name="BF16 teacher&#10;(frozen)">
            <a:extLst xmlns:a="http://schemas.openxmlformats.org/drawingml/2006/main">
              <a:ext uri="{FF2B5EF4-FFF2-40B4-BE49-F238E27FC236}">
                <a16:creationId xmlns:a16="http://schemas.microsoft.com/office/drawing/2014/main" id="{EEF38127-E217-40D7-B99F-73D4838A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3999987"/>
            <a:ext cx="743223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9561"/>
          </a:bodyPr>
          <a:lstStyle xmlns:a="http://schemas.openxmlformats.org/drawingml/2006/main">
            <a:def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 teacher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(frozen)</a:t>
            </a:r>
          </a:p>
        </p:txBody>
      </p:sp>
      <p:sp>
        <p:nvSpPr>
          <p:cNvPr id="2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4BFB04B-7852-4CFF-AD4D-665EFB82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8" y="4335470"/>
            <a:ext cx="794836" cy="268386"/>
          </a:xfrm>
          <a:prstGeom xmlns:a="http://schemas.openxmlformats.org/drawingml/2006/main" prst="roundRect">
            <a:avLst>
              <a:gd name="adj" fmla="val 7692"/>
            </a:avLst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F06F80"/>
            </a:solidFill>
            <a:prstDash val="solid"/>
          </a:ln>
        </p:spPr>
      </p:sp>
      <p:sp>
        <p:nvSpPr>
          <p:cNvPr id="294" name="Quantized WAM&#10;(student)">
            <a:extLst xmlns:a="http://schemas.openxmlformats.org/drawingml/2006/main">
              <a:ext uri="{FF2B5EF4-FFF2-40B4-BE49-F238E27FC236}">
                <a16:creationId xmlns:a16="http://schemas.microsoft.com/office/drawing/2014/main" id="{DD0F9D16-EB65-49B6-AEEC-CAA77489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4361276"/>
            <a:ext cx="743223" cy="21677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Quantized WAM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(student)</a:t>
            </a:r>
          </a:p>
        </p:txBody>
      </p:sp>
      <p:sp>
        <p:nvSpPr>
          <p:cNvPr id="2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2701CB6-C21D-4A60-97DF-F1D91F8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97" y="4046439"/>
            <a:ext cx="1114835" cy="500644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5161">
            <a:solidFill>
              <a:srgbClr val="17619B"/>
            </a:solidFill>
            <a:prstDash val="solid"/>
          </a:ln>
        </p:spPr>
      </p:sp>
      <p:sp>
        <p:nvSpPr>
          <p:cNvPr id="296" name="Forward pass&#10;on training data&#10;(action + latent supervision)">
            <a:extLst xmlns:a="http://schemas.openxmlformats.org/drawingml/2006/main">
              <a:ext uri="{FF2B5EF4-FFF2-40B4-BE49-F238E27FC236}">
                <a16:creationId xmlns:a16="http://schemas.microsoft.com/office/drawing/2014/main" id="{439D5AE7-85FB-4EE2-A08A-5B5B012D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4" y="4072245"/>
            <a:ext cx="1063222" cy="449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6857"/>
          </a:bodyPr>
          <a:lstStyle xmlns:a="http://schemas.openxmlformats.org/drawingml/2006/main">
            <a:def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Forward pass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on training data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(action + latent supervision)</a:t>
            </a:r>
          </a:p>
        </p:txBody>
      </p:sp>
      <p:cxnSp>
        <p:nvCxnSpPr>
          <p:cNvPr id="29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C82C59D-6F04-4412-B5C7-C61D780D18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0075" y="4113535"/>
            <a:ext cx="165161" cy="0"/>
          </a:xfrm>
          <a:prstGeom xmlns:a="http://schemas.openxmlformats.org/drawingml/2006/main" prst="straightConnector1">
            <a:avLst/>
          </a:prstGeom>
          <a:ln xmlns:a="http://schemas.openxmlformats.org/drawingml/2006/main" w="9290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9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6BF5659-E19C-4F1A-B08D-575A83774F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0075" y="4464502"/>
            <a:ext cx="165161" cy="0"/>
          </a:xfrm>
          <a:prstGeom xmlns:a="http://schemas.openxmlformats.org/drawingml/2006/main" prst="straightConnector1">
            <a:avLst/>
          </a:prstGeom>
          <a:ln xmlns:a="http://schemas.openxmlformats.org/drawingml/2006/main" w="929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C2E2C5-48E4-4BB0-A0F0-5978EE7F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910" y="4010310"/>
            <a:ext cx="1228383" cy="221935"/>
          </a:xfrm>
          <a:prstGeom xmlns:a="http://schemas.openxmlformats.org/drawingml/2006/main" prst="roundRect">
            <a:avLst>
              <a:gd name="adj" fmla="val 9302"/>
            </a:avLst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EDBE67"/>
            </a:solidFill>
            <a:prstDash val="solid"/>
          </a:ln>
        </p:spPr>
      </p:sp>
      <p:sp>
        <p:nvSpPr>
          <p:cNvPr id="300" name="Future latent loss  Lz">
            <a:extLst xmlns:a="http://schemas.openxmlformats.org/drawingml/2006/main">
              <a:ext uri="{FF2B5EF4-FFF2-40B4-BE49-F238E27FC236}">
                <a16:creationId xmlns:a16="http://schemas.microsoft.com/office/drawing/2014/main" id="{4CFD01CB-A4A3-4A6A-A65F-D7602DA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716" y="4036116"/>
            <a:ext cx="1176770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rPr>
              <a:t>Future latent loss  Lz</a:t>
            </a:r>
          </a:p>
        </p:txBody>
      </p:sp>
      <p:sp>
        <p:nvSpPr>
          <p:cNvPr id="3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88DE297-46CA-4DD0-A131-5374BD3F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910" y="4330309"/>
            <a:ext cx="1228383" cy="227096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xmlns:a="http://schemas.openxmlformats.org/drawingml/2006/main" w="5161">
            <a:solidFill>
              <a:srgbClr val="72BFCA"/>
            </a:solidFill>
            <a:prstDash val="solid"/>
          </a:ln>
        </p:spPr>
      </p:sp>
      <p:sp>
        <p:nvSpPr>
          <p:cNvPr id="302" name="First-10 motor action loss  La">
            <a:extLst xmlns:a="http://schemas.openxmlformats.org/drawingml/2006/main">
              <a:ext uri="{FF2B5EF4-FFF2-40B4-BE49-F238E27FC236}">
                <a16:creationId xmlns:a16="http://schemas.microsoft.com/office/drawing/2014/main" id="{645E7BFE-D2B7-4BB7-8692-6B7ADFFC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716" y="4356115"/>
            <a:ext cx="1176770" cy="17548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6268"/>
          </a:bodyPr>
          <a:lstStyle xmlns:a="http://schemas.openxmlformats.org/drawingml/2006/main">
            <a:def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rPr>
              <a:t>First-10 motor action loss  La</a:t>
            </a:r>
          </a:p>
        </p:txBody>
      </p:sp>
      <p:cxnSp>
        <p:nvCxnSpPr>
          <p:cNvPr id="30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8B127A7-0DDD-4829-9211-4E4AB31824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40394" y="4118697"/>
            <a:ext cx="139354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5FFB8F4-C1FD-4E0B-B79D-8E59F7B16A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40394" y="4443857"/>
            <a:ext cx="139354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E342A53-96DA-45A0-BD0E-9808E5D4A3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8454" y="4123858"/>
            <a:ext cx="103225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0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5E1F967-C20D-48B7-9518-53B362DBBF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1679" y="4123858"/>
            <a:ext cx="0" cy="139354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0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E10E9FB-93AB-4709-A8E5-FF009CBBF7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1679" y="4263212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DE160D2-1CBF-4731-AC7B-29DA389719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8454" y="4443857"/>
            <a:ext cx="103225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0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02D8827-625E-46AA-A718-8C8E89C21BF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21679" y="4263212"/>
            <a:ext cx="0" cy="180645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6C8D10F-D9F0-420F-9E14-B3E978706D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1679" y="4263212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11" name="Total loss">
            <a:extLst xmlns:a="http://schemas.openxmlformats.org/drawingml/2006/main">
              <a:ext uri="{FF2B5EF4-FFF2-40B4-BE49-F238E27FC236}">
                <a16:creationId xmlns:a16="http://schemas.microsoft.com/office/drawing/2014/main" id="{07DB2BB9-0BAF-4CAE-AEAA-FFB7F6C2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937" y="4103213"/>
            <a:ext cx="66064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553"/>
          </a:bodyPr>
          <a:lstStyle xmlns:a="http://schemas.openxmlformats.org/drawingml/2006/main">
            <a:def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Total loss</a:t>
            </a:r>
          </a:p>
        </p:txBody>
      </p:sp>
      <p:sp>
        <p:nvSpPr>
          <p:cNvPr id="312" name="L = Lz + La">
            <a:extLst xmlns:a="http://schemas.openxmlformats.org/drawingml/2006/main">
              <a:ext uri="{FF2B5EF4-FFF2-40B4-BE49-F238E27FC236}">
                <a16:creationId xmlns:a16="http://schemas.microsoft.com/office/drawing/2014/main" id="{AC7F5CC9-818D-4449-A8DB-EF7BAE1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324" y="4258051"/>
            <a:ext cx="738062" cy="206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Lz + La</a:t>
            </a:r>
          </a:p>
        </p:txBody>
      </p:sp>
      <p:sp>
        <p:nvSpPr>
          <p:cNvPr id="3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70E1666-4EA0-485D-8D43-78FD94E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56" y="3943213"/>
            <a:ext cx="1109674" cy="356128"/>
          </a:xfrm>
          <a:prstGeom xmlns:a="http://schemas.openxmlformats.org/drawingml/2006/main" prst="roundRect">
            <a:avLst>
              <a:gd name="adj" fmla="val 7246"/>
            </a:avLst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F18591"/>
            </a:solidFill>
            <a:prstDash val="solid"/>
          </a:ln>
        </p:spPr>
      </p:sp>
      <p:sp>
        <p:nvSpPr>
          <p:cNvPr id="314" name="Calibrate codebooks /&#10;row gains&#10;(section b)">
            <a:extLst xmlns:a="http://schemas.openxmlformats.org/drawingml/2006/main">
              <a:ext uri="{FF2B5EF4-FFF2-40B4-BE49-F238E27FC236}">
                <a16:creationId xmlns:a16="http://schemas.microsoft.com/office/drawing/2014/main" id="{945DC5EE-63AA-4441-8E8B-084CAD6D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063" y="3969020"/>
            <a:ext cx="1058061" cy="30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4501"/>
          </a:bodyPr>
          <a:lstStyle xmlns:a="http://schemas.openxmlformats.org/drawingml/2006/main">
            <a:def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Calibrate codebooks /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row gains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(section b)</a:t>
            </a:r>
          </a:p>
        </p:txBody>
      </p:sp>
      <p:sp>
        <p:nvSpPr>
          <p:cNvPr id="3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D155E5E-6196-4A60-8DDA-6F5EAA2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768" y="3943213"/>
            <a:ext cx="1094190" cy="356128"/>
          </a:xfrm>
          <a:prstGeom xmlns:a="http://schemas.openxmlformats.org/drawingml/2006/main" prst="roundRect">
            <a:avLst>
              <a:gd name="adj" fmla="val 7246"/>
            </a:avLst>
          </a:prstGeom>
          <a:gradFill xmlns:a="http://schemas.openxmlformats.org/drawingml/2006/main"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xmlns:a="http://schemas.openxmlformats.org/drawingml/2006/main" w="5161">
            <a:solidFill>
              <a:srgbClr val="84CDD1"/>
            </a:solidFill>
            <a:prstDash val="solid"/>
          </a:ln>
        </p:spPr>
      </p:sp>
      <p:sp>
        <p:nvSpPr>
          <p:cNvPr id="316" name="Refine per-channel D /&#10;clipping ratio&#10;(section c)">
            <a:extLst xmlns:a="http://schemas.openxmlformats.org/drawingml/2006/main">
              <a:ext uri="{FF2B5EF4-FFF2-40B4-BE49-F238E27FC236}">
                <a16:creationId xmlns:a16="http://schemas.microsoft.com/office/drawing/2014/main" id="{C3FEA722-E8E0-4255-AC91-6E62B8B6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575" y="3969020"/>
            <a:ext cx="1042577" cy="30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4501"/>
          </a:bodyPr>
          <a:lstStyle xmlns:a="http://schemas.openxmlformats.org/drawingml/2006/main">
            <a:def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rPr>
              <a:t>Refine per-channel D /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rPr>
              <a:t>clipping ratio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rPr>
              <a:t>(section c)</a:t>
            </a:r>
          </a:p>
        </p:txBody>
      </p:sp>
      <p:cxnSp>
        <p:nvCxnSpPr>
          <p:cNvPr id="31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450430E-B79D-4101-93C7-CFAA026E9B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30064" y="4263212"/>
            <a:ext cx="149677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31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914E2F1-4ACB-466B-8045-552CB6C01E4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79741" y="4082568"/>
            <a:ext cx="0" cy="180645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31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3C6E339-DF1F-4184-AB43-9BDEC659E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79741" y="4082568"/>
            <a:ext cx="139354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20" name="Update: codebooks C₁, C₂&#10;and row gains r_row">
            <a:extLst xmlns:a="http://schemas.openxmlformats.org/drawingml/2006/main">
              <a:ext uri="{FF2B5EF4-FFF2-40B4-BE49-F238E27FC236}">
                <a16:creationId xmlns:a16="http://schemas.microsoft.com/office/drawing/2014/main" id="{6B2E54C3-CB49-430D-8000-89C59113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998" y="4345793"/>
            <a:ext cx="970319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219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Update: codebooks C₁, C₂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and row gains r_row</a:t>
            </a:r>
          </a:p>
        </p:txBody>
      </p:sp>
      <p:sp>
        <p:nvSpPr>
          <p:cNvPr id="321" name="(indices and B32 exponents remain frozen)">
            <a:extLst xmlns:a="http://schemas.openxmlformats.org/drawingml/2006/main">
              <a:ext uri="{FF2B5EF4-FFF2-40B4-BE49-F238E27FC236}">
                <a16:creationId xmlns:a16="http://schemas.microsoft.com/office/drawing/2014/main" id="{9262C564-BB8A-48E5-98F8-7CE9F0F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34" y="4557405"/>
            <a:ext cx="1130319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4495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(indices and B32 exponents remain frozen)</a:t>
            </a:r>
          </a:p>
        </p:txBody>
      </p:sp>
      <p:sp>
        <p:nvSpPr>
          <p:cNvPr id="322" name="Update: per-channel scales D&#10;and per-Linear clipping ratio r_l">
            <a:extLst xmlns:a="http://schemas.openxmlformats.org/drawingml/2006/main">
              <a:ext uri="{FF2B5EF4-FFF2-40B4-BE49-F238E27FC236}">
                <a16:creationId xmlns:a16="http://schemas.microsoft.com/office/drawing/2014/main" id="{E5EFA62C-8887-4AC4-A852-099C0822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897" y="4345793"/>
            <a:ext cx="1042577" cy="206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7413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Update: per-channel scales D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and per-Linear clipping ratio r_l</a:t>
            </a:r>
          </a:p>
        </p:txBody>
      </p:sp>
      <p:sp>
        <p:nvSpPr>
          <p:cNvPr id="323" name="(VQ weights remain frozen)">
            <a:extLst xmlns:a="http://schemas.openxmlformats.org/drawingml/2006/main">
              <a:ext uri="{FF2B5EF4-FFF2-40B4-BE49-F238E27FC236}">
                <a16:creationId xmlns:a16="http://schemas.microsoft.com/office/drawing/2014/main" id="{25D68368-6677-458B-8335-589DF243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39" y="4562566"/>
            <a:ext cx="913545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956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(VQ weights remain frozen)</a:t>
            </a:r>
          </a:p>
        </p:txBody>
      </p:sp>
      <p:cxnSp>
        <p:nvCxnSpPr>
          <p:cNvPr id="32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3105137-305B-4B5B-B06D-A037243BBF3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691996" y="3850310"/>
            <a:ext cx="0" cy="87742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92FFC4C-45B6-44AF-B134-D2763AECEFB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333294" y="3850310"/>
            <a:ext cx="2358702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C6F5CAB-5307-46EC-9BC4-6AAAB98412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294" y="3850310"/>
            <a:ext cx="0" cy="154838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32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6E38C32-06AB-4674-8121-27926360C51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30702" y="3757407"/>
            <a:ext cx="0" cy="180645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3B45B35-D479-4650-B015-2EFCAF14465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09429" y="3757407"/>
            <a:ext cx="5321273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8FEC370-0180-4DB0-93BC-96E1DAD654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9429" y="3757407"/>
            <a:ext cx="0" cy="28387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30" name="Current execution: decoded BF16 weights + fake A4 + BF16 KV; native kernel ">
            <a:extLst xmlns:a="http://schemas.openxmlformats.org/drawingml/2006/main">
              <a:ext uri="{FF2B5EF4-FFF2-40B4-BE49-F238E27FC236}">
                <a16:creationId xmlns:a16="http://schemas.microsoft.com/office/drawing/2014/main" id="{BAFCACB4-DEAC-4C1A-B5F5-561E7F80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158" y="4717404"/>
            <a:ext cx="3086442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56"/>
          </a:bodyPr>
          <a:lstStyle xmlns:a="http://schemas.openxmlformats.org/drawingml/2006/main">
            <a:def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rPr>
              <a:t>Current execution: decoded BF16 weights + fake A4 + BF16 KV; native kernel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49A8D94-8CB2-4814-82B8-F3FB1F5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43" y="20645"/>
            <a:ext cx="2854184" cy="4113535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710">
            <a:solidFill>
              <a:srgbClr val="0B2B5C"/>
            </a:solidFill>
            <a:prstDash val="solid"/>
          </a:ln>
        </p:spPr>
      </p:sp>
      <p:sp>
        <p:nvSpPr>
          <p:cNvPr id="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A912F81-3B47-436A-B51C-46A7FDD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617" y="20645"/>
            <a:ext cx="2776765" cy="4113535"/>
          </a:xfrm>
          <a:prstGeom xmlns:a="http://schemas.openxmlformats.org/drawingml/2006/main" prst="roundRect">
            <a:avLst>
              <a:gd name="adj" fmla="val 1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710">
            <a:solidFill>
              <a:srgbClr val="0B2B5C"/>
            </a:solidFill>
            <a:prstDash val="solid"/>
          </a:ln>
        </p:spPr>
      </p:sp>
      <p:sp>
        <p:nvSpPr>
          <p:cNvPr id="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A9A45F0-ED89-4BF5-A90D-D629EFCF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0645"/>
            <a:ext cx="2864507" cy="4113535"/>
          </a:xfrm>
          <a:prstGeom xmlns:a="http://schemas.openxmlformats.org/drawingml/2006/main" prst="roundRect">
            <a:avLst>
              <a:gd name="adj" fmla="val 1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710">
            <a:solidFill>
              <a:srgbClr val="0B2B5C"/>
            </a:solidFill>
            <a:prstDash val="solid"/>
          </a:ln>
        </p:spPr>
      </p:sp>
      <p:sp>
        <p:nvSpPr>
          <p:cNvPr id="4" name="(a) Soft-bin: preserve absolute values">
            <a:extLst xmlns:a="http://schemas.openxmlformats.org/drawingml/2006/main">
              <a:ext uri="{FF2B5EF4-FFF2-40B4-BE49-F238E27FC236}">
                <a16:creationId xmlns:a16="http://schemas.microsoft.com/office/drawing/2014/main" id="{B2F88201-DAD1-429E-A701-069ED54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7" y="77419"/>
            <a:ext cx="2740636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(a) Soft-bin: preserve absolute values</a:t>
            </a:r>
          </a:p>
        </p:txBody>
      </p:sp>
      <p:sp>
        <p:nvSpPr>
          <p:cNvPr id="5" name="(b) Action: temporal relations">
            <a:extLst xmlns:a="http://schemas.openxmlformats.org/drawingml/2006/main">
              <a:ext uri="{FF2B5EF4-FFF2-40B4-BE49-F238E27FC236}">
                <a16:creationId xmlns:a16="http://schemas.microsoft.com/office/drawing/2014/main" id="{54832F9F-A632-43E6-AA3D-CDEB9E88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553" y="77419"/>
            <a:ext cx="2658056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(b) Action: temporal relations</a:t>
            </a:r>
          </a:p>
        </p:txBody>
      </p:sp>
      <p:sp>
        <p:nvSpPr>
          <p:cNvPr id="6" name="(c) Latent: spatial + temporal relations">
            <a:extLst xmlns:a="http://schemas.openxmlformats.org/drawingml/2006/main">
              <a:ext uri="{FF2B5EF4-FFF2-40B4-BE49-F238E27FC236}">
                <a16:creationId xmlns:a16="http://schemas.microsoft.com/office/drawing/2014/main" id="{EC2203F2-5170-4E37-A927-2190A902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77419"/>
            <a:ext cx="2735475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(c) Latent: spatial + temporal relations</a:t>
            </a:r>
          </a:p>
        </p:txBody>
      </p:sp>
      <p:sp>
        <p:nvSpPr>
          <p:cNvPr id="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D93530E-5242-4F70-A2FF-4817455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39" y="278709"/>
            <a:ext cx="2725153" cy="345805"/>
          </a:xfrm>
          <a:prstGeom xmlns:a="http://schemas.openxmlformats.org/drawingml/2006/main" prst="roundRect">
            <a:avLst>
              <a:gd name="adj" fmla="val 746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0E0FC"/>
            </a:solidFill>
            <a:prstDash val="solid"/>
          </a:ln>
        </p:spPr>
      </p:sp>
      <p:sp>
        <p:nvSpPr>
          <p:cNvPr id="8" name="Per-scalar distribution: each value is mapped to a 16-bin&#10;probability distr">
            <a:extLst xmlns:a="http://schemas.openxmlformats.org/drawingml/2006/main">
              <a:ext uri="{FF2B5EF4-FFF2-40B4-BE49-F238E27FC236}">
                <a16:creationId xmlns:a16="http://schemas.microsoft.com/office/drawing/2014/main" id="{C5EDA124-F2D5-48BA-B97E-0776F430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46" y="304515"/>
            <a:ext cx="2673540" cy="294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3351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Per-scalar distribution: each value is mapped to a 16-bin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probability distribution using a Gaussian and shared teacher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normalization statistics.</a:t>
            </a:r>
          </a:p>
        </p:txBody>
      </p:sp>
      <p:sp>
        <p:nvSpPr>
          <p:cNvPr id="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3AF566B-8CD7-4ED5-BA30-D0161137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875" y="278709"/>
            <a:ext cx="2632250" cy="314838"/>
          </a:xfrm>
          <a:prstGeom xmlns:a="http://schemas.openxmlformats.org/drawingml/2006/main" prst="roundRect">
            <a:avLst>
              <a:gd name="adj" fmla="val 819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0E0FC"/>
            </a:solidFill>
            <a:prstDash val="solid"/>
          </a:ln>
        </p:spPr>
      </p:sp>
      <p:sp>
        <p:nvSpPr>
          <p:cNvPr id="10" name="Match neighbor distributions over 3-step action windows&#10;to preserve tempora">
            <a:extLst xmlns:a="http://schemas.openxmlformats.org/drawingml/2006/main">
              <a:ext uri="{FF2B5EF4-FFF2-40B4-BE49-F238E27FC236}">
                <a16:creationId xmlns:a16="http://schemas.microsoft.com/office/drawing/2014/main" id="{6D3BEE07-9294-4180-99DE-F0D1016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682" y="304515"/>
            <a:ext cx="2580637" cy="26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Match neighbor distributions over 3-step action windows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to preserve temporal structure in the action sequence.</a:t>
            </a:r>
          </a:p>
        </p:txBody>
      </p:sp>
      <p:sp>
        <p:nvSpPr>
          <p:cNvPr id="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49BCE16-EADE-4E52-B927-9627CA6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278709"/>
            <a:ext cx="2725153" cy="309676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0E0FC"/>
            </a:solidFill>
            <a:prstDash val="solid"/>
          </a:ln>
        </p:spPr>
      </p:sp>
      <p:sp>
        <p:nvSpPr>
          <p:cNvPr id="12" name="Match neighbor distributions over spatial and temporal neighbors&#10;in the lat">
            <a:extLst xmlns:a="http://schemas.openxmlformats.org/drawingml/2006/main">
              <a:ext uri="{FF2B5EF4-FFF2-40B4-BE49-F238E27FC236}">
                <a16:creationId xmlns:a16="http://schemas.microsoft.com/office/drawing/2014/main" id="{03D742C5-3011-4E80-A402-81F3A14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304515"/>
            <a:ext cx="2673540" cy="25806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Match neighbor distributions over spatial and temporal neighbors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in the latent maps to preserve spatiotemporal structure.</a:t>
            </a:r>
          </a:p>
        </p:txBody>
      </p:sp>
      <p:sp>
        <p:nvSpPr>
          <p:cNvPr id="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9DE5DC2-E18B-46CA-97D5-BD076CC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8" y="686449"/>
            <a:ext cx="1326447" cy="165161"/>
          </a:xfrm>
          <a:prstGeom xmlns:a="http://schemas.openxmlformats.org/drawingml/2006/main" prst="roundRect">
            <a:avLst>
              <a:gd name="adj" fmla="val 15625"/>
            </a:avLst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xmlns:a="http://schemas.openxmlformats.org/drawingml/2006/main" w="5161">
            <a:solidFill>
              <a:srgbClr val="7FCAB6"/>
            </a:solidFill>
            <a:prstDash val="solid"/>
          </a:ln>
        </p:spPr>
      </p:sp>
      <p:sp>
        <p:nvSpPr>
          <p:cNvPr id="14" name="BF16 teacher scalar x">
            <a:extLst xmlns:a="http://schemas.openxmlformats.org/drawingml/2006/main">
              <a:ext uri="{FF2B5EF4-FFF2-40B4-BE49-F238E27FC236}">
                <a16:creationId xmlns:a16="http://schemas.microsoft.com/office/drawing/2014/main" id="{02418115-E4A4-4212-8C7D-C7D1B169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74" y="712256"/>
            <a:ext cx="1274835" cy="11354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346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BF16 teacher scalar x</a:t>
            </a:r>
          </a:p>
        </p:txBody>
      </p:sp>
      <p:sp>
        <p:nvSpPr>
          <p:cNvPr id="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868CFBD-4D01-4F6D-9A9D-87CCACBC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80" y="686449"/>
            <a:ext cx="1264512" cy="165161"/>
          </a:xfrm>
          <a:prstGeom xmlns:a="http://schemas.openxmlformats.org/drawingml/2006/main" prst="roundRect">
            <a:avLst>
              <a:gd name="adj" fmla="val 15625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8ABFF4"/>
            </a:solidFill>
            <a:prstDash val="solid"/>
          </a:ln>
        </p:spPr>
      </p:sp>
      <p:sp>
        <p:nvSpPr>
          <p:cNvPr id="16" name="Quantized student scalar x̂">
            <a:extLst xmlns:a="http://schemas.openxmlformats.org/drawingml/2006/main">
              <a:ext uri="{FF2B5EF4-FFF2-40B4-BE49-F238E27FC236}">
                <a16:creationId xmlns:a16="http://schemas.microsoft.com/office/drawing/2014/main" id="{C02AF4F0-A7CE-459C-B00D-081191D3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686" y="712256"/>
            <a:ext cx="1212899" cy="11354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346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Quantized student scalar x̂</a:t>
            </a:r>
          </a:p>
        </p:txBody>
      </p:sp>
      <p:sp>
        <p:nvSpPr>
          <p:cNvPr id="17" name="e.g., x = 1.24 (BF16)">
            <a:extLst xmlns:a="http://schemas.openxmlformats.org/drawingml/2006/main">
              <a:ext uri="{FF2B5EF4-FFF2-40B4-BE49-F238E27FC236}">
                <a16:creationId xmlns:a16="http://schemas.microsoft.com/office/drawing/2014/main" id="{18445C9D-A94D-4FFE-BC4E-98847FE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84" y="898062"/>
            <a:ext cx="1135480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 = 1.24 (BF16)</a:t>
            </a:r>
          </a:p>
        </p:txBody>
      </p:sp>
      <p:sp>
        <p:nvSpPr>
          <p:cNvPr id="18" name="e.g., x̂ = 1.08 (quantized)">
            <a:extLst xmlns:a="http://schemas.openxmlformats.org/drawingml/2006/main">
              <a:ext uri="{FF2B5EF4-FFF2-40B4-BE49-F238E27FC236}">
                <a16:creationId xmlns:a16="http://schemas.microsoft.com/office/drawing/2014/main" id="{340C2866-B17B-41A0-8B8B-1CFCADC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750" y="898062"/>
            <a:ext cx="1140642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x̂ = 1.08 (quantized)</a:t>
            </a:r>
          </a:p>
        </p:txBody>
      </p:sp>
      <p:cxnSp>
        <p:nvCxnSpPr>
          <p:cNvPr id="1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642C575-C7E6-418C-BAE8-54F3EFC0C8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6527" y="985803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F07FDC8-A55E-4D0F-A30A-E205029A81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30071" y="985803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4A731B-4C69-499E-B31C-F6A2ECD9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5" y="1068384"/>
            <a:ext cx="2461928" cy="232257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FABB9"/>
            </a:solidFill>
            <a:prstDash val="solid"/>
          </a:ln>
        </p:spPr>
      </p:sp>
      <p:sp>
        <p:nvSpPr>
          <p:cNvPr id="22" name="Standardize using same frozen teacher channel statistics&#10;(mean μ_c and std ">
            <a:extLst xmlns:a="http://schemas.openxmlformats.org/drawingml/2006/main">
              <a:ext uri="{FF2B5EF4-FFF2-40B4-BE49-F238E27FC236}">
                <a16:creationId xmlns:a16="http://schemas.microsoft.com/office/drawing/2014/main" id="{4B8816D2-49B0-4B07-BC51-8E23979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1" y="1094190"/>
            <a:ext cx="2410315" cy="1806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2899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Standardize using same frozen teacher channel statistics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(mean μ_c and std σ_c)</a:t>
            </a:r>
          </a:p>
        </p:txBody>
      </p:sp>
      <p:cxnSp>
        <p:nvCxnSpPr>
          <p:cNvPr id="2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AEEDDE8-64D9-4B37-9FFC-9B8C8C107C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6527" y="1300641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7EC9A2B-FF76-4E49-BCB7-84F9E73546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30071" y="1300641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" name="z =">
            <a:extLst xmlns:a="http://schemas.openxmlformats.org/drawingml/2006/main">
              <a:ext uri="{FF2B5EF4-FFF2-40B4-BE49-F238E27FC236}">
                <a16:creationId xmlns:a16="http://schemas.microsoft.com/office/drawing/2014/main" id="{DDAFC7ED-45D8-4632-A4D9-FCD62C6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35" y="1429673"/>
            <a:ext cx="237419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91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 =</a:t>
            </a:r>
          </a:p>
        </p:txBody>
      </p:sp>
      <p:sp>
        <p:nvSpPr>
          <p:cNvPr id="26" name="x − μ_c">
            <a:extLst xmlns:a="http://schemas.openxmlformats.org/drawingml/2006/main">
              <a:ext uri="{FF2B5EF4-FFF2-40B4-BE49-F238E27FC236}">
                <a16:creationId xmlns:a16="http://schemas.microsoft.com/office/drawing/2014/main" id="{6219D9AA-371E-4A10-883E-A1A36681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2" y="1378060"/>
            <a:ext cx="381934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 − μ_c</a:t>
            </a:r>
          </a:p>
        </p:txBody>
      </p:sp>
      <p:cxnSp>
        <p:nvCxnSpPr>
          <p:cNvPr id="2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D6C5CCC-89D6-4F59-9E97-DE586A62AE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0076" y="1504511"/>
            <a:ext cx="350967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28" name="σ_c">
            <a:extLst xmlns:a="http://schemas.openxmlformats.org/drawingml/2006/main">
              <a:ext uri="{FF2B5EF4-FFF2-40B4-BE49-F238E27FC236}">
                <a16:creationId xmlns:a16="http://schemas.microsoft.com/office/drawing/2014/main" id="{8E4AC805-A3E4-4139-87D2-ED1B087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2" y="1512253"/>
            <a:ext cx="381934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σ_c</a:t>
            </a:r>
          </a:p>
        </p:txBody>
      </p:sp>
      <p:sp>
        <p:nvSpPr>
          <p:cNvPr id="29" name="ẑ =">
            <a:extLst xmlns:a="http://schemas.openxmlformats.org/drawingml/2006/main">
              <a:ext uri="{FF2B5EF4-FFF2-40B4-BE49-F238E27FC236}">
                <a16:creationId xmlns:a16="http://schemas.microsoft.com/office/drawing/2014/main" id="{486EA066-4272-4A54-8E82-D315603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427" y="1429673"/>
            <a:ext cx="242580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91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ẑ =</a:t>
            </a:r>
          </a:p>
        </p:txBody>
      </p:sp>
      <p:sp>
        <p:nvSpPr>
          <p:cNvPr id="30" name="x̂ − μ_c">
            <a:extLst xmlns:a="http://schemas.openxmlformats.org/drawingml/2006/main">
              <a:ext uri="{FF2B5EF4-FFF2-40B4-BE49-F238E27FC236}">
                <a16:creationId xmlns:a16="http://schemas.microsoft.com/office/drawing/2014/main" id="{81F36802-29B4-472B-872F-AFADCFA4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07" y="1378060"/>
            <a:ext cx="39741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x̂ − μ_c</a:t>
            </a:r>
          </a:p>
        </p:txBody>
      </p:sp>
      <p:cxnSp>
        <p:nvCxnSpPr>
          <p:cNvPr id="3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B95F40D-142A-47C9-85C5-512F77F408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47491" y="1504511"/>
            <a:ext cx="366450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32" name="σ_c">
            <a:extLst xmlns:a="http://schemas.openxmlformats.org/drawingml/2006/main">
              <a:ext uri="{FF2B5EF4-FFF2-40B4-BE49-F238E27FC236}">
                <a16:creationId xmlns:a16="http://schemas.microsoft.com/office/drawing/2014/main" id="{D478831A-D07E-4C26-80E6-DEBF9E41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07" y="1512253"/>
            <a:ext cx="39741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σ_c</a:t>
            </a:r>
          </a:p>
        </p:txBody>
      </p:sp>
      <p:sp>
        <p:nvSpPr>
          <p:cNvPr id="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44E3EC0-0795-4FBE-B387-3F0F57B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8" y="1641285"/>
            <a:ext cx="2621927" cy="784514"/>
          </a:xfrm>
          <a:prstGeom xmlns:a="http://schemas.openxmlformats.org/drawingml/2006/main" prst="roundRect">
            <a:avLst>
              <a:gd name="adj" fmla="val 394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3DDFC"/>
            </a:solidFill>
            <a:prstDash val="solid"/>
          </a:ln>
        </p:spPr>
      </p:sp>
      <p:sp>
        <p:nvSpPr>
          <p:cNvPr id="34" name="Convert each standardized scalar to a 16-bin distribution&#10;using a Gaussian ">
            <a:extLst xmlns:a="http://schemas.openxmlformats.org/drawingml/2006/main">
              <a:ext uri="{FF2B5EF4-FFF2-40B4-BE49-F238E27FC236}">
                <a16:creationId xmlns:a16="http://schemas.microsoft.com/office/drawing/2014/main" id="{5C10D1EA-176D-4F53-9973-D2F40F0A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1" y="1703220"/>
            <a:ext cx="2518702" cy="24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893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Convert each standardized scalar to a 16-bin distribution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using a Gaussian with σ = 0.375 and fixed edges.</a:t>
            </a:r>
          </a:p>
        </p:txBody>
      </p:sp>
      <p:sp>
        <p:nvSpPr>
          <p:cNvPr id="35" name="p_b(z) =">
            <a:extLst xmlns:a="http://schemas.openxmlformats.org/drawingml/2006/main">
              <a:ext uri="{FF2B5EF4-FFF2-40B4-BE49-F238E27FC236}">
                <a16:creationId xmlns:a16="http://schemas.microsoft.com/office/drawing/2014/main" id="{4C82DF3C-C7E8-4073-9ECC-E55EE0C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64" y="1997413"/>
            <a:ext cx="572901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703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p_b(z) =</a:t>
            </a:r>
          </a:p>
        </p:txBody>
      </p:sp>
      <p:sp>
        <p:nvSpPr>
          <p:cNvPr id="36" name="∫">
            <a:extLst xmlns:a="http://schemas.openxmlformats.org/drawingml/2006/main">
              <a:ext uri="{FF2B5EF4-FFF2-40B4-BE49-F238E27FC236}">
                <a16:creationId xmlns:a16="http://schemas.microsoft.com/office/drawing/2014/main" id="{1D61861D-963A-4964-B27D-1BC3D1AE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88" y="1925155"/>
            <a:ext cx="159999" cy="268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37" name="e_b+1">
            <a:extLst xmlns:a="http://schemas.openxmlformats.org/drawingml/2006/main">
              <a:ext uri="{FF2B5EF4-FFF2-40B4-BE49-F238E27FC236}">
                <a16:creationId xmlns:a16="http://schemas.microsoft.com/office/drawing/2014/main" id="{BB0DC457-7564-471A-A5EC-84535F0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91" y="1909671"/>
            <a:ext cx="325160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e_b+1</a:t>
            </a:r>
          </a:p>
        </p:txBody>
      </p:sp>
      <p:sp>
        <p:nvSpPr>
          <p:cNvPr id="38" name="e_b">
            <a:extLst xmlns:a="http://schemas.openxmlformats.org/drawingml/2006/main">
              <a:ext uri="{FF2B5EF4-FFF2-40B4-BE49-F238E27FC236}">
                <a16:creationId xmlns:a16="http://schemas.microsoft.com/office/drawing/2014/main" id="{D39D6B3E-8475-4B8D-8B86-09931448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36" y="2131606"/>
            <a:ext cx="263225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7737"/>
          </a:bodyPr>
          <a:lstStyle xmlns:a="http://schemas.openxmlformats.org/drawingml/2006/main"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e_b</a:t>
            </a:r>
          </a:p>
        </p:txBody>
      </p:sp>
      <p:sp>
        <p:nvSpPr>
          <p:cNvPr id="39" name="N(t; z, 0.375²) dt">
            <a:extLst xmlns:a="http://schemas.openxmlformats.org/drawingml/2006/main">
              <a:ext uri="{FF2B5EF4-FFF2-40B4-BE49-F238E27FC236}">
                <a16:creationId xmlns:a16="http://schemas.microsoft.com/office/drawing/2014/main" id="{359B86AF-7E3B-4348-9D78-B8A455F3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074" y="1992252"/>
            <a:ext cx="1212899" cy="1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N(t; z, 0.375²) dt</a:t>
            </a:r>
          </a:p>
        </p:txBody>
      </p:sp>
      <p:sp>
        <p:nvSpPr>
          <p:cNvPr id="40" name="16 bins: 15 interior edges from −3.5 to 3.5 with two infinite tails">
            <a:extLst xmlns:a="http://schemas.openxmlformats.org/drawingml/2006/main">
              <a:ext uri="{FF2B5EF4-FFF2-40B4-BE49-F238E27FC236}">
                <a16:creationId xmlns:a16="http://schemas.microsoft.com/office/drawing/2014/main" id="{F9C7C66B-5C56-420B-80D8-EBD862A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91" y="2183219"/>
            <a:ext cx="260644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16 bins: 15 interior edges from −3.5 to 3.5 with two infinite tails</a:t>
            </a:r>
          </a:p>
        </p:txBody>
      </p:sp>
      <p:sp>
        <p:nvSpPr>
          <p:cNvPr id="41" name="e = [−∞, −3.5, −3.0, …, 3.0, 3.5, +∞]   (16 bins)">
            <a:extLst xmlns:a="http://schemas.openxmlformats.org/drawingml/2006/main">
              <a:ext uri="{FF2B5EF4-FFF2-40B4-BE49-F238E27FC236}">
                <a16:creationId xmlns:a16="http://schemas.microsoft.com/office/drawing/2014/main" id="{647578BA-9992-4C7E-B8D6-04D101F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20" y="2317412"/>
            <a:ext cx="2534185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 = [−∞, −3.5, −3.0, …, 3.0, 3.5, +∞]   (16 bins)</a:t>
            </a:r>
          </a:p>
        </p:txBody>
      </p:sp>
      <p:sp>
        <p:nvSpPr>
          <p:cNvPr id="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9897241-C787-4F3B-80C6-F9B7ACC0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5" y="2487734"/>
            <a:ext cx="1176770" cy="154838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xmlns:a="http://schemas.openxmlformats.org/drawingml/2006/main" w="5161">
            <a:solidFill>
              <a:srgbClr val="87CFBA"/>
            </a:solidFill>
            <a:prstDash val="solid"/>
          </a:ln>
        </p:spPr>
      </p:sp>
      <p:sp>
        <p:nvSpPr>
          <p:cNvPr id="43" name="Teacher scalar distribution">
            <a:extLst xmlns:a="http://schemas.openxmlformats.org/drawingml/2006/main">
              <a:ext uri="{FF2B5EF4-FFF2-40B4-BE49-F238E27FC236}">
                <a16:creationId xmlns:a16="http://schemas.microsoft.com/office/drawing/2014/main" id="{30647447-3866-402D-B6E8-4AD84834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1" y="2513540"/>
            <a:ext cx="1125158" cy="10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3312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Teacher scalar distribution</a:t>
            </a:r>
          </a:p>
        </p:txBody>
      </p:sp>
      <p:sp>
        <p:nvSpPr>
          <p:cNvPr id="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22ADD6F-6CE3-45FA-8F2E-7B3533A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83" y="2487734"/>
            <a:ext cx="1176770" cy="154838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8ABFF4"/>
            </a:solidFill>
            <a:prstDash val="solid"/>
          </a:ln>
        </p:spPr>
      </p:sp>
      <p:sp>
        <p:nvSpPr>
          <p:cNvPr id="45" name="Student scalar distribution">
            <a:extLst xmlns:a="http://schemas.openxmlformats.org/drawingml/2006/main">
              <a:ext uri="{FF2B5EF4-FFF2-40B4-BE49-F238E27FC236}">
                <a16:creationId xmlns:a16="http://schemas.microsoft.com/office/drawing/2014/main" id="{2EC6832B-E3EB-4120-BB88-FEDAEF26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89" y="2513540"/>
            <a:ext cx="1125158" cy="10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3312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Student scalar distribution</a:t>
            </a:r>
          </a:p>
        </p:txBody>
      </p:sp>
      <p:sp>
        <p:nvSpPr>
          <p:cNvPr id="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1BC093-4C00-4BE2-AB1D-EC34691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80" y="2725153"/>
            <a:ext cx="1042577" cy="438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129">
            <a:solidFill>
              <a:srgbClr val="D9DEE5"/>
            </a:solidFill>
            <a:prstDash val="solid"/>
          </a:ln>
        </p:spPr>
      </p:sp>
      <p:cxnSp>
        <p:nvCxnSpPr>
          <p:cNvPr id="4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49D4391-4F65-49AB-8652-6A326FC89F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3017625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48" name="0.1">
            <a:extLst xmlns:a="http://schemas.openxmlformats.org/drawingml/2006/main">
              <a:ext uri="{FF2B5EF4-FFF2-40B4-BE49-F238E27FC236}">
                <a16:creationId xmlns:a16="http://schemas.microsoft.com/office/drawing/2014/main" id="{1A73E713-E7BF-44F2-8F6A-521A388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2971173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0.1</a:t>
            </a:r>
          </a:p>
        </p:txBody>
      </p:sp>
      <p:cxnSp>
        <p:nvCxnSpPr>
          <p:cNvPr id="4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053E03C-166D-4183-83D3-644603C834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2871389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50" name="0.2">
            <a:extLst xmlns:a="http://schemas.openxmlformats.org/drawingml/2006/main">
              <a:ext uri="{FF2B5EF4-FFF2-40B4-BE49-F238E27FC236}">
                <a16:creationId xmlns:a16="http://schemas.microsoft.com/office/drawing/2014/main" id="{D758FCF7-41ED-4116-9A5D-6E8423CD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2824937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0.2</a:t>
            </a:r>
          </a:p>
        </p:txBody>
      </p:sp>
      <p:cxnSp>
        <p:nvCxnSpPr>
          <p:cNvPr id="5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954D5C9-2AA9-43AC-8E19-5DE5C01D03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2725153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52" name="0.3">
            <a:extLst xmlns:a="http://schemas.openxmlformats.org/drawingml/2006/main">
              <a:ext uri="{FF2B5EF4-FFF2-40B4-BE49-F238E27FC236}">
                <a16:creationId xmlns:a16="http://schemas.microsoft.com/office/drawing/2014/main" id="{1BB864B7-C2D1-4581-B36C-38EA2B4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2678701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0.3</a:t>
            </a:r>
          </a:p>
        </p:txBody>
      </p:sp>
      <p:cxnSp>
        <p:nvCxnSpPr>
          <p:cNvPr id="5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7A85866-F54F-44A7-9211-97B64F291F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2725153"/>
            <a:ext cx="0" cy="438708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5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70A4FBC-8A5B-4955-BD2C-70014B55CA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3163861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55" name="0.0">
            <a:extLst xmlns:a="http://schemas.openxmlformats.org/drawingml/2006/main">
              <a:ext uri="{FF2B5EF4-FFF2-40B4-BE49-F238E27FC236}">
                <a16:creationId xmlns:a16="http://schemas.microsoft.com/office/drawing/2014/main" id="{FDED721D-4C5B-4DE6-986B-1C4C50F4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3117409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0.0</a:t>
            </a:r>
          </a:p>
        </p:txBody>
      </p:sp>
      <p:sp>
        <p:nvSpPr>
          <p:cNvPr id="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6B2C84-0852-4646-BCC2-0FD1825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22" y="3161229"/>
            <a:ext cx="49677" cy="263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5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E62F021-B48F-4BC3-B59C-A85EBEAD97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5561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519E9E-BB28-4835-A71D-143869A8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83" y="3158158"/>
            <a:ext cx="49677" cy="57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5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0C594D8-8645-43B1-ADB8-0E8A2AAE404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072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B92A15A-A9E7-42F1-86D7-E1A8441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4" y="3151577"/>
            <a:ext cx="49677" cy="1228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5040BDD-CB94-450E-ABBB-EF1B3E025F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588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1545865-112C-46D0-BF9A-7EA108A7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06" y="3139732"/>
            <a:ext cx="49677" cy="241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8AF7DC7-6D16-4E79-910B-F0BAAD9140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104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6E1D204-7A83-4D98-A388-161DFC7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67" y="3119990"/>
            <a:ext cx="49677" cy="438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793663D-5716-440A-A077-2108ADEBA4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620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DCBCD46-8DA6-4568-987C-E6F13856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28" y="3093668"/>
            <a:ext cx="49677" cy="70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C0D2F3A-0A22-43F0-A122-5AC3C6382F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1366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4C9C596-8F84-43C0-91A5-82BD235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89" y="3041023"/>
            <a:ext cx="49677" cy="12283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9251ECA-92CD-4DEC-939D-1A5685CEE1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652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0915B05-3CAF-4FB7-8AAB-44E4D26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50" y="2957668"/>
            <a:ext cx="49677" cy="206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E817E40-3AE7-4F7D-8407-D7A12949B6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1688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213A0E-C103-47BE-B5E7-B5C1F3C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11" y="2856765"/>
            <a:ext cx="49677" cy="30709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D4ABB83-5D43-401A-AD22-35225E4F67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6850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E8FEF5-1A67-45CA-B005-83F5B2F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72" y="2773411"/>
            <a:ext cx="49677" cy="390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C5B7D8B-18E0-45E5-8BEE-C67C9A7120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2011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81DB5BF-7C99-4E21-8B9F-4F1FAFD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3" y="2826056"/>
            <a:ext cx="49677" cy="33780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630AA7F-C7F5-4692-BB25-921CBC6E08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717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D986E73-FBB9-45A7-851D-51337A03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94" y="2957668"/>
            <a:ext cx="49677" cy="206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1C2B442-72CD-4D18-AFBA-304DC1C733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33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409A516-0C71-46E8-9725-4A800A08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55" y="3067345"/>
            <a:ext cx="49677" cy="9651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78731E3-8F1A-4CF3-B2A6-455315767E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1749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B0DFA9D-EF85-402F-8D4B-4DA5CA9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16" y="3124377"/>
            <a:ext cx="49677" cy="3948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2122908-2ADB-42D7-8A3F-59EAC5B981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8265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F3A779A-ECF4-449B-88CD-169A26AA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7" y="3148067"/>
            <a:ext cx="49677" cy="157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DAEFE8F-D469-4617-9EED-5B6F0772DC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47816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BE805F0-1838-4313-BF7E-283C7F72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39" y="3158158"/>
            <a:ext cx="49677" cy="57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2A21AEC-EC43-4198-8808-FFDCF6FEB7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1297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8" name="1">
            <a:extLst xmlns:a="http://schemas.openxmlformats.org/drawingml/2006/main">
              <a:ext uri="{FF2B5EF4-FFF2-40B4-BE49-F238E27FC236}">
                <a16:creationId xmlns:a16="http://schemas.microsoft.com/office/drawing/2014/main" id="{894FFDA3-B5C6-4CEA-898D-91D8F5B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74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89" name="4">
            <a:extLst xmlns:a="http://schemas.openxmlformats.org/drawingml/2006/main">
              <a:ext uri="{FF2B5EF4-FFF2-40B4-BE49-F238E27FC236}">
                <a16:creationId xmlns:a16="http://schemas.microsoft.com/office/drawing/2014/main" id="{0C64D9E7-6222-4719-BD9D-AF6A356A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57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90" name="8">
            <a:extLst xmlns:a="http://schemas.openxmlformats.org/drawingml/2006/main">
              <a:ext uri="{FF2B5EF4-FFF2-40B4-BE49-F238E27FC236}">
                <a16:creationId xmlns:a16="http://schemas.microsoft.com/office/drawing/2014/main" id="{2515F659-AD2D-4C5A-B055-5A20420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02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91" name="12">
            <a:extLst xmlns:a="http://schemas.openxmlformats.org/drawingml/2006/main">
              <a:ext uri="{FF2B5EF4-FFF2-40B4-BE49-F238E27FC236}">
                <a16:creationId xmlns:a16="http://schemas.microsoft.com/office/drawing/2014/main" id="{9B34D402-1B2D-48E3-8647-BD981FEF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946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12</a:t>
            </a:r>
          </a:p>
        </p:txBody>
      </p:sp>
      <p:sp>
        <p:nvSpPr>
          <p:cNvPr id="92" name="16">
            <a:extLst xmlns:a="http://schemas.openxmlformats.org/drawingml/2006/main">
              <a:ext uri="{FF2B5EF4-FFF2-40B4-BE49-F238E27FC236}">
                <a16:creationId xmlns:a16="http://schemas.microsoft.com/office/drawing/2014/main" id="{8872E86A-EA0F-4C10-9CF4-04E4C858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590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16</a:t>
            </a:r>
          </a:p>
        </p:txBody>
      </p:sp>
      <p:sp>
        <p:nvSpPr>
          <p:cNvPr id="93" name="Bin index">
            <a:extLst xmlns:a="http://schemas.openxmlformats.org/drawingml/2006/main">
              <a:ext uri="{FF2B5EF4-FFF2-40B4-BE49-F238E27FC236}">
                <a16:creationId xmlns:a16="http://schemas.microsoft.com/office/drawing/2014/main" id="{6A04C70C-8B0D-4CE0-8CF9-ACE5FB96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38" y="3323860"/>
            <a:ext cx="603869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Bin index</a:t>
            </a:r>
          </a:p>
        </p:txBody>
      </p:sp>
      <p:sp>
        <p:nvSpPr>
          <p:cNvPr id="94" name="Probability">
            <a:extLst xmlns:a="http://schemas.openxmlformats.org/drawingml/2006/main">
              <a:ext uri="{FF2B5EF4-FFF2-40B4-BE49-F238E27FC236}">
                <a16:creationId xmlns:a16="http://schemas.microsoft.com/office/drawing/2014/main" id="{39A66FB1-130E-44B9-9117-232F96CC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337" y="2895475"/>
            <a:ext cx="59870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Probability</a:t>
            </a:r>
          </a:p>
        </p:txBody>
      </p:sp>
      <p:sp>
        <p:nvSpPr>
          <p:cNvPr id="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E7123D-7F41-44DA-BA59-D4C24EAD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86" y="2725153"/>
            <a:ext cx="1037416" cy="438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129">
            <a:solidFill>
              <a:srgbClr val="D9DEE5"/>
            </a:solidFill>
            <a:prstDash val="solid"/>
          </a:ln>
        </p:spPr>
      </p:sp>
      <p:cxnSp>
        <p:nvCxnSpPr>
          <p:cNvPr id="9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37D3FD8-3EFF-40F2-935B-0E85AA4568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3017625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97" name="0.1">
            <a:extLst xmlns:a="http://schemas.openxmlformats.org/drawingml/2006/main">
              <a:ext uri="{FF2B5EF4-FFF2-40B4-BE49-F238E27FC236}">
                <a16:creationId xmlns:a16="http://schemas.microsoft.com/office/drawing/2014/main" id="{104CCA0D-5780-4B6F-9B48-2ACD4725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2971173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0.1</a:t>
            </a:r>
          </a:p>
        </p:txBody>
      </p:sp>
      <p:cxnSp>
        <p:nvCxnSpPr>
          <p:cNvPr id="9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EB2FC13-774A-4BE2-BA1C-075C5D0886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2871389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99" name="0.2">
            <a:extLst xmlns:a="http://schemas.openxmlformats.org/drawingml/2006/main">
              <a:ext uri="{FF2B5EF4-FFF2-40B4-BE49-F238E27FC236}">
                <a16:creationId xmlns:a16="http://schemas.microsoft.com/office/drawing/2014/main" id="{0D0658FD-2886-4286-9545-8330D62A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2824937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0.2</a:t>
            </a:r>
          </a:p>
        </p:txBody>
      </p:sp>
      <p:cxnSp>
        <p:nvCxnSpPr>
          <p:cNvPr id="10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031C7B3-17EA-4B75-869B-837FFDC145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2725153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101" name="0.3">
            <a:extLst xmlns:a="http://schemas.openxmlformats.org/drawingml/2006/main">
              <a:ext uri="{FF2B5EF4-FFF2-40B4-BE49-F238E27FC236}">
                <a16:creationId xmlns:a16="http://schemas.microsoft.com/office/drawing/2014/main" id="{167AD3DC-5C88-4813-815D-50E20AF4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2678701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0.3</a:t>
            </a:r>
          </a:p>
        </p:txBody>
      </p:sp>
      <p:cxnSp>
        <p:nvCxnSpPr>
          <p:cNvPr id="10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E553EBC-F219-4B24-BE4C-FB02D91D10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2725153"/>
            <a:ext cx="0" cy="438708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10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C0A2817-4997-4977-BA2E-4F05531DCA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3163861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104" name="0.0">
            <a:extLst xmlns:a="http://schemas.openxmlformats.org/drawingml/2006/main">
              <a:ext uri="{FF2B5EF4-FFF2-40B4-BE49-F238E27FC236}">
                <a16:creationId xmlns:a16="http://schemas.microsoft.com/office/drawing/2014/main" id="{1B948883-F323-47C7-B5DB-8564AB85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3117409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0.0</a:t>
            </a:r>
          </a:p>
        </p:txBody>
      </p:sp>
      <p:sp>
        <p:nvSpPr>
          <p:cNvPr id="1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8DA058-6844-4BB7-98DB-CD43C80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427" y="3160790"/>
            <a:ext cx="49355" cy="30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0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F60BB7D-76A4-4DF5-94C9-78FAA4F6A5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410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4DBD7BA-F8CF-4456-9DC6-C217F828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66" y="3155964"/>
            <a:ext cx="49355" cy="789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0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D1E6662-54BB-4B0A-8D95-F74673E73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894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41AE9B-A9BB-4041-98FB-4AFB92F4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105" y="3145435"/>
            <a:ext cx="49355" cy="1842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B9E285A-3DF5-448F-B93C-5B239C3C12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6378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C70EDC-E193-462E-AB03-2FE2A336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943" y="3124377"/>
            <a:ext cx="49355" cy="3948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8FD338E-6FD4-4F33-838F-C9C856E83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28620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94E7A7E-996C-477D-B489-46BF355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782" y="3084893"/>
            <a:ext cx="49355" cy="7896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F0ECEC2-6D89-4C2F-8AFB-AF6B2B3A8E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93459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DBCAC10-56FE-4E7B-BB90-C8A9D79D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0" y="3010313"/>
            <a:ext cx="49355" cy="15354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28077CD-4461-4375-93E5-DD4D9BF478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5829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0AC7C11-8B47-49BE-99A2-84B0FF4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459" y="2900636"/>
            <a:ext cx="49355" cy="26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298B1F1-887A-4D42-B722-47C2E8D33A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23136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945BACD-E5FE-4953-A43E-4CBD8BFA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297" y="2804120"/>
            <a:ext cx="49355" cy="35974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81C57B3-7CBF-44D6-9943-4C04B13C27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8797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620D4F2-0A1C-4292-B4DE-63BEBBE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136" y="2777798"/>
            <a:ext cx="49355" cy="38606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DF28E94-6A71-43A1-B739-7C7F4BCA9C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5281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C22D5AD-BD4B-44B3-9227-691909C5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974" y="2878701"/>
            <a:ext cx="49355" cy="28516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4831BCE-7BDC-408A-9B55-42D1D590B4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17651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FBD8FB-1F30-440A-9E84-A5DDD390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813" y="3001539"/>
            <a:ext cx="49355" cy="162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AF43F05-89D1-45BF-8DB0-44781707E8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82490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BBA47FC-3C40-412E-B1AF-7493F4F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651" y="3089281"/>
            <a:ext cx="49355" cy="745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8931BA4-438D-4B6C-B0E2-8E627B8266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47328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0B04000-698B-4E8D-95B7-6691F7A1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490" y="3128764"/>
            <a:ext cx="49355" cy="3509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E1BC002-38AA-4733-915A-05DC2B13AC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1216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499A92C-6AD2-4BD0-B1F5-1DEF560C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328" y="3149384"/>
            <a:ext cx="49355" cy="1447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7684956-7B92-40A5-836D-D36E7A6A87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7700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BAF0616-6A29-4EDD-969A-BFAC1BE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167" y="3157719"/>
            <a:ext cx="49355" cy="614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D7CDC23-8A0D-4012-80DA-00331C2E71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184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BD09DC-7CA3-4D2D-826F-E1FC797C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005" y="3161229"/>
            <a:ext cx="49355" cy="263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5810180-CD89-4FC2-8BFE-E6F10C93FD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668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7" name="1">
            <a:extLst xmlns:a="http://schemas.openxmlformats.org/drawingml/2006/main">
              <a:ext uri="{FF2B5EF4-FFF2-40B4-BE49-F238E27FC236}">
                <a16:creationId xmlns:a16="http://schemas.microsoft.com/office/drawing/2014/main" id="{E35EC87E-D33A-443E-8396-A320AEB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879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38" name="4">
            <a:extLst xmlns:a="http://schemas.openxmlformats.org/drawingml/2006/main">
              <a:ext uri="{FF2B5EF4-FFF2-40B4-BE49-F238E27FC236}">
                <a16:creationId xmlns:a16="http://schemas.microsoft.com/office/drawing/2014/main" id="{83F68D0F-41B2-4A0B-AE7E-1A1E5A4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95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139" name="8">
            <a:extLst xmlns:a="http://schemas.openxmlformats.org/drawingml/2006/main">
              <a:ext uri="{FF2B5EF4-FFF2-40B4-BE49-F238E27FC236}">
                <a16:creationId xmlns:a16="http://schemas.microsoft.com/office/drawing/2014/main" id="{0EFA2202-0A72-4192-9176-069AEC6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749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140" name="12">
            <a:extLst xmlns:a="http://schemas.openxmlformats.org/drawingml/2006/main">
              <a:ext uri="{FF2B5EF4-FFF2-40B4-BE49-F238E27FC236}">
                <a16:creationId xmlns:a16="http://schemas.microsoft.com/office/drawing/2014/main" id="{27317FA1-FB66-4B9B-9B6D-75E4ABE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103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12</a:t>
            </a:r>
          </a:p>
        </p:txBody>
      </p:sp>
      <p:sp>
        <p:nvSpPr>
          <p:cNvPr id="141" name="16">
            <a:extLst xmlns:a="http://schemas.openxmlformats.org/drawingml/2006/main">
              <a:ext uri="{FF2B5EF4-FFF2-40B4-BE49-F238E27FC236}">
                <a16:creationId xmlns:a16="http://schemas.microsoft.com/office/drawing/2014/main" id="{CC1073CD-0339-447E-A742-362DE351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457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16</a:t>
            </a:r>
          </a:p>
        </p:txBody>
      </p:sp>
      <p:sp>
        <p:nvSpPr>
          <p:cNvPr id="142" name="Bin index">
            <a:extLst xmlns:a="http://schemas.openxmlformats.org/drawingml/2006/main">
              <a:ext uri="{FF2B5EF4-FFF2-40B4-BE49-F238E27FC236}">
                <a16:creationId xmlns:a16="http://schemas.microsoft.com/office/drawing/2014/main" id="{03E1253A-2671-44DF-8D04-4C64AE8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43" y="3323860"/>
            <a:ext cx="59870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Bin index</a:t>
            </a:r>
          </a:p>
        </p:txBody>
      </p:sp>
      <p:sp>
        <p:nvSpPr>
          <p:cNvPr id="143" name="Probability">
            <a:extLst xmlns:a="http://schemas.openxmlformats.org/drawingml/2006/main">
              <a:ext uri="{FF2B5EF4-FFF2-40B4-BE49-F238E27FC236}">
                <a16:creationId xmlns:a16="http://schemas.microsoft.com/office/drawing/2014/main" id="{AE0D5A79-61A2-45E1-ABB4-2A2D080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501042" y="2895475"/>
            <a:ext cx="59870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Probability</a:t>
            </a:r>
          </a:p>
        </p:txBody>
      </p:sp>
      <p:sp>
        <p:nvSpPr>
          <p:cNvPr id="1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776C13A-8BF4-4D03-8A44-6CBC4F23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5" y="3458054"/>
            <a:ext cx="2461928" cy="216774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A8098"/>
            </a:solidFill>
            <a:prstDash val="solid"/>
          </a:ln>
        </p:spPr>
      </p:sp>
      <p:sp>
        <p:nvSpPr>
          <p:cNvPr id="145" name="L_bin = mean KL(p_teacher || p_student)">
            <a:extLst xmlns:a="http://schemas.openxmlformats.org/drawingml/2006/main">
              <a:ext uri="{FF2B5EF4-FFF2-40B4-BE49-F238E27FC236}">
                <a16:creationId xmlns:a16="http://schemas.microsoft.com/office/drawing/2014/main" id="{DDD9FE13-F530-41E7-9863-761D532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03" y="3504505"/>
            <a:ext cx="2245154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121"/>
          </a:bodyPr>
          <a:lstStyle xmlns:a="http://schemas.openxmlformats.org/drawingml/2006/main">
            <a:def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L_bin = mean KL(p_teacher || p_student)</a:t>
            </a:r>
          </a:p>
        </p:txBody>
      </p:sp>
      <p:sp>
        <p:nvSpPr>
          <p:cNvPr id="1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2A7D203-01F1-4AD2-8BD4-476FB37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39" y="3731601"/>
            <a:ext cx="2725153" cy="159999"/>
          </a:xfrm>
          <a:prstGeom xmlns:a="http://schemas.openxmlformats.org/drawingml/2006/main" prst="roundRect">
            <a:avLst>
              <a:gd name="adj" fmla="val 1290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2DDF7"/>
            </a:solidFill>
            <a:prstDash val="solid"/>
          </a:ln>
        </p:spPr>
      </p:sp>
      <p:sp>
        <p:nvSpPr>
          <p:cNvPr id="147" name="First 10 × 6 motor actions   |   Future latent (observed frame 0 excluded)">
            <a:extLst xmlns:a="http://schemas.openxmlformats.org/drawingml/2006/main">
              <a:ext uri="{FF2B5EF4-FFF2-40B4-BE49-F238E27FC236}">
                <a16:creationId xmlns:a16="http://schemas.microsoft.com/office/drawing/2014/main" id="{05027A4A-4047-4EFD-AFA1-6BE7BD3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46" y="3757407"/>
            <a:ext cx="2673540" cy="10838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3934"/>
          </a:bodyPr>
          <a:lstStyle xmlns:a="http://schemas.openxmlformats.org/drawingml/2006/main">
            <a:def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First 10 × 6 motor actions   |   Future latent (observed frame 0 excluded)</a:t>
            </a:r>
          </a:p>
        </p:txBody>
      </p:sp>
      <p:sp>
        <p:nvSpPr>
          <p:cNvPr id="148" name="Compute a 16-bin distribution for each scalar independently&#10;and average the">
            <a:extLst xmlns:a="http://schemas.openxmlformats.org/drawingml/2006/main">
              <a:ext uri="{FF2B5EF4-FFF2-40B4-BE49-F238E27FC236}">
                <a16:creationId xmlns:a16="http://schemas.microsoft.com/office/drawing/2014/main" id="{00110EE5-B11A-4CE0-AD9B-EF040DBD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58" y="3927729"/>
            <a:ext cx="2580637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219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Compute a 16-bin distribution for each scalar independently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and average the KL over all scalars.</a:t>
            </a:r>
          </a:p>
        </p:txBody>
      </p:sp>
      <p:sp>
        <p:nvSpPr>
          <p:cNvPr id="1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AB779FF-73C8-42EB-A3AD-8810133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36" y="686449"/>
            <a:ext cx="2621927" cy="149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5161">
            <a:noFill/>
            <a:prstDash val="solid"/>
          </a:ln>
        </p:spPr>
      </p:sp>
      <p:sp>
        <p:nvSpPr>
          <p:cNvPr id="150" name="Ten ordered 6-D action vectors (first 10 actions)">
            <a:extLst xmlns:a="http://schemas.openxmlformats.org/drawingml/2006/main">
              <a:ext uri="{FF2B5EF4-FFF2-40B4-BE49-F238E27FC236}">
                <a16:creationId xmlns:a16="http://schemas.microsoft.com/office/drawing/2014/main" id="{7CD7F31F-8119-4066-A748-C6D873E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843" y="712256"/>
            <a:ext cx="2570314" cy="9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9147"/>
          </a:bodyPr>
          <a:lstStyle xmlns:a="http://schemas.openxmlformats.org/drawingml/2006/main">
            <a:def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Ten ordered 6-D action vectors (first 10 actions)</a:t>
            </a:r>
          </a:p>
        </p:txBody>
      </p:sp>
      <p:sp>
        <p:nvSpPr>
          <p:cNvPr id="1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920C6A7-6968-441C-A1F3-14B2C491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72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2" name="a₁">
            <a:extLst xmlns:a="http://schemas.openxmlformats.org/drawingml/2006/main">
              <a:ext uri="{FF2B5EF4-FFF2-40B4-BE49-F238E27FC236}">
                <a16:creationId xmlns:a16="http://schemas.microsoft.com/office/drawing/2014/main" id="{4F90208B-1DA8-4A3B-A45D-D5DD37D6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778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a₁</a:t>
            </a:r>
          </a:p>
        </p:txBody>
      </p:sp>
      <p:sp>
        <p:nvSpPr>
          <p:cNvPr id="1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53C570C-497F-45A9-983E-A2279FAF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23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4" name="a₂">
            <a:extLst xmlns:a="http://schemas.openxmlformats.org/drawingml/2006/main">
              <a:ext uri="{FF2B5EF4-FFF2-40B4-BE49-F238E27FC236}">
                <a16:creationId xmlns:a16="http://schemas.microsoft.com/office/drawing/2014/main" id="{F013976D-6C0B-499E-8007-22882971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a₂</a:t>
            </a:r>
          </a:p>
        </p:txBody>
      </p:sp>
      <p:sp>
        <p:nvSpPr>
          <p:cNvPr id="1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F44411-9F00-4F81-B67D-B71D276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874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6" name="a₃">
            <a:extLst xmlns:a="http://schemas.openxmlformats.org/drawingml/2006/main">
              <a:ext uri="{FF2B5EF4-FFF2-40B4-BE49-F238E27FC236}">
                <a16:creationId xmlns:a16="http://schemas.microsoft.com/office/drawing/2014/main" id="{99BAC90D-196C-49CE-B3E9-CFF7370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680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a₃</a:t>
            </a:r>
          </a:p>
        </p:txBody>
      </p:sp>
      <p:sp>
        <p:nvSpPr>
          <p:cNvPr id="1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BD41C61-DB01-400A-B8AC-58C04874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325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8" name="a₄">
            <a:extLst xmlns:a="http://schemas.openxmlformats.org/drawingml/2006/main">
              <a:ext uri="{FF2B5EF4-FFF2-40B4-BE49-F238E27FC236}">
                <a16:creationId xmlns:a16="http://schemas.microsoft.com/office/drawing/2014/main" id="{1581B110-3267-4F46-B19D-A93B8DFF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31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a₄</a:t>
            </a:r>
          </a:p>
        </p:txBody>
      </p:sp>
      <p:sp>
        <p:nvSpPr>
          <p:cNvPr id="1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B821FAC-D1A7-4485-9873-6345C2A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76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0" name="a₅">
            <a:extLst xmlns:a="http://schemas.openxmlformats.org/drawingml/2006/main">
              <a:ext uri="{FF2B5EF4-FFF2-40B4-BE49-F238E27FC236}">
                <a16:creationId xmlns:a16="http://schemas.microsoft.com/office/drawing/2014/main" id="{1F084919-FDA1-4790-ACCA-7AA51CF1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82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a₅</a:t>
            </a:r>
          </a:p>
        </p:txBody>
      </p:sp>
      <p:sp>
        <p:nvSpPr>
          <p:cNvPr id="1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0C16F2A-A7E0-40EE-8828-4DF5DB6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226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2" name="a₆">
            <a:extLst xmlns:a="http://schemas.openxmlformats.org/drawingml/2006/main">
              <a:ext uri="{FF2B5EF4-FFF2-40B4-BE49-F238E27FC236}">
                <a16:creationId xmlns:a16="http://schemas.microsoft.com/office/drawing/2014/main" id="{BEC813EC-8595-425D-8596-9A86852C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033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a₆</a:t>
            </a:r>
          </a:p>
        </p:txBody>
      </p:sp>
      <p:sp>
        <p:nvSpPr>
          <p:cNvPr id="1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1335FC9-F430-49A8-B788-0AF950B0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77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4" name="a₇">
            <a:extLst xmlns:a="http://schemas.openxmlformats.org/drawingml/2006/main">
              <a:ext uri="{FF2B5EF4-FFF2-40B4-BE49-F238E27FC236}">
                <a16:creationId xmlns:a16="http://schemas.microsoft.com/office/drawing/2014/main" id="{B54BB421-2F5D-4908-ABC6-BCBC1016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484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a₇</a:t>
            </a:r>
          </a:p>
        </p:txBody>
      </p:sp>
      <p:sp>
        <p:nvSpPr>
          <p:cNvPr id="1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07FAE2-402D-4852-A6B1-DEC5DF5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128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6" name="a₈">
            <a:extLst xmlns:a="http://schemas.openxmlformats.org/drawingml/2006/main">
              <a:ext uri="{FF2B5EF4-FFF2-40B4-BE49-F238E27FC236}">
                <a16:creationId xmlns:a16="http://schemas.microsoft.com/office/drawing/2014/main" id="{F7780A48-A47B-4360-BD58-A565A01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5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a₈</a:t>
            </a:r>
          </a:p>
        </p:txBody>
      </p:sp>
      <p:sp>
        <p:nvSpPr>
          <p:cNvPr id="1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BD61AA8-C316-4601-BA6C-31255472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579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8" name="a₉">
            <a:extLst xmlns:a="http://schemas.openxmlformats.org/drawingml/2006/main">
              <a:ext uri="{FF2B5EF4-FFF2-40B4-BE49-F238E27FC236}">
                <a16:creationId xmlns:a16="http://schemas.microsoft.com/office/drawing/2014/main" id="{A7E9804B-9737-45C9-BA2D-C896A45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386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a₉</a:t>
            </a:r>
          </a:p>
        </p:txBody>
      </p:sp>
      <p:sp>
        <p:nvSpPr>
          <p:cNvPr id="1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9B28099-A910-4F22-A80D-15B4300E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030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70" name="a₁₀">
            <a:extLst xmlns:a="http://schemas.openxmlformats.org/drawingml/2006/main">
              <a:ext uri="{FF2B5EF4-FFF2-40B4-BE49-F238E27FC236}">
                <a16:creationId xmlns:a16="http://schemas.microsoft.com/office/drawing/2014/main" id="{16F65773-F1E9-48C7-9843-B138829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837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a₁₀</a:t>
            </a:r>
          </a:p>
        </p:txBody>
      </p:sp>
      <p:sp>
        <p:nvSpPr>
          <p:cNvPr id="171" name="Each aₜ ∈ ℝ⁶">
            <a:extLst xmlns:a="http://schemas.openxmlformats.org/drawingml/2006/main">
              <a:ext uri="{FF2B5EF4-FFF2-40B4-BE49-F238E27FC236}">
                <a16:creationId xmlns:a16="http://schemas.microsoft.com/office/drawing/2014/main" id="{54F5DF13-2A0E-4E4E-8531-986906A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610" y="939352"/>
            <a:ext cx="474837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082"/>
          </a:bodyPr>
          <a:lstStyle xmlns:a="http://schemas.openxmlformats.org/drawingml/2006/main"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aₜ ∈ ℝ⁶</a:t>
            </a:r>
          </a:p>
        </p:txBody>
      </p:sp>
      <p:cxnSp>
        <p:nvCxnSpPr>
          <p:cNvPr id="17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214D86A-68CF-4249-B922-380318E1B0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15226" y="1109674"/>
            <a:ext cx="0" cy="144516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1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C5315B2-4C22-47B9-A960-F1D24436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98" y="1274835"/>
            <a:ext cx="2621927" cy="159999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EEEFF"/>
          </a:solidFill>
          <a:ln xmlns:a="http://schemas.openxmlformats.org/drawingml/2006/main" w="5161">
            <a:solidFill>
              <a:srgbClr val="BCDFFF"/>
            </a:solidFill>
            <a:prstDash val="solid"/>
          </a:ln>
        </p:spPr>
      </p:sp>
      <p:sp>
        <p:nvSpPr>
          <p:cNvPr id="174" name="Overlapping 3-step ordered windows → 8 tokens (18-D)">
            <a:extLst xmlns:a="http://schemas.openxmlformats.org/drawingml/2006/main">
              <a:ext uri="{FF2B5EF4-FFF2-40B4-BE49-F238E27FC236}">
                <a16:creationId xmlns:a16="http://schemas.microsoft.com/office/drawing/2014/main" id="{60A69574-14AE-4D90-9656-E630713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004" y="1300641"/>
            <a:ext cx="2570314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E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Overlapping 3-step ordered windows → 8 tokens (18-D)</a:t>
            </a:r>
          </a:p>
        </p:txBody>
      </p:sp>
      <p:sp>
        <p:nvSpPr>
          <p:cNvPr id="1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865AFEF-A815-427A-A634-FBA4D0C0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649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76" name="w₁">
            <a:extLst xmlns:a="http://schemas.openxmlformats.org/drawingml/2006/main">
              <a:ext uri="{FF2B5EF4-FFF2-40B4-BE49-F238E27FC236}">
                <a16:creationId xmlns:a16="http://schemas.microsoft.com/office/drawing/2014/main" id="{068891EB-D80C-49A9-A1CD-DC3899E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939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w₁</a:t>
            </a:r>
          </a:p>
        </p:txBody>
      </p:sp>
      <p:sp>
        <p:nvSpPr>
          <p:cNvPr id="177" name="(a₁, a₂, a₃)">
            <a:extLst xmlns:a="http://schemas.openxmlformats.org/drawingml/2006/main">
              <a:ext uri="{FF2B5EF4-FFF2-40B4-BE49-F238E27FC236}">
                <a16:creationId xmlns:a16="http://schemas.microsoft.com/office/drawing/2014/main" id="{A3D8688A-B1E3-48D1-935C-214BABE4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72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(a₁, a₂, a₃)</a:t>
            </a:r>
          </a:p>
        </p:txBody>
      </p:sp>
      <p:sp>
        <p:nvSpPr>
          <p:cNvPr id="1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F70BB89-B70A-4E57-A8C4-3828B918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067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79" name="w₂">
            <a:extLst xmlns:a="http://schemas.openxmlformats.org/drawingml/2006/main">
              <a:ext uri="{FF2B5EF4-FFF2-40B4-BE49-F238E27FC236}">
                <a16:creationId xmlns:a16="http://schemas.microsoft.com/office/drawing/2014/main" id="{BB7FF60A-98A4-49FD-87B3-B741EB6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357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w₂</a:t>
            </a:r>
          </a:p>
        </p:txBody>
      </p:sp>
      <p:sp>
        <p:nvSpPr>
          <p:cNvPr id="180" name="(a₂, a₃, a₄)">
            <a:extLst xmlns:a="http://schemas.openxmlformats.org/drawingml/2006/main">
              <a:ext uri="{FF2B5EF4-FFF2-40B4-BE49-F238E27FC236}">
                <a16:creationId xmlns:a16="http://schemas.microsoft.com/office/drawing/2014/main" id="{E36E0D21-4A3B-4638-8530-5C80A75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(a₂, a₃, a₄)</a:t>
            </a:r>
          </a:p>
        </p:txBody>
      </p:sp>
      <p:sp>
        <p:nvSpPr>
          <p:cNvPr id="1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18E065D-D56C-470A-871D-2987A527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84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82" name="w₃">
            <a:extLst xmlns:a="http://schemas.openxmlformats.org/drawingml/2006/main">
              <a:ext uri="{FF2B5EF4-FFF2-40B4-BE49-F238E27FC236}">
                <a16:creationId xmlns:a16="http://schemas.microsoft.com/office/drawing/2014/main" id="{7D63A82A-EE81-4BCD-B37E-9EF1A1B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775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w₃</a:t>
            </a:r>
          </a:p>
        </p:txBody>
      </p:sp>
      <p:sp>
        <p:nvSpPr>
          <p:cNvPr id="183" name="(a₃, a₄, a₅)">
            <a:extLst xmlns:a="http://schemas.openxmlformats.org/drawingml/2006/main">
              <a:ext uri="{FF2B5EF4-FFF2-40B4-BE49-F238E27FC236}">
                <a16:creationId xmlns:a16="http://schemas.microsoft.com/office/drawing/2014/main" id="{37F9C6F7-21AA-4C3F-915F-897B082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807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(a₃, a₄, a₅)</a:t>
            </a:r>
          </a:p>
        </p:txBody>
      </p:sp>
      <p:sp>
        <p:nvSpPr>
          <p:cNvPr id="1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7F49F24-773A-4EEB-899C-28D0A8F8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85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85" name="w₈">
            <a:extLst xmlns:a="http://schemas.openxmlformats.org/drawingml/2006/main">
              <a:ext uri="{FF2B5EF4-FFF2-40B4-BE49-F238E27FC236}">
                <a16:creationId xmlns:a16="http://schemas.microsoft.com/office/drawing/2014/main" id="{03A7CF1F-466D-4B5A-A8D6-5F7792C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75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w₈</a:t>
            </a:r>
          </a:p>
        </p:txBody>
      </p:sp>
      <p:sp>
        <p:nvSpPr>
          <p:cNvPr id="186" name="(a₈, a₉, a₁₀)">
            <a:extLst xmlns:a="http://schemas.openxmlformats.org/drawingml/2006/main">
              <a:ext uri="{FF2B5EF4-FFF2-40B4-BE49-F238E27FC236}">
                <a16:creationId xmlns:a16="http://schemas.microsoft.com/office/drawing/2014/main" id="{F2C90BCD-9E78-46A7-961D-ECC385A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07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(a₈, a₉, a₁₀)</a:t>
            </a:r>
          </a:p>
        </p:txBody>
      </p:sp>
      <p:sp>
        <p:nvSpPr>
          <p:cNvPr id="187" name="…">
            <a:extLst xmlns:a="http://schemas.openxmlformats.org/drawingml/2006/main">
              <a:ext uri="{FF2B5EF4-FFF2-40B4-BE49-F238E27FC236}">
                <a16:creationId xmlns:a16="http://schemas.microsoft.com/office/drawing/2014/main" id="{A05DD328-9CEB-4EBF-AACD-3351BA0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192" y="1548382"/>
            <a:ext cx="216774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279"/>
          </a:bodyPr>
          <a:lstStyle xmlns:a="http://schemas.openxmlformats.org/drawingml/2006/main">
            <a:def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sp>
        <p:nvSpPr>
          <p:cNvPr id="188" name="Each token uᵢ ∈ ℝ¹⁸ (concatenate 3 actions)">
            <a:extLst xmlns:a="http://schemas.openxmlformats.org/drawingml/2006/main">
              <a:ext uri="{FF2B5EF4-FFF2-40B4-BE49-F238E27FC236}">
                <a16:creationId xmlns:a16="http://schemas.microsoft.com/office/drawing/2014/main" id="{3E37B177-6EE5-46F0-9B55-EAA47D46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068" y="1863220"/>
            <a:ext cx="2425799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token uᵢ ∈ ℝ¹⁸ (concatenate 3 actions)</a:t>
            </a:r>
          </a:p>
        </p:txBody>
      </p:sp>
      <p:sp>
        <p:nvSpPr>
          <p:cNvPr id="1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0E221D-8140-4BC7-A3C5-09FAEF6C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98" y="2038703"/>
            <a:ext cx="1383221" cy="159999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EEFF"/>
          </a:solidFill>
          <a:ln xmlns:a="http://schemas.openxmlformats.org/drawingml/2006/main" w="5161">
            <a:solidFill>
              <a:srgbClr val="C0DFFF"/>
            </a:solidFill>
            <a:prstDash val="solid"/>
          </a:ln>
        </p:spPr>
      </p:sp>
      <p:sp>
        <p:nvSpPr>
          <p:cNvPr id="190" name="Relation matrix (8 tokens)">
            <a:extLst xmlns:a="http://schemas.openxmlformats.org/drawingml/2006/main">
              <a:ext uri="{FF2B5EF4-FFF2-40B4-BE49-F238E27FC236}">
                <a16:creationId xmlns:a16="http://schemas.microsoft.com/office/drawing/2014/main" id="{114F71BC-4841-4907-A923-16A21427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004" y="2064510"/>
            <a:ext cx="1331609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Relation matrix (8 tokens)</a:t>
            </a:r>
          </a:p>
        </p:txBody>
      </p:sp>
      <p:sp>
        <p:nvSpPr>
          <p:cNvPr id="1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5EA2F86-F51B-4594-87E4-F8758EB9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677" y="2038703"/>
            <a:ext cx="1176770" cy="159999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EEFF"/>
          </a:solidFill>
          <a:ln xmlns:a="http://schemas.openxmlformats.org/drawingml/2006/main" w="5161">
            <a:solidFill>
              <a:srgbClr val="C0DFFF"/>
            </a:solidFill>
            <a:prstDash val="solid"/>
          </a:ln>
        </p:spPr>
      </p:sp>
      <p:sp>
        <p:nvSpPr>
          <p:cNvPr id="192" name="Neighbor probabilities">
            <a:extLst xmlns:a="http://schemas.openxmlformats.org/drawingml/2006/main">
              <a:ext uri="{FF2B5EF4-FFF2-40B4-BE49-F238E27FC236}">
                <a16:creationId xmlns:a16="http://schemas.microsoft.com/office/drawing/2014/main" id="{6D9ED54A-5151-47F6-9F2A-D6160A8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064510"/>
            <a:ext cx="1125158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Neighbor probabilities</a:t>
            </a:r>
          </a:p>
        </p:txBody>
      </p:sp>
      <p:sp>
        <p:nvSpPr>
          <p:cNvPr id="193" name="1">
            <a:extLst xmlns:a="http://schemas.openxmlformats.org/drawingml/2006/main">
              <a:ext uri="{FF2B5EF4-FFF2-40B4-BE49-F238E27FC236}">
                <a16:creationId xmlns:a16="http://schemas.microsoft.com/office/drawing/2014/main" id="{4FACFF7E-C0D6-4ECE-B201-6790AAF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94" name="1">
            <a:extLst xmlns:a="http://schemas.openxmlformats.org/drawingml/2006/main">
              <a:ext uri="{FF2B5EF4-FFF2-40B4-BE49-F238E27FC236}">
                <a16:creationId xmlns:a16="http://schemas.microsoft.com/office/drawing/2014/main" id="{0387662C-C4A2-4C1F-A86D-BEA0C75F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348380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992615-BF21-47D5-8154-BC10797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196" name="×">
            <a:extLst xmlns:a="http://schemas.openxmlformats.org/drawingml/2006/main">
              <a:ext uri="{FF2B5EF4-FFF2-40B4-BE49-F238E27FC236}">
                <a16:creationId xmlns:a16="http://schemas.microsoft.com/office/drawing/2014/main" id="{A6C7E171-E890-4AE3-AA1C-7F070239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338057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1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633D9B-A091-4FEF-80CE-3F91E9D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1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6DB27BE-7537-4170-ABD2-1601EA5A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1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9FD60DA-BC3E-408C-9307-463BA8F9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26CA082-0C58-4891-9801-F1FDF16F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B21C943-E6B2-4036-AB73-202657E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3F05CAB-5E35-41A8-9CAE-C9A5326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DF00741-67BF-419A-AC75-0675CAD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4" name="2">
            <a:extLst xmlns:a="http://schemas.openxmlformats.org/drawingml/2006/main">
              <a:ext uri="{FF2B5EF4-FFF2-40B4-BE49-F238E27FC236}">
                <a16:creationId xmlns:a16="http://schemas.microsoft.com/office/drawing/2014/main" id="{3C407326-5185-4F6E-AD01-AD8278F3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205" name="2">
            <a:extLst xmlns:a="http://schemas.openxmlformats.org/drawingml/2006/main">
              <a:ext uri="{FF2B5EF4-FFF2-40B4-BE49-F238E27FC236}">
                <a16:creationId xmlns:a16="http://schemas.microsoft.com/office/drawing/2014/main" id="{A872A28A-189D-45E2-A819-6DA9953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454186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2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DFA59D-9092-40C7-9293-59E29C7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101C9A-1CCC-4DD7-8D33-403A4A04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8" name="×">
            <a:extLst xmlns:a="http://schemas.openxmlformats.org/drawingml/2006/main">
              <a:ext uri="{FF2B5EF4-FFF2-40B4-BE49-F238E27FC236}">
                <a16:creationId xmlns:a16="http://schemas.microsoft.com/office/drawing/2014/main" id="{F820C428-0601-453A-8060-5FD3DBF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443863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4D958D9-F6C4-471E-BC2D-31F25AD0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2D8636A-5D50-4790-89E7-7CD0A34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1736A7C-6CFB-43F7-B0F1-AD3D5D69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CEDC9A8-BDF9-48BB-92DD-CEED0197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37DAE42-EC92-4A32-AC83-90B2E4FE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EDE3910-A82C-4E62-AF24-BF3F8A3B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5" name="3">
            <a:extLst xmlns:a="http://schemas.openxmlformats.org/drawingml/2006/main">
              <a:ext uri="{FF2B5EF4-FFF2-40B4-BE49-F238E27FC236}">
                <a16:creationId xmlns:a16="http://schemas.microsoft.com/office/drawing/2014/main" id="{E9DC77CF-6348-4AD8-BF43-47DDC683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216" name="3">
            <a:extLst xmlns:a="http://schemas.openxmlformats.org/drawingml/2006/main">
              <a:ext uri="{FF2B5EF4-FFF2-40B4-BE49-F238E27FC236}">
                <a16:creationId xmlns:a16="http://schemas.microsoft.com/office/drawing/2014/main" id="{1D2FDA39-76B9-49EA-81DE-943E69D3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559992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2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22C7E4C-A601-42FE-950C-EADBB07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F96D4F8-D535-498F-938C-0107307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69F2B5D-F56E-4CDC-9235-6587DE9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0" name="×">
            <a:extLst xmlns:a="http://schemas.openxmlformats.org/drawingml/2006/main">
              <a:ext uri="{FF2B5EF4-FFF2-40B4-BE49-F238E27FC236}">
                <a16:creationId xmlns:a16="http://schemas.microsoft.com/office/drawing/2014/main" id="{BEB09228-F7E4-46AC-B317-9BC7FC20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549669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73C01D8-D7D7-4B33-8382-8A05815E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9C7EA0-CB6E-4A17-917D-5333E0B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1915B02-35D8-4569-8CD7-7C0CA1B5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23B76E3-C5A8-480F-A152-92F2AE6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3FB4450-2906-4F99-A71F-C5BA4E87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6" name="4">
            <a:extLst xmlns:a="http://schemas.openxmlformats.org/drawingml/2006/main">
              <a:ext uri="{FF2B5EF4-FFF2-40B4-BE49-F238E27FC236}">
                <a16:creationId xmlns:a16="http://schemas.microsoft.com/office/drawing/2014/main" id="{DD80E85C-A823-4882-A99A-7944F2EA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27" name="4">
            <a:extLst xmlns:a="http://schemas.openxmlformats.org/drawingml/2006/main">
              <a:ext uri="{FF2B5EF4-FFF2-40B4-BE49-F238E27FC236}">
                <a16:creationId xmlns:a16="http://schemas.microsoft.com/office/drawing/2014/main" id="{FA1892CB-6C8C-4C7B-82E2-D1F1D165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665798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7D30368-6F7C-4419-8C1F-F9821871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802587-2A3E-4701-825D-517E1CEB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8C6431-02AE-4F5E-9F59-48D5A19D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6FD120D-8593-4B09-8C9E-7C55FD77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2" name="×">
            <a:extLst xmlns:a="http://schemas.openxmlformats.org/drawingml/2006/main">
              <a:ext uri="{FF2B5EF4-FFF2-40B4-BE49-F238E27FC236}">
                <a16:creationId xmlns:a16="http://schemas.microsoft.com/office/drawing/2014/main" id="{FFB37390-1308-4836-A1D2-9033D8BD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655475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5DF4C8-78B6-4086-BF0E-32B8A7B9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84ECF95-8557-4DB1-8C83-611E280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902EAF9-246A-4492-998F-486A521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745E153-60A2-425E-8A8B-486EE524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7" name="5">
            <a:extLst xmlns:a="http://schemas.openxmlformats.org/drawingml/2006/main">
              <a:ext uri="{FF2B5EF4-FFF2-40B4-BE49-F238E27FC236}">
                <a16:creationId xmlns:a16="http://schemas.microsoft.com/office/drawing/2014/main" id="{90AC1217-9F40-4F11-AF85-797CC25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238" name="5">
            <a:extLst xmlns:a="http://schemas.openxmlformats.org/drawingml/2006/main">
              <a:ext uri="{FF2B5EF4-FFF2-40B4-BE49-F238E27FC236}">
                <a16:creationId xmlns:a16="http://schemas.microsoft.com/office/drawing/2014/main" id="{1DB309CF-F8C9-471E-AD33-7AB7AC3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771604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2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53BBB74-978A-4496-88B4-248DF03C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0D7BBC-D2D2-4581-8D68-31AB655D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79C75A-68AA-4E18-86A3-409525E5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F4346DF-287F-4816-A6CA-EBE85B4A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343A23-A54E-4DB5-AA0F-9EAFFF8D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4" name="×">
            <a:extLst xmlns:a="http://schemas.openxmlformats.org/drawingml/2006/main">
              <a:ext uri="{FF2B5EF4-FFF2-40B4-BE49-F238E27FC236}">
                <a16:creationId xmlns:a16="http://schemas.microsoft.com/office/drawing/2014/main" id="{0A819ECF-7EDC-4ADC-8043-F722999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761282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FC12358-AE45-46A5-A21C-6CB21FBB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A521C2E-C99C-4389-87F0-26AA10DD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A7C6507-0AE0-4C9E-8902-9FB94DDC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8" name="6">
            <a:extLst xmlns:a="http://schemas.openxmlformats.org/drawingml/2006/main">
              <a:ext uri="{FF2B5EF4-FFF2-40B4-BE49-F238E27FC236}">
                <a16:creationId xmlns:a16="http://schemas.microsoft.com/office/drawing/2014/main" id="{DB01E8F7-B7EF-4206-9F02-414A396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249" name="6">
            <a:extLst xmlns:a="http://schemas.openxmlformats.org/drawingml/2006/main">
              <a:ext uri="{FF2B5EF4-FFF2-40B4-BE49-F238E27FC236}">
                <a16:creationId xmlns:a16="http://schemas.microsoft.com/office/drawing/2014/main" id="{6BCB90C2-E9E4-468E-BC36-637B61C7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877410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2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FA7EDEF-4150-4E77-9F12-E522952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8D6F96F-D660-462B-9ABC-2161FDB4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4866A3D-BD33-4A7D-A2C1-CC33301D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62E43DC-663C-4957-AF02-1DA67E29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0EFA9B-1D4C-47D4-8373-EC2935FE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1E29C37-9A75-496C-B5F4-F8A7283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6" name="×">
            <a:extLst xmlns:a="http://schemas.openxmlformats.org/drawingml/2006/main">
              <a:ext uri="{FF2B5EF4-FFF2-40B4-BE49-F238E27FC236}">
                <a16:creationId xmlns:a16="http://schemas.microsoft.com/office/drawing/2014/main" id="{C89A76F0-DACA-4870-8FF0-73928FD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867088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0DF1617-FF44-4C2F-9518-4F6F591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6010FC4-0673-4623-86E6-11790D4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9" name="7">
            <a:extLst xmlns:a="http://schemas.openxmlformats.org/drawingml/2006/main">
              <a:ext uri="{FF2B5EF4-FFF2-40B4-BE49-F238E27FC236}">
                <a16:creationId xmlns:a16="http://schemas.microsoft.com/office/drawing/2014/main" id="{9AC7CEE7-5610-4D93-BAC8-C6D8840C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7</a:t>
            </a:r>
          </a:p>
        </p:txBody>
      </p:sp>
      <p:sp>
        <p:nvSpPr>
          <p:cNvPr id="260" name="7">
            <a:extLst xmlns:a="http://schemas.openxmlformats.org/drawingml/2006/main">
              <a:ext uri="{FF2B5EF4-FFF2-40B4-BE49-F238E27FC236}">
                <a16:creationId xmlns:a16="http://schemas.microsoft.com/office/drawing/2014/main" id="{A40FDBF7-2918-48F8-8DD7-7BFC41C3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983216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7</a:t>
            </a:r>
          </a:p>
        </p:txBody>
      </p:sp>
      <p:sp>
        <p:nvSpPr>
          <p:cNvPr id="2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BAF2EDE-B746-4CAE-A6CE-4EBD8AE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F20EDF7-8566-40C7-8B51-DC87F5BA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8919CE-7533-4213-BB31-E46C20A1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AE1B6AA-B262-4086-9089-DB52FDCC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7CD064-4B0E-4804-BA20-FCE5C912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6A11124-EEF1-41BB-B343-EE331C5E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2A2D45D-4B1F-4890-A623-55F9CBF1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8" name="×">
            <a:extLst xmlns:a="http://schemas.openxmlformats.org/drawingml/2006/main">
              <a:ext uri="{FF2B5EF4-FFF2-40B4-BE49-F238E27FC236}">
                <a16:creationId xmlns:a16="http://schemas.microsoft.com/office/drawing/2014/main" id="{42FCB0FB-5800-41B6-9AD4-988E1166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972894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0F0B0B-C2D3-47BE-84E6-BA3DCF8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0" name="8">
            <a:extLst xmlns:a="http://schemas.openxmlformats.org/drawingml/2006/main">
              <a:ext uri="{FF2B5EF4-FFF2-40B4-BE49-F238E27FC236}">
                <a16:creationId xmlns:a16="http://schemas.microsoft.com/office/drawing/2014/main" id="{2FA5710A-1EAA-4754-9892-2B426C3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271" name="8">
            <a:extLst xmlns:a="http://schemas.openxmlformats.org/drawingml/2006/main">
              <a:ext uri="{FF2B5EF4-FFF2-40B4-BE49-F238E27FC236}">
                <a16:creationId xmlns:a16="http://schemas.microsoft.com/office/drawing/2014/main" id="{7594AD9B-C071-42D9-A7C6-F8EF75F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3089022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2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ACB1E98-4277-45F4-8072-DAB6DD1C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DC5F3A3-A498-45DE-BEAB-9EE5668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7371829-E9E7-45A7-B9C2-57BD90A3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43A880A-5F35-48A9-BC14-9216FF50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C9EBDA3-7FCA-461A-BE50-188D64A7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9D0D63E-9D93-4DA2-A4F1-BB5A36F4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123933-2891-409E-B2C7-CF88D9B3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D5D9464-1FA8-4DC4-844D-5DF0320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80" name="×">
            <a:extLst xmlns:a="http://schemas.openxmlformats.org/drawingml/2006/main">
              <a:ext uri="{FF2B5EF4-FFF2-40B4-BE49-F238E27FC236}">
                <a16:creationId xmlns:a16="http://schemas.microsoft.com/office/drawing/2014/main" id="{409A2C07-91F3-4BB5-B4E4-5E18528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3078700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81" name="dᵢⱼ">
            <a:extLst xmlns:a="http://schemas.openxmlformats.org/drawingml/2006/main">
              <a:ext uri="{FF2B5EF4-FFF2-40B4-BE49-F238E27FC236}">
                <a16:creationId xmlns:a16="http://schemas.microsoft.com/office/drawing/2014/main" id="{446CA753-9889-4FDA-8664-8A019C24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323" y="2260638"/>
            <a:ext cx="175483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</a:t>
            </a:r>
          </a:p>
        </p:txBody>
      </p:sp>
      <p:sp>
        <p:nvSpPr>
          <p:cNvPr id="2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1638D34-EE55-4662-8D25-1BE3E3F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194" y="2394831"/>
            <a:ext cx="77419" cy="70709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E609E"/>
              </a:gs>
              <a:gs pos="100000">
                <a:srgbClr val="D2E6F4"/>
              </a:gs>
            </a:gsLst>
            <a:lin ang="5400000"/>
          </a:gradFill>
          <a:ln xmlns:a="http://schemas.openxmlformats.org/drawingml/2006/main" w="3097">
            <a:solidFill>
              <a:srgbClr val="B6CADB"/>
            </a:solidFill>
            <a:prstDash val="solid"/>
          </a:ln>
        </p:spPr>
      </p:sp>
      <p:sp>
        <p:nvSpPr>
          <p:cNvPr id="283" name="high">
            <a:extLst xmlns:a="http://schemas.openxmlformats.org/drawingml/2006/main">
              <a:ext uri="{FF2B5EF4-FFF2-40B4-BE49-F238E27FC236}">
                <a16:creationId xmlns:a16="http://schemas.microsoft.com/office/drawing/2014/main" id="{743A3E2F-655F-412F-9B3C-D4A32F96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03" y="2405154"/>
            <a:ext cx="149677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high</a:t>
            </a:r>
          </a:p>
        </p:txBody>
      </p:sp>
      <p:sp>
        <p:nvSpPr>
          <p:cNvPr id="284" name="low">
            <a:extLst xmlns:a="http://schemas.openxmlformats.org/drawingml/2006/main">
              <a:ext uri="{FF2B5EF4-FFF2-40B4-BE49-F238E27FC236}">
                <a16:creationId xmlns:a16="http://schemas.microsoft.com/office/drawing/2014/main" id="{37FF84B3-B203-4BF2-9A6D-3B427E86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03" y="3019345"/>
            <a:ext cx="149677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low</a:t>
            </a:r>
          </a:p>
        </p:txBody>
      </p:sp>
      <p:sp>
        <p:nvSpPr>
          <p:cNvPr id="285" name="Diagonal masked (no self-relation)">
            <a:extLst xmlns:a="http://schemas.openxmlformats.org/drawingml/2006/main">
              <a:ext uri="{FF2B5EF4-FFF2-40B4-BE49-F238E27FC236}">
                <a16:creationId xmlns:a16="http://schemas.microsoft.com/office/drawing/2014/main" id="{05D555B4-9B52-4216-B455-7CDD6937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3277409"/>
            <a:ext cx="1378060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Diagonal masked (no self-relation)</a:t>
            </a:r>
          </a:p>
        </p:txBody>
      </p:sp>
      <p:sp>
        <p:nvSpPr>
          <p:cNvPr id="286" name="All other windows are neighbors">
            <a:extLst xmlns:a="http://schemas.openxmlformats.org/drawingml/2006/main">
              <a:ext uri="{FF2B5EF4-FFF2-40B4-BE49-F238E27FC236}">
                <a16:creationId xmlns:a16="http://schemas.microsoft.com/office/drawing/2014/main" id="{74F7BC87-6358-4717-9E1D-C57FE18D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3401280"/>
            <a:ext cx="1378060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All other windows are neighbors</a:t>
            </a:r>
          </a:p>
        </p:txBody>
      </p:sp>
      <p:sp>
        <p:nvSpPr>
          <p:cNvPr id="2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1C5526A-BB6C-4EFF-9259-465B71D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677" y="2229670"/>
            <a:ext cx="1176770" cy="1326447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3871">
            <a:solidFill>
              <a:srgbClr val="C3DDF3"/>
            </a:solidFill>
            <a:prstDash val="solid"/>
          </a:ln>
        </p:spPr>
      </p:sp>
      <p:sp>
        <p:nvSpPr>
          <p:cNvPr id="288" name="dᵢⱼ =">
            <a:extLst xmlns:a="http://schemas.openxmlformats.org/drawingml/2006/main">
              <a:ext uri="{FF2B5EF4-FFF2-40B4-BE49-F238E27FC236}">
                <a16:creationId xmlns:a16="http://schemas.microsoft.com/office/drawing/2014/main" id="{FAA26116-26FA-4B80-BC22-9D5AD3E8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96" y="2379347"/>
            <a:ext cx="283870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 =</a:t>
            </a:r>
          </a:p>
        </p:txBody>
      </p:sp>
      <p:sp>
        <p:nvSpPr>
          <p:cNvPr id="289" name="1">
            <a:extLst xmlns:a="http://schemas.openxmlformats.org/drawingml/2006/main">
              <a:ext uri="{FF2B5EF4-FFF2-40B4-BE49-F238E27FC236}">
                <a16:creationId xmlns:a16="http://schemas.microsoft.com/office/drawing/2014/main" id="{DCFA12C4-3B9F-4292-B8D9-51579F1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127" y="2332896"/>
            <a:ext cx="129032" cy="110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227"/>
          </a:bodyPr>
          <a:lstStyle xmlns:a="http://schemas.openxmlformats.org/drawingml/2006/main"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9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282D71B-9556-4BD4-ACD3-BCE7FCAFA9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03611" y="2461876"/>
            <a:ext cx="98064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291" name="18">
            <a:extLst xmlns:a="http://schemas.openxmlformats.org/drawingml/2006/main">
              <a:ext uri="{FF2B5EF4-FFF2-40B4-BE49-F238E27FC236}">
                <a16:creationId xmlns:a16="http://schemas.microsoft.com/office/drawing/2014/main" id="{34DE38F8-EAF6-4FE7-A78F-A7BF720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127" y="2469773"/>
            <a:ext cx="129032" cy="110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227"/>
          </a:bodyPr>
          <a:lstStyle xmlns:a="http://schemas.openxmlformats.org/drawingml/2006/main"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2" name="∑">
            <a:extLst xmlns:a="http://schemas.openxmlformats.org/drawingml/2006/main">
              <a:ext uri="{FF2B5EF4-FFF2-40B4-BE49-F238E27FC236}">
                <a16:creationId xmlns:a16="http://schemas.microsoft.com/office/drawing/2014/main" id="{D185D157-7EF5-4F01-83A5-E49ACD04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482" y="2332896"/>
            <a:ext cx="201290" cy="232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04"/>
          </a:bodyPr>
          <a:lstStyle xmlns:a="http://schemas.openxmlformats.org/drawingml/2006/main">
            <a:def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293" name="18">
            <a:extLst xmlns:a="http://schemas.openxmlformats.org/drawingml/2006/main">
              <a:ext uri="{FF2B5EF4-FFF2-40B4-BE49-F238E27FC236}">
                <a16:creationId xmlns:a16="http://schemas.microsoft.com/office/drawing/2014/main" id="{21F4C0F0-3422-483D-8EC7-3ACED62F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95" y="2260638"/>
            <a:ext cx="14967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4" name="k=1">
            <a:extLst xmlns:a="http://schemas.openxmlformats.org/drawingml/2006/main">
              <a:ext uri="{FF2B5EF4-FFF2-40B4-BE49-F238E27FC236}">
                <a16:creationId xmlns:a16="http://schemas.microsoft.com/office/drawing/2014/main" id="{5DAF8E3B-CE82-45E4-9830-F15CBD79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998" y="2559992"/>
            <a:ext cx="221935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k=1</a:t>
            </a:r>
          </a:p>
        </p:txBody>
      </p:sp>
      <p:sp>
        <p:nvSpPr>
          <p:cNvPr id="295" name="(uᵢₖ − uⱼₖ)²">
            <a:extLst xmlns:a="http://schemas.openxmlformats.org/drawingml/2006/main">
              <a:ext uri="{FF2B5EF4-FFF2-40B4-BE49-F238E27FC236}">
                <a16:creationId xmlns:a16="http://schemas.microsoft.com/office/drawing/2014/main" id="{FAE0BA8B-F2AF-4BE4-9FE4-0D3F885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965" y="2394831"/>
            <a:ext cx="469676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09"/>
          </a:bodyPr>
          <a:lstStyle xmlns:a="http://schemas.openxmlformats.org/drawingml/2006/main"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(uᵢₖ − uⱼₖ)²</a:t>
            </a:r>
          </a:p>
        </p:txBody>
      </p:sp>
      <p:sp>
        <p:nvSpPr>
          <p:cNvPr id="296" name="p(j | i) =">
            <a:extLst xmlns:a="http://schemas.openxmlformats.org/drawingml/2006/main">
              <a:ext uri="{FF2B5EF4-FFF2-40B4-BE49-F238E27FC236}">
                <a16:creationId xmlns:a16="http://schemas.microsoft.com/office/drawing/2014/main" id="{9F89C55D-56CE-44BB-9EA2-A61780F5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290" y="2776765"/>
            <a:ext cx="459353" cy="175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p(j | i) =</a:t>
            </a:r>
          </a:p>
        </p:txBody>
      </p:sp>
      <p:sp>
        <p:nvSpPr>
          <p:cNvPr id="297" name="exp(−dᵢⱼ / τₐ)">
            <a:extLst xmlns:a="http://schemas.openxmlformats.org/drawingml/2006/main">
              <a:ext uri="{FF2B5EF4-FFF2-40B4-BE49-F238E27FC236}">
                <a16:creationId xmlns:a16="http://schemas.microsoft.com/office/drawing/2014/main" id="{70AA5778-F388-4077-A850-BF8EA40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159" y="2689024"/>
            <a:ext cx="650321" cy="132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exp(−dᵢⱼ / τₐ)</a:t>
            </a:r>
          </a:p>
        </p:txBody>
      </p:sp>
      <p:cxnSp>
        <p:nvCxnSpPr>
          <p:cNvPr id="29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8142BAA-6B16-48B9-BED5-B13E6A0267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2643" y="2843294"/>
            <a:ext cx="619353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299" name="∑ₖ≠ᵢ exp(−dᵢₖ / τₐ)">
            <a:extLst xmlns:a="http://schemas.openxmlformats.org/drawingml/2006/main">
              <a:ext uri="{FF2B5EF4-FFF2-40B4-BE49-F238E27FC236}">
                <a16:creationId xmlns:a16="http://schemas.microsoft.com/office/drawing/2014/main" id="{09C804A3-94FC-4CD7-BF08-88FFD2A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159" y="2852739"/>
            <a:ext cx="650321" cy="132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5283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∑ₖ≠ᵢ exp(−dᵢₖ / τₐ)</a:t>
            </a:r>
          </a:p>
        </p:txBody>
      </p:sp>
      <p:sp>
        <p:nvSpPr>
          <p:cNvPr id="300" name="for j ≠ i">
            <a:extLst xmlns:a="http://schemas.openxmlformats.org/drawingml/2006/main">
              <a:ext uri="{FF2B5EF4-FFF2-40B4-BE49-F238E27FC236}">
                <a16:creationId xmlns:a16="http://schemas.microsoft.com/office/drawing/2014/main" id="{CFCCB79D-47DF-4DFC-8545-29C62C31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127" y="3081281"/>
            <a:ext cx="717417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796"/>
          </a:bodyPr>
          <a:lstStyle xmlns:a="http://schemas.openxmlformats.org/drawingml/2006/main"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j ≠ i</a:t>
            </a:r>
          </a:p>
        </p:txBody>
      </p:sp>
      <p:sp>
        <p:nvSpPr>
          <p:cNvPr id="301" name="τₐ: frozen temperature">
            <a:extLst xmlns:a="http://schemas.openxmlformats.org/drawingml/2006/main">
              <a:ext uri="{FF2B5EF4-FFF2-40B4-BE49-F238E27FC236}">
                <a16:creationId xmlns:a16="http://schemas.microsoft.com/office/drawing/2014/main" id="{64F7F282-4752-4D67-A337-6D86341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96" y="3215474"/>
            <a:ext cx="1037416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7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τₐ: frozen temperature</a:t>
            </a:r>
          </a:p>
        </p:txBody>
      </p:sp>
      <p:sp>
        <p:nvSpPr>
          <p:cNvPr id="302" name="(teacher and student share τₐ)">
            <a:extLst xmlns:a="http://schemas.openxmlformats.org/drawingml/2006/main">
              <a:ext uri="{FF2B5EF4-FFF2-40B4-BE49-F238E27FC236}">
                <a16:creationId xmlns:a16="http://schemas.microsoft.com/office/drawing/2014/main" id="{F9389B13-728D-4549-8FF1-439D709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5" y="3349667"/>
            <a:ext cx="1047739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505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(teacher and student share τₐ)</a:t>
            </a:r>
          </a:p>
        </p:txBody>
      </p:sp>
      <p:sp>
        <p:nvSpPr>
          <p:cNvPr id="3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FABDAC4-8E71-48BE-947D-0993A5F0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004" y="3623214"/>
            <a:ext cx="2611605" cy="304515"/>
          </a:xfrm>
          <a:prstGeom xmlns:a="http://schemas.openxmlformats.org/drawingml/2006/main" prst="roundRect">
            <a:avLst>
              <a:gd name="adj" fmla="val 10169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889A0"/>
            </a:solidFill>
            <a:prstDash val="solid"/>
          </a:ln>
        </p:spPr>
      </p:sp>
      <p:sp>
        <p:nvSpPr>
          <p:cNvPr id="304" name="L_temp,a = meanᵢ KL(p_teacher(j | i) || p_student(j | i))">
            <a:extLst xmlns:a="http://schemas.openxmlformats.org/drawingml/2006/main">
              <a:ext uri="{FF2B5EF4-FFF2-40B4-BE49-F238E27FC236}">
                <a16:creationId xmlns:a16="http://schemas.microsoft.com/office/drawing/2014/main" id="{02712155-807A-40F2-A841-430AD6B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778" y="3721278"/>
            <a:ext cx="2503218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588"/>
          </a:bodyPr>
          <a:lstStyle xmlns:a="http://schemas.openxmlformats.org/drawingml/2006/main">
            <a:def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L_temp,a = meanᵢ KL(p_teacher(j | i) || p_student(j | i))</a:t>
            </a:r>
          </a:p>
        </p:txBody>
      </p:sp>
      <p:sp>
        <p:nvSpPr>
          <p:cNvPr id="305" name="All other windows are neighbors (diagonal masked).">
            <a:extLst xmlns:a="http://schemas.openxmlformats.org/drawingml/2006/main">
              <a:ext uri="{FF2B5EF4-FFF2-40B4-BE49-F238E27FC236}">
                <a16:creationId xmlns:a16="http://schemas.microsoft.com/office/drawing/2014/main" id="{573DD2FB-E1F4-4EB0-A8AC-7A3D526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72" y="3999987"/>
            <a:ext cx="25341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All other windows are neighbors (diagonal masked).</a:t>
            </a:r>
          </a:p>
        </p:txBody>
      </p:sp>
      <p:sp>
        <p:nvSpPr>
          <p:cNvPr id="3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1EDDA76-DBA8-4E75-BA2E-30CECB1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650321"/>
            <a:ext cx="1775478" cy="1300641"/>
          </a:xfrm>
          <a:prstGeom xmlns:a="http://schemas.openxmlformats.org/drawingml/2006/main" prst="roundRect">
            <a:avLst>
              <a:gd name="adj" fmla="val 2778"/>
            </a:avLst>
          </a:prstGeom>
          <a:gradFill xmlns:a="http://schemas.openxmlformats.org/drawingml/2006/main"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xmlns:a="http://schemas.openxmlformats.org/drawingml/2006/main" w="5161">
            <a:solidFill>
              <a:srgbClr val="F3D18C"/>
            </a:solidFill>
            <a:prstDash val="solid"/>
          </a:ln>
        </p:spPr>
      </p:sp>
      <p:sp>
        <p:nvSpPr>
          <p:cNvPr id="3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FC3B1F-8512-444E-9767-27FC2E35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650321"/>
            <a:ext cx="1775478" cy="175483"/>
          </a:xfrm>
          <a:prstGeom xmlns:a="http://schemas.openxmlformats.org/drawingml/2006/main" prst="roundRect">
            <a:avLst>
              <a:gd name="adj" fmla="val 14706"/>
            </a:avLst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sp>
        <p:nvSpPr>
          <p:cNvPr id="308" name="Camera 1 (view 1)">
            <a:extLst xmlns:a="http://schemas.openxmlformats.org/drawingml/2006/main">
              <a:ext uri="{FF2B5EF4-FFF2-40B4-BE49-F238E27FC236}">
                <a16:creationId xmlns:a16="http://schemas.microsoft.com/office/drawing/2014/main" id="{236E29C5-3F94-4DA3-BE7A-8CF490B1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676127"/>
            <a:ext cx="1723865" cy="1238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Camera 1 (view 1)</a:t>
            </a:r>
          </a:p>
        </p:txBody>
      </p:sp>
      <p:sp>
        <p:nvSpPr>
          <p:cNvPr id="309" name="Time 1 (future)">
            <a:extLst xmlns:a="http://schemas.openxmlformats.org/drawingml/2006/main">
              <a:ext uri="{FF2B5EF4-FFF2-40B4-BE49-F238E27FC236}">
                <a16:creationId xmlns:a16="http://schemas.microsoft.com/office/drawing/2014/main" id="{E0F3AEB0-D33E-4EC5-87EC-AEDD24C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317" y="877417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1 (future)</a:t>
            </a:r>
          </a:p>
        </p:txBody>
      </p:sp>
      <p:sp>
        <p:nvSpPr>
          <p:cNvPr id="310" name="Time 2 (future)">
            <a:extLst xmlns:a="http://schemas.openxmlformats.org/drawingml/2006/main">
              <a:ext uri="{FF2B5EF4-FFF2-40B4-BE49-F238E27FC236}">
                <a16:creationId xmlns:a16="http://schemas.microsoft.com/office/drawing/2014/main" id="{3E9EE0E5-A2FA-409E-A1C0-388AAF3F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895" y="877417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2 (future)</a:t>
            </a:r>
          </a:p>
        </p:txBody>
      </p:sp>
      <p:sp>
        <p:nvSpPr>
          <p:cNvPr id="3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1990D77-6EF6-401E-BCD5-535AF43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E88FB6-91F1-4121-A435-11332C2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AFBAFA3-DE86-4C84-A651-3A6274E5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CAC1DBC-B922-4EEA-A33F-CAB7DB8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664D71A-9C02-410E-BE0C-77EE2A6A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8EBDB4-DC80-42C1-96CE-DBAA89DE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5EAFCB-B165-4751-BB18-0B82AE44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17033E3-17CB-4C37-B94F-BAE46124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DFE7C46-9F60-449E-873D-51EE1A4A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DF9B34-4CFB-4256-BC24-A0B37033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88A7EA-0FCF-431F-955F-A359530D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DC7DCA5-CDA2-488A-AD0B-0ABD1676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4A8EFE-9889-4E8B-BD73-7451FA09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294859-5D7B-4C96-9CF8-BF88B2B4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B211803-A860-478B-AADA-6A747591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0A4BD4-541E-4C91-BA8B-EA22E91F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FE069F-5392-4A21-A359-16391D3C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52262A9-D38E-4E2E-B5F2-79122BC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872AAA-2C6A-412B-8DA4-94E9F4A7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6567C5-8264-491C-8FCC-7185BD87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87327CB-25A6-4C85-9867-FE95E59E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E337364-6B89-443C-B9B0-25F63BD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3AFF49-D604-40A4-98D2-5DBF98C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83C8E61-4C82-40EB-A64C-6983B6AC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C794DA2-87B5-4416-BE51-5133F9FA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156"/>
          </a:solidFill>
          <a:ln xmlns:a="http://schemas.openxmlformats.org/drawingml/2006/main" w="7226">
            <a:solidFill>
              <a:srgbClr val="D74425"/>
            </a:solidFill>
            <a:prstDash val="solid"/>
          </a:ln>
        </p:spPr>
      </p:sp>
      <p:sp>
        <p:nvSpPr>
          <p:cNvPr id="3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652DE42-0F16-4372-8B0E-9643AA2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AEAFA0E-9ED6-42DA-9A7C-5B33D1B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701960B-A30C-4A93-AE3B-1496B9E7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FE001E0-A5CF-4CAE-825D-C09273FF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80C84B2-7FAB-4657-8B1D-9EFE417A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FB1992F-601B-4377-BB5B-7C1CC536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64A3024-CCE5-4E75-8AB1-FB0C16A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6962080-0B6E-4B5B-B1A3-F3B06F35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6E2628-6D64-43D0-9F8D-583717AC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0713BC-1FE2-40E7-A8B4-DBF80ED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1922D6B-0C08-4057-9E5C-D672F9D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D230590-8C77-4696-AA88-800D994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EA981FD-63CA-49EA-BA12-35A37E0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F8A25A3-C3C4-4C3C-9566-0D5FCA34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568134-1F62-45CB-9CAF-488EF4B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99F9BB3-C257-48A3-A553-8BF9A17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21CD719-F769-49E3-B720-C5E1AFFA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4AFD7E8-47A0-4410-81E8-D12D169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6E5CAF2-CB64-4C3D-B4AC-E737AC3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1E0D31-7AD9-48C1-A404-E319C52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10DC944-9678-4EAB-9496-6601FD19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DA277E-2CF0-49AC-A171-BA402DED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5519679-6162-49C3-A44C-B15A84A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09DE228-DA02-40B1-B6DD-7043829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090A06A-063F-41C7-A7C4-909FA230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16D1E79-7358-4E0D-9CE4-B3B0958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D739FF9-10D3-44B2-ADB1-AAD87283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E3DB8A-0EDB-42D4-8CC0-9654C36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193203F-5F5F-4233-A01F-32113D30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C7A61C7-4E5C-478D-AF0F-5BD986C6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8351CB0-B63F-406F-B1D6-53778C8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07C060E-4F00-4476-9163-A1C2000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943DA91-CE95-4C48-9FDA-DE64767A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6D816DB-4297-4388-9EE7-9302956D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B59CBD6-883B-49CD-9DAC-BECD39E4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134559-A125-41A4-9D53-CEDAD905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1FC1BB-9B5A-4E8B-85C5-0E0E9BD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7B32FEF-8A22-43FC-A3F2-4AFE499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992DF9C-C3A5-4CD7-97D8-58103B15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364B57D-7C55-4643-B841-41F1D268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9095E89-8D62-445A-8E3B-602AFE74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A9F96A7-85B1-4238-99CC-FB193688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1942F66-3B36-45A4-90DC-2F950BEA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B69BC82-DC98-4145-AD42-DB90032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6F34E0-4279-4907-95C8-26686024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0FA8853-76ED-4D79-AECC-319167E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0AF424-0EE9-4DDF-A26D-204B2779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C140A1D-A1EB-4910-BA3C-3E7B8FD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7750DD-E7F8-43DF-8745-6326F2A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156"/>
          </a:solidFill>
          <a:ln xmlns:a="http://schemas.openxmlformats.org/drawingml/2006/main" w="7226">
            <a:solidFill>
              <a:srgbClr val="D74425"/>
            </a:solidFill>
            <a:prstDash val="solid"/>
          </a:ln>
        </p:spPr>
      </p:sp>
      <p:sp>
        <p:nvSpPr>
          <p:cNvPr id="3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91F3E7-C7F8-4DAD-8B0E-A14382C5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781F15B-9E19-478C-B088-F5300A4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BBDF78B-AD27-45A5-931E-D94185D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4E286A-ED8F-46E6-986F-41A0C05E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DB3ABBC-B7D3-4C34-A837-CAD1BD31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7506C9-9D23-4844-B32D-1E664768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7C28136-8247-475C-91E0-9742665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2C6075F-D7C1-4C55-8D03-C3B3E7D4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DE38760-FEF2-4AA4-87A1-348EC18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EE5CA75-0EF4-4A30-840A-EBBDF85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090FC4-2DA1-4821-A1BF-7D5FB9F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33048F5-0760-448C-9BE4-8EC6400D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B88621B-AAA1-442F-AE6A-9A09CEFA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0D6016D-088D-4970-AAAA-5A0A1CEB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754A663-18F0-4B2E-A2A9-357D8D8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8239C17-5E10-409D-8D3F-F38D35B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1E25B45-7FE8-42D9-8254-E1473B9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E7D829A-0B33-41AA-B15D-EF020E39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C11674A-ADC9-45EB-8C44-E52BCDA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390ADBB-3100-4550-8293-0DF582A0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0134FF8-77B9-47E6-B2DD-6BE2931D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FEF3C4A-093E-4FA2-A02F-C23F4E92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EF6B8E-164C-449D-AA06-501AB25F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F175AF-7CC1-4911-BB3B-0DBBA21D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cxnSp>
        <p:nvCxnSpPr>
          <p:cNvPr id="40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560F97F-1D93-40F2-BB81-C602306A077E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6337156" y="1130319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B669C95-7858-4918-BCA4-1089D25B358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64252" y="1130319"/>
            <a:ext cx="0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42EF05B-6C0B-47FA-8B5A-6B0C64568FF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64252" y="1130319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3482DB7-3DFC-4D42-A8AF-4E8C3A39ADD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337156" y="1357415"/>
            <a:ext cx="227096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5006306-410C-4239-B800-ED83B0AAF6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64252" y="1357415"/>
            <a:ext cx="227096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02B9B33-07F0-4860-A63E-695F1CA6AFD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337156" y="1357415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A19E394-8898-4BCC-9D4C-D193FC4043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64252" y="1357415"/>
            <a:ext cx="0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04706D6-A675-44E8-B90C-5AFF698764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64252" y="1357415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7D84F60-AE54-43DD-8ECA-A7403C5F3D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31348" y="1357415"/>
            <a:ext cx="753546" cy="0"/>
          </a:xfrm>
          <a:prstGeom xmlns:a="http://schemas.openxmlformats.org/drawingml/2006/main" prst="straightConnector1">
            <a:avLst/>
          </a:prstGeom>
          <a:ln xmlns:a="http://schemas.openxmlformats.org/drawingml/2006/main" w="8258">
            <a:solidFill>
              <a:srgbClr val="153B6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02742B-C8A1-4526-A4BE-5271553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2012897"/>
            <a:ext cx="1775478" cy="1300641"/>
          </a:xfrm>
          <a:prstGeom xmlns:a="http://schemas.openxmlformats.org/drawingml/2006/main" prst="roundRect">
            <a:avLst>
              <a:gd name="adj" fmla="val 2778"/>
            </a:avLst>
          </a:prstGeom>
          <a:gradFill xmlns:a="http://schemas.openxmlformats.org/drawingml/2006/main"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xmlns:a="http://schemas.openxmlformats.org/drawingml/2006/main" w="5161">
            <a:solidFill>
              <a:srgbClr val="F3D18C"/>
            </a:solidFill>
            <a:prstDash val="solid"/>
          </a:ln>
        </p:spPr>
      </p:sp>
      <p:sp>
        <p:nvSpPr>
          <p:cNvPr id="4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D2391C-6966-4493-82DC-20325FFA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2012897"/>
            <a:ext cx="1775478" cy="175483"/>
          </a:xfrm>
          <a:prstGeom xmlns:a="http://schemas.openxmlformats.org/drawingml/2006/main" prst="roundRect">
            <a:avLst>
              <a:gd name="adj" fmla="val 14706"/>
            </a:avLst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sp>
        <p:nvSpPr>
          <p:cNvPr id="420" name="Camera 2 (view 2)">
            <a:extLst xmlns:a="http://schemas.openxmlformats.org/drawingml/2006/main">
              <a:ext uri="{FF2B5EF4-FFF2-40B4-BE49-F238E27FC236}">
                <a16:creationId xmlns:a16="http://schemas.microsoft.com/office/drawing/2014/main" id="{56656CAE-B82A-4018-9670-8D7AF62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2038703"/>
            <a:ext cx="1723865" cy="1238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Camera 2 (view 2)</a:t>
            </a:r>
          </a:p>
        </p:txBody>
      </p:sp>
      <p:sp>
        <p:nvSpPr>
          <p:cNvPr id="421" name="Time 1 (future)">
            <a:extLst xmlns:a="http://schemas.openxmlformats.org/drawingml/2006/main">
              <a:ext uri="{FF2B5EF4-FFF2-40B4-BE49-F238E27FC236}">
                <a16:creationId xmlns:a16="http://schemas.microsoft.com/office/drawing/2014/main" id="{F8598F75-B6ED-4174-838D-570F45FD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317" y="2239993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1 (future)</a:t>
            </a:r>
          </a:p>
        </p:txBody>
      </p:sp>
      <p:sp>
        <p:nvSpPr>
          <p:cNvPr id="422" name="Time 2 (future)">
            <a:extLst xmlns:a="http://schemas.openxmlformats.org/drawingml/2006/main">
              <a:ext uri="{FF2B5EF4-FFF2-40B4-BE49-F238E27FC236}">
                <a16:creationId xmlns:a16="http://schemas.microsoft.com/office/drawing/2014/main" id="{B04060F1-9DC8-4B09-8D31-97142D01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895" y="2239993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2 (future)</a:t>
            </a:r>
          </a:p>
        </p:txBody>
      </p:sp>
      <p:sp>
        <p:nvSpPr>
          <p:cNvPr id="4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DC0134-C6AA-4D2A-AC8A-1B0CA8B1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EA604D7-D5DC-4421-B006-B7994075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B482885-19CD-4C17-9E75-1A16BC6F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A3BB672-00A7-4571-BA71-A6A67FAA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855EE53-9D1D-47B3-A0AB-FCE4430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88FB602-8856-445D-95DC-3C7DE076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0EE3BEF-05FA-4640-BADC-34E1E107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60FD7DB-B995-4582-8950-CA30A968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A8E620F-C8B1-4C30-B73A-1F06331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532F6FF-B5A4-4E80-8BC7-6F35E82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678D1C9-31E5-4442-B5ED-4E661AEE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0814BF9-BBE2-4741-800D-71DE3ED5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761CC64-0925-4A02-AACC-64AC278D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354DF5B-B835-4E02-B9A0-6C7E381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EE1FBE4-4335-4746-A3B8-2F37FF2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8BC6C6B-B80E-4BA9-A48E-35D38FF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681A49E-533E-4BEA-B1E1-1889584F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CDDCA30-5BE2-43D8-AB92-255BE34E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FE7A08-F3D6-4C62-8664-C337DB9F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F653672-D1C9-458A-A174-E5B76FBF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286512B-0490-4317-AAE0-8A7B8C0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76D9DA-D776-4BDE-9CB1-BAC4ECC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1155BE-9231-498C-92B0-B0FADA91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F31AEC-99B3-4B2E-BB98-D412469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787252-64D6-48BE-B1DF-66EEF37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9E61F90-8AFC-4854-9A95-67587A4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F3C85B-5F99-4A9D-BC01-B086819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E8B85E4-F433-45B6-AC13-64A61DE2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886425F-E8AD-4D21-B9FD-E9511B54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B7B6AE5-0B45-4585-A4F2-A11BC93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CB034C0-FD79-479E-BAB2-DD8DCD5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67CB69D-758E-437E-AC94-4C52268B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D1AB1D4-9054-4F4B-99C2-C9BC12E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EC85362-1416-4F53-9760-0CF5D35C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1C0F2CD-B469-464B-BB8D-E17242B1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86A970C-F3C7-40B3-85C9-2A75338A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4A8AA24-E33F-4D05-AFD8-04D68532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461D0D8-69B8-4E5A-BE0E-79436D0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4437D06-4917-4B04-A604-72565CF4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63C7F5-83D1-459B-9D1A-4A0666C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4C28E7-820F-40DE-9E61-ABB9022A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1F8A13-918E-414C-AC08-5E56E481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C8729A-EBC5-417F-A25E-CEEC98C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59BCDA0-3649-434B-B979-EBD1632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36E6836-02F2-4CBE-BDA8-68AD5651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702598E-8E71-4B75-AF30-43D3EDE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92F4141-1950-4ACB-A4D6-DE7A0C98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DFEDE0-1E4C-4228-9F2E-10EEC8E2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FB4FFFB-BB9C-4EC0-9861-EAA9BA82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10041D-FD02-4FA8-AC0B-2F03DFF7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27314B1-60F2-4FF5-9FF2-7C306A17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EF1AFF6-A14D-4F3A-BE3B-C38DF65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7C265F-0058-4DA0-9B44-BE4B339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A20489F-3CAC-40BF-8605-AB8B9A7D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ED2E30-213A-4E6B-B6EF-9C2A60C6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C8B3962-A0AE-42D3-8D25-2F0A5438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F4573F8-5430-4AA7-8794-22B17B0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E592397-D624-48C3-AFB2-A19C3099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CCC4150-3B94-48F1-AE01-E370BDE5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1688B52-420A-4D91-8F18-66B6E51E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73A5E20-6A62-4237-9D3E-0C67CF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8DF8FE8-661A-4A68-A990-953177AD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BA05A92-0BF3-49D4-8D11-A1DADA51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2FB7FF9-47D7-44DE-A507-ED862FC6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638DEA8-E096-43F5-93E5-518B81E1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D7B251F-F243-4124-B8DB-017A4B59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73D98D-BCB4-4B2D-A561-AA5937F5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FB2BD51-1E1D-4F71-86DE-81A08DE4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6B1D942-2261-47C7-B844-24A3515C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B034F28-99DD-4859-B887-E77C895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80A8E35-089D-4D49-A35D-99EDECEF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549402-8D0A-4368-9ACA-84CB7E65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3CFCD4D-46CD-4836-8838-6049C99A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8607463-F7D8-40DC-A468-18340CE5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021C7B-594C-4ADC-B222-59CC1BBF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7D68D7A-8AA1-4633-8825-7B86D51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EBC8979-D931-466B-A5A2-23A51AA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72F20FC-E32A-40FC-B9F3-3539EB9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F5F7DE-7124-4508-9558-2CA16988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DF9EF17-25C4-4BB2-908A-3BC22A0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8C246E9-1EDD-40C1-959C-CCA2854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41508D5-54E2-40DB-A912-957951A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FCDDA5F-4106-4151-819B-C4261B7B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CCC44EE-319A-4728-B11E-BCDEBA62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0B5B799-4522-415A-B953-C50A651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4D70E8A-9F70-46FB-9B59-853FB3DA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91047D-4A9B-40C4-B183-8C3A6E88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B337F28-953E-4DB7-B9D8-C1CB3B1E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B1A297A-5B4E-40D1-832B-D3D7D3F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07C36DE-199F-45CA-BFAF-BDD6C16D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59CC35-42D3-44F2-9419-C5B22A7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2E41801-77A5-4C73-9DAA-85924395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A434E7-69A1-4711-BE04-460CC0A3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1DC40D7-0F1B-4B6D-8583-49F2DAE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972EBA-F213-4505-B1F8-DD60172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60E03B-6C49-41D9-8859-F9B7346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478019-1446-46FD-BA44-772A8AD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E57B518-7245-4248-A186-E2922F7C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134CD99-5A4F-4974-92C4-95D907B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860" y="686449"/>
            <a:ext cx="908384" cy="1310964"/>
          </a:xfrm>
          <a:prstGeom xmlns:a="http://schemas.openxmlformats.org/drawingml/2006/main" prst="roundRect">
            <a:avLst>
              <a:gd name="adj" fmla="val 28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129">
            <a:solidFill>
              <a:srgbClr val="CBDFEE"/>
            </a:solidFill>
            <a:prstDash val="solid"/>
          </a:ln>
        </p:spPr>
      </p:sp>
      <p:sp>
        <p:nvSpPr>
          <p:cNvPr id="5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996823-CDF0-4606-BEED-7C59232A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57" y="758707"/>
            <a:ext cx="129032" cy="129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4645">
            <a:solidFill>
              <a:srgbClr val="E8A321"/>
            </a:solidFill>
            <a:prstDash val="solid"/>
          </a:ln>
        </p:spPr>
      </p:sp>
      <p:sp>
        <p:nvSpPr>
          <p:cNvPr id="523" name="Latent token&#10;(48-D)">
            <a:extLst xmlns:a="http://schemas.openxmlformats.org/drawingml/2006/main">
              <a:ext uri="{FF2B5EF4-FFF2-40B4-BE49-F238E27FC236}">
                <a16:creationId xmlns:a16="http://schemas.microsoft.com/office/drawing/2014/main" id="{CFC050E8-1FDF-4904-B4CD-55DF92F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40" y="748385"/>
            <a:ext cx="609030" cy="227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511"/>
          </a:bodyPr>
          <a:lstStyle xmlns:a="http://schemas.openxmlformats.org/drawingml/2006/main">
            <a:def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Latent token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(48-D)</a:t>
            </a:r>
          </a:p>
        </p:txBody>
      </p:sp>
      <p:sp>
        <p:nvSpPr>
          <p:cNvPr id="5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72D385-3D90-419E-9D86-36F2A3A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57" y="980642"/>
            <a:ext cx="129032" cy="1187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156"/>
          </a:solidFill>
          <a:ln xmlns:a="http://schemas.openxmlformats.org/drawingml/2006/main" w="4645">
            <a:solidFill>
              <a:srgbClr val="F35A36"/>
            </a:solidFill>
            <a:prstDash val="solid"/>
          </a:ln>
        </p:spPr>
      </p:sp>
      <p:sp>
        <p:nvSpPr>
          <p:cNvPr id="525" name="Selected location">
            <a:extLst xmlns:a="http://schemas.openxmlformats.org/drawingml/2006/main">
              <a:ext uri="{FF2B5EF4-FFF2-40B4-BE49-F238E27FC236}">
                <a16:creationId xmlns:a16="http://schemas.microsoft.com/office/drawing/2014/main" id="{D00F081B-E987-4ACD-BB4B-78EBB671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40" y="985803"/>
            <a:ext cx="614192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913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Selected location</a:t>
            </a:r>
          </a:p>
        </p:txBody>
      </p:sp>
      <p:cxnSp>
        <p:nvCxnSpPr>
          <p:cNvPr id="5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CA3CB2A-85A9-4509-B00A-54C4A9FB71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47473" y="1238706"/>
            <a:ext cx="175483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27" name="Temporal edge&#10;(same position,&#10;same camera only)">
            <a:extLst xmlns:a="http://schemas.openxmlformats.org/drawingml/2006/main">
              <a:ext uri="{FF2B5EF4-FFF2-40B4-BE49-F238E27FC236}">
                <a16:creationId xmlns:a16="http://schemas.microsoft.com/office/drawing/2014/main" id="{79BFB717-DA2E-4353-BF29-44F5BF1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924" y="1176770"/>
            <a:ext cx="609030" cy="33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5743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Temporal edge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(same position,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same camera only)</a:t>
            </a:r>
          </a:p>
        </p:txBody>
      </p:sp>
      <p:cxnSp>
        <p:nvCxnSpPr>
          <p:cNvPr id="52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09F0C0F-7F87-496B-B27F-6293358A36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35215" y="1486447"/>
            <a:ext cx="0" cy="211612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2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876A12B-B0E4-4B76-AB36-EC9EB48E2E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37151" y="1594834"/>
            <a:ext cx="190967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30" name="8 spatial neighbors&#10;(same time)">
            <a:extLst xmlns:a="http://schemas.openxmlformats.org/drawingml/2006/main">
              <a:ext uri="{FF2B5EF4-FFF2-40B4-BE49-F238E27FC236}">
                <a16:creationId xmlns:a16="http://schemas.microsoft.com/office/drawing/2014/main" id="{A6C12CEC-B697-44BF-856D-86C86B32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924" y="1548382"/>
            <a:ext cx="614192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6081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spatial neighbors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(same time)</a:t>
            </a:r>
          </a:p>
        </p:txBody>
      </p:sp>
      <p:cxnSp>
        <p:nvCxnSpPr>
          <p:cNvPr id="53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0CB2F1F-D467-4DD5-9D2D-671BFAF418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68118" y="1811607"/>
            <a:ext cx="98064" cy="98064"/>
          </a:xfrm>
          <a:prstGeom xmlns:a="http://schemas.openxmlformats.org/drawingml/2006/main" prst="straightConnector1">
            <a:avLst/>
          </a:prstGeom>
          <a:ln xmlns:a="http://schemas.openxmlformats.org/drawingml/2006/main" w="12387">
            <a:solidFill>
              <a:srgbClr val="F31627"/>
            </a:solidFill>
            <a:prstDash val="solid"/>
          </a:ln>
        </p:spPr>
      </p:cxnSp>
      <p:cxnSp>
        <p:nvCxnSpPr>
          <p:cNvPr id="53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442F16E-6DCA-4040-AC61-898AD0E5CD5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68118" y="1811607"/>
            <a:ext cx="98064" cy="98064"/>
          </a:xfrm>
          <a:prstGeom xmlns:a="http://schemas.openxmlformats.org/drawingml/2006/main" prst="straightConnector1">
            <a:avLst/>
          </a:prstGeom>
          <a:ln xmlns:a="http://schemas.openxmlformats.org/drawingml/2006/main" w="12387">
            <a:solidFill>
              <a:srgbClr val="F31627"/>
            </a:solidFill>
            <a:prstDash val="solid"/>
          </a:ln>
        </p:spPr>
      </p:cxnSp>
      <p:sp>
        <p:nvSpPr>
          <p:cNvPr id="533" name="No cross-camera&#10;edges">
            <a:extLst xmlns:a="http://schemas.openxmlformats.org/drawingml/2006/main">
              <a:ext uri="{FF2B5EF4-FFF2-40B4-BE49-F238E27FC236}">
                <a16:creationId xmlns:a16="http://schemas.microsoft.com/office/drawing/2014/main" id="{CE2DE10E-FF15-4097-B2C4-7E86F66E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924" y="1806446"/>
            <a:ext cx="609030" cy="211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No cross-camera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edges</a:t>
            </a:r>
          </a:p>
        </p:txBody>
      </p:sp>
      <p:sp>
        <p:nvSpPr>
          <p:cNvPr id="5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453B2D4-36A9-4C73-937F-FDFEC39D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022" y="2250315"/>
            <a:ext cx="903223" cy="552256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161">
            <a:solidFill>
              <a:srgbClr val="C3DFF6"/>
            </a:solidFill>
            <a:prstDash val="solid"/>
          </a:ln>
        </p:spPr>
      </p:sp>
      <p:sp>
        <p:nvSpPr>
          <p:cNvPr id="535" name="Each view’s original latent&#10;map is 14 × 14, pooled&#10;with 2 × 2 average pooli">
            <a:extLst xmlns:a="http://schemas.openxmlformats.org/drawingml/2006/main">
              <a:ext uri="{FF2B5EF4-FFF2-40B4-BE49-F238E27FC236}">
                <a16:creationId xmlns:a16="http://schemas.microsoft.com/office/drawing/2014/main" id="{FEDB4F73-7EFB-4B3A-B00E-631D6A84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828" y="2276122"/>
            <a:ext cx="851610" cy="500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6081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Each view’s original latent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map is 14 × 14, pooled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with 2 × 2 average pooling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to 7 × 7 (separately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for each view).</a:t>
            </a:r>
          </a:p>
        </p:txBody>
      </p:sp>
      <p:sp>
        <p:nvSpPr>
          <p:cNvPr id="5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DC2ED7-A267-4A11-9BB7-9D0D79E6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3163861"/>
            <a:ext cx="2719991" cy="190967"/>
          </a:xfrm>
          <a:prstGeom xmlns:a="http://schemas.openxmlformats.org/drawingml/2006/main" prst="roundRect">
            <a:avLst>
              <a:gd name="adj" fmla="val 13514"/>
            </a:avLst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5161">
            <a:solidFill>
              <a:srgbClr val="EDCD8E"/>
            </a:solidFill>
            <a:prstDash val="solid"/>
          </a:ln>
        </p:spPr>
      </p:sp>
      <p:sp>
        <p:nvSpPr>
          <p:cNvPr id="537" name="2 future times × 2 views × 7 × 7 = 196 tokens, 48-D">
            <a:extLst xmlns:a="http://schemas.openxmlformats.org/drawingml/2006/main">
              <a:ext uri="{FF2B5EF4-FFF2-40B4-BE49-F238E27FC236}">
                <a16:creationId xmlns:a16="http://schemas.microsoft.com/office/drawing/2014/main" id="{06634D7A-F56C-4A1A-9DD4-1AEAE42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3189667"/>
            <a:ext cx="2668379" cy="13935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2 future times × 2 views × 7 × 7 = 196 tokens, 48-D</a:t>
            </a:r>
          </a:p>
        </p:txBody>
      </p:sp>
      <p:sp>
        <p:nvSpPr>
          <p:cNvPr id="5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3918E43-7548-48ED-BB8D-F28A5FB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092" y="3427086"/>
            <a:ext cx="2719991" cy="283870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88CA0"/>
            </a:solidFill>
            <a:prstDash val="solid"/>
          </a:ln>
        </p:spPr>
      </p:sp>
      <p:sp>
        <p:nvSpPr>
          <p:cNvPr id="539" name="L_st,z = meanᵢ KL(p_teacher(j | i) || p_student(j | i))">
            <a:extLst xmlns:a="http://schemas.openxmlformats.org/drawingml/2006/main">
              <a:ext uri="{FF2B5EF4-FFF2-40B4-BE49-F238E27FC236}">
                <a16:creationId xmlns:a16="http://schemas.microsoft.com/office/drawing/2014/main" id="{E8DA1C75-B104-4EEC-AD3F-58978DF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866" y="3504505"/>
            <a:ext cx="2606443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264"/>
          </a:bodyPr>
          <a:lstStyle xmlns:a="http://schemas.openxmlformats.org/drawingml/2006/main">
            <a:def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L_st,z = meanᵢ KL(p_teacher(j | i) || p_student(j | i))</a:t>
            </a:r>
          </a:p>
        </p:txBody>
      </p:sp>
      <p:sp>
        <p:nvSpPr>
          <p:cNvPr id="540" name="8 local spatial neighbors + same-position temporal edge (same camera only).">
            <a:extLst xmlns:a="http://schemas.openxmlformats.org/drawingml/2006/main">
              <a:ext uri="{FF2B5EF4-FFF2-40B4-BE49-F238E27FC236}">
                <a16:creationId xmlns:a16="http://schemas.microsoft.com/office/drawing/2014/main" id="{388322BB-52E1-4D2D-8865-C70DA66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447" y="3803859"/>
            <a:ext cx="2745798" cy="237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493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local spatial neighbors + same-position temporal edge (same camera only).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No cross-camera edges.</a:t>
            </a:r>
          </a:p>
        </p:txBody>
      </p:sp>
      <p:sp>
        <p:nvSpPr>
          <p:cNvPr id="5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172DED5-5845-47A7-A6FB-A9D311E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35" y="4190954"/>
            <a:ext cx="7814169" cy="289031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66E8F"/>
            </a:solidFill>
            <a:prstDash val="solid"/>
          </a:ln>
        </p:spPr>
      </p:sp>
      <p:sp>
        <p:nvSpPr>
          <p:cNvPr id="542" name="L = αₐ (L_bin,a + βₐ L_temp,a) + λ α_z (L_bin,z + β_z L_st,z)">
            <a:extLst xmlns:a="http://schemas.openxmlformats.org/drawingml/2006/main">
              <a:ext uri="{FF2B5EF4-FFF2-40B4-BE49-F238E27FC236}">
                <a16:creationId xmlns:a16="http://schemas.microsoft.com/office/drawing/2014/main" id="{78DEED7F-6B4F-4D0A-9AB2-7B751878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39" y="4252890"/>
            <a:ext cx="6152239" cy="21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225"/>
          </a:bodyPr>
          <a:lstStyle xmlns:a="http://schemas.openxmlformats.org/drawingml/2006/main">
            <a:def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αₐ (L_bin,a + βₐ L_temp,a) + λ α_z (L_bin,z + β_z L_st,z)</a:t>
            </a:r>
          </a:p>
        </p:txBody>
      </p:sp>
      <p:sp>
        <p:nvSpPr>
          <p:cNvPr id="5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DB81356-FF4A-4BD6-8E01-9DC5A947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88" y="4541921"/>
            <a:ext cx="4227083" cy="247741"/>
          </a:xfrm>
          <a:prstGeom xmlns:a="http://schemas.openxmlformats.org/drawingml/2006/main" prst="roundRect">
            <a:avLst>
              <a:gd name="adj" fmla="val 1041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5DFF6"/>
            </a:solidFill>
            <a:prstDash val="solid"/>
          </a:ln>
        </p:spPr>
      </p:sp>
      <p:sp>
        <p:nvSpPr>
          <p:cNvPr id="544" name="Frozen teacher statistics and temperatures; teacher detached; train student">
            <a:extLst xmlns:a="http://schemas.openxmlformats.org/drawingml/2006/main">
              <a:ext uri="{FF2B5EF4-FFF2-40B4-BE49-F238E27FC236}">
                <a16:creationId xmlns:a16="http://schemas.microsoft.com/office/drawing/2014/main" id="{93696F98-29A7-4793-BD84-E4146343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7" y="4578050"/>
            <a:ext cx="4154826" cy="17548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0975"/>
          </a:bodyPr>
          <a:lstStyle xmlns:a="http://schemas.openxmlformats.org/drawingml/2006/main">
            <a:def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Frozen teacher statistics and temperatures; teacher detached; train student D and clipping ratios.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Relation KL constrains structure, soft-bin anchors absolute values.</a:t>
            </a:r>
          </a:p>
        </p:txBody>
      </p:sp>
      <p:sp>
        <p:nvSpPr>
          <p:cNvPr id="5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EBFC3C7-EB96-42E7-B448-D00A848E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61" y="4541921"/>
            <a:ext cx="4113535" cy="247741"/>
          </a:xfrm>
          <a:prstGeom xmlns:a="http://schemas.openxmlformats.org/drawingml/2006/main" prst="roundRect">
            <a:avLst>
              <a:gd name="adj" fmla="val 1041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5DFF6"/>
            </a:solidFill>
            <a:prstDash val="solid"/>
          </a:ln>
        </p:spPr>
      </p:sp>
      <p:sp>
        <p:nvSpPr>
          <p:cNvPr id="546" name="Current evidence: fixed-input fidelity; rollout prediction and closed-loop ">
            <a:extLst xmlns:a="http://schemas.openxmlformats.org/drawingml/2006/main">
              <a:ext uri="{FF2B5EF4-FFF2-40B4-BE49-F238E27FC236}">
                <a16:creationId xmlns:a16="http://schemas.microsoft.com/office/drawing/2014/main" id="{1E2CD5D5-011E-4BFC-BCF5-AFD73A3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451" y="4583211"/>
            <a:ext cx="4030955" cy="16516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Current evidence: fixed-input fidelity; rollout prediction and closed-loop benefit still under validation.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2026-10-20T13:39:29.0030000Z</dcterms:created>
  <dcterms:modified xsi:type="dcterms:W3CDTF">2026-10-20T13:39:29.0030000Z</dcterms:modified>
</coreProperties>
</file>