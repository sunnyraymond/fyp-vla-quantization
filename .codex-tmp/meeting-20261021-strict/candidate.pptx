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634" y="-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本次汇报顺序：已实现方法 → 所有有代表性的本地 LIBERO+ 闭环结果 → future intervention → 旧 loss 与闭环的差距 → Soft-bin + relational KL → potential contributions 与下一步。所有闭环数据来自已完成本地报告，截止 20 October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当前实现：latent+action-aware Microscaling additive VQ，随后进行 per-input-channel D 和 per-Linear clipping ratio 的 refinement。本页按照原第21页ImageGen设计逐项重建；所有diagram、文字、公式、矩阵与箭头为PowerPoint原生可编辑对象。Source: Weekly Slides/2026-10-21_assets/method-imagegen-reference.png。数值定义以本地实现为准：原future loss是NMSE并带冻结rho*c系数；图中Lz为该latent监督项的简写；底部loss加法为示意，不代表两项未经标定等权。Per-token动态A4，gripper与observed frame0不参与监督。当前执行decodedBF16+fakeA4+BF16KV，非nativeVQkernel。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每一 target Linear 共享两个 K=256,d=4 BF16 codebooks。每四个 scalar weight 使用两条 uint8 indices，core cost 为 16/4=4 bpw。每 output row 保留 BF16 RMS row gain r；沿 input dimension 每 32 个 weights 用一个 uint8 exponent，贡献 8/32=0.25 bpw。e_g=round(log2(block_RMS/r_row))，拟合中固定。有效预算含 codebooks、gains、tails 和 transforms，Fast-WAM row-scale≈4.020873，microscaling≈4.270878。Weight calibration 用 FP32 masters/STE 调整 BF16-stored books 与 row gains。</a:t>
            </a:r>
          </a:p>
          <a:p>
            <a:r>
              <a:t>Sources:</a:t>
            </a:r>
          </a:p>
          <a:p>
            <a:r>
              <a:t>D:/Downloads/Final Year Project/experiment/idea-validation/fastwam-vq-microscale/README.zh.md</a:t>
            </a:r>
          </a:p>
          <a:p>
            <a:r>
              <a:t>D:/Downloads/Final Year Project/experiment/idea-validation/fastwam-vq-microscale/RESULTS.zh.md</a:t>
            </a:r>
          </a:p>
          <a:p>
            <a:r>
              <a:t>D:/Downloads/Final Year Project/experiment/idea-validation/fastwam-vq-c8-action-latent-plus/README.zh.md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per-input-channel scaling + per-Linear activation clipping，不是每 channel 一个 clipping threshold。D=2^log2_D 为每个 physical input channel 一个正的 continuous scale；r_l 为每 Linear 一个 ratio，跨 token/denoising steps 共享。先对 input 施加已冻结 Smooth0.5/H128，然后 v=z/D；每 token s=r_l max|v|/7，signed A4 q=clamp(round(v/s),-7,7)。decoded BF16 Wq 乘相同 D 后以 BF16 缓存。忽略 rounding 时 compensating Linear 恒等；已 quantized 情况下改变 error。C80 refinement 从 C8 rho1.5 开始，80 updates，只训 D/r_l，VQ 参数冻结。使用 coupled dynamic-absmax surrogate 和 STE。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Project/experiment/idea-validation/fastwam-vq-per-channel-scaling-clipping/channel_banks.py</a:t>
            </a:r>
          </a:p>
          <a:p>
            <a:r>
              <a:t>D:/Downloads/Final Year Project/experiment/idea-validation/fastwam-vq-c80-per-channel-plus/README.zh.md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 rows 都来自本地完成的 frozen 280-variant cohort，不是 paper-reported numbers。每 suite 分母 70。QuaRot/SpinQuant 是针对 Fast-WAM 的本地 adaptation，不等同官方完整 recipe。Scalar 与 rotation baselines 实际采用 native packed S4 path，而 VQ 是 decode BF16；本表只比较 closed-loop success 与编码预算，不比较 latency。不同 arm calibration 覆盖和目标不同，不是单因素消融。Rotation bpw 的4.125是4bit code+BF16 scale/128 的估算，未把 rotations/tails 算入，因此加 dagger，避免误报为实测全 overhead payload。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 frozen 280-episode cohort 的全部后续完成配置。C8表示weight calibration contexts；C80表示 activation-refinement contexts，不是 rollout 数。ρ0.1 完整2epochs/16updates，ρ1.5为1epoch/8updates；这是各自冻结配置，不是matched training budget消融。C80 clip-only207，joint202，per-channel203；joint per-channel虽有fixed-input结果尚未发现完成闭环，不能加入completed表。该cohort未有独立seed重复，不应对1—5个success小差异宣称稳定统计优势。</a:t>
            </a:r>
          </a:p>
          <a:p>
            <a:r>
              <a:t>Sources:</a:t>
            </a:r>
          </a:p>
          <a:p>
            <a:r>
              <a:t>D:/Downloads/Final Year Project/experiment/idea-validation/fastwam-vq-c8-action-latent-plus/results/RESULTS.zh.md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Cosmos-Predict2-2B direct policy，planning disabled。三臂840episodes全部完成，每臂280。5denoising steps、16action chunk并执行16steps；与Fast-WAM10/10和执行10steps不同，不能跨model数值比较来归因量化方法。C8共享observations但teacher由Cosmos自身产生。VQ学习codebooks/rowgains，目标为16×6motor MSE+future-image slots6/7 NMSE。SpinQuant200updates，VQ16updates且objectives不同，因此不是action/latent loss贡献的单因素消融。有效bpw均含编码开销；whole DiT bpw另计未量化参数。</a:t>
            </a:r>
          </a:p>
          <a:p>
            <a:r>
              <a:t>Sources:</a:t>
            </a:r>
          </a:p>
          <a:p>
            <a:r>
              <a:t>D:/Downloads/Final Year Project/experiment/idea-validation/cosmos-policy-c8-w4a4/RESULTS.zh.md</a:t>
            </a:r>
          </a:p>
          <a:p>
            <a:r>
              <a:t>D:/Downloads/Final Year Project/experiment/idea-validation/cosmos-policy-c8-w4a4/retrieved/results/evaluation/summary.json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干预冻结 downstream BF16 reader，包括 video prepare/prefill、action DiT/proprio 等，注入不同 donor 的 final future，重新构建 K/V。完整60contexts包括8cal、4selection×2seed、22test×2seed；表格是22test cases先平均2seeds的case mean。BF16 donor自重放误差0，Parent=0.036144691，Action-only=.041243219，Action+latent=.035083670。13/22first10改善，full32/late22各14/22。是已见cohort的fixed-input intervention，0 executed episodes，不是真实future accuracy或新泛化证据。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Project/experiment/idea-validation/fastwam-vq-future-reader/retrieved/results/analysis_teacher/REPORT.zh.md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左表来自2×2cross-reader intervention，reader固定action-only或action+latent时替换future donor。这里reader不再是BF16。Action-only reader mean .058110442→.053481176，action+latent reader .058676505→.052951009。分别10/22、12/22cases改善，平均收益不等于每case收益。右表是另一个fixedBF16reader NMSE-matched control：C=T+alpha(A−T)，经有界BF16correction逐context匹配B的NMSE，alpha不使用action选值。B−C mean−.00099049但median+.000042169，11/22改善，leave-one-out可变正，full32/late22比C差。原均值收益约84%由总future误差幅度降低重现。不能宣称已确认特定semantic/spatial有害drift。</a:t>
            </a:r>
          </a:p>
          <a:p>
            <a:r>
              <a:t>Sources:</a:t>
            </a:r>
          </a:p>
          <a:p>
            <a:r>
              <a:t>D:/Downloads/Final Year Project/experiment/idea-validation/fastwam-vq-future-reader/retrieved/results/analysis_cross/REPORT.zh.md</a:t>
            </a:r>
          </a:p>
          <a:p>
            <a:r>
              <a:t>D:/Downloads/Final Year Project/experiment/idea-validation/fastwam-vq-future-nmse-matched/RESULTS.zh.md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原训练loss是first10motor MSE+rho*c*futureNMSE，c=0.028303017887797623，rho1.5，lambda=.04245452683169643。RMSE仅用来报告，优化的是MSE。c依据初始化calibrationmean冻结，rho不是gradient ratio。Fixedinput来自40heldoutcases×2seeds，四suite等权。C80clip .0438484373/.0548481241，joint .0418468372/.0489733362，perchannel .031641466/.055377875；对应闭环207/202/203。Heldout metric和closedloop是不同测量而且访问状态分布不同。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本页严格按原第22页ImageGen设计重建Soft-bin + temporal/spatial relational KL。全部文字、数学文字、矩阵、柱图、网格和箭头均为PowerPoint原生可编辑对象。Source: Weekly Slides/2026-10-21_assets/loss-imagegen-reference.png。柱图和relationmatrix颜色为原图概念示意，不是新增实验观测。实际Gaussian CDF binning、action 3-step windows、两camera分开pooling和spatiotemporal邻接保持原实现。结构KL不估计完整action-latent联合密度；闭环结果仍待验证。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关系代码用每feature mean-squared pairwise distance，不是Gram matrix。Action标准化first10×6，经length3stride1 orderedwindows得到8×18tokens，全部非selfwindows相邻。Latentshape[1,48,3,14,28]去frame0，按widthsplit两camera各14×14，各自2×2avgpool到7×7，2times×2views×49=196token×48features。邻边是samecamera,sametime的8neighbors以及sameposition跨time。Boundary spatial节点少于8邻居。无跨cameraedge，无action-latent强制时间插值。Teacher概率detach，tau依据C80teacherpositiveedgedistancemedian冻结。Softbin检测关系对整体translation/signflip等的盲区。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Project/experiment/idea-validation/fastwam-vq-relational-kl/relational_loss.py</a:t>
            </a:r>
          </a:p>
          <a:p>
            <a:r>
              <a:t>D:/Downloads/Final Year Project/experiment/idea-validation/fastwam-vq-relational-kl/README.zh.md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=alpha_a*(action_KL+beta_a*action_temporal_KL)+rho*c*alpha_z*(latent_KL+beta_z*latent_spatiotemporal_KL)。Teacheronlycalibrationfitting：alpha用C80initMSE/KL与NMSE/KL；tau_a=.05844502896,tau_z=.42243281007；beta_a=.61968510916,beta_z=27.14823378066，通过预设standardizednoise std .1的0.25relativeweight配平。0.25并不意味着真实modelerror或gradient中占25%。D/r_l独立从C8rho1.5checkpoint初始化，各80updates，未用heldoutselectfinal80。Distance关系本身有translation/signflip/部分timereversal盲区，softbin绝对anchor补足，不能声称所有结构错误可识别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Project/experiment/idea-validation/fastwam-vq-relational-kl/results/prepare/summary.json</a:t>
            </a:r>
          </a:p>
          <a:p>
            <a:r>
              <a:t>D:/Downloads/Final Year Project/experiment/idea-validation/fastwam-vq-relational-kl/protocol.json</a:t>
            </a:r>
          </a:p>
          <a:p>
            <a:r>
              <a:t>D:/Downloads/Final Year Project/experiment/idea-validation/fastwam-vq-relational-kl/results/ANALYSIS.zh.md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来自原40heldoutcase×2seeds，先seedcase平均再四suite等权。Softbinrelationaltrain各1trajectory、80updates，固定final80，不在heldout选ckpt。原MSEfinal80是历史同协议endpoint重放比较。Softbin.03232986/.053033005，relational.031438487/.054295895；temporal .040418109→.034484781；spatiotemporal .0063970953→.006147169；composite .0059133057→.0057434071。KL闭环评测在最近local快照431/560episode记录，未有completecriterion。进度不是success，pending不能替代最终rates。</a:t>
            </a:r>
          </a:p>
          <a:p>
            <a:r>
              <a:t>Sources:</a:t>
            </a:r>
          </a:p>
          <a:p>
            <a:r>
              <a:t>D:/Downloads/Final Year Project/experiment/idea-validation/fastwam-vq-relational-kl/results/ANALYSIS.zh.md</a:t>
            </a:r>
          </a:p>
          <a:p>
            <a:r>
              <a:t>D:/Downloads/Final Year Project/experiment/idea-validation/fastwam-vq-relational-kl/results/aggregate/summary.json</a:t>
            </a:r>
          </a:p>
          <a:p>
            <a:r>
              <a:t>D:/Downloads/Final Year Project/Weekly Slides/2026-10-21_assets/cosmos_loss.json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的四点contribution按证据强度润色：1当前fixedinputfutureintervention支持latentfidelity的重要性，但likelyvulnerable机制还待验证；2loss已实现，forecastrollouterror仍为researchgoal，当前没有证明predictiveassociation；3Fast-WAM+Cosmos框架/闭环已实现，similarbpw下cohortcurrentrecipecompetitive，但first需priorartcheck且不声称SOTA或统计显著；4nativekernel尚未实现。所有措辞作为proposedpapercontributions，不把目标写成completed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近期优先完成冻结checkpoint的pairedLIBERO+评测；loss优化需以闭环success与失败轨迹为目标，同时保留原cohortcontrols。候选消融：MSEvssoftbin、action-onlyvslatent-onlyvsboth、temporal-onlyvsspatial/temporal-latent、D/r的分离、C8/C80等校准规模，匹配bpw与预算。换baseline：CosmosPolicy on LIBERO/LIBERO+，LingBot-VA2 on RoboTwin2.0，均为planned未实现本轮不保证可行性/日期。真实robot需要确认hardware/tasks，报告success、rollout error与endtoendlatency。Kernel关注decode/transformprofiling、batchedtransform接线、nativeVQ执行与真实latency，不将compressedpayload当作VRAM。CVPR表达愿望无未查证deadline。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讨论重点：当前proxy与闭环目标之间的差距、KL结构设计的优先级、跨模型和真机验证范围，以及kernel工作量。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FastWAM模型614targetLinears/6016317440weights。encodedbpw统一bytes*8/Ntarget。Scalar receipt包含transforms，VQ包含indices/books/gains/B32exps/transforms；perchannel另计FP32log2D。Rotation只有code+G128scaleestimate4.125，未有统一completepayload。Cosmos同target280Linear1761607680weights。两model不同steps/chunks因此不跨模型比较latency或success来声称量化方法优劣。闭环manifest280是固定subset，不是全LIBEROPlusbenchmark。</a:t>
            </a:r>
          </a:p>
          <a:p>
            <a:r>
              <a:t>Sources:</a:t>
            </a:r>
          </a:p>
          <a:p>
            <a:r>
              <a:t>D:/Downloads/Final Year Project/experiment/idea-validation/fastwam-vq-plus/results/RESULTS.zh.md</a:t>
            </a:r>
          </a:p>
          <a:p>
            <a:r>
              <a:t>D:/Downloads/Final Year Project/experiment/idea-validation/fastwam-rotation-baselines/protocol.json</a:t>
            </a:r>
          </a:p>
          <a:p>
            <a:r>
              <a:t>D:/Downloads/Final Year Project/experiment/idea-validation/fastwam-smooth-scalar-plus/source_receipts/receipt.json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inputevidence：same40heldoutcases×2seed/equal4suites。Baseline.044296774/.060877371;clip.043848437/.054848124;b32.043986743/.054151555;joint.041846837/.048973336;perchannel.031641466/.055377875;jointperchannel.032668?.048842。Jointperchannel数字从周报四舍五入，完整源results。本表用于记录已实现的可训练参数组合，不给没有完成closedloop的row补成功率。</a:t>
            </a:r>
          </a:p>
          <a:p>
            <a:r>
              <a:t>Sources:</a:t>
            </a:r>
          </a:p>
          <a:p>
            <a:r>
              <a:t>D:/Downloads/Final Year Project/experiment/idea-validation/fastwam-vq-per-channel-scaling-clipping/results/RESULTS.zh.md</a:t>
            </a:r>
          </a:p>
          <a:p>
            <a:r>
              <a:t>D:/Downloads/Final Year Project/experiment/idea-validation/fastwam-vq-joint-per-channel/results/RESULTS.zh.md</a:t>
            </a:r>
          </a:p>
          <a:p>
            <a:r>
              <a:t>https://app.notion.com/p/3fd44c7da965815ead32f7858e8e98db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rmfullactionquerycost来自不同rolloutquery流，非fixedinputpairedbenchmark。FastWAMclip4.99sec/joint4.96/perchannel4.90508；CosmosBF16.59399,Spin1.05653,VQ10.04213。CosmosVQ在线blockH128path未接入batchedtransform，即使summary标签写batched也不能声称已生效。此页保持实现scope避免把编码4bpw当成nativeacceleration。</a:t>
            </a:r>
          </a:p>
          <a:p>
            <a:r>
              <a:t>Sources:</a:t>
            </a:r>
          </a:p>
          <a:p>
            <a:r>
              <a:t>D:/Downloads/Final Year Project/experiment/idea-validation/fastwam-vq-c80-clip-joint-plus/RESULTS.zh.md</a:t>
            </a:r>
          </a:p>
          <a:p>
            <a:r>
              <a:t>D:/Downloads/Final Year Project/experiment/idea-validation/fastwam-vq-c80-per-channel-plus/RESULTS.zh.md</a:t>
            </a:r>
          </a:p>
          <a:p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Slides/2026-10-21_assets/method-imagegen-reference.png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>
            <a:r>
              <a:t>Sources:</a:t>
            </a:r>
          </a:p>
          <a:p>
            <a:r>
              <a:t>D:/Downloads/Final Year Project/Weekly Slides/2026-10-21_assets/loss-imagegen-reference.png</a:t>
            </a:r>
          </a:p>
          <a:p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2D037324-548F-406E-8248-03A5F342A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2295B599-9CD4-44A6-AC58-C6CEE5B7024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726" y="1752600"/>
            <a:ext cx="5953125" cy="533400"/>
          </a:xfrm>
        </p:spPr>
        <p:txBody>
          <a:bodyPr wrap="square" lIns="0" tIns="0" rIns="0" bIns="0" anchor="ctr">
            <a:noAutofit/>
          </a:bodyPr>
          <a:lstStyle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50000"/>
              </a:lnSpc>
              <a:spcBef>
                <a:spcPts val="1800"/>
              </a:spcBef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+ Action-Aware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726" y="3758279"/>
            <a:ext cx="5953125" cy="857250"/>
          </a:xfrm>
        </p:spPr>
        <p:txBody>
          <a:bodyPr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  <p:sp>
        <p:nvSpPr>
          <p:cNvPr id="4" name="Meeting subtitle">
            <a:extLst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noGrp="1"/>
          </p:cNvSpPr>
          <p:nvPr/>
        </p:nvSpPr>
        <p:spPr>
          <a:xfrm>
            <a:off x="2756726" y="303847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</a:t>
            </a:r>
            <a:r>
              <a:rPr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VQ, activation refinement &amp; relational KL</a:t>
            </a:r>
          </a:p>
        </p:txBody>
      </p:sp>
      <p:sp>
        <p:nvSpPr>
          <p:cNvPr id="5" name="WAM Quantization">
            <a:extLst>
              <a:ext uri="{FF2B5EF4-FFF2-40B4-BE49-F238E27FC236}">
                <a16:creationId xmlns:a16="http://schemas.microsoft.com/office/drawing/2014/main" id="{FB70EFC3-DFCC-4984-9F41-A109206989EF}"/>
              </a:ext>
            </a:extLst>
          </p:cNvPr>
          <p:cNvSpPr>
            <a:spLocks noGrp="1"/>
          </p:cNvSpPr>
          <p:nvPr/>
        </p:nvSpPr>
        <p:spPr>
          <a:xfrm>
            <a:off x="2756726" y="2295525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31" name="diagram block">
            <a:extLst>
              <a:ext uri="{FF2B5EF4-FFF2-40B4-BE49-F238E27FC236}">
                <ns2:creationId id="{CA1EF9CB-5AA0-4656-B54B-CBDDC061F4C8}"/>
              </a:ext>
            </a:extLst>
          </p:cNvPr>
          <p:cNvSpPr>
            <a:spLocks noGrp="1"/>
          </p:cNvSpPr>
          <p:nvPr/>
        </p:nvSpPr>
        <p:spPr>
          <a:xfrm>
            <a:off x="277820" y="20645"/>
            <a:ext cx="3643859" cy="345289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2" name="diagram block">
            <a:extLst>
              <a:ext uri="{FF2B5EF4-FFF2-40B4-BE49-F238E27FC236}">
                <ns2:creationId id="{640AAACA-4A17-4232-9776-53AF3852FE0C}"/>
              </a:ext>
            </a:extLst>
          </p:cNvPr>
          <p:cNvSpPr>
            <a:spLocks noGrp="1"/>
          </p:cNvSpPr>
          <p:nvPr/>
        </p:nvSpPr>
        <p:spPr>
          <a:xfrm>
            <a:off x="3962970" y="20645"/>
            <a:ext cx="2467089" cy="345289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3" name="diagram block">
            <a:extLst>
              <a:ext uri="{FF2B5EF4-FFF2-40B4-BE49-F238E27FC236}">
                <ns2:creationId id="{5E2A8147-EC16-4DA9-B4FE-2270C9834526}"/>
              </a:ext>
            </a:extLst>
          </p:cNvPr>
          <p:cNvSpPr>
            <a:spLocks noGrp="1"/>
          </p:cNvSpPr>
          <p:nvPr/>
        </p:nvSpPr>
        <p:spPr>
          <a:xfrm>
            <a:off x="6466188" y="20645"/>
            <a:ext cx="2399992" cy="3452892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8774">
            <a:solidFill>
              <a:srgbClr val="061A3C"/>
            </a:solidFill>
            <a:prstDash val="solid"/>
          </a:ln>
        </p:spPr>
      </p:sp>
      <p:sp>
        <p:nvSpPr>
          <p:cNvPr id="4" name="(a) Latent + action supervision">
            <a:extLst>
              <a:ext uri="{FF2B5EF4-FFF2-40B4-BE49-F238E27FC236}">
                <ns2:creationId id="{7EDFBF44-1D56-4823-A4EE-2540835BA30B}"/>
              </a:ext>
            </a:extLst>
          </p:cNvPr>
          <p:cNvSpPr>
            <a:spLocks noGrp="1"/>
          </p:cNvSpPr>
          <p:nvPr/>
        </p:nvSpPr>
        <p:spPr>
          <a:xfrm>
            <a:off x="344917" y="72258"/>
            <a:ext cx="3499344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79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(a) Latent + action supervision</a:t>
            </a:r>
          </a:p>
        </p:txBody>
      </p:sp>
      <p:sp>
        <p:nvSpPr>
          <p:cNvPr id="5" name="(b) Microscaling additive VQ weights">
            <a:extLst>
              <a:ext uri="{FF2B5EF4-FFF2-40B4-BE49-F238E27FC236}">
                <ns2:creationId id="{BB23AC21-B6F1-4C9E-BA62-B7592FF14DA9}"/>
              </a:ext>
            </a:extLst>
          </p:cNvPr>
          <p:cNvSpPr>
            <a:spLocks noGrp="1"/>
          </p:cNvSpPr>
          <p:nvPr/>
        </p:nvSpPr>
        <p:spPr>
          <a:xfrm>
            <a:off x="4030066" y="72258"/>
            <a:ext cx="2343218" cy="190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05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(b) Microscaling additive VQ weights</a:t>
            </a:r>
          </a:p>
        </p:txBody>
      </p:sp>
      <p:sp>
        <p:nvSpPr>
          <p:cNvPr id="6" name="(c) Per-channel activation scaling + clipping">
            <a:extLst>
              <a:ext uri="{FF2B5EF4-FFF2-40B4-BE49-F238E27FC236}">
                <ns2:creationId id="{0E973F6E-C53C-4581-9B61-134CEABD37BD}"/>
              </a:ext>
            </a:extLst>
          </p:cNvPr>
          <p:cNvSpPr>
            <a:spLocks noGrp="1"/>
          </p:cNvSpPr>
          <p:nvPr/>
        </p:nvSpPr>
        <p:spPr>
          <a:xfrm>
            <a:off x="6517800" y="82580"/>
            <a:ext cx="2307089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(c) Per-channel activation scaling + clipping</a:t>
            </a:r>
          </a:p>
        </p:txBody>
      </p:sp>
      <p:sp>
        <p:nvSpPr>
          <p:cNvPr id="7" name="diagram block">
            <a:extLst>
              <a:ext uri="{FF2B5EF4-FFF2-40B4-BE49-F238E27FC236}">
                <ns2:creationId id="{14ED551E-08D3-4F78-A258-2CB6C89B7C0D}"/>
              </a:ext>
            </a:extLst>
          </p:cNvPr>
          <p:cNvSpPr>
            <a:spLocks noGrp="1"/>
          </p:cNvSpPr>
          <p:nvPr/>
        </p:nvSpPr>
        <p:spPr>
          <a:xfrm>
            <a:off x="1067495" y="294193"/>
            <a:ext cx="2028381" cy="1357415"/>
          </a:xfrm>
          <a:prstGeom prst="roundRect">
            <a:avLst>
              <a:gd name="adj" fmla="val 2662"/>
            </a:avLst>
          </a:prstGeom>
          <a:gradFill>
            <a:gsLst>
              <a:gs pos="0">
                <a:srgbClr val="D9EFFF"/>
              </a:gs>
              <a:gs pos="100000">
                <a:srgbClr val="EEF8FF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8" name="diagram block">
            <a:extLst>
              <a:ext uri="{FF2B5EF4-FFF2-40B4-BE49-F238E27FC236}">
                <ns2:creationId id="{D07E767C-890C-413D-ABAC-5A36B7797A6E}"/>
              </a:ext>
            </a:extLst>
          </p:cNvPr>
          <p:cNvSpPr>
            <a:spLocks noGrp="1"/>
          </p:cNvSpPr>
          <p:nvPr/>
        </p:nvSpPr>
        <p:spPr>
          <a:xfrm>
            <a:off x="1067495" y="1677414"/>
            <a:ext cx="2028381" cy="1476124"/>
          </a:xfrm>
          <a:prstGeom prst="roundRect">
            <a:avLst>
              <a:gd name="adj" fmla="val 2448"/>
            </a:avLst>
          </a:prstGeom>
          <a:gradFill>
            <a:gsLst>
              <a:gs pos="0">
                <a:srgbClr val="FFE2DC"/>
              </a:gs>
              <a:gs pos="100000">
                <a:srgbClr val="FFF0EA"/>
              </a:gs>
            </a:gsLst>
            <a:lin ang="5400000"/>
          </a:gradFill>
          <a:ln w="5161">
            <a:noFill/>
            <a:prstDash val="solid"/>
          </a:ln>
        </p:spPr>
      </p:sp>
      <p:cxnSp>
        <p:nvCxnSpPr>
          <p:cNvPr id="9" name="native PowerPoint connector">
            <a:extLst>
              <a:ext uri="{FF2B5EF4-FFF2-40B4-BE49-F238E27FC236}">
                <ns2:creationId id="{986665E7-5DE2-4B07-BCC5-6E5614DA5959}"/>
              </a:ext>
            </a:extLst>
          </p:cNvPr>
          <p:cNvCxnSpPr/>
          <p:nvPr/>
        </p:nvCxnSpPr>
        <p:spPr>
          <a:xfrm flipH="0" flipV="0">
            <a:off x="1129430" y="397418"/>
            <a:ext cx="113548" cy="0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0" name="native PowerPoint connector">
            <a:extLst>
              <a:ext uri="{FF2B5EF4-FFF2-40B4-BE49-F238E27FC236}">
                <ns2:creationId id="{A38E46B1-EC71-4A58-B046-752C58C4A523}"/>
              </a:ext>
            </a:extLst>
          </p:cNvPr>
          <p:cNvCxnSpPr/>
          <p:nvPr/>
        </p:nvCxnSpPr>
        <p:spPr>
          <a:xfrm flipH="0" flipV="0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cxnSp>
        <p:nvCxnSpPr>
          <p:cNvPr id="11" name="native PowerPoint connector">
            <a:extLst>
              <a:ext uri="{FF2B5EF4-FFF2-40B4-BE49-F238E27FC236}">
                <ns2:creationId id="{536B7E82-EDE1-4C51-97A6-F4EEC352F00A}"/>
              </a:ext>
            </a:extLst>
          </p:cNvPr>
          <p:cNvCxnSpPr/>
          <p:nvPr/>
        </p:nvCxnSpPr>
        <p:spPr>
          <a:xfrm flipH="1" flipV="0">
            <a:off x="1157817" y="348250"/>
            <a:ext cx="56774" cy="98335"/>
          </a:xfrm>
          <a:prstGeom prst="straightConnector1">
            <a:avLst/>
          </a:prstGeom>
          <a:ln w="10323">
            <a:solidFill>
              <a:srgbClr val="0785D0"/>
            </a:solidFill>
            <a:prstDash val="solid"/>
          </a:ln>
        </p:spPr>
      </p:cxnSp>
      <p:sp>
        <p:nvSpPr>
          <p:cNvPr id="12" name="BF16 teacher (frozen)">
            <a:extLst>
              <a:ext uri="{FF2B5EF4-FFF2-40B4-BE49-F238E27FC236}">
                <ns2:creationId id="{D1F06664-1751-400A-9CEB-2245C17AA60B}"/>
              </a:ext>
            </a:extLst>
          </p:cNvPr>
          <p:cNvSpPr>
            <a:spLocks noGrp="1"/>
          </p:cNvSpPr>
          <p:nvPr/>
        </p:nvSpPr>
        <p:spPr>
          <a:xfrm>
            <a:off x="1284269" y="340644"/>
            <a:ext cx="1729027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 teacher (frozen)</a:t>
            </a:r>
          </a:p>
        </p:txBody>
      </p:sp>
      <p:sp>
        <p:nvSpPr>
          <p:cNvPr id="13" name="native vector shape">
            <a:extLst>
              <a:ext uri="{FF2B5EF4-FFF2-40B4-BE49-F238E27FC236}">
                <ns2:creationId id="{F04F52A1-821F-4F43-BD73-C658CFDC6193}"/>
              </a:ext>
            </a:extLst>
          </p:cNvPr>
          <p:cNvSpPr>
            <a:spLocks noGrp="1"/>
          </p:cNvSpPr>
          <p:nvPr/>
        </p:nvSpPr>
        <p:spPr>
          <a:xfrm>
            <a:off x="1119108" y="1703220"/>
            <a:ext cx="144516" cy="185806"/>
          </a:xfrm>
          <a:custGeom>
            <a:pathLst>
              <a:path w="266700" h="342900">
                <a:moveTo>
                  <a:pt x="114300" y="0"/>
                </a:moveTo>
                <a:lnTo>
                  <a:pt x="171450" y="123825"/>
                </a:lnTo>
                <a:lnTo>
                  <a:pt x="247650" y="200025"/>
                </a:lnTo>
                <a:lnTo>
                  <a:pt x="228600" y="276225"/>
                </a:lnTo>
                <a:lnTo>
                  <a:pt x="180975" y="333375"/>
                </a:lnTo>
                <a:lnTo>
                  <a:pt x="85725" y="333375"/>
                </a:lnTo>
                <a:lnTo>
                  <a:pt x="19050" y="266700"/>
                </a:lnTo>
                <a:lnTo>
                  <a:pt x="19050" y="180975"/>
                </a:lnTo>
                <a:lnTo>
                  <a:pt x="66675" y="95250"/>
                </a:lnTo>
                <a:lnTo>
                  <a:pt x="76200" y="22860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FF9C23"/>
          </a:solidFill>
          <a:ln w="6194">
            <a:solidFill>
              <a:srgbClr val="EF711C"/>
            </a:solidFill>
          </a:ln>
        </p:spPr>
      </p:sp>
      <p:sp>
        <p:nvSpPr>
          <p:cNvPr id="14" name="native vector shape">
            <a:extLst>
              <a:ext uri="{FF2B5EF4-FFF2-40B4-BE49-F238E27FC236}">
                <ns2:creationId id="{A496BC83-02DD-43CD-971E-781D77BA7F6E}"/>
              </a:ext>
            </a:extLst>
          </p:cNvPr>
          <p:cNvSpPr>
            <a:spLocks noGrp="1"/>
          </p:cNvSpPr>
          <p:nvPr/>
        </p:nvSpPr>
        <p:spPr>
          <a:xfrm>
            <a:off x="1150075" y="1759994"/>
            <a:ext cx="98064" cy="129032"/>
          </a:xfrm>
          <a:custGeom>
            <a:pathLst>
              <a:path w="180975" h="238125">
                <a:moveTo>
                  <a:pt x="85725" y="0"/>
                </a:moveTo>
                <a:lnTo>
                  <a:pt x="114300" y="95250"/>
                </a:lnTo>
                <a:lnTo>
                  <a:pt x="171450" y="133350"/>
                </a:lnTo>
                <a:lnTo>
                  <a:pt x="142875" y="209550"/>
                </a:lnTo>
                <a:lnTo>
                  <a:pt x="76200" y="228600"/>
                </a:lnTo>
                <a:lnTo>
                  <a:pt x="28575" y="180975"/>
                </a:lnTo>
                <a:lnTo>
                  <a:pt x="38100" y="114300"/>
                </a:lnTo>
                <a:close/>
              </a:path>
            </a:pathLst>
          </a:custGeom>
          <a:solidFill>
            <a:srgbClr val="FFD785"/>
          </a:solidFill>
          <a:ln w="6194">
            <a:noFill/>
          </a:ln>
        </p:spPr>
      </p:sp>
      <p:sp>
        <p:nvSpPr>
          <p:cNvPr id="15" name="Quantized WAM (student)">
            <a:extLst>
              <a:ext uri="{FF2B5EF4-FFF2-40B4-BE49-F238E27FC236}">
                <ns2:creationId id="{1966E076-CA0D-4660-AA4F-640D6E746091}"/>
              </a:ext>
            </a:extLst>
          </p:cNvPr>
          <p:cNvSpPr>
            <a:spLocks noGrp="1"/>
          </p:cNvSpPr>
          <p:nvPr/>
        </p:nvSpPr>
        <p:spPr>
          <a:xfrm>
            <a:off x="1284269" y="1734188"/>
            <a:ext cx="178064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174"/>
          </a:bodyPr>
          <a:lstStyle>
            <a:def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Quantized WAM (student)</a:t>
            </a:r>
          </a:p>
        </p:txBody>
      </p:sp>
      <p:sp>
        <p:nvSpPr>
          <p:cNvPr id="16" name="614 target Linear layers">
            <a:extLst>
              <a:ext uri="{FF2B5EF4-FFF2-40B4-BE49-F238E27FC236}">
                <ns2:creationId id="{B1CCCFCB-F865-4D6F-8D76-E7396D255B98}"/>
              </a:ext>
            </a:extLst>
          </p:cNvPr>
          <p:cNvSpPr>
            <a:spLocks noGrp="1"/>
          </p:cNvSpPr>
          <p:nvPr/>
        </p:nvSpPr>
        <p:spPr>
          <a:xfrm>
            <a:off x="2027492" y="1852897"/>
            <a:ext cx="102709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87"/>
          </a:bodyPr>
          <a:lstStyle>
            <a:def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C11B14"/>
                </a:solidFill>
                <a:latin typeface="Arial Narrow"/>
                <a:ea typeface="Arial Narrow"/>
                <a:cs typeface="Arial Narrow"/>
              </a:rPr>
              <a:t>614 target Linear layers</a:t>
            </a:r>
          </a:p>
        </p:txBody>
      </p:sp>
      <p:cxnSp>
        <p:nvCxnSpPr>
          <p:cNvPr id="17" name="native PowerPoint connector">
            <a:extLst>
              <a:ext uri="{FF2B5EF4-FFF2-40B4-BE49-F238E27FC236}">
                <ns2:creationId id="{7E303F12-20AA-4F86-9EBF-AF5820940109}"/>
              </a:ext>
            </a:extLst>
          </p:cNvPr>
          <p:cNvCxnSpPr/>
          <p:nvPr/>
        </p:nvCxnSpPr>
        <p:spPr>
          <a:xfrm flipH="0" flipV="0">
            <a:off x="2027492" y="1971607"/>
            <a:ext cx="1027094" cy="0"/>
          </a:xfrm>
          <a:prstGeom prst="straightConnector1">
            <a:avLst/>
          </a:prstGeom>
          <a:ln w="6710">
            <a:solidFill>
              <a:srgbClr val="C11B14"/>
            </a:solidFill>
            <a:prstDash val="solid"/>
          </a:ln>
        </p:spPr>
      </p:cxnSp>
      <p:sp>
        <p:nvSpPr>
          <p:cNvPr id="18" name="native vector shape">
            <a:extLst>
              <a:ext uri="{FF2B5EF4-FFF2-40B4-BE49-F238E27FC236}">
                <ns2:creationId id="{AB6854E3-ECD9-459B-B6B3-1304F451FE90}"/>
              </a:ext>
            </a:extLst>
          </p:cNvPr>
          <p:cNvSpPr>
            <a:spLocks noGrp="1"/>
          </p:cNvSpPr>
          <p:nvPr/>
        </p:nvSpPr>
        <p:spPr>
          <a:xfrm>
            <a:off x="1315236" y="531611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</p:sp>
      <p:sp>
        <p:nvSpPr>
          <p:cNvPr id="19" name="Video DiT&#10;(BF16)">
            <a:extLst>
              <a:ext uri="{FF2B5EF4-FFF2-40B4-BE49-F238E27FC236}">
                <ns2:creationId id="{97022EAB-4E93-4CD4-A99F-3E02B5857A7C}"/>
              </a:ext>
            </a:extLst>
          </p:cNvPr>
          <p:cNvSpPr>
            <a:spLocks noGrp="1"/>
          </p:cNvSpPr>
          <p:nvPr/>
        </p:nvSpPr>
        <p:spPr>
          <a:xfrm>
            <a:off x="1397817" y="66064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(BF16)</a:t>
            </a:r>
          </a:p>
        </p:txBody>
      </p:sp>
      <p:sp>
        <p:nvSpPr>
          <p:cNvPr id="20" name="native vector shape">
            <a:extLst>
              <a:ext uri="{FF2B5EF4-FFF2-40B4-BE49-F238E27FC236}">
                <ns2:creationId id="{AA3A0B7B-7520-422F-9787-0B9D850F6A53}"/>
              </a:ext>
            </a:extLst>
          </p:cNvPr>
          <p:cNvSpPr>
            <a:spLocks noGrp="1"/>
          </p:cNvSpPr>
          <p:nvPr/>
        </p:nvSpPr>
        <p:spPr>
          <a:xfrm>
            <a:off x="2306201" y="547095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6710">
            <a:solidFill>
              <a:srgbClr val="0B579E"/>
            </a:solidFill>
          </a:ln>
        </p:spPr>
      </p:sp>
      <p:sp>
        <p:nvSpPr>
          <p:cNvPr id="21" name="Action DiT&#10;(BF16)">
            <a:extLst>
              <a:ext uri="{FF2B5EF4-FFF2-40B4-BE49-F238E27FC236}">
                <ns2:creationId id="{B6DD1213-DF46-4DE8-BBFB-79335DB65385}"/>
              </a:ext>
            </a:extLst>
          </p:cNvPr>
          <p:cNvSpPr>
            <a:spLocks noGrp="1"/>
          </p:cNvSpPr>
          <p:nvPr/>
        </p:nvSpPr>
        <p:spPr>
          <a:xfrm>
            <a:off x="2388781" y="676127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(BF16)</a:t>
            </a:r>
          </a:p>
        </p:txBody>
      </p:sp>
      <p:sp>
        <p:nvSpPr>
          <p:cNvPr id="22" name="native vector shape">
            <a:extLst>
              <a:ext uri="{FF2B5EF4-FFF2-40B4-BE49-F238E27FC236}">
                <ns2:creationId id="{B6DAC573-E413-4474-88D1-5F313F385A01}"/>
              </a:ext>
            </a:extLst>
          </p:cNvPr>
          <p:cNvSpPr>
            <a:spLocks noGrp="1"/>
          </p:cNvSpPr>
          <p:nvPr/>
        </p:nvSpPr>
        <p:spPr>
          <a:xfrm>
            <a:off x="1315236" y="1950962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</p:sp>
      <p:sp>
        <p:nvSpPr>
          <p:cNvPr id="23" name="Video DiT&#10;(quantized)">
            <a:extLst>
              <a:ext uri="{FF2B5EF4-FFF2-40B4-BE49-F238E27FC236}">
                <ns2:creationId id="{74EAD127-D903-4FB6-B25E-69B06707100D}"/>
              </a:ext>
            </a:extLst>
          </p:cNvPr>
          <p:cNvSpPr>
            <a:spLocks noGrp="1"/>
          </p:cNvSpPr>
          <p:nvPr/>
        </p:nvSpPr>
        <p:spPr>
          <a:xfrm>
            <a:off x="1397817" y="2079993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(quantized)</a:t>
            </a:r>
          </a:p>
        </p:txBody>
      </p:sp>
      <p:sp>
        <p:nvSpPr>
          <p:cNvPr id="24" name="native vector shape">
            <a:extLst>
              <a:ext uri="{FF2B5EF4-FFF2-40B4-BE49-F238E27FC236}">
                <ns2:creationId id="{D60C0483-AF2D-4A41-9B6A-95DD47E34182}"/>
              </a:ext>
            </a:extLst>
          </p:cNvPr>
          <p:cNvSpPr>
            <a:spLocks noGrp="1"/>
          </p:cNvSpPr>
          <p:nvPr/>
        </p:nvSpPr>
        <p:spPr>
          <a:xfrm>
            <a:off x="2306201" y="1971607"/>
            <a:ext cx="712256" cy="485160"/>
          </a:xfrm>
          <a:custGeom>
            <a:pathLst>
              <a:path w="1314450" h="895350">
                <a:moveTo>
                  <a:pt x="0" y="0"/>
                </a:moveTo>
                <a:lnTo>
                  <a:pt x="1314450" y="247650"/>
                </a:lnTo>
                <a:lnTo>
                  <a:pt x="1314450" y="647700"/>
                </a:lnTo>
                <a:lnTo>
                  <a:pt x="0" y="895350"/>
                </a:lnTo>
                <a:close/>
              </a:path>
            </a:pathLst>
          </a:cu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6710">
            <a:solidFill>
              <a:srgbClr val="A92024"/>
            </a:solidFill>
          </a:ln>
        </p:spPr>
      </p:sp>
      <p:sp>
        <p:nvSpPr>
          <p:cNvPr id="25" name="Action DiT&#10;(quantized)">
            <a:extLst>
              <a:ext uri="{FF2B5EF4-FFF2-40B4-BE49-F238E27FC236}">
                <ns2:creationId id="{36971ADF-A6C1-46AA-9BF9-CE097D3E4784}"/>
              </a:ext>
            </a:extLst>
          </p:cNvPr>
          <p:cNvSpPr>
            <a:spLocks noGrp="1"/>
          </p:cNvSpPr>
          <p:nvPr/>
        </p:nvSpPr>
        <p:spPr>
          <a:xfrm>
            <a:off x="2388781" y="2100638"/>
            <a:ext cx="562579" cy="27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(quantized)</a:t>
            </a:r>
          </a:p>
        </p:txBody>
      </p:sp>
      <p:cxnSp>
        <p:nvCxnSpPr>
          <p:cNvPr id="26" name="native PowerPoint connector">
            <a:extLst>
              <a:ext uri="{FF2B5EF4-FFF2-40B4-BE49-F238E27FC236}">
                <ns2:creationId id="{22317C53-EFBB-4BD2-B1A7-A319BFD9A016}"/>
              </a:ext>
            </a:extLst>
          </p:cNvPr>
          <p:cNvCxnSpPr/>
          <p:nvPr/>
        </p:nvCxnSpPr>
        <p:spPr>
          <a:xfrm flipH="0" flipV="0">
            <a:off x="2027492" y="769030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" name="native PowerPoint connector">
            <a:extLst>
              <a:ext uri="{FF2B5EF4-FFF2-40B4-BE49-F238E27FC236}">
                <ns2:creationId id="{5661E1F7-4D9A-4AE8-BA72-83CB30B62C9F}"/>
              </a:ext>
            </a:extLst>
          </p:cNvPr>
          <p:cNvCxnSpPr/>
          <p:nvPr/>
        </p:nvCxnSpPr>
        <p:spPr>
          <a:xfrm flipH="0" flipV="0">
            <a:off x="2027492" y="2193541"/>
            <a:ext cx="278709" cy="0"/>
          </a:xfrm>
          <a:prstGeom prst="straightConnector1">
            <a:avLst/>
          </a:prstGeom>
          <a:ln w="980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" name="diagram block">
            <a:extLst>
              <a:ext uri="{FF2B5EF4-FFF2-40B4-BE49-F238E27FC236}">
                <ns2:creationId id="{E9EE06F3-EE62-4284-A8FC-9271744C7B71}"/>
              </a:ext>
            </a:extLst>
          </p:cNvPr>
          <p:cNvSpPr>
            <a:spLocks noGrp="1"/>
          </p:cNvSpPr>
          <p:nvPr/>
        </p:nvSpPr>
        <p:spPr>
          <a:xfrm>
            <a:off x="319110" y="887739"/>
            <a:ext cx="660643" cy="1274835"/>
          </a:xfrm>
          <a:prstGeom prst="roundRect">
            <a:avLst>
              <a:gd name="adj" fmla="val 3906"/>
            </a:avLst>
          </a:prstGeom>
          <a:gradFill>
            <a:gsLst>
              <a:gs pos="0">
                <a:srgbClr val="F0F2F5"/>
              </a:gs>
              <a:gs pos="100000">
                <a:srgbClr val="E8EBEF"/>
              </a:gs>
            </a:gsLst>
            <a:lin ang="5400000"/>
          </a:gradFill>
          <a:ln w="5161">
            <a:solidFill>
              <a:srgbClr val="63849E"/>
            </a:solidFill>
            <a:prstDash val="solid"/>
          </a:ln>
        </p:spPr>
      </p:sp>
      <p:sp>
        <p:nvSpPr>
          <p:cNvPr id="29" name="Observation&#10;+ language&#10;+ proprioception">
            <a:extLst>
              <a:ext uri="{FF2B5EF4-FFF2-40B4-BE49-F238E27FC236}">
                <ns2:creationId id="{7EFF4A6A-7C9B-42ED-B31B-F8F20EC60E79}"/>
              </a:ext>
            </a:extLst>
          </p:cNvPr>
          <p:cNvSpPr>
            <a:spLocks noGrp="1"/>
          </p:cNvSpPr>
          <p:nvPr/>
        </p:nvSpPr>
        <p:spPr>
          <a:xfrm>
            <a:off x="375884" y="1073545"/>
            <a:ext cx="557418" cy="3458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2553"/>
          </a:bodyPr>
          <a:lstStyle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Observation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+ language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+ proprioception</a:t>
            </a:r>
          </a:p>
        </p:txBody>
      </p:sp>
      <p:sp>
        <p:nvSpPr>
          <p:cNvPr id="30" name="o, l, p">
            <a:extLst>
              <a:ext uri="{FF2B5EF4-FFF2-40B4-BE49-F238E27FC236}">
                <ns2:creationId id="{7F9293E7-46F1-446F-A171-8ECF90BDF522}"/>
              </a:ext>
            </a:extLst>
          </p:cNvPr>
          <p:cNvSpPr>
            <a:spLocks noGrp="1"/>
          </p:cNvSpPr>
          <p:nvPr/>
        </p:nvSpPr>
        <p:spPr>
          <a:xfrm>
            <a:off x="448142" y="1445157"/>
            <a:ext cx="428386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o, l, p</a:t>
            </a:r>
          </a:p>
        </p:txBody>
      </p:sp>
      <p:sp>
        <p:nvSpPr>
          <p:cNvPr id="31" name="{ x₀, …, xT">
            <a:extLst>
              <a:ext uri="{FF2B5EF4-FFF2-40B4-BE49-F238E27FC236}">
                <ns2:creationId id="{FB5D1D73-41DE-4921-8BCD-EBD3B8D62F94}"/>
              </a:ext>
            </a:extLst>
          </p:cNvPr>
          <p:cNvSpPr>
            <a:spLocks noGrp="1"/>
          </p:cNvSpPr>
          <p:nvPr/>
        </p:nvSpPr>
        <p:spPr>
          <a:xfrm>
            <a:off x="360400" y="1620640"/>
            <a:ext cx="609030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{ x₀, …, xT</a:t>
            </a:r>
          </a:p>
        </p:txBody>
      </p:sp>
      <p:sp>
        <p:nvSpPr>
          <p:cNvPr id="32" name="text">
            <a:extLst>
              <a:ext uri="{FF2B5EF4-FFF2-40B4-BE49-F238E27FC236}">
                <ns2:creationId id="{E9C23564-5F7D-482A-8057-B14E8193FB71}"/>
              </a:ext>
            </a:extLst>
          </p:cNvPr>
          <p:cNvSpPr>
            <a:spLocks noGrp="1"/>
          </p:cNvSpPr>
          <p:nvPr/>
        </p:nvSpPr>
        <p:spPr>
          <a:xfrm>
            <a:off x="437820" y="1832252"/>
            <a:ext cx="412902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text</a:t>
            </a:r>
          </a:p>
        </p:txBody>
      </p:sp>
      <p:sp>
        <p:nvSpPr>
          <p:cNvPr id="33" name="q, q̂">
            <a:extLst>
              <a:ext uri="{FF2B5EF4-FFF2-40B4-BE49-F238E27FC236}">
                <ns2:creationId id="{F71A91D6-8D47-4251-9E46-882BE1A53D57}"/>
              </a:ext>
            </a:extLst>
          </p:cNvPr>
          <p:cNvSpPr>
            <a:spLocks noGrp="1"/>
          </p:cNvSpPr>
          <p:nvPr/>
        </p:nvSpPr>
        <p:spPr>
          <a:xfrm>
            <a:off x="432658" y="1971607"/>
            <a:ext cx="428386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333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q, q̂</a:t>
            </a:r>
          </a:p>
        </p:txBody>
      </p:sp>
      <p:cxnSp>
        <p:nvCxnSpPr>
          <p:cNvPr id="34" name="native PowerPoint connector">
            <a:extLst>
              <a:ext uri="{FF2B5EF4-FFF2-40B4-BE49-F238E27FC236}">
                <ns2:creationId id="{6062937D-08D9-488A-89E8-50579F66E5F4}"/>
              </a:ext>
            </a:extLst>
          </p:cNvPr>
          <p:cNvCxnSpPr/>
          <p:nvPr/>
        </p:nvCxnSpPr>
        <p:spPr>
          <a:xfrm flipH="0" flipV="0">
            <a:off x="979753" y="11870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5" name="native PowerPoint connector">
            <a:extLst>
              <a:ext uri="{FF2B5EF4-FFF2-40B4-BE49-F238E27FC236}">
                <ns2:creationId id="{64F8B028-24F2-4D30-9C32-B79BB29FC72E}"/>
              </a:ext>
            </a:extLst>
          </p:cNvPr>
          <p:cNvCxnSpPr/>
          <p:nvPr/>
        </p:nvCxnSpPr>
        <p:spPr>
          <a:xfrm flipH="0" flipV="1">
            <a:off x="1129430" y="769030"/>
            <a:ext cx="0" cy="418063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6" name="native PowerPoint connector">
            <a:extLst>
              <a:ext uri="{FF2B5EF4-FFF2-40B4-BE49-F238E27FC236}">
                <ns2:creationId id="{5AABD650-5E9D-42A5-B761-80E8E0A41AE0}"/>
              </a:ext>
            </a:extLst>
          </p:cNvPr>
          <p:cNvCxnSpPr/>
          <p:nvPr/>
        </p:nvCxnSpPr>
        <p:spPr>
          <a:xfrm flipH="0" flipV="0">
            <a:off x="1129430" y="769030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7" name="native PowerPoint connector">
            <a:extLst>
              <a:ext uri="{FF2B5EF4-FFF2-40B4-BE49-F238E27FC236}">
                <ns2:creationId id="{09BCE260-BBE2-4F67-91DD-81A0045E36AA}"/>
              </a:ext>
            </a:extLst>
          </p:cNvPr>
          <p:cNvCxnSpPr/>
          <p:nvPr/>
        </p:nvCxnSpPr>
        <p:spPr>
          <a:xfrm flipH="0" flipV="0">
            <a:off x="979753" y="2079993"/>
            <a:ext cx="149677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8" name="native PowerPoint connector">
            <a:extLst>
              <a:ext uri="{FF2B5EF4-FFF2-40B4-BE49-F238E27FC236}">
                <ns2:creationId id="{30B3745B-BCFB-4D04-B0A6-7AF5982B3CDB}"/>
              </a:ext>
            </a:extLst>
          </p:cNvPr>
          <p:cNvCxnSpPr/>
          <p:nvPr/>
        </p:nvCxnSpPr>
        <p:spPr>
          <a:xfrm flipH="0" flipV="0">
            <a:off x="1129430" y="2079993"/>
            <a:ext cx="0" cy="139354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</a:ln>
        </p:spPr>
      </p:cxnSp>
      <p:cxnSp>
        <p:nvCxnSpPr>
          <p:cNvPr id="39" name="native PowerPoint connector">
            <a:extLst>
              <a:ext uri="{FF2B5EF4-FFF2-40B4-BE49-F238E27FC236}">
                <ns2:creationId id="{0697E497-F21F-4C34-950E-D152C28DFF46}"/>
              </a:ext>
            </a:extLst>
          </p:cNvPr>
          <p:cNvCxnSpPr/>
          <p:nvPr/>
        </p:nvCxnSpPr>
        <p:spPr>
          <a:xfrm flipH="0" flipV="0">
            <a:off x="1129430" y="2219348"/>
            <a:ext cx="185806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40" name="diagram block">
            <a:extLst>
              <a:ext uri="{FF2B5EF4-FFF2-40B4-BE49-F238E27FC236}">
                <ns2:creationId id="{D25B227F-A6E4-4197-AB2C-66C134563DD7}"/>
              </a:ext>
            </a:extLst>
          </p:cNvPr>
          <p:cNvSpPr>
            <a:spLocks noGrp="1"/>
          </p:cNvSpPr>
          <p:nvPr/>
        </p:nvSpPr>
        <p:spPr>
          <a:xfrm>
            <a:off x="148039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1" name="diagram block">
            <a:extLst>
              <a:ext uri="{FF2B5EF4-FFF2-40B4-BE49-F238E27FC236}">
                <ns2:creationId id="{7DDE2FD8-7E03-4345-A16B-A746986E36CB}"/>
              </a:ext>
            </a:extLst>
          </p:cNvPr>
          <p:cNvSpPr>
            <a:spLocks noGrp="1"/>
          </p:cNvSpPr>
          <p:nvPr/>
        </p:nvSpPr>
        <p:spPr>
          <a:xfrm>
            <a:off x="1562977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2" name="diagram block">
            <a:extLst>
              <a:ext uri="{FF2B5EF4-FFF2-40B4-BE49-F238E27FC236}">
                <ns2:creationId id="{432AA78D-10B9-497E-B0FD-7A8D2FECDA7B}"/>
              </a:ext>
            </a:extLst>
          </p:cNvPr>
          <p:cNvSpPr>
            <a:spLocks noGrp="1"/>
          </p:cNvSpPr>
          <p:nvPr/>
        </p:nvSpPr>
        <p:spPr>
          <a:xfrm>
            <a:off x="164555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3" name="diagram block">
            <a:extLst>
              <a:ext uri="{FF2B5EF4-FFF2-40B4-BE49-F238E27FC236}">
                <ns2:creationId id="{C70C5AE5-2704-4281-9F80-26094C905DF1}"/>
              </a:ext>
            </a:extLst>
          </p:cNvPr>
          <p:cNvSpPr>
            <a:spLocks noGrp="1"/>
          </p:cNvSpPr>
          <p:nvPr/>
        </p:nvSpPr>
        <p:spPr>
          <a:xfrm>
            <a:off x="1728138" y="1011610"/>
            <a:ext cx="46451" cy="201290"/>
          </a:xfrm>
          <a:prstGeom prst="rect">
            <a:avLst/>
          </a:prstGeom>
          <a:solidFill>
            <a:srgbClr val="EFB956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4" name="diagram block">
            <a:extLst>
              <a:ext uri="{FF2B5EF4-FFF2-40B4-BE49-F238E27FC236}">
                <ns2:creationId id="{5F5A1E84-D9F4-4A20-B5C9-BB8C7DBF8E0C}"/>
              </a:ext>
            </a:extLst>
          </p:cNvPr>
          <p:cNvSpPr>
            <a:spLocks noGrp="1"/>
          </p:cNvSpPr>
          <p:nvPr/>
        </p:nvSpPr>
        <p:spPr>
          <a:xfrm>
            <a:off x="247652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5" name="diagram block">
            <a:extLst>
              <a:ext uri="{FF2B5EF4-FFF2-40B4-BE49-F238E27FC236}">
                <ns2:creationId id="{0B006AD2-22DD-48BA-9B70-6C1D1E1E636E}"/>
              </a:ext>
            </a:extLst>
          </p:cNvPr>
          <p:cNvSpPr>
            <a:spLocks noGrp="1"/>
          </p:cNvSpPr>
          <p:nvPr/>
        </p:nvSpPr>
        <p:spPr>
          <a:xfrm>
            <a:off x="2559103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6" name="diagram block">
            <a:extLst>
              <a:ext uri="{FF2B5EF4-FFF2-40B4-BE49-F238E27FC236}">
                <ns2:creationId id="{92B95ED1-1ADE-4DB3-933B-C31D4806E842}"/>
              </a:ext>
            </a:extLst>
          </p:cNvPr>
          <p:cNvSpPr>
            <a:spLocks noGrp="1"/>
          </p:cNvSpPr>
          <p:nvPr/>
        </p:nvSpPr>
        <p:spPr>
          <a:xfrm>
            <a:off x="264168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7" name="diagram block">
            <a:extLst>
              <a:ext uri="{FF2B5EF4-FFF2-40B4-BE49-F238E27FC236}">
                <ns2:creationId id="{1F22638F-A785-49EC-B4B7-631C8C0A1B82}"/>
              </a:ext>
            </a:extLst>
          </p:cNvPr>
          <p:cNvSpPr>
            <a:spLocks noGrp="1"/>
          </p:cNvSpPr>
          <p:nvPr/>
        </p:nvSpPr>
        <p:spPr>
          <a:xfrm>
            <a:off x="2724264" y="1011610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48" name="diagram block">
            <a:extLst>
              <a:ext uri="{FF2B5EF4-FFF2-40B4-BE49-F238E27FC236}">
                <ns2:creationId id="{4316581C-2D2A-4D3F-900C-1826E1909625}"/>
              </a:ext>
            </a:extLst>
          </p:cNvPr>
          <p:cNvSpPr>
            <a:spLocks noGrp="1"/>
          </p:cNvSpPr>
          <p:nvPr/>
        </p:nvSpPr>
        <p:spPr>
          <a:xfrm>
            <a:off x="148039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49" name="diagram block">
            <a:extLst>
              <a:ext uri="{FF2B5EF4-FFF2-40B4-BE49-F238E27FC236}">
                <ns2:creationId id="{3196D015-DB1F-41F2-9D06-E6DD120787AA}"/>
              </a:ext>
            </a:extLst>
          </p:cNvPr>
          <p:cNvSpPr>
            <a:spLocks noGrp="1"/>
          </p:cNvSpPr>
          <p:nvPr/>
        </p:nvSpPr>
        <p:spPr>
          <a:xfrm>
            <a:off x="1562977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50" name="diagram block">
            <a:extLst>
              <a:ext uri="{FF2B5EF4-FFF2-40B4-BE49-F238E27FC236}">
                <ns2:creationId id="{A01BDCE2-9BA3-418D-BFD8-28AC19B2071C}"/>
              </a:ext>
            </a:extLst>
          </p:cNvPr>
          <p:cNvSpPr>
            <a:spLocks noGrp="1"/>
          </p:cNvSpPr>
          <p:nvPr/>
        </p:nvSpPr>
        <p:spPr>
          <a:xfrm>
            <a:off x="164555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51" name="diagram block">
            <a:extLst>
              <a:ext uri="{FF2B5EF4-FFF2-40B4-BE49-F238E27FC236}">
                <ns2:creationId id="{67B79BAD-D2A3-41AE-818A-DB8FC7B935F9}"/>
              </a:ext>
            </a:extLst>
          </p:cNvPr>
          <p:cNvSpPr>
            <a:spLocks noGrp="1"/>
          </p:cNvSpPr>
          <p:nvPr/>
        </p:nvSpPr>
        <p:spPr>
          <a:xfrm>
            <a:off x="1728138" y="2451605"/>
            <a:ext cx="46451" cy="201290"/>
          </a:xfrm>
          <a:prstGeom prst="rect">
            <a:avLst/>
          </a:prstGeom>
          <a:solidFill>
            <a:srgbClr val="F6BC54"/>
          </a:solidFill>
          <a:ln w="5161">
            <a:solidFill>
              <a:srgbClr val="C58823"/>
            </a:solidFill>
            <a:prstDash val="solid"/>
          </a:ln>
        </p:spPr>
      </p:sp>
      <p:sp>
        <p:nvSpPr>
          <p:cNvPr id="52" name="diagram block">
            <a:extLst>
              <a:ext uri="{FF2B5EF4-FFF2-40B4-BE49-F238E27FC236}">
                <ns2:creationId id="{B5BB267F-2BDB-4E38-A0E6-DF4A9F8F006C}"/>
              </a:ext>
            </a:extLst>
          </p:cNvPr>
          <p:cNvSpPr>
            <a:spLocks noGrp="1"/>
          </p:cNvSpPr>
          <p:nvPr/>
        </p:nvSpPr>
        <p:spPr>
          <a:xfrm>
            <a:off x="247652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3" name="diagram block">
            <a:extLst>
              <a:ext uri="{FF2B5EF4-FFF2-40B4-BE49-F238E27FC236}">
                <ns2:creationId id="{E06AEC7A-C787-41F8-9679-149DD1B0204F}"/>
              </a:ext>
            </a:extLst>
          </p:cNvPr>
          <p:cNvSpPr>
            <a:spLocks noGrp="1"/>
          </p:cNvSpPr>
          <p:nvPr/>
        </p:nvSpPr>
        <p:spPr>
          <a:xfrm>
            <a:off x="2559103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4" name="diagram block">
            <a:extLst>
              <a:ext uri="{FF2B5EF4-FFF2-40B4-BE49-F238E27FC236}">
                <ns2:creationId id="{0925762F-40DD-4D87-B5F2-610812F0EFED}"/>
              </a:ext>
            </a:extLst>
          </p:cNvPr>
          <p:cNvSpPr>
            <a:spLocks noGrp="1"/>
          </p:cNvSpPr>
          <p:nvPr/>
        </p:nvSpPr>
        <p:spPr>
          <a:xfrm>
            <a:off x="264168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5" name="diagram block">
            <a:extLst>
              <a:ext uri="{FF2B5EF4-FFF2-40B4-BE49-F238E27FC236}">
                <ns2:creationId id="{DE42DC88-12BD-4C49-A80A-5CBC2826FD0A}"/>
              </a:ext>
            </a:extLst>
          </p:cNvPr>
          <p:cNvSpPr>
            <a:spLocks noGrp="1"/>
          </p:cNvSpPr>
          <p:nvPr/>
        </p:nvSpPr>
        <p:spPr>
          <a:xfrm>
            <a:off x="2724264" y="2451605"/>
            <a:ext cx="46451" cy="201290"/>
          </a:xfrm>
          <a:prstGeom prst="rect">
            <a:avLst/>
          </a:prstGeom>
          <a:solidFill>
            <a:srgbClr val="71C9CA"/>
          </a:solidFill>
          <a:ln w="5161">
            <a:solidFill>
              <a:srgbClr val="2E8F97"/>
            </a:solidFill>
            <a:prstDash val="solid"/>
          </a:ln>
        </p:spPr>
      </p:sp>
      <p:sp>
        <p:nvSpPr>
          <p:cNvPr id="56" name="Future latent tokens Zᵀ">
            <a:extLst>
              <a:ext uri="{FF2B5EF4-FFF2-40B4-BE49-F238E27FC236}">
                <ns2:creationId id="{8C71DE41-9AED-4C94-B506-9FDF8303A817}"/>
              </a:ext>
            </a:extLst>
          </p:cNvPr>
          <p:cNvSpPr>
            <a:spLocks noGrp="1"/>
          </p:cNvSpPr>
          <p:nvPr/>
        </p:nvSpPr>
        <p:spPr>
          <a:xfrm>
            <a:off x="1222333" y="1249028"/>
            <a:ext cx="1140642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Future latent tokens Zᵀ</a:t>
            </a:r>
          </a:p>
        </p:txBody>
      </p:sp>
      <p:sp>
        <p:nvSpPr>
          <p:cNvPr id="57" name="(from future frames 1 … T)">
            <a:extLst>
              <a:ext uri="{FF2B5EF4-FFF2-40B4-BE49-F238E27FC236}">
                <ns2:creationId id="{088D9598-9350-4A3C-A821-4CC16595BCF3}"/>
              </a:ext>
            </a:extLst>
          </p:cNvPr>
          <p:cNvSpPr>
            <a:spLocks noGrp="1"/>
          </p:cNvSpPr>
          <p:nvPr/>
        </p:nvSpPr>
        <p:spPr>
          <a:xfrm>
            <a:off x="1237817" y="1367738"/>
            <a:ext cx="1094190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future frames 1 … T)</a:t>
            </a:r>
          </a:p>
        </p:txBody>
      </p:sp>
      <p:sp>
        <p:nvSpPr>
          <p:cNvPr id="58" name="Action chunk aᵀ">
            <a:extLst>
              <a:ext uri="{FF2B5EF4-FFF2-40B4-BE49-F238E27FC236}">
                <ns2:creationId id="{39F6242F-E5C2-4847-AFAF-255DB0C6EF30}"/>
              </a:ext>
            </a:extLst>
          </p:cNvPr>
          <p:cNvSpPr>
            <a:spLocks noGrp="1"/>
          </p:cNvSpPr>
          <p:nvPr/>
        </p:nvSpPr>
        <p:spPr>
          <a:xfrm>
            <a:off x="2368136" y="1249028"/>
            <a:ext cx="71741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chunk aᵀ</a:t>
            </a:r>
          </a:p>
        </p:txBody>
      </p:sp>
      <p:sp>
        <p:nvSpPr>
          <p:cNvPr id="59" name="(6 motor dims, gripper excluded)">
            <a:extLst>
              <a:ext uri="{FF2B5EF4-FFF2-40B4-BE49-F238E27FC236}">
                <ns2:creationId id="{4FA7F6AD-6FB9-4536-8698-24EBEFE0322E}"/>
              </a:ext>
            </a:extLst>
          </p:cNvPr>
          <p:cNvSpPr>
            <a:spLocks noGrp="1"/>
          </p:cNvSpPr>
          <p:nvPr/>
        </p:nvSpPr>
        <p:spPr>
          <a:xfrm>
            <a:off x="2182330" y="1367738"/>
            <a:ext cx="908384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7361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(6 motor dims, gripper excluded)</a:t>
            </a:r>
          </a:p>
        </p:txBody>
      </p:sp>
      <p:sp>
        <p:nvSpPr>
          <p:cNvPr id="60" name="Future latent tokens Zˢ">
            <a:extLst>
              <a:ext uri="{FF2B5EF4-FFF2-40B4-BE49-F238E27FC236}">
                <ns2:creationId id="{55C6B064-FCC4-4D96-BB1F-0860D00BCC65}"/>
              </a:ext>
            </a:extLst>
          </p:cNvPr>
          <p:cNvSpPr>
            <a:spLocks noGrp="1"/>
          </p:cNvSpPr>
          <p:nvPr/>
        </p:nvSpPr>
        <p:spPr>
          <a:xfrm>
            <a:off x="1227494" y="2714830"/>
            <a:ext cx="1109674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Future latent tokens Zˢ</a:t>
            </a:r>
          </a:p>
        </p:txBody>
      </p:sp>
      <p:sp>
        <p:nvSpPr>
          <p:cNvPr id="61" name="(from student’s own generation)">
            <a:extLst>
              <a:ext uri="{FF2B5EF4-FFF2-40B4-BE49-F238E27FC236}">
                <ns2:creationId id="{5B0AD7DF-E0DE-4BCC-81B7-B6DE2A63661E}"/>
              </a:ext>
            </a:extLst>
          </p:cNvPr>
          <p:cNvSpPr>
            <a:spLocks noGrp="1"/>
          </p:cNvSpPr>
          <p:nvPr/>
        </p:nvSpPr>
        <p:spPr>
          <a:xfrm>
            <a:off x="1217172" y="2833539"/>
            <a:ext cx="1037416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548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student’s own generation)</a:t>
            </a:r>
          </a:p>
        </p:txBody>
      </p:sp>
      <p:sp>
        <p:nvSpPr>
          <p:cNvPr id="62" name="Action chunk aˢ">
            <a:extLst>
              <a:ext uri="{FF2B5EF4-FFF2-40B4-BE49-F238E27FC236}">
                <ns2:creationId id="{DD101D0B-EE68-4524-8F92-55CDC6D8DD17}"/>
              </a:ext>
            </a:extLst>
          </p:cNvPr>
          <p:cNvSpPr>
            <a:spLocks noGrp="1"/>
          </p:cNvSpPr>
          <p:nvPr/>
        </p:nvSpPr>
        <p:spPr>
          <a:xfrm>
            <a:off x="2368136" y="2714830"/>
            <a:ext cx="71741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Action chunk aˢ</a:t>
            </a:r>
          </a:p>
        </p:txBody>
      </p:sp>
      <p:sp>
        <p:nvSpPr>
          <p:cNvPr id="63" name="(6 motor dims, gripper excluded)">
            <a:extLst>
              <a:ext uri="{FF2B5EF4-FFF2-40B4-BE49-F238E27FC236}">
                <ns2:creationId id="{1D74AC3F-050D-47AC-9370-A01E8C9229B8}"/>
              </a:ext>
            </a:extLst>
          </p:cNvPr>
          <p:cNvSpPr>
            <a:spLocks noGrp="1"/>
          </p:cNvSpPr>
          <p:nvPr/>
        </p:nvSpPr>
        <p:spPr>
          <a:xfrm>
            <a:off x="2275233" y="2833539"/>
            <a:ext cx="805159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68949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(6 motor dims, gripper excluded)</a:t>
            </a:r>
          </a:p>
        </p:txBody>
      </p:sp>
      <p:cxnSp>
        <p:nvCxnSpPr>
          <p:cNvPr id="64" name="native PowerPoint connector">
            <a:extLst>
              <a:ext uri="{FF2B5EF4-FFF2-40B4-BE49-F238E27FC236}">
                <ns2:creationId id="{59793A0E-57C2-461D-AB2E-0BDD76B87DF6}"/>
              </a:ext>
            </a:extLst>
          </p:cNvPr>
          <p:cNvCxnSpPr/>
          <p:nvPr/>
        </p:nvCxnSpPr>
        <p:spPr>
          <a:xfrm flipH="0" flipV="0">
            <a:off x="1227494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5" name="native PowerPoint connector">
            <a:extLst>
              <a:ext uri="{FF2B5EF4-FFF2-40B4-BE49-F238E27FC236}">
                <ns2:creationId id="{36CC8BEF-94FD-4964-88EE-6BF25855E93A}"/>
              </a:ext>
            </a:extLst>
          </p:cNvPr>
          <p:cNvCxnSpPr/>
          <p:nvPr/>
        </p:nvCxnSpPr>
        <p:spPr>
          <a:xfrm flipH="0" flipV="0">
            <a:off x="1227494" y="1507092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6" name="native PowerPoint connector">
            <a:extLst>
              <a:ext uri="{FF2B5EF4-FFF2-40B4-BE49-F238E27FC236}">
                <ns2:creationId id="{53BD6DD6-3FE8-4926-B0AA-2A2BFF9E945E}"/>
              </a:ext>
            </a:extLst>
          </p:cNvPr>
          <p:cNvCxnSpPr/>
          <p:nvPr/>
        </p:nvCxnSpPr>
        <p:spPr>
          <a:xfrm flipH="0" flipV="1">
            <a:off x="224942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67" name="T tokens (exclude frame 0)">
            <a:extLst>
              <a:ext uri="{FF2B5EF4-FFF2-40B4-BE49-F238E27FC236}">
                <ns2:creationId id="{9372A1A8-77EC-4305-8C4F-85C51147EF82}"/>
              </a:ext>
            </a:extLst>
          </p:cNvPr>
          <p:cNvSpPr>
            <a:spLocks noGrp="1"/>
          </p:cNvSpPr>
          <p:nvPr/>
        </p:nvSpPr>
        <p:spPr>
          <a:xfrm>
            <a:off x="1191366" y="154322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 tokens (exclude frame 0)</a:t>
            </a:r>
          </a:p>
        </p:txBody>
      </p:sp>
      <p:cxnSp>
        <p:nvCxnSpPr>
          <p:cNvPr id="68" name="native PowerPoint connector">
            <a:extLst>
              <a:ext uri="{FF2B5EF4-FFF2-40B4-BE49-F238E27FC236}">
                <ns2:creationId id="{E6ED8A4B-D018-4A2B-B138-61AE8A1EF69C}"/>
              </a:ext>
            </a:extLst>
          </p:cNvPr>
          <p:cNvCxnSpPr/>
          <p:nvPr/>
        </p:nvCxnSpPr>
        <p:spPr>
          <a:xfrm flipH="0" flipV="0">
            <a:off x="2316523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69" name="native PowerPoint connector">
            <a:extLst>
              <a:ext uri="{FF2B5EF4-FFF2-40B4-BE49-F238E27FC236}">
                <ns2:creationId id="{678B1E8A-3AFD-46F4-9F94-46847368C3E3}"/>
              </a:ext>
            </a:extLst>
          </p:cNvPr>
          <p:cNvCxnSpPr/>
          <p:nvPr/>
        </p:nvCxnSpPr>
        <p:spPr>
          <a:xfrm flipH="0" flipV="0">
            <a:off x="2316523" y="1507092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0" name="native PowerPoint connector">
            <a:extLst>
              <a:ext uri="{FF2B5EF4-FFF2-40B4-BE49-F238E27FC236}">
                <ns2:creationId id="{B406A64D-89C6-4F70-B35B-AFE110322A0D}"/>
              </a:ext>
            </a:extLst>
          </p:cNvPr>
          <p:cNvCxnSpPr/>
          <p:nvPr/>
        </p:nvCxnSpPr>
        <p:spPr>
          <a:xfrm flipH="0" flipV="1">
            <a:off x="2941037" y="1470963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1" name="H tokens">
            <a:extLst>
              <a:ext uri="{FF2B5EF4-FFF2-40B4-BE49-F238E27FC236}">
                <ns2:creationId id="{941420EF-A938-4A51-AF3C-7E7AF9926F36}"/>
              </a:ext>
            </a:extLst>
          </p:cNvPr>
          <p:cNvSpPr>
            <a:spLocks noGrp="1"/>
          </p:cNvSpPr>
          <p:nvPr/>
        </p:nvSpPr>
        <p:spPr>
          <a:xfrm>
            <a:off x="2280394" y="154322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H tokens</a:t>
            </a:r>
          </a:p>
        </p:txBody>
      </p:sp>
      <p:cxnSp>
        <p:nvCxnSpPr>
          <p:cNvPr id="72" name="native PowerPoint connector">
            <a:extLst>
              <a:ext uri="{FF2B5EF4-FFF2-40B4-BE49-F238E27FC236}">
                <ns2:creationId id="{473F3B78-F32B-4886-AC6C-86305A58F113}"/>
              </a:ext>
            </a:extLst>
          </p:cNvPr>
          <p:cNvCxnSpPr/>
          <p:nvPr/>
        </p:nvCxnSpPr>
        <p:spPr>
          <a:xfrm flipH="0" flipV="0">
            <a:off x="1227494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3" name="native PowerPoint connector">
            <a:extLst>
              <a:ext uri="{FF2B5EF4-FFF2-40B4-BE49-F238E27FC236}">
                <ns2:creationId id="{28108E68-6AE7-444C-A969-438F28579775}"/>
              </a:ext>
            </a:extLst>
          </p:cNvPr>
          <p:cNvCxnSpPr/>
          <p:nvPr/>
        </p:nvCxnSpPr>
        <p:spPr>
          <a:xfrm flipH="0" flipV="0">
            <a:off x="1227494" y="2967733"/>
            <a:ext cx="1021932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4" name="native PowerPoint connector">
            <a:extLst>
              <a:ext uri="{FF2B5EF4-FFF2-40B4-BE49-F238E27FC236}">
                <ns2:creationId id="{BBD0019F-EF71-4E82-8D62-95D455C12FBB}"/>
              </a:ext>
            </a:extLst>
          </p:cNvPr>
          <p:cNvCxnSpPr/>
          <p:nvPr/>
        </p:nvCxnSpPr>
        <p:spPr>
          <a:xfrm flipH="0" flipV="1">
            <a:off x="224942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5" name="T tokens (exclude frame 0)">
            <a:extLst>
              <a:ext uri="{FF2B5EF4-FFF2-40B4-BE49-F238E27FC236}">
                <ns2:creationId id="{308ABC21-C304-481C-BF03-ADA9544850F3}"/>
              </a:ext>
            </a:extLst>
          </p:cNvPr>
          <p:cNvSpPr>
            <a:spLocks noGrp="1"/>
          </p:cNvSpPr>
          <p:nvPr/>
        </p:nvSpPr>
        <p:spPr>
          <a:xfrm>
            <a:off x="1191366" y="3003861"/>
            <a:ext cx="109935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 tokens (exclude frame 0)</a:t>
            </a:r>
          </a:p>
        </p:txBody>
      </p:sp>
      <p:cxnSp>
        <p:nvCxnSpPr>
          <p:cNvPr id="76" name="native PowerPoint connector">
            <a:extLst>
              <a:ext uri="{FF2B5EF4-FFF2-40B4-BE49-F238E27FC236}">
                <ns2:creationId id="{A4AB8A61-2D24-4068-AE12-8B9726E1211A}"/>
              </a:ext>
            </a:extLst>
          </p:cNvPr>
          <p:cNvCxnSpPr/>
          <p:nvPr/>
        </p:nvCxnSpPr>
        <p:spPr>
          <a:xfrm flipH="0" flipV="0">
            <a:off x="2316523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7" name="native PowerPoint connector">
            <a:extLst>
              <a:ext uri="{FF2B5EF4-FFF2-40B4-BE49-F238E27FC236}">
                <ns2:creationId id="{A2F487A8-F239-476A-8FF1-ADD103537B55}"/>
              </a:ext>
            </a:extLst>
          </p:cNvPr>
          <p:cNvCxnSpPr/>
          <p:nvPr/>
        </p:nvCxnSpPr>
        <p:spPr>
          <a:xfrm flipH="0" flipV="0">
            <a:off x="2316523" y="2967733"/>
            <a:ext cx="624514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78" name="native PowerPoint connector">
            <a:extLst>
              <a:ext uri="{FF2B5EF4-FFF2-40B4-BE49-F238E27FC236}">
                <ns2:creationId id="{A6AC3B0C-CBBD-49C3-B61C-CE1A31F5522E}"/>
              </a:ext>
            </a:extLst>
          </p:cNvPr>
          <p:cNvCxnSpPr/>
          <p:nvPr/>
        </p:nvCxnSpPr>
        <p:spPr>
          <a:xfrm flipH="0" flipV="1">
            <a:off x="2941037" y="2931604"/>
            <a:ext cx="0" cy="36129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79" name="H tokens">
            <a:extLst>
              <a:ext uri="{FF2B5EF4-FFF2-40B4-BE49-F238E27FC236}">
                <ns2:creationId id="{D208A7A0-EDBF-4C9A-8559-011683E293BA}"/>
              </a:ext>
            </a:extLst>
          </p:cNvPr>
          <p:cNvSpPr>
            <a:spLocks noGrp="1"/>
          </p:cNvSpPr>
          <p:nvPr/>
        </p:nvSpPr>
        <p:spPr>
          <a:xfrm>
            <a:off x="2280394" y="3003861"/>
            <a:ext cx="70193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H tokens</a:t>
            </a:r>
          </a:p>
        </p:txBody>
      </p:sp>
      <p:cxnSp>
        <p:nvCxnSpPr>
          <p:cNvPr id="80" name="native PowerPoint connector">
            <a:extLst>
              <a:ext uri="{FF2B5EF4-FFF2-40B4-BE49-F238E27FC236}">
                <ns2:creationId id="{02ADA28C-76FD-4907-8021-A67939002BB5}"/>
              </a:ext>
            </a:extLst>
          </p:cNvPr>
          <p:cNvCxnSpPr/>
          <p:nvPr/>
        </p:nvCxnSpPr>
        <p:spPr>
          <a:xfrm flipH="0" flipV="0">
            <a:off x="1821041" y="1135480"/>
            <a:ext cx="510966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1" name="native PowerPoint connector">
            <a:extLst>
              <a:ext uri="{FF2B5EF4-FFF2-40B4-BE49-F238E27FC236}">
                <ns2:creationId id="{62929E2B-4140-4FEA-A4F2-0C3562F2EFB3}"/>
              </a:ext>
            </a:extLst>
          </p:cNvPr>
          <p:cNvCxnSpPr/>
          <p:nvPr/>
        </p:nvCxnSpPr>
        <p:spPr>
          <a:xfrm flipH="0" flipV="1">
            <a:off x="2332007" y="990965"/>
            <a:ext cx="0" cy="144516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2" name="Video K/V">
            <a:extLst>
              <a:ext uri="{FF2B5EF4-FFF2-40B4-BE49-F238E27FC236}">
                <ns2:creationId id="{BD2F8320-65B3-4479-AC99-BF5E4B747DE7}"/>
              </a:ext>
            </a:extLst>
          </p:cNvPr>
          <p:cNvSpPr>
            <a:spLocks noGrp="1"/>
          </p:cNvSpPr>
          <p:nvPr/>
        </p:nvSpPr>
        <p:spPr>
          <a:xfrm>
            <a:off x="1934589" y="980642"/>
            <a:ext cx="43354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K/V</a:t>
            </a:r>
          </a:p>
        </p:txBody>
      </p:sp>
      <p:sp>
        <p:nvSpPr>
          <p:cNvPr id="83" name="(from teacher Zᵀ)">
            <a:extLst>
              <a:ext uri="{FF2B5EF4-FFF2-40B4-BE49-F238E27FC236}">
                <ns2:creationId id="{BF78D134-E767-4DD4-96B4-68F5CA0D79C2}"/>
              </a:ext>
            </a:extLst>
          </p:cNvPr>
          <p:cNvSpPr>
            <a:spLocks noGrp="1"/>
          </p:cNvSpPr>
          <p:nvPr/>
        </p:nvSpPr>
        <p:spPr>
          <a:xfrm>
            <a:off x="1841686" y="1083868"/>
            <a:ext cx="500644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359"/>
          </a:bodyPr>
          <a:lstStyle>
            <a:def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teacher Zᵀ)</a:t>
            </a:r>
          </a:p>
        </p:txBody>
      </p:sp>
      <p:cxnSp>
        <p:nvCxnSpPr>
          <p:cNvPr id="84" name="native PowerPoint connector">
            <a:extLst>
              <a:ext uri="{FF2B5EF4-FFF2-40B4-BE49-F238E27FC236}">
                <ns2:creationId id="{D5ECEBC6-C2EF-4317-85C0-5B3BD6E38095}"/>
              </a:ext>
            </a:extLst>
          </p:cNvPr>
          <p:cNvCxnSpPr/>
          <p:nvPr/>
        </p:nvCxnSpPr>
        <p:spPr>
          <a:xfrm flipH="0" flipV="0">
            <a:off x="1821041" y="2580637"/>
            <a:ext cx="510966" cy="0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</a:ln>
        </p:spPr>
      </p:cxnSp>
      <p:cxnSp>
        <p:nvCxnSpPr>
          <p:cNvPr id="85" name="native PowerPoint connector">
            <a:extLst>
              <a:ext uri="{FF2B5EF4-FFF2-40B4-BE49-F238E27FC236}">
                <ns2:creationId id="{E064BF55-029C-49FC-A2D5-3F16C4E5D95D}"/>
              </a:ext>
            </a:extLst>
          </p:cNvPr>
          <p:cNvCxnSpPr/>
          <p:nvPr/>
        </p:nvCxnSpPr>
        <p:spPr>
          <a:xfrm flipH="0" flipV="1">
            <a:off x="2332007" y="2425799"/>
            <a:ext cx="0" cy="154838"/>
          </a:xfrm>
          <a:prstGeom prst="straightConnector1">
            <a:avLst/>
          </a:prstGeom>
          <a:ln w="671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86" name="Video K/V">
            <a:extLst>
              <a:ext uri="{FF2B5EF4-FFF2-40B4-BE49-F238E27FC236}">
                <ns2:creationId id="{9C473F24-C6BF-40E4-BDAF-48254C36C0B3}"/>
              </a:ext>
            </a:extLst>
          </p:cNvPr>
          <p:cNvSpPr>
            <a:spLocks noGrp="1"/>
          </p:cNvSpPr>
          <p:nvPr/>
        </p:nvSpPr>
        <p:spPr>
          <a:xfrm>
            <a:off x="1929428" y="2425799"/>
            <a:ext cx="423224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1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Video K/V</a:t>
            </a:r>
          </a:p>
        </p:txBody>
      </p:sp>
      <p:sp>
        <p:nvSpPr>
          <p:cNvPr id="87" name="(from student Zˢ)">
            <a:extLst>
              <a:ext uri="{FF2B5EF4-FFF2-40B4-BE49-F238E27FC236}">
                <ns2:creationId id="{FC729820-E486-4880-B477-220BFE671934}"/>
              </a:ext>
            </a:extLst>
          </p:cNvPr>
          <p:cNvSpPr>
            <a:spLocks noGrp="1"/>
          </p:cNvSpPr>
          <p:nvPr/>
        </p:nvSpPr>
        <p:spPr>
          <a:xfrm>
            <a:off x="1841686" y="2529024"/>
            <a:ext cx="510966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539"/>
          </a:bodyPr>
          <a:lstStyle>
            <a:def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1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(from student Zˢ)</a:t>
            </a:r>
          </a:p>
        </p:txBody>
      </p:sp>
      <p:cxnSp>
        <p:nvCxnSpPr>
          <p:cNvPr id="88" name="native PowerPoint connector">
            <a:extLst>
              <a:ext uri="{FF2B5EF4-FFF2-40B4-BE49-F238E27FC236}">
                <ns2:creationId id="{2B6ABA01-1993-41DD-B17D-C44E840B78C8}"/>
              </a:ext>
            </a:extLst>
          </p:cNvPr>
          <p:cNvCxnSpPr/>
          <p:nvPr/>
        </p:nvCxnSpPr>
        <p:spPr>
          <a:xfrm flipH="0" flipV="0">
            <a:off x="2946199" y="769030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89" name="native PowerPoint connector">
            <a:extLst>
              <a:ext uri="{FF2B5EF4-FFF2-40B4-BE49-F238E27FC236}">
                <ns2:creationId id="{B49A1131-1A96-418F-8B95-3A703F5A41AD}"/>
              </a:ext>
            </a:extLst>
          </p:cNvPr>
          <p:cNvCxnSpPr/>
          <p:nvPr/>
        </p:nvCxnSpPr>
        <p:spPr>
          <a:xfrm flipH="0" flipV="1">
            <a:off x="3147488" y="645159"/>
            <a:ext cx="0" cy="123871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0" name="native PowerPoint connector">
            <a:extLst>
              <a:ext uri="{FF2B5EF4-FFF2-40B4-BE49-F238E27FC236}">
                <ns2:creationId id="{FE6C3AC5-6B7C-4B8A-B0A2-388ACD73E3B9}"/>
              </a:ext>
            </a:extLst>
          </p:cNvPr>
          <p:cNvCxnSpPr/>
          <p:nvPr/>
        </p:nvCxnSpPr>
        <p:spPr>
          <a:xfrm flipH="0" flipV="0">
            <a:off x="3147488" y="645159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1" name="native PowerPoint connector">
            <a:extLst>
              <a:ext uri="{FF2B5EF4-FFF2-40B4-BE49-F238E27FC236}">
                <ns2:creationId id="{837819E3-089E-48E9-B25F-E291797031F9}"/>
              </a:ext>
            </a:extLst>
          </p:cNvPr>
          <p:cNvCxnSpPr/>
          <p:nvPr/>
        </p:nvCxnSpPr>
        <p:spPr>
          <a:xfrm flipH="0" flipV="0">
            <a:off x="2946199" y="2193541"/>
            <a:ext cx="20129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2" name="native PowerPoint connector">
            <a:extLst>
              <a:ext uri="{FF2B5EF4-FFF2-40B4-BE49-F238E27FC236}">
                <ns2:creationId id="{270C06BB-F239-4CBE-B34F-2C17A61E70D2}"/>
              </a:ext>
            </a:extLst>
          </p:cNvPr>
          <p:cNvCxnSpPr/>
          <p:nvPr/>
        </p:nvCxnSpPr>
        <p:spPr>
          <a:xfrm flipH="0" flipV="0">
            <a:off x="3147488" y="21935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93" name="native PowerPoint connector">
            <a:extLst>
              <a:ext uri="{FF2B5EF4-FFF2-40B4-BE49-F238E27FC236}">
                <ns2:creationId id="{AB8394D8-A1AD-47A0-9498-132FE3767DDA}"/>
              </a:ext>
            </a:extLst>
          </p:cNvPr>
          <p:cNvCxnSpPr/>
          <p:nvPr/>
        </p:nvCxnSpPr>
        <p:spPr>
          <a:xfrm flipH="0" flipV="0">
            <a:off x="3147488" y="227612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94" name="native PowerPoint connector">
            <a:extLst>
              <a:ext uri="{FF2B5EF4-FFF2-40B4-BE49-F238E27FC236}">
                <ns2:creationId id="{80C7E231-0A42-413C-8D41-88424836EE6F}"/>
              </a:ext>
            </a:extLst>
          </p:cNvPr>
          <p:cNvCxnSpPr/>
          <p:nvPr/>
        </p:nvCxnSpPr>
        <p:spPr>
          <a:xfrm flipH="0" flipV="0">
            <a:off x="3147488" y="645159"/>
            <a:ext cx="0" cy="1630963"/>
          </a:xfrm>
          <a:prstGeom prst="straightConnector1">
            <a:avLst/>
          </a:prstGeom>
          <a:ln w="6194">
            <a:solidFill>
              <a:srgbClr val="071B3C"/>
            </a:solidFill>
            <a:prstDash val="dash"/>
          </a:ln>
        </p:spPr>
      </p:cxnSp>
      <p:sp>
        <p:nvSpPr>
          <p:cNvPr id="95" name="diagram block">
            <a:extLst>
              <a:ext uri="{FF2B5EF4-FFF2-40B4-BE49-F238E27FC236}">
                <ns2:creationId id="{8AA65BAF-A3A2-49FF-89BD-080B8AE7E6F7}"/>
              </a:ext>
            </a:extLst>
          </p:cNvPr>
          <p:cNvSpPr>
            <a:spLocks noGrp="1"/>
          </p:cNvSpPr>
          <p:nvPr/>
        </p:nvSpPr>
        <p:spPr>
          <a:xfrm>
            <a:off x="3261036" y="485160"/>
            <a:ext cx="629675" cy="903223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0D297"/>
            </a:solidFill>
            <a:prstDash val="solid"/>
          </a:ln>
        </p:spPr>
      </p:sp>
      <p:sp>
        <p:nvSpPr>
          <p:cNvPr id="96" name="Future&#10;latent loss">
            <a:extLst>
              <a:ext uri="{FF2B5EF4-FFF2-40B4-BE49-F238E27FC236}">
                <ns2:creationId id="{9AC57052-3997-453D-B1B3-DD40E76F9DB8}"/>
              </a:ext>
            </a:extLst>
          </p:cNvPr>
          <p:cNvSpPr>
            <a:spLocks noGrp="1"/>
          </p:cNvSpPr>
          <p:nvPr/>
        </p:nvSpPr>
        <p:spPr>
          <a:xfrm>
            <a:off x="3312649" y="526450"/>
            <a:ext cx="526450" cy="2477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5"/>
          </a:bodyPr>
          <a:lstStyle>
            <a:def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rPr>
              <a:t>Future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76450F"/>
                </a:solidFill>
                <a:latin typeface="Arial Narrow"/>
                <a:ea typeface="Arial Narrow"/>
                <a:cs typeface="Arial Narrow"/>
              </a:rPr>
              <a:t>latent loss</a:t>
            </a:r>
          </a:p>
        </p:txBody>
      </p:sp>
      <p:sp>
        <p:nvSpPr>
          <p:cNvPr id="97" name="L_z = ‖Z^T_{1:T} −">
            <a:extLst>
              <a:ext uri="{FF2B5EF4-FFF2-40B4-BE49-F238E27FC236}">
                <ns2:creationId id="{F4F5A494-9836-499A-A09A-9BBD23900BF0}"/>
              </a:ext>
            </a:extLst>
          </p:cNvPr>
          <p:cNvSpPr>
            <a:spLocks noGrp="1"/>
          </p:cNvSpPr>
          <p:nvPr/>
        </p:nvSpPr>
        <p:spPr>
          <a:xfrm>
            <a:off x="3302327" y="846449"/>
            <a:ext cx="557418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‖Z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1:T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−</a:t>
            </a:r>
          </a:p>
        </p:txBody>
      </p:sp>
      <p:sp>
        <p:nvSpPr>
          <p:cNvPr id="98" name="Z^S_{1:T}‖²₂">
            <a:extLst>
              <a:ext uri="{FF2B5EF4-FFF2-40B4-BE49-F238E27FC236}">
                <ns2:creationId id="{70AD809F-AF8C-4EE9-A716-5D75A2EB8169}"/>
              </a:ext>
            </a:extLst>
          </p:cNvPr>
          <p:cNvSpPr>
            <a:spLocks noGrp="1"/>
          </p:cNvSpPr>
          <p:nvPr/>
        </p:nvSpPr>
        <p:spPr>
          <a:xfrm>
            <a:off x="3359101" y="985803"/>
            <a:ext cx="505805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712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1:T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‖²₂</a:t>
            </a:r>
          </a:p>
        </p:txBody>
      </p:sp>
      <p:sp>
        <p:nvSpPr>
          <p:cNvPr id="99" name="(exclude&#10;frame 0)">
            <a:extLst>
              <a:ext uri="{FF2B5EF4-FFF2-40B4-BE49-F238E27FC236}">
                <ns2:creationId id="{DC56D129-6758-415B-B4DE-D3F1CE5BE22A}"/>
              </a:ext>
            </a:extLst>
          </p:cNvPr>
          <p:cNvSpPr>
            <a:spLocks noGrp="1"/>
          </p:cNvSpPr>
          <p:nvPr/>
        </p:nvSpPr>
        <p:spPr>
          <a:xfrm>
            <a:off x="3353939" y="1161287"/>
            <a:ext cx="474837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(exclude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frame 0)</a:t>
            </a:r>
          </a:p>
        </p:txBody>
      </p:sp>
      <p:sp>
        <p:nvSpPr>
          <p:cNvPr id="100" name="diagram block">
            <a:extLst>
              <a:ext uri="{FF2B5EF4-FFF2-40B4-BE49-F238E27FC236}">
                <ns2:creationId id="{CA7DAB5D-067B-4A6E-A159-D4AF9FF4DD6D}"/>
              </a:ext>
            </a:extLst>
          </p:cNvPr>
          <p:cNvSpPr>
            <a:spLocks noGrp="1"/>
          </p:cNvSpPr>
          <p:nvPr/>
        </p:nvSpPr>
        <p:spPr>
          <a:xfrm>
            <a:off x="3261036" y="1723865"/>
            <a:ext cx="629675" cy="1068384"/>
          </a:xfrm>
          <a:prstGeom prst="roundRect">
            <a:avLst>
              <a:gd name="adj" fmla="val 4098"/>
            </a:avLst>
          </a:prstGeom>
          <a:gradFill>
            <a:gsLst>
              <a:gs pos="0">
                <a:srgbClr val="D9F2F4"/>
              </a:gs>
              <a:gs pos="100000">
                <a:srgbClr val="EDF9FA"/>
              </a:gs>
            </a:gsLst>
            <a:lin ang="5400000"/>
          </a:gradFill>
          <a:ln w="5161">
            <a:solidFill>
              <a:srgbClr val="98D7DE"/>
            </a:solidFill>
            <a:prstDash val="solid"/>
          </a:ln>
        </p:spPr>
      </p:sp>
      <p:sp>
        <p:nvSpPr>
          <p:cNvPr id="101" name="First-10&#10;motor action&#10;loss">
            <a:extLst>
              <a:ext uri="{FF2B5EF4-FFF2-40B4-BE49-F238E27FC236}">
                <ns2:creationId id="{DDD8EACB-7E89-4C23-8518-A15B63B4C512}"/>
              </a:ext>
            </a:extLst>
          </p:cNvPr>
          <p:cNvSpPr>
            <a:spLocks noGrp="1"/>
          </p:cNvSpPr>
          <p:nvPr/>
        </p:nvSpPr>
        <p:spPr>
          <a:xfrm>
            <a:off x="3307488" y="1790962"/>
            <a:ext cx="541934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867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First-10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motor 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loss</a:t>
            </a:r>
          </a:p>
        </p:txBody>
      </p:sp>
      <p:sp>
        <p:nvSpPr>
          <p:cNvPr id="102" name="L_a = ‖a^T_{1:10} −">
            <a:extLst>
              <a:ext uri="{FF2B5EF4-FFF2-40B4-BE49-F238E27FC236}">
                <ns2:creationId id="{638689B2-D9DE-4706-ABFF-3FF237EE53C4}"/>
              </a:ext>
            </a:extLst>
          </p:cNvPr>
          <p:cNvSpPr>
            <a:spLocks noGrp="1"/>
          </p:cNvSpPr>
          <p:nvPr/>
        </p:nvSpPr>
        <p:spPr>
          <a:xfrm>
            <a:off x="3297165" y="2167735"/>
            <a:ext cx="562579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68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= ‖a</a:t>
            </a:r>
            <a:r>
              <a:rPr sz="683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68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1:10</a:t>
            </a: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−</a:t>
            </a:r>
          </a:p>
        </p:txBody>
      </p:sp>
      <p:sp>
        <p:nvSpPr>
          <p:cNvPr id="103" name="a^S_{1:10}‖²₂">
            <a:extLst>
              <a:ext uri="{FF2B5EF4-FFF2-40B4-BE49-F238E27FC236}">
                <ns2:creationId id="{0A624480-40D3-4B8B-9795-E7656C7B41AD}"/>
              </a:ext>
            </a:extLst>
          </p:cNvPr>
          <p:cNvSpPr>
            <a:spLocks noGrp="1"/>
          </p:cNvSpPr>
          <p:nvPr/>
        </p:nvSpPr>
        <p:spPr>
          <a:xfrm>
            <a:off x="3348778" y="2322573"/>
            <a:ext cx="516127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683" b="0" i="1" baseline="27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683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1:10</a:t>
            </a: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‖²₂</a:t>
            </a:r>
          </a:p>
        </p:txBody>
      </p:sp>
      <p:sp>
        <p:nvSpPr>
          <p:cNvPr id="104" name="(6 motor dims&#10;only, gripper&#10;excluded)">
            <a:extLst>
              <a:ext uri="{FF2B5EF4-FFF2-40B4-BE49-F238E27FC236}">
                <ns2:creationId id="{86A175C3-F7D9-41F8-ADA0-FA15982A7F15}"/>
              </a:ext>
            </a:extLst>
          </p:cNvPr>
          <p:cNvSpPr>
            <a:spLocks noGrp="1"/>
          </p:cNvSpPr>
          <p:nvPr/>
        </p:nvSpPr>
        <p:spPr>
          <a:xfrm>
            <a:off x="3302327" y="2503218"/>
            <a:ext cx="536772" cy="2683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0194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(6 motor dims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only, gripper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excluded)</a:t>
            </a:r>
          </a:p>
        </p:txBody>
      </p:sp>
      <p:sp>
        <p:nvSpPr>
          <p:cNvPr id="105" name="Transform a weight row and split into groups of 32 scalars">
            <a:extLst>
              <a:ext uri="{FF2B5EF4-FFF2-40B4-BE49-F238E27FC236}">
                <ns2:creationId id="{0C17D59F-7A67-4731-B882-C981EFC735B4}"/>
              </a:ext>
            </a:extLst>
          </p:cNvPr>
          <p:cNvSpPr>
            <a:spLocks noGrp="1"/>
          </p:cNvSpPr>
          <p:nvPr/>
        </p:nvSpPr>
        <p:spPr>
          <a:xfrm>
            <a:off x="4066195" y="273548"/>
            <a:ext cx="2296767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078"/>
          </a:bodyPr>
          <a:lstStyle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Transform a weight row and split into groups of 32 scalars</a:t>
            </a:r>
          </a:p>
        </p:txBody>
      </p:sp>
      <p:sp>
        <p:nvSpPr>
          <p:cNvPr id="106" name="(each vector has d = 4)">
            <a:extLst>
              <a:ext uri="{FF2B5EF4-FFF2-40B4-BE49-F238E27FC236}">
                <ns2:creationId id="{7A6B1627-7C9B-4485-84EC-01DF40CE23A4}"/>
              </a:ext>
            </a:extLst>
          </p:cNvPr>
          <p:cNvSpPr>
            <a:spLocks noGrp="1"/>
          </p:cNvSpPr>
          <p:nvPr/>
        </p:nvSpPr>
        <p:spPr>
          <a:xfrm>
            <a:off x="4122969" y="387096"/>
            <a:ext cx="2198703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(each vector has d = 4)</a:t>
            </a:r>
          </a:p>
        </p:txBody>
      </p:sp>
      <p:sp>
        <p:nvSpPr>
          <p:cNvPr id="107" name="Transformed weight row  w">
            <a:extLst>
              <a:ext uri="{FF2B5EF4-FFF2-40B4-BE49-F238E27FC236}">
                <ns2:creationId id="{04D4698D-A1F0-4202-BCF2-585AA11C42A2}"/>
              </a:ext>
            </a:extLst>
          </p:cNvPr>
          <p:cNvSpPr>
            <a:spLocks noGrp="1"/>
          </p:cNvSpPr>
          <p:nvPr/>
        </p:nvSpPr>
        <p:spPr>
          <a:xfrm>
            <a:off x="4210711" y="521289"/>
            <a:ext cx="1971607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809"/>
          </a:bodyPr>
          <a:lstStyle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Transformed weight row  w</a:t>
            </a:r>
          </a:p>
        </p:txBody>
      </p:sp>
      <p:sp>
        <p:nvSpPr>
          <p:cNvPr id="108" name="diagram block">
            <a:extLst>
              <a:ext uri="{FF2B5EF4-FFF2-40B4-BE49-F238E27FC236}">
                <ns2:creationId id="{E56B522C-ED8E-4AC1-B2D6-E3108D5ED445}"/>
              </a:ext>
            </a:extLst>
          </p:cNvPr>
          <p:cNvSpPr>
            <a:spLocks noGrp="1"/>
          </p:cNvSpPr>
          <p:nvPr/>
        </p:nvSpPr>
        <p:spPr>
          <a:xfrm>
            <a:off x="425716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09" name="diagram block">
            <a:extLst>
              <a:ext uri="{FF2B5EF4-FFF2-40B4-BE49-F238E27FC236}">
                <ns2:creationId id="{99DF05C2-285C-4163-B1BB-85C461782728}"/>
              </a:ext>
            </a:extLst>
          </p:cNvPr>
          <p:cNvSpPr>
            <a:spLocks noGrp="1"/>
          </p:cNvSpPr>
          <p:nvPr/>
        </p:nvSpPr>
        <p:spPr>
          <a:xfrm>
            <a:off x="437554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0" name="diagram block">
            <a:extLst>
              <a:ext uri="{FF2B5EF4-FFF2-40B4-BE49-F238E27FC236}">
                <ns2:creationId id="{25E8D59E-190E-4B74-8D28-17A9E5972FC0}"/>
              </a:ext>
            </a:extLst>
          </p:cNvPr>
          <p:cNvSpPr>
            <a:spLocks noGrp="1"/>
          </p:cNvSpPr>
          <p:nvPr/>
        </p:nvSpPr>
        <p:spPr>
          <a:xfrm>
            <a:off x="449393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1" name="diagram block">
            <a:extLst>
              <a:ext uri="{FF2B5EF4-FFF2-40B4-BE49-F238E27FC236}">
                <ns2:creationId id="{B0101E86-2CD1-4AF6-BAE7-BE3154FFBBE4}"/>
              </a:ext>
            </a:extLst>
          </p:cNvPr>
          <p:cNvSpPr>
            <a:spLocks noGrp="1"/>
          </p:cNvSpPr>
          <p:nvPr/>
        </p:nvSpPr>
        <p:spPr>
          <a:xfrm>
            <a:off x="4612322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2" name="diagram block">
            <a:extLst>
              <a:ext uri="{FF2B5EF4-FFF2-40B4-BE49-F238E27FC236}">
                <ns2:creationId id="{A8E5D1C4-B386-4DB3-A631-D9097012E2ED}"/>
              </a:ext>
            </a:extLst>
          </p:cNvPr>
          <p:cNvSpPr>
            <a:spLocks noGrp="1"/>
          </p:cNvSpPr>
          <p:nvPr/>
        </p:nvSpPr>
        <p:spPr>
          <a:xfrm>
            <a:off x="473070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3" name="diagram block">
            <a:extLst>
              <a:ext uri="{FF2B5EF4-FFF2-40B4-BE49-F238E27FC236}">
                <ns2:creationId id="{81C496FA-5631-4EE3-A0C4-2A4BE6301FCF}"/>
              </a:ext>
            </a:extLst>
          </p:cNvPr>
          <p:cNvSpPr>
            <a:spLocks noGrp="1"/>
          </p:cNvSpPr>
          <p:nvPr/>
        </p:nvSpPr>
        <p:spPr>
          <a:xfrm>
            <a:off x="484909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4" name="diagram block">
            <a:extLst>
              <a:ext uri="{FF2B5EF4-FFF2-40B4-BE49-F238E27FC236}">
                <ns2:creationId id="{D9D1C4E0-FA00-40FC-AFB9-5469F4ABED9C}"/>
              </a:ext>
            </a:extLst>
          </p:cNvPr>
          <p:cNvSpPr>
            <a:spLocks noGrp="1"/>
          </p:cNvSpPr>
          <p:nvPr/>
        </p:nvSpPr>
        <p:spPr>
          <a:xfrm>
            <a:off x="496748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5" name="diagram block">
            <a:extLst>
              <a:ext uri="{FF2B5EF4-FFF2-40B4-BE49-F238E27FC236}">
                <ns2:creationId id="{B706D6C5-3B5B-48CB-9BD5-07EE4D64A94E}"/>
              </a:ext>
            </a:extLst>
          </p:cNvPr>
          <p:cNvSpPr>
            <a:spLocks noGrp="1"/>
          </p:cNvSpPr>
          <p:nvPr/>
        </p:nvSpPr>
        <p:spPr>
          <a:xfrm>
            <a:off x="508586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6" name="diagram block">
            <a:extLst>
              <a:ext uri="{FF2B5EF4-FFF2-40B4-BE49-F238E27FC236}">
                <ns2:creationId id="{958D1A41-FD45-4090-84AE-88489376876B}"/>
              </a:ext>
            </a:extLst>
          </p:cNvPr>
          <p:cNvSpPr>
            <a:spLocks noGrp="1"/>
          </p:cNvSpPr>
          <p:nvPr/>
        </p:nvSpPr>
        <p:spPr>
          <a:xfrm>
            <a:off x="520425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7" name="diagram block">
            <a:extLst>
              <a:ext uri="{FF2B5EF4-FFF2-40B4-BE49-F238E27FC236}">
                <ns2:creationId id="{80CA5442-706E-4738-9596-D28365B6CB57}"/>
              </a:ext>
            </a:extLst>
          </p:cNvPr>
          <p:cNvSpPr>
            <a:spLocks noGrp="1"/>
          </p:cNvSpPr>
          <p:nvPr/>
        </p:nvSpPr>
        <p:spPr>
          <a:xfrm>
            <a:off x="532264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8" name="diagram block">
            <a:extLst>
              <a:ext uri="{FF2B5EF4-FFF2-40B4-BE49-F238E27FC236}">
                <ns2:creationId id="{D035D089-535F-43E2-852B-C815E8DE7146}"/>
              </a:ext>
            </a:extLst>
          </p:cNvPr>
          <p:cNvSpPr>
            <a:spLocks noGrp="1"/>
          </p:cNvSpPr>
          <p:nvPr/>
        </p:nvSpPr>
        <p:spPr>
          <a:xfrm>
            <a:off x="5441029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19" name="diagram block">
            <a:extLst>
              <a:ext uri="{FF2B5EF4-FFF2-40B4-BE49-F238E27FC236}">
                <ns2:creationId id="{CCD7ADDD-CA8A-419A-AC62-591DFEA6C2A4}"/>
              </a:ext>
            </a:extLst>
          </p:cNvPr>
          <p:cNvSpPr>
            <a:spLocks noGrp="1"/>
          </p:cNvSpPr>
          <p:nvPr/>
        </p:nvSpPr>
        <p:spPr>
          <a:xfrm>
            <a:off x="555941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0" name="diagram block">
            <a:extLst>
              <a:ext uri="{FF2B5EF4-FFF2-40B4-BE49-F238E27FC236}">
                <ns2:creationId id="{15019576-626D-4006-9CE9-55DE48AADE6F}"/>
              </a:ext>
            </a:extLst>
          </p:cNvPr>
          <p:cNvSpPr>
            <a:spLocks noGrp="1"/>
          </p:cNvSpPr>
          <p:nvPr/>
        </p:nvSpPr>
        <p:spPr>
          <a:xfrm>
            <a:off x="567780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1" name="diagram block">
            <a:extLst>
              <a:ext uri="{FF2B5EF4-FFF2-40B4-BE49-F238E27FC236}">
                <ns2:creationId id="{15D0CF53-770F-4214-8682-7F388F463DF0}"/>
              </a:ext>
            </a:extLst>
          </p:cNvPr>
          <p:cNvSpPr>
            <a:spLocks noGrp="1"/>
          </p:cNvSpPr>
          <p:nvPr/>
        </p:nvSpPr>
        <p:spPr>
          <a:xfrm>
            <a:off x="5796190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2" name="diagram block">
            <a:extLst>
              <a:ext uri="{FF2B5EF4-FFF2-40B4-BE49-F238E27FC236}">
                <ns2:creationId id="{A8F803B7-AB4B-4484-A823-70CC800E588D}"/>
              </a:ext>
            </a:extLst>
          </p:cNvPr>
          <p:cNvSpPr>
            <a:spLocks noGrp="1"/>
          </p:cNvSpPr>
          <p:nvPr/>
        </p:nvSpPr>
        <p:spPr>
          <a:xfrm>
            <a:off x="5914576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3" name="diagram block">
            <a:extLst>
              <a:ext uri="{FF2B5EF4-FFF2-40B4-BE49-F238E27FC236}">
                <ns2:creationId id="{1E8F88E3-06E0-4150-89F2-FB9D1839999E}"/>
              </a:ext>
            </a:extLst>
          </p:cNvPr>
          <p:cNvSpPr>
            <a:spLocks noGrp="1"/>
          </p:cNvSpPr>
          <p:nvPr/>
        </p:nvSpPr>
        <p:spPr>
          <a:xfrm>
            <a:off x="6032963" y="634837"/>
            <a:ext cx="118387" cy="108387"/>
          </a:xfrm>
          <a:prstGeom prst="rect">
            <a:avLst/>
          </a:prstGeom>
          <a:solidFill>
            <a:srgbClr val="F3F4F5"/>
          </a:solidFill>
          <a:ln w="3871">
            <a:solidFill>
              <a:srgbClr val="58697C"/>
            </a:solidFill>
            <a:prstDash val="solid"/>
          </a:ln>
        </p:spPr>
      </p:sp>
      <p:sp>
        <p:nvSpPr>
          <p:cNvPr id="124" name="diagram block">
            <a:extLst>
              <a:ext uri="{FF2B5EF4-FFF2-40B4-BE49-F238E27FC236}">
                <ns2:creationId id="{ED283FE2-5B6D-44B0-BCE2-7315EB58B644}"/>
              </a:ext>
            </a:extLst>
          </p:cNvPr>
          <p:cNvSpPr>
            <a:spLocks noGrp="1"/>
          </p:cNvSpPr>
          <p:nvPr/>
        </p:nvSpPr>
        <p:spPr>
          <a:xfrm>
            <a:off x="425716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5" name="diagram block">
            <a:extLst>
              <a:ext uri="{FF2B5EF4-FFF2-40B4-BE49-F238E27FC236}">
                <ns2:creationId id="{F4A4F2F9-6736-4313-B1D3-3DD98FCD86A2}"/>
              </a:ext>
            </a:extLst>
          </p:cNvPr>
          <p:cNvSpPr>
            <a:spLocks noGrp="1"/>
          </p:cNvSpPr>
          <p:nvPr/>
        </p:nvSpPr>
        <p:spPr>
          <a:xfrm>
            <a:off x="435845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6" name="diagram block">
            <a:extLst>
              <a:ext uri="{FF2B5EF4-FFF2-40B4-BE49-F238E27FC236}">
                <ns2:creationId id="{871F964B-5EA9-454F-B192-4D3A313E2D87}"/>
              </a:ext>
            </a:extLst>
          </p:cNvPr>
          <p:cNvSpPr>
            <a:spLocks noGrp="1"/>
          </p:cNvSpPr>
          <p:nvPr/>
        </p:nvSpPr>
        <p:spPr>
          <a:xfrm>
            <a:off x="445974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7" name="diagram block">
            <a:extLst>
              <a:ext uri="{FF2B5EF4-FFF2-40B4-BE49-F238E27FC236}">
                <ns2:creationId id="{78F4D59E-E828-466A-9B9A-256F21D93A1E}"/>
              </a:ext>
            </a:extLst>
          </p:cNvPr>
          <p:cNvSpPr>
            <a:spLocks noGrp="1"/>
          </p:cNvSpPr>
          <p:nvPr/>
        </p:nvSpPr>
        <p:spPr>
          <a:xfrm>
            <a:off x="456103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8" name="diagram block">
            <a:extLst>
              <a:ext uri="{FF2B5EF4-FFF2-40B4-BE49-F238E27FC236}">
                <ns2:creationId id="{AFFCED6E-D366-42C3-8F80-038AA0408091}"/>
              </a:ext>
            </a:extLst>
          </p:cNvPr>
          <p:cNvSpPr>
            <a:spLocks noGrp="1"/>
          </p:cNvSpPr>
          <p:nvPr/>
        </p:nvSpPr>
        <p:spPr>
          <a:xfrm>
            <a:off x="466232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29" name="diagram block">
            <a:extLst>
              <a:ext uri="{FF2B5EF4-FFF2-40B4-BE49-F238E27FC236}">
                <ns2:creationId id="{6D0F4BD3-74F4-49A3-B62C-F982CBF7864D}"/>
              </a:ext>
            </a:extLst>
          </p:cNvPr>
          <p:cNvSpPr>
            <a:spLocks noGrp="1"/>
          </p:cNvSpPr>
          <p:nvPr/>
        </p:nvSpPr>
        <p:spPr>
          <a:xfrm>
            <a:off x="476361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0" name="diagram block">
            <a:extLst>
              <a:ext uri="{FF2B5EF4-FFF2-40B4-BE49-F238E27FC236}">
                <ns2:creationId id="{8CEBFA71-B955-4104-9A42-B2565B7C9656}"/>
              </a:ext>
            </a:extLst>
          </p:cNvPr>
          <p:cNvSpPr>
            <a:spLocks noGrp="1"/>
          </p:cNvSpPr>
          <p:nvPr/>
        </p:nvSpPr>
        <p:spPr>
          <a:xfrm>
            <a:off x="486490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1" name="diagram block">
            <a:extLst>
              <a:ext uri="{FF2B5EF4-FFF2-40B4-BE49-F238E27FC236}">
                <ns2:creationId id="{3EE22C8F-A9A5-4126-8BAC-9833DE96BD77}"/>
              </a:ext>
            </a:extLst>
          </p:cNvPr>
          <p:cNvSpPr>
            <a:spLocks noGrp="1"/>
          </p:cNvSpPr>
          <p:nvPr/>
        </p:nvSpPr>
        <p:spPr>
          <a:xfrm>
            <a:off x="4966192" y="794836"/>
            <a:ext cx="101290" cy="103225"/>
          </a:xfrm>
          <a:prstGeom prst="rect">
            <a:avLst/>
          </a:prstGeom>
          <a:solidFill>
            <a:srgbClr val="A3DBED"/>
          </a:solidFill>
          <a:ln w="4129">
            <a:solidFill>
              <a:srgbClr val="2F89AB"/>
            </a:solidFill>
            <a:prstDash val="solid"/>
          </a:ln>
        </p:spPr>
      </p:sp>
      <p:sp>
        <p:nvSpPr>
          <p:cNvPr id="132" name="diagram block">
            <a:extLst>
              <a:ext uri="{FF2B5EF4-FFF2-40B4-BE49-F238E27FC236}">
                <ns2:creationId id="{F0DEDACF-D482-4AA5-9BB5-2B612DBF7407}"/>
              </a:ext>
            </a:extLst>
          </p:cNvPr>
          <p:cNvSpPr>
            <a:spLocks noGrp="1"/>
          </p:cNvSpPr>
          <p:nvPr/>
        </p:nvSpPr>
        <p:spPr>
          <a:xfrm>
            <a:off x="5103611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3" name="diagram block">
            <a:extLst>
              <a:ext uri="{FF2B5EF4-FFF2-40B4-BE49-F238E27FC236}">
                <ns2:creationId id="{D70592DE-A73F-4106-9778-7A23F292C7E0}"/>
              </a:ext>
            </a:extLst>
          </p:cNvPr>
          <p:cNvSpPr>
            <a:spLocks noGrp="1"/>
          </p:cNvSpPr>
          <p:nvPr/>
        </p:nvSpPr>
        <p:spPr>
          <a:xfrm>
            <a:off x="519909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4" name="diagram block">
            <a:extLst>
              <a:ext uri="{FF2B5EF4-FFF2-40B4-BE49-F238E27FC236}">
                <ns2:creationId id="{BF3ADEF3-884C-44EB-9903-FF2341208C49}"/>
              </a:ext>
            </a:extLst>
          </p:cNvPr>
          <p:cNvSpPr>
            <a:spLocks noGrp="1"/>
          </p:cNvSpPr>
          <p:nvPr/>
        </p:nvSpPr>
        <p:spPr>
          <a:xfrm>
            <a:off x="5294578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5" name="diagram block">
            <a:extLst>
              <a:ext uri="{FF2B5EF4-FFF2-40B4-BE49-F238E27FC236}">
                <ns2:creationId id="{EBCA7806-ADB4-46CA-B4D8-CB7A94F1CE87}"/>
              </a:ext>
            </a:extLst>
          </p:cNvPr>
          <p:cNvSpPr>
            <a:spLocks noGrp="1"/>
          </p:cNvSpPr>
          <p:nvPr/>
        </p:nvSpPr>
        <p:spPr>
          <a:xfrm>
            <a:off x="5390062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6" name="diagram block">
            <a:extLst>
              <a:ext uri="{FF2B5EF4-FFF2-40B4-BE49-F238E27FC236}">
                <ns2:creationId id="{D07A467F-05D1-4883-9DA3-7F3C503DFDF7}"/>
              </a:ext>
            </a:extLst>
          </p:cNvPr>
          <p:cNvSpPr>
            <a:spLocks noGrp="1"/>
          </p:cNvSpPr>
          <p:nvPr/>
        </p:nvSpPr>
        <p:spPr>
          <a:xfrm>
            <a:off x="5485545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7" name="diagram block">
            <a:extLst>
              <a:ext uri="{FF2B5EF4-FFF2-40B4-BE49-F238E27FC236}">
                <ns2:creationId id="{784469DD-3D77-4BFD-8AE9-DFF7EA04B64C}"/>
              </a:ext>
            </a:extLst>
          </p:cNvPr>
          <p:cNvSpPr>
            <a:spLocks noGrp="1"/>
          </p:cNvSpPr>
          <p:nvPr/>
        </p:nvSpPr>
        <p:spPr>
          <a:xfrm>
            <a:off x="5581029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8" name="diagram block">
            <a:extLst>
              <a:ext uri="{FF2B5EF4-FFF2-40B4-BE49-F238E27FC236}">
                <ns2:creationId id="{20732BFC-9087-44CC-8262-36CF98007F6A}"/>
              </a:ext>
            </a:extLst>
          </p:cNvPr>
          <p:cNvSpPr>
            <a:spLocks noGrp="1"/>
          </p:cNvSpPr>
          <p:nvPr/>
        </p:nvSpPr>
        <p:spPr>
          <a:xfrm>
            <a:off x="5676513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39" name="diagram block">
            <a:extLst>
              <a:ext uri="{FF2B5EF4-FFF2-40B4-BE49-F238E27FC236}">
                <ns2:creationId id="{B62EE651-C476-4180-82E7-40EB9B3FAC88}"/>
              </a:ext>
            </a:extLst>
          </p:cNvPr>
          <p:cNvSpPr>
            <a:spLocks noGrp="1"/>
          </p:cNvSpPr>
          <p:nvPr/>
        </p:nvSpPr>
        <p:spPr>
          <a:xfrm>
            <a:off x="5771996" y="794836"/>
            <a:ext cx="95484" cy="103225"/>
          </a:xfrm>
          <a:prstGeom prst="rect">
            <a:avLst/>
          </a:prstGeom>
          <a:solidFill>
            <a:srgbClr val="A1DAD7"/>
          </a:solidFill>
          <a:ln w="4129">
            <a:solidFill>
              <a:srgbClr val="378C8E"/>
            </a:solidFill>
            <a:prstDash val="solid"/>
          </a:ln>
        </p:spPr>
      </p:sp>
      <p:sp>
        <p:nvSpPr>
          <p:cNvPr id="140" name="…">
            <a:extLst>
              <a:ext uri="{FF2B5EF4-FFF2-40B4-BE49-F238E27FC236}">
                <ns2:creationId id="{72AA25C1-ECFD-4788-B111-B9DDB585D68C}"/>
              </a:ext>
            </a:extLst>
          </p:cNvPr>
          <p:cNvSpPr>
            <a:spLocks noGrp="1"/>
          </p:cNvSpPr>
          <p:nvPr/>
        </p:nvSpPr>
        <p:spPr>
          <a:xfrm>
            <a:off x="6027479" y="738062"/>
            <a:ext cx="247741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31"/>
          </a:bodyPr>
          <a:lstStyle>
            <a:def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cxnSp>
        <p:nvCxnSpPr>
          <p:cNvPr id="141" name="native PowerPoint connector">
            <a:extLst>
              <a:ext uri="{FF2B5EF4-FFF2-40B4-BE49-F238E27FC236}">
                <ns2:creationId id="{66E510FC-A669-44D3-BA03-007F56DF9ED7}"/>
              </a:ext>
            </a:extLst>
          </p:cNvPr>
          <p:cNvCxnSpPr/>
          <p:nvPr/>
        </p:nvCxnSpPr>
        <p:spPr>
          <a:xfrm flipH="0" flipV="0">
            <a:off x="4257162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2" name="native PowerPoint connector">
            <a:extLst>
              <a:ext uri="{FF2B5EF4-FFF2-40B4-BE49-F238E27FC236}">
                <ns2:creationId id="{76858803-B6D0-41B8-AAD8-573451815B28}"/>
              </a:ext>
            </a:extLst>
          </p:cNvPr>
          <p:cNvCxnSpPr/>
          <p:nvPr/>
        </p:nvCxnSpPr>
        <p:spPr>
          <a:xfrm flipH="0" flipV="0">
            <a:off x="4257162" y="949674"/>
            <a:ext cx="799997" cy="0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cxnSp>
        <p:nvCxnSpPr>
          <p:cNvPr id="143" name="native PowerPoint connector">
            <a:extLst>
              <a:ext uri="{FF2B5EF4-FFF2-40B4-BE49-F238E27FC236}">
                <ns2:creationId id="{1BFFA6D6-AF2B-4151-8383-C9E14C15CE6F}"/>
              </a:ext>
            </a:extLst>
          </p:cNvPr>
          <p:cNvCxnSpPr/>
          <p:nvPr/>
        </p:nvCxnSpPr>
        <p:spPr>
          <a:xfrm flipH="0" flipV="1">
            <a:off x="5057160" y="918707"/>
            <a:ext cx="0" cy="30968"/>
          </a:xfrm>
          <a:prstGeom prst="straightConnector1">
            <a:avLst/>
          </a:prstGeom>
          <a:ln w="5677">
            <a:solidFill>
              <a:srgbClr val="074A8B"/>
            </a:solidFill>
            <a:prstDash val="solid"/>
          </a:ln>
        </p:spPr>
      </p:cxnSp>
      <p:sp>
        <p:nvSpPr>
          <p:cNvPr id="144" name="Group g (32 scalars)">
            <a:extLst>
              <a:ext uri="{FF2B5EF4-FFF2-40B4-BE49-F238E27FC236}">
                <ns2:creationId id="{AD348296-3067-4226-A1BE-7D2DC0A6D6C9}"/>
              </a:ext>
            </a:extLst>
          </p:cNvPr>
          <p:cNvSpPr>
            <a:spLocks noGrp="1"/>
          </p:cNvSpPr>
          <p:nvPr/>
        </p:nvSpPr>
        <p:spPr>
          <a:xfrm>
            <a:off x="4257162" y="970319"/>
            <a:ext cx="856771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Group g (32 scalars)</a:t>
            </a:r>
          </a:p>
        </p:txBody>
      </p:sp>
      <p:sp>
        <p:nvSpPr>
          <p:cNvPr id="145" name="Group g + 1">
            <a:extLst>
              <a:ext uri="{FF2B5EF4-FFF2-40B4-BE49-F238E27FC236}">
                <ns2:creationId id="{8679BAA6-AF78-4823-8156-41390AA655C6}"/>
              </a:ext>
            </a:extLst>
          </p:cNvPr>
          <p:cNvSpPr>
            <a:spLocks noGrp="1"/>
          </p:cNvSpPr>
          <p:nvPr/>
        </p:nvSpPr>
        <p:spPr>
          <a:xfrm>
            <a:off x="5289417" y="970319"/>
            <a:ext cx="614192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Group g + 1</a:t>
            </a:r>
          </a:p>
        </p:txBody>
      </p:sp>
      <p:sp>
        <p:nvSpPr>
          <p:cNvPr id="146" name="diagram block">
            <a:extLst>
              <a:ext uri="{FF2B5EF4-FFF2-40B4-BE49-F238E27FC236}">
                <ns2:creationId id="{211CB54E-22F6-45D3-97BF-805BBDC6AEED}"/>
              </a:ext>
            </a:extLst>
          </p:cNvPr>
          <p:cNvSpPr>
            <a:spLocks noGrp="1"/>
          </p:cNvSpPr>
          <p:nvPr/>
        </p:nvSpPr>
        <p:spPr>
          <a:xfrm>
            <a:off x="4061034" y="1145803"/>
            <a:ext cx="2178058" cy="319999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5161">
            <a:solidFill>
              <a:srgbClr val="5C6D82"/>
            </a:solidFill>
            <a:prstDash val="dash"/>
          </a:ln>
        </p:spPr>
      </p:sp>
      <p:sp>
        <p:nvSpPr>
          <p:cNvPr id="147" name="32 scalars = 8 vectors (d = 4)">
            <a:extLst>
              <a:ext uri="{FF2B5EF4-FFF2-40B4-BE49-F238E27FC236}">
                <ns2:creationId id="{9CD8EB21-E756-40F8-B871-DE862C67FD27}"/>
              </a:ext>
            </a:extLst>
          </p:cNvPr>
          <p:cNvSpPr>
            <a:spLocks noGrp="1"/>
          </p:cNvSpPr>
          <p:nvPr/>
        </p:nvSpPr>
        <p:spPr>
          <a:xfrm>
            <a:off x="4128130" y="1171609"/>
            <a:ext cx="2043864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32 scalars = 8 vectors (d = 4)</a:t>
            </a:r>
          </a:p>
        </p:txBody>
      </p:sp>
      <p:sp>
        <p:nvSpPr>
          <p:cNvPr id="148" name="diagram block">
            <a:extLst>
              <a:ext uri="{FF2B5EF4-FFF2-40B4-BE49-F238E27FC236}">
                <ns2:creationId id="{D90F511B-762C-4CBA-85CC-4D8ADCFE5817}"/>
              </a:ext>
            </a:extLst>
          </p:cNvPr>
          <p:cNvSpPr>
            <a:spLocks noGrp="1"/>
          </p:cNvSpPr>
          <p:nvPr/>
        </p:nvSpPr>
        <p:spPr>
          <a:xfrm>
            <a:off x="4205550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49" name="diagram block">
            <a:extLst>
              <a:ext uri="{FF2B5EF4-FFF2-40B4-BE49-F238E27FC236}">
                <ns2:creationId id="{D5694209-261F-49A1-93D7-E767B65B9D94}"/>
              </a:ext>
            </a:extLst>
          </p:cNvPr>
          <p:cNvSpPr>
            <a:spLocks noGrp="1"/>
          </p:cNvSpPr>
          <p:nvPr/>
        </p:nvSpPr>
        <p:spPr>
          <a:xfrm>
            <a:off x="4310065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0" name="diagram block">
            <a:extLst>
              <a:ext uri="{FF2B5EF4-FFF2-40B4-BE49-F238E27FC236}">
                <ns2:creationId id="{D2F15657-32E1-4B0D-B388-743CC18CC582}"/>
              </a:ext>
            </a:extLst>
          </p:cNvPr>
          <p:cNvSpPr>
            <a:spLocks noGrp="1"/>
          </p:cNvSpPr>
          <p:nvPr/>
        </p:nvSpPr>
        <p:spPr>
          <a:xfrm>
            <a:off x="441458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1" name="diagram block">
            <a:extLst>
              <a:ext uri="{FF2B5EF4-FFF2-40B4-BE49-F238E27FC236}">
                <ns2:creationId id="{7CEFDA3F-738F-4F70-B3F7-F90B8BAAAD23}"/>
              </a:ext>
            </a:extLst>
          </p:cNvPr>
          <p:cNvSpPr>
            <a:spLocks noGrp="1"/>
          </p:cNvSpPr>
          <p:nvPr/>
        </p:nvSpPr>
        <p:spPr>
          <a:xfrm>
            <a:off x="451909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2" name="diagram block">
            <a:extLst>
              <a:ext uri="{FF2B5EF4-FFF2-40B4-BE49-F238E27FC236}">
                <ns2:creationId id="{E4F18B07-853F-4F1B-9070-7C4818E40BDE}"/>
              </a:ext>
            </a:extLst>
          </p:cNvPr>
          <p:cNvSpPr>
            <a:spLocks noGrp="1"/>
          </p:cNvSpPr>
          <p:nvPr/>
        </p:nvSpPr>
        <p:spPr>
          <a:xfrm>
            <a:off x="4695871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3" name="diagram block">
            <a:extLst>
              <a:ext uri="{FF2B5EF4-FFF2-40B4-BE49-F238E27FC236}">
                <ns2:creationId id="{ED9BAC10-5AB4-4E9D-BB46-CFF51007DF1F}"/>
              </a:ext>
            </a:extLst>
          </p:cNvPr>
          <p:cNvSpPr>
            <a:spLocks noGrp="1"/>
          </p:cNvSpPr>
          <p:nvPr/>
        </p:nvSpPr>
        <p:spPr>
          <a:xfrm>
            <a:off x="480038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4" name="diagram block">
            <a:extLst>
              <a:ext uri="{FF2B5EF4-FFF2-40B4-BE49-F238E27FC236}">
                <ns2:creationId id="{49A72202-43E8-4AC9-BE0D-BB91EC63F855}"/>
              </a:ext>
            </a:extLst>
          </p:cNvPr>
          <p:cNvSpPr>
            <a:spLocks noGrp="1"/>
          </p:cNvSpPr>
          <p:nvPr/>
        </p:nvSpPr>
        <p:spPr>
          <a:xfrm>
            <a:off x="490490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5" name="diagram block">
            <a:extLst>
              <a:ext uri="{FF2B5EF4-FFF2-40B4-BE49-F238E27FC236}">
                <ns2:creationId id="{0C70CFA1-767F-4418-88D1-A32D58336204}"/>
              </a:ext>
            </a:extLst>
          </p:cNvPr>
          <p:cNvSpPr>
            <a:spLocks noGrp="1"/>
          </p:cNvSpPr>
          <p:nvPr/>
        </p:nvSpPr>
        <p:spPr>
          <a:xfrm>
            <a:off x="5009418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6" name="diagram block">
            <a:extLst>
              <a:ext uri="{FF2B5EF4-FFF2-40B4-BE49-F238E27FC236}">
                <ns2:creationId id="{DA1A8D00-5472-41B4-97C7-C55D5B493CA9}"/>
              </a:ext>
            </a:extLst>
          </p:cNvPr>
          <p:cNvSpPr>
            <a:spLocks noGrp="1"/>
          </p:cNvSpPr>
          <p:nvPr/>
        </p:nvSpPr>
        <p:spPr>
          <a:xfrm>
            <a:off x="5284256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7" name="diagram block">
            <a:extLst>
              <a:ext uri="{FF2B5EF4-FFF2-40B4-BE49-F238E27FC236}">
                <ns2:creationId id="{09D53ED9-EC70-475D-BFA1-F85D266C0D0B}"/>
              </a:ext>
            </a:extLst>
          </p:cNvPr>
          <p:cNvSpPr>
            <a:spLocks noGrp="1"/>
          </p:cNvSpPr>
          <p:nvPr/>
        </p:nvSpPr>
        <p:spPr>
          <a:xfrm>
            <a:off x="5388772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8" name="diagram block">
            <a:extLst>
              <a:ext uri="{FF2B5EF4-FFF2-40B4-BE49-F238E27FC236}">
                <ns2:creationId id="{27025502-4B58-4BEF-B024-4E896780EFAC}"/>
              </a:ext>
            </a:extLst>
          </p:cNvPr>
          <p:cNvSpPr>
            <a:spLocks noGrp="1"/>
          </p:cNvSpPr>
          <p:nvPr/>
        </p:nvSpPr>
        <p:spPr>
          <a:xfrm>
            <a:off x="5493287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59" name="diagram block">
            <a:extLst>
              <a:ext uri="{FF2B5EF4-FFF2-40B4-BE49-F238E27FC236}">
                <ns2:creationId id="{74156211-1460-4F09-9102-A53F6E90E9EC}"/>
              </a:ext>
            </a:extLst>
          </p:cNvPr>
          <p:cNvSpPr>
            <a:spLocks noGrp="1"/>
          </p:cNvSpPr>
          <p:nvPr/>
        </p:nvSpPr>
        <p:spPr>
          <a:xfrm>
            <a:off x="5597803" y="1326447"/>
            <a:ext cx="104516" cy="92903"/>
          </a:xfrm>
          <a:prstGeom prst="rect">
            <a:avLst/>
          </a:prstGeom>
          <a:solidFill>
            <a:srgbClr val="F1F3F4"/>
          </a:solidFill>
          <a:ln w="3355">
            <a:solidFill>
              <a:srgbClr val="627386"/>
            </a:solidFill>
            <a:prstDash val="solid"/>
          </a:ln>
        </p:spPr>
      </p:sp>
      <p:sp>
        <p:nvSpPr>
          <p:cNvPr id="160" name="…">
            <a:extLst>
              <a:ext uri="{FF2B5EF4-FFF2-40B4-BE49-F238E27FC236}">
                <ns2:creationId id="{5190A440-0E78-4D90-B891-5D80AE975BCF}"/>
              </a:ext>
            </a:extLst>
          </p:cNvPr>
          <p:cNvSpPr>
            <a:spLocks noGrp="1"/>
          </p:cNvSpPr>
          <p:nvPr/>
        </p:nvSpPr>
        <p:spPr>
          <a:xfrm>
            <a:off x="5129418" y="1300641"/>
            <a:ext cx="123871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sp>
        <p:nvSpPr>
          <p:cNvPr id="161" name="…">
            <a:extLst>
              <a:ext uri="{FF2B5EF4-FFF2-40B4-BE49-F238E27FC236}">
                <ns2:creationId id="{B13CEF04-463E-4183-87D7-44B19AADEC45}"/>
              </a:ext>
            </a:extLst>
          </p:cNvPr>
          <p:cNvSpPr>
            <a:spLocks noGrp="1"/>
          </p:cNvSpPr>
          <p:nvPr/>
        </p:nvSpPr>
        <p:spPr>
          <a:xfrm>
            <a:off x="5944899" y="1300641"/>
            <a:ext cx="134193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4"/>
          </a:bodyPr>
          <a:lstStyle>
            <a:def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cxnSp>
        <p:nvCxnSpPr>
          <p:cNvPr id="162" name="native PowerPoint connector">
            <a:extLst>
              <a:ext uri="{FF2B5EF4-FFF2-40B4-BE49-F238E27FC236}">
                <ns2:creationId id="{CDBD72DE-4DF2-4F33-A9D5-ADE999E71CC6}"/>
              </a:ext>
            </a:extLst>
          </p:cNvPr>
          <p:cNvCxnSpPr/>
          <p:nvPr/>
        </p:nvCxnSpPr>
        <p:spPr>
          <a:xfrm flipH="1" flipV="0">
            <a:off x="4169421" y="799997"/>
            <a:ext cx="92903" cy="0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</a:ln>
        </p:spPr>
      </p:cxnSp>
      <p:cxnSp>
        <p:nvCxnSpPr>
          <p:cNvPr id="163" name="native PowerPoint connector">
            <a:extLst>
              <a:ext uri="{FF2B5EF4-FFF2-40B4-BE49-F238E27FC236}">
                <ns2:creationId id="{BDE30AEB-C39E-49D2-8B45-F778C038014E}"/>
              </a:ext>
            </a:extLst>
          </p:cNvPr>
          <p:cNvCxnSpPr/>
          <p:nvPr/>
        </p:nvCxnSpPr>
        <p:spPr>
          <a:xfrm flipH="1" flipV="0">
            <a:off x="4076518" y="799997"/>
            <a:ext cx="92903" cy="345805"/>
          </a:xfrm>
          <a:prstGeom prst="straightConnector1">
            <a:avLst/>
          </a:prstGeom>
          <a:ln w="6194">
            <a:solidFill>
              <a:srgbClr val="246EAF"/>
            </a:solidFill>
            <a:prstDash val="dash"/>
            <a:tailEnd type="triangle" w="sm" len="sm"/>
          </a:ln>
        </p:spPr>
      </p:cxnSp>
      <p:cxnSp>
        <p:nvCxnSpPr>
          <p:cNvPr id="164" name="native PowerPoint connector">
            <a:extLst>
              <a:ext uri="{FF2B5EF4-FFF2-40B4-BE49-F238E27FC236}">
                <ns2:creationId id="{5AA7C812-69D4-43B2-BA97-8DAE1E643AB5}"/>
              </a:ext>
            </a:extLst>
          </p:cNvPr>
          <p:cNvCxnSpPr/>
          <p:nvPr/>
        </p:nvCxnSpPr>
        <p:spPr>
          <a:xfrm flipH="0" flipV="0">
            <a:off x="5862318" y="908384"/>
            <a:ext cx="211612" cy="82580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cxnSp>
        <p:nvCxnSpPr>
          <p:cNvPr id="165" name="native PowerPoint connector">
            <a:extLst>
              <a:ext uri="{FF2B5EF4-FFF2-40B4-BE49-F238E27FC236}">
                <ns2:creationId id="{7D92AF54-A4BE-4B9C-8F29-BB08A80B5318}"/>
              </a:ext>
            </a:extLst>
          </p:cNvPr>
          <p:cNvCxnSpPr/>
          <p:nvPr/>
        </p:nvCxnSpPr>
        <p:spPr>
          <a:xfrm flipH="0" flipV="0">
            <a:off x="6073931" y="990965"/>
            <a:ext cx="118709" cy="149677"/>
          </a:xfrm>
          <a:prstGeom prst="straightConnector1">
            <a:avLst/>
          </a:prstGeom>
          <a:ln w="5677">
            <a:solidFill>
              <a:srgbClr val="69748A"/>
            </a:solidFill>
            <a:prstDash val="dash"/>
          </a:ln>
        </p:spPr>
      </p:cxnSp>
      <p:sp>
        <p:nvSpPr>
          <p:cNvPr id="166" name="diagram block">
            <a:extLst>
              <a:ext uri="{FF2B5EF4-FFF2-40B4-BE49-F238E27FC236}">
                <ns2:creationId id="{D3F304FC-D6EC-4135-866B-EE6F2A9DB0D8}"/>
              </a:ext>
            </a:extLst>
          </p:cNvPr>
          <p:cNvSpPr>
            <a:spLocks noGrp="1"/>
          </p:cNvSpPr>
          <p:nvPr/>
        </p:nvSpPr>
        <p:spPr>
          <a:xfrm>
            <a:off x="4035228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F3F9FF"/>
          </a:solidFill>
          <a:ln w="5161">
            <a:solidFill>
              <a:srgbClr val="6BB7EB"/>
            </a:solidFill>
            <a:prstDash val="solid"/>
          </a:ln>
        </p:spPr>
      </p:sp>
      <p:sp>
        <p:nvSpPr>
          <p:cNvPr id="167" name="Codebook 1">
            <a:extLst>
              <a:ext uri="{FF2B5EF4-FFF2-40B4-BE49-F238E27FC236}">
                <ns2:creationId id="{2D058B74-D0E0-464F-9BAE-6970B50BF921}"/>
              </a:ext>
            </a:extLst>
          </p:cNvPr>
          <p:cNvSpPr>
            <a:spLocks noGrp="1"/>
          </p:cNvSpPr>
          <p:nvPr/>
        </p:nvSpPr>
        <p:spPr>
          <a:xfrm>
            <a:off x="408684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Codebook 1</a:t>
            </a:r>
          </a:p>
        </p:txBody>
      </p:sp>
      <p:sp>
        <p:nvSpPr>
          <p:cNvPr id="168" name="C₁ ∈ ℝ²⁵⁶×⁴, BF16">
            <a:extLst>
              <a:ext uri="{FF2B5EF4-FFF2-40B4-BE49-F238E27FC236}">
                <ns2:creationId id="{85DFD3D8-B1BC-415C-AB4A-F6C28BAAA02E}"/>
              </a:ext>
            </a:extLst>
          </p:cNvPr>
          <p:cNvSpPr>
            <a:spLocks noGrp="1"/>
          </p:cNvSpPr>
          <p:nvPr/>
        </p:nvSpPr>
        <p:spPr>
          <a:xfrm>
            <a:off x="4092002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C₁ ∈ ℝ²⁵⁶×⁴, BF16</a:t>
            </a:r>
          </a:p>
        </p:txBody>
      </p:sp>
      <p:sp>
        <p:nvSpPr>
          <p:cNvPr id="169" name="8 indices">
            <a:extLst>
              <a:ext uri="{FF2B5EF4-FFF2-40B4-BE49-F238E27FC236}">
                <ns2:creationId id="{EE46E9AA-B9CB-4F1A-86CC-CA9E9599120C}"/>
              </a:ext>
            </a:extLst>
          </p:cNvPr>
          <p:cNvSpPr>
            <a:spLocks noGrp="1"/>
          </p:cNvSpPr>
          <p:nvPr/>
        </p:nvSpPr>
        <p:spPr>
          <a:xfrm>
            <a:off x="4097163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indices</a:t>
            </a:r>
          </a:p>
        </p:txBody>
      </p:sp>
      <p:sp>
        <p:nvSpPr>
          <p:cNvPr id="170" name="i₁ (8-bit)">
            <a:extLst>
              <a:ext uri="{FF2B5EF4-FFF2-40B4-BE49-F238E27FC236}">
                <ns2:creationId id="{5679B3A3-D01C-47AE-891B-C756E65DA536}"/>
              </a:ext>
            </a:extLst>
          </p:cNvPr>
          <p:cNvSpPr>
            <a:spLocks noGrp="1"/>
          </p:cNvSpPr>
          <p:nvPr/>
        </p:nvSpPr>
        <p:spPr>
          <a:xfrm>
            <a:off x="4128130" y="1904510"/>
            <a:ext cx="42322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i₁ (8-bit)</a:t>
            </a:r>
          </a:p>
        </p:txBody>
      </p:sp>
      <p:sp>
        <p:nvSpPr>
          <p:cNvPr id="171" name="diagram block">
            <a:extLst>
              <a:ext uri="{FF2B5EF4-FFF2-40B4-BE49-F238E27FC236}">
                <ns2:creationId id="{1E8D749B-975E-4BDF-AA5B-EDB3DCD3F715}"/>
              </a:ext>
            </a:extLst>
          </p:cNvPr>
          <p:cNvSpPr>
            <a:spLocks noGrp="1"/>
          </p:cNvSpPr>
          <p:nvPr/>
        </p:nvSpPr>
        <p:spPr>
          <a:xfrm>
            <a:off x="4148776" y="1981929"/>
            <a:ext cx="211612" cy="113548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2" name="i₁,1">
            <a:extLst>
              <a:ext uri="{FF2B5EF4-FFF2-40B4-BE49-F238E27FC236}">
                <ns2:creationId id="{6C3DFACA-ACD7-4552-B293-85E70C1B4694}"/>
              </a:ext>
            </a:extLst>
          </p:cNvPr>
          <p:cNvSpPr>
            <a:spLocks noGrp="1"/>
          </p:cNvSpPr>
          <p:nvPr/>
        </p:nvSpPr>
        <p:spPr>
          <a:xfrm>
            <a:off x="4174582" y="2007736"/>
            <a:ext cx="159999" cy="61935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6252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i₁,1</a:t>
            </a:r>
          </a:p>
        </p:txBody>
      </p:sp>
      <p:sp>
        <p:nvSpPr>
          <p:cNvPr id="173" name="diagram block">
            <a:extLst>
              <a:ext uri="{FF2B5EF4-FFF2-40B4-BE49-F238E27FC236}">
                <ns2:creationId id="{449724FD-954C-4E42-BE73-C0D4EF24C7E6}"/>
              </a:ext>
            </a:extLst>
          </p:cNvPr>
          <p:cNvSpPr>
            <a:spLocks noGrp="1"/>
          </p:cNvSpPr>
          <p:nvPr/>
        </p:nvSpPr>
        <p:spPr>
          <a:xfrm>
            <a:off x="4148776" y="2105800"/>
            <a:ext cx="211612" cy="113548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4" name="i₁,2">
            <a:extLst>
              <a:ext uri="{FF2B5EF4-FFF2-40B4-BE49-F238E27FC236}">
                <ns2:creationId id="{C7A90E00-D2DB-47C6-A42A-FCF3A0196434}"/>
              </a:ext>
            </a:extLst>
          </p:cNvPr>
          <p:cNvSpPr>
            <a:spLocks noGrp="1"/>
          </p:cNvSpPr>
          <p:nvPr/>
        </p:nvSpPr>
        <p:spPr>
          <a:xfrm>
            <a:off x="4174582" y="2131606"/>
            <a:ext cx="159999" cy="61935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6252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i₁,2</a:t>
            </a:r>
          </a:p>
        </p:txBody>
      </p:sp>
      <p:sp>
        <p:nvSpPr>
          <p:cNvPr id="175" name="diagram block">
            <a:extLst>
              <a:ext uri="{FF2B5EF4-FFF2-40B4-BE49-F238E27FC236}">
                <ns2:creationId id="{247ED497-CB28-4775-941A-AF4C3D02F3F6}"/>
              </a:ext>
            </a:extLst>
          </p:cNvPr>
          <p:cNvSpPr>
            <a:spLocks noGrp="1"/>
          </p:cNvSpPr>
          <p:nvPr/>
        </p:nvSpPr>
        <p:spPr>
          <a:xfrm>
            <a:off x="4148776" y="2312251"/>
            <a:ext cx="211612" cy="113548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176" name="i₁,8">
            <a:extLst>
              <a:ext uri="{FF2B5EF4-FFF2-40B4-BE49-F238E27FC236}">
                <ns2:creationId id="{FA0A22F9-7780-49CB-B2C0-C03C161955FA}"/>
              </a:ext>
            </a:extLst>
          </p:cNvPr>
          <p:cNvSpPr>
            <a:spLocks noGrp="1"/>
          </p:cNvSpPr>
          <p:nvPr/>
        </p:nvSpPr>
        <p:spPr>
          <a:xfrm>
            <a:off x="4174582" y="2338057"/>
            <a:ext cx="159999" cy="61935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6252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i₁,8</a:t>
            </a:r>
          </a:p>
        </p:txBody>
      </p:sp>
      <p:sp>
        <p:nvSpPr>
          <p:cNvPr id="177" name="⋮">
            <a:extLst>
              <a:ext uri="{FF2B5EF4-FFF2-40B4-BE49-F238E27FC236}">
                <ns2:creationId id="{28C84535-840A-4C85-9807-790A7FA2DC9D}"/>
              </a:ext>
            </a:extLst>
          </p:cNvPr>
          <p:cNvSpPr>
            <a:spLocks noGrp="1"/>
          </p:cNvSpPr>
          <p:nvPr/>
        </p:nvSpPr>
        <p:spPr>
          <a:xfrm>
            <a:off x="4195227" y="2219348"/>
            <a:ext cx="129032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9147"/>
          </a:bodyPr>
          <a:lstStyle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⋮</a:t>
            </a:r>
          </a:p>
        </p:txBody>
      </p:sp>
      <p:sp>
        <p:nvSpPr>
          <p:cNvPr id="178" name="8 codewords">
            <a:extLst>
              <a:ext uri="{FF2B5EF4-FFF2-40B4-BE49-F238E27FC236}">
                <ns2:creationId id="{F358065B-5E1A-42BD-8DB2-83FAD26A40A4}"/>
              </a:ext>
            </a:extLst>
          </p:cNvPr>
          <p:cNvSpPr>
            <a:spLocks noGrp="1"/>
          </p:cNvSpPr>
          <p:nvPr/>
        </p:nvSpPr>
        <p:spPr>
          <a:xfrm>
            <a:off x="4572000" y="1832252"/>
            <a:ext cx="51612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codewords</a:t>
            </a:r>
          </a:p>
        </p:txBody>
      </p:sp>
      <p:sp>
        <p:nvSpPr>
          <p:cNvPr id="179" name="(each 4 scalars)">
            <a:extLst>
              <a:ext uri="{FF2B5EF4-FFF2-40B4-BE49-F238E27FC236}">
                <ns2:creationId id="{7AE51040-3B2E-4A0F-8CEC-DD5177901D35}"/>
              </a:ext>
            </a:extLst>
          </p:cNvPr>
          <p:cNvSpPr>
            <a:spLocks noGrp="1"/>
          </p:cNvSpPr>
          <p:nvPr/>
        </p:nvSpPr>
        <p:spPr>
          <a:xfrm>
            <a:off x="4551355" y="1940639"/>
            <a:ext cx="54709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(each 4 scalars)</a:t>
            </a:r>
          </a:p>
        </p:txBody>
      </p:sp>
      <p:sp>
        <p:nvSpPr>
          <p:cNvPr id="180" name="Lookup">
            <a:extLst>
              <a:ext uri="{FF2B5EF4-FFF2-40B4-BE49-F238E27FC236}">
                <ns2:creationId id="{DF3BD7A1-0207-4ED2-84FB-732029193582}"/>
              </a:ext>
            </a:extLst>
          </p:cNvPr>
          <p:cNvSpPr>
            <a:spLocks noGrp="1"/>
          </p:cNvSpPr>
          <p:nvPr/>
        </p:nvSpPr>
        <p:spPr>
          <a:xfrm>
            <a:off x="4406839" y="2033542"/>
            <a:ext cx="283870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994"/>
          </a:bodyPr>
          <a:lstStyle>
            <a:def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Lookup</a:t>
            </a:r>
          </a:p>
        </p:txBody>
      </p:sp>
      <p:cxnSp>
        <p:nvCxnSpPr>
          <p:cNvPr id="181" name="native PowerPoint connector">
            <a:extLst>
              <a:ext uri="{FF2B5EF4-FFF2-40B4-BE49-F238E27FC236}">
                <ns2:creationId id="{250D2910-C5D4-4BA8-BF90-15D9A8F556BC}"/>
              </a:ext>
            </a:extLst>
          </p:cNvPr>
          <p:cNvCxnSpPr/>
          <p:nvPr/>
        </p:nvCxnSpPr>
        <p:spPr>
          <a:xfrm flipH="0" flipV="0">
            <a:off x="4412001" y="2157413"/>
            <a:ext cx="258064" cy="0"/>
          </a:xfrm>
          <a:prstGeom prst="straightConnector1">
            <a:avLst/>
          </a:prstGeom>
          <a:ln w="7226">
            <a:solidFill>
              <a:srgbClr val="074A8B"/>
            </a:solidFill>
            <a:prstDash val="solid"/>
            <a:tailEnd type="triangle" w="sm" len="sm"/>
          </a:ln>
        </p:spPr>
      </p:cxnSp>
      <p:sp>
        <p:nvSpPr>
          <p:cNvPr id="182" name="diagram block">
            <a:extLst>
              <a:ext uri="{FF2B5EF4-FFF2-40B4-BE49-F238E27FC236}">
                <ns2:creationId id="{CD46AEE0-870B-4831-AE8C-7C474A2826D0}"/>
              </a:ext>
            </a:extLst>
          </p:cNvPr>
          <p:cNvSpPr>
            <a:spLocks noGrp="1"/>
          </p:cNvSpPr>
          <p:nvPr/>
        </p:nvSpPr>
        <p:spPr>
          <a:xfrm>
            <a:off x="4747483" y="2012897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3" name="diagram block">
            <a:extLst>
              <a:ext uri="{FF2B5EF4-FFF2-40B4-BE49-F238E27FC236}">
                <ns2:creationId id="{8D1E2DC8-068E-4130-9ACC-BB404845E85B}"/>
              </a:ext>
            </a:extLst>
          </p:cNvPr>
          <p:cNvSpPr>
            <a:spLocks noGrp="1"/>
          </p:cNvSpPr>
          <p:nvPr/>
        </p:nvSpPr>
        <p:spPr>
          <a:xfrm>
            <a:off x="4815870" y="2012897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4" name="diagram block">
            <a:extLst>
              <a:ext uri="{FF2B5EF4-FFF2-40B4-BE49-F238E27FC236}">
                <ns2:creationId id="{CF48EC0D-32C9-4C71-8D21-22E4846CAA23}"/>
              </a:ext>
            </a:extLst>
          </p:cNvPr>
          <p:cNvSpPr>
            <a:spLocks noGrp="1"/>
          </p:cNvSpPr>
          <p:nvPr/>
        </p:nvSpPr>
        <p:spPr>
          <a:xfrm>
            <a:off x="4884257" y="2012897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5" name="diagram block">
            <a:extLst>
              <a:ext uri="{FF2B5EF4-FFF2-40B4-BE49-F238E27FC236}">
                <ns2:creationId id="{3E3A9CF6-1148-44A4-A2EF-E80617640880}"/>
              </a:ext>
            </a:extLst>
          </p:cNvPr>
          <p:cNvSpPr>
            <a:spLocks noGrp="1"/>
          </p:cNvSpPr>
          <p:nvPr/>
        </p:nvSpPr>
        <p:spPr>
          <a:xfrm>
            <a:off x="4952644" y="2012897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6" name="diagram block">
            <a:extLst>
              <a:ext uri="{FF2B5EF4-FFF2-40B4-BE49-F238E27FC236}">
                <ns2:creationId id="{FEEF213F-FC8A-44A4-9946-521FFF34C402}"/>
              </a:ext>
            </a:extLst>
          </p:cNvPr>
          <p:cNvSpPr>
            <a:spLocks noGrp="1"/>
          </p:cNvSpPr>
          <p:nvPr/>
        </p:nvSpPr>
        <p:spPr>
          <a:xfrm>
            <a:off x="4747483" y="2147090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7" name="diagram block">
            <a:extLst>
              <a:ext uri="{FF2B5EF4-FFF2-40B4-BE49-F238E27FC236}">
                <ns2:creationId id="{5B287D67-4F3F-475D-BCA2-668E2C334026}"/>
              </a:ext>
            </a:extLst>
          </p:cNvPr>
          <p:cNvSpPr>
            <a:spLocks noGrp="1"/>
          </p:cNvSpPr>
          <p:nvPr/>
        </p:nvSpPr>
        <p:spPr>
          <a:xfrm>
            <a:off x="4815870" y="2147090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8" name="diagram block">
            <a:extLst>
              <a:ext uri="{FF2B5EF4-FFF2-40B4-BE49-F238E27FC236}">
                <ns2:creationId id="{8E17C3F3-15D1-4ECF-945E-ED173BA30F37}"/>
              </a:ext>
            </a:extLst>
          </p:cNvPr>
          <p:cNvSpPr>
            <a:spLocks noGrp="1"/>
          </p:cNvSpPr>
          <p:nvPr/>
        </p:nvSpPr>
        <p:spPr>
          <a:xfrm>
            <a:off x="4884257" y="2147090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89" name="diagram block">
            <a:extLst>
              <a:ext uri="{FF2B5EF4-FFF2-40B4-BE49-F238E27FC236}">
                <ns2:creationId id="{CB0A3799-356D-4E7D-838F-972E3C1BF14F}"/>
              </a:ext>
            </a:extLst>
          </p:cNvPr>
          <p:cNvSpPr>
            <a:spLocks noGrp="1"/>
          </p:cNvSpPr>
          <p:nvPr/>
        </p:nvSpPr>
        <p:spPr>
          <a:xfrm>
            <a:off x="4952644" y="2147090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0" name="diagram block">
            <a:extLst>
              <a:ext uri="{FF2B5EF4-FFF2-40B4-BE49-F238E27FC236}">
                <ns2:creationId id="{2D042D5E-97B8-40E8-80C6-7BC757672AC0}"/>
              </a:ext>
            </a:extLst>
          </p:cNvPr>
          <p:cNvSpPr>
            <a:spLocks noGrp="1"/>
          </p:cNvSpPr>
          <p:nvPr/>
        </p:nvSpPr>
        <p:spPr>
          <a:xfrm>
            <a:off x="4747483" y="2281283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1" name="diagram block">
            <a:extLst>
              <a:ext uri="{FF2B5EF4-FFF2-40B4-BE49-F238E27FC236}">
                <ns2:creationId id="{B28D6322-5A61-4B98-A855-EEDA3993557B}"/>
              </a:ext>
            </a:extLst>
          </p:cNvPr>
          <p:cNvSpPr>
            <a:spLocks noGrp="1"/>
          </p:cNvSpPr>
          <p:nvPr/>
        </p:nvSpPr>
        <p:spPr>
          <a:xfrm>
            <a:off x="4815870" y="2281283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2" name="diagram block">
            <a:extLst>
              <a:ext uri="{FF2B5EF4-FFF2-40B4-BE49-F238E27FC236}">
                <ns2:creationId id="{D7A04BB7-F90D-4F5B-AFCB-2A4A900E5BAD}"/>
              </a:ext>
            </a:extLst>
          </p:cNvPr>
          <p:cNvSpPr>
            <a:spLocks noGrp="1"/>
          </p:cNvSpPr>
          <p:nvPr/>
        </p:nvSpPr>
        <p:spPr>
          <a:xfrm>
            <a:off x="4884257" y="2281283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3" name="diagram block">
            <a:extLst>
              <a:ext uri="{FF2B5EF4-FFF2-40B4-BE49-F238E27FC236}">
                <ns2:creationId id="{24BFF7F5-CB72-440D-A69A-18A9232E0CC3}"/>
              </a:ext>
            </a:extLst>
          </p:cNvPr>
          <p:cNvSpPr>
            <a:spLocks noGrp="1"/>
          </p:cNvSpPr>
          <p:nvPr/>
        </p:nvSpPr>
        <p:spPr>
          <a:xfrm>
            <a:off x="4952644" y="2281283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4" name="diagram block">
            <a:extLst>
              <a:ext uri="{FF2B5EF4-FFF2-40B4-BE49-F238E27FC236}">
                <ns2:creationId id="{3F2F6A6E-8463-4ADF-BC3F-5BD706152ECC}"/>
              </a:ext>
            </a:extLst>
          </p:cNvPr>
          <p:cNvSpPr>
            <a:spLocks noGrp="1"/>
          </p:cNvSpPr>
          <p:nvPr/>
        </p:nvSpPr>
        <p:spPr>
          <a:xfrm>
            <a:off x="4747483" y="2399992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5" name="diagram block">
            <a:extLst>
              <a:ext uri="{FF2B5EF4-FFF2-40B4-BE49-F238E27FC236}">
                <ns2:creationId id="{9B683C5C-9283-4D15-8582-7BDC8E9CFBC9}"/>
              </a:ext>
            </a:extLst>
          </p:cNvPr>
          <p:cNvSpPr>
            <a:spLocks noGrp="1"/>
          </p:cNvSpPr>
          <p:nvPr/>
        </p:nvSpPr>
        <p:spPr>
          <a:xfrm>
            <a:off x="4815870" y="2399992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6" name="diagram block">
            <a:extLst>
              <a:ext uri="{FF2B5EF4-FFF2-40B4-BE49-F238E27FC236}">
                <ns2:creationId id="{9FFCE6A8-78EA-4DB5-B285-F1CF9BC4FE87}"/>
              </a:ext>
            </a:extLst>
          </p:cNvPr>
          <p:cNvSpPr>
            <a:spLocks noGrp="1"/>
          </p:cNvSpPr>
          <p:nvPr/>
        </p:nvSpPr>
        <p:spPr>
          <a:xfrm>
            <a:off x="4884257" y="2399992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7" name="diagram block">
            <a:extLst>
              <a:ext uri="{FF2B5EF4-FFF2-40B4-BE49-F238E27FC236}">
                <ns2:creationId id="{769DF2BD-1DCB-460A-AF04-B15762A552EA}"/>
              </a:ext>
            </a:extLst>
          </p:cNvPr>
          <p:cNvSpPr>
            <a:spLocks noGrp="1"/>
          </p:cNvSpPr>
          <p:nvPr/>
        </p:nvSpPr>
        <p:spPr>
          <a:xfrm>
            <a:off x="4952644" y="2399992"/>
            <a:ext cx="68387" cy="72258"/>
          </a:xfrm>
          <a:prstGeom prst="rect">
            <a:avLst/>
          </a:prstGeom>
          <a:solidFill>
            <a:srgbClr val="8DC7EE"/>
          </a:solidFill>
          <a:ln w="3871">
            <a:solidFill>
              <a:srgbClr val="6BB7EB"/>
            </a:solidFill>
            <a:prstDash val="solid"/>
          </a:ln>
        </p:spPr>
      </p:sp>
      <p:sp>
        <p:nvSpPr>
          <p:cNvPr id="198" name="diagram block">
            <a:extLst>
              <a:ext uri="{FF2B5EF4-FFF2-40B4-BE49-F238E27FC236}">
                <ns2:creationId id="{FE01E07D-CABA-46BB-B77E-60988CDF8AB6}"/>
              </a:ext>
            </a:extLst>
          </p:cNvPr>
          <p:cNvSpPr>
            <a:spLocks noGrp="1"/>
          </p:cNvSpPr>
          <p:nvPr/>
        </p:nvSpPr>
        <p:spPr>
          <a:xfrm>
            <a:off x="5289417" y="1517415"/>
            <a:ext cx="1109674" cy="954836"/>
          </a:xfrm>
          <a:prstGeom prst="roundRect">
            <a:avLst>
              <a:gd name="adj" fmla="val 2162"/>
            </a:avLst>
          </a:prstGeom>
          <a:solidFill>
            <a:srgbClr val="EFFAF8"/>
          </a:solidFill>
          <a:ln w="5161">
            <a:solidFill>
              <a:srgbClr val="41A0A5"/>
            </a:solidFill>
            <a:prstDash val="solid"/>
          </a:ln>
        </p:spPr>
      </p:sp>
      <p:sp>
        <p:nvSpPr>
          <p:cNvPr id="199" name="Codebook 2">
            <a:extLst>
              <a:ext uri="{FF2B5EF4-FFF2-40B4-BE49-F238E27FC236}">
                <ns2:creationId id="{A83B82A5-E1E5-42D7-A434-1A177DF6EBA3}"/>
              </a:ext>
            </a:extLst>
          </p:cNvPr>
          <p:cNvSpPr>
            <a:spLocks noGrp="1"/>
          </p:cNvSpPr>
          <p:nvPr/>
        </p:nvSpPr>
        <p:spPr>
          <a:xfrm>
            <a:off x="5341030" y="1543221"/>
            <a:ext cx="1006448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Codebook 2</a:t>
            </a:r>
          </a:p>
        </p:txBody>
      </p:sp>
      <p:sp>
        <p:nvSpPr>
          <p:cNvPr id="200" name="C₂ ∈ ℝ²⁵⁶×⁴, BF16">
            <a:extLst>
              <a:ext uri="{FF2B5EF4-FFF2-40B4-BE49-F238E27FC236}">
                <ns2:creationId id="{A458F884-0B2C-45B5-B8D3-E5B6D9287ED4}"/>
              </a:ext>
            </a:extLst>
          </p:cNvPr>
          <p:cNvSpPr>
            <a:spLocks noGrp="1"/>
          </p:cNvSpPr>
          <p:nvPr/>
        </p:nvSpPr>
        <p:spPr>
          <a:xfrm>
            <a:off x="5346191" y="1667091"/>
            <a:ext cx="990965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493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C₂ ∈ ℝ²⁵⁶×⁴, BF16</a:t>
            </a:r>
          </a:p>
        </p:txBody>
      </p:sp>
      <p:sp>
        <p:nvSpPr>
          <p:cNvPr id="201" name="8 indices">
            <a:extLst>
              <a:ext uri="{FF2B5EF4-FFF2-40B4-BE49-F238E27FC236}">
                <ns2:creationId id="{4539CA9A-0BDE-4701-9756-9A40D8058C04}"/>
              </a:ext>
            </a:extLst>
          </p:cNvPr>
          <p:cNvSpPr>
            <a:spLocks noGrp="1"/>
          </p:cNvSpPr>
          <p:nvPr/>
        </p:nvSpPr>
        <p:spPr>
          <a:xfrm>
            <a:off x="5351352" y="1796123"/>
            <a:ext cx="428386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indices</a:t>
            </a:r>
          </a:p>
        </p:txBody>
      </p:sp>
      <p:sp>
        <p:nvSpPr>
          <p:cNvPr id="202" name="i₂ (8-bit)">
            <a:extLst>
              <a:ext uri="{FF2B5EF4-FFF2-40B4-BE49-F238E27FC236}">
                <ns2:creationId id="{00EABF12-07DF-4B4B-95F0-90A9F5E71664}"/>
              </a:ext>
            </a:extLst>
          </p:cNvPr>
          <p:cNvSpPr>
            <a:spLocks noGrp="1"/>
          </p:cNvSpPr>
          <p:nvPr/>
        </p:nvSpPr>
        <p:spPr>
          <a:xfrm>
            <a:off x="5382320" y="1904510"/>
            <a:ext cx="42322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i₂ (8-bit)</a:t>
            </a:r>
          </a:p>
        </p:txBody>
      </p:sp>
      <p:sp>
        <p:nvSpPr>
          <p:cNvPr id="203" name="diagram block">
            <a:extLst>
              <a:ext uri="{FF2B5EF4-FFF2-40B4-BE49-F238E27FC236}">
                <ns2:creationId id="{582BEB27-5AFE-4D4D-9E18-72530EBF2BAF}"/>
              </a:ext>
            </a:extLst>
          </p:cNvPr>
          <p:cNvSpPr>
            <a:spLocks noGrp="1"/>
          </p:cNvSpPr>
          <p:nvPr/>
        </p:nvSpPr>
        <p:spPr>
          <a:xfrm>
            <a:off x="5402965" y="1981929"/>
            <a:ext cx="211612" cy="113548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4" name="i₂,1">
            <a:extLst>
              <a:ext uri="{FF2B5EF4-FFF2-40B4-BE49-F238E27FC236}">
                <ns2:creationId id="{4B36236B-4E25-49F9-9ADA-73CBE4038BF6}"/>
              </a:ext>
            </a:extLst>
          </p:cNvPr>
          <p:cNvSpPr>
            <a:spLocks noGrp="1"/>
          </p:cNvSpPr>
          <p:nvPr/>
        </p:nvSpPr>
        <p:spPr>
          <a:xfrm>
            <a:off x="5428771" y="2007736"/>
            <a:ext cx="159999" cy="61935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6252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i₂,1</a:t>
            </a:r>
          </a:p>
        </p:txBody>
      </p:sp>
      <p:sp>
        <p:nvSpPr>
          <p:cNvPr id="205" name="diagram block">
            <a:extLst>
              <a:ext uri="{FF2B5EF4-FFF2-40B4-BE49-F238E27FC236}">
                <ns2:creationId id="{32ECD4D1-4991-45A5-BC18-F68E91AFB0E8}"/>
              </a:ext>
            </a:extLst>
          </p:cNvPr>
          <p:cNvSpPr>
            <a:spLocks noGrp="1"/>
          </p:cNvSpPr>
          <p:nvPr/>
        </p:nvSpPr>
        <p:spPr>
          <a:xfrm>
            <a:off x="5402965" y="2105800"/>
            <a:ext cx="211612" cy="113548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6" name="i₂,2">
            <a:extLst>
              <a:ext uri="{FF2B5EF4-FFF2-40B4-BE49-F238E27FC236}">
                <ns2:creationId id="{81B15418-2EB2-4BB9-B135-133E3FA647D3}"/>
              </a:ext>
            </a:extLst>
          </p:cNvPr>
          <p:cNvSpPr>
            <a:spLocks noGrp="1"/>
          </p:cNvSpPr>
          <p:nvPr/>
        </p:nvSpPr>
        <p:spPr>
          <a:xfrm>
            <a:off x="5428771" y="2131606"/>
            <a:ext cx="159999" cy="61935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6252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i₂,2</a:t>
            </a:r>
          </a:p>
        </p:txBody>
      </p:sp>
      <p:sp>
        <p:nvSpPr>
          <p:cNvPr id="207" name="diagram block">
            <a:extLst>
              <a:ext uri="{FF2B5EF4-FFF2-40B4-BE49-F238E27FC236}">
                <ns2:creationId id="{B142F4EC-C683-44A3-8F11-50FDF44FDB14}"/>
              </a:ext>
            </a:extLst>
          </p:cNvPr>
          <p:cNvSpPr>
            <a:spLocks noGrp="1"/>
          </p:cNvSpPr>
          <p:nvPr/>
        </p:nvSpPr>
        <p:spPr>
          <a:xfrm>
            <a:off x="5402965" y="2312251"/>
            <a:ext cx="211612" cy="113548"/>
          </a:xfrm>
          <a:prstGeom prst="rect">
            <a:avLst/>
          </a:prstGeom>
          <a:solidFill>
            <a:srgbClr val="F6FAFE"/>
          </a:solidFill>
          <a:ln w="5161">
            <a:solidFill>
              <a:srgbClr val="64778C"/>
            </a:solidFill>
            <a:prstDash val="solid"/>
          </a:ln>
        </p:spPr>
      </p:sp>
      <p:sp>
        <p:nvSpPr>
          <p:cNvPr id="208" name="i₂,8">
            <a:extLst>
              <a:ext uri="{FF2B5EF4-FFF2-40B4-BE49-F238E27FC236}">
                <ns2:creationId id="{C80D0133-EE68-44C5-AEFA-6C026BE42606}"/>
              </a:ext>
            </a:extLst>
          </p:cNvPr>
          <p:cNvSpPr>
            <a:spLocks noGrp="1"/>
          </p:cNvSpPr>
          <p:nvPr/>
        </p:nvSpPr>
        <p:spPr>
          <a:xfrm>
            <a:off x="5428771" y="2338057"/>
            <a:ext cx="159999" cy="61935"/>
          </a:xfrm>
          <a:prstGeom prst="rect">
            <a:avLst/>
          </a:prstGeom>
          <a:solidFill>
            <a:srgbClr val="F6FAFE"/>
          </a:solidFill>
          <a:ln w="0">
            <a:noFill/>
          </a:ln>
        </p:spPr>
        <p:txBody>
          <a:bodyPr wrap="none" lIns="0" tIns="0" rIns="0" bIns="0" anchor="ctr">
            <a:normAutofit fontScale="62523"/>
          </a:bodyPr>
          <a:lstStyle>
            <a:def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i₂,8</a:t>
            </a:r>
          </a:p>
        </p:txBody>
      </p:sp>
      <p:sp>
        <p:nvSpPr>
          <p:cNvPr id="209" name="⋮">
            <a:extLst>
              <a:ext uri="{FF2B5EF4-FFF2-40B4-BE49-F238E27FC236}">
                <ns2:creationId id="{34ACAA14-C0F8-471C-99A8-6E510D1B9281}"/>
              </a:ext>
            </a:extLst>
          </p:cNvPr>
          <p:cNvSpPr>
            <a:spLocks noGrp="1"/>
          </p:cNvSpPr>
          <p:nvPr/>
        </p:nvSpPr>
        <p:spPr>
          <a:xfrm>
            <a:off x="5449417" y="2219348"/>
            <a:ext cx="129032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9147"/>
          </a:bodyPr>
          <a:lstStyle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⋮</a:t>
            </a:r>
          </a:p>
        </p:txBody>
      </p:sp>
      <p:sp>
        <p:nvSpPr>
          <p:cNvPr id="210" name="8 codewords">
            <a:extLst>
              <a:ext uri="{FF2B5EF4-FFF2-40B4-BE49-F238E27FC236}">
                <ns2:creationId id="{B631ABCB-2C56-4063-AF53-4651A4C4DE50}"/>
              </a:ext>
            </a:extLst>
          </p:cNvPr>
          <p:cNvSpPr>
            <a:spLocks noGrp="1"/>
          </p:cNvSpPr>
          <p:nvPr/>
        </p:nvSpPr>
        <p:spPr>
          <a:xfrm>
            <a:off x="5826190" y="1832252"/>
            <a:ext cx="51612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codewords</a:t>
            </a:r>
          </a:p>
        </p:txBody>
      </p:sp>
      <p:sp>
        <p:nvSpPr>
          <p:cNvPr id="211" name="(each 4 scalars)">
            <a:extLst>
              <a:ext uri="{FF2B5EF4-FFF2-40B4-BE49-F238E27FC236}">
                <ns2:creationId id="{37D21CC2-EBE1-41F8-BA0D-1B46DCFEE637}"/>
              </a:ext>
            </a:extLst>
          </p:cNvPr>
          <p:cNvSpPr>
            <a:spLocks noGrp="1"/>
          </p:cNvSpPr>
          <p:nvPr/>
        </p:nvSpPr>
        <p:spPr>
          <a:xfrm>
            <a:off x="5805544" y="1940639"/>
            <a:ext cx="54709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(each 4 scalars)</a:t>
            </a:r>
          </a:p>
        </p:txBody>
      </p:sp>
      <p:sp>
        <p:nvSpPr>
          <p:cNvPr id="212" name="Lookup">
            <a:extLst>
              <a:ext uri="{FF2B5EF4-FFF2-40B4-BE49-F238E27FC236}">
                <ns2:creationId id="{6CD1F477-4B16-40E1-8A95-BCB03632396D}"/>
              </a:ext>
            </a:extLst>
          </p:cNvPr>
          <p:cNvSpPr>
            <a:spLocks noGrp="1"/>
          </p:cNvSpPr>
          <p:nvPr/>
        </p:nvSpPr>
        <p:spPr>
          <a:xfrm>
            <a:off x="5661029" y="2033542"/>
            <a:ext cx="283870" cy="980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994"/>
          </a:bodyPr>
          <a:lstStyle>
            <a:def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Lookup</a:t>
            </a:r>
          </a:p>
        </p:txBody>
      </p:sp>
      <p:cxnSp>
        <p:nvCxnSpPr>
          <p:cNvPr id="213" name="native PowerPoint connector">
            <a:extLst>
              <a:ext uri="{FF2B5EF4-FFF2-40B4-BE49-F238E27FC236}">
                <ns2:creationId id="{96F61D30-9D87-4934-A9C5-12D53A43B3A2}"/>
              </a:ext>
            </a:extLst>
          </p:cNvPr>
          <p:cNvCxnSpPr/>
          <p:nvPr/>
        </p:nvCxnSpPr>
        <p:spPr>
          <a:xfrm flipH="0" flipV="0">
            <a:off x="5666190" y="2157413"/>
            <a:ext cx="258064" cy="0"/>
          </a:xfrm>
          <a:prstGeom prst="straightConnector1">
            <a:avLst/>
          </a:prstGeom>
          <a:ln w="7226">
            <a:solidFill>
              <a:srgbClr val="00696D"/>
            </a:solidFill>
            <a:prstDash val="solid"/>
            <a:tailEnd type="triangle" w="sm" len="sm"/>
          </a:ln>
        </p:spPr>
      </p:cxnSp>
      <p:sp>
        <p:nvSpPr>
          <p:cNvPr id="214" name="diagram block">
            <a:extLst>
              <a:ext uri="{FF2B5EF4-FFF2-40B4-BE49-F238E27FC236}">
                <ns2:creationId id="{02F72A9F-FF46-4102-A090-21F3C47E1CC4}"/>
              </a:ext>
            </a:extLst>
          </p:cNvPr>
          <p:cNvSpPr>
            <a:spLocks noGrp="1"/>
          </p:cNvSpPr>
          <p:nvPr/>
        </p:nvSpPr>
        <p:spPr>
          <a:xfrm>
            <a:off x="6001673" y="2012897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5" name="diagram block">
            <a:extLst>
              <a:ext uri="{FF2B5EF4-FFF2-40B4-BE49-F238E27FC236}">
                <ns2:creationId id="{2B1FE9BF-1E93-4392-871A-CDBE356EA176}"/>
              </a:ext>
            </a:extLst>
          </p:cNvPr>
          <p:cNvSpPr>
            <a:spLocks noGrp="1"/>
          </p:cNvSpPr>
          <p:nvPr/>
        </p:nvSpPr>
        <p:spPr>
          <a:xfrm>
            <a:off x="6070060" y="2012897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6" name="diagram block">
            <a:extLst>
              <a:ext uri="{FF2B5EF4-FFF2-40B4-BE49-F238E27FC236}">
                <ns2:creationId id="{E195DFB6-529E-45F0-9A86-B92E4AA234B7}"/>
              </a:ext>
            </a:extLst>
          </p:cNvPr>
          <p:cNvSpPr>
            <a:spLocks noGrp="1"/>
          </p:cNvSpPr>
          <p:nvPr/>
        </p:nvSpPr>
        <p:spPr>
          <a:xfrm>
            <a:off x="6138447" y="2012897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7" name="diagram block">
            <a:extLst>
              <a:ext uri="{FF2B5EF4-FFF2-40B4-BE49-F238E27FC236}">
                <ns2:creationId id="{E3E98ACD-92D9-4305-8A5B-3658A99D6091}"/>
              </a:ext>
            </a:extLst>
          </p:cNvPr>
          <p:cNvSpPr>
            <a:spLocks noGrp="1"/>
          </p:cNvSpPr>
          <p:nvPr/>
        </p:nvSpPr>
        <p:spPr>
          <a:xfrm>
            <a:off x="6206834" y="2012897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8" name="diagram block">
            <a:extLst>
              <a:ext uri="{FF2B5EF4-FFF2-40B4-BE49-F238E27FC236}">
                <ns2:creationId id="{C0FB9335-6B06-488D-8A10-CA585B668F51}"/>
              </a:ext>
            </a:extLst>
          </p:cNvPr>
          <p:cNvSpPr>
            <a:spLocks noGrp="1"/>
          </p:cNvSpPr>
          <p:nvPr/>
        </p:nvSpPr>
        <p:spPr>
          <a:xfrm>
            <a:off x="6001673" y="2147090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19" name="diagram block">
            <a:extLst>
              <a:ext uri="{FF2B5EF4-FFF2-40B4-BE49-F238E27FC236}">
                <ns2:creationId id="{221A27FC-C37D-4E0E-AB9C-DACCC749BCE0}"/>
              </a:ext>
            </a:extLst>
          </p:cNvPr>
          <p:cNvSpPr>
            <a:spLocks noGrp="1"/>
          </p:cNvSpPr>
          <p:nvPr/>
        </p:nvSpPr>
        <p:spPr>
          <a:xfrm>
            <a:off x="6070060" y="2147090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0" name="diagram block">
            <a:extLst>
              <a:ext uri="{FF2B5EF4-FFF2-40B4-BE49-F238E27FC236}">
                <ns2:creationId id="{836ABD9C-625A-4A2A-94C1-5C11E1859DC9}"/>
              </a:ext>
            </a:extLst>
          </p:cNvPr>
          <p:cNvSpPr>
            <a:spLocks noGrp="1"/>
          </p:cNvSpPr>
          <p:nvPr/>
        </p:nvSpPr>
        <p:spPr>
          <a:xfrm>
            <a:off x="6138447" y="2147090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1" name="diagram block">
            <a:extLst>
              <a:ext uri="{FF2B5EF4-FFF2-40B4-BE49-F238E27FC236}">
                <ns2:creationId id="{5766F006-DCA9-4CF3-96E0-6F8E97812BA0}"/>
              </a:ext>
            </a:extLst>
          </p:cNvPr>
          <p:cNvSpPr>
            <a:spLocks noGrp="1"/>
          </p:cNvSpPr>
          <p:nvPr/>
        </p:nvSpPr>
        <p:spPr>
          <a:xfrm>
            <a:off x="6206834" y="2147090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2" name="diagram block">
            <a:extLst>
              <a:ext uri="{FF2B5EF4-FFF2-40B4-BE49-F238E27FC236}">
                <ns2:creationId id="{E1D20A23-9B44-437D-9AF2-CCB16761C00D}"/>
              </a:ext>
            </a:extLst>
          </p:cNvPr>
          <p:cNvSpPr>
            <a:spLocks noGrp="1"/>
          </p:cNvSpPr>
          <p:nvPr/>
        </p:nvSpPr>
        <p:spPr>
          <a:xfrm>
            <a:off x="6001673" y="2281283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3" name="diagram block">
            <a:extLst>
              <a:ext uri="{FF2B5EF4-FFF2-40B4-BE49-F238E27FC236}">
                <ns2:creationId id="{5CC3B47C-0880-44D3-9F73-A97C38B73A3A}"/>
              </a:ext>
            </a:extLst>
          </p:cNvPr>
          <p:cNvSpPr>
            <a:spLocks noGrp="1"/>
          </p:cNvSpPr>
          <p:nvPr/>
        </p:nvSpPr>
        <p:spPr>
          <a:xfrm>
            <a:off x="6070060" y="2281283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4" name="diagram block">
            <a:extLst>
              <a:ext uri="{FF2B5EF4-FFF2-40B4-BE49-F238E27FC236}">
                <ns2:creationId id="{5BCABBF0-D7DC-4D6A-9E60-5FD4D9F1628F}"/>
              </a:ext>
            </a:extLst>
          </p:cNvPr>
          <p:cNvSpPr>
            <a:spLocks noGrp="1"/>
          </p:cNvSpPr>
          <p:nvPr/>
        </p:nvSpPr>
        <p:spPr>
          <a:xfrm>
            <a:off x="6138447" y="2281283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5" name="diagram block">
            <a:extLst>
              <a:ext uri="{FF2B5EF4-FFF2-40B4-BE49-F238E27FC236}">
                <ns2:creationId id="{E94D095E-DDBA-4AEA-91C5-2B09123DE9F3}"/>
              </a:ext>
            </a:extLst>
          </p:cNvPr>
          <p:cNvSpPr>
            <a:spLocks noGrp="1"/>
          </p:cNvSpPr>
          <p:nvPr/>
        </p:nvSpPr>
        <p:spPr>
          <a:xfrm>
            <a:off x="6206834" y="2281283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6" name="diagram block">
            <a:extLst>
              <a:ext uri="{FF2B5EF4-FFF2-40B4-BE49-F238E27FC236}">
                <ns2:creationId id="{EBB4A6B9-22E9-4164-815C-84598B6726BE}"/>
              </a:ext>
            </a:extLst>
          </p:cNvPr>
          <p:cNvSpPr>
            <a:spLocks noGrp="1"/>
          </p:cNvSpPr>
          <p:nvPr/>
        </p:nvSpPr>
        <p:spPr>
          <a:xfrm>
            <a:off x="6001673" y="2399992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7" name="diagram block">
            <a:extLst>
              <a:ext uri="{FF2B5EF4-FFF2-40B4-BE49-F238E27FC236}">
                <ns2:creationId id="{3437A320-1B22-48A7-BB4A-D01C1BFEE259}"/>
              </a:ext>
            </a:extLst>
          </p:cNvPr>
          <p:cNvSpPr>
            <a:spLocks noGrp="1"/>
          </p:cNvSpPr>
          <p:nvPr/>
        </p:nvSpPr>
        <p:spPr>
          <a:xfrm>
            <a:off x="6070060" y="2399992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8" name="diagram block">
            <a:extLst>
              <a:ext uri="{FF2B5EF4-FFF2-40B4-BE49-F238E27FC236}">
                <ns2:creationId id="{5DECF5B0-8E68-43D4-B792-F6B4DD65767B}"/>
              </a:ext>
            </a:extLst>
          </p:cNvPr>
          <p:cNvSpPr>
            <a:spLocks noGrp="1"/>
          </p:cNvSpPr>
          <p:nvPr/>
        </p:nvSpPr>
        <p:spPr>
          <a:xfrm>
            <a:off x="6138447" y="2399992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29" name="diagram block">
            <a:extLst>
              <a:ext uri="{FF2B5EF4-FFF2-40B4-BE49-F238E27FC236}">
                <ns2:creationId id="{661A61C0-78D8-4639-85D4-BB9D64D3A89A}"/>
              </a:ext>
            </a:extLst>
          </p:cNvPr>
          <p:cNvSpPr>
            <a:spLocks noGrp="1"/>
          </p:cNvSpPr>
          <p:nvPr/>
        </p:nvSpPr>
        <p:spPr>
          <a:xfrm>
            <a:off x="6206834" y="2399992"/>
            <a:ext cx="68387" cy="72258"/>
          </a:xfrm>
          <a:prstGeom prst="rect">
            <a:avLst/>
          </a:prstGeom>
          <a:solidFill>
            <a:srgbClr val="87CDCC"/>
          </a:solidFill>
          <a:ln w="3871">
            <a:solidFill>
              <a:srgbClr val="41A0A5"/>
            </a:solidFill>
            <a:prstDash val="solid"/>
          </a:ln>
        </p:spPr>
      </p:sp>
      <p:sp>
        <p:nvSpPr>
          <p:cNvPr id="230" name="+">
            <a:extLst>
              <a:ext uri="{FF2B5EF4-FFF2-40B4-BE49-F238E27FC236}">
                <ns2:creationId id="{DBB80142-6AD0-4D62-9F51-384F8EDE3C3D}"/>
              </a:ext>
            </a:extLst>
          </p:cNvPr>
          <p:cNvSpPr>
            <a:spLocks noGrp="1"/>
          </p:cNvSpPr>
          <p:nvPr/>
        </p:nvSpPr>
        <p:spPr>
          <a:xfrm>
            <a:off x="5150063" y="2033542"/>
            <a:ext cx="129032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1300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+</a:t>
            </a:r>
          </a:p>
        </p:txBody>
      </p:sp>
      <p:sp>
        <p:nvSpPr>
          <p:cNvPr id="231" name="diagram block">
            <a:extLst>
              <a:ext uri="{FF2B5EF4-FFF2-40B4-BE49-F238E27FC236}">
                <ns2:creationId id="{AD209EC1-860C-4ABC-B338-3E2564036058}"/>
              </a:ext>
            </a:extLst>
          </p:cNvPr>
          <p:cNvSpPr>
            <a:spLocks noGrp="1"/>
          </p:cNvSpPr>
          <p:nvPr/>
        </p:nvSpPr>
        <p:spPr>
          <a:xfrm>
            <a:off x="4040389" y="2529024"/>
            <a:ext cx="2307089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F3DCA8"/>
            </a:solidFill>
            <a:prstDash val="solid"/>
          </a:ln>
        </p:spPr>
      </p:sp>
      <p:sp>
        <p:nvSpPr>
          <p:cNvPr id="232" name="Ŵ[g] = r_row × 2ᵉᵍ × (C₁[i₁] + C₂[i₂])">
            <a:extLst>
              <a:ext uri="{FF2B5EF4-FFF2-40B4-BE49-F238E27FC236}">
                <ns2:creationId id="{442EBF5F-1897-4D69-82AF-4E8490138D2D}"/>
              </a:ext>
            </a:extLst>
          </p:cNvPr>
          <p:cNvSpPr>
            <a:spLocks noGrp="1"/>
          </p:cNvSpPr>
          <p:nvPr/>
        </p:nvSpPr>
        <p:spPr>
          <a:xfrm>
            <a:off x="4086840" y="2570314"/>
            <a:ext cx="2214187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Ŵ[g] = r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row</a:t>
            </a: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2ᵉᵍ × (C₁[i₁] + C₂[i₂])</a:t>
            </a:r>
          </a:p>
        </p:txBody>
      </p:sp>
      <p:cxnSp>
        <p:nvCxnSpPr>
          <p:cNvPr id="233" name="native PowerPoint connector">
            <a:extLst>
              <a:ext uri="{FF2B5EF4-FFF2-40B4-BE49-F238E27FC236}">
                <ns2:creationId id="{E3B78311-FE49-4A4C-B2DB-4B70F7AAADC4}"/>
              </a:ext>
            </a:extLst>
          </p:cNvPr>
          <p:cNvCxnSpPr/>
          <p:nvPr/>
        </p:nvCxnSpPr>
        <p:spPr>
          <a:xfrm flipH="0" flipV="1">
            <a:off x="4298452" y="2756120"/>
            <a:ext cx="87742" cy="123871"/>
          </a:xfrm>
          <a:prstGeom prst="straightConnector1">
            <a:avLst/>
          </a:prstGeom>
          <a:ln w="6194">
            <a:solidFill>
              <a:srgbClr val="074A8B"/>
            </a:solidFill>
            <a:prstDash val="solid"/>
            <a:tailEnd type="triangle" w="sm" len="sm"/>
          </a:ln>
        </p:spPr>
      </p:cxnSp>
      <p:cxnSp>
        <p:nvCxnSpPr>
          <p:cNvPr id="234" name="native PowerPoint connector">
            <a:extLst>
              <a:ext uri="{FF2B5EF4-FFF2-40B4-BE49-F238E27FC236}">
                <ns2:creationId id="{A9AE9943-0595-4188-9899-5766849B6379}"/>
              </a:ext>
            </a:extLst>
          </p:cNvPr>
          <p:cNvCxnSpPr/>
          <p:nvPr/>
        </p:nvCxnSpPr>
        <p:spPr>
          <a:xfrm flipH="0" flipV="1">
            <a:off x="4886838" y="2756120"/>
            <a:ext cx="82580" cy="118709"/>
          </a:xfrm>
          <a:prstGeom prst="straightConnector1">
            <a:avLst/>
          </a:prstGeom>
          <a:ln w="6194">
            <a:solidFill>
              <a:srgbClr val="0776A5"/>
            </a:solidFill>
            <a:prstDash val="solid"/>
            <a:tailEnd type="triangle" w="sm" len="sm"/>
          </a:ln>
        </p:spPr>
      </p:cxnSp>
      <p:cxnSp>
        <p:nvCxnSpPr>
          <p:cNvPr id="235" name="native PowerPoint connector">
            <a:extLst>
              <a:ext uri="{FF2B5EF4-FFF2-40B4-BE49-F238E27FC236}">
                <ns2:creationId id="{65EFCB07-4086-4021-895A-393D128ADDB3}"/>
              </a:ext>
            </a:extLst>
          </p:cNvPr>
          <p:cNvCxnSpPr/>
          <p:nvPr/>
        </p:nvCxnSpPr>
        <p:spPr>
          <a:xfrm flipH="0" flipV="1">
            <a:off x="5521674" y="2756120"/>
            <a:ext cx="0" cy="123871"/>
          </a:xfrm>
          <a:prstGeom prst="straightConnector1">
            <a:avLst/>
          </a:prstGeom>
          <a:ln w="6194">
            <a:solidFill>
              <a:srgbClr val="00696D"/>
            </a:solidFill>
            <a:prstDash val="solid"/>
            <a:tailEnd type="triangle" w="sm" len="sm"/>
          </a:ln>
        </p:spPr>
      </p:cxnSp>
      <p:cxnSp>
        <p:nvCxnSpPr>
          <p:cNvPr id="236" name="native PowerPoint connector">
            <a:extLst>
              <a:ext uri="{FF2B5EF4-FFF2-40B4-BE49-F238E27FC236}">
                <ns2:creationId id="{878E655D-2AC6-4B9C-AA3A-9066A31873F6}"/>
              </a:ext>
            </a:extLst>
          </p:cNvPr>
          <p:cNvCxnSpPr/>
          <p:nvPr/>
        </p:nvCxnSpPr>
        <p:spPr>
          <a:xfrm flipH="0" flipV="1">
            <a:off x="6130705" y="2756120"/>
            <a:ext cx="0" cy="123871"/>
          </a:xfrm>
          <a:prstGeom prst="straightConnector1">
            <a:avLst/>
          </a:prstGeom>
          <a:ln w="6194">
            <a:solidFill>
              <a:srgbClr val="061A3C"/>
            </a:solidFill>
            <a:prstDash val="solid"/>
            <a:tailEnd type="triangle" w="sm" len="sm"/>
          </a:ln>
        </p:spPr>
      </p:cxnSp>
      <p:sp>
        <p:nvSpPr>
          <p:cNvPr id="237" name="BF16 row gain">
            <a:extLst>
              <a:ext uri="{FF2B5EF4-FFF2-40B4-BE49-F238E27FC236}">
                <ns2:creationId id="{539D9D59-D737-4D27-A5CC-AE316E386C9D}"/>
              </a:ext>
            </a:extLst>
          </p:cNvPr>
          <p:cNvSpPr>
            <a:spLocks noGrp="1"/>
          </p:cNvSpPr>
          <p:nvPr/>
        </p:nvSpPr>
        <p:spPr>
          <a:xfrm>
            <a:off x="4040389" y="2869668"/>
            <a:ext cx="51612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 row gain</a:t>
            </a:r>
          </a:p>
        </p:txBody>
      </p:sp>
      <p:sp>
        <p:nvSpPr>
          <p:cNvPr id="238" name="r_row">
            <a:extLst>
              <a:ext uri="{FF2B5EF4-FFF2-40B4-BE49-F238E27FC236}">
                <ns2:creationId id="{949D89C9-3D3C-4783-BE4A-C21FDE68CEA7}"/>
              </a:ext>
            </a:extLst>
          </p:cNvPr>
          <p:cNvSpPr>
            <a:spLocks noGrp="1"/>
          </p:cNvSpPr>
          <p:nvPr/>
        </p:nvSpPr>
        <p:spPr>
          <a:xfrm>
            <a:off x="4159098" y="2988378"/>
            <a:ext cx="294193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124"/>
          </a:bodyPr>
          <a:lstStyle>
            <a:def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564" b="0" i="1" baseline="-23000">
                <a:solidFill>
                  <a:srgbClr val="074A8B"/>
                </a:solidFill>
                <a:latin typeface="Times New Roman"/>
                <a:ea typeface="Times New Roman"/>
                <a:cs typeface="Times New Roman"/>
              </a:rPr>
              <a:t>row</a:t>
            </a:r>
          </a:p>
        </p:txBody>
      </p:sp>
      <p:sp>
        <p:nvSpPr>
          <p:cNvPr id="239" name="B32 power-of-two&#10;scales 2ᵉᵍ">
            <a:extLst>
              <a:ext uri="{FF2B5EF4-FFF2-40B4-BE49-F238E27FC236}">
                <ns2:creationId id="{DB118D04-0DA3-4851-AA4E-07C5417D9606}"/>
              </a:ext>
            </a:extLst>
          </p:cNvPr>
          <p:cNvSpPr>
            <a:spLocks noGrp="1"/>
          </p:cNvSpPr>
          <p:nvPr/>
        </p:nvSpPr>
        <p:spPr>
          <a:xfrm>
            <a:off x="4597806" y="2864507"/>
            <a:ext cx="65548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351"/>
          </a:bodyPr>
          <a:lstStyle>
            <a:def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rPr>
              <a:t>B32 power-of-two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877A6"/>
                </a:solidFill>
                <a:latin typeface="Arial Narrow"/>
                <a:ea typeface="Arial Narrow"/>
                <a:cs typeface="Arial Narrow"/>
              </a:rPr>
              <a:t>scales 2ᵉᵍ</a:t>
            </a:r>
          </a:p>
        </p:txBody>
      </p:sp>
      <p:sp>
        <p:nvSpPr>
          <p:cNvPr id="240" name="2 × 8-bit indices /&#10;4 weights = 4 core bpw">
            <a:extLst>
              <a:ext uri="{FF2B5EF4-FFF2-40B4-BE49-F238E27FC236}">
                <ns2:creationId id="{4F1F0CDC-888F-4276-B529-0562BD1FFB60}"/>
              </a:ext>
            </a:extLst>
          </p:cNvPr>
          <p:cNvSpPr>
            <a:spLocks noGrp="1"/>
          </p:cNvSpPr>
          <p:nvPr/>
        </p:nvSpPr>
        <p:spPr>
          <a:xfrm>
            <a:off x="5289417" y="2864507"/>
            <a:ext cx="650321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7296"/>
          </a:bodyPr>
          <a:lstStyle>
            <a:def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2 × 8-bit indices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4 weights = 4 core bpw</a:t>
            </a:r>
          </a:p>
        </p:txBody>
      </p:sp>
      <p:sp>
        <p:nvSpPr>
          <p:cNvPr id="241" name="~4.27 bpw&#10;including&#10;metadata">
            <a:extLst>
              <a:ext uri="{FF2B5EF4-FFF2-40B4-BE49-F238E27FC236}">
                <ns2:creationId id="{F7D5D6C3-B370-4A00-AD1A-C249A89ADC48}"/>
              </a:ext>
            </a:extLst>
          </p:cNvPr>
          <p:cNvSpPr>
            <a:spLocks noGrp="1"/>
          </p:cNvSpPr>
          <p:nvPr/>
        </p:nvSpPr>
        <p:spPr>
          <a:xfrm>
            <a:off x="6011995" y="2843862"/>
            <a:ext cx="392257" cy="2838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4821"/>
          </a:bodyPr>
          <a:lstStyle>
            <a:def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~4.27 bpw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including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metadata</a:t>
            </a:r>
          </a:p>
        </p:txBody>
      </p:sp>
      <p:sp>
        <p:nvSpPr>
          <p:cNvPr id="242" name="diagram block">
            <a:extLst>
              <a:ext uri="{FF2B5EF4-FFF2-40B4-BE49-F238E27FC236}">
                <ns2:creationId id="{CF25C0AA-331F-4258-A933-741946FCA603}"/>
              </a:ext>
            </a:extLst>
          </p:cNvPr>
          <p:cNvSpPr>
            <a:spLocks noGrp="1"/>
          </p:cNvSpPr>
          <p:nvPr/>
        </p:nvSpPr>
        <p:spPr>
          <a:xfrm>
            <a:off x="4040389" y="3163861"/>
            <a:ext cx="2307089" cy="242580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49BA3"/>
            </a:solidFill>
            <a:prstDash val="solid"/>
          </a:ln>
        </p:spPr>
      </p:sp>
      <p:sp>
        <p:nvSpPr>
          <p:cNvPr id="243" name="Indices and B32 exponents are frozen">
            <a:extLst>
              <a:ext uri="{FF2B5EF4-FFF2-40B4-BE49-F238E27FC236}">
                <ns2:creationId id="{E79CB583-D3CD-4303-81BC-8A6406F1CFA8}"/>
              </a:ext>
            </a:extLst>
          </p:cNvPr>
          <p:cNvSpPr>
            <a:spLocks noGrp="1"/>
          </p:cNvSpPr>
          <p:nvPr/>
        </p:nvSpPr>
        <p:spPr>
          <a:xfrm>
            <a:off x="4097163" y="3205151"/>
            <a:ext cx="219354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644"/>
          </a:bodyPr>
          <a:lstStyle>
            <a:def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Indices and B32 exponents are frozen</a:t>
            </a:r>
          </a:p>
        </p:txBody>
      </p:sp>
      <p:sp>
        <p:nvSpPr>
          <p:cNvPr id="244" name="Codebooks and row gains calibrated with action + latent supervision">
            <a:extLst>
              <a:ext uri="{FF2B5EF4-FFF2-40B4-BE49-F238E27FC236}">
                <ns2:creationId id="{31BF1207-2959-4F5E-B2CE-1173893F2C97}"/>
              </a:ext>
            </a:extLst>
          </p:cNvPr>
          <p:cNvSpPr>
            <a:spLocks noGrp="1"/>
          </p:cNvSpPr>
          <p:nvPr/>
        </p:nvSpPr>
        <p:spPr>
          <a:xfrm>
            <a:off x="4092002" y="3318699"/>
            <a:ext cx="2209025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785"/>
          </a:bodyPr>
          <a:lstStyle>
            <a:def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Codebooks and row gains calibrated with action + latent supervision</a:t>
            </a:r>
          </a:p>
        </p:txBody>
      </p:sp>
      <p:sp>
        <p:nvSpPr>
          <p:cNvPr id="245" name="diagram block">
            <a:extLst>
              <a:ext uri="{FF2B5EF4-FFF2-40B4-BE49-F238E27FC236}">
                <ns2:creationId id="{CC711758-9602-4DC5-9EBF-017EAD96C191}"/>
              </a:ext>
            </a:extLst>
          </p:cNvPr>
          <p:cNvSpPr>
            <a:spLocks noGrp="1"/>
          </p:cNvSpPr>
          <p:nvPr/>
        </p:nvSpPr>
        <p:spPr>
          <a:xfrm>
            <a:off x="6538445" y="309676"/>
            <a:ext cx="1223222" cy="190967"/>
          </a:xfrm>
          <a:prstGeom prst="roundRect">
            <a:avLst>
              <a:gd name="adj" fmla="val 8108"/>
            </a:avLst>
          </a:prstGeom>
          <a:solidFill>
            <a:srgbClr val="DDEFFF"/>
          </a:solidFill>
          <a:ln w="5161">
            <a:noFill/>
            <a:prstDash val="solid"/>
          </a:ln>
        </p:spPr>
      </p:sp>
      <p:sp>
        <p:nvSpPr>
          <p:cNvPr id="246" name="Activation path (input X)">
            <a:extLst>
              <a:ext uri="{FF2B5EF4-FFF2-40B4-BE49-F238E27FC236}">
                <ns2:creationId id="{CAE41A19-07AE-4FEA-B5CE-A99EAE1C8FA1}"/>
              </a:ext>
            </a:extLst>
          </p:cNvPr>
          <p:cNvSpPr>
            <a:spLocks noGrp="1"/>
          </p:cNvSpPr>
          <p:nvPr/>
        </p:nvSpPr>
        <p:spPr>
          <a:xfrm>
            <a:off x="6564252" y="335483"/>
            <a:ext cx="1171609" cy="139354"/>
          </a:xfrm>
          <a:prstGeom prst="rect">
            <a:avLst/>
          </a:prstGeom>
          <a:solidFill>
            <a:srgbClr val="DDEFFF"/>
          </a:soli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C3873"/>
                </a:solidFill>
                <a:latin typeface="Arial Narrow"/>
                <a:ea typeface="Arial Narrow"/>
                <a:cs typeface="Arial Narrow"/>
              </a:rPr>
              <a:t>Activation path (input X)</a:t>
            </a:r>
          </a:p>
        </p:txBody>
      </p:sp>
      <p:sp>
        <p:nvSpPr>
          <p:cNvPr id="247" name="X">
            <a:extLst>
              <a:ext uri="{FF2B5EF4-FFF2-40B4-BE49-F238E27FC236}">
                <ns2:creationId id="{AE23C5C0-B926-4A38-B7CC-F27A7B93C3CC}"/>
              </a:ext>
            </a:extLst>
          </p:cNvPr>
          <p:cNvSpPr>
            <a:spLocks noGrp="1"/>
          </p:cNvSpPr>
          <p:nvPr/>
        </p:nvSpPr>
        <p:spPr>
          <a:xfrm>
            <a:off x="6548768" y="815481"/>
            <a:ext cx="134193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47"/>
          </a:bodyPr>
          <a:lstStyle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48" name="diagram block">
            <a:extLst>
              <a:ext uri="{FF2B5EF4-FFF2-40B4-BE49-F238E27FC236}">
                <ns2:creationId id="{8935374D-0959-4A58-BF8C-BF4C6EF2E079}"/>
              </a:ext>
            </a:extLst>
          </p:cNvPr>
          <p:cNvSpPr>
            <a:spLocks noGrp="1"/>
          </p:cNvSpPr>
          <p:nvPr/>
        </p:nvSpPr>
        <p:spPr>
          <a:xfrm>
            <a:off x="6806832" y="650321"/>
            <a:ext cx="469676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269AC"/>
            </a:solidFill>
            <a:prstDash val="solid"/>
          </a:ln>
        </p:spPr>
      </p:sp>
      <p:sp>
        <p:nvSpPr>
          <p:cNvPr id="249" name="Smooth&#10;(α = 0.5)&#10;+ H128">
            <a:extLst>
              <a:ext uri="{FF2B5EF4-FFF2-40B4-BE49-F238E27FC236}">
                <ns2:creationId id="{8508BB34-6400-4CF5-82D6-6D450854C6DE}"/>
              </a:ext>
            </a:extLst>
          </p:cNvPr>
          <p:cNvSpPr>
            <a:spLocks noGrp="1"/>
          </p:cNvSpPr>
          <p:nvPr/>
        </p:nvSpPr>
        <p:spPr>
          <a:xfrm>
            <a:off x="6832638" y="676127"/>
            <a:ext cx="418063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Smooth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(α = 0.5)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+ H128</a:t>
            </a:r>
          </a:p>
        </p:txBody>
      </p:sp>
      <p:sp>
        <p:nvSpPr>
          <p:cNvPr id="250" name="diagram block">
            <a:extLst>
              <a:ext uri="{FF2B5EF4-FFF2-40B4-BE49-F238E27FC236}">
                <ns2:creationId id="{8ADE6A85-3F73-4ECD-A85E-9FC0AF4B4CFD}"/>
              </a:ext>
            </a:extLst>
          </p:cNvPr>
          <p:cNvSpPr>
            <a:spLocks noGrp="1"/>
          </p:cNvSpPr>
          <p:nvPr/>
        </p:nvSpPr>
        <p:spPr>
          <a:xfrm>
            <a:off x="7488120" y="738062"/>
            <a:ext cx="263225" cy="283870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088B5"/>
            </a:solidFill>
            <a:prstDash val="solid"/>
          </a:ln>
        </p:spPr>
      </p:sp>
      <p:sp>
        <p:nvSpPr>
          <p:cNvPr id="251" name="÷ D">
            <a:extLst>
              <a:ext uri="{FF2B5EF4-FFF2-40B4-BE49-F238E27FC236}">
                <ns2:creationId id="{856E09F3-08B9-42CC-9BAA-9285AAB564EA}"/>
              </a:ext>
            </a:extLst>
          </p:cNvPr>
          <p:cNvSpPr>
            <a:spLocks noGrp="1"/>
          </p:cNvSpPr>
          <p:nvPr/>
        </p:nvSpPr>
        <p:spPr>
          <a:xfrm>
            <a:off x="7513926" y="763869"/>
            <a:ext cx="211612" cy="232257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÷ D</a:t>
            </a:r>
          </a:p>
        </p:txBody>
      </p:sp>
      <p:sp>
        <p:nvSpPr>
          <p:cNvPr id="252" name="diagram block">
            <a:extLst>
              <a:ext uri="{FF2B5EF4-FFF2-40B4-BE49-F238E27FC236}">
                <ns2:creationId id="{CEE1F0FA-A18E-4619-85D4-15BFD4ACDFBB}"/>
              </a:ext>
            </a:extLst>
          </p:cNvPr>
          <p:cNvSpPr>
            <a:spLocks noGrp="1"/>
          </p:cNvSpPr>
          <p:nvPr/>
        </p:nvSpPr>
        <p:spPr>
          <a:xfrm>
            <a:off x="7859731" y="655482"/>
            <a:ext cx="449031" cy="459353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5161">
            <a:solidFill>
              <a:srgbClr val="106C7A"/>
            </a:solidFill>
            <a:prstDash val="solid"/>
          </a:ln>
        </p:spPr>
      </p:sp>
      <p:sp>
        <p:nvSpPr>
          <p:cNvPr id="253" name="Dynamic&#10;signed A4">
            <a:extLst>
              <a:ext uri="{FF2B5EF4-FFF2-40B4-BE49-F238E27FC236}">
                <ns2:creationId id="{F86FCFB0-DEC9-4DC0-974B-96422BDAA73E}"/>
              </a:ext>
            </a:extLst>
          </p:cNvPr>
          <p:cNvSpPr>
            <a:spLocks noGrp="1"/>
          </p:cNvSpPr>
          <p:nvPr/>
        </p:nvSpPr>
        <p:spPr>
          <a:xfrm>
            <a:off x="7885538" y="681288"/>
            <a:ext cx="397418" cy="407741"/>
          </a:xfrm>
          <a:prstGeom prst="rect">
            <a:avLst/>
          </a:prstGeom>
          <a:gradFill>
            <a:gsLst>
              <a:gs pos="0">
                <a:srgbClr val="76D1D5"/>
              </a:gs>
              <a:gs pos="100000">
                <a:srgbClr val="B4E4E3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Dynamic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signed A4</a:t>
            </a:r>
          </a:p>
        </p:txBody>
      </p:sp>
      <p:sp>
        <p:nvSpPr>
          <p:cNvPr id="254" name="diagram block">
            <a:extLst>
              <a:ext uri="{FF2B5EF4-FFF2-40B4-BE49-F238E27FC236}">
                <ns2:creationId id="{29D4BCC3-4ACB-42F9-9CCE-FC92B12C739D}"/>
              </a:ext>
            </a:extLst>
          </p:cNvPr>
          <p:cNvSpPr>
            <a:spLocks noGrp="1"/>
          </p:cNvSpPr>
          <p:nvPr/>
        </p:nvSpPr>
        <p:spPr>
          <a:xfrm>
            <a:off x="8411988" y="650321"/>
            <a:ext cx="381934" cy="46451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666AC"/>
            </a:solidFill>
            <a:prstDash val="solid"/>
          </a:ln>
        </p:spPr>
      </p:sp>
      <p:sp>
        <p:nvSpPr>
          <p:cNvPr id="255" name="BF16&#10;dense&#10;Linear">
            <a:extLst>
              <a:ext uri="{FF2B5EF4-FFF2-40B4-BE49-F238E27FC236}">
                <ns2:creationId id="{E84A698E-A009-48D8-AC39-0AC80EDDFF9E}"/>
              </a:ext>
            </a:extLst>
          </p:cNvPr>
          <p:cNvSpPr>
            <a:spLocks noGrp="1"/>
          </p:cNvSpPr>
          <p:nvPr/>
        </p:nvSpPr>
        <p:spPr>
          <a:xfrm>
            <a:off x="8437794" y="676127"/>
            <a:ext cx="330322" cy="41290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Linear</a:t>
            </a:r>
          </a:p>
        </p:txBody>
      </p:sp>
      <p:cxnSp>
        <p:nvCxnSpPr>
          <p:cNvPr id="256" name="native PowerPoint connector">
            <a:extLst>
              <a:ext uri="{FF2B5EF4-FFF2-40B4-BE49-F238E27FC236}">
                <ns2:creationId id="{6C8204F2-2B77-4E56-A44C-6547A870158F}"/>
              </a:ext>
            </a:extLst>
          </p:cNvPr>
          <p:cNvCxnSpPr/>
          <p:nvPr/>
        </p:nvCxnSpPr>
        <p:spPr>
          <a:xfrm flipH="0" flipV="0">
            <a:off x="6677800" y="882578"/>
            <a:ext cx="123871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57" name="native PowerPoint connector">
            <a:extLst>
              <a:ext uri="{FF2B5EF4-FFF2-40B4-BE49-F238E27FC236}">
                <ns2:creationId id="{0E455A38-1C1A-447D-9984-73B124205CCE}"/>
              </a:ext>
            </a:extLst>
          </p:cNvPr>
          <p:cNvCxnSpPr/>
          <p:nvPr/>
        </p:nvCxnSpPr>
        <p:spPr>
          <a:xfrm flipH="0" flipV="0">
            <a:off x="7281669" y="877417"/>
            <a:ext cx="196128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8" name="Z">
            <a:extLst>
              <a:ext uri="{FF2B5EF4-FFF2-40B4-BE49-F238E27FC236}">
                <ns2:creationId id="{F978ECB8-19E4-4FCE-B393-13C13FEA6CC3}"/>
              </a:ext>
            </a:extLst>
          </p:cNvPr>
          <p:cNvSpPr>
            <a:spLocks noGrp="1"/>
          </p:cNvSpPr>
          <p:nvPr/>
        </p:nvSpPr>
        <p:spPr>
          <a:xfrm>
            <a:off x="7333282" y="743223"/>
            <a:ext cx="123871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931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cxnSp>
        <p:nvCxnSpPr>
          <p:cNvPr id="259" name="native PowerPoint connector">
            <a:extLst>
              <a:ext uri="{FF2B5EF4-FFF2-40B4-BE49-F238E27FC236}">
                <ns2:creationId id="{A49975D4-D7C4-4511-99FA-11BA023B7520}"/>
              </a:ext>
            </a:extLst>
          </p:cNvPr>
          <p:cNvCxnSpPr/>
          <p:nvPr/>
        </p:nvCxnSpPr>
        <p:spPr>
          <a:xfrm flipH="0" flipV="0">
            <a:off x="7756506" y="877417"/>
            <a:ext cx="98064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60" name="native PowerPoint connector">
            <a:extLst>
              <a:ext uri="{FF2B5EF4-FFF2-40B4-BE49-F238E27FC236}">
                <ns2:creationId id="{EAA3717B-68E7-4D2E-A8CE-9508CDB38180}"/>
              </a:ext>
            </a:extLst>
          </p:cNvPr>
          <p:cNvCxnSpPr/>
          <p:nvPr/>
        </p:nvCxnSpPr>
        <p:spPr>
          <a:xfrm flipH="0" flipV="0">
            <a:off x="8313924" y="877417"/>
            <a:ext cx="92903" cy="0"/>
          </a:xfrm>
          <a:prstGeom prst="straightConnector1">
            <a:avLst/>
          </a:prstGeom>
          <a:ln w="7226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61" name="D: one learned positive scale per physical input channel">
            <a:extLst>
              <a:ext uri="{FF2B5EF4-FFF2-40B4-BE49-F238E27FC236}">
                <ns2:creationId id="{D20F76F1-CAAE-478F-AA7B-909D4747C070}"/>
              </a:ext>
            </a:extLst>
          </p:cNvPr>
          <p:cNvSpPr>
            <a:spLocks noGrp="1"/>
          </p:cNvSpPr>
          <p:nvPr/>
        </p:nvSpPr>
        <p:spPr>
          <a:xfrm>
            <a:off x="6590058" y="1187093"/>
            <a:ext cx="2193541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663"/>
          </a:bodyPr>
          <a:lstStyle>
            <a:def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D: one learned positive scale per physical input channel</a:t>
            </a:r>
          </a:p>
        </p:txBody>
      </p:sp>
      <p:sp>
        <p:nvSpPr>
          <p:cNvPr id="262" name="v = Z / D">
            <a:extLst>
              <a:ext uri="{FF2B5EF4-FFF2-40B4-BE49-F238E27FC236}">
                <ns2:creationId id="{296260AE-C5C5-4F16-B253-82EAD8060418}"/>
              </a:ext>
            </a:extLst>
          </p:cNvPr>
          <p:cNvSpPr>
            <a:spLocks noGrp="1"/>
          </p:cNvSpPr>
          <p:nvPr/>
        </p:nvSpPr>
        <p:spPr>
          <a:xfrm>
            <a:off x="6605542" y="1460641"/>
            <a:ext cx="6296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v = Z / D</a:t>
            </a:r>
          </a:p>
        </p:txBody>
      </p:sp>
      <p:sp>
        <p:nvSpPr>
          <p:cNvPr id="263" name="diagram block">
            <a:extLst>
              <a:ext uri="{FF2B5EF4-FFF2-40B4-BE49-F238E27FC236}">
                <ns2:creationId id="{BA55ADDE-6218-4B3F-B497-3341AC543203}"/>
              </a:ext>
            </a:extLst>
          </p:cNvPr>
          <p:cNvSpPr>
            <a:spLocks noGrp="1"/>
          </p:cNvSpPr>
          <p:nvPr/>
        </p:nvSpPr>
        <p:spPr>
          <a:xfrm>
            <a:off x="7240379" y="1321286"/>
            <a:ext cx="1548382" cy="541934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E1F5FC"/>
              </a:gs>
              <a:gs pos="100000">
                <a:srgbClr val="F1FBFE"/>
              </a:gs>
            </a:gsLst>
            <a:lin ang="5400000"/>
          </a:gradFill>
          <a:ln w="5161">
            <a:solidFill>
              <a:srgbClr val="B6E0EE"/>
            </a:solidFill>
            <a:prstDash val="solid"/>
          </a:ln>
        </p:spPr>
      </p:sp>
      <p:sp>
        <p:nvSpPr>
          <p:cNvPr id="264" name="Per-token dynamic signed A4 (per Linear)">
            <a:extLst>
              <a:ext uri="{FF2B5EF4-FFF2-40B4-BE49-F238E27FC236}">
                <ns2:creationId id="{D24E864E-5D1D-4A18-A478-D1493DBAFA6E}"/>
              </a:ext>
            </a:extLst>
          </p:cNvPr>
          <p:cNvSpPr>
            <a:spLocks noGrp="1"/>
          </p:cNvSpPr>
          <p:nvPr/>
        </p:nvSpPr>
        <p:spPr>
          <a:xfrm>
            <a:off x="7291991" y="1372899"/>
            <a:ext cx="1445157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905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Per-token dynamic signed A4 (per Linear)</a:t>
            </a:r>
          </a:p>
        </p:txBody>
      </p:sp>
      <p:sp>
        <p:nvSpPr>
          <p:cNvPr id="265" name="sₜ = r_l × max |vₜ| / 7">
            <a:extLst>
              <a:ext uri="{FF2B5EF4-FFF2-40B4-BE49-F238E27FC236}">
                <ns2:creationId id="{02C8B0C2-F123-4A2C-92B1-CA9CBC41CFCC}"/>
              </a:ext>
            </a:extLst>
          </p:cNvPr>
          <p:cNvSpPr>
            <a:spLocks noGrp="1"/>
          </p:cNvSpPr>
          <p:nvPr/>
        </p:nvSpPr>
        <p:spPr>
          <a:xfrm>
            <a:off x="7395217" y="1527737"/>
            <a:ext cx="1269673" cy="1496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sₜ = r</a:t>
            </a:r>
            <a:r>
              <a:rPr sz="71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× max |vₜ| / 7</a:t>
            </a:r>
          </a:p>
        </p:txBody>
      </p:sp>
      <p:sp>
        <p:nvSpPr>
          <p:cNvPr id="266" name="q = clamp(round(v / sₜ), −7, 7)">
            <a:extLst>
              <a:ext uri="{FF2B5EF4-FFF2-40B4-BE49-F238E27FC236}">
                <ns2:creationId id="{9B5EE9FE-DE21-460E-88AE-5E75DE403984}"/>
              </a:ext>
            </a:extLst>
          </p:cNvPr>
          <p:cNvSpPr>
            <a:spLocks noGrp="1"/>
          </p:cNvSpPr>
          <p:nvPr/>
        </p:nvSpPr>
        <p:spPr>
          <a:xfrm>
            <a:off x="7317798" y="1687737"/>
            <a:ext cx="1383221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199"/>
          </a:bodyPr>
          <a:lstStyle>
            <a:def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q = clamp(round(v / sₜ), −7, 7)</a:t>
            </a:r>
          </a:p>
        </p:txBody>
      </p:sp>
      <p:sp>
        <p:nvSpPr>
          <p:cNvPr id="267" name="r_l: one clipping ratio per Linear">
            <a:extLst>
              <a:ext uri="{FF2B5EF4-FFF2-40B4-BE49-F238E27FC236}">
                <ns2:creationId id="{7A4D0CBB-005E-4178-B089-C92FBAB9B012}"/>
              </a:ext>
            </a:extLst>
          </p:cNvPr>
          <p:cNvSpPr>
            <a:spLocks noGrp="1"/>
          </p:cNvSpPr>
          <p:nvPr/>
        </p:nvSpPr>
        <p:spPr>
          <a:xfrm>
            <a:off x="7276508" y="1914833"/>
            <a:ext cx="151225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r</a:t>
            </a:r>
            <a:r>
              <a:rPr sz="564" b="0" i="0" baseline="-2300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l</a:t>
            </a:r>
            <a:r>
              <a:rPr sz="772" b="0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: one clipping ratio per Linear</a:t>
            </a:r>
          </a:p>
        </p:txBody>
      </p:sp>
      <p:sp>
        <p:nvSpPr>
          <p:cNvPr id="268" name="(distinct from per-channel D)">
            <a:extLst>
              <a:ext uri="{FF2B5EF4-FFF2-40B4-BE49-F238E27FC236}">
                <ns2:creationId id="{E20BBE40-8733-466B-BC0D-355559811FC4}"/>
              </a:ext>
            </a:extLst>
          </p:cNvPr>
          <p:cNvSpPr>
            <a:spLocks noGrp="1"/>
          </p:cNvSpPr>
          <p:nvPr/>
        </p:nvSpPr>
        <p:spPr>
          <a:xfrm>
            <a:off x="7415862" y="2033542"/>
            <a:ext cx="134193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(distinct from per-channel D)</a:t>
            </a:r>
          </a:p>
        </p:txBody>
      </p:sp>
      <p:sp>
        <p:nvSpPr>
          <p:cNvPr id="269" name="diagram block">
            <a:extLst>
              <a:ext uri="{FF2B5EF4-FFF2-40B4-BE49-F238E27FC236}">
                <ns2:creationId id="{26F42EDE-021A-4256-8477-347B312A4C86}"/>
              </a:ext>
            </a:extLst>
          </p:cNvPr>
          <p:cNvSpPr>
            <a:spLocks noGrp="1"/>
          </p:cNvSpPr>
          <p:nvPr/>
        </p:nvSpPr>
        <p:spPr>
          <a:xfrm>
            <a:off x="6538445" y="2193541"/>
            <a:ext cx="753546" cy="206451"/>
          </a:xfrm>
          <a:prstGeom prst="roundRect">
            <a:avLst>
              <a:gd name="adj" fmla="val 10000"/>
            </a:avLst>
          </a:prstGeom>
          <a:solidFill>
            <a:srgbClr val="FDE7E5"/>
          </a:solidFill>
          <a:ln w="5161">
            <a:noFill/>
            <a:prstDash val="solid"/>
          </a:ln>
        </p:spPr>
      </p:sp>
      <p:sp>
        <p:nvSpPr>
          <p:cNvPr id="270" name="Weight path">
            <a:extLst>
              <a:ext uri="{FF2B5EF4-FFF2-40B4-BE49-F238E27FC236}">
                <ns2:creationId id="{85725A22-4621-4D41-91B4-6E1033BD1B4E}"/>
              </a:ext>
            </a:extLst>
          </p:cNvPr>
          <p:cNvSpPr>
            <a:spLocks noGrp="1"/>
          </p:cNvSpPr>
          <p:nvPr/>
        </p:nvSpPr>
        <p:spPr>
          <a:xfrm>
            <a:off x="6564252" y="2219348"/>
            <a:ext cx="701933" cy="154838"/>
          </a:xfrm>
          <a:prstGeom prst="rect">
            <a:avLst/>
          </a:prstGeom>
          <a:solidFill>
            <a:srgbClr val="FDE7E5"/>
          </a:soli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Weight path</a:t>
            </a:r>
          </a:p>
        </p:txBody>
      </p:sp>
      <p:sp>
        <p:nvSpPr>
          <p:cNvPr id="271" name="diagram block">
            <a:extLst>
              <a:ext uri="{FF2B5EF4-FFF2-40B4-BE49-F238E27FC236}">
                <ns2:creationId id="{F0D891EB-6F33-428C-9043-1A15A6F8F95D}"/>
              </a:ext>
            </a:extLst>
          </p:cNvPr>
          <p:cNvSpPr>
            <a:spLocks noGrp="1"/>
          </p:cNvSpPr>
          <p:nvPr/>
        </p:nvSpPr>
        <p:spPr>
          <a:xfrm>
            <a:off x="6538445" y="2461928"/>
            <a:ext cx="660643" cy="361289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C94E64"/>
            </a:solidFill>
            <a:prstDash val="solid"/>
          </a:ln>
        </p:spPr>
      </p:sp>
      <p:sp>
        <p:nvSpPr>
          <p:cNvPr id="272" name="Decode VQ&#10;(frozen)">
            <a:extLst>
              <a:ext uri="{FF2B5EF4-FFF2-40B4-BE49-F238E27FC236}">
                <ns2:creationId id="{07A78664-E8EE-4603-A3AA-78FE6D388544}"/>
              </a:ext>
            </a:extLst>
          </p:cNvPr>
          <p:cNvSpPr>
            <a:spLocks noGrp="1"/>
          </p:cNvSpPr>
          <p:nvPr/>
        </p:nvSpPr>
        <p:spPr>
          <a:xfrm>
            <a:off x="6564252" y="2487734"/>
            <a:ext cx="609030" cy="309676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Decode VQ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(frozen)</a:t>
            </a:r>
          </a:p>
        </p:txBody>
      </p:sp>
      <p:sp>
        <p:nvSpPr>
          <p:cNvPr id="273" name="Ŵ">
            <a:extLst>
              <a:ext uri="{FF2B5EF4-FFF2-40B4-BE49-F238E27FC236}">
                <ns2:creationId id="{1B1EA3A3-102D-4912-BE90-C02435CEBAC9}"/>
              </a:ext>
            </a:extLst>
          </p:cNvPr>
          <p:cNvSpPr>
            <a:spLocks noGrp="1"/>
          </p:cNvSpPr>
          <p:nvPr/>
        </p:nvSpPr>
        <p:spPr>
          <a:xfrm>
            <a:off x="7286830" y="2518702"/>
            <a:ext cx="185806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255"/>
          </a:bodyPr>
          <a:lstStyle>
            <a:def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8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</a:t>
            </a:r>
          </a:p>
        </p:txBody>
      </p:sp>
      <p:sp>
        <p:nvSpPr>
          <p:cNvPr id="274" name="diagram block">
            <a:extLst>
              <a:ext uri="{FF2B5EF4-FFF2-40B4-BE49-F238E27FC236}">
                <ns2:creationId id="{CAB73597-E2C1-4744-B3E3-F367ED90EC51}"/>
              </a:ext>
            </a:extLst>
          </p:cNvPr>
          <p:cNvSpPr>
            <a:spLocks noGrp="1"/>
          </p:cNvSpPr>
          <p:nvPr/>
        </p:nvSpPr>
        <p:spPr>
          <a:xfrm>
            <a:off x="7519087" y="2498057"/>
            <a:ext cx="588385" cy="294193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BC778"/>
            </a:solidFill>
            <a:prstDash val="solid"/>
          </a:ln>
        </p:spPr>
      </p:sp>
      <p:sp>
        <p:nvSpPr>
          <p:cNvPr id="275" name="Ŵ × D">
            <a:extLst>
              <a:ext uri="{FF2B5EF4-FFF2-40B4-BE49-F238E27FC236}">
                <ns2:creationId id="{39ADF2E1-A610-4486-8DA1-D20F7834F620}"/>
              </a:ext>
            </a:extLst>
          </p:cNvPr>
          <p:cNvSpPr>
            <a:spLocks noGrp="1"/>
          </p:cNvSpPr>
          <p:nvPr/>
        </p:nvSpPr>
        <p:spPr>
          <a:xfrm>
            <a:off x="7544894" y="2523863"/>
            <a:ext cx="536772" cy="242580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Ŵ × D</a:t>
            </a:r>
          </a:p>
        </p:txBody>
      </p:sp>
      <p:sp>
        <p:nvSpPr>
          <p:cNvPr id="276" name="diagram block">
            <a:extLst>
              <a:ext uri="{FF2B5EF4-FFF2-40B4-BE49-F238E27FC236}">
                <ns2:creationId id="{D15C7923-957F-45AB-9B04-11A42D81E8C6}"/>
              </a:ext>
            </a:extLst>
          </p:cNvPr>
          <p:cNvSpPr>
            <a:spLocks noGrp="1"/>
          </p:cNvSpPr>
          <p:nvPr/>
        </p:nvSpPr>
        <p:spPr>
          <a:xfrm>
            <a:off x="8313924" y="2420637"/>
            <a:ext cx="474837" cy="454192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156CB0"/>
            </a:solidFill>
            <a:prstDash val="solid"/>
          </a:ln>
        </p:spPr>
      </p:sp>
      <p:sp>
        <p:nvSpPr>
          <p:cNvPr id="277" name="BF16&#10;dense&#10;Linear">
            <a:extLst>
              <a:ext uri="{FF2B5EF4-FFF2-40B4-BE49-F238E27FC236}">
                <ns2:creationId id="{8DA914AB-6808-4B59-AEE9-0C6534E2B5B6}"/>
              </a:ext>
            </a:extLst>
          </p:cNvPr>
          <p:cNvSpPr>
            <a:spLocks noGrp="1"/>
          </p:cNvSpPr>
          <p:nvPr/>
        </p:nvSpPr>
        <p:spPr>
          <a:xfrm>
            <a:off x="8339730" y="2446444"/>
            <a:ext cx="423224" cy="402579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dense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Linear</a:t>
            </a:r>
          </a:p>
        </p:txBody>
      </p:sp>
      <p:cxnSp>
        <p:nvCxnSpPr>
          <p:cNvPr id="278" name="native PowerPoint connector">
            <a:extLst>
              <a:ext uri="{FF2B5EF4-FFF2-40B4-BE49-F238E27FC236}">
                <ns2:creationId id="{88F1BE21-379A-4CB0-9A85-C36D39F44A5E}"/>
              </a:ext>
            </a:extLst>
          </p:cNvPr>
          <p:cNvCxnSpPr/>
          <p:nvPr/>
        </p:nvCxnSpPr>
        <p:spPr>
          <a:xfrm flipH="0" flipV="0">
            <a:off x="7204250" y="2642572"/>
            <a:ext cx="309676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79" name="native PowerPoint connector">
            <a:extLst>
              <a:ext uri="{FF2B5EF4-FFF2-40B4-BE49-F238E27FC236}">
                <ns2:creationId id="{222F8688-A19C-4D22-88E3-801412BF0636}"/>
              </a:ext>
            </a:extLst>
          </p:cNvPr>
          <p:cNvCxnSpPr/>
          <p:nvPr/>
        </p:nvCxnSpPr>
        <p:spPr>
          <a:xfrm flipH="0" flipV="0">
            <a:off x="8112634" y="2642572"/>
            <a:ext cx="196128" cy="0"/>
          </a:xfrm>
          <a:prstGeom prst="straightConnector1">
            <a:avLst/>
          </a:prstGeom>
          <a:ln w="8258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80" name="diagram block">
            <a:extLst>
              <a:ext uri="{FF2B5EF4-FFF2-40B4-BE49-F238E27FC236}">
                <ns2:creationId id="{CE5F0BC6-1463-4108-91C3-684B66E175B5}"/>
              </a:ext>
            </a:extLst>
          </p:cNvPr>
          <p:cNvSpPr>
            <a:spLocks noGrp="1"/>
          </p:cNvSpPr>
          <p:nvPr/>
        </p:nvSpPr>
        <p:spPr>
          <a:xfrm>
            <a:off x="6538445" y="2947087"/>
            <a:ext cx="2250315" cy="438708"/>
          </a:xfrm>
          <a:prstGeom prst="roundRect">
            <a:avLst>
              <a:gd name="adj" fmla="val 7059"/>
            </a:avLst>
          </a:prstGeom>
          <a:gradFill>
            <a:gsLst>
              <a:gs pos="0">
                <a:srgbClr val="DBF0F0"/>
              </a:gs>
              <a:gs pos="100000">
                <a:srgbClr val="F4FCFC"/>
              </a:gs>
            </a:gsLst>
            <a:lin ang="5400000"/>
          </a:gradFill>
          <a:ln w="5161">
            <a:solidFill>
              <a:srgbClr val="95D0D1"/>
            </a:solidFill>
            <a:prstDash val="solid"/>
          </a:ln>
        </p:spPr>
      </p:sp>
      <p:sp>
        <p:nvSpPr>
          <p:cNvPr id="281" name="Training refinement (activation only)">
            <a:extLst>
              <a:ext uri="{FF2B5EF4-FFF2-40B4-BE49-F238E27FC236}">
                <ns2:creationId id="{6B1C4B24-AAC4-4464-8CFD-16B9DB1F5BDD}"/>
              </a:ext>
            </a:extLst>
          </p:cNvPr>
          <p:cNvSpPr>
            <a:spLocks noGrp="1"/>
          </p:cNvSpPr>
          <p:nvPr/>
        </p:nvSpPr>
        <p:spPr>
          <a:xfrm>
            <a:off x="6584897" y="2983216"/>
            <a:ext cx="2147090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87"/>
          </a:bodyPr>
          <a:lstStyle>
            <a:def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0696D"/>
                </a:solidFill>
                <a:latin typeface="Arial Narrow"/>
                <a:ea typeface="Arial Narrow"/>
                <a:cs typeface="Arial Narrow"/>
              </a:rPr>
              <a:t>Training refinement (activation only)</a:t>
            </a:r>
          </a:p>
        </p:txBody>
      </p:sp>
      <p:sp>
        <p:nvSpPr>
          <p:cNvPr id="282" name="• Keep VQ weights frozen (indices, B32 exponents, codebooks, row gains)">
            <a:extLst>
              <a:ext uri="{FF2B5EF4-FFF2-40B4-BE49-F238E27FC236}">
                <ns2:creationId id="{6E17F70D-9499-45FB-8645-87418C481985}"/>
              </a:ext>
            </a:extLst>
          </p:cNvPr>
          <p:cNvSpPr>
            <a:spLocks noGrp="1"/>
          </p:cNvSpPr>
          <p:nvPr/>
        </p:nvSpPr>
        <p:spPr>
          <a:xfrm>
            <a:off x="6595219" y="3122571"/>
            <a:ext cx="2141929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2223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• Keep VQ weights frozen (indices, B32 exponents, codebooks, row gains)</a:t>
            </a:r>
          </a:p>
        </p:txBody>
      </p:sp>
      <p:sp>
        <p:nvSpPr>
          <p:cNvPr id="283" name="• Learn per-channel scales D and clipping ratio r_l">
            <a:extLst>
              <a:ext uri="{FF2B5EF4-FFF2-40B4-BE49-F238E27FC236}">
                <ns2:creationId id="{78D24738-0B8C-4275-8F5C-5F1CE208BE15}"/>
              </a:ext>
            </a:extLst>
          </p:cNvPr>
          <p:cNvSpPr>
            <a:spLocks noGrp="1"/>
          </p:cNvSpPr>
          <p:nvPr/>
        </p:nvSpPr>
        <p:spPr>
          <a:xfrm>
            <a:off x="6595219" y="3251603"/>
            <a:ext cx="213676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31"/>
          </a:bodyPr>
          <a:lstStyle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• Learn per-channel scales D and clipping ratio r</a:t>
            </a:r>
            <a:r>
              <a:rPr sz="534" b="0" i="0" baseline="-2300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</a:t>
            </a:r>
          </a:p>
        </p:txBody>
      </p:sp>
      <p:sp>
        <p:nvSpPr>
          <p:cNvPr id="284" name="diagram block">
            <a:extLst>
              <a:ext uri="{FF2B5EF4-FFF2-40B4-BE49-F238E27FC236}">
                <ns2:creationId id="{5AABBDBC-D770-439E-9ADE-E772388B62C8}"/>
              </a:ext>
            </a:extLst>
          </p:cNvPr>
          <p:cNvSpPr>
            <a:spLocks noGrp="1"/>
          </p:cNvSpPr>
          <p:nvPr/>
        </p:nvSpPr>
        <p:spPr>
          <a:xfrm>
            <a:off x="277820" y="3530311"/>
            <a:ext cx="8588360" cy="1300641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8258">
            <a:solidFill>
              <a:srgbClr val="061A3C"/>
            </a:solidFill>
            <a:prstDash val="solid"/>
          </a:ln>
        </p:spPr>
      </p:sp>
      <p:sp>
        <p:nvSpPr>
          <p:cNvPr id="285" name="Offline training loop (action + latent supervision)">
            <a:extLst>
              <a:ext uri="{FF2B5EF4-FFF2-40B4-BE49-F238E27FC236}">
                <ns2:creationId id="{1D93CA62-1127-4C7A-93B6-519B6DC5AE74}"/>
              </a:ext>
            </a:extLst>
          </p:cNvPr>
          <p:cNvSpPr>
            <a:spLocks noGrp="1"/>
          </p:cNvSpPr>
          <p:nvPr/>
        </p:nvSpPr>
        <p:spPr>
          <a:xfrm>
            <a:off x="350078" y="3587085"/>
            <a:ext cx="3829665" cy="18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Offline training loop (action + latent supervision)</a:t>
            </a:r>
          </a:p>
        </p:txBody>
      </p:sp>
      <p:sp>
        <p:nvSpPr>
          <p:cNvPr id="286" name="Offline gradients (no gradient to frozen components)">
            <a:extLst>
              <a:ext uri="{FF2B5EF4-FFF2-40B4-BE49-F238E27FC236}">
                <ns2:creationId id="{82B25BE3-8804-4E36-AF52-F80D139DB975}"/>
              </a:ext>
            </a:extLst>
          </p:cNvPr>
          <p:cNvSpPr>
            <a:spLocks noGrp="1"/>
          </p:cNvSpPr>
          <p:nvPr/>
        </p:nvSpPr>
        <p:spPr>
          <a:xfrm>
            <a:off x="4417162" y="3654182"/>
            <a:ext cx="278708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Offline gradients (no gradient to frozen components)</a:t>
            </a:r>
          </a:p>
        </p:txBody>
      </p:sp>
      <p:cxnSp>
        <p:nvCxnSpPr>
          <p:cNvPr id="287" name="native PowerPoint connector">
            <a:extLst>
              <a:ext uri="{FF2B5EF4-FFF2-40B4-BE49-F238E27FC236}">
                <ns2:creationId id="{24B9F2A8-C548-4B64-89AC-F32AA5DA94D7}"/>
              </a:ext>
            </a:extLst>
          </p:cNvPr>
          <p:cNvCxnSpPr/>
          <p:nvPr/>
        </p:nvCxnSpPr>
        <p:spPr>
          <a:xfrm flipH="0" flipV="0">
            <a:off x="7436507" y="3654182"/>
            <a:ext cx="325160" cy="0"/>
          </a:xfrm>
          <a:prstGeom prst="straightConnector1">
            <a:avLst/>
          </a:prstGeom>
          <a:ln w="11355">
            <a:solidFill>
              <a:srgbClr val="003C82"/>
            </a:solidFill>
            <a:prstDash val="solid"/>
            <a:tailEnd type="triangle" w="sm" len="sm"/>
          </a:ln>
        </p:spPr>
      </p:cxnSp>
      <p:sp>
        <p:nvSpPr>
          <p:cNvPr id="288" name="Forward data">
            <a:extLst>
              <a:ext uri="{FF2B5EF4-FFF2-40B4-BE49-F238E27FC236}">
                <ns2:creationId id="{9F5F4ED7-3FB3-48F6-A800-4B64B8B87CDD}"/>
              </a:ext>
            </a:extLst>
          </p:cNvPr>
          <p:cNvSpPr>
            <a:spLocks noGrp="1"/>
          </p:cNvSpPr>
          <p:nvPr/>
        </p:nvSpPr>
        <p:spPr>
          <a:xfrm>
            <a:off x="7802957" y="3602569"/>
            <a:ext cx="934191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Forward data</a:t>
            </a:r>
          </a:p>
        </p:txBody>
      </p:sp>
      <p:cxnSp>
        <p:nvCxnSpPr>
          <p:cNvPr id="289" name="native PowerPoint connector">
            <a:extLst>
              <a:ext uri="{FF2B5EF4-FFF2-40B4-BE49-F238E27FC236}">
                <ns2:creationId id="{BBC49086-DD57-4C0A-9AA1-F193FA3A025D}"/>
              </a:ext>
            </a:extLst>
          </p:cNvPr>
          <p:cNvCxnSpPr/>
          <p:nvPr/>
        </p:nvCxnSpPr>
        <p:spPr>
          <a:xfrm flipH="0" flipV="0">
            <a:off x="7436507" y="3767730"/>
            <a:ext cx="325160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290" name="Offline gradient / parameter update">
            <a:extLst>
              <a:ext uri="{FF2B5EF4-FFF2-40B4-BE49-F238E27FC236}">
                <ns2:creationId id="{96E7CD8E-BB7C-4882-83C2-5ACE9BE4975F}"/>
              </a:ext>
            </a:extLst>
          </p:cNvPr>
          <p:cNvSpPr>
            <a:spLocks noGrp="1"/>
          </p:cNvSpPr>
          <p:nvPr/>
        </p:nvSpPr>
        <p:spPr>
          <a:xfrm>
            <a:off x="7802957" y="3726440"/>
            <a:ext cx="99612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2725"/>
          </a:bodyPr>
          <a:lstStyle>
            <a:def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Offline gradient / parameter update</a:t>
            </a:r>
          </a:p>
        </p:txBody>
      </p:sp>
      <p:sp>
        <p:nvSpPr>
          <p:cNvPr id="291" name="diagram block">
            <a:extLst>
              <a:ext uri="{FF2B5EF4-FFF2-40B4-BE49-F238E27FC236}">
                <ns2:creationId id="{A0A1299F-3070-41BD-B964-03651FBCBF0E}"/>
              </a:ext>
            </a:extLst>
          </p:cNvPr>
          <p:cNvSpPr>
            <a:spLocks noGrp="1"/>
          </p:cNvSpPr>
          <p:nvPr/>
        </p:nvSpPr>
        <p:spPr>
          <a:xfrm>
            <a:off x="350078" y="3974181"/>
            <a:ext cx="794836" cy="273548"/>
          </a:xfrm>
          <a:prstGeom prst="roundRect">
            <a:avLst>
              <a:gd name="adj" fmla="val 7547"/>
            </a:avLst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5161">
            <a:solidFill>
              <a:srgbClr val="4C9ED7"/>
            </a:solidFill>
            <a:prstDash val="solid"/>
          </a:ln>
        </p:spPr>
      </p:sp>
      <p:sp>
        <p:nvSpPr>
          <p:cNvPr id="292" name="BF16 teacher&#10;(frozen)">
            <a:extLst>
              <a:ext uri="{FF2B5EF4-FFF2-40B4-BE49-F238E27FC236}">
                <ns2:creationId id="{EEF38127-E217-40D7-B99F-73D4838A2661}"/>
              </a:ext>
            </a:extLst>
          </p:cNvPr>
          <p:cNvSpPr>
            <a:spLocks noGrp="1"/>
          </p:cNvSpPr>
          <p:nvPr/>
        </p:nvSpPr>
        <p:spPr>
          <a:xfrm>
            <a:off x="375884" y="3999987"/>
            <a:ext cx="743223" cy="221935"/>
          </a:xfrm>
          <a:prstGeom prst="rect">
            <a:avLst/>
          </a:prstGeom>
          <a:gradFill>
            <a:gsLst>
              <a:gs pos="0">
                <a:srgbClr val="B9E4FF"/>
              </a:gs>
              <a:gs pos="100000">
                <a:srgbClr val="DFF3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9561"/>
          </a:bodyPr>
          <a:lstStyle>
            <a:def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BF16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74A8B"/>
                </a:solidFill>
                <a:latin typeface="Arial Narrow"/>
                <a:ea typeface="Arial Narrow"/>
                <a:cs typeface="Arial Narrow"/>
              </a:rPr>
              <a:t>(frozen)</a:t>
            </a:r>
          </a:p>
        </p:txBody>
      </p:sp>
      <p:sp>
        <p:nvSpPr>
          <p:cNvPr id="293" name="diagram block">
            <a:extLst>
              <a:ext uri="{FF2B5EF4-FFF2-40B4-BE49-F238E27FC236}">
                <ns2:creationId id="{94BFB04B-7852-4CFF-AD4D-665EFB82CB7A}"/>
              </a:ext>
            </a:extLst>
          </p:cNvPr>
          <p:cNvSpPr>
            <a:spLocks noGrp="1"/>
          </p:cNvSpPr>
          <p:nvPr/>
        </p:nvSpPr>
        <p:spPr>
          <a:xfrm>
            <a:off x="350078" y="4335470"/>
            <a:ext cx="794836" cy="268386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06F80"/>
            </a:solidFill>
            <a:prstDash val="solid"/>
          </a:ln>
        </p:spPr>
      </p:sp>
      <p:sp>
        <p:nvSpPr>
          <p:cNvPr id="294" name="Quantized WAM&#10;(student)">
            <a:extLst>
              <a:ext uri="{FF2B5EF4-FFF2-40B4-BE49-F238E27FC236}">
                <ns2:creationId id="{DD0F9D16-EB65-49B6-AEEC-CAA77489AA59}"/>
              </a:ext>
            </a:extLst>
          </p:cNvPr>
          <p:cNvSpPr>
            <a:spLocks noGrp="1"/>
          </p:cNvSpPr>
          <p:nvPr/>
        </p:nvSpPr>
        <p:spPr>
          <a:xfrm>
            <a:off x="375884" y="4361276"/>
            <a:ext cx="743223" cy="216774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Quantized WAM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(student)</a:t>
            </a:r>
          </a:p>
        </p:txBody>
      </p:sp>
      <p:sp>
        <p:nvSpPr>
          <p:cNvPr id="295" name="diagram block">
            <a:extLst>
              <a:ext uri="{FF2B5EF4-FFF2-40B4-BE49-F238E27FC236}">
                <ns2:creationId id="{92701CB6-C21D-4A60-97DF-F1D91F896DCB}"/>
              </a:ext>
            </a:extLst>
          </p:cNvPr>
          <p:cNvSpPr>
            <a:spLocks noGrp="1"/>
          </p:cNvSpPr>
          <p:nvPr/>
        </p:nvSpPr>
        <p:spPr>
          <a:xfrm>
            <a:off x="1320397" y="4046439"/>
            <a:ext cx="1114835" cy="500644"/>
          </a:xfrm>
          <a:prstGeom prst="roundRect">
            <a:avLst>
              <a:gd name="adj" fmla="val 4124"/>
            </a:avLst>
          </a:prstGeom>
          <a:solidFill>
            <a:srgbClr val="F8FBFF"/>
          </a:solidFill>
          <a:ln w="5161">
            <a:solidFill>
              <a:srgbClr val="17619B"/>
            </a:solidFill>
            <a:prstDash val="solid"/>
          </a:ln>
        </p:spPr>
      </p:sp>
      <p:sp>
        <p:nvSpPr>
          <p:cNvPr id="296" name="Forward pass&#10;on training data&#10;(action + latent supervision)">
            <a:extLst>
              <a:ext uri="{FF2B5EF4-FFF2-40B4-BE49-F238E27FC236}">
                <ns2:creationId id="{439D5AE7-85FB-4EE2-A08A-5B5B012DFAA5}"/>
              </a:ext>
            </a:extLst>
          </p:cNvPr>
          <p:cNvSpPr>
            <a:spLocks noGrp="1"/>
          </p:cNvSpPr>
          <p:nvPr/>
        </p:nvSpPr>
        <p:spPr>
          <a:xfrm>
            <a:off x="1346204" y="4072245"/>
            <a:ext cx="1063222" cy="449031"/>
          </a:xfrm>
          <a:prstGeom prst="rect">
            <a:avLst/>
          </a:prstGeom>
          <a:solidFill>
            <a:srgbClr val="F8FBFF"/>
          </a:solidFill>
          <a:ln w="0">
            <a:noFill/>
          </a:ln>
        </p:spPr>
        <p:txBody>
          <a:bodyPr wrap="none" lIns="0" tIns="0" rIns="0" bIns="0" anchor="ctr">
            <a:normAutofit fontScale="86857"/>
          </a:bodyPr>
          <a:lstStyle>
            <a:def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Forward 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on training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(action + latent supervision)</a:t>
            </a:r>
          </a:p>
        </p:txBody>
      </p:sp>
      <p:cxnSp>
        <p:nvCxnSpPr>
          <p:cNvPr id="297" name="native PowerPoint connector">
            <a:extLst>
              <a:ext uri="{FF2B5EF4-FFF2-40B4-BE49-F238E27FC236}">
                <ns2:creationId id="{AC82C59D-6F04-4412-B5C7-C61D780D180C}"/>
              </a:ext>
            </a:extLst>
          </p:cNvPr>
          <p:cNvCxnSpPr/>
          <p:nvPr/>
        </p:nvCxnSpPr>
        <p:spPr>
          <a:xfrm flipH="0" flipV="0">
            <a:off x="1150075" y="4113535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98" name="native PowerPoint connector">
            <a:extLst>
              <a:ext uri="{FF2B5EF4-FFF2-40B4-BE49-F238E27FC236}">
                <ns2:creationId id="{C6BF5659-E19C-4F1A-B08D-575A83774F42}"/>
              </a:ext>
            </a:extLst>
          </p:cNvPr>
          <p:cNvCxnSpPr/>
          <p:nvPr/>
        </p:nvCxnSpPr>
        <p:spPr>
          <a:xfrm flipH="0" flipV="0">
            <a:off x="1150075" y="4464502"/>
            <a:ext cx="165161" cy="0"/>
          </a:xfrm>
          <a:prstGeom prst="straightConnector1">
            <a:avLst/>
          </a:prstGeom>
          <a:ln w="9290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99" name="diagram block">
            <a:extLst>
              <a:ext uri="{FF2B5EF4-FFF2-40B4-BE49-F238E27FC236}">
                <ns2:creationId id="{F5C2E2C5-48E4-4BB0-A0F0-5978EE7F7318}"/>
              </a:ext>
            </a:extLst>
          </p:cNvPr>
          <p:cNvSpPr>
            <a:spLocks noGrp="1"/>
          </p:cNvSpPr>
          <p:nvPr/>
        </p:nvSpPr>
        <p:spPr>
          <a:xfrm>
            <a:off x="2584910" y="4010310"/>
            <a:ext cx="1228383" cy="221935"/>
          </a:xfrm>
          <a:prstGeom prst="roundRect">
            <a:avLst>
              <a:gd name="adj" fmla="val 9302"/>
            </a:avLst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5161">
            <a:solidFill>
              <a:srgbClr val="EDBE67"/>
            </a:solidFill>
            <a:prstDash val="solid"/>
          </a:ln>
        </p:spPr>
      </p:sp>
      <p:sp>
        <p:nvSpPr>
          <p:cNvPr id="300" name="Future latent loss  Lz">
            <a:extLst>
              <a:ext uri="{FF2B5EF4-FFF2-40B4-BE49-F238E27FC236}">
                <ns2:creationId id="{4CFD01CB-A4A3-4A6A-A65F-D7602DA11DD2}"/>
              </a:ext>
            </a:extLst>
          </p:cNvPr>
          <p:cNvSpPr>
            <a:spLocks noGrp="1"/>
          </p:cNvSpPr>
          <p:nvPr/>
        </p:nvSpPr>
        <p:spPr>
          <a:xfrm>
            <a:off x="2610716" y="4036116"/>
            <a:ext cx="1176770" cy="170322"/>
          </a:xfrm>
          <a:prstGeom prst="rect">
            <a:avLst/>
          </a:prstGeom>
          <a:gradFill>
            <a:gsLst>
              <a:gs pos="0">
                <a:srgbClr val="FFE6B3"/>
              </a:gs>
              <a:gs pos="100000">
                <a:srgbClr val="FFF3D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0" i="0">
                <a:solidFill>
                  <a:srgbClr val="845217"/>
                </a:solidFill>
                <a:latin typeface="Arial Narrow"/>
                <a:ea typeface="Arial Narrow"/>
                <a:cs typeface="Arial Narrow"/>
              </a:rPr>
              <a:t>Future latent loss  Lz</a:t>
            </a:r>
          </a:p>
        </p:txBody>
      </p:sp>
      <p:sp>
        <p:nvSpPr>
          <p:cNvPr id="301" name="diagram block">
            <a:extLst>
              <a:ext uri="{FF2B5EF4-FFF2-40B4-BE49-F238E27FC236}">
                <ns2:creationId id="{C88DE297-46CA-4DD0-A131-5374BD3F9097}"/>
              </a:ext>
            </a:extLst>
          </p:cNvPr>
          <p:cNvSpPr>
            <a:spLocks noGrp="1"/>
          </p:cNvSpPr>
          <p:nvPr/>
        </p:nvSpPr>
        <p:spPr>
          <a:xfrm>
            <a:off x="2584910" y="4330309"/>
            <a:ext cx="1228383" cy="227096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5161">
            <a:solidFill>
              <a:srgbClr val="72BFCA"/>
            </a:solidFill>
            <a:prstDash val="solid"/>
          </a:ln>
        </p:spPr>
      </p:sp>
      <p:sp>
        <p:nvSpPr>
          <p:cNvPr id="302" name="First-10 motor action loss  La">
            <a:extLst>
              <a:ext uri="{FF2B5EF4-FFF2-40B4-BE49-F238E27FC236}">
                <ns2:creationId id="{645E7BFE-D2B7-4BB7-8692-6B7ADFFCC6BA}"/>
              </a:ext>
            </a:extLst>
          </p:cNvPr>
          <p:cNvSpPr>
            <a:spLocks noGrp="1"/>
          </p:cNvSpPr>
          <p:nvPr/>
        </p:nvSpPr>
        <p:spPr>
          <a:xfrm>
            <a:off x="2610716" y="4356115"/>
            <a:ext cx="1176770" cy="175483"/>
          </a:xfrm>
          <a:prstGeom prst="rect">
            <a:avLst/>
          </a:prstGeom>
          <a:gradFill>
            <a:gsLst>
              <a:gs pos="0">
                <a:srgbClr val="D7EFF1"/>
              </a:gs>
              <a:gs pos="100000">
                <a:srgbClr val="F0FAFA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6268"/>
          </a:bodyPr>
          <a:lstStyle>
            <a:def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04F65"/>
                </a:solidFill>
                <a:latin typeface="Arial Narrow"/>
                <a:ea typeface="Arial Narrow"/>
                <a:cs typeface="Arial Narrow"/>
              </a:rPr>
              <a:t>First-10 motor action loss  La</a:t>
            </a:r>
          </a:p>
        </p:txBody>
      </p:sp>
      <p:cxnSp>
        <p:nvCxnSpPr>
          <p:cNvPr id="303" name="native PowerPoint connector">
            <a:extLst>
              <a:ext uri="{FF2B5EF4-FFF2-40B4-BE49-F238E27FC236}">
                <ns2:creationId id="{A8B127A7-0DDD-4829-9211-4E4AB31824E5}"/>
              </a:ext>
            </a:extLst>
          </p:cNvPr>
          <p:cNvCxnSpPr/>
          <p:nvPr/>
        </p:nvCxnSpPr>
        <p:spPr>
          <a:xfrm flipH="0" flipV="0">
            <a:off x="2440394" y="411869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4" name="native PowerPoint connector">
            <a:extLst>
              <a:ext uri="{FF2B5EF4-FFF2-40B4-BE49-F238E27FC236}">
                <ns2:creationId id="{D5FFB8F4-C1FD-4E0B-B79D-8E59F7B16A1F}"/>
              </a:ext>
            </a:extLst>
          </p:cNvPr>
          <p:cNvCxnSpPr/>
          <p:nvPr/>
        </p:nvCxnSpPr>
        <p:spPr>
          <a:xfrm flipH="0" flipV="0">
            <a:off x="2440394" y="4443857"/>
            <a:ext cx="139354" cy="0"/>
          </a:xfrm>
          <a:prstGeom prst="straightConnector1">
            <a:avLst/>
          </a:prstGeom>
          <a:ln w="8774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5" name="native PowerPoint connector">
            <a:extLst>
              <a:ext uri="{FF2B5EF4-FFF2-40B4-BE49-F238E27FC236}">
                <ns2:creationId id="{FE342A53-96DA-45A0-BD0E-9808E5D4A3AE}"/>
              </a:ext>
            </a:extLst>
          </p:cNvPr>
          <p:cNvCxnSpPr/>
          <p:nvPr/>
        </p:nvCxnSpPr>
        <p:spPr>
          <a:xfrm flipH="0" flipV="0">
            <a:off x="3818454" y="4123858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6" name="native PowerPoint connector">
            <a:extLst>
              <a:ext uri="{FF2B5EF4-FFF2-40B4-BE49-F238E27FC236}">
                <ns2:creationId id="{05E1F967-C20D-48B7-9518-53B362DBBF9E}"/>
              </a:ext>
            </a:extLst>
          </p:cNvPr>
          <p:cNvCxnSpPr/>
          <p:nvPr/>
        </p:nvCxnSpPr>
        <p:spPr>
          <a:xfrm flipH="0" flipV="0">
            <a:off x="3921679" y="4123858"/>
            <a:ext cx="0" cy="139354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7" name="native PowerPoint connector">
            <a:extLst>
              <a:ext uri="{FF2B5EF4-FFF2-40B4-BE49-F238E27FC236}">
                <ns2:creationId id="{EE10E9FB-93AB-4709-A8E5-FF009CBBF72D}"/>
              </a:ext>
            </a:extLst>
          </p:cNvPr>
          <p:cNvCxnSpPr/>
          <p:nvPr/>
        </p:nvCxnSpPr>
        <p:spPr>
          <a:xfrm flipH="0" flipV="0"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308" name="native PowerPoint connector">
            <a:extLst>
              <a:ext uri="{FF2B5EF4-FFF2-40B4-BE49-F238E27FC236}">
                <ns2:creationId id="{0DE160D2-1CBF-4731-AC7B-29DA38971909}"/>
              </a:ext>
            </a:extLst>
          </p:cNvPr>
          <p:cNvCxnSpPr/>
          <p:nvPr/>
        </p:nvCxnSpPr>
        <p:spPr>
          <a:xfrm flipH="0" flipV="0">
            <a:off x="3818454" y="4443857"/>
            <a:ext cx="103225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09" name="native PowerPoint connector">
            <a:extLst>
              <a:ext uri="{FF2B5EF4-FFF2-40B4-BE49-F238E27FC236}">
                <ns2:creationId id="{902D8827-625E-46AA-A718-8C8E89C21BF2}"/>
              </a:ext>
            </a:extLst>
          </p:cNvPr>
          <p:cNvCxnSpPr/>
          <p:nvPr/>
        </p:nvCxnSpPr>
        <p:spPr>
          <a:xfrm flipH="0" flipV="1">
            <a:off x="3921679" y="4263212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</a:ln>
        </p:spPr>
      </p:cxnSp>
      <p:cxnSp>
        <p:nvCxnSpPr>
          <p:cNvPr id="310" name="native PowerPoint connector">
            <a:extLst>
              <a:ext uri="{FF2B5EF4-FFF2-40B4-BE49-F238E27FC236}">
                <ns2:creationId id="{76C8D10F-D9F0-420F-9E14-B3E978706DE6}"/>
              </a:ext>
            </a:extLst>
          </p:cNvPr>
          <p:cNvCxnSpPr/>
          <p:nvPr/>
        </p:nvCxnSpPr>
        <p:spPr>
          <a:xfrm flipH="0" flipV="0">
            <a:off x="3921679" y="4263212"/>
            <a:ext cx="113548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311" name="Total loss">
            <a:extLst>
              <a:ext uri="{FF2B5EF4-FFF2-40B4-BE49-F238E27FC236}">
                <ns2:creationId id="{07DB2BB9-0BAF-4CAE-AEAA-FFB7F6C28168}"/>
              </a:ext>
            </a:extLst>
          </p:cNvPr>
          <p:cNvSpPr>
            <a:spLocks noGrp="1"/>
          </p:cNvSpPr>
          <p:nvPr/>
        </p:nvSpPr>
        <p:spPr>
          <a:xfrm>
            <a:off x="4153937" y="4103213"/>
            <a:ext cx="66064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553"/>
          </a:bodyPr>
          <a:lstStyle>
            <a:def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935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Total loss</a:t>
            </a:r>
          </a:p>
        </p:txBody>
      </p:sp>
      <p:sp>
        <p:nvSpPr>
          <p:cNvPr id="312" name="L = Lz + La">
            <a:extLst>
              <a:ext uri="{FF2B5EF4-FFF2-40B4-BE49-F238E27FC236}">
                <ns2:creationId id="{AC7F5CC9-818D-4449-A8DB-EF7BAE150179}"/>
              </a:ext>
            </a:extLst>
          </p:cNvPr>
          <p:cNvSpPr>
            <a:spLocks noGrp="1"/>
          </p:cNvSpPr>
          <p:nvPr/>
        </p:nvSpPr>
        <p:spPr>
          <a:xfrm>
            <a:off x="4102324" y="4258051"/>
            <a:ext cx="738062" cy="2064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9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Lz + La</a:t>
            </a:r>
          </a:p>
        </p:txBody>
      </p:sp>
      <p:sp>
        <p:nvSpPr>
          <p:cNvPr id="313" name="diagram block">
            <a:extLst>
              <a:ext uri="{FF2B5EF4-FFF2-40B4-BE49-F238E27FC236}">
                <ns2:creationId id="{C70E1666-4EA0-485D-8D43-78FD94E24CB7}"/>
              </a:ext>
            </a:extLst>
          </p:cNvPr>
          <p:cNvSpPr>
            <a:spLocks noGrp="1"/>
          </p:cNvSpPr>
          <p:nvPr/>
        </p:nvSpPr>
        <p:spPr>
          <a:xfrm>
            <a:off x="5124256" y="3943213"/>
            <a:ext cx="1109674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5161">
            <a:solidFill>
              <a:srgbClr val="F18591"/>
            </a:solidFill>
            <a:prstDash val="solid"/>
          </a:ln>
        </p:spPr>
      </p:sp>
      <p:sp>
        <p:nvSpPr>
          <p:cNvPr id="314" name="Calibrate codebooks /&#10;row gains&#10;(section b)">
            <a:extLst>
              <a:ext uri="{FF2B5EF4-FFF2-40B4-BE49-F238E27FC236}">
                <ns2:creationId id="{945DC5EE-63AA-4441-8E8B-084CAD6D2856}"/>
              </a:ext>
            </a:extLst>
          </p:cNvPr>
          <p:cNvSpPr>
            <a:spLocks noGrp="1"/>
          </p:cNvSpPr>
          <p:nvPr/>
        </p:nvSpPr>
        <p:spPr>
          <a:xfrm>
            <a:off x="5150063" y="3969020"/>
            <a:ext cx="1058061" cy="304515"/>
          </a:xfrm>
          <a:prstGeom prst="rect">
            <a:avLst/>
          </a:prstGeom>
          <a:gradFill>
            <a:gsLst>
              <a:gs pos="0">
                <a:srgbClr val="FFC1C1"/>
              </a:gs>
              <a:gs pos="100000">
                <a:srgbClr val="FFE8E2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Calibrate codebooks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row gains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B10818"/>
                </a:solidFill>
                <a:latin typeface="Arial Narrow"/>
                <a:ea typeface="Arial Narrow"/>
                <a:cs typeface="Arial Narrow"/>
              </a:rPr>
              <a:t>(section b)</a:t>
            </a:r>
          </a:p>
        </p:txBody>
      </p:sp>
      <p:sp>
        <p:nvSpPr>
          <p:cNvPr id="315" name="diagram block">
            <a:extLst>
              <a:ext uri="{FF2B5EF4-FFF2-40B4-BE49-F238E27FC236}">
                <ns2:creationId id="{7D155E5E-6196-4A60-8DDA-6F5EAA2BA320}"/>
              </a:ext>
            </a:extLst>
          </p:cNvPr>
          <p:cNvSpPr>
            <a:spLocks noGrp="1"/>
          </p:cNvSpPr>
          <p:nvPr/>
        </p:nvSpPr>
        <p:spPr>
          <a:xfrm>
            <a:off x="6388768" y="3943213"/>
            <a:ext cx="1094190" cy="356128"/>
          </a:xfrm>
          <a:prstGeom prst="roundRect">
            <a:avLst>
              <a:gd name="adj" fmla="val 7246"/>
            </a:avLst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5161">
            <a:solidFill>
              <a:srgbClr val="84CDD1"/>
            </a:solidFill>
            <a:prstDash val="solid"/>
          </a:ln>
        </p:spPr>
      </p:sp>
      <p:sp>
        <p:nvSpPr>
          <p:cNvPr id="316" name="Refine per-channel D /&#10;clipping ratio&#10;(section c)">
            <a:extLst>
              <a:ext uri="{FF2B5EF4-FFF2-40B4-BE49-F238E27FC236}">
                <ns2:creationId id="{C3FEA722-E8E0-4255-AC91-6E62B8B6EDDF}"/>
              </a:ext>
            </a:extLst>
          </p:cNvPr>
          <p:cNvSpPr>
            <a:spLocks noGrp="1"/>
          </p:cNvSpPr>
          <p:nvPr/>
        </p:nvSpPr>
        <p:spPr>
          <a:xfrm>
            <a:off x="6414575" y="3969020"/>
            <a:ext cx="1042577" cy="304515"/>
          </a:xfrm>
          <a:prstGeom prst="rect">
            <a:avLst/>
          </a:prstGeom>
          <a:gradFill>
            <a:gsLst>
              <a:gs pos="0">
                <a:srgbClr val="ACE3E4"/>
              </a:gs>
              <a:gs pos="100000">
                <a:srgbClr val="D9F1F1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4501"/>
          </a:bodyPr>
          <a:lstStyle>
            <a:def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rPr>
              <a:t>Refine per-channel D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rPr>
              <a:t>clipping ratio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04D61"/>
                </a:solidFill>
                <a:latin typeface="Arial Narrow"/>
                <a:ea typeface="Arial Narrow"/>
                <a:cs typeface="Arial Narrow"/>
              </a:rPr>
              <a:t>(section c)</a:t>
            </a:r>
          </a:p>
        </p:txBody>
      </p:sp>
      <p:cxnSp>
        <p:nvCxnSpPr>
          <p:cNvPr id="317" name="native PowerPoint connector">
            <a:extLst>
              <a:ext uri="{FF2B5EF4-FFF2-40B4-BE49-F238E27FC236}">
                <ns2:creationId id="{5450430E-B79D-4101-93C7-CFAA026E9B66}"/>
              </a:ext>
            </a:extLst>
          </p:cNvPr>
          <p:cNvCxnSpPr/>
          <p:nvPr/>
        </p:nvCxnSpPr>
        <p:spPr>
          <a:xfrm flipH="0" flipV="0">
            <a:off x="4830064" y="4263212"/>
            <a:ext cx="149677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18" name="native PowerPoint connector">
            <a:extLst>
              <a:ext uri="{FF2B5EF4-FFF2-40B4-BE49-F238E27FC236}">
                <ns2:creationId id="{F914E2F1-4ACB-466B-8045-552CB6C01E4E}"/>
              </a:ext>
            </a:extLst>
          </p:cNvPr>
          <p:cNvCxnSpPr/>
          <p:nvPr/>
        </p:nvCxnSpPr>
        <p:spPr>
          <a:xfrm flipH="0" flipV="1">
            <a:off x="4979741" y="4082568"/>
            <a:ext cx="0" cy="180645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</a:ln>
        </p:spPr>
      </p:cxnSp>
      <p:cxnSp>
        <p:nvCxnSpPr>
          <p:cNvPr id="319" name="native PowerPoint connector">
            <a:extLst>
              <a:ext uri="{FF2B5EF4-FFF2-40B4-BE49-F238E27FC236}">
                <ns2:creationId id="{83C6E339-DF1F-4184-AB43-9BDEC659E735}"/>
              </a:ext>
            </a:extLst>
          </p:cNvPr>
          <p:cNvCxnSpPr/>
          <p:nvPr/>
        </p:nvCxnSpPr>
        <p:spPr>
          <a:xfrm flipH="0" flipV="0">
            <a:off x="4979741" y="4082568"/>
            <a:ext cx="139354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20" name="Update: codebooks C₁, C₂&#10;and row gains r_row">
            <a:extLst>
              <a:ext uri="{FF2B5EF4-FFF2-40B4-BE49-F238E27FC236}">
                <ns2:creationId id="{6B2E54C3-CB49-430D-8000-89C5911378A5}"/>
              </a:ext>
            </a:extLst>
          </p:cNvPr>
          <p:cNvSpPr>
            <a:spLocks noGrp="1"/>
          </p:cNvSpPr>
          <p:nvPr/>
        </p:nvSpPr>
        <p:spPr>
          <a:xfrm>
            <a:off x="5211998" y="4345793"/>
            <a:ext cx="970319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Update: codebooks C₁, C₂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and row gains r</a:t>
            </a:r>
            <a:r>
              <a:rPr sz="534" b="0" i="0" baseline="-2300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row</a:t>
            </a:r>
          </a:p>
        </p:txBody>
      </p:sp>
      <p:sp>
        <p:nvSpPr>
          <p:cNvPr id="321" name="(indices and B32 exponents remain frozen)">
            <a:extLst>
              <a:ext uri="{FF2B5EF4-FFF2-40B4-BE49-F238E27FC236}">
                <ns2:creationId id="{9262C564-BB8A-48E5-98F8-7CE9F0F289C1}"/>
              </a:ext>
            </a:extLst>
          </p:cNvPr>
          <p:cNvSpPr>
            <a:spLocks noGrp="1"/>
          </p:cNvSpPr>
          <p:nvPr/>
        </p:nvSpPr>
        <p:spPr>
          <a:xfrm>
            <a:off x="5113934" y="4557405"/>
            <a:ext cx="1130319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4495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(indices and B32 exponents remain frozen)</a:t>
            </a:r>
          </a:p>
        </p:txBody>
      </p:sp>
      <p:sp>
        <p:nvSpPr>
          <p:cNvPr id="322" name="Update: per-channel scales D&#10;and per-Linear clipping ratio r_l">
            <a:extLst>
              <a:ext uri="{FF2B5EF4-FFF2-40B4-BE49-F238E27FC236}">
                <ns2:creationId id="{E5EFA62C-8887-4AC4-A852-099C0822655E}"/>
              </a:ext>
            </a:extLst>
          </p:cNvPr>
          <p:cNvSpPr>
            <a:spLocks noGrp="1"/>
          </p:cNvSpPr>
          <p:nvPr/>
        </p:nvSpPr>
        <p:spPr>
          <a:xfrm>
            <a:off x="6424897" y="4345793"/>
            <a:ext cx="1042577" cy="20645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7413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Update: per-channel scales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and per-Linear clipping ratio r</a:t>
            </a:r>
            <a:r>
              <a:rPr sz="534" b="0" i="0" baseline="-2300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</a:t>
            </a:r>
          </a:p>
        </p:txBody>
      </p:sp>
      <p:sp>
        <p:nvSpPr>
          <p:cNvPr id="323" name="(VQ weights remain frozen)">
            <a:extLst>
              <a:ext uri="{FF2B5EF4-FFF2-40B4-BE49-F238E27FC236}">
                <ns2:creationId id="{25D68368-6677-458B-8335-589DF2434918}"/>
              </a:ext>
            </a:extLst>
          </p:cNvPr>
          <p:cNvSpPr>
            <a:spLocks noGrp="1"/>
          </p:cNvSpPr>
          <p:nvPr/>
        </p:nvSpPr>
        <p:spPr>
          <a:xfrm>
            <a:off x="6512639" y="4562566"/>
            <a:ext cx="913545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3956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(VQ weights remain frozen)</a:t>
            </a:r>
          </a:p>
        </p:txBody>
      </p:sp>
      <p:cxnSp>
        <p:nvCxnSpPr>
          <p:cNvPr id="324" name="native PowerPoint connector">
            <a:extLst>
              <a:ext uri="{FF2B5EF4-FFF2-40B4-BE49-F238E27FC236}">
                <ns2:creationId id="{63105137-305B-4B5B-B06D-A037243BBF37}"/>
              </a:ext>
            </a:extLst>
          </p:cNvPr>
          <p:cNvCxnSpPr/>
          <p:nvPr/>
        </p:nvCxnSpPr>
        <p:spPr>
          <a:xfrm flipH="0" flipV="1">
            <a:off x="5691996" y="3850310"/>
            <a:ext cx="0" cy="87742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5" name="native PowerPoint connector">
            <a:extLst>
              <a:ext uri="{FF2B5EF4-FFF2-40B4-BE49-F238E27FC236}">
                <ns2:creationId id="{B92FFC4C-45B6-44AF-B134-D2763AECEFB8}"/>
              </a:ext>
            </a:extLst>
          </p:cNvPr>
          <p:cNvCxnSpPr/>
          <p:nvPr/>
        </p:nvCxnSpPr>
        <p:spPr>
          <a:xfrm flipH="1" flipV="0">
            <a:off x="3333294" y="3850310"/>
            <a:ext cx="2358702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6" name="native PowerPoint connector">
            <a:extLst>
              <a:ext uri="{FF2B5EF4-FFF2-40B4-BE49-F238E27FC236}">
                <ns2:creationId id="{DC6F5CAB-5307-46EC-9BC4-6AAAB984127B}"/>
              </a:ext>
            </a:extLst>
          </p:cNvPr>
          <p:cNvCxnSpPr/>
          <p:nvPr/>
        </p:nvCxnSpPr>
        <p:spPr>
          <a:xfrm flipH="0" flipV="0">
            <a:off x="3333294" y="3850310"/>
            <a:ext cx="0" cy="154838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cxnSp>
        <p:nvCxnSpPr>
          <p:cNvPr id="327" name="native PowerPoint connector">
            <a:extLst>
              <a:ext uri="{FF2B5EF4-FFF2-40B4-BE49-F238E27FC236}">
                <ns2:creationId id="{16E38C32-06AB-4674-8121-27926360C519}"/>
              </a:ext>
            </a:extLst>
          </p:cNvPr>
          <p:cNvCxnSpPr/>
          <p:nvPr/>
        </p:nvCxnSpPr>
        <p:spPr>
          <a:xfrm flipH="0" flipV="1">
            <a:off x="6930702" y="3757407"/>
            <a:ext cx="0" cy="180645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8" name="native PowerPoint connector">
            <a:extLst>
              <a:ext uri="{FF2B5EF4-FFF2-40B4-BE49-F238E27FC236}">
                <ns2:creationId id="{B3B45B35-D479-4650-B015-2EFCAF14465B}"/>
              </a:ext>
            </a:extLst>
          </p:cNvPr>
          <p:cNvCxnSpPr/>
          <p:nvPr/>
        </p:nvCxnSpPr>
        <p:spPr>
          <a:xfrm flipH="1" flipV="0">
            <a:off x="1609429" y="3757407"/>
            <a:ext cx="5321273" cy="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</a:ln>
        </p:spPr>
      </p:cxnSp>
      <p:cxnSp>
        <p:nvCxnSpPr>
          <p:cNvPr id="329" name="native PowerPoint connector">
            <a:extLst>
              <a:ext uri="{FF2B5EF4-FFF2-40B4-BE49-F238E27FC236}">
                <ns2:creationId id="{08FEC370-0180-4DB0-93BC-96E1DAD654CD}"/>
              </a:ext>
            </a:extLst>
          </p:cNvPr>
          <p:cNvCxnSpPr/>
          <p:nvPr/>
        </p:nvCxnSpPr>
        <p:spPr>
          <a:xfrm flipH="0" flipV="0">
            <a:off x="1609429" y="3757407"/>
            <a:ext cx="0" cy="283870"/>
          </a:xfrm>
          <a:prstGeom prst="straightConnector1">
            <a:avLst/>
          </a:prstGeom>
          <a:ln w="6710">
            <a:solidFill>
              <a:srgbClr val="071B3C"/>
            </a:solidFill>
            <a:prstDash val="dash"/>
            <a:tailEnd type="triangle" w="sm" len="sm"/>
          </a:ln>
        </p:spPr>
      </p:cxnSp>
      <p:sp>
        <p:nvSpPr>
          <p:cNvPr id="330" name="Current execution: decoded BF16 weights + fake A4 + BF16 KV; native kernel ">
            <a:extLst>
              <a:ext uri="{FF2B5EF4-FFF2-40B4-BE49-F238E27FC236}">
                <ns2:creationId id="{BAFCACB4-DEAC-4C1A-B5F5-561E7F8027A8}"/>
              </a:ext>
            </a:extLst>
          </p:cNvPr>
          <p:cNvSpPr>
            <a:spLocks noGrp="1"/>
          </p:cNvSpPr>
          <p:nvPr/>
        </p:nvSpPr>
        <p:spPr>
          <a:xfrm>
            <a:off x="5697158" y="4717404"/>
            <a:ext cx="3086442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256"/>
          </a:bodyPr>
          <a:lstStyle>
            <a:def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1">
                <a:solidFill>
                  <a:srgbClr val="34526A"/>
                </a:solidFill>
                <a:latin typeface="Arial Narrow"/>
                <a:ea typeface="Arial Narrow"/>
                <a:cs typeface="Arial Narrow"/>
              </a:rPr>
              <a:t>Current execution: decoded BF16 weights + fake A4 + BF16 KV; native kernel remains future work.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Microscaling additive VQ weights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3">
            <a:extLst>
              <a:ext uri="{FF2B5EF4-FFF2-40B4-BE49-F238E27FC236}">
                <a16:creationId xmlns:a16="http://schemas.microsoft.com/office/drawing/2014/main" id="{1B4EBE44-4EEC-4A40-8983-B65C28FD9670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ransformed weight row">
            <a:extLst>
              <a:ext uri="{FF2B5EF4-FFF2-40B4-BE49-F238E27FC236}">
                <a16:creationId xmlns:a16="http://schemas.microsoft.com/office/drawing/2014/main" id="{3AD12B47-9713-44E2-9186-5F1FFE90348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Transformed weight row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6FE1A0F5-D670-4EA7-A5FE-C8AF8767DB1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7D0BC3FC-31D3-424F-832F-6AB0B4C0A0A7}"/>
              </a:ext>
            </a:extLst>
          </p:cNvPr>
          <p:cNvSpPr>
            <a:spLocks noGrp="1"/>
          </p:cNvSpPr>
          <p:nvPr/>
        </p:nvSpPr>
        <p:spPr>
          <a:xfrm>
            <a:off x="9048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259A578F-F0BB-464D-86AD-22C0D367C548}"/>
              </a:ext>
            </a:extLst>
          </p:cNvPr>
          <p:cNvSpPr>
            <a:spLocks noGrp="1"/>
          </p:cNvSpPr>
          <p:nvPr/>
        </p:nvSpPr>
        <p:spPr>
          <a:xfrm>
            <a:off x="12001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C3282941-CFB3-4E37-97CA-09BEB4238C2D}"/>
              </a:ext>
            </a:extLst>
          </p:cNvPr>
          <p:cNvSpPr>
            <a:spLocks noGrp="1"/>
          </p:cNvSpPr>
          <p:nvPr/>
        </p:nvSpPr>
        <p:spPr>
          <a:xfrm>
            <a:off x="14954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87BC78BE-4A35-45AC-8CDF-D77427F308DF}"/>
              </a:ext>
            </a:extLst>
          </p:cNvPr>
          <p:cNvSpPr>
            <a:spLocks noGrp="1"/>
          </p:cNvSpPr>
          <p:nvPr/>
        </p:nvSpPr>
        <p:spPr>
          <a:xfrm>
            <a:off x="179070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B372C74A-FE65-40A4-9F77-FB5D3A32073E}"/>
              </a:ext>
            </a:extLst>
          </p:cNvPr>
          <p:cNvSpPr>
            <a:spLocks noGrp="1"/>
          </p:cNvSpPr>
          <p:nvPr/>
        </p:nvSpPr>
        <p:spPr>
          <a:xfrm>
            <a:off x="208597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4A2BC7DC-9A51-4A68-A813-EFA7F791E89D}"/>
              </a:ext>
            </a:extLst>
          </p:cNvPr>
          <p:cNvSpPr>
            <a:spLocks noGrp="1"/>
          </p:cNvSpPr>
          <p:nvPr/>
        </p:nvSpPr>
        <p:spPr>
          <a:xfrm>
            <a:off x="2381250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73225969-1630-4676-AC13-C2CC3E3DE2B7}"/>
              </a:ext>
            </a:extLst>
          </p:cNvPr>
          <p:cNvSpPr>
            <a:spLocks noGrp="1"/>
          </p:cNvSpPr>
          <p:nvPr/>
        </p:nvSpPr>
        <p:spPr>
          <a:xfrm>
            <a:off x="2676525" y="1266825"/>
            <a:ext cx="266700" cy="257175"/>
          </a:xfrm>
          <a:prstGeom prst="rect">
            <a:avLst/>
          </a:prstGeom>
          <a:solidFill>
            <a:srgbClr val="FFF2D6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B32 = 8 vectors × d4">
            <a:extLst>
              <a:ext uri="{FF2B5EF4-FFF2-40B4-BE49-F238E27FC236}">
                <a16:creationId xmlns:a16="http://schemas.microsoft.com/office/drawing/2014/main" id="{C9CA1346-6DA8-459D-AF3E-654D87F4BA69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AE029C70-482D-43DD-9150-240D2CF639A7}"/>
              </a:ext>
            </a:extLst>
          </p:cNvPr>
          <p:cNvSpPr>
            <a:spLocks noGrp="1"/>
          </p:cNvSpPr>
          <p:nvPr/>
        </p:nvSpPr>
        <p:spPr>
          <a:xfrm>
            <a:off x="32289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diagram block">
            <a:extLst>
              <a:ext uri="{FF2B5EF4-FFF2-40B4-BE49-F238E27FC236}">
                <a16:creationId xmlns:a16="http://schemas.microsoft.com/office/drawing/2014/main" id="{BDB7A1F8-9CCC-47A3-8E8A-F6B42511458E}"/>
              </a:ext>
            </a:extLst>
          </p:cNvPr>
          <p:cNvSpPr>
            <a:spLocks noGrp="1"/>
          </p:cNvSpPr>
          <p:nvPr/>
        </p:nvSpPr>
        <p:spPr>
          <a:xfrm>
            <a:off x="35242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diagram block">
            <a:extLst>
              <a:ext uri="{FF2B5EF4-FFF2-40B4-BE49-F238E27FC236}">
                <a16:creationId xmlns:a16="http://schemas.microsoft.com/office/drawing/2014/main" id="{FF02A0EE-16B1-4D5D-B505-2050614BAB03}"/>
              </a:ext>
            </a:extLst>
          </p:cNvPr>
          <p:cNvSpPr>
            <a:spLocks noGrp="1"/>
          </p:cNvSpPr>
          <p:nvPr/>
        </p:nvSpPr>
        <p:spPr>
          <a:xfrm>
            <a:off x="38195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diagram block">
            <a:extLst>
              <a:ext uri="{FF2B5EF4-FFF2-40B4-BE49-F238E27FC236}">
                <a16:creationId xmlns:a16="http://schemas.microsoft.com/office/drawing/2014/main" id="{65244407-B6C7-4ECB-9B0C-6EB5A6597EDF}"/>
              </a:ext>
            </a:extLst>
          </p:cNvPr>
          <p:cNvSpPr>
            <a:spLocks noGrp="1"/>
          </p:cNvSpPr>
          <p:nvPr/>
        </p:nvSpPr>
        <p:spPr>
          <a:xfrm>
            <a:off x="41148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diagram block">
            <a:extLst>
              <a:ext uri="{FF2B5EF4-FFF2-40B4-BE49-F238E27FC236}">
                <a16:creationId xmlns:a16="http://schemas.microsoft.com/office/drawing/2014/main" id="{134EAF76-22F4-41AE-AEAC-E829B3CB954D}"/>
              </a:ext>
            </a:extLst>
          </p:cNvPr>
          <p:cNvSpPr>
            <a:spLocks noGrp="1"/>
          </p:cNvSpPr>
          <p:nvPr/>
        </p:nvSpPr>
        <p:spPr>
          <a:xfrm>
            <a:off x="44100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diagram block">
            <a:extLst>
              <a:ext uri="{FF2B5EF4-FFF2-40B4-BE49-F238E27FC236}">
                <a16:creationId xmlns:a16="http://schemas.microsoft.com/office/drawing/2014/main" id="{8CEDF0AD-FCDD-42E0-BF8C-451A613E65FD}"/>
              </a:ext>
            </a:extLst>
          </p:cNvPr>
          <p:cNvSpPr>
            <a:spLocks noGrp="1"/>
          </p:cNvSpPr>
          <p:nvPr/>
        </p:nvSpPr>
        <p:spPr>
          <a:xfrm>
            <a:off x="4705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diagram block">
            <a:extLst>
              <a:ext uri="{FF2B5EF4-FFF2-40B4-BE49-F238E27FC236}">
                <a16:creationId xmlns:a16="http://schemas.microsoft.com/office/drawing/2014/main" id="{42BD034B-7DC8-4C76-BD88-7B11BEA001E5}"/>
              </a:ext>
            </a:extLst>
          </p:cNvPr>
          <p:cNvSpPr>
            <a:spLocks noGrp="1"/>
          </p:cNvSpPr>
          <p:nvPr/>
        </p:nvSpPr>
        <p:spPr>
          <a:xfrm>
            <a:off x="5000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ACBAE066-455D-4993-ADC4-4CF57ED9822E}"/>
              </a:ext>
            </a:extLst>
          </p:cNvPr>
          <p:cNvSpPr>
            <a:spLocks noGrp="1"/>
          </p:cNvSpPr>
          <p:nvPr/>
        </p:nvSpPr>
        <p:spPr>
          <a:xfrm>
            <a:off x="5295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B32 = 8 vectors × d4">
            <a:extLst>
              <a:ext uri="{FF2B5EF4-FFF2-40B4-BE49-F238E27FC236}">
                <a16:creationId xmlns:a16="http://schemas.microsoft.com/office/drawing/2014/main" id="{39E4534F-6111-4CDC-A77B-F5DC174B9824}"/>
              </a:ext>
            </a:extLst>
          </p:cNvPr>
          <p:cNvSpPr>
            <a:spLocks noGrp="1"/>
          </p:cNvSpPr>
          <p:nvPr/>
        </p:nvSpPr>
        <p:spPr>
          <a:xfrm>
            <a:off x="3228975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2FB72A13-6DAC-4E55-8400-5FEB4CFDFB23}"/>
              </a:ext>
            </a:extLst>
          </p:cNvPr>
          <p:cNvSpPr>
            <a:spLocks noGrp="1"/>
          </p:cNvSpPr>
          <p:nvPr/>
        </p:nvSpPr>
        <p:spPr>
          <a:xfrm>
            <a:off x="58483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7A47C065-EBED-4D4F-ADF0-E42EBFF587E1}"/>
              </a:ext>
            </a:extLst>
          </p:cNvPr>
          <p:cNvSpPr>
            <a:spLocks noGrp="1"/>
          </p:cNvSpPr>
          <p:nvPr/>
        </p:nvSpPr>
        <p:spPr>
          <a:xfrm>
            <a:off x="61436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12116A0D-D694-42A3-94FD-7312C8701B02}"/>
              </a:ext>
            </a:extLst>
          </p:cNvPr>
          <p:cNvSpPr>
            <a:spLocks noGrp="1"/>
          </p:cNvSpPr>
          <p:nvPr/>
        </p:nvSpPr>
        <p:spPr>
          <a:xfrm>
            <a:off x="64389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73295BC1-74BF-4D09-8F25-BA0A351CE7E1}"/>
              </a:ext>
            </a:extLst>
          </p:cNvPr>
          <p:cNvSpPr>
            <a:spLocks noGrp="1"/>
          </p:cNvSpPr>
          <p:nvPr/>
        </p:nvSpPr>
        <p:spPr>
          <a:xfrm>
            <a:off x="67341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2CB38F35-A462-401B-915D-C28028FF7FEE}"/>
              </a:ext>
            </a:extLst>
          </p:cNvPr>
          <p:cNvSpPr>
            <a:spLocks noGrp="1"/>
          </p:cNvSpPr>
          <p:nvPr/>
        </p:nvSpPr>
        <p:spPr>
          <a:xfrm>
            <a:off x="702945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E249D3E5-B477-4BC1-A417-0C528D26A9B2}"/>
              </a:ext>
            </a:extLst>
          </p:cNvPr>
          <p:cNvSpPr>
            <a:spLocks noGrp="1"/>
          </p:cNvSpPr>
          <p:nvPr/>
        </p:nvSpPr>
        <p:spPr>
          <a:xfrm>
            <a:off x="732472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F2F773B5-FE19-4E38-9624-BEC3B5D70395}"/>
              </a:ext>
            </a:extLst>
          </p:cNvPr>
          <p:cNvSpPr>
            <a:spLocks noGrp="1"/>
          </p:cNvSpPr>
          <p:nvPr/>
        </p:nvSpPr>
        <p:spPr>
          <a:xfrm>
            <a:off x="7620000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595741C-FE56-416C-B8D5-6402885AFF8B}"/>
              </a:ext>
            </a:extLst>
          </p:cNvPr>
          <p:cNvSpPr>
            <a:spLocks noGrp="1"/>
          </p:cNvSpPr>
          <p:nvPr/>
        </p:nvSpPr>
        <p:spPr>
          <a:xfrm>
            <a:off x="7915275" y="1266825"/>
            <a:ext cx="266700" cy="257175"/>
          </a:xfrm>
          <a:prstGeom prst="rect">
            <a:avLst/>
          </a:prstGeom>
          <a:solidFill>
            <a:srgbClr val="EBF2FA"/>
          </a:solidFill>
          <a:ln w="11430">
            <a:solidFill>
              <a:srgbClr val="A9B8C8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…">
            <a:extLst>
              <a:ext uri="{FF2B5EF4-FFF2-40B4-BE49-F238E27FC236}">
                <a16:creationId xmlns:a16="http://schemas.microsoft.com/office/drawing/2014/main" id="{67442764-BB85-4CA2-AA5E-EEE69C6CB39A}"/>
              </a:ext>
            </a:extLst>
          </p:cNvPr>
          <p:cNvSpPr>
            <a:spLocks noGrp="1"/>
          </p:cNvSpPr>
          <p:nvPr/>
        </p:nvSpPr>
        <p:spPr>
          <a:xfrm>
            <a:off x="5848350" y="159067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i₁  (8-bit)">
            <a:extLst>
              <a:ext uri="{FF2B5EF4-FFF2-40B4-BE49-F238E27FC236}">
                <a16:creationId xmlns:a16="http://schemas.microsoft.com/office/drawing/2014/main" id="{BA11FAFC-D747-410E-862D-465B6A229145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i₁  (8-bit)</a:t>
            </a:r>
          </a:p>
        </p:txBody>
      </p:sp>
      <p:sp>
        <p:nvSpPr>
          <p:cNvPr id="34" name="i₂  (8-bit)">
            <a:extLst>
              <a:ext uri="{FF2B5EF4-FFF2-40B4-BE49-F238E27FC236}">
                <a16:creationId xmlns:a16="http://schemas.microsoft.com/office/drawing/2014/main" id="{A4C63435-18B3-4D82-81E9-D7DA362455DE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1190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i₂  (8-bit)</a:t>
            </a:r>
          </a:p>
        </p:txBody>
      </p:sp>
      <p:sp>
        <p:nvSpPr>
          <p:cNvPr id="35" name="Codebook C₁&#10;256 × 4 · BF16">
            <a:extLst>
              <a:ext uri="{FF2B5EF4-FFF2-40B4-BE49-F238E27FC236}">
                <a16:creationId xmlns:a16="http://schemas.microsoft.com/office/drawing/2014/main" id="{44C97447-E07F-42EA-9405-A524CC8736B0}"/>
              </a:ext>
            </a:extLst>
          </p:cNvPr>
          <p:cNvSpPr>
            <a:spLocks noGrp="1"/>
          </p:cNvSpPr>
          <p:nvPr/>
        </p:nvSpPr>
        <p:spPr>
          <a:xfrm>
            <a:off x="2257425" y="2009775"/>
            <a:ext cx="2219325" cy="6381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C₁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sp>
        <p:nvSpPr>
          <p:cNvPr id="36" name="Codebook C₂&#10;256 × 4 · BF16">
            <a:extLst>
              <a:ext uri="{FF2B5EF4-FFF2-40B4-BE49-F238E27FC236}">
                <a16:creationId xmlns:a16="http://schemas.microsoft.com/office/drawing/2014/main" id="{E774B519-6860-4E8C-A605-4136032AC4FF}"/>
              </a:ext>
            </a:extLst>
          </p:cNvPr>
          <p:cNvSpPr>
            <a:spLocks noGrp="1"/>
          </p:cNvSpPr>
          <p:nvPr/>
        </p:nvSpPr>
        <p:spPr>
          <a:xfrm>
            <a:off x="2257425" y="2867025"/>
            <a:ext cx="2219325" cy="63817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C₂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cxnSp>
        <p:nvCxnSpPr>
          <p:cNvPr id="37" name="diagram connector">
            <a:extLst>
              <a:ext uri="{FF2B5EF4-FFF2-40B4-BE49-F238E27FC236}">
                <a16:creationId xmlns:a16="http://schemas.microsoft.com/office/drawing/2014/main" id="{11CECB53-AAC4-455E-BF54-BEBB1E4D65B9}"/>
              </a:ext>
            </a:extLst>
          </p:cNvPr>
          <p:cNvCxnSpPr/>
          <p:nvPr/>
        </p:nvCxnSpPr>
        <p:spPr>
          <a:xfrm>
            <a:off x="1866900" y="2314575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8" name="diagram connector">
            <a:extLst>
              <a:ext uri="{FF2B5EF4-FFF2-40B4-BE49-F238E27FC236}">
                <a16:creationId xmlns:a16="http://schemas.microsoft.com/office/drawing/2014/main" id="{FA83978A-91BC-4767-A5B1-91FAD99A1A76}"/>
              </a:ext>
            </a:extLst>
          </p:cNvPr>
          <p:cNvCxnSpPr/>
          <p:nvPr/>
        </p:nvCxnSpPr>
        <p:spPr>
          <a:xfrm>
            <a:off x="1866900" y="3181350"/>
            <a:ext cx="3905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9" name="diagram connector">
            <a:extLst>
              <a:ext uri="{FF2B5EF4-FFF2-40B4-BE49-F238E27FC236}">
                <a16:creationId xmlns:a16="http://schemas.microsoft.com/office/drawing/2014/main" id="{92D69383-7D13-470D-983F-16C1E09A6D51}"/>
              </a:ext>
            </a:extLst>
          </p:cNvPr>
          <p:cNvCxnSpPr/>
          <p:nvPr/>
        </p:nvCxnSpPr>
        <p:spPr>
          <a:xfrm>
            <a:off x="4476750" y="2324100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0" name="diagram connector">
            <a:extLst>
              <a:ext uri="{FF2B5EF4-FFF2-40B4-BE49-F238E27FC236}">
                <a16:creationId xmlns:a16="http://schemas.microsoft.com/office/drawing/2014/main" id="{0DB4FB0C-604F-4473-B720-67D9CDE7EC15}"/>
              </a:ext>
            </a:extLst>
          </p:cNvPr>
          <p:cNvCxnSpPr/>
          <p:nvPr/>
        </p:nvCxnSpPr>
        <p:spPr>
          <a:xfrm>
            <a:off x="5067300" y="2324100"/>
            <a:ext cx="0" cy="43815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1" name="diagram connector">
            <a:extLst>
              <a:ext uri="{FF2B5EF4-FFF2-40B4-BE49-F238E27FC236}">
                <a16:creationId xmlns:a16="http://schemas.microsoft.com/office/drawing/2014/main" id="{A6A662B7-3BC4-4505-881C-00F1E2B3D222}"/>
              </a:ext>
            </a:extLst>
          </p:cNvPr>
          <p:cNvCxnSpPr/>
          <p:nvPr/>
        </p:nvCxnSpPr>
        <p:spPr>
          <a:xfrm>
            <a:off x="4476750" y="3190875"/>
            <a:ext cx="5905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42" name="diagram connector">
            <a:extLst>
              <a:ext uri="{FF2B5EF4-FFF2-40B4-BE49-F238E27FC236}">
                <a16:creationId xmlns:a16="http://schemas.microsoft.com/office/drawing/2014/main" id="{C9548849-8BDA-45CD-82DA-BEF0FAE1A8BF}"/>
              </a:ext>
            </a:extLst>
          </p:cNvPr>
          <p:cNvCxnSpPr/>
          <p:nvPr/>
        </p:nvCxnSpPr>
        <p:spPr>
          <a:xfrm flipV="1">
            <a:off x="5067300" y="2762250"/>
            <a:ext cx="0" cy="42862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sp>
        <p:nvSpPr>
          <p:cNvPr id="43" name="+">
            <a:extLst>
              <a:ext uri="{FF2B5EF4-FFF2-40B4-BE49-F238E27FC236}">
                <a16:creationId xmlns:a16="http://schemas.microsoft.com/office/drawing/2014/main" id="{86DDC595-E59A-4B9C-8F61-5EF187010572}"/>
              </a:ext>
            </a:extLst>
          </p:cNvPr>
          <p:cNvSpPr>
            <a:spLocks noGrp="1"/>
          </p:cNvSpPr>
          <p:nvPr/>
        </p:nvSpPr>
        <p:spPr>
          <a:xfrm>
            <a:off x="4895850" y="2571750"/>
            <a:ext cx="352425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1B2059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cxnSp>
        <p:nvCxnSpPr>
          <p:cNvPr id="44" name="diagram connector">
            <a:extLst>
              <a:ext uri="{FF2B5EF4-FFF2-40B4-BE49-F238E27FC236}">
                <a16:creationId xmlns:a16="http://schemas.microsoft.com/office/drawing/2014/main" id="{B0C032C7-F94D-4455-819C-06B269AEB4AD}"/>
              </a:ext>
            </a:extLst>
          </p:cNvPr>
          <p:cNvCxnSpPr/>
          <p:nvPr/>
        </p:nvCxnSpPr>
        <p:spPr>
          <a:xfrm>
            <a:off x="5257800" y="2762250"/>
            <a:ext cx="4095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45" name="× r_row × 2^(e_g)">
            <a:extLst>
              <a:ext uri="{FF2B5EF4-FFF2-40B4-BE49-F238E27FC236}">
                <a16:creationId xmlns:a16="http://schemas.microsoft.com/office/drawing/2014/main" id="{DECAE95F-C8FF-4E36-B98C-D759934557B4}"/>
              </a:ext>
            </a:extLst>
          </p:cNvPr>
          <p:cNvSpPr>
            <a:spLocks noGrp="1"/>
          </p:cNvSpPr>
          <p:nvPr/>
        </p:nvSpPr>
        <p:spPr>
          <a:xfrm>
            <a:off x="5667375" y="2419350"/>
            <a:ext cx="2800350" cy="7048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× r_row × 2^(e_g)</a:t>
            </a:r>
          </a:p>
        </p:txBody>
      </p:sp>
      <p:sp>
        <p:nvSpPr>
          <p:cNvPr id="46" name="e_g = round(log₂(block_RMS / r_row))">
            <a:extLst>
              <a:ext uri="{FF2B5EF4-FFF2-40B4-BE49-F238E27FC236}">
                <a16:creationId xmlns:a16="http://schemas.microsoft.com/office/drawing/2014/main" id="{498571B3-55C9-4BEB-933E-F6FA0500FAD0}"/>
              </a:ext>
            </a:extLst>
          </p:cNvPr>
          <p:cNvSpPr>
            <a:spLocks noGrp="1"/>
          </p:cNvSpPr>
          <p:nvPr/>
        </p:nvSpPr>
        <p:spPr>
          <a:xfrm>
            <a:off x="4933950" y="2038350"/>
            <a:ext cx="3619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e_g = round(log₂(block_RMS / r_row))</a:t>
            </a:r>
          </a:p>
        </p:txBody>
      </p:sp>
      <p:sp>
        <p:nvSpPr>
          <p:cNvPr id="47" name="BF16 row gain + B32 exponent">
            <a:extLst>
              <a:ext uri="{FF2B5EF4-FFF2-40B4-BE49-F238E27FC236}">
                <a16:creationId xmlns:a16="http://schemas.microsoft.com/office/drawing/2014/main" id="{C21A5CED-AB8D-42FD-8F6C-B272A8E02EB4}"/>
              </a:ext>
            </a:extLst>
          </p:cNvPr>
          <p:cNvSpPr>
            <a:spLocks noGrp="1"/>
          </p:cNvSpPr>
          <p:nvPr/>
        </p:nvSpPr>
        <p:spPr>
          <a:xfrm>
            <a:off x="5572125" y="32670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BF16 row gain + B32 exponent</a:t>
            </a:r>
          </a:p>
        </p:txBody>
      </p:sp>
      <p:sp>
        <p:nvSpPr>
          <p:cNvPr id="48" name="4 core bpw  +  0.25 B32 bpw  +  codebooks / gains / tra">
            <a:extLst>
              <a:ext uri="{FF2B5EF4-FFF2-40B4-BE49-F238E27FC236}">
                <a16:creationId xmlns:a16="http://schemas.microsoft.com/office/drawing/2014/main" id="{AF8BA2DF-EBC7-4345-B967-4842C9C54326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 core bpw  +  0.25 B32 bpw  +  codebooks / gains / transforms  ≈  4.27 bpw</a:t>
            </a:r>
          </a:p>
        </p:txBody>
      </p:sp>
      <p:sp>
        <p:nvSpPr>
          <p:cNvPr id="49" name="Fixed indices + exponents; calibrate codebooks + row ga">
            <a:extLst>
              <a:ext uri="{FF2B5EF4-FFF2-40B4-BE49-F238E27FC236}">
                <a16:creationId xmlns:a16="http://schemas.microsoft.com/office/drawing/2014/main" id="{E1EB25C5-2027-4B3B-84D7-DD29BA647848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Fixed indices + exponents; calibrate codebooks + row gains. VQ codewords remain BF16 values.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Per-channel scaling + activation clipping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4">
            <a:extLst>
              <a:ext uri="{FF2B5EF4-FFF2-40B4-BE49-F238E27FC236}">
                <a16:creationId xmlns:a16="http://schemas.microsoft.com/office/drawing/2014/main" id="{6DE47FC7-E9C3-4CAD-994E-A1AE88FD435C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ctivation path">
            <a:extLst>
              <a:ext uri="{FF2B5EF4-FFF2-40B4-BE49-F238E27FC236}">
                <a16:creationId xmlns:a16="http://schemas.microsoft.com/office/drawing/2014/main" id="{73857DCD-0B19-4AD6-9CD4-46C506166B67}"/>
              </a:ext>
            </a:extLst>
          </p:cNvPr>
          <p:cNvSpPr>
            <a:spLocks noGrp="1"/>
          </p:cNvSpPr>
          <p:nvPr/>
        </p:nvSpPr>
        <p:spPr>
          <a:xfrm>
            <a:off x="609600" y="84772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Activation path</a:t>
            </a:r>
          </a:p>
        </p:txBody>
      </p:sp>
      <p:sp>
        <p:nvSpPr>
          <p:cNvPr id="6" name="X">
            <a:extLst>
              <a:ext uri="{FF2B5EF4-FFF2-40B4-BE49-F238E27FC236}">
                <a16:creationId xmlns:a16="http://schemas.microsoft.com/office/drawing/2014/main" id="{DD32E345-382C-41F7-BCA3-72E3E055D2D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57150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FD9E3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Smooth 0.5&#10;+ H128">
            <a:extLst>
              <a:ext uri="{FF2B5EF4-FFF2-40B4-BE49-F238E27FC236}">
                <a16:creationId xmlns:a16="http://schemas.microsoft.com/office/drawing/2014/main" id="{0ADE67B7-6322-48B1-B383-D54A3FEBCFF2}"/>
              </a:ext>
            </a:extLst>
          </p:cNvPr>
          <p:cNvSpPr>
            <a:spLocks noGrp="1"/>
          </p:cNvSpPr>
          <p:nvPr/>
        </p:nvSpPr>
        <p:spPr>
          <a:xfrm>
            <a:off x="1457325" y="1362075"/>
            <a:ext cx="1485900" cy="628650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Smooth 0.5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 H128</a:t>
            </a:r>
          </a:p>
        </p:txBody>
      </p:sp>
      <p:sp>
        <p:nvSpPr>
          <p:cNvPr id="8" name="÷ D">
            <a:extLst>
              <a:ext uri="{FF2B5EF4-FFF2-40B4-BE49-F238E27FC236}">
                <a16:creationId xmlns:a16="http://schemas.microsoft.com/office/drawing/2014/main" id="{0490057E-DA5D-4BED-BF98-A536C3714248}"/>
              </a:ext>
            </a:extLst>
          </p:cNvPr>
          <p:cNvSpPr>
            <a:spLocks noGrp="1"/>
          </p:cNvSpPr>
          <p:nvPr/>
        </p:nvSpPr>
        <p:spPr>
          <a:xfrm>
            <a:off x="3228975" y="1362075"/>
            <a:ext cx="1000125" cy="628650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÷ D</a:t>
            </a:r>
          </a:p>
        </p:txBody>
      </p:sp>
      <p:sp>
        <p:nvSpPr>
          <p:cNvPr id="9" name="Dynamic&#10;signed A4">
            <a:extLst>
              <a:ext uri="{FF2B5EF4-FFF2-40B4-BE49-F238E27FC236}">
                <a16:creationId xmlns:a16="http://schemas.microsoft.com/office/drawing/2014/main" id="{023877B4-E5B3-41DD-B6A5-D1372B711D71}"/>
              </a:ext>
            </a:extLst>
          </p:cNvPr>
          <p:cNvSpPr>
            <a:spLocks noGrp="1"/>
          </p:cNvSpPr>
          <p:nvPr/>
        </p:nvSpPr>
        <p:spPr>
          <a:xfrm>
            <a:off x="4514850" y="1362075"/>
            <a:ext cx="1562100" cy="628650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Dynamic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signed A4</a:t>
            </a:r>
          </a:p>
        </p:txBody>
      </p:sp>
      <p:sp>
        <p:nvSpPr>
          <p:cNvPr id="10" name="BF16&#10;dense Linear">
            <a:extLst>
              <a:ext uri="{FF2B5EF4-FFF2-40B4-BE49-F238E27FC236}">
                <a16:creationId xmlns:a16="http://schemas.microsoft.com/office/drawing/2014/main" id="{5E457820-9E47-4D09-9B1B-FA42F7DDC095}"/>
              </a:ext>
            </a:extLst>
          </p:cNvPr>
          <p:cNvSpPr>
            <a:spLocks noGrp="1"/>
          </p:cNvSpPr>
          <p:nvPr/>
        </p:nvSpPr>
        <p:spPr>
          <a:xfrm>
            <a:off x="6705600" y="1362075"/>
            <a:ext cx="1762125" cy="628650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dense Linear</a:t>
            </a:r>
          </a:p>
        </p:txBody>
      </p:sp>
      <p:cxnSp>
        <p:nvCxnSpPr>
          <p:cNvPr id="11" name="diagram connector">
            <a:extLst>
              <a:ext uri="{FF2B5EF4-FFF2-40B4-BE49-F238E27FC236}">
                <a16:creationId xmlns:a16="http://schemas.microsoft.com/office/drawing/2014/main" id="{4A9E33DA-C3FA-4372-8692-6E116B2CB6B7}"/>
              </a:ext>
            </a:extLst>
          </p:cNvPr>
          <p:cNvCxnSpPr/>
          <p:nvPr/>
        </p:nvCxnSpPr>
        <p:spPr>
          <a:xfrm>
            <a:off x="1181100" y="1676400"/>
            <a:ext cx="27622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2" name="diagram connector">
            <a:extLst>
              <a:ext uri="{FF2B5EF4-FFF2-40B4-BE49-F238E27FC236}">
                <a16:creationId xmlns:a16="http://schemas.microsoft.com/office/drawing/2014/main" id="{B69A8E64-27F5-49C6-8E88-F19E42A4E0D1}"/>
              </a:ext>
            </a:extLst>
          </p:cNvPr>
          <p:cNvCxnSpPr/>
          <p:nvPr/>
        </p:nvCxnSpPr>
        <p:spPr>
          <a:xfrm>
            <a:off x="2943225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3" name="diagram connector">
            <a:extLst>
              <a:ext uri="{FF2B5EF4-FFF2-40B4-BE49-F238E27FC236}">
                <a16:creationId xmlns:a16="http://schemas.microsoft.com/office/drawing/2014/main" id="{22194B51-F90F-41CD-9227-B38D0B7F3332}"/>
              </a:ext>
            </a:extLst>
          </p:cNvPr>
          <p:cNvCxnSpPr/>
          <p:nvPr/>
        </p:nvCxnSpPr>
        <p:spPr>
          <a:xfrm>
            <a:off x="4229100" y="1676400"/>
            <a:ext cx="2857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4" name="diagram connector">
            <a:extLst>
              <a:ext uri="{FF2B5EF4-FFF2-40B4-BE49-F238E27FC236}">
                <a16:creationId xmlns:a16="http://schemas.microsoft.com/office/drawing/2014/main" id="{CDF26E95-FD46-4CEA-A3DE-D965C093F119}"/>
              </a:ext>
            </a:extLst>
          </p:cNvPr>
          <p:cNvCxnSpPr/>
          <p:nvPr/>
        </p:nvCxnSpPr>
        <p:spPr>
          <a:xfrm>
            <a:off x="6076950" y="1676400"/>
            <a:ext cx="628650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5" name="z">
            <a:extLst>
              <a:ext uri="{FF2B5EF4-FFF2-40B4-BE49-F238E27FC236}">
                <a16:creationId xmlns:a16="http://schemas.microsoft.com/office/drawing/2014/main" id="{9BD514D8-20D8-465D-BA81-D53D7AAB3C20}"/>
              </a:ext>
            </a:extLst>
          </p:cNvPr>
          <p:cNvSpPr>
            <a:spLocks noGrp="1"/>
          </p:cNvSpPr>
          <p:nvPr/>
        </p:nvSpPr>
        <p:spPr>
          <a:xfrm>
            <a:off x="2971800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6" name="v">
            <a:extLst>
              <a:ext uri="{FF2B5EF4-FFF2-40B4-BE49-F238E27FC236}">
                <a16:creationId xmlns:a16="http://schemas.microsoft.com/office/drawing/2014/main" id="{7962F1A7-04E5-40F0-8CE2-83393796F439}"/>
              </a:ext>
            </a:extLst>
          </p:cNvPr>
          <p:cNvSpPr>
            <a:spLocks noGrp="1"/>
          </p:cNvSpPr>
          <p:nvPr/>
        </p:nvSpPr>
        <p:spPr>
          <a:xfrm>
            <a:off x="4257675" y="14382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7" name="Weight path">
            <a:extLst>
              <a:ext uri="{FF2B5EF4-FFF2-40B4-BE49-F238E27FC236}">
                <a16:creationId xmlns:a16="http://schemas.microsoft.com/office/drawing/2014/main" id="{7B24C0BA-7322-4018-9EF4-85C0CCD5E170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Weight path</a:t>
            </a:r>
          </a:p>
        </p:txBody>
      </p:sp>
      <p:sp>
        <p:nvSpPr>
          <p:cNvPr id="18" name="Frozen VQ&#10;representation">
            <a:extLst>
              <a:ext uri="{FF2B5EF4-FFF2-40B4-BE49-F238E27FC236}">
                <a16:creationId xmlns:a16="http://schemas.microsoft.com/office/drawing/2014/main" id="{90F95EBD-A2CA-44E0-82B9-CD5A11177E7C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2000250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VQ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9" name="Decode Wq">
            <a:extLst>
              <a:ext uri="{FF2B5EF4-FFF2-40B4-BE49-F238E27FC236}">
                <a16:creationId xmlns:a16="http://schemas.microsoft.com/office/drawing/2014/main" id="{121BF9DC-689C-42E5-A34A-E8E672A2B274}"/>
              </a:ext>
            </a:extLst>
          </p:cNvPr>
          <p:cNvSpPr>
            <a:spLocks noGrp="1"/>
          </p:cNvSpPr>
          <p:nvPr/>
        </p:nvSpPr>
        <p:spPr>
          <a:xfrm>
            <a:off x="2981325" y="2828925"/>
            <a:ext cx="1552575" cy="5810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Decode Wq</a:t>
            </a:r>
          </a:p>
        </p:txBody>
      </p:sp>
      <p:sp>
        <p:nvSpPr>
          <p:cNvPr id="20" name="BF16(Wq · D)&#10;cache once">
            <a:extLst>
              <a:ext uri="{FF2B5EF4-FFF2-40B4-BE49-F238E27FC236}">
                <a16:creationId xmlns:a16="http://schemas.microsoft.com/office/drawing/2014/main" id="{603A0E03-341A-42CD-A768-0BC2A3BB3561}"/>
              </a:ext>
            </a:extLst>
          </p:cNvPr>
          <p:cNvSpPr>
            <a:spLocks noGrp="1"/>
          </p:cNvSpPr>
          <p:nvPr/>
        </p:nvSpPr>
        <p:spPr>
          <a:xfrm>
            <a:off x="4905375" y="2828925"/>
            <a:ext cx="1762125" cy="581025"/>
          </a:xfrm>
          <a:prstGeom prst="rect">
            <a:avLst/>
          </a:prstGeom>
          <a:solidFill>
            <a:srgbClr val="F1F5FA"/>
          </a:solidFill>
          <a:ln w="11430">
            <a:solidFill>
              <a:srgbClr val="93A9C2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BF16(Wq · D)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cache once</a:t>
            </a:r>
          </a:p>
        </p:txBody>
      </p:sp>
      <p:cxnSp>
        <p:nvCxnSpPr>
          <p:cNvPr id="21" name="diagram connector">
            <a:extLst>
              <a:ext uri="{FF2B5EF4-FFF2-40B4-BE49-F238E27FC236}">
                <a16:creationId xmlns:a16="http://schemas.microsoft.com/office/drawing/2014/main" id="{3B3D22C0-760D-4B8E-9FB7-270B7B03B513}"/>
              </a:ext>
            </a:extLst>
          </p:cNvPr>
          <p:cNvCxnSpPr/>
          <p:nvPr/>
        </p:nvCxnSpPr>
        <p:spPr>
          <a:xfrm>
            <a:off x="260985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>
              <a:ext uri="{FF2B5EF4-FFF2-40B4-BE49-F238E27FC236}">
                <a16:creationId xmlns:a16="http://schemas.microsoft.com/office/drawing/2014/main" id="{ECC681EA-701F-496A-9562-EED32CD45225}"/>
              </a:ext>
            </a:extLst>
          </p:cNvPr>
          <p:cNvCxnSpPr/>
          <p:nvPr/>
        </p:nvCxnSpPr>
        <p:spPr>
          <a:xfrm>
            <a:off x="4533900" y="3124200"/>
            <a:ext cx="3714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>
              <a:ext uri="{FF2B5EF4-FFF2-40B4-BE49-F238E27FC236}">
                <a16:creationId xmlns:a16="http://schemas.microsoft.com/office/drawing/2014/main" id="{D8AC73C7-EA19-4F6F-A86B-0D8CC66B713F}"/>
              </a:ext>
            </a:extLst>
          </p:cNvPr>
          <p:cNvCxnSpPr/>
          <p:nvPr/>
        </p:nvCxnSpPr>
        <p:spPr>
          <a:xfrm>
            <a:off x="6667500" y="3124200"/>
            <a:ext cx="9048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>
              <a:ext uri="{FF2B5EF4-FFF2-40B4-BE49-F238E27FC236}">
                <a16:creationId xmlns:a16="http://schemas.microsoft.com/office/drawing/2014/main" id="{13A16DCA-4B83-4F72-9B6C-AEE7D293E91A}"/>
              </a:ext>
            </a:extLst>
          </p:cNvPr>
          <p:cNvCxnSpPr/>
          <p:nvPr/>
        </p:nvCxnSpPr>
        <p:spPr>
          <a:xfrm flipV="1">
            <a:off x="7572375" y="1990725"/>
            <a:ext cx="0" cy="1133475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25" name="s_t = r_l · max |v_t| / 7">
            <a:extLst>
              <a:ext uri="{FF2B5EF4-FFF2-40B4-BE49-F238E27FC236}">
                <a16:creationId xmlns:a16="http://schemas.microsoft.com/office/drawing/2014/main" id="{E90397C9-C31F-4D6F-93F3-8860EC630E6F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s_t = r_l · max |v_t| / 7</a:t>
            </a:r>
          </a:p>
        </p:txBody>
      </p:sp>
      <p:sp>
        <p:nvSpPr>
          <p:cNvPr id="26" name="q = clamp(round(v / s_t), −7, 7)">
            <a:extLst>
              <a:ext uri="{FF2B5EF4-FFF2-40B4-BE49-F238E27FC236}">
                <a16:creationId xmlns:a16="http://schemas.microsoft.com/office/drawing/2014/main" id="{5B1AB267-73BC-4315-9351-7F47194DBFEE}"/>
              </a:ext>
            </a:extLst>
          </p:cNvPr>
          <p:cNvSpPr>
            <a:spLocks noGrp="1"/>
          </p:cNvSpPr>
          <p:nvPr/>
        </p:nvSpPr>
        <p:spPr>
          <a:xfrm>
            <a:off x="4524375" y="3790950"/>
            <a:ext cx="4010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q = clamp(round(v / s_t), −7, 7)</a:t>
            </a:r>
          </a:p>
        </p:txBody>
      </p:sp>
      <p:sp>
        <p:nvSpPr>
          <p:cNvPr id="27" name="Learn D per channel + r_l per Linear on C80; keep VQ we">
            <a:extLst>
              <a:ext uri="{FF2B5EF4-FFF2-40B4-BE49-F238E27FC236}">
                <a16:creationId xmlns:a16="http://schemas.microsoft.com/office/drawing/2014/main" id="{52B49B88-4332-45FB-B73A-2427CCCDD46C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Learn D per channel + r_l per Linear on C80; keep VQ weights fixed. BF16 KV; native VQ kernel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LIBERO+ local baselines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5">
            <a:extLst>
              <a:ext uri="{FF2B5EF4-FFF2-40B4-BE49-F238E27FC236}">
                <ns2:creationId id="{8FF2626E-B834-4843-92F8-96499DAA199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Frozen paired cohort: 4 suites × 7 perturbations × 10 v">
            <a:extLst>
              <a:ext uri="{FF2B5EF4-FFF2-40B4-BE49-F238E27FC236}">
                <ns2:creationId id="{670D6530-E84C-438E-9E68-8968D9AD51D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7924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paired cohort: 4 suites × 7 perturbations × 10 variants = 280 episodes /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DDC3A00E-CF8B-46BA-9993-62C11D5A9140}"/>
              </a:ext>
            </a:extLst>
          </p:cNvPr>
          <p:cNvGraphicFramePr/>
          <p:nvPr/>
        </p:nvGraphicFramePr>
        <p:xfrm>
          <a:off x="609600" y="1352550"/>
          <a:ext cx="7924800" cy="27437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195 (69.64%)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Smooth + H128 Scalar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200 (71.43%)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Row-scale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dirty="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4.02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 dirty="0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</a:tbl>
          </a:graphicData>
        </a:graphic>
      </p:graphicFrame>
      <p:sp>
        <p:nvSpPr>
          <p:cNvPr id="7" name="Microscaling VQ: 204/280 vs local SpinQuant 203/280">
            <a:extLst>
              <a:ext uri="{FF2B5EF4-FFF2-40B4-BE49-F238E27FC236}">
                <ns2:creationId id="{DEEAAEF1-56E9-4219-87E7-0AF037F9B694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7924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Microscaling VQ: 204/280 vs local SpinQuant 203/280</a:t>
            </a:r>
          </a:p>
        </p:txBody>
      </p:sp>
      <p:sp>
        <p:nvSpPr>
          <p:cNvPr id="8" name="Overall denominator: 280; suite cells: /70. Low-bit arm">
            <a:extLst>
              <a:ext uri="{FF2B5EF4-FFF2-40B4-BE49-F238E27FC236}">
                <ns2:creationId id="{1D3A956E-4519-4AB1-B8DE-65BE1BCA6A8D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 denominator: 280; suite cells: /70. Low-bit arms: W4A4. † bpw estimates exclude rotation/tail overhead.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supervision and refinement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6">
            <a:extLst>
              <a:ext uri="{FF2B5EF4-FFF2-40B4-BE49-F238E27FC236}">
                <ns2:creationId id="{F97E9971-8CB9-4E18-A99A-DC1748396EA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+Z: action+latent · C8 weight calibration / C80 activa">
            <a:extLst>
              <a:ext uri="{FF2B5EF4-FFF2-40B4-BE49-F238E27FC236}">
                <ns2:creationId id="{2090CFD7-1982-44B9-97A0-E2B60C218DD9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A+Z: action+latent · C8 weight calibration / C80 activation refinement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045FB2FE-E83B-4E83-87D2-D353EA6C6DF7}"/>
              </a:ext>
            </a:extLst>
          </p:cNvPr>
          <p:cNvGraphicFramePr/>
          <p:nvPr/>
        </p:nvGraphicFramePr>
        <p:xfrm>
          <a:off x="609600" y="1276350"/>
          <a:ext cx="7924800" cy="3007046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ρ0.1 · 2 epochs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201 (71.79%)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ρ1.5 · 1 epoch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 (73.57%)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C80 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207 (73.93%)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joint VQ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channel scales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</a:tbl>
          </a:graphicData>
        </a:graphic>
      </p:graphicFrame>
      <p:sp>
        <p:nvSpPr>
          <p:cNvPr id="7" name="Best completed low-bit result here: clip-only 207/280 (">
            <a:extLst>
              <a:ext uri="{FF2B5EF4-FFF2-40B4-BE49-F238E27FC236}">
                <ns2:creationId id="{5D0AB6E1-7573-4C49-9FF5-75551C005485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Best completed low-bit result here: clip-only 207/280 (73.93%)</a:t>
            </a:r>
          </a:p>
        </p:txBody>
      </p:sp>
      <p:sp>
        <p:nvSpPr>
          <p:cNvPr id="8" name="Overall: /280; suite: /70. Target-weight bpw includes m">
            <a:extLst>
              <a:ext uri="{FF2B5EF4-FFF2-40B4-BE49-F238E27FC236}">
                <ns2:creationId id="{E20005B5-4A10-4ABD-A3EB-DFD7DA82DE73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Target-weight bpw includes metadata; VQ uses decoded BF16 + fake A4.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 Policy: LIBERO+ transfer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7">
            <a:extLst>
              <a:ext uri="{FF2B5EF4-FFF2-40B4-BE49-F238E27FC236}">
                <ns2:creationId id="{BF23D87F-8729-46D6-857A-9737977CC8AF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Direct policy · C8 calibration · same 280 paired varian">
            <a:extLst>
              <a:ext uri="{FF2B5EF4-FFF2-40B4-BE49-F238E27FC236}">
                <ns2:creationId id="{3FD9FEC3-13F8-4791-B5C5-04B89C38583E}"/>
              </a:ext>
            </a:extLst>
          </p:cNvPr>
          <p:cNvSpPr>
            <a:spLocks noGrp="1"/>
          </p:cNvSpPr>
          <p:nvPr/>
        </p:nvSpPr>
        <p:spPr>
          <a:xfrm>
            <a:off x="609600" y="809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Direct policy · C8 calibration · same 280 paired variants per arm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2289CF9A-BBC1-4EC0-80F0-EDE77016FB08}"/>
              </a:ext>
            </a:extLst>
          </p:cNvPr>
          <p:cNvGraphicFramePr/>
          <p:nvPr/>
        </p:nvGraphicFramePr>
        <p:xfrm>
          <a:off x="609600" y="1333500"/>
          <a:ext cx="7924800" cy="1835469"/>
        </p:xfrm>
        <a:graphic>
          <a:graphicData uri="http://schemas.openxmlformats.org/drawingml/2006/table">
            <a:tbl>
              <a:tblPr/>
              <a:tblGrid>
                <a:gridCol w="2343150">
                  <a:extLst>
                    <a:ext uri="{9D8B030D-6E8A-4147-A177-3AD203B41FA5}">
                      <ns2:colId val="20000"/>
                    </a:ext>
                  </a:extLst>
                </a:gridCol>
                <a:gridCol w="723900">
                  <a:extLst>
                    <a:ext uri="{9D8B030D-6E8A-4147-A177-3AD203B41FA5}">
                      <ns2:colId val="20001"/>
                    </a:ext>
                  </a:extLst>
                </a:gridCol>
                <a:gridCol w="809625">
                  <a:extLst>
                    <a:ext uri="{9D8B030D-6E8A-4147-A177-3AD203B41FA5}">
                      <ns2:colId val="20002"/>
                    </a:ext>
                  </a:extLst>
                </a:gridCol>
                <a:gridCol w="809625">
                  <a:extLst>
                    <a:ext uri="{9D8B030D-6E8A-4147-A177-3AD203B41FA5}">
                      <ns2:colId val="20003"/>
                    </a:ext>
                  </a:extLst>
                </a:gridCol>
                <a:gridCol w="809625">
                  <a:extLst>
                    <a:ext uri="{9D8B030D-6E8A-4147-A177-3AD203B41FA5}">
                      <ns2:colId val="20004"/>
                    </a:ext>
                  </a:extLst>
                </a:gridCol>
                <a:gridCol w="809625">
                  <a:extLst>
                    <a:ext uri="{9D8B030D-6E8A-4147-A177-3AD203B41FA5}">
                      <ns2:colId val="20005"/>
                    </a:ext>
                  </a:extLst>
                </a:gridCol>
                <a:gridCol w="1619250">
                  <a:extLst>
                    <a:ext uri="{9D8B030D-6E8A-4147-A177-3AD203B41FA5}">
                      <ns2:colId val="20006"/>
                    </a:ext>
                  </a:extLst>
                </a:gridCol>
              </a:tblGrid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233 (83.21%)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 W4A4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221 (78.93%)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 Micro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226 (80.71%)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7" name="+5 successes vs SpinQuant; −7 vs BF16">
            <a:extLst>
              <a:ext uri="{FF2B5EF4-FFF2-40B4-BE49-F238E27FC236}">
                <ns2:creationId id="{D924FAD7-33A8-4EC8-859B-CC3AC0EF4225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+5 successes vs </a:t>
            </a:r>
            <a:r>
              <a:rPr sz="1950" b="1" dirty="0" err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9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; −7 vs BF16</a:t>
            </a:r>
          </a:p>
        </p:txBody>
      </p:sp>
      <p:sp>
        <p:nvSpPr>
          <p:cNvPr id="8" name="VQ uses 3.92% more target-weight bits than SpinQuant.&#10;W">
            <a:extLst>
              <a:ext uri="{FF2B5EF4-FFF2-40B4-BE49-F238E27FC236}">
                <ns2:creationId id="{5551FDCF-00DE-44BF-B6A8-44F652783FA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7924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uses 3.92% more target-weight bits than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SpinQuant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Whole-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DiT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bpw</a:t>
            </a:r>
            <a:r>
              <a:rPr sz="1575" b="0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: 5.45 vs 5.31; transferability of the current recipe is demonstrated.</a:t>
            </a:r>
          </a:p>
        </p:txBody>
      </p:sp>
      <p:sp>
        <p:nvSpPr>
          <p:cNvPr id="9" name="Overall: /280; suite: /70. bpw covers target weights. D">
            <a:extLst>
              <a:ext uri="{FF2B5EF4-FFF2-40B4-BE49-F238E27FC236}">
                <ns2:creationId id="{359A938C-0F83-48C2-8E74-F6CD607564DF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bpw covers target weights. Decoded BF16 / fake A4; native speedup remains untested.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Does protecting the future help downstream actions?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8">
            <a:extLst>
              <a:ext uri="{FF2B5EF4-FFF2-40B4-BE49-F238E27FC236}">
                <ns2:creationId id="{7884B4B0-1758-4E36-B0F5-8F54374BB9F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Future donor&#10;Parent / action-only / +latent">
            <a:extLst>
              <a:ext uri="{FF2B5EF4-FFF2-40B4-BE49-F238E27FC236}">
                <ns2:creationId id="{F9B97089-A337-4A08-A9E6-E0A63C49032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3028950" cy="695325"/>
          </a:xfrm>
          <a:prstGeom prst="rect">
            <a:avLst/>
          </a:prstGeom>
          <a:solidFill>
            <a:srgbClr val="FFF2D6"/>
          </a:solidFill>
          <a:ln w="11430">
            <a:solidFill>
              <a:srgbClr val="D9B466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Future donor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Parent / action-only / +latent</a:t>
            </a:r>
          </a:p>
        </p:txBody>
      </p:sp>
      <p:sp>
        <p:nvSpPr>
          <p:cNvPr id="6" name="Fixed BF16 reader&#10;video K/V → Action DiT">
            <a:extLst>
              <a:ext uri="{FF2B5EF4-FFF2-40B4-BE49-F238E27FC236}">
                <ns2:creationId id="{6FB435E4-819F-4D88-B27F-8C1F3B0ACDE5}"/>
              </a:ext>
            </a:extLst>
          </p:cNvPr>
          <p:cNvSpPr>
            <a:spLocks noGrp="1"/>
          </p:cNvSpPr>
          <p:nvPr/>
        </p:nvSpPr>
        <p:spPr>
          <a:xfrm>
            <a:off x="4276725" y="971550"/>
            <a:ext cx="3028950" cy="695325"/>
          </a:xfrm>
          <a:prstGeom prst="rect">
            <a:avLst/>
          </a:prstGeom>
          <a:solidFill>
            <a:srgbClr val="E8F1FC"/>
          </a:solidFill>
          <a:ln w="11430">
            <a:solidFill>
              <a:srgbClr val="7EACDC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Fixed BF16 reader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K/V → Action DiT</a:t>
            </a:r>
          </a:p>
        </p:txBody>
      </p:sp>
      <p:cxnSp>
        <p:nvCxnSpPr>
          <p:cNvPr id="7" name="diagram connector">
            <a:extLst>
              <a:ext uri="{FF2B5EF4-FFF2-40B4-BE49-F238E27FC236}">
                <ns2:creationId id="{CB7059DB-E522-4E50-A0A3-67E6F625C6DD}"/>
              </a:ext>
            </a:extLst>
          </p:cNvPr>
          <p:cNvCxnSpPr/>
          <p:nvPr/>
        </p:nvCxnSpPr>
        <p:spPr>
          <a:xfrm>
            <a:off x="3638550" y="1323975"/>
            <a:ext cx="6381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8" name="diagram connector">
            <a:extLst>
              <a:ext uri="{FF2B5EF4-FFF2-40B4-BE49-F238E27FC236}">
                <ns2:creationId id="{EE924E2E-0E85-4B2D-AD35-D3DB71759F0A}"/>
              </a:ext>
            </a:extLst>
          </p:cNvPr>
          <p:cNvCxnSpPr/>
          <p:nvPr/>
        </p:nvCxnSpPr>
        <p:spPr>
          <a:xfrm>
            <a:off x="7305675" y="1323975"/>
            <a:ext cx="485775" cy="0"/>
          </a:xfrm>
          <a:prstGeom prst="straightConnector1">
            <a:avLst/>
          </a:prstGeom>
          <a:ln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9" name="a">
            <a:extLst>
              <a:ext uri="{FF2B5EF4-FFF2-40B4-BE49-F238E27FC236}">
                <ns2:creationId id="{F73FBE39-AA9D-4862-81F0-B5FF7E8084DE}"/>
              </a:ext>
            </a:extLst>
          </p:cNvPr>
          <p:cNvSpPr>
            <a:spLocks noGrp="1"/>
          </p:cNvSpPr>
          <p:nvPr/>
        </p:nvSpPr>
        <p:spPr>
          <a:xfrm>
            <a:off x="7791450" y="1057275"/>
            <a:ext cx="666750" cy="52387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ns2:creationId id="{61BD3457-06AE-4476-80DB-6E89D658BA66}"/>
              </a:ext>
            </a:extLst>
          </p:cNvPr>
          <p:cNvGraphicFramePr/>
          <p:nvPr/>
        </p:nvGraphicFramePr>
        <p:xfrm>
          <a:off x="609600" y="2009775"/>
          <a:ext cx="7924800" cy="1695452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2571750">
                  <a:extLst>
                    <a:ext uri="{9D8B030D-6E8A-4147-A177-3AD203B41FA5}">
                      <ns2:colId val="20001"/>
                    </a:ext>
                  </a:extLst>
                </a:gridCol>
                <a:gridCol w="24003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First-10 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Vs action-only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Parent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0.036145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−12.36%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−14.93%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11" name="Protecting future latents improves mean downstream moto">
            <a:extLst>
              <a:ext uri="{FF2B5EF4-FFF2-40B4-BE49-F238E27FC236}">
                <ns2:creationId id="{5EDAC540-6F62-4A82-8B73-B5FE086E2FD1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Protecting future latents improves mean downstream motor fidelity</a:t>
            </a:r>
          </a:p>
        </p:txBody>
      </p:sp>
      <p:sp>
        <p:nvSpPr>
          <p:cNvPr id="12" name="Earlier row-scale VQ family: 22 cases × 2 seeds; 13/22 ">
            <a:extLst>
              <a:ext uri="{FF2B5EF4-FFF2-40B4-BE49-F238E27FC236}">
                <ns2:creationId id="{1FF4ECC2-F372-43AD-A818-124E15B3BA9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Earlier row-scale VQ family: 22 cases × 2 seeds; 13/22 improve. Fixed-input teacher fidelity; no closed-loop claim.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Future protection across readers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9">
            <a:extLst>
              <a:ext uri="{FF2B5EF4-FFF2-40B4-BE49-F238E27FC236}">
                <ns2:creationId id="{37328851-47E3-4E70-915E-C62CC3220821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he mean gain transfers across readers">
            <a:extLst>
              <a:ext uri="{FF2B5EF4-FFF2-40B4-BE49-F238E27FC236}">
                <ns2:creationId id="{F8C8A040-475B-4974-8FD5-DCF7A592C92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mean gain transfers across readers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8B3C8D2E-3244-4E64-8660-7F94C9F3BBBD}"/>
              </a:ext>
            </a:extLst>
          </p:cNvPr>
          <p:cNvGraphicFramePr/>
          <p:nvPr/>
        </p:nvGraphicFramePr>
        <p:xfrm>
          <a:off x="609600" y="1333500"/>
          <a:ext cx="7924800" cy="11811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ns2:colId val="20000"/>
                    </a:ext>
                  </a:extLst>
                </a:gridCol>
                <a:gridCol w="2343150">
                  <a:extLst>
                    <a:ext uri="{9D8B030D-6E8A-4147-A177-3AD203B41FA5}">
                      <ns2:colId val="20001"/>
                    </a:ext>
                  </a:extLst>
                </a:gridCol>
                <a:gridCol w="234315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student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A-only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A+latent future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0.058110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0.053481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0.058677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0.052951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</a:tbl>
          </a:graphicData>
        </a:graphic>
      </p:graphicFrame>
      <p:sp>
        <p:nvSpPr>
          <p:cNvPr id="7" name="Most of the gain can be reproduced by reducing future e">
            <a:extLst>
              <a:ext uri="{FF2B5EF4-FFF2-40B4-BE49-F238E27FC236}">
                <ns2:creationId id="{4FE23CBF-8C0C-4F1A-B029-912576AC128B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Most of the gain can be reproduced by reducing future error energy</a:t>
            </a:r>
          </a:p>
        </p:txBody>
      </p:sp>
      <p:graphicFrame>
        <p:nvGraphicFramePr>
          <p:cNvPr id="8" name="表格 7">
            <a:extLst>
              <a:ext uri="{FF2B5EF4-FFF2-40B4-BE49-F238E27FC236}">
                <ns2:creationId id="{3EF8CB40-0318-4AE1-9C95-F63720886A99}"/>
              </a:ext>
            </a:extLst>
          </p:cNvPr>
          <p:cNvGraphicFramePr/>
          <p:nvPr/>
        </p:nvGraphicFramePr>
        <p:xfrm>
          <a:off x="609600" y="3181350"/>
          <a:ext cx="7924800" cy="1304924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ns2:colId val="20000"/>
                    </a:ext>
                  </a:extLst>
                </a:gridCol>
                <a:gridCol w="2057400">
                  <a:extLst>
                    <a:ext uri="{9D8B030D-6E8A-4147-A177-3AD203B41FA5}">
                      <ns2:colId val="20001"/>
                    </a:ext>
                  </a:extLst>
                </a:gridCol>
                <a:gridCol w="20574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 · fixed BF16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A: 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0.093011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C: A, NMSE matched to B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0.071786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0.036074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B: 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0.071787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9" name="B vs C improves 11/22 cases; no robust extra benefit at">
            <a:extLst>
              <a:ext uri="{FF2B5EF4-FFF2-40B4-BE49-F238E27FC236}">
                <ns2:creationId id="{D004A614-A6C7-4815-A0A2-FAE1B2C914B6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 vs C improves 11/22 cases; no robust extra benefit at matched NMSE. This supports latent fidelity, not a unique mechanism.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MSE fidelity and closed-loop success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0">
            <a:extLst>
              <a:ext uri="{FF2B5EF4-FFF2-40B4-BE49-F238E27FC236}">
                <ns2:creationId id="{350992AB-5D5D-4644-B5B3-F4BA68EA356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Original objective:  L = MSE_action + ρc · NMSE_future">
            <a:extLst>
              <a:ext uri="{FF2B5EF4-FFF2-40B4-BE49-F238E27FC236}">
                <ns2:creationId id="{D751AF47-60DE-4E26-B4E2-AA672542BA30}"/>
              </a:ext>
            </a:extLst>
          </p:cNvPr>
          <p:cNvSpPr>
            <a:spLocks noGrp="1"/>
          </p:cNvSpPr>
          <p:nvPr/>
        </p:nvSpPr>
        <p:spPr>
          <a:xfrm>
            <a:off x="609600" y="828675"/>
            <a:ext cx="7924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Original objective:  L = MSE_action + ρc · NMSE_future</a:t>
            </a:r>
          </a:p>
        </p:txBody>
      </p:sp>
      <p:sp>
        <p:nvSpPr>
          <p:cNvPr id="6" name="c is frozen from initial calibration loss values; ρ = 1">
            <a:extLst>
              <a:ext uri="{FF2B5EF4-FFF2-40B4-BE49-F238E27FC236}">
                <ns2:creationId id="{0B9524AA-DB39-4CC7-AE02-935EF4CFE690}"/>
              </a:ext>
            </a:extLst>
          </p:cNvPr>
          <p:cNvSpPr>
            <a:spLocks noGrp="1"/>
          </p:cNvSpPr>
          <p:nvPr/>
        </p:nvSpPr>
        <p:spPr>
          <a:xfrm>
            <a:off x="609600" y="1247775"/>
            <a:ext cx="7924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 is frozen from initial calibration loss values; ρ = 1.5</a:t>
            </a:r>
          </a:p>
        </p:txBody>
      </p:sp>
      <p:graphicFrame>
        <p:nvGraphicFramePr>
          <p:cNvPr id="7" name="表格 6">
            <a:extLst>
              <a:ext uri="{FF2B5EF4-FFF2-40B4-BE49-F238E27FC236}">
                <ns2:creationId id="{93F79D55-57AB-4DB5-9CF3-C8C7EED93531}"/>
              </a:ext>
            </a:extLst>
          </p:cNvPr>
          <p:cNvGraphicFramePr/>
          <p:nvPr/>
        </p:nvGraphicFramePr>
        <p:xfrm>
          <a:off x="609600" y="1857375"/>
          <a:ext cx="7924800" cy="1846899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ns2:colId val="20000"/>
                    </a:ext>
                  </a:extLst>
                </a:gridCol>
                <a:gridCol w="1524000">
                  <a:extLst>
                    <a:ext uri="{9D8B030D-6E8A-4147-A177-3AD203B41FA5}">
                      <ns2:colId val="20001"/>
                    </a:ext>
                  </a:extLst>
                </a:gridCol>
                <a:gridCol w="1581150">
                  <a:extLst>
                    <a:ext uri="{9D8B030D-6E8A-4147-A177-3AD203B41FA5}">
                      <ns2:colId val="20002"/>
                    </a:ext>
                  </a:extLst>
                </a:gridCol>
                <a:gridCol w="1962150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C80 refinement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LIBERO+ success ↑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 · 73.93%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 · 72.14%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 · 72.50%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8" name="−27.84% motor RMSE, but −4 closed-loop successes vs cli">
            <a:extLst>
              <a:ext uri="{FF2B5EF4-FFF2-40B4-BE49-F238E27FC236}">
                <ns2:creationId id="{D7B7B3B3-7EA6-4088-A6E5-75F1A0B1C27A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−27.84% motor RMSE, but −4 closed-loop successes vs clip-only</a:t>
            </a:r>
          </a:p>
        </p:txBody>
      </p:sp>
      <p:sp>
        <p:nvSpPr>
          <p:cNvPr id="9" name="Motivation: preserve the structure of action sequences ">
            <a:extLst>
              <a:ext uri="{FF2B5EF4-FFF2-40B4-BE49-F238E27FC236}">
                <ns2:creationId id="{F5F1C212-E5F1-4345-84D8-ACB1E0D1405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Motivation: preserve the structure of action sequences and future latents,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then test whether the objective better tracks rollout failures.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47" name="diagram block">
            <a:extLst>
              <a:ext uri="{FF2B5EF4-FFF2-40B4-BE49-F238E27FC236}">
                <ns2:creationId id="{349A8D94-8CB2-4814-82B8-F3FB1F511616}"/>
              </a:ext>
            </a:extLst>
          </p:cNvPr>
          <p:cNvSpPr>
            <a:spLocks noGrp="1"/>
          </p:cNvSpPr>
          <p:nvPr/>
        </p:nvSpPr>
        <p:spPr>
          <a:xfrm>
            <a:off x="288143" y="20645"/>
            <a:ext cx="2854184" cy="4113535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2" name="diagram block">
            <a:extLst>
              <a:ext uri="{FF2B5EF4-FFF2-40B4-BE49-F238E27FC236}">
                <ns2:creationId id="{FA912F81-3B47-436A-B51C-46A7FDD2FA74}"/>
              </a:ext>
            </a:extLst>
          </p:cNvPr>
          <p:cNvSpPr>
            <a:spLocks noGrp="1"/>
          </p:cNvSpPr>
          <p:nvPr/>
        </p:nvSpPr>
        <p:spPr>
          <a:xfrm>
            <a:off x="3183617" y="20645"/>
            <a:ext cx="2776765" cy="4113535"/>
          </a:xfrm>
          <a:prstGeom prst="roundRect">
            <a:avLst>
              <a:gd name="adj" fmla="val 130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3" name="diagram block">
            <a:extLst>
              <a:ext uri="{FF2B5EF4-FFF2-40B4-BE49-F238E27FC236}">
                <ns2:creationId id="{9A9A45F0-ED89-4BF5-A90D-D629EFCFC812}"/>
              </a:ext>
            </a:extLst>
          </p:cNvPr>
          <p:cNvSpPr>
            <a:spLocks noGrp="1"/>
          </p:cNvSpPr>
          <p:nvPr/>
        </p:nvSpPr>
        <p:spPr>
          <a:xfrm>
            <a:off x="6001673" y="20645"/>
            <a:ext cx="2864507" cy="4113535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6710">
            <a:solidFill>
              <a:srgbClr val="0B2B5C"/>
            </a:solidFill>
            <a:prstDash val="solid"/>
          </a:ln>
        </p:spPr>
      </p:sp>
      <p:sp>
        <p:nvSpPr>
          <p:cNvPr id="4" name="(a) Soft-bin: preserve absolute values">
            <a:extLst>
              <a:ext uri="{FF2B5EF4-FFF2-40B4-BE49-F238E27FC236}">
                <ns2:creationId id="{B2F88201-DAD1-429E-A701-069ED54AB2B3}"/>
              </a:ext>
            </a:extLst>
          </p:cNvPr>
          <p:cNvSpPr>
            <a:spLocks noGrp="1"/>
          </p:cNvSpPr>
          <p:nvPr/>
        </p:nvSpPr>
        <p:spPr>
          <a:xfrm>
            <a:off x="344917" y="77419"/>
            <a:ext cx="274063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(a) Soft-bin: preserve absolute values</a:t>
            </a:r>
          </a:p>
        </p:txBody>
      </p:sp>
      <p:sp>
        <p:nvSpPr>
          <p:cNvPr id="5" name="(b) Action: temporal relations">
            <a:extLst>
              <a:ext uri="{FF2B5EF4-FFF2-40B4-BE49-F238E27FC236}">
                <ns2:creationId id="{54832F9F-A632-43E6-AA3D-CDEB9E88BBBE}"/>
              </a:ext>
            </a:extLst>
          </p:cNvPr>
          <p:cNvSpPr>
            <a:spLocks noGrp="1"/>
          </p:cNvSpPr>
          <p:nvPr/>
        </p:nvSpPr>
        <p:spPr>
          <a:xfrm>
            <a:off x="3245553" y="77419"/>
            <a:ext cx="2658056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(b) Action: temporal relations</a:t>
            </a:r>
          </a:p>
        </p:txBody>
      </p:sp>
      <p:sp>
        <p:nvSpPr>
          <p:cNvPr id="6" name="(c) Latent: spatial + temporal relations">
            <a:extLst>
              <a:ext uri="{FF2B5EF4-FFF2-40B4-BE49-F238E27FC236}">
                <ns2:creationId id="{EC2203F2-5170-4E37-A927-2190A902A56F}"/>
              </a:ext>
            </a:extLst>
          </p:cNvPr>
          <p:cNvSpPr>
            <a:spLocks noGrp="1"/>
          </p:cNvSpPr>
          <p:nvPr/>
        </p:nvSpPr>
        <p:spPr>
          <a:xfrm>
            <a:off x="6073931" y="77419"/>
            <a:ext cx="2735475" cy="1806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097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(c) Latent: spatial + temporal relations</a:t>
            </a:r>
          </a:p>
        </p:txBody>
      </p:sp>
      <p:sp>
        <p:nvSpPr>
          <p:cNvPr id="7" name="diagram block">
            <a:extLst>
              <a:ext uri="{FF2B5EF4-FFF2-40B4-BE49-F238E27FC236}">
                <ns2:creationId id="{6D93530E-5242-4F70-A2FF-4817455A7E64}"/>
              </a:ext>
            </a:extLst>
          </p:cNvPr>
          <p:cNvSpPr>
            <a:spLocks noGrp="1"/>
          </p:cNvSpPr>
          <p:nvPr/>
        </p:nvSpPr>
        <p:spPr>
          <a:xfrm>
            <a:off x="355239" y="278709"/>
            <a:ext cx="2725153" cy="345805"/>
          </a:xfrm>
          <a:prstGeom prst="roundRect">
            <a:avLst>
              <a:gd name="adj" fmla="val 746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8" name="Per-scalar distribution: each value is mapped to a 16-bin&#10;probability distr">
            <a:extLst>
              <a:ext uri="{FF2B5EF4-FFF2-40B4-BE49-F238E27FC236}">
                <ns2:creationId id="{C5EDA124-F2D5-48BA-B97E-0776F430B704}"/>
              </a:ext>
            </a:extLst>
          </p:cNvPr>
          <p:cNvSpPr>
            <a:spLocks noGrp="1"/>
          </p:cNvSpPr>
          <p:nvPr/>
        </p:nvSpPr>
        <p:spPr>
          <a:xfrm>
            <a:off x="381046" y="304515"/>
            <a:ext cx="2673540" cy="29419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51"/>
          </a:bodyPr>
          <a:lstStyle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Per-scalar distribution: each value is mapped to a 16-bin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probability distribution using a Gaussian and shared teacher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normalization statistics.</a:t>
            </a:r>
          </a:p>
        </p:txBody>
      </p:sp>
      <p:sp>
        <p:nvSpPr>
          <p:cNvPr id="9" name="diagram block">
            <a:extLst>
              <a:ext uri="{FF2B5EF4-FFF2-40B4-BE49-F238E27FC236}">
                <ns2:creationId id="{A3AF566B-8CD7-4ED5-BA30-D01611379A09}"/>
              </a:ext>
            </a:extLst>
          </p:cNvPr>
          <p:cNvSpPr>
            <a:spLocks noGrp="1"/>
          </p:cNvSpPr>
          <p:nvPr/>
        </p:nvSpPr>
        <p:spPr>
          <a:xfrm>
            <a:off x="3255875" y="278709"/>
            <a:ext cx="2632250" cy="314838"/>
          </a:xfrm>
          <a:prstGeom prst="roundRect">
            <a:avLst>
              <a:gd name="adj" fmla="val 819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10" name="Match neighbor distributions over 3-step action windows&#10;to preserve tempora">
            <a:extLst>
              <a:ext uri="{FF2B5EF4-FFF2-40B4-BE49-F238E27FC236}">
                <ns2:creationId id="{6D3BEE07-9294-4180-99DE-F0D10163FFF0}"/>
              </a:ext>
            </a:extLst>
          </p:cNvPr>
          <p:cNvSpPr>
            <a:spLocks noGrp="1"/>
          </p:cNvSpPr>
          <p:nvPr/>
        </p:nvSpPr>
        <p:spPr>
          <a:xfrm>
            <a:off x="3281682" y="304515"/>
            <a:ext cx="2580637" cy="26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Match neighbor distributions over 3-step action windows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to preserve temporal structure in the action sequence.</a:t>
            </a:r>
          </a:p>
        </p:txBody>
      </p:sp>
      <p:sp>
        <p:nvSpPr>
          <p:cNvPr id="11" name="diagram block">
            <a:extLst>
              <a:ext uri="{FF2B5EF4-FFF2-40B4-BE49-F238E27FC236}">
                <ns2:creationId id="{E49BCE16-EADE-4E52-B927-9627CA6E5F4B}"/>
              </a:ext>
            </a:extLst>
          </p:cNvPr>
          <p:cNvSpPr>
            <a:spLocks noGrp="1"/>
          </p:cNvSpPr>
          <p:nvPr/>
        </p:nvSpPr>
        <p:spPr>
          <a:xfrm>
            <a:off x="6073931" y="278709"/>
            <a:ext cx="2725153" cy="309676"/>
          </a:xfrm>
          <a:prstGeom prst="roundRect">
            <a:avLst>
              <a:gd name="adj" fmla="val 8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0E0FC"/>
            </a:solidFill>
            <a:prstDash val="solid"/>
          </a:ln>
        </p:spPr>
      </p:sp>
      <p:sp>
        <p:nvSpPr>
          <p:cNvPr id="12" name="Match neighbor distributions over spatial and temporal neighbors&#10;in the lat">
            <a:extLst>
              <a:ext uri="{FF2B5EF4-FFF2-40B4-BE49-F238E27FC236}">
                <ns2:creationId id="{03D742C5-3011-4E80-A402-81F3A14DACA9}"/>
              </a:ext>
            </a:extLst>
          </p:cNvPr>
          <p:cNvSpPr>
            <a:spLocks noGrp="1"/>
          </p:cNvSpPr>
          <p:nvPr/>
        </p:nvSpPr>
        <p:spPr>
          <a:xfrm>
            <a:off x="6099737" y="304515"/>
            <a:ext cx="2673540" cy="258064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Match neighbor distributions over spatial and temporal neighbors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in the latent maps to preserve spatiotemporal structure.</a:t>
            </a:r>
          </a:p>
        </p:txBody>
      </p:sp>
      <p:sp>
        <p:nvSpPr>
          <p:cNvPr id="13" name="diagram block">
            <a:extLst>
              <a:ext uri="{FF2B5EF4-FFF2-40B4-BE49-F238E27FC236}">
                <ns2:creationId id="{29DE5DC2-E18B-46CA-97D5-BD076CC35348}"/>
              </a:ext>
            </a:extLst>
          </p:cNvPr>
          <p:cNvSpPr>
            <a:spLocks noGrp="1"/>
          </p:cNvSpPr>
          <p:nvPr/>
        </p:nvSpPr>
        <p:spPr>
          <a:xfrm>
            <a:off x="391368" y="686449"/>
            <a:ext cx="1326447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5161">
            <a:solidFill>
              <a:srgbClr val="7FCAB6"/>
            </a:solidFill>
            <a:prstDash val="solid"/>
          </a:ln>
        </p:spPr>
      </p:sp>
      <p:sp>
        <p:nvSpPr>
          <p:cNvPr id="14" name="BF16 teacher scalar x">
            <a:extLst>
              <a:ext uri="{FF2B5EF4-FFF2-40B4-BE49-F238E27FC236}">
                <ns2:creationId id="{02418115-E4A4-4212-8C7D-C7D1B169646C}"/>
              </a:ext>
            </a:extLst>
          </p:cNvPr>
          <p:cNvSpPr>
            <a:spLocks noGrp="1"/>
          </p:cNvSpPr>
          <p:nvPr/>
        </p:nvSpPr>
        <p:spPr>
          <a:xfrm>
            <a:off x="417174" y="712256"/>
            <a:ext cx="1274835" cy="113548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EDFCF6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BF16 teacher scalar x</a:t>
            </a:r>
          </a:p>
        </p:txBody>
      </p:sp>
      <p:sp>
        <p:nvSpPr>
          <p:cNvPr id="15" name="diagram block">
            <a:extLst>
              <a:ext uri="{FF2B5EF4-FFF2-40B4-BE49-F238E27FC236}">
                <ns2:creationId id="{0868CFBD-4D01-4F6D-9A9D-87CCACBC79D4}"/>
              </a:ext>
            </a:extLst>
          </p:cNvPr>
          <p:cNvSpPr>
            <a:spLocks noGrp="1"/>
          </p:cNvSpPr>
          <p:nvPr/>
        </p:nvSpPr>
        <p:spPr>
          <a:xfrm>
            <a:off x="1815880" y="686449"/>
            <a:ext cx="1264512" cy="165161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</p:sp>
      <p:sp>
        <p:nvSpPr>
          <p:cNvPr id="16" name="Quantized student scalar x̂">
            <a:extLst>
              <a:ext uri="{FF2B5EF4-FFF2-40B4-BE49-F238E27FC236}">
                <ns2:creationId id="{C02AF4F0-A7CE-459C-B00D-081191D370BA}"/>
              </a:ext>
            </a:extLst>
          </p:cNvPr>
          <p:cNvSpPr>
            <a:spLocks noGrp="1"/>
          </p:cNvSpPr>
          <p:nvPr/>
        </p:nvSpPr>
        <p:spPr>
          <a:xfrm>
            <a:off x="1841686" y="712256"/>
            <a:ext cx="1212899" cy="113548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7346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Quantized student scalar x̂</a:t>
            </a:r>
          </a:p>
        </p:txBody>
      </p:sp>
      <p:sp>
        <p:nvSpPr>
          <p:cNvPr id="17" name="e.g., x = 1.24 (BF16)">
            <a:extLst>
              <a:ext uri="{FF2B5EF4-FFF2-40B4-BE49-F238E27FC236}">
                <ns2:creationId id="{18445C9D-A94D-4FFE-BC4E-98847FE3FB7E}"/>
              </a:ext>
            </a:extLst>
          </p:cNvPr>
          <p:cNvSpPr>
            <a:spLocks noGrp="1"/>
          </p:cNvSpPr>
          <p:nvPr/>
        </p:nvSpPr>
        <p:spPr>
          <a:xfrm>
            <a:off x="535884" y="898062"/>
            <a:ext cx="1135480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 = 1.24 (BF16)</a:t>
            </a:r>
          </a:p>
        </p:txBody>
      </p:sp>
      <p:sp>
        <p:nvSpPr>
          <p:cNvPr id="18" name="e.g., x̂ = 1.08 (quantized)">
            <a:extLst>
              <a:ext uri="{FF2B5EF4-FFF2-40B4-BE49-F238E27FC236}">
                <ns2:creationId id="{340C2866-B17B-41A0-8B8B-1CFCADC12B48}"/>
              </a:ext>
            </a:extLst>
          </p:cNvPr>
          <p:cNvSpPr>
            <a:spLocks noGrp="1"/>
          </p:cNvSpPr>
          <p:nvPr/>
        </p:nvSpPr>
        <p:spPr>
          <a:xfrm>
            <a:off x="1939750" y="898062"/>
            <a:ext cx="1140642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e.g., x̂ = 1.08 (quantized)</a:t>
            </a:r>
          </a:p>
        </p:txBody>
      </p:sp>
      <p:cxnSp>
        <p:nvCxnSpPr>
          <p:cNvPr id="19" name="native PowerPoint connector">
            <a:extLst>
              <a:ext uri="{FF2B5EF4-FFF2-40B4-BE49-F238E27FC236}">
                <ns2:creationId id="{B642C575-C7E6-418C-BAE8-54F3EFC0C821}"/>
              </a:ext>
            </a:extLst>
          </p:cNvPr>
          <p:cNvCxnSpPr/>
          <p:nvPr/>
        </p:nvCxnSpPr>
        <p:spPr>
          <a:xfrm flipH="0" flipV="0">
            <a:off x="1036527" y="985803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0" name="native PowerPoint connector">
            <a:extLst>
              <a:ext uri="{FF2B5EF4-FFF2-40B4-BE49-F238E27FC236}">
                <ns2:creationId id="{6F07FDC8-A55E-4D0F-A30A-E205029A81E9}"/>
              </a:ext>
            </a:extLst>
          </p:cNvPr>
          <p:cNvCxnSpPr/>
          <p:nvPr/>
        </p:nvCxnSpPr>
        <p:spPr>
          <a:xfrm flipH="0" flipV="0">
            <a:off x="2430071" y="985803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1" name="diagram block">
            <a:extLst>
              <a:ext uri="{FF2B5EF4-FFF2-40B4-BE49-F238E27FC236}">
                <ns2:creationId id="{124A731B-4C69-499E-B31C-F6A2ECD96064}"/>
              </a:ext>
            </a:extLst>
          </p:cNvPr>
          <p:cNvSpPr>
            <a:spLocks noGrp="1"/>
          </p:cNvSpPr>
          <p:nvPr/>
        </p:nvSpPr>
        <p:spPr>
          <a:xfrm>
            <a:off x="499755" y="1068384"/>
            <a:ext cx="2461928" cy="232257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FABB9"/>
            </a:solidFill>
            <a:prstDash val="solid"/>
          </a:ln>
        </p:spPr>
      </p:sp>
      <p:sp>
        <p:nvSpPr>
          <p:cNvPr id="22" name="Standardize using same frozen teacher channel statistics&#10;(mean μ_c and std ">
            <a:extLst>
              <a:ext uri="{FF2B5EF4-FFF2-40B4-BE49-F238E27FC236}">
                <ns2:creationId id="{4B8816D2-49B0-4B07-BC51-8E2397901D74}"/>
              </a:ext>
            </a:extLst>
          </p:cNvPr>
          <p:cNvSpPr>
            <a:spLocks noGrp="1"/>
          </p:cNvSpPr>
          <p:nvPr/>
        </p:nvSpPr>
        <p:spPr>
          <a:xfrm>
            <a:off x="525561" y="1094190"/>
            <a:ext cx="2410315" cy="180645"/>
          </a:xfrm>
          <a:prstGeom prst="rect">
            <a:avLst/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72899"/>
          </a:bodyPr>
          <a:lstStyle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Standardize using same frozen teacher channel statistics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(mean μ</a:t>
            </a:r>
            <a:r>
              <a:rPr sz="593" b="0" i="0" baseline="-2300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</a:t>
            </a: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 and std σ</a:t>
            </a:r>
            <a:r>
              <a:rPr sz="593" b="0" i="0" baseline="-2300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</a:t>
            </a: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)</a:t>
            </a:r>
          </a:p>
        </p:txBody>
      </p:sp>
      <p:cxnSp>
        <p:nvCxnSpPr>
          <p:cNvPr id="23" name="native PowerPoint connector">
            <a:extLst>
              <a:ext uri="{FF2B5EF4-FFF2-40B4-BE49-F238E27FC236}">
                <ns2:creationId id="{AAEEDDE8-64D9-4B37-9FFC-9B8C8C107CAF}"/>
              </a:ext>
            </a:extLst>
          </p:cNvPr>
          <p:cNvCxnSpPr/>
          <p:nvPr/>
        </p:nvCxnSpPr>
        <p:spPr>
          <a:xfrm flipH="0" flipV="0">
            <a:off x="1036527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cxnSp>
        <p:nvCxnSpPr>
          <p:cNvPr id="24" name="native PowerPoint connector">
            <a:extLst>
              <a:ext uri="{FF2B5EF4-FFF2-40B4-BE49-F238E27FC236}">
                <ns2:creationId id="{17EC9A2B-FF76-4E49-BCB7-84F9E735460E}"/>
              </a:ext>
            </a:extLst>
          </p:cNvPr>
          <p:cNvCxnSpPr/>
          <p:nvPr/>
        </p:nvCxnSpPr>
        <p:spPr>
          <a:xfrm flipH="0" flipV="0">
            <a:off x="2430071" y="1300641"/>
            <a:ext cx="0" cy="8258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25" name="z =">
            <a:extLst>
              <a:ext uri="{FF2B5EF4-FFF2-40B4-BE49-F238E27FC236}">
                <ns2:creationId id="{DDAFC7ED-45D8-4632-A4D9-FCD62C64337B}"/>
              </a:ext>
            </a:extLst>
          </p:cNvPr>
          <p:cNvSpPr>
            <a:spLocks noGrp="1"/>
          </p:cNvSpPr>
          <p:nvPr/>
        </p:nvSpPr>
        <p:spPr>
          <a:xfrm>
            <a:off x="742335" y="1429673"/>
            <a:ext cx="237419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 =</a:t>
            </a:r>
          </a:p>
        </p:txBody>
      </p:sp>
      <p:sp>
        <p:nvSpPr>
          <p:cNvPr id="26" name="x − μ_c">
            <a:extLst>
              <a:ext uri="{FF2B5EF4-FFF2-40B4-BE49-F238E27FC236}">
                <ns2:creationId id="{6219D9AA-371E-4A10-883E-A1A36681F942}"/>
              </a:ext>
            </a:extLst>
          </p:cNvPr>
          <p:cNvSpPr>
            <a:spLocks noGrp="1"/>
          </p:cNvSpPr>
          <p:nvPr/>
        </p:nvSpPr>
        <p:spPr>
          <a:xfrm>
            <a:off x="974592" y="1378060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27" name="native PowerPoint connector">
            <a:extLst>
              <a:ext uri="{FF2B5EF4-FFF2-40B4-BE49-F238E27FC236}">
                <ns2:creationId id="{3D6C5CCC-89D6-4F59-9E97-DE586A62AE9F}"/>
              </a:ext>
            </a:extLst>
          </p:cNvPr>
          <p:cNvCxnSpPr/>
          <p:nvPr/>
        </p:nvCxnSpPr>
        <p:spPr>
          <a:xfrm flipH="0" flipV="0">
            <a:off x="990076" y="1504511"/>
            <a:ext cx="350967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8" name="σ_c">
            <a:extLst>
              <a:ext uri="{FF2B5EF4-FFF2-40B4-BE49-F238E27FC236}">
                <ns2:creationId id="{8E4AC805-A3E4-4139-87D2-ED1B0873E7EC}"/>
              </a:ext>
            </a:extLst>
          </p:cNvPr>
          <p:cNvSpPr>
            <a:spLocks noGrp="1"/>
          </p:cNvSpPr>
          <p:nvPr/>
        </p:nvSpPr>
        <p:spPr>
          <a:xfrm>
            <a:off x="974592" y="1512253"/>
            <a:ext cx="381934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9" name="ẑ =">
            <a:extLst>
              <a:ext uri="{FF2B5EF4-FFF2-40B4-BE49-F238E27FC236}">
                <ns2:creationId id="{486EA066-4272-4A54-8E82-D315603F4FC5}"/>
              </a:ext>
            </a:extLst>
          </p:cNvPr>
          <p:cNvSpPr>
            <a:spLocks noGrp="1"/>
          </p:cNvSpPr>
          <p:nvPr/>
        </p:nvSpPr>
        <p:spPr>
          <a:xfrm>
            <a:off x="2089427" y="1429673"/>
            <a:ext cx="242580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91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ẑ =</a:t>
            </a:r>
          </a:p>
        </p:txBody>
      </p:sp>
      <p:sp>
        <p:nvSpPr>
          <p:cNvPr id="30" name="x̂ − μ_c">
            <a:extLst>
              <a:ext uri="{FF2B5EF4-FFF2-40B4-BE49-F238E27FC236}">
                <ns2:creationId id="{81F36802-29B4-472B-872F-AFADCFA46A0E}"/>
              </a:ext>
            </a:extLst>
          </p:cNvPr>
          <p:cNvSpPr>
            <a:spLocks noGrp="1"/>
          </p:cNvSpPr>
          <p:nvPr/>
        </p:nvSpPr>
        <p:spPr>
          <a:xfrm>
            <a:off x="2332007" y="1378060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x̂ − μ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cxnSp>
        <p:nvCxnSpPr>
          <p:cNvPr id="31" name="native PowerPoint connector">
            <a:extLst>
              <a:ext uri="{FF2B5EF4-FFF2-40B4-BE49-F238E27FC236}">
                <ns2:creationId id="{CB95F40D-142A-47C9-85C5-512F77F40815}"/>
              </a:ext>
            </a:extLst>
          </p:cNvPr>
          <p:cNvCxnSpPr/>
          <p:nvPr/>
        </p:nvCxnSpPr>
        <p:spPr>
          <a:xfrm flipH="0" flipV="0">
            <a:off x="2347491" y="1504511"/>
            <a:ext cx="366450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32" name="σ_c">
            <a:extLst>
              <a:ext uri="{FF2B5EF4-FFF2-40B4-BE49-F238E27FC236}">
                <ns2:creationId id="{D478831A-D07E-4C26-80E6-DEBF9E41F6FF}"/>
              </a:ext>
            </a:extLst>
          </p:cNvPr>
          <p:cNvSpPr>
            <a:spLocks noGrp="1"/>
          </p:cNvSpPr>
          <p:nvPr/>
        </p:nvSpPr>
        <p:spPr>
          <a:xfrm>
            <a:off x="2332007" y="1512253"/>
            <a:ext cx="39741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70000"/>
          </a:bodyPr>
          <a:lstStyle>
            <a:def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σ</a:t>
            </a:r>
            <a:r>
              <a:rPr sz="742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3" name="diagram block">
            <a:extLst>
              <a:ext uri="{FF2B5EF4-FFF2-40B4-BE49-F238E27FC236}">
                <ns2:creationId id="{F44E3EC0-0795-4FBE-B387-3F0F57B1BF28}"/>
              </a:ext>
            </a:extLst>
          </p:cNvPr>
          <p:cNvSpPr>
            <a:spLocks noGrp="1"/>
          </p:cNvSpPr>
          <p:nvPr/>
        </p:nvSpPr>
        <p:spPr>
          <a:xfrm>
            <a:off x="391368" y="1641285"/>
            <a:ext cx="2621927" cy="784514"/>
          </a:xfrm>
          <a:prstGeom prst="roundRect">
            <a:avLst>
              <a:gd name="adj" fmla="val 394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3DDFC"/>
            </a:solidFill>
            <a:prstDash val="solid"/>
          </a:ln>
        </p:spPr>
      </p:sp>
      <p:sp>
        <p:nvSpPr>
          <p:cNvPr id="34" name="Convert each standardized scalar to a 16-bin distribution&#10;using a Gaussian ">
            <a:extLst>
              <a:ext uri="{FF2B5EF4-FFF2-40B4-BE49-F238E27FC236}">
                <ns2:creationId id="{5C10D1EA-176D-4F53-9973-D2F40F0A195F}"/>
              </a:ext>
            </a:extLst>
          </p:cNvPr>
          <p:cNvSpPr>
            <a:spLocks noGrp="1"/>
          </p:cNvSpPr>
          <p:nvPr/>
        </p:nvSpPr>
        <p:spPr>
          <a:xfrm>
            <a:off x="442981" y="1703220"/>
            <a:ext cx="2518702" cy="242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893"/>
          </a:bodyPr>
          <a:lstStyle>
            <a:def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Convert each standardized scalar to a 16-bin distribution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using a Gaussian with σ = 0.375 and fixed edges.</a:t>
            </a:r>
          </a:p>
        </p:txBody>
      </p:sp>
      <p:sp>
        <p:nvSpPr>
          <p:cNvPr id="35" name="p_b(z) =">
            <a:extLst>
              <a:ext uri="{FF2B5EF4-FFF2-40B4-BE49-F238E27FC236}">
                <ns2:creationId id="{4C82DF3C-C7E8-4073-9ECC-E55EE0CFB8CF}"/>
              </a:ext>
            </a:extLst>
          </p:cNvPr>
          <p:cNvSpPr>
            <a:spLocks noGrp="1"/>
          </p:cNvSpPr>
          <p:nvPr/>
        </p:nvSpPr>
        <p:spPr>
          <a:xfrm>
            <a:off x="618464" y="1997413"/>
            <a:ext cx="572901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5703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801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(z) =</a:t>
            </a:r>
          </a:p>
        </p:txBody>
      </p:sp>
      <p:sp>
        <p:nvSpPr>
          <p:cNvPr id="36" name="∫">
            <a:extLst>
              <a:ext uri="{FF2B5EF4-FFF2-40B4-BE49-F238E27FC236}">
                <ns2:creationId id="{1D61861D-963A-4964-B27D-1BC3D1AE3D1D}"/>
              </a:ext>
            </a:extLst>
          </p:cNvPr>
          <p:cNvSpPr>
            <a:spLocks noGrp="1"/>
          </p:cNvSpPr>
          <p:nvPr/>
        </p:nvSpPr>
        <p:spPr>
          <a:xfrm>
            <a:off x="1201688" y="1925155"/>
            <a:ext cx="159999" cy="2683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∫</a:t>
            </a:r>
          </a:p>
        </p:txBody>
      </p:sp>
      <p:sp>
        <p:nvSpPr>
          <p:cNvPr id="37" name="e_b+1">
            <a:extLst>
              <a:ext uri="{FF2B5EF4-FFF2-40B4-BE49-F238E27FC236}">
                <ns2:creationId id="{BB0DC457-7564-471A-A5EC-84535F00D2B5}"/>
              </a:ext>
            </a:extLst>
          </p:cNvPr>
          <p:cNvSpPr>
            <a:spLocks noGrp="1"/>
          </p:cNvSpPr>
          <p:nvPr/>
        </p:nvSpPr>
        <p:spPr>
          <a:xfrm>
            <a:off x="1294591" y="1909671"/>
            <a:ext cx="325160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6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+1</a:t>
            </a:r>
          </a:p>
        </p:txBody>
      </p:sp>
      <p:sp>
        <p:nvSpPr>
          <p:cNvPr id="38" name="e_b">
            <a:extLst>
              <a:ext uri="{FF2B5EF4-FFF2-40B4-BE49-F238E27FC236}">
                <ns2:creationId id="{D39D6B3E-8475-4B8D-8B86-09931448CF2D}"/>
              </a:ext>
            </a:extLst>
          </p:cNvPr>
          <p:cNvSpPr>
            <a:spLocks noGrp="1"/>
          </p:cNvSpPr>
          <p:nvPr/>
        </p:nvSpPr>
        <p:spPr>
          <a:xfrm>
            <a:off x="1315236" y="2131606"/>
            <a:ext cx="26322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7737"/>
          </a:bodyPr>
          <a:lstStyle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564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9" name="N(t; z, 0.375²) dt">
            <a:extLst>
              <a:ext uri="{FF2B5EF4-FFF2-40B4-BE49-F238E27FC236}">
                <ns2:creationId id="{359B86AF-7E3B-4348-9D78-B8A455F3B766}"/>
              </a:ext>
            </a:extLst>
          </p:cNvPr>
          <p:cNvSpPr>
            <a:spLocks noGrp="1"/>
          </p:cNvSpPr>
          <p:nvPr/>
        </p:nvSpPr>
        <p:spPr>
          <a:xfrm>
            <a:off x="1630074" y="1992252"/>
            <a:ext cx="1212899" cy="17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97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N(t; z, 0.375²) dt</a:t>
            </a:r>
          </a:p>
        </p:txBody>
      </p:sp>
      <p:sp>
        <p:nvSpPr>
          <p:cNvPr id="40" name="16 bins: 15 interior edges from −3.5 to 3.5 with two infinite tails">
            <a:extLst>
              <a:ext uri="{FF2B5EF4-FFF2-40B4-BE49-F238E27FC236}">
                <ns2:creationId id="{F9C7C66B-5C56-420B-80D8-EBD862A75D16}"/>
              </a:ext>
            </a:extLst>
          </p:cNvPr>
          <p:cNvSpPr>
            <a:spLocks noGrp="1"/>
          </p:cNvSpPr>
          <p:nvPr/>
        </p:nvSpPr>
        <p:spPr>
          <a:xfrm>
            <a:off x="401691" y="2183219"/>
            <a:ext cx="2606443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16 bins: 15 interior edges from −3.5 to 3.5 with two infinite tails</a:t>
            </a:r>
          </a:p>
        </p:txBody>
      </p:sp>
      <p:sp>
        <p:nvSpPr>
          <p:cNvPr id="41" name="e = [−∞, −3.5, −3.0, …, 3.0, 3.5, +∞]   (16 bins)">
            <a:extLst>
              <a:ext uri="{FF2B5EF4-FFF2-40B4-BE49-F238E27FC236}">
                <ns2:creationId id="{647578BA-9992-4C7E-B8D6-04D101FB0B6A}"/>
              </a:ext>
            </a:extLst>
          </p:cNvPr>
          <p:cNvSpPr>
            <a:spLocks noGrp="1"/>
          </p:cNvSpPr>
          <p:nvPr/>
        </p:nvSpPr>
        <p:spPr>
          <a:xfrm>
            <a:off x="437820" y="2317412"/>
            <a:ext cx="2534185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 = [−∞, −3.5, −3.0, …, 3.0, 3.5, +∞]   (16 bins)</a:t>
            </a:r>
          </a:p>
        </p:txBody>
      </p:sp>
      <p:sp>
        <p:nvSpPr>
          <p:cNvPr id="42" name="diagram block">
            <a:extLst>
              <a:ext uri="{FF2B5EF4-FFF2-40B4-BE49-F238E27FC236}">
                <ns2:creationId id="{69897241-C787-4F3B-80C6-F9B7ACC0DF1C}"/>
              </a:ext>
            </a:extLst>
          </p:cNvPr>
          <p:cNvSpPr>
            <a:spLocks noGrp="1"/>
          </p:cNvSpPr>
          <p:nvPr/>
        </p:nvSpPr>
        <p:spPr>
          <a:xfrm>
            <a:off x="499755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5161">
            <a:solidFill>
              <a:srgbClr val="87CFBA"/>
            </a:solidFill>
            <a:prstDash val="solid"/>
          </a:ln>
        </p:spPr>
      </p:sp>
      <p:sp>
        <p:nvSpPr>
          <p:cNvPr id="43" name="Teacher scalar distribution">
            <a:extLst>
              <a:ext uri="{FF2B5EF4-FFF2-40B4-BE49-F238E27FC236}">
                <ns2:creationId id="{30647447-3866-402D-B6E8-4AD8483403AF}"/>
              </a:ext>
            </a:extLst>
          </p:cNvPr>
          <p:cNvSpPr>
            <a:spLocks noGrp="1"/>
          </p:cNvSpPr>
          <p:nvPr/>
        </p:nvSpPr>
        <p:spPr>
          <a:xfrm>
            <a:off x="525561" y="2513540"/>
            <a:ext cx="1125158" cy="103225"/>
          </a:xfrm>
          <a:prstGeom prst="rect">
            <a:avLst/>
          </a:prstGeom>
          <a:gradFill>
            <a:gsLst>
              <a:gs pos="0">
                <a:srgbClr val="D8F7EC"/>
              </a:gs>
              <a:gs pos="100000">
                <a:srgbClr val="F4FCF8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Teacher scalar distribution</a:t>
            </a:r>
          </a:p>
        </p:txBody>
      </p:sp>
      <p:sp>
        <p:nvSpPr>
          <p:cNvPr id="44" name="diagram block">
            <a:extLst>
              <a:ext uri="{FF2B5EF4-FFF2-40B4-BE49-F238E27FC236}">
                <ns2:creationId id="{422ADD6F-6CE3-45FA-8F2E-7B3533A0D1B1}"/>
              </a:ext>
            </a:extLst>
          </p:cNvPr>
          <p:cNvSpPr>
            <a:spLocks noGrp="1"/>
          </p:cNvSpPr>
          <p:nvPr/>
        </p:nvSpPr>
        <p:spPr>
          <a:xfrm>
            <a:off x="1908783" y="2487734"/>
            <a:ext cx="1176770" cy="154838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8ABFF4"/>
            </a:solidFill>
            <a:prstDash val="solid"/>
          </a:ln>
        </p:spPr>
      </p:sp>
      <p:sp>
        <p:nvSpPr>
          <p:cNvPr id="45" name="Student scalar distribution">
            <a:extLst>
              <a:ext uri="{FF2B5EF4-FFF2-40B4-BE49-F238E27FC236}">
                <ns2:creationId id="{2EC6832B-E3EB-4120-BB88-FEDAEF268424}"/>
              </a:ext>
            </a:extLst>
          </p:cNvPr>
          <p:cNvSpPr>
            <a:spLocks noGrp="1"/>
          </p:cNvSpPr>
          <p:nvPr/>
        </p:nvSpPr>
        <p:spPr>
          <a:xfrm>
            <a:off x="1934589" y="2513540"/>
            <a:ext cx="1125158" cy="103225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3312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Student scalar distribution</a:t>
            </a:r>
          </a:p>
        </p:txBody>
      </p:sp>
      <p:sp>
        <p:nvSpPr>
          <p:cNvPr id="46" name="diagram block">
            <a:extLst>
              <a:ext uri="{FF2B5EF4-FFF2-40B4-BE49-F238E27FC236}">
                <ns2:creationId id="{121BC093-4C00-4BE2-AB1D-EC3469119B59}"/>
              </a:ext>
            </a:extLst>
          </p:cNvPr>
          <p:cNvSpPr>
            <a:spLocks noGrp="1"/>
          </p:cNvSpPr>
          <p:nvPr/>
        </p:nvSpPr>
        <p:spPr>
          <a:xfrm>
            <a:off x="602980" y="2725153"/>
            <a:ext cx="1042577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</p:sp>
      <p:cxnSp>
        <p:nvCxnSpPr>
          <p:cNvPr id="47" name="native PowerPoint connector">
            <a:extLst>
              <a:ext uri="{FF2B5EF4-FFF2-40B4-BE49-F238E27FC236}">
                <ns2:creationId id="{949D4391-4F65-49AB-8652-6A326FC89FCD}"/>
              </a:ext>
            </a:extLst>
          </p:cNvPr>
          <p:cNvCxnSpPr/>
          <p:nvPr/>
        </p:nvCxnSpPr>
        <p:spPr>
          <a:xfrm flipH="0" flipV="0">
            <a:off x="602980" y="3017625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48" name="0.1">
            <a:extLst>
              <a:ext uri="{FF2B5EF4-FFF2-40B4-BE49-F238E27FC236}">
                <ns2:creationId id="{1A73E713-E7BF-44F2-8F6A-521A38807433}"/>
              </a:ext>
            </a:extLst>
          </p:cNvPr>
          <p:cNvSpPr>
            <a:spLocks noGrp="1"/>
          </p:cNvSpPr>
          <p:nvPr/>
        </p:nvSpPr>
        <p:spPr>
          <a:xfrm>
            <a:off x="427497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0.1</a:t>
            </a:r>
          </a:p>
        </p:txBody>
      </p:sp>
      <p:cxnSp>
        <p:nvCxnSpPr>
          <p:cNvPr id="49" name="native PowerPoint connector">
            <a:extLst>
              <a:ext uri="{FF2B5EF4-FFF2-40B4-BE49-F238E27FC236}">
                <ns2:creationId id="{9053E03C-166D-4183-83D3-644603C8348A}"/>
              </a:ext>
            </a:extLst>
          </p:cNvPr>
          <p:cNvCxnSpPr/>
          <p:nvPr/>
        </p:nvCxnSpPr>
        <p:spPr>
          <a:xfrm flipH="0" flipV="0">
            <a:off x="602980" y="2871389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0" name="0.2">
            <a:extLst>
              <a:ext uri="{FF2B5EF4-FFF2-40B4-BE49-F238E27FC236}">
                <ns2:creationId id="{D758FCF7-41ED-4116-9A5D-6E8423CD0037}"/>
              </a:ext>
            </a:extLst>
          </p:cNvPr>
          <p:cNvSpPr>
            <a:spLocks noGrp="1"/>
          </p:cNvSpPr>
          <p:nvPr/>
        </p:nvSpPr>
        <p:spPr>
          <a:xfrm>
            <a:off x="427497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0.2</a:t>
            </a:r>
          </a:p>
        </p:txBody>
      </p:sp>
      <p:cxnSp>
        <p:nvCxnSpPr>
          <p:cNvPr id="51" name="native PowerPoint connector">
            <a:extLst>
              <a:ext uri="{FF2B5EF4-FFF2-40B4-BE49-F238E27FC236}">
                <ns2:creationId id="{E954D5C9-2AA9-43AC-8E19-5DE5C01D03E4}"/>
              </a:ext>
            </a:extLst>
          </p:cNvPr>
          <p:cNvCxnSpPr/>
          <p:nvPr/>
        </p:nvCxnSpPr>
        <p:spPr>
          <a:xfrm flipH="0" flipV="0">
            <a:off x="602980" y="2725153"/>
            <a:ext cx="1042577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52" name="0.3">
            <a:extLst>
              <a:ext uri="{FF2B5EF4-FFF2-40B4-BE49-F238E27FC236}">
                <ns2:creationId id="{1BB864B7-C2D1-4581-B36C-38EA2B446E9C}"/>
              </a:ext>
            </a:extLst>
          </p:cNvPr>
          <p:cNvSpPr>
            <a:spLocks noGrp="1"/>
          </p:cNvSpPr>
          <p:nvPr/>
        </p:nvSpPr>
        <p:spPr>
          <a:xfrm>
            <a:off x="427497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0.3</a:t>
            </a:r>
          </a:p>
        </p:txBody>
      </p:sp>
      <p:cxnSp>
        <p:nvCxnSpPr>
          <p:cNvPr id="53" name="native PowerPoint connector">
            <a:extLst>
              <a:ext uri="{FF2B5EF4-FFF2-40B4-BE49-F238E27FC236}">
                <ns2:creationId id="{77A85866-F54F-44A7-9211-97B64F291F39}"/>
              </a:ext>
            </a:extLst>
          </p:cNvPr>
          <p:cNvCxnSpPr/>
          <p:nvPr/>
        </p:nvCxnSpPr>
        <p:spPr>
          <a:xfrm flipH="0" flipV="0">
            <a:off x="602980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54" name="native PowerPoint connector">
            <a:extLst>
              <a:ext uri="{FF2B5EF4-FFF2-40B4-BE49-F238E27FC236}">
                <ns2:creationId id="{870A4FBC-8A5B-4955-BD2C-70014B55CA4B}"/>
              </a:ext>
            </a:extLst>
          </p:cNvPr>
          <p:cNvCxnSpPr/>
          <p:nvPr/>
        </p:nvCxnSpPr>
        <p:spPr>
          <a:xfrm flipH="0" flipV="0">
            <a:off x="602980" y="3163861"/>
            <a:ext cx="1042577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55" name="0.0">
            <a:extLst>
              <a:ext uri="{FF2B5EF4-FFF2-40B4-BE49-F238E27FC236}">
                <ns2:creationId id="{FDED721D-4C5B-4DE6-986B-1C4C50F44A77}"/>
              </a:ext>
            </a:extLst>
          </p:cNvPr>
          <p:cNvSpPr>
            <a:spLocks noGrp="1"/>
          </p:cNvSpPr>
          <p:nvPr/>
        </p:nvSpPr>
        <p:spPr>
          <a:xfrm>
            <a:off x="427497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0.0</a:t>
            </a:r>
          </a:p>
        </p:txBody>
      </p:sp>
      <p:sp>
        <p:nvSpPr>
          <p:cNvPr id="56" name="diagram block">
            <a:extLst>
              <a:ext uri="{FF2B5EF4-FFF2-40B4-BE49-F238E27FC236}">
                <ns2:creationId id="{CA6B2C84-0852-4646-BCC2-0FD1825F0C7E}"/>
              </a:ext>
            </a:extLst>
          </p:cNvPr>
          <p:cNvSpPr>
            <a:spLocks noGrp="1"/>
          </p:cNvSpPr>
          <p:nvPr/>
        </p:nvSpPr>
        <p:spPr>
          <a:xfrm>
            <a:off x="610722" y="3161229"/>
            <a:ext cx="49677" cy="2632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57" name="native PowerPoint connector">
            <a:extLst>
              <a:ext uri="{FF2B5EF4-FFF2-40B4-BE49-F238E27FC236}">
                <ns2:creationId id="{CE62F021-B48F-4BC3-B59C-A85EBEAD9708}"/>
              </a:ext>
            </a:extLst>
          </p:cNvPr>
          <p:cNvCxnSpPr/>
          <p:nvPr/>
        </p:nvCxnSpPr>
        <p:spPr>
          <a:xfrm flipH="0" flipV="0">
            <a:off x="63556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58" name="diagram block">
            <a:extLst>
              <a:ext uri="{FF2B5EF4-FFF2-40B4-BE49-F238E27FC236}">
                <ns2:creationId id="{81519E9E-BB28-4835-A71D-143869A809ED}"/>
              </a:ext>
            </a:extLst>
          </p:cNvPr>
          <p:cNvSpPr>
            <a:spLocks noGrp="1"/>
          </p:cNvSpPr>
          <p:nvPr/>
        </p:nvSpPr>
        <p:spPr>
          <a:xfrm>
            <a:off x="675883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59" name="native PowerPoint connector">
            <a:extLst>
              <a:ext uri="{FF2B5EF4-FFF2-40B4-BE49-F238E27FC236}">
                <ns2:creationId id="{50C594D8-8645-43B1-ADB8-0E8A2AAE404A}"/>
              </a:ext>
            </a:extLst>
          </p:cNvPr>
          <p:cNvCxnSpPr/>
          <p:nvPr/>
        </p:nvCxnSpPr>
        <p:spPr>
          <a:xfrm flipH="0" flipV="0">
            <a:off x="70072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0" name="diagram block">
            <a:extLst>
              <a:ext uri="{FF2B5EF4-FFF2-40B4-BE49-F238E27FC236}">
                <ns2:creationId id="{0B92A15A-A9E7-42F1-86D7-E1A8441C9280}"/>
              </a:ext>
            </a:extLst>
          </p:cNvPr>
          <p:cNvSpPr>
            <a:spLocks noGrp="1"/>
          </p:cNvSpPr>
          <p:nvPr/>
        </p:nvSpPr>
        <p:spPr>
          <a:xfrm>
            <a:off x="741044" y="3151577"/>
            <a:ext cx="49677" cy="122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1" name="native PowerPoint connector">
            <a:extLst>
              <a:ext uri="{FF2B5EF4-FFF2-40B4-BE49-F238E27FC236}">
                <ns2:creationId id="{E5040BDD-CB94-450E-ABBB-EF1B3E025FEC}"/>
              </a:ext>
            </a:extLst>
          </p:cNvPr>
          <p:cNvCxnSpPr/>
          <p:nvPr/>
        </p:nvCxnSpPr>
        <p:spPr>
          <a:xfrm flipH="0" flipV="0">
            <a:off x="76588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2" name="diagram block">
            <a:extLst>
              <a:ext uri="{FF2B5EF4-FFF2-40B4-BE49-F238E27FC236}">
                <ns2:creationId id="{71545865-112C-46D0-BF9A-7EA108A7C848}"/>
              </a:ext>
            </a:extLst>
          </p:cNvPr>
          <p:cNvSpPr>
            <a:spLocks noGrp="1"/>
          </p:cNvSpPr>
          <p:nvPr/>
        </p:nvSpPr>
        <p:spPr>
          <a:xfrm>
            <a:off x="806206" y="3139732"/>
            <a:ext cx="49677" cy="24129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3" name="native PowerPoint connector">
            <a:extLst>
              <a:ext uri="{FF2B5EF4-FFF2-40B4-BE49-F238E27FC236}">
                <ns2:creationId id="{28AF7DC7-6D16-4E79-910B-F0BAAD914042}"/>
              </a:ext>
            </a:extLst>
          </p:cNvPr>
          <p:cNvCxnSpPr/>
          <p:nvPr/>
        </p:nvCxnSpPr>
        <p:spPr>
          <a:xfrm flipH="0" flipV="0">
            <a:off x="8310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4" name="diagram block">
            <a:extLst>
              <a:ext uri="{FF2B5EF4-FFF2-40B4-BE49-F238E27FC236}">
                <ns2:creationId id="{56E1D204-7A83-4D98-A388-161DFC76F45A}"/>
              </a:ext>
            </a:extLst>
          </p:cNvPr>
          <p:cNvSpPr>
            <a:spLocks noGrp="1"/>
          </p:cNvSpPr>
          <p:nvPr/>
        </p:nvSpPr>
        <p:spPr>
          <a:xfrm>
            <a:off x="871367" y="3119990"/>
            <a:ext cx="49677" cy="43871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5" name="native PowerPoint connector">
            <a:extLst>
              <a:ext uri="{FF2B5EF4-FFF2-40B4-BE49-F238E27FC236}">
                <ns2:creationId id="{4793663D-5716-440A-A077-2108ADEBA4EF}"/>
              </a:ext>
            </a:extLst>
          </p:cNvPr>
          <p:cNvCxnSpPr/>
          <p:nvPr/>
        </p:nvCxnSpPr>
        <p:spPr>
          <a:xfrm flipH="0" flipV="0">
            <a:off x="8962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6" name="diagram block">
            <a:extLst>
              <a:ext uri="{FF2B5EF4-FFF2-40B4-BE49-F238E27FC236}">
                <ns2:creationId id="{0DCBCD46-8DA6-4568-987C-E6F138560AB6}"/>
              </a:ext>
            </a:extLst>
          </p:cNvPr>
          <p:cNvSpPr>
            <a:spLocks noGrp="1"/>
          </p:cNvSpPr>
          <p:nvPr/>
        </p:nvSpPr>
        <p:spPr>
          <a:xfrm>
            <a:off x="936528" y="3093668"/>
            <a:ext cx="49677" cy="70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7" name="native PowerPoint connector">
            <a:extLst>
              <a:ext uri="{FF2B5EF4-FFF2-40B4-BE49-F238E27FC236}">
                <ns2:creationId id="{5C0D2F3A-0A22-43F0-A122-5AC3C6382FD8}"/>
              </a:ext>
            </a:extLst>
          </p:cNvPr>
          <p:cNvCxnSpPr/>
          <p:nvPr/>
        </p:nvCxnSpPr>
        <p:spPr>
          <a:xfrm flipH="0" flipV="0">
            <a:off x="96136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68" name="diagram block">
            <a:extLst>
              <a:ext uri="{FF2B5EF4-FFF2-40B4-BE49-F238E27FC236}">
                <ns2:creationId id="{E4C9C596-8F84-43C0-91A5-82BD235C1C1D}"/>
              </a:ext>
            </a:extLst>
          </p:cNvPr>
          <p:cNvSpPr>
            <a:spLocks noGrp="1"/>
          </p:cNvSpPr>
          <p:nvPr/>
        </p:nvSpPr>
        <p:spPr>
          <a:xfrm>
            <a:off x="1001689" y="3041023"/>
            <a:ext cx="49677" cy="122838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69" name="native PowerPoint connector">
            <a:extLst>
              <a:ext uri="{FF2B5EF4-FFF2-40B4-BE49-F238E27FC236}">
                <ns2:creationId id="{49251ECA-92CD-4DEC-939D-1A5685CEE136}"/>
              </a:ext>
            </a:extLst>
          </p:cNvPr>
          <p:cNvCxnSpPr/>
          <p:nvPr/>
        </p:nvCxnSpPr>
        <p:spPr>
          <a:xfrm flipH="0" flipV="0">
            <a:off x="102652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0" name="diagram block">
            <a:extLst>
              <a:ext uri="{FF2B5EF4-FFF2-40B4-BE49-F238E27FC236}">
                <ns2:creationId id="{30915B05-3CAF-4FB7-8AAB-44E4D2662F98}"/>
              </a:ext>
            </a:extLst>
          </p:cNvPr>
          <p:cNvSpPr>
            <a:spLocks noGrp="1"/>
          </p:cNvSpPr>
          <p:nvPr/>
        </p:nvSpPr>
        <p:spPr>
          <a:xfrm>
            <a:off x="1066850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1" name="native PowerPoint connector">
            <a:extLst>
              <a:ext uri="{FF2B5EF4-FFF2-40B4-BE49-F238E27FC236}">
                <ns2:creationId id="{0E817E40-3AE7-4F7D-8407-D7A12949B6A6}"/>
              </a:ext>
            </a:extLst>
          </p:cNvPr>
          <p:cNvCxnSpPr/>
          <p:nvPr/>
        </p:nvCxnSpPr>
        <p:spPr>
          <a:xfrm flipH="0" flipV="0">
            <a:off x="109168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2" name="diagram block">
            <a:extLst>
              <a:ext uri="{FF2B5EF4-FFF2-40B4-BE49-F238E27FC236}">
                <ns2:creationId id="{BA213A0E-C103-47BE-B5E7-B5C1F3C89F7E}"/>
              </a:ext>
            </a:extLst>
          </p:cNvPr>
          <p:cNvSpPr>
            <a:spLocks noGrp="1"/>
          </p:cNvSpPr>
          <p:nvPr/>
        </p:nvSpPr>
        <p:spPr>
          <a:xfrm>
            <a:off x="1132011" y="2856765"/>
            <a:ext cx="49677" cy="30709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3" name="native PowerPoint connector">
            <a:extLst>
              <a:ext uri="{FF2B5EF4-FFF2-40B4-BE49-F238E27FC236}">
                <ns2:creationId id="{0D4ABB83-5D43-401A-AD22-35225E4F6737}"/>
              </a:ext>
            </a:extLst>
          </p:cNvPr>
          <p:cNvCxnSpPr/>
          <p:nvPr/>
        </p:nvCxnSpPr>
        <p:spPr>
          <a:xfrm flipH="0" flipV="0">
            <a:off x="115685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4" name="diagram block">
            <a:extLst>
              <a:ext uri="{FF2B5EF4-FFF2-40B4-BE49-F238E27FC236}">
                <ns2:creationId id="{62E8FEF5-1A67-45CA-B005-83F5B2F91150}"/>
              </a:ext>
            </a:extLst>
          </p:cNvPr>
          <p:cNvSpPr>
            <a:spLocks noGrp="1"/>
          </p:cNvSpPr>
          <p:nvPr/>
        </p:nvSpPr>
        <p:spPr>
          <a:xfrm>
            <a:off x="1197172" y="2773411"/>
            <a:ext cx="49677" cy="390450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5" name="native PowerPoint connector">
            <a:extLst>
              <a:ext uri="{FF2B5EF4-FFF2-40B4-BE49-F238E27FC236}">
                <ns2:creationId id="{2C5B7D8B-18E0-45E5-8BEE-C67C9A71203A}"/>
              </a:ext>
            </a:extLst>
          </p:cNvPr>
          <p:cNvCxnSpPr/>
          <p:nvPr/>
        </p:nvCxnSpPr>
        <p:spPr>
          <a:xfrm flipH="0" flipV="0">
            <a:off x="122201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6" name="diagram block">
            <a:extLst>
              <a:ext uri="{FF2B5EF4-FFF2-40B4-BE49-F238E27FC236}">
                <ns2:creationId id="{781DB5BF-7C99-4E21-8B9F-4F1FAFD2B678}"/>
              </a:ext>
            </a:extLst>
          </p:cNvPr>
          <p:cNvSpPr>
            <a:spLocks noGrp="1"/>
          </p:cNvSpPr>
          <p:nvPr/>
        </p:nvSpPr>
        <p:spPr>
          <a:xfrm>
            <a:off x="1262333" y="2826056"/>
            <a:ext cx="49677" cy="337805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7" name="native PowerPoint connector">
            <a:extLst>
              <a:ext uri="{FF2B5EF4-FFF2-40B4-BE49-F238E27FC236}">
                <ns2:creationId id="{5630AA7F-C7F5-4692-BB25-921CBC6E0809}"/>
              </a:ext>
            </a:extLst>
          </p:cNvPr>
          <p:cNvCxnSpPr/>
          <p:nvPr/>
        </p:nvCxnSpPr>
        <p:spPr>
          <a:xfrm flipH="0" flipV="0">
            <a:off x="128717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78" name="diagram block">
            <a:extLst>
              <a:ext uri="{FF2B5EF4-FFF2-40B4-BE49-F238E27FC236}">
                <ns2:creationId id="{2D986E73-FBB9-45A7-851D-51337A03D408}"/>
              </a:ext>
            </a:extLst>
          </p:cNvPr>
          <p:cNvSpPr>
            <a:spLocks noGrp="1"/>
          </p:cNvSpPr>
          <p:nvPr/>
        </p:nvSpPr>
        <p:spPr>
          <a:xfrm>
            <a:off x="1327494" y="2957668"/>
            <a:ext cx="49677" cy="2061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79" name="native PowerPoint connector">
            <a:extLst>
              <a:ext uri="{FF2B5EF4-FFF2-40B4-BE49-F238E27FC236}">
                <ns2:creationId id="{31C2B442-72CD-4D18-AFBA-304DC1C733F5}"/>
              </a:ext>
            </a:extLst>
          </p:cNvPr>
          <p:cNvCxnSpPr/>
          <p:nvPr/>
        </p:nvCxnSpPr>
        <p:spPr>
          <a:xfrm flipH="0" flipV="0">
            <a:off x="135233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0" name="diagram block">
            <a:extLst>
              <a:ext uri="{FF2B5EF4-FFF2-40B4-BE49-F238E27FC236}">
                <ns2:creationId id="{3409A516-0C71-46E8-9725-4A800A08432F}"/>
              </a:ext>
            </a:extLst>
          </p:cNvPr>
          <p:cNvSpPr>
            <a:spLocks noGrp="1"/>
          </p:cNvSpPr>
          <p:nvPr/>
        </p:nvSpPr>
        <p:spPr>
          <a:xfrm>
            <a:off x="1392655" y="3067345"/>
            <a:ext cx="49677" cy="96516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1" name="native PowerPoint connector">
            <a:extLst>
              <a:ext uri="{FF2B5EF4-FFF2-40B4-BE49-F238E27FC236}">
                <ns2:creationId id="{278731E3-8F1A-4CF3-B2A6-455315767E96}"/>
              </a:ext>
            </a:extLst>
          </p:cNvPr>
          <p:cNvCxnSpPr/>
          <p:nvPr/>
        </p:nvCxnSpPr>
        <p:spPr>
          <a:xfrm flipH="0" flipV="0">
            <a:off x="141749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2" name="diagram block">
            <a:extLst>
              <a:ext uri="{FF2B5EF4-FFF2-40B4-BE49-F238E27FC236}">
                <ns2:creationId id="{CB0DFA9D-EF85-402F-8D4B-4DA5CA919014}"/>
              </a:ext>
            </a:extLst>
          </p:cNvPr>
          <p:cNvSpPr>
            <a:spLocks noGrp="1"/>
          </p:cNvSpPr>
          <p:nvPr/>
        </p:nvSpPr>
        <p:spPr>
          <a:xfrm>
            <a:off x="1457816" y="3124377"/>
            <a:ext cx="49677" cy="39484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3" name="native PowerPoint connector">
            <a:extLst>
              <a:ext uri="{FF2B5EF4-FFF2-40B4-BE49-F238E27FC236}">
                <ns2:creationId id="{42122908-2ADB-42D7-8A3F-59EAC5B9816B}"/>
              </a:ext>
            </a:extLst>
          </p:cNvPr>
          <p:cNvCxnSpPr/>
          <p:nvPr/>
        </p:nvCxnSpPr>
        <p:spPr>
          <a:xfrm flipH="0" flipV="0">
            <a:off x="148265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4" name="diagram block">
            <a:extLst>
              <a:ext uri="{FF2B5EF4-FFF2-40B4-BE49-F238E27FC236}">
                <ns2:creationId id="{EF3A779A-ECF4-449B-88CD-169A26AA5557}"/>
              </a:ext>
            </a:extLst>
          </p:cNvPr>
          <p:cNvSpPr>
            <a:spLocks noGrp="1"/>
          </p:cNvSpPr>
          <p:nvPr/>
        </p:nvSpPr>
        <p:spPr>
          <a:xfrm>
            <a:off x="1522977" y="3148067"/>
            <a:ext cx="49677" cy="1579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5" name="native PowerPoint connector">
            <a:extLst>
              <a:ext uri="{FF2B5EF4-FFF2-40B4-BE49-F238E27FC236}">
                <ns2:creationId id="{CDAEFE8F-D469-4617-9EED-5B6F0772DC7D}"/>
              </a:ext>
            </a:extLst>
          </p:cNvPr>
          <p:cNvCxnSpPr/>
          <p:nvPr/>
        </p:nvCxnSpPr>
        <p:spPr>
          <a:xfrm flipH="0" flipV="0">
            <a:off x="154781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6" name="diagram block">
            <a:extLst>
              <a:ext uri="{FF2B5EF4-FFF2-40B4-BE49-F238E27FC236}">
                <ns2:creationId id="{6BE805F0-1838-4313-BF7E-283C7F722359}"/>
              </a:ext>
            </a:extLst>
          </p:cNvPr>
          <p:cNvSpPr>
            <a:spLocks noGrp="1"/>
          </p:cNvSpPr>
          <p:nvPr/>
        </p:nvSpPr>
        <p:spPr>
          <a:xfrm>
            <a:off x="1588139" y="3158158"/>
            <a:ext cx="49677" cy="5703"/>
          </a:xfrm>
          <a:prstGeom prst="rect">
            <a:avLst/>
          </a:prstGeom>
          <a:gradFill>
            <a:gsLst>
              <a:gs pos="0">
                <a:srgbClr val="31B694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35806E"/>
            </a:solidFill>
            <a:prstDash val="solid"/>
          </a:ln>
        </p:spPr>
      </p:sp>
      <p:cxnSp>
        <p:nvCxnSpPr>
          <p:cNvPr id="87" name="native PowerPoint connector">
            <a:extLst>
              <a:ext uri="{FF2B5EF4-FFF2-40B4-BE49-F238E27FC236}">
                <ns2:creationId id="{82A21AEC-EC43-4198-8808-FFDCF6FEB77E}"/>
              </a:ext>
            </a:extLst>
          </p:cNvPr>
          <p:cNvCxnSpPr/>
          <p:nvPr/>
        </p:nvCxnSpPr>
        <p:spPr>
          <a:xfrm flipH="0" flipV="0">
            <a:off x="161297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88" name="1">
            <a:extLst>
              <a:ext uri="{FF2B5EF4-FFF2-40B4-BE49-F238E27FC236}">
                <ns2:creationId id="{894FFDA3-B5C6-4CEA-898D-91D8F5B89FAB}"/>
              </a:ext>
            </a:extLst>
          </p:cNvPr>
          <p:cNvSpPr>
            <a:spLocks noGrp="1"/>
          </p:cNvSpPr>
          <p:nvPr/>
        </p:nvSpPr>
        <p:spPr>
          <a:xfrm>
            <a:off x="577174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89" name="4">
            <a:extLst>
              <a:ext uri="{FF2B5EF4-FFF2-40B4-BE49-F238E27FC236}">
                <ns2:creationId id="{0C64D9E7-6222-4719-BD9D-AF6A356A04CA}"/>
              </a:ext>
            </a:extLst>
          </p:cNvPr>
          <p:cNvSpPr>
            <a:spLocks noGrp="1"/>
          </p:cNvSpPr>
          <p:nvPr/>
        </p:nvSpPr>
        <p:spPr>
          <a:xfrm>
            <a:off x="7726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90" name="8">
            <a:extLst>
              <a:ext uri="{FF2B5EF4-FFF2-40B4-BE49-F238E27FC236}">
                <ns2:creationId id="{2515F659-AD2D-4C5A-B055-5A20420E3934}"/>
              </a:ext>
            </a:extLst>
          </p:cNvPr>
          <p:cNvSpPr>
            <a:spLocks noGrp="1"/>
          </p:cNvSpPr>
          <p:nvPr/>
        </p:nvSpPr>
        <p:spPr>
          <a:xfrm>
            <a:off x="1033302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91" name="12">
            <a:extLst>
              <a:ext uri="{FF2B5EF4-FFF2-40B4-BE49-F238E27FC236}">
                <ns2:creationId id="{9B34D402-1B2D-48E3-8647-BD981FEFFD2C}"/>
              </a:ext>
            </a:extLst>
          </p:cNvPr>
          <p:cNvSpPr>
            <a:spLocks noGrp="1"/>
          </p:cNvSpPr>
          <p:nvPr/>
        </p:nvSpPr>
        <p:spPr>
          <a:xfrm>
            <a:off x="1293946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12</a:t>
            </a:r>
          </a:p>
        </p:txBody>
      </p:sp>
      <p:sp>
        <p:nvSpPr>
          <p:cNvPr id="92" name="16">
            <a:extLst>
              <a:ext uri="{FF2B5EF4-FFF2-40B4-BE49-F238E27FC236}">
                <ns2:creationId id="{8872E86A-EA0F-4C10-9CF4-04E4C8583CB3}"/>
              </a:ext>
            </a:extLst>
          </p:cNvPr>
          <p:cNvSpPr>
            <a:spLocks noGrp="1"/>
          </p:cNvSpPr>
          <p:nvPr/>
        </p:nvSpPr>
        <p:spPr>
          <a:xfrm>
            <a:off x="1554590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16</a:t>
            </a:r>
          </a:p>
        </p:txBody>
      </p:sp>
      <p:sp>
        <p:nvSpPr>
          <p:cNvPr id="93" name="Bin index">
            <a:extLst>
              <a:ext uri="{FF2B5EF4-FFF2-40B4-BE49-F238E27FC236}">
                <ns2:creationId id="{6A04C70C-8B0D-4CE0-8CF9-ACE5FB962D7C}"/>
              </a:ext>
            </a:extLst>
          </p:cNvPr>
          <p:cNvSpPr>
            <a:spLocks noGrp="1"/>
          </p:cNvSpPr>
          <p:nvPr/>
        </p:nvSpPr>
        <p:spPr>
          <a:xfrm>
            <a:off x="835238" y="3323860"/>
            <a:ext cx="603869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Bin index</a:t>
            </a:r>
          </a:p>
        </p:txBody>
      </p:sp>
      <p:sp>
        <p:nvSpPr>
          <p:cNvPr id="94" name="Probability">
            <a:extLst>
              <a:ext uri="{FF2B5EF4-FFF2-40B4-BE49-F238E27FC236}">
                <ns2:creationId id="{39A66FB1-130E-44B9-9117-232F96CCCBE2}"/>
              </a:ext>
            </a:extLst>
          </p:cNvPr>
          <p:cNvSpPr>
            <a:spLocks noGrp="1"/>
          </p:cNvSpPr>
          <p:nvPr/>
        </p:nvSpPr>
        <p:spPr>
          <a:xfrm rot="16200000">
            <a:off x="102337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Probability</a:t>
            </a:r>
          </a:p>
        </p:txBody>
      </p:sp>
      <p:sp>
        <p:nvSpPr>
          <p:cNvPr id="95" name="diagram block">
            <a:extLst>
              <a:ext uri="{FF2B5EF4-FFF2-40B4-BE49-F238E27FC236}">
                <ns2:creationId id="{73E7123D-7F41-44DA-BA59-D4C24EAD3C57}"/>
              </a:ext>
            </a:extLst>
          </p:cNvPr>
          <p:cNvSpPr>
            <a:spLocks noGrp="1"/>
          </p:cNvSpPr>
          <p:nvPr/>
        </p:nvSpPr>
        <p:spPr>
          <a:xfrm>
            <a:off x="2001686" y="2725153"/>
            <a:ext cx="1037416" cy="438708"/>
          </a:xfrm>
          <a:prstGeom prst="rect">
            <a:avLst/>
          </a:prstGeom>
          <a:solidFill>
            <a:srgbClr val="FFFFFF"/>
          </a:solidFill>
          <a:ln w="4129">
            <a:solidFill>
              <a:srgbClr val="D9DEE5"/>
            </a:solidFill>
            <a:prstDash val="solid"/>
          </a:ln>
        </p:spPr>
      </p:sp>
      <p:cxnSp>
        <p:nvCxnSpPr>
          <p:cNvPr id="96" name="native PowerPoint connector">
            <a:extLst>
              <a:ext uri="{FF2B5EF4-FFF2-40B4-BE49-F238E27FC236}">
                <ns2:creationId id="{337D3FD8-3EFF-40F2-935B-0E85AA4568AD}"/>
              </a:ext>
            </a:extLst>
          </p:cNvPr>
          <p:cNvCxnSpPr/>
          <p:nvPr/>
        </p:nvCxnSpPr>
        <p:spPr>
          <a:xfrm flipH="0" flipV="0">
            <a:off x="2001686" y="3017625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7" name="0.1">
            <a:extLst>
              <a:ext uri="{FF2B5EF4-FFF2-40B4-BE49-F238E27FC236}">
                <ns2:creationId id="{104CCA0D-5780-4B6F-9B48-2ACD4725472D}"/>
              </a:ext>
            </a:extLst>
          </p:cNvPr>
          <p:cNvSpPr>
            <a:spLocks noGrp="1"/>
          </p:cNvSpPr>
          <p:nvPr/>
        </p:nvSpPr>
        <p:spPr>
          <a:xfrm>
            <a:off x="1826202" y="2971173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0.1</a:t>
            </a:r>
          </a:p>
        </p:txBody>
      </p:sp>
      <p:cxnSp>
        <p:nvCxnSpPr>
          <p:cNvPr id="98" name="native PowerPoint connector">
            <a:extLst>
              <a:ext uri="{FF2B5EF4-FFF2-40B4-BE49-F238E27FC236}">
                <ns2:creationId id="{CEB2FC13-774A-4BE2-BA1C-075C5D088697}"/>
              </a:ext>
            </a:extLst>
          </p:cNvPr>
          <p:cNvCxnSpPr/>
          <p:nvPr/>
        </p:nvCxnSpPr>
        <p:spPr>
          <a:xfrm flipH="0" flipV="0">
            <a:off x="2001686" y="2871389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99" name="0.2">
            <a:extLst>
              <a:ext uri="{FF2B5EF4-FFF2-40B4-BE49-F238E27FC236}">
                <ns2:creationId id="{0D0658FD-2886-4286-9545-8330D62AE72D}"/>
              </a:ext>
            </a:extLst>
          </p:cNvPr>
          <p:cNvSpPr>
            <a:spLocks noGrp="1"/>
          </p:cNvSpPr>
          <p:nvPr/>
        </p:nvSpPr>
        <p:spPr>
          <a:xfrm>
            <a:off x="1826202" y="2824937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0.2</a:t>
            </a:r>
          </a:p>
        </p:txBody>
      </p:sp>
      <p:cxnSp>
        <p:nvCxnSpPr>
          <p:cNvPr id="100" name="native PowerPoint connector">
            <a:extLst>
              <a:ext uri="{FF2B5EF4-FFF2-40B4-BE49-F238E27FC236}">
                <ns2:creationId id="{3031C7B3-17EA-4B75-869B-837FFDC14532}"/>
              </a:ext>
            </a:extLst>
          </p:cNvPr>
          <p:cNvCxnSpPr/>
          <p:nvPr/>
        </p:nvCxnSpPr>
        <p:spPr>
          <a:xfrm flipH="0" flipV="0">
            <a:off x="2001686" y="2725153"/>
            <a:ext cx="1037416" cy="0"/>
          </a:xfrm>
          <a:prstGeom prst="straightConnector1">
            <a:avLst/>
          </a:prstGeom>
          <a:ln w="3097">
            <a:solidFill>
              <a:srgbClr val="E3E8ED"/>
            </a:solidFill>
            <a:prstDash val="solid"/>
          </a:ln>
        </p:spPr>
      </p:cxnSp>
      <p:sp>
        <p:nvSpPr>
          <p:cNvPr id="101" name="0.3">
            <a:extLst>
              <a:ext uri="{FF2B5EF4-FFF2-40B4-BE49-F238E27FC236}">
                <ns2:creationId id="{167AD3DC-5C88-4813-815D-50E20AF47A5B}"/>
              </a:ext>
            </a:extLst>
          </p:cNvPr>
          <p:cNvSpPr>
            <a:spLocks noGrp="1"/>
          </p:cNvSpPr>
          <p:nvPr/>
        </p:nvSpPr>
        <p:spPr>
          <a:xfrm>
            <a:off x="1826202" y="2678701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0.3</a:t>
            </a:r>
          </a:p>
        </p:txBody>
      </p:sp>
      <p:cxnSp>
        <p:nvCxnSpPr>
          <p:cNvPr id="102" name="native PowerPoint connector">
            <a:extLst>
              <a:ext uri="{FF2B5EF4-FFF2-40B4-BE49-F238E27FC236}">
                <ns2:creationId id="{DE553EBC-F219-4B24-BE4C-FB02D91D101D}"/>
              </a:ext>
            </a:extLst>
          </p:cNvPr>
          <p:cNvCxnSpPr/>
          <p:nvPr/>
        </p:nvCxnSpPr>
        <p:spPr>
          <a:xfrm flipH="0" flipV="0">
            <a:off x="2001686" y="2725153"/>
            <a:ext cx="0" cy="438708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cxnSp>
        <p:nvCxnSpPr>
          <p:cNvPr id="103" name="native PowerPoint connector">
            <a:extLst>
              <a:ext uri="{FF2B5EF4-FFF2-40B4-BE49-F238E27FC236}">
                <ns2:creationId id="{AC0A2817-4997-4977-BA2E-4F05531DCA70}"/>
              </a:ext>
            </a:extLst>
          </p:cNvPr>
          <p:cNvCxnSpPr/>
          <p:nvPr/>
        </p:nvCxnSpPr>
        <p:spPr>
          <a:xfrm flipH="0" flipV="0">
            <a:off x="2001686" y="3163861"/>
            <a:ext cx="1037416" cy="0"/>
          </a:xfrm>
          <a:prstGeom prst="straightConnector1">
            <a:avLst/>
          </a:prstGeom>
          <a:ln w="6194">
            <a:solidFill>
              <a:srgbClr val="071B3C"/>
            </a:solidFill>
            <a:prstDash val="solid"/>
          </a:ln>
        </p:spPr>
      </p:cxnSp>
      <p:sp>
        <p:nvSpPr>
          <p:cNvPr id="104" name="0.0">
            <a:extLst>
              <a:ext uri="{FF2B5EF4-FFF2-40B4-BE49-F238E27FC236}">
                <ns2:creationId id="{1B948883-F323-47C7-B5DB-8564AB857AB6}"/>
              </a:ext>
            </a:extLst>
          </p:cNvPr>
          <p:cNvSpPr>
            <a:spLocks noGrp="1"/>
          </p:cNvSpPr>
          <p:nvPr/>
        </p:nvSpPr>
        <p:spPr>
          <a:xfrm>
            <a:off x="1826202" y="3117409"/>
            <a:ext cx="154838" cy="9290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8220"/>
          </a:bodyPr>
          <a:lstStyle>
            <a:def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0.0</a:t>
            </a:r>
          </a:p>
        </p:txBody>
      </p:sp>
      <p:sp>
        <p:nvSpPr>
          <p:cNvPr id="105" name="diagram block">
            <a:extLst>
              <a:ext uri="{FF2B5EF4-FFF2-40B4-BE49-F238E27FC236}">
                <ns2:creationId id="{F58DA058-6844-4BB7-98DB-CD43C804E8EB}"/>
              </a:ext>
            </a:extLst>
          </p:cNvPr>
          <p:cNvSpPr>
            <a:spLocks noGrp="1"/>
          </p:cNvSpPr>
          <p:nvPr/>
        </p:nvSpPr>
        <p:spPr>
          <a:xfrm>
            <a:off x="2009427" y="3160790"/>
            <a:ext cx="49355" cy="307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06" name="native PowerPoint connector">
            <a:extLst>
              <a:ext uri="{FF2B5EF4-FFF2-40B4-BE49-F238E27FC236}">
                <ns2:creationId id="{CF60BB7D-76A4-4DF5-94C9-78FAA4F6A5D0}"/>
              </a:ext>
            </a:extLst>
          </p:cNvPr>
          <p:cNvCxnSpPr/>
          <p:nvPr/>
        </p:nvCxnSpPr>
        <p:spPr>
          <a:xfrm flipH="0" flipV="0">
            <a:off x="20341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7" name="diagram block">
            <a:extLst>
              <a:ext uri="{FF2B5EF4-FFF2-40B4-BE49-F238E27FC236}">
                <ns2:creationId id="{04DBD7BA-F8CF-4456-9DC6-C217F828E3C4}"/>
              </a:ext>
            </a:extLst>
          </p:cNvPr>
          <p:cNvSpPr>
            <a:spLocks noGrp="1"/>
          </p:cNvSpPr>
          <p:nvPr/>
        </p:nvSpPr>
        <p:spPr>
          <a:xfrm>
            <a:off x="2074266" y="3155964"/>
            <a:ext cx="49355" cy="78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08" name="native PowerPoint connector">
            <a:extLst>
              <a:ext uri="{FF2B5EF4-FFF2-40B4-BE49-F238E27FC236}">
                <ns2:creationId id="{7D1E6662-54BB-4B0A-8D95-F74673E7342C}"/>
              </a:ext>
            </a:extLst>
          </p:cNvPr>
          <p:cNvCxnSpPr/>
          <p:nvPr/>
        </p:nvCxnSpPr>
        <p:spPr>
          <a:xfrm flipH="0" flipV="0">
            <a:off x="209894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09" name="diagram block">
            <a:extLst>
              <a:ext uri="{FF2B5EF4-FFF2-40B4-BE49-F238E27FC236}">
                <ns2:creationId id="{1241AE9B-A9BB-4041-98FB-4AFB92F4C64E}"/>
              </a:ext>
            </a:extLst>
          </p:cNvPr>
          <p:cNvSpPr>
            <a:spLocks noGrp="1"/>
          </p:cNvSpPr>
          <p:nvPr/>
        </p:nvSpPr>
        <p:spPr>
          <a:xfrm>
            <a:off x="2139105" y="3145435"/>
            <a:ext cx="49355" cy="18426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0" name="native PowerPoint connector">
            <a:extLst>
              <a:ext uri="{FF2B5EF4-FFF2-40B4-BE49-F238E27FC236}">
                <ns2:creationId id="{8B9E285A-3DF5-448F-B93C-5B239C3C129E}"/>
              </a:ext>
            </a:extLst>
          </p:cNvPr>
          <p:cNvCxnSpPr/>
          <p:nvPr/>
        </p:nvCxnSpPr>
        <p:spPr>
          <a:xfrm flipH="0" flipV="0">
            <a:off x="21637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1" name="diagram block">
            <a:extLst>
              <a:ext uri="{FF2B5EF4-FFF2-40B4-BE49-F238E27FC236}">
                <ns2:creationId id="{62C70EDC-E193-462E-AB03-2FE2A336262B}"/>
              </a:ext>
            </a:extLst>
          </p:cNvPr>
          <p:cNvSpPr>
            <a:spLocks noGrp="1"/>
          </p:cNvSpPr>
          <p:nvPr/>
        </p:nvSpPr>
        <p:spPr>
          <a:xfrm>
            <a:off x="2203943" y="3124377"/>
            <a:ext cx="49355" cy="39484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2" name="native PowerPoint connector">
            <a:extLst>
              <a:ext uri="{FF2B5EF4-FFF2-40B4-BE49-F238E27FC236}">
                <ns2:creationId id="{68FD338E-6FD4-4F33-838F-C9C856E83780}"/>
              </a:ext>
            </a:extLst>
          </p:cNvPr>
          <p:cNvCxnSpPr/>
          <p:nvPr/>
        </p:nvCxnSpPr>
        <p:spPr>
          <a:xfrm flipH="0" flipV="0">
            <a:off x="222862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3" name="diagram block">
            <a:extLst>
              <a:ext uri="{FF2B5EF4-FFF2-40B4-BE49-F238E27FC236}">
                <ns2:creationId id="{294E7A7E-996C-477D-B489-46BF355FA61B}"/>
              </a:ext>
            </a:extLst>
          </p:cNvPr>
          <p:cNvSpPr>
            <a:spLocks noGrp="1"/>
          </p:cNvSpPr>
          <p:nvPr/>
        </p:nvSpPr>
        <p:spPr>
          <a:xfrm>
            <a:off x="2268782" y="3084893"/>
            <a:ext cx="49355" cy="7896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4" name="native PowerPoint connector">
            <a:extLst>
              <a:ext uri="{FF2B5EF4-FFF2-40B4-BE49-F238E27FC236}">
                <ns2:creationId id="{6F0ECEC2-6D89-4C2F-8AFB-AF6B2B3A8E2A}"/>
              </a:ext>
            </a:extLst>
          </p:cNvPr>
          <p:cNvCxnSpPr/>
          <p:nvPr/>
        </p:nvCxnSpPr>
        <p:spPr>
          <a:xfrm flipH="0" flipV="0">
            <a:off x="2293459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5" name="diagram block">
            <a:extLst>
              <a:ext uri="{FF2B5EF4-FFF2-40B4-BE49-F238E27FC236}">
                <ns2:creationId id="{CDBCAC10-56FE-4E7B-BB90-C8A9D79D2350}"/>
              </a:ext>
            </a:extLst>
          </p:cNvPr>
          <p:cNvSpPr>
            <a:spLocks noGrp="1"/>
          </p:cNvSpPr>
          <p:nvPr/>
        </p:nvSpPr>
        <p:spPr>
          <a:xfrm>
            <a:off x="2333620" y="3010313"/>
            <a:ext cx="49355" cy="153548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6" name="native PowerPoint connector">
            <a:extLst>
              <a:ext uri="{FF2B5EF4-FFF2-40B4-BE49-F238E27FC236}">
                <ns2:creationId id="{528077CD-4461-4375-93E5-DD4D9BF47833}"/>
              </a:ext>
            </a:extLst>
          </p:cNvPr>
          <p:cNvCxnSpPr/>
          <p:nvPr/>
        </p:nvCxnSpPr>
        <p:spPr>
          <a:xfrm flipH="0" flipV="0">
            <a:off x="235829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7" name="diagram block">
            <a:extLst>
              <a:ext uri="{FF2B5EF4-FFF2-40B4-BE49-F238E27FC236}">
                <ns2:creationId id="{E0AC7C11-8B47-49BE-99A2-84B0FF459788}"/>
              </a:ext>
            </a:extLst>
          </p:cNvPr>
          <p:cNvSpPr>
            <a:spLocks noGrp="1"/>
          </p:cNvSpPr>
          <p:nvPr/>
        </p:nvSpPr>
        <p:spPr>
          <a:xfrm>
            <a:off x="2398459" y="2900636"/>
            <a:ext cx="49355" cy="263225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18" name="native PowerPoint connector">
            <a:extLst>
              <a:ext uri="{FF2B5EF4-FFF2-40B4-BE49-F238E27FC236}">
                <ns2:creationId id="{8298B1F1-887A-4D42-B722-47C2E8D33A3C}"/>
              </a:ext>
            </a:extLst>
          </p:cNvPr>
          <p:cNvCxnSpPr/>
          <p:nvPr/>
        </p:nvCxnSpPr>
        <p:spPr>
          <a:xfrm flipH="0" flipV="0">
            <a:off x="2423136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19" name="diagram block">
            <a:extLst>
              <a:ext uri="{FF2B5EF4-FFF2-40B4-BE49-F238E27FC236}">
                <ns2:creationId id="{6945BACD-E5FE-4953-A43E-4CBD8BFA2174}"/>
              </a:ext>
            </a:extLst>
          </p:cNvPr>
          <p:cNvSpPr>
            <a:spLocks noGrp="1"/>
          </p:cNvSpPr>
          <p:nvPr/>
        </p:nvSpPr>
        <p:spPr>
          <a:xfrm>
            <a:off x="2463297" y="2804120"/>
            <a:ext cx="49355" cy="359741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0" name="native PowerPoint connector">
            <a:extLst>
              <a:ext uri="{FF2B5EF4-FFF2-40B4-BE49-F238E27FC236}">
                <ns2:creationId id="{281C57B3-7CBF-44D6-9943-4C04B13C27FA}"/>
              </a:ext>
            </a:extLst>
          </p:cNvPr>
          <p:cNvCxnSpPr/>
          <p:nvPr/>
        </p:nvCxnSpPr>
        <p:spPr>
          <a:xfrm flipH="0" flipV="0">
            <a:off x="248797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1" name="diagram block">
            <a:extLst>
              <a:ext uri="{FF2B5EF4-FFF2-40B4-BE49-F238E27FC236}">
                <ns2:creationId id="{8620D4F2-0A1C-4292-B4DE-63BEBBE3E2C7}"/>
              </a:ext>
            </a:extLst>
          </p:cNvPr>
          <p:cNvSpPr>
            <a:spLocks noGrp="1"/>
          </p:cNvSpPr>
          <p:nvPr/>
        </p:nvSpPr>
        <p:spPr>
          <a:xfrm>
            <a:off x="2528136" y="2777798"/>
            <a:ext cx="49355" cy="386063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2" name="native PowerPoint connector">
            <a:extLst>
              <a:ext uri="{FF2B5EF4-FFF2-40B4-BE49-F238E27FC236}">
                <ns2:creationId id="{0DF28E94-6A71-43A1-B739-7C7F4BCA9CF7}"/>
              </a:ext>
            </a:extLst>
          </p:cNvPr>
          <p:cNvCxnSpPr/>
          <p:nvPr/>
        </p:nvCxnSpPr>
        <p:spPr>
          <a:xfrm flipH="0" flipV="0">
            <a:off x="2552813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3" name="diagram block">
            <a:extLst>
              <a:ext uri="{FF2B5EF4-FFF2-40B4-BE49-F238E27FC236}">
                <ns2:creationId id="{1C22D5AD-BD4B-44B3-9227-691909C55A19}"/>
              </a:ext>
            </a:extLst>
          </p:cNvPr>
          <p:cNvSpPr>
            <a:spLocks noGrp="1"/>
          </p:cNvSpPr>
          <p:nvPr/>
        </p:nvSpPr>
        <p:spPr>
          <a:xfrm>
            <a:off x="2592974" y="2878701"/>
            <a:ext cx="49355" cy="28516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4" name="native PowerPoint connector">
            <a:extLst>
              <a:ext uri="{FF2B5EF4-FFF2-40B4-BE49-F238E27FC236}">
                <ns2:creationId id="{94831BCE-7BDC-408A-9B55-42D1D590B4F7}"/>
              </a:ext>
            </a:extLst>
          </p:cNvPr>
          <p:cNvCxnSpPr/>
          <p:nvPr/>
        </p:nvCxnSpPr>
        <p:spPr>
          <a:xfrm flipH="0" flipV="0">
            <a:off x="2617651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5" name="diagram block">
            <a:extLst>
              <a:ext uri="{FF2B5EF4-FFF2-40B4-BE49-F238E27FC236}">
                <ns2:creationId id="{63FBD8FB-1F30-440A-9E84-A5DDD390A3D8}"/>
              </a:ext>
            </a:extLst>
          </p:cNvPr>
          <p:cNvSpPr>
            <a:spLocks noGrp="1"/>
          </p:cNvSpPr>
          <p:nvPr/>
        </p:nvSpPr>
        <p:spPr>
          <a:xfrm>
            <a:off x="2657813" y="3001539"/>
            <a:ext cx="49355" cy="16232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6" name="native PowerPoint connector">
            <a:extLst>
              <a:ext uri="{FF2B5EF4-FFF2-40B4-BE49-F238E27FC236}">
                <ns2:creationId id="{3AF43F05-89D1-45BF-8DB0-44781707E8DB}"/>
              </a:ext>
            </a:extLst>
          </p:cNvPr>
          <p:cNvCxnSpPr/>
          <p:nvPr/>
        </p:nvCxnSpPr>
        <p:spPr>
          <a:xfrm flipH="0" flipV="0">
            <a:off x="2682490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7" name="diagram block">
            <a:extLst>
              <a:ext uri="{FF2B5EF4-FFF2-40B4-BE49-F238E27FC236}">
                <ns2:creationId id="{0BBA47FC-3C40-412E-B1AF-7493F4F45B08}"/>
              </a:ext>
            </a:extLst>
          </p:cNvPr>
          <p:cNvSpPr>
            <a:spLocks noGrp="1"/>
          </p:cNvSpPr>
          <p:nvPr/>
        </p:nvSpPr>
        <p:spPr>
          <a:xfrm>
            <a:off x="2722651" y="3089281"/>
            <a:ext cx="49355" cy="74580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28" name="native PowerPoint connector">
            <a:extLst>
              <a:ext uri="{FF2B5EF4-FFF2-40B4-BE49-F238E27FC236}">
                <ns2:creationId id="{B8931BA4-438D-4B6C-B0E2-8E627B82669B}"/>
              </a:ext>
            </a:extLst>
          </p:cNvPr>
          <p:cNvCxnSpPr/>
          <p:nvPr/>
        </p:nvCxnSpPr>
        <p:spPr>
          <a:xfrm flipH="0" flipV="0">
            <a:off x="2747328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29" name="diagram block">
            <a:extLst>
              <a:ext uri="{FF2B5EF4-FFF2-40B4-BE49-F238E27FC236}">
                <ns2:creationId id="{F0B04000-698B-4E8D-95B7-6691F7A16D8E}"/>
              </a:ext>
            </a:extLst>
          </p:cNvPr>
          <p:cNvSpPr>
            <a:spLocks noGrp="1"/>
          </p:cNvSpPr>
          <p:nvPr/>
        </p:nvSpPr>
        <p:spPr>
          <a:xfrm>
            <a:off x="2787490" y="3128764"/>
            <a:ext cx="49355" cy="3509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0" name="native PowerPoint connector">
            <a:extLst>
              <a:ext uri="{FF2B5EF4-FFF2-40B4-BE49-F238E27FC236}">
                <ns2:creationId id="{2E1BC002-38AA-4733-915A-05DC2B13AC64}"/>
              </a:ext>
            </a:extLst>
          </p:cNvPr>
          <p:cNvCxnSpPr/>
          <p:nvPr/>
        </p:nvCxnSpPr>
        <p:spPr>
          <a:xfrm flipH="0" flipV="0">
            <a:off x="2812167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1" name="diagram block">
            <a:extLst>
              <a:ext uri="{FF2B5EF4-FFF2-40B4-BE49-F238E27FC236}">
                <ns2:creationId id="{F499A92C-6AD2-4BD0-B1F5-1DEF560C794E}"/>
              </a:ext>
            </a:extLst>
          </p:cNvPr>
          <p:cNvSpPr>
            <a:spLocks noGrp="1"/>
          </p:cNvSpPr>
          <p:nvPr/>
        </p:nvSpPr>
        <p:spPr>
          <a:xfrm>
            <a:off x="2852328" y="3149384"/>
            <a:ext cx="49355" cy="14477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2" name="native PowerPoint connector">
            <a:extLst>
              <a:ext uri="{FF2B5EF4-FFF2-40B4-BE49-F238E27FC236}">
                <ns2:creationId id="{B7684956-7B92-40A5-836D-D36E7A6A8744}"/>
              </a:ext>
            </a:extLst>
          </p:cNvPr>
          <p:cNvCxnSpPr/>
          <p:nvPr/>
        </p:nvCxnSpPr>
        <p:spPr>
          <a:xfrm flipH="0" flipV="0">
            <a:off x="2877005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3" name="diagram block">
            <a:extLst>
              <a:ext uri="{FF2B5EF4-FFF2-40B4-BE49-F238E27FC236}">
                <ns2:creationId id="{1BAF0616-6A29-4EDD-969A-BFAC1BE8B238}"/>
              </a:ext>
            </a:extLst>
          </p:cNvPr>
          <p:cNvSpPr>
            <a:spLocks noGrp="1"/>
          </p:cNvSpPr>
          <p:nvPr/>
        </p:nvSpPr>
        <p:spPr>
          <a:xfrm>
            <a:off x="2917167" y="3157719"/>
            <a:ext cx="49355" cy="614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4" name="native PowerPoint connector">
            <a:extLst>
              <a:ext uri="{FF2B5EF4-FFF2-40B4-BE49-F238E27FC236}">
                <ns2:creationId id="{0D7CDC23-8A0D-4012-80DA-00331C2E7139}"/>
              </a:ext>
            </a:extLst>
          </p:cNvPr>
          <p:cNvCxnSpPr/>
          <p:nvPr/>
        </p:nvCxnSpPr>
        <p:spPr>
          <a:xfrm flipH="0" flipV="0">
            <a:off x="2941844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5" name="diagram block">
            <a:extLst>
              <a:ext uri="{FF2B5EF4-FFF2-40B4-BE49-F238E27FC236}">
                <ns2:creationId id="{43BD09DC-7CA3-4D2D-826F-E1FC797CDA60}"/>
              </a:ext>
            </a:extLst>
          </p:cNvPr>
          <p:cNvSpPr>
            <a:spLocks noGrp="1"/>
          </p:cNvSpPr>
          <p:nvPr/>
        </p:nvSpPr>
        <p:spPr>
          <a:xfrm>
            <a:off x="2982005" y="3161229"/>
            <a:ext cx="49355" cy="2632"/>
          </a:xfrm>
          <a:prstGeom prst="rect">
            <a:avLst/>
          </a:prstGeom>
          <a:gradFill>
            <a:gsLst>
              <a:gs pos="0">
                <a:srgbClr val="3E9CE0"/>
              </a:gs>
              <a:gs pos="100000">
                <a:srgbClr val="DCEFEB"/>
              </a:gs>
            </a:gsLst>
            <a:lin ang="5400000"/>
          </a:gradFill>
          <a:ln w="3097">
            <a:solidFill>
              <a:srgbClr val="2E639F"/>
            </a:solidFill>
            <a:prstDash val="solid"/>
          </a:ln>
        </p:spPr>
      </p:sp>
      <p:cxnSp>
        <p:nvCxnSpPr>
          <p:cNvPr id="136" name="native PowerPoint connector">
            <a:extLst>
              <a:ext uri="{FF2B5EF4-FFF2-40B4-BE49-F238E27FC236}">
                <ns2:creationId id="{25810180-CD89-4FC2-8BFE-E6F10C93FDA6}"/>
              </a:ext>
            </a:extLst>
          </p:cNvPr>
          <p:cNvCxnSpPr/>
          <p:nvPr/>
        </p:nvCxnSpPr>
        <p:spPr>
          <a:xfrm flipH="0" flipV="0">
            <a:off x="3006682" y="3163861"/>
            <a:ext cx="0" cy="20645"/>
          </a:xfrm>
          <a:prstGeom prst="straightConnector1">
            <a:avLst/>
          </a:prstGeom>
          <a:ln w="3613">
            <a:solidFill>
              <a:srgbClr val="071B3C"/>
            </a:solidFill>
            <a:prstDash val="solid"/>
          </a:ln>
        </p:spPr>
      </p:cxnSp>
      <p:sp>
        <p:nvSpPr>
          <p:cNvPr id="137" name="1">
            <a:extLst>
              <a:ext uri="{FF2B5EF4-FFF2-40B4-BE49-F238E27FC236}">
                <ns2:creationId id="{E35EC87E-D33A-443E-8396-A320AEB9986B}"/>
              </a:ext>
            </a:extLst>
          </p:cNvPr>
          <p:cNvSpPr>
            <a:spLocks noGrp="1"/>
          </p:cNvSpPr>
          <p:nvPr/>
        </p:nvSpPr>
        <p:spPr>
          <a:xfrm>
            <a:off x="197587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38" name="4">
            <a:extLst>
              <a:ext uri="{FF2B5EF4-FFF2-40B4-BE49-F238E27FC236}">
                <ns2:creationId id="{83F68D0F-41B2-4A0B-AE7E-1A1E5A476139}"/>
              </a:ext>
            </a:extLst>
          </p:cNvPr>
          <p:cNvSpPr>
            <a:spLocks noGrp="1"/>
          </p:cNvSpPr>
          <p:nvPr/>
        </p:nvSpPr>
        <p:spPr>
          <a:xfrm>
            <a:off x="2170395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139" name="8">
            <a:extLst>
              <a:ext uri="{FF2B5EF4-FFF2-40B4-BE49-F238E27FC236}">
                <ns2:creationId id="{0EFA2202-0A72-4192-9176-069AEC683AB9}"/>
              </a:ext>
            </a:extLst>
          </p:cNvPr>
          <p:cNvSpPr>
            <a:spLocks noGrp="1"/>
          </p:cNvSpPr>
          <p:nvPr/>
        </p:nvSpPr>
        <p:spPr>
          <a:xfrm>
            <a:off x="2429749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140" name="12">
            <a:extLst>
              <a:ext uri="{FF2B5EF4-FFF2-40B4-BE49-F238E27FC236}">
                <ns2:creationId id="{27317FA1-FB66-4B9B-9B6D-75E4ABEF160E}"/>
              </a:ext>
            </a:extLst>
          </p:cNvPr>
          <p:cNvSpPr>
            <a:spLocks noGrp="1"/>
          </p:cNvSpPr>
          <p:nvPr/>
        </p:nvSpPr>
        <p:spPr>
          <a:xfrm>
            <a:off x="2689103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12</a:t>
            </a:r>
          </a:p>
        </p:txBody>
      </p:sp>
      <p:sp>
        <p:nvSpPr>
          <p:cNvPr id="141" name="16">
            <a:extLst>
              <a:ext uri="{FF2B5EF4-FFF2-40B4-BE49-F238E27FC236}">
                <ns2:creationId id="{CC1073CD-0339-447E-A742-362DE35103CE}"/>
              </a:ext>
            </a:extLst>
          </p:cNvPr>
          <p:cNvSpPr>
            <a:spLocks noGrp="1"/>
          </p:cNvSpPr>
          <p:nvPr/>
        </p:nvSpPr>
        <p:spPr>
          <a:xfrm>
            <a:off x="2948457" y="3210312"/>
            <a:ext cx="113548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16</a:t>
            </a:r>
          </a:p>
        </p:txBody>
      </p:sp>
      <p:sp>
        <p:nvSpPr>
          <p:cNvPr id="142" name="Bin index">
            <a:extLst>
              <a:ext uri="{FF2B5EF4-FFF2-40B4-BE49-F238E27FC236}">
                <ns2:creationId id="{03E1253A-2671-44DF-8D04-4C64AE8B2E6F}"/>
              </a:ext>
            </a:extLst>
          </p:cNvPr>
          <p:cNvSpPr>
            <a:spLocks noGrp="1"/>
          </p:cNvSpPr>
          <p:nvPr/>
        </p:nvSpPr>
        <p:spPr>
          <a:xfrm>
            <a:off x="2233943" y="3323860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Bin index</a:t>
            </a:r>
          </a:p>
        </p:txBody>
      </p:sp>
      <p:sp>
        <p:nvSpPr>
          <p:cNvPr id="143" name="Probability">
            <a:extLst>
              <a:ext uri="{FF2B5EF4-FFF2-40B4-BE49-F238E27FC236}">
                <ns2:creationId id="{AE0D5A79-61A2-45E1-ABB4-2A2D08011887}"/>
              </a:ext>
            </a:extLst>
          </p:cNvPr>
          <p:cNvSpPr>
            <a:spLocks noGrp="1"/>
          </p:cNvSpPr>
          <p:nvPr/>
        </p:nvSpPr>
        <p:spPr>
          <a:xfrm rot="16200000">
            <a:off x="1501042" y="2895475"/>
            <a:ext cx="598708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Probability</a:t>
            </a:r>
          </a:p>
        </p:txBody>
      </p:sp>
      <p:sp>
        <p:nvSpPr>
          <p:cNvPr id="144" name="diagram block">
            <a:extLst>
              <a:ext uri="{FF2B5EF4-FFF2-40B4-BE49-F238E27FC236}">
                <ns2:creationId id="{B776C13A-8BF4-4D03-8A44-6CBC4F23E5C5}"/>
              </a:ext>
            </a:extLst>
          </p:cNvPr>
          <p:cNvSpPr>
            <a:spLocks noGrp="1"/>
          </p:cNvSpPr>
          <p:nvPr/>
        </p:nvSpPr>
        <p:spPr>
          <a:xfrm>
            <a:off x="499755" y="3458054"/>
            <a:ext cx="2461928" cy="216774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A8098"/>
            </a:solidFill>
            <a:prstDash val="solid"/>
          </a:ln>
        </p:spPr>
      </p:sp>
      <p:sp>
        <p:nvSpPr>
          <p:cNvPr id="145" name="L_bin = mean KL(p_teacher || p_student)">
            <a:extLst>
              <a:ext uri="{FF2B5EF4-FFF2-40B4-BE49-F238E27FC236}">
                <ns2:creationId id="{DDD9FE13-F530-41E7-9863-761D5326C579}"/>
              </a:ext>
            </a:extLst>
          </p:cNvPr>
          <p:cNvSpPr>
            <a:spLocks noGrp="1"/>
          </p:cNvSpPr>
          <p:nvPr/>
        </p:nvSpPr>
        <p:spPr>
          <a:xfrm>
            <a:off x="613303" y="3504505"/>
            <a:ext cx="224515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121"/>
          </a:bodyPr>
          <a:lstStyle>
            <a:def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7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bin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mean KL(p</a:t>
            </a:r>
            <a:r>
              <a:rPr sz="77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teacher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|| p</a:t>
            </a:r>
            <a:r>
              <a:rPr sz="77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student</a:t>
            </a:r>
            <a:r>
              <a:rPr sz="1057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46" name="diagram block">
            <a:extLst>
              <a:ext uri="{FF2B5EF4-FFF2-40B4-BE49-F238E27FC236}">
                <ns2:creationId id="{B2A7D203-01F1-4AD2-8BD4-476FB3730B4C}"/>
              </a:ext>
            </a:extLst>
          </p:cNvPr>
          <p:cNvSpPr>
            <a:spLocks noGrp="1"/>
          </p:cNvSpPr>
          <p:nvPr/>
        </p:nvSpPr>
        <p:spPr>
          <a:xfrm>
            <a:off x="355239" y="3731601"/>
            <a:ext cx="2725153" cy="159999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2DDF7"/>
            </a:solidFill>
            <a:prstDash val="solid"/>
          </a:ln>
        </p:spPr>
      </p:sp>
      <p:sp>
        <p:nvSpPr>
          <p:cNvPr id="147" name="First 10 × 6 motor actions   |   Future latent (observed frame 0 excluded)">
            <a:extLst>
              <a:ext uri="{FF2B5EF4-FFF2-40B4-BE49-F238E27FC236}">
                <ns2:creationId id="{05027A4A-4047-4EFD-AFA1-6BE7BD351FE2}"/>
              </a:ext>
            </a:extLst>
          </p:cNvPr>
          <p:cNvSpPr>
            <a:spLocks noGrp="1"/>
          </p:cNvSpPr>
          <p:nvPr/>
        </p:nvSpPr>
        <p:spPr>
          <a:xfrm>
            <a:off x="381046" y="3757407"/>
            <a:ext cx="2673540" cy="108387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3934"/>
          </a:bodyPr>
          <a:lstStyle>
            <a:def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52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First 10 × 6 motor actions   |   Future latent (observed frame 0 excluded)</a:t>
            </a:r>
          </a:p>
        </p:txBody>
      </p:sp>
      <p:sp>
        <p:nvSpPr>
          <p:cNvPr id="148" name="Compute a 16-bin distribution for each scalar independently&#10;and average the">
            <a:extLst>
              <a:ext uri="{FF2B5EF4-FFF2-40B4-BE49-F238E27FC236}">
                <ns2:creationId id="{00110EE5-B11A-4CE0-AD9B-EF040DBD38BC}"/>
              </a:ext>
            </a:extLst>
          </p:cNvPr>
          <p:cNvSpPr>
            <a:spLocks noGrp="1"/>
          </p:cNvSpPr>
          <p:nvPr/>
        </p:nvSpPr>
        <p:spPr>
          <a:xfrm>
            <a:off x="432658" y="3927729"/>
            <a:ext cx="2580637" cy="2012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219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Compute a 16-bin distribution for each scalar independently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and average the KL over all scalars.</a:t>
            </a:r>
          </a:p>
        </p:txBody>
      </p:sp>
      <p:sp>
        <p:nvSpPr>
          <p:cNvPr id="149" name="diagram block">
            <a:extLst>
              <a:ext uri="{FF2B5EF4-FFF2-40B4-BE49-F238E27FC236}">
                <ns2:creationId id="{0AB779FF-73C8-42EB-A3AD-8810133DC308}"/>
              </a:ext>
            </a:extLst>
          </p:cNvPr>
          <p:cNvSpPr>
            <a:spLocks noGrp="1"/>
          </p:cNvSpPr>
          <p:nvPr/>
        </p:nvSpPr>
        <p:spPr>
          <a:xfrm>
            <a:off x="3261036" y="686449"/>
            <a:ext cx="2621927" cy="149677"/>
          </a:xfrm>
          <a:prstGeom prst="rect">
            <a:avLst/>
          </a:prstGeom>
          <a:solidFill>
            <a:srgbClr val="E6F2FF"/>
          </a:solidFill>
          <a:ln w="5161">
            <a:noFill/>
            <a:prstDash val="solid"/>
          </a:ln>
        </p:spPr>
      </p:sp>
      <p:sp>
        <p:nvSpPr>
          <p:cNvPr id="150" name="Ten ordered 6-D action vectors (first 10 actions)">
            <a:extLst>
              <a:ext uri="{FF2B5EF4-FFF2-40B4-BE49-F238E27FC236}">
                <ns2:creationId id="{7CD7F31F-8119-4066-A748-C6D873E8E0F6}"/>
              </a:ext>
            </a:extLst>
          </p:cNvPr>
          <p:cNvSpPr>
            <a:spLocks noGrp="1"/>
          </p:cNvSpPr>
          <p:nvPr/>
        </p:nvSpPr>
        <p:spPr>
          <a:xfrm>
            <a:off x="3286843" y="712256"/>
            <a:ext cx="2570314" cy="98064"/>
          </a:xfrm>
          <a:prstGeom prst="rect">
            <a:avLst/>
          </a:prstGeom>
          <a:solidFill>
            <a:srgbClr val="E6F2FF"/>
          </a:solidFill>
          <a:ln w="0">
            <a:noFill/>
          </a:ln>
        </p:spPr>
        <p:txBody>
          <a:bodyPr wrap="none" lIns="0" tIns="0" rIns="0" bIns="0" anchor="ctr">
            <a:normAutofit fontScale="79147"/>
          </a:bodyPr>
          <a:lstStyle>
            <a:def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Ten ordered 6-D action vectors (first 10 actions)</a:t>
            </a:r>
          </a:p>
        </p:txBody>
      </p:sp>
      <p:sp>
        <p:nvSpPr>
          <p:cNvPr id="151" name="diagram block">
            <a:extLst>
              <a:ext uri="{FF2B5EF4-FFF2-40B4-BE49-F238E27FC236}">
                <ns2:creationId id="{E920C6A7-6968-441C-A1F3-14B2C4918AA7}"/>
              </a:ext>
            </a:extLst>
          </p:cNvPr>
          <p:cNvSpPr>
            <a:spLocks noGrp="1"/>
          </p:cNvSpPr>
          <p:nvPr/>
        </p:nvSpPr>
        <p:spPr>
          <a:xfrm>
            <a:off x="3322972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2" name="a₁">
            <a:extLst>
              <a:ext uri="{FF2B5EF4-FFF2-40B4-BE49-F238E27FC236}">
                <ns2:creationId id="{4F90208B-1DA8-4A3B-A45D-D5DD37D6CDE6}"/>
              </a:ext>
            </a:extLst>
          </p:cNvPr>
          <p:cNvSpPr>
            <a:spLocks noGrp="1"/>
          </p:cNvSpPr>
          <p:nvPr/>
        </p:nvSpPr>
        <p:spPr>
          <a:xfrm>
            <a:off x="3348778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a₁</a:t>
            </a:r>
          </a:p>
        </p:txBody>
      </p:sp>
      <p:sp>
        <p:nvSpPr>
          <p:cNvPr id="153" name="diagram block">
            <a:extLst>
              <a:ext uri="{FF2B5EF4-FFF2-40B4-BE49-F238E27FC236}">
                <ns2:creationId id="{D53C570C-497F-45A9-983E-A2279FAF7403}"/>
              </a:ext>
            </a:extLst>
          </p:cNvPr>
          <p:cNvSpPr>
            <a:spLocks noGrp="1"/>
          </p:cNvSpPr>
          <p:nvPr/>
        </p:nvSpPr>
        <p:spPr>
          <a:xfrm>
            <a:off x="3529423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4" name="a₂">
            <a:extLst>
              <a:ext uri="{FF2B5EF4-FFF2-40B4-BE49-F238E27FC236}">
                <ns2:creationId id="{F013976D-6C0B-499E-8007-2288297133EE}"/>
              </a:ext>
            </a:extLst>
          </p:cNvPr>
          <p:cNvSpPr>
            <a:spLocks noGrp="1"/>
          </p:cNvSpPr>
          <p:nvPr/>
        </p:nvSpPr>
        <p:spPr>
          <a:xfrm>
            <a:off x="3555229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a₂</a:t>
            </a:r>
          </a:p>
        </p:txBody>
      </p:sp>
      <p:sp>
        <p:nvSpPr>
          <p:cNvPr id="155" name="diagram block">
            <a:extLst>
              <a:ext uri="{FF2B5EF4-FFF2-40B4-BE49-F238E27FC236}">
                <ns2:creationId id="{48F44411-9F00-4F81-B67D-B71D2763AFE4}"/>
              </a:ext>
            </a:extLst>
          </p:cNvPr>
          <p:cNvSpPr>
            <a:spLocks noGrp="1"/>
          </p:cNvSpPr>
          <p:nvPr/>
        </p:nvSpPr>
        <p:spPr>
          <a:xfrm>
            <a:off x="3735874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6" name="a₃">
            <a:extLst>
              <a:ext uri="{FF2B5EF4-FFF2-40B4-BE49-F238E27FC236}">
                <ns2:creationId id="{99BAC90D-196C-49CE-B3E9-CFF737041852}"/>
              </a:ext>
            </a:extLst>
          </p:cNvPr>
          <p:cNvSpPr>
            <a:spLocks noGrp="1"/>
          </p:cNvSpPr>
          <p:nvPr/>
        </p:nvSpPr>
        <p:spPr>
          <a:xfrm>
            <a:off x="3761680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a₃</a:t>
            </a:r>
          </a:p>
        </p:txBody>
      </p:sp>
      <p:sp>
        <p:nvSpPr>
          <p:cNvPr id="157" name="diagram block">
            <a:extLst>
              <a:ext uri="{FF2B5EF4-FFF2-40B4-BE49-F238E27FC236}">
                <ns2:creationId id="{5BD41C61-DB01-400A-B8AC-58C048741E6E}"/>
              </a:ext>
            </a:extLst>
          </p:cNvPr>
          <p:cNvSpPr>
            <a:spLocks noGrp="1"/>
          </p:cNvSpPr>
          <p:nvPr/>
        </p:nvSpPr>
        <p:spPr>
          <a:xfrm>
            <a:off x="3942325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58" name="a₄">
            <a:extLst>
              <a:ext uri="{FF2B5EF4-FFF2-40B4-BE49-F238E27FC236}">
                <ns2:creationId id="{1581B110-3267-4F46-B19D-A93B8DFFF756}"/>
              </a:ext>
            </a:extLst>
          </p:cNvPr>
          <p:cNvSpPr>
            <a:spLocks noGrp="1"/>
          </p:cNvSpPr>
          <p:nvPr/>
        </p:nvSpPr>
        <p:spPr>
          <a:xfrm>
            <a:off x="3968131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a₄</a:t>
            </a:r>
          </a:p>
        </p:txBody>
      </p:sp>
      <p:sp>
        <p:nvSpPr>
          <p:cNvPr id="159" name="diagram block">
            <a:extLst>
              <a:ext uri="{FF2B5EF4-FFF2-40B4-BE49-F238E27FC236}">
                <ns2:creationId id="{9B821FAC-D1A7-4485-9873-6345C2A65DC0}"/>
              </a:ext>
            </a:extLst>
          </p:cNvPr>
          <p:cNvSpPr>
            <a:spLocks noGrp="1"/>
          </p:cNvSpPr>
          <p:nvPr/>
        </p:nvSpPr>
        <p:spPr>
          <a:xfrm>
            <a:off x="414877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0" name="a₅">
            <a:extLst>
              <a:ext uri="{FF2B5EF4-FFF2-40B4-BE49-F238E27FC236}">
                <ns2:creationId id="{1F084919-FDA1-4790-ACCA-7AA51CF17246}"/>
              </a:ext>
            </a:extLst>
          </p:cNvPr>
          <p:cNvSpPr>
            <a:spLocks noGrp="1"/>
          </p:cNvSpPr>
          <p:nvPr/>
        </p:nvSpPr>
        <p:spPr>
          <a:xfrm>
            <a:off x="4174582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a₅</a:t>
            </a:r>
          </a:p>
        </p:txBody>
      </p:sp>
      <p:sp>
        <p:nvSpPr>
          <p:cNvPr id="161" name="diagram block">
            <a:extLst>
              <a:ext uri="{FF2B5EF4-FFF2-40B4-BE49-F238E27FC236}">
                <ns2:creationId id="{70C16F2A-A7E0-40EE-8828-4DF5DB65FB15}"/>
              </a:ext>
            </a:extLst>
          </p:cNvPr>
          <p:cNvSpPr>
            <a:spLocks noGrp="1"/>
          </p:cNvSpPr>
          <p:nvPr/>
        </p:nvSpPr>
        <p:spPr>
          <a:xfrm>
            <a:off x="4355226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2" name="a₆">
            <a:extLst>
              <a:ext uri="{FF2B5EF4-FFF2-40B4-BE49-F238E27FC236}">
                <ns2:creationId id="{BEC813EC-8595-425D-8596-9A86852C719D}"/>
              </a:ext>
            </a:extLst>
          </p:cNvPr>
          <p:cNvSpPr>
            <a:spLocks noGrp="1"/>
          </p:cNvSpPr>
          <p:nvPr/>
        </p:nvSpPr>
        <p:spPr>
          <a:xfrm>
            <a:off x="4381033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a₆</a:t>
            </a:r>
          </a:p>
        </p:txBody>
      </p:sp>
      <p:sp>
        <p:nvSpPr>
          <p:cNvPr id="163" name="diagram block">
            <a:extLst>
              <a:ext uri="{FF2B5EF4-FFF2-40B4-BE49-F238E27FC236}">
                <ns2:creationId id="{71335FC9-F430-49A8-B788-0AF950B01054}"/>
              </a:ext>
            </a:extLst>
          </p:cNvPr>
          <p:cNvSpPr>
            <a:spLocks noGrp="1"/>
          </p:cNvSpPr>
          <p:nvPr/>
        </p:nvSpPr>
        <p:spPr>
          <a:xfrm>
            <a:off x="4561677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4" name="a₇">
            <a:extLst>
              <a:ext uri="{FF2B5EF4-FFF2-40B4-BE49-F238E27FC236}">
                <ns2:creationId id="{B54BB421-2F5D-4908-ABC6-BCBC10160A0F}"/>
              </a:ext>
            </a:extLst>
          </p:cNvPr>
          <p:cNvSpPr>
            <a:spLocks noGrp="1"/>
          </p:cNvSpPr>
          <p:nvPr/>
        </p:nvSpPr>
        <p:spPr>
          <a:xfrm>
            <a:off x="4587484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a₇</a:t>
            </a:r>
          </a:p>
        </p:txBody>
      </p:sp>
      <p:sp>
        <p:nvSpPr>
          <p:cNvPr id="165" name="diagram block">
            <a:extLst>
              <a:ext uri="{FF2B5EF4-FFF2-40B4-BE49-F238E27FC236}">
                <ns2:creationId id="{CA07FAE2-402D-4852-A6B1-DEC5DF5CBD40}"/>
              </a:ext>
            </a:extLst>
          </p:cNvPr>
          <p:cNvSpPr>
            <a:spLocks noGrp="1"/>
          </p:cNvSpPr>
          <p:nvPr/>
        </p:nvSpPr>
        <p:spPr>
          <a:xfrm>
            <a:off x="4768128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6" name="a₈">
            <a:extLst>
              <a:ext uri="{FF2B5EF4-FFF2-40B4-BE49-F238E27FC236}">
                <ns2:creationId id="{F7780A48-A47B-4360-BD58-A565A01AB6EF}"/>
              </a:ext>
            </a:extLst>
          </p:cNvPr>
          <p:cNvSpPr>
            <a:spLocks noGrp="1"/>
          </p:cNvSpPr>
          <p:nvPr/>
        </p:nvSpPr>
        <p:spPr>
          <a:xfrm>
            <a:off x="4793935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a₈</a:t>
            </a:r>
          </a:p>
        </p:txBody>
      </p:sp>
      <p:sp>
        <p:nvSpPr>
          <p:cNvPr id="167" name="diagram block">
            <a:extLst>
              <a:ext uri="{FF2B5EF4-FFF2-40B4-BE49-F238E27FC236}">
                <ns2:creationId id="{5BD61AA8-C316-4601-BA6C-312554722C4C}"/>
              </a:ext>
            </a:extLst>
          </p:cNvPr>
          <p:cNvSpPr>
            <a:spLocks noGrp="1"/>
          </p:cNvSpPr>
          <p:nvPr/>
        </p:nvSpPr>
        <p:spPr>
          <a:xfrm>
            <a:off x="4974579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68" name="a₉">
            <a:extLst>
              <a:ext uri="{FF2B5EF4-FFF2-40B4-BE49-F238E27FC236}">
                <ns2:creationId id="{A7E9804B-9737-45C9-BA2D-C896A4558FDC}"/>
              </a:ext>
            </a:extLst>
          </p:cNvPr>
          <p:cNvSpPr>
            <a:spLocks noGrp="1"/>
          </p:cNvSpPr>
          <p:nvPr/>
        </p:nvSpPr>
        <p:spPr>
          <a:xfrm>
            <a:off x="5000386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a₉</a:t>
            </a:r>
          </a:p>
        </p:txBody>
      </p:sp>
      <p:sp>
        <p:nvSpPr>
          <p:cNvPr id="169" name="diagram block">
            <a:extLst>
              <a:ext uri="{FF2B5EF4-FFF2-40B4-BE49-F238E27FC236}">
                <ns2:creationId id="{F9B28099-A910-4F22-A80D-15B4300E8C96}"/>
              </a:ext>
            </a:extLst>
          </p:cNvPr>
          <p:cNvSpPr>
            <a:spLocks noGrp="1"/>
          </p:cNvSpPr>
          <p:nvPr/>
        </p:nvSpPr>
        <p:spPr>
          <a:xfrm>
            <a:off x="5181030" y="851610"/>
            <a:ext cx="185806" cy="221935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5161">
            <a:solidFill>
              <a:srgbClr val="5FACA0"/>
            </a:solidFill>
            <a:prstDash val="solid"/>
          </a:ln>
        </p:spPr>
      </p:sp>
      <p:sp>
        <p:nvSpPr>
          <p:cNvPr id="170" name="a₁₀">
            <a:extLst>
              <a:ext uri="{FF2B5EF4-FFF2-40B4-BE49-F238E27FC236}">
                <ns2:creationId id="{16F65773-F1E9-48C7-9843-B138829CE370}"/>
              </a:ext>
            </a:extLst>
          </p:cNvPr>
          <p:cNvSpPr>
            <a:spLocks noGrp="1"/>
          </p:cNvSpPr>
          <p:nvPr/>
        </p:nvSpPr>
        <p:spPr>
          <a:xfrm>
            <a:off x="5206837" y="877417"/>
            <a:ext cx="134193" cy="170322"/>
          </a:xfrm>
          <a:prstGeom prst="rect">
            <a:avLst/>
          </a:prstGeom>
          <a:gradFill>
            <a:gsLst>
              <a:gs pos="0">
                <a:srgbClr val="D7F2E8"/>
              </a:gs>
              <a:gs pos="100000">
                <a:srgbClr val="EFFAF5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94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a₁₀</a:t>
            </a:r>
          </a:p>
        </p:txBody>
      </p:sp>
      <p:sp>
        <p:nvSpPr>
          <p:cNvPr id="171" name="Each aₜ ∈ ℝ⁶">
            <a:extLst>
              <a:ext uri="{FF2B5EF4-FFF2-40B4-BE49-F238E27FC236}">
                <ns2:creationId id="{54F5DF13-2A0E-4E4E-8531-986906A1C716}"/>
              </a:ext>
            </a:extLst>
          </p:cNvPr>
          <p:cNvSpPr>
            <a:spLocks noGrp="1"/>
          </p:cNvSpPr>
          <p:nvPr/>
        </p:nvSpPr>
        <p:spPr>
          <a:xfrm>
            <a:off x="5423610" y="939352"/>
            <a:ext cx="474837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082"/>
          </a:bodyPr>
          <a:lstStyle>
            <a:def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aₜ ∈ ℝ⁶</a:t>
            </a:r>
          </a:p>
        </p:txBody>
      </p:sp>
      <p:cxnSp>
        <p:nvCxnSpPr>
          <p:cNvPr id="172" name="native PowerPoint connector">
            <a:extLst>
              <a:ext uri="{FF2B5EF4-FFF2-40B4-BE49-F238E27FC236}">
                <ns2:creationId id="{5214D86A-68CF-4249-B922-380318E1B07B}"/>
              </a:ext>
            </a:extLst>
          </p:cNvPr>
          <p:cNvCxnSpPr/>
          <p:nvPr/>
        </p:nvCxnSpPr>
        <p:spPr>
          <a:xfrm flipH="0" flipV="0">
            <a:off x="4515226" y="1109674"/>
            <a:ext cx="0" cy="144516"/>
          </a:xfrm>
          <a:prstGeom prst="straightConnector1">
            <a:avLst/>
          </a:prstGeom>
          <a:ln w="10323">
            <a:solidFill>
              <a:srgbClr val="071B3C"/>
            </a:solidFill>
            <a:prstDash val="solid"/>
            <a:tailEnd type="triangle" w="sm" len="sm"/>
          </a:ln>
        </p:spPr>
      </p:cxnSp>
      <p:sp>
        <p:nvSpPr>
          <p:cNvPr id="173" name="diagram block">
            <a:extLst>
              <a:ext uri="{FF2B5EF4-FFF2-40B4-BE49-F238E27FC236}">
                <ns2:creationId id="{9C5315B2-4C22-47B9-A960-F1D24436362A}"/>
              </a:ext>
            </a:extLst>
          </p:cNvPr>
          <p:cNvSpPr>
            <a:spLocks noGrp="1"/>
          </p:cNvSpPr>
          <p:nvPr/>
        </p:nvSpPr>
        <p:spPr>
          <a:xfrm>
            <a:off x="3266198" y="1274835"/>
            <a:ext cx="2621927" cy="159999"/>
          </a:xfrm>
          <a:prstGeom prst="roundRect">
            <a:avLst>
              <a:gd name="adj" fmla="val 9677"/>
            </a:avLst>
          </a:prstGeom>
          <a:solidFill>
            <a:srgbClr val="DEEEFF"/>
          </a:solidFill>
          <a:ln w="5161">
            <a:solidFill>
              <a:srgbClr val="BCDFFF"/>
            </a:solidFill>
            <a:prstDash val="solid"/>
          </a:ln>
        </p:spPr>
      </p:sp>
      <p:sp>
        <p:nvSpPr>
          <p:cNvPr id="174" name="Overlapping 3-step ordered windows → 8 tokens (18-D)">
            <a:extLst>
              <a:ext uri="{FF2B5EF4-FFF2-40B4-BE49-F238E27FC236}">
                <ns2:creationId id="{60A69574-14AE-4D90-9656-E6307139C708}"/>
              </a:ext>
            </a:extLst>
          </p:cNvPr>
          <p:cNvSpPr>
            <a:spLocks noGrp="1"/>
          </p:cNvSpPr>
          <p:nvPr/>
        </p:nvSpPr>
        <p:spPr>
          <a:xfrm>
            <a:off x="3292004" y="1300641"/>
            <a:ext cx="2570314" cy="108387"/>
          </a:xfrm>
          <a:prstGeom prst="rect">
            <a:avLst/>
          </a:prstGeom>
          <a:solidFill>
            <a:srgbClr val="DE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Overlapping 3-step ordered windows → 8 tokens (18-D)</a:t>
            </a:r>
          </a:p>
        </p:txBody>
      </p:sp>
      <p:sp>
        <p:nvSpPr>
          <p:cNvPr id="175" name="diagram block">
            <a:extLst>
              <a:ext uri="{FF2B5EF4-FFF2-40B4-BE49-F238E27FC236}">
                <ns2:creationId id="{0865AFEF-A815-427A-A634-FBA4D0C0F940}"/>
              </a:ext>
            </a:extLst>
          </p:cNvPr>
          <p:cNvSpPr>
            <a:spLocks noGrp="1"/>
          </p:cNvSpPr>
          <p:nvPr/>
        </p:nvSpPr>
        <p:spPr>
          <a:xfrm>
            <a:off x="3312649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76" name="w₁">
            <a:extLst>
              <a:ext uri="{FF2B5EF4-FFF2-40B4-BE49-F238E27FC236}">
                <ns2:creationId id="{068891EB-D80C-49A9-A1CD-DC3899ECCFF0}"/>
              </a:ext>
            </a:extLst>
          </p:cNvPr>
          <p:cNvSpPr>
            <a:spLocks noGrp="1"/>
          </p:cNvSpPr>
          <p:nvPr/>
        </p:nvSpPr>
        <p:spPr>
          <a:xfrm>
            <a:off x="3353939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w₁</a:t>
            </a:r>
          </a:p>
        </p:txBody>
      </p:sp>
      <p:sp>
        <p:nvSpPr>
          <p:cNvPr id="177" name="(a₁, a₂, a₃)">
            <a:extLst>
              <a:ext uri="{FF2B5EF4-FFF2-40B4-BE49-F238E27FC236}">
                <ns2:creationId id="{A3D8688A-B1E3-48D1-935C-214BABE4E551}"/>
              </a:ext>
            </a:extLst>
          </p:cNvPr>
          <p:cNvSpPr>
            <a:spLocks noGrp="1"/>
          </p:cNvSpPr>
          <p:nvPr/>
        </p:nvSpPr>
        <p:spPr>
          <a:xfrm>
            <a:off x="3322972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(a₁, a₂, a₃)</a:t>
            </a:r>
          </a:p>
        </p:txBody>
      </p:sp>
      <p:sp>
        <p:nvSpPr>
          <p:cNvPr id="178" name="diagram block">
            <a:extLst>
              <a:ext uri="{FF2B5EF4-FFF2-40B4-BE49-F238E27FC236}">
                <ns2:creationId id="{5F70BB89-B70A-4E57-A8C4-3828B918DF32}"/>
              </a:ext>
            </a:extLst>
          </p:cNvPr>
          <p:cNvSpPr>
            <a:spLocks noGrp="1"/>
          </p:cNvSpPr>
          <p:nvPr/>
        </p:nvSpPr>
        <p:spPr>
          <a:xfrm>
            <a:off x="3870067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79" name="w₂">
            <a:extLst>
              <a:ext uri="{FF2B5EF4-FFF2-40B4-BE49-F238E27FC236}">
                <ns2:creationId id="{BB7FF60A-98A4-49FD-87B3-B741EB64E3D4}"/>
              </a:ext>
            </a:extLst>
          </p:cNvPr>
          <p:cNvSpPr>
            <a:spLocks noGrp="1"/>
          </p:cNvSpPr>
          <p:nvPr/>
        </p:nvSpPr>
        <p:spPr>
          <a:xfrm>
            <a:off x="3911357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w₂</a:t>
            </a:r>
          </a:p>
        </p:txBody>
      </p:sp>
      <p:sp>
        <p:nvSpPr>
          <p:cNvPr id="180" name="(a₂, a₃, a₄)">
            <a:extLst>
              <a:ext uri="{FF2B5EF4-FFF2-40B4-BE49-F238E27FC236}">
                <ns2:creationId id="{E36E0D21-4A3B-4638-8530-5C80A75FD5B4}"/>
              </a:ext>
            </a:extLst>
          </p:cNvPr>
          <p:cNvSpPr>
            <a:spLocks noGrp="1"/>
          </p:cNvSpPr>
          <p:nvPr/>
        </p:nvSpPr>
        <p:spPr>
          <a:xfrm>
            <a:off x="3880389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(a₂, a₃, a₄)</a:t>
            </a:r>
          </a:p>
        </p:txBody>
      </p:sp>
      <p:sp>
        <p:nvSpPr>
          <p:cNvPr id="181" name="diagram block">
            <a:extLst>
              <a:ext uri="{FF2B5EF4-FFF2-40B4-BE49-F238E27FC236}">
                <ns2:creationId id="{018E065D-D56C-470A-871D-2987A527DF47}"/>
              </a:ext>
            </a:extLst>
          </p:cNvPr>
          <p:cNvSpPr>
            <a:spLocks noGrp="1"/>
          </p:cNvSpPr>
          <p:nvPr/>
        </p:nvSpPr>
        <p:spPr>
          <a:xfrm>
            <a:off x="4427484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82" name="w₃">
            <a:extLst>
              <a:ext uri="{FF2B5EF4-FFF2-40B4-BE49-F238E27FC236}">
                <ns2:creationId id="{7D63A82A-EE81-4BCD-B37E-9EF1A1B608EB}"/>
              </a:ext>
            </a:extLst>
          </p:cNvPr>
          <p:cNvSpPr>
            <a:spLocks noGrp="1"/>
          </p:cNvSpPr>
          <p:nvPr/>
        </p:nvSpPr>
        <p:spPr>
          <a:xfrm>
            <a:off x="44687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w₃</a:t>
            </a:r>
          </a:p>
        </p:txBody>
      </p:sp>
      <p:sp>
        <p:nvSpPr>
          <p:cNvPr id="183" name="(a₃, a₄, a₅)">
            <a:extLst>
              <a:ext uri="{FF2B5EF4-FFF2-40B4-BE49-F238E27FC236}">
                <ns2:creationId id="{37F9C6F7-21AA-4C3F-915F-897B0824907A}"/>
              </a:ext>
            </a:extLst>
          </p:cNvPr>
          <p:cNvSpPr>
            <a:spLocks noGrp="1"/>
          </p:cNvSpPr>
          <p:nvPr/>
        </p:nvSpPr>
        <p:spPr>
          <a:xfrm>
            <a:off x="44378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(a₃, a₄, a₅)</a:t>
            </a:r>
          </a:p>
        </p:txBody>
      </p:sp>
      <p:sp>
        <p:nvSpPr>
          <p:cNvPr id="184" name="diagram block">
            <a:extLst>
              <a:ext uri="{FF2B5EF4-FFF2-40B4-BE49-F238E27FC236}">
                <ns2:creationId id="{77F49F24-773A-4EEB-899C-28D0A8F8AA57}"/>
              </a:ext>
            </a:extLst>
          </p:cNvPr>
          <p:cNvSpPr>
            <a:spLocks noGrp="1"/>
          </p:cNvSpPr>
          <p:nvPr/>
        </p:nvSpPr>
        <p:spPr>
          <a:xfrm>
            <a:off x="5320385" y="1496769"/>
            <a:ext cx="526450" cy="283870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4488C8"/>
            </a:solidFill>
            <a:prstDash val="solid"/>
          </a:ln>
        </p:spPr>
      </p:sp>
      <p:sp>
        <p:nvSpPr>
          <p:cNvPr id="185" name="w₈">
            <a:extLst>
              <a:ext uri="{FF2B5EF4-FFF2-40B4-BE49-F238E27FC236}">
                <ns2:creationId id="{03A7CF1F-466D-4B5A-A8D6-5F7792C8E13A}"/>
              </a:ext>
            </a:extLst>
          </p:cNvPr>
          <p:cNvSpPr>
            <a:spLocks noGrp="1"/>
          </p:cNvSpPr>
          <p:nvPr/>
        </p:nvSpPr>
        <p:spPr>
          <a:xfrm>
            <a:off x="5361675" y="1538060"/>
            <a:ext cx="438708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1317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w₈</a:t>
            </a:r>
          </a:p>
        </p:txBody>
      </p:sp>
      <p:sp>
        <p:nvSpPr>
          <p:cNvPr id="186" name="(a₈, a₉, a₁₀)">
            <a:extLst>
              <a:ext uri="{FF2B5EF4-FFF2-40B4-BE49-F238E27FC236}">
                <ns2:creationId id="{F2C90BCD-9E78-46A7-961D-ECC385A66D31}"/>
              </a:ext>
            </a:extLst>
          </p:cNvPr>
          <p:cNvSpPr>
            <a:spLocks noGrp="1"/>
          </p:cNvSpPr>
          <p:nvPr/>
        </p:nvSpPr>
        <p:spPr>
          <a:xfrm>
            <a:off x="5330707" y="1667091"/>
            <a:ext cx="505805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159"/>
          </a:bodyPr>
          <a:lstStyle>
            <a:def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(a₈, a₉, a₁₀)</a:t>
            </a:r>
          </a:p>
        </p:txBody>
      </p:sp>
      <p:sp>
        <p:nvSpPr>
          <p:cNvPr id="187" name="…">
            <a:extLst>
              <a:ext uri="{FF2B5EF4-FFF2-40B4-BE49-F238E27FC236}">
                <ns2:creationId id="{A05DD328-9CEB-4EBF-AACD-3351BA02B561}"/>
              </a:ext>
            </a:extLst>
          </p:cNvPr>
          <p:cNvSpPr>
            <a:spLocks noGrp="1"/>
          </p:cNvSpPr>
          <p:nvPr/>
        </p:nvSpPr>
        <p:spPr>
          <a:xfrm>
            <a:off x="5026192" y="1548382"/>
            <a:ext cx="216774" cy="1548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79"/>
          </a:bodyPr>
          <a:lstStyle>
            <a:def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1138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…</a:t>
            </a:r>
          </a:p>
        </p:txBody>
      </p:sp>
      <p:sp>
        <p:nvSpPr>
          <p:cNvPr id="188" name="Each token uᵢ ∈ ℝ¹⁸ (concatenate 3 actions)">
            <a:extLst>
              <a:ext uri="{FF2B5EF4-FFF2-40B4-BE49-F238E27FC236}">
                <ns2:creationId id="{3E37B177-6EE5-46F0-9B55-EAA47D46F971}"/>
              </a:ext>
            </a:extLst>
          </p:cNvPr>
          <p:cNvSpPr>
            <a:spLocks noGrp="1"/>
          </p:cNvSpPr>
          <p:nvPr/>
        </p:nvSpPr>
        <p:spPr>
          <a:xfrm>
            <a:off x="3390068" y="1863220"/>
            <a:ext cx="2425799" cy="1341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Each token uᵢ ∈ ℝ¹⁸ (concatenate 3 actions)</a:t>
            </a:r>
          </a:p>
        </p:txBody>
      </p:sp>
      <p:sp>
        <p:nvSpPr>
          <p:cNvPr id="189" name="diagram block">
            <a:extLst>
              <a:ext uri="{FF2B5EF4-FFF2-40B4-BE49-F238E27FC236}">
                <ns2:creationId id="{430E221D-8140-4BC7-A3C5-09FAEF6CDB50}"/>
              </a:ext>
            </a:extLst>
          </p:cNvPr>
          <p:cNvSpPr>
            <a:spLocks noGrp="1"/>
          </p:cNvSpPr>
          <p:nvPr/>
        </p:nvSpPr>
        <p:spPr>
          <a:xfrm>
            <a:off x="3266198" y="2038703"/>
            <a:ext cx="1383221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</p:sp>
      <p:sp>
        <p:nvSpPr>
          <p:cNvPr id="190" name="Relation matrix (8 tokens)">
            <a:extLst>
              <a:ext uri="{FF2B5EF4-FFF2-40B4-BE49-F238E27FC236}">
                <ns2:creationId id="{114F71BC-4841-4907-A923-16A2142734CE}"/>
              </a:ext>
            </a:extLst>
          </p:cNvPr>
          <p:cNvSpPr>
            <a:spLocks noGrp="1"/>
          </p:cNvSpPr>
          <p:nvPr/>
        </p:nvSpPr>
        <p:spPr>
          <a:xfrm>
            <a:off x="3292004" y="2064510"/>
            <a:ext cx="1331609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Relation matrix (8 tokens)</a:t>
            </a:r>
          </a:p>
        </p:txBody>
      </p:sp>
      <p:sp>
        <p:nvSpPr>
          <p:cNvPr id="191" name="diagram block">
            <a:extLst>
              <a:ext uri="{FF2B5EF4-FFF2-40B4-BE49-F238E27FC236}">
                <ns2:creationId id="{B5EA2F86-F51B-4594-87E4-F8758EB96050}"/>
              </a:ext>
            </a:extLst>
          </p:cNvPr>
          <p:cNvSpPr>
            <a:spLocks noGrp="1"/>
          </p:cNvSpPr>
          <p:nvPr/>
        </p:nvSpPr>
        <p:spPr>
          <a:xfrm>
            <a:off x="4721677" y="2038703"/>
            <a:ext cx="1176770" cy="159999"/>
          </a:xfrm>
          <a:prstGeom prst="roundRect">
            <a:avLst>
              <a:gd name="adj" fmla="val 9677"/>
            </a:avLst>
          </a:prstGeom>
          <a:solidFill>
            <a:srgbClr val="DFEEFF"/>
          </a:solidFill>
          <a:ln w="5161">
            <a:solidFill>
              <a:srgbClr val="C0DFFF"/>
            </a:solidFill>
            <a:prstDash val="solid"/>
          </a:ln>
        </p:spPr>
      </p:sp>
      <p:sp>
        <p:nvSpPr>
          <p:cNvPr id="192" name="Neighbor probabilities">
            <a:extLst>
              <a:ext uri="{FF2B5EF4-FFF2-40B4-BE49-F238E27FC236}">
                <ns2:creationId id="{6D9ED54A-5151-47F6-9F2A-D6160A84ACF9}"/>
              </a:ext>
            </a:extLst>
          </p:cNvPr>
          <p:cNvSpPr>
            <a:spLocks noGrp="1"/>
          </p:cNvSpPr>
          <p:nvPr/>
        </p:nvSpPr>
        <p:spPr>
          <a:xfrm>
            <a:off x="4747483" y="2064510"/>
            <a:ext cx="1125158" cy="108387"/>
          </a:xfrm>
          <a:prstGeom prst="rect">
            <a:avLst/>
          </a:prstGeom>
          <a:solidFill>
            <a:srgbClr val="DFEEFF"/>
          </a:solidFill>
          <a:ln w="0">
            <a:noFill/>
          </a:ln>
        </p:spPr>
        <p:txBody>
          <a:bodyPr wrap="none" lIns="0" tIns="0" rIns="0" bIns="0" anchor="ctr">
            <a:normAutofit fontScale="87479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Neighbor probabilities</a:t>
            </a:r>
          </a:p>
        </p:txBody>
      </p:sp>
      <p:sp>
        <p:nvSpPr>
          <p:cNvPr id="193" name="1">
            <a:extLst>
              <a:ext uri="{FF2B5EF4-FFF2-40B4-BE49-F238E27FC236}">
                <ns2:creationId id="{4FACFF7E-C0D6-4ECE-B201-6790AAFE35E5}"/>
              </a:ext>
            </a:extLst>
          </p:cNvPr>
          <p:cNvSpPr>
            <a:spLocks noGrp="1"/>
          </p:cNvSpPr>
          <p:nvPr/>
        </p:nvSpPr>
        <p:spPr>
          <a:xfrm>
            <a:off x="3446842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94" name="1">
            <a:extLst>
              <a:ext uri="{FF2B5EF4-FFF2-40B4-BE49-F238E27FC236}">
                <ns2:creationId id="{0387662C-C4A2-4C1F-A86D-BEA0C75F60E7}"/>
              </a:ext>
            </a:extLst>
          </p:cNvPr>
          <p:cNvSpPr>
            <a:spLocks noGrp="1"/>
          </p:cNvSpPr>
          <p:nvPr/>
        </p:nvSpPr>
        <p:spPr>
          <a:xfrm>
            <a:off x="3307488" y="234838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195" name="diagram block">
            <a:extLst>
              <a:ext uri="{FF2B5EF4-FFF2-40B4-BE49-F238E27FC236}">
                <ns2:creationId id="{D7992615-BF21-47D5-8154-BC107970329D}"/>
              </a:ext>
            </a:extLst>
          </p:cNvPr>
          <p:cNvSpPr>
            <a:spLocks noGrp="1"/>
          </p:cNvSpPr>
          <p:nvPr/>
        </p:nvSpPr>
        <p:spPr>
          <a:xfrm>
            <a:off x="3446842" y="2343218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6" name="×">
            <a:extLst>
              <a:ext uri="{FF2B5EF4-FFF2-40B4-BE49-F238E27FC236}">
                <ns2:creationId id="{A6C7E171-E890-4AE3-AA1C-7F0702390B58}"/>
              </a:ext>
            </a:extLst>
          </p:cNvPr>
          <p:cNvSpPr>
            <a:spLocks noGrp="1"/>
          </p:cNvSpPr>
          <p:nvPr/>
        </p:nvSpPr>
        <p:spPr>
          <a:xfrm>
            <a:off x="3446842" y="2338057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197" name="diagram block">
            <a:extLst>
              <a:ext uri="{FF2B5EF4-FFF2-40B4-BE49-F238E27FC236}">
                <ns2:creationId id="{62633D9B-A091-4FEF-80CE-3F91E9D7D35F}"/>
              </a:ext>
            </a:extLst>
          </p:cNvPr>
          <p:cNvSpPr>
            <a:spLocks noGrp="1"/>
          </p:cNvSpPr>
          <p:nvPr/>
        </p:nvSpPr>
        <p:spPr>
          <a:xfrm>
            <a:off x="3555229" y="2343218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8" name="diagram block">
            <a:extLst>
              <a:ext uri="{FF2B5EF4-FFF2-40B4-BE49-F238E27FC236}">
                <ns2:creationId id="{06DB27BE-7537-4170-ABD2-1601EA5A30E0}"/>
              </a:ext>
            </a:extLst>
          </p:cNvPr>
          <p:cNvSpPr>
            <a:spLocks noGrp="1"/>
          </p:cNvSpPr>
          <p:nvPr/>
        </p:nvSpPr>
        <p:spPr>
          <a:xfrm>
            <a:off x="3663616" y="2343218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199" name="diagram block">
            <a:extLst>
              <a:ext uri="{FF2B5EF4-FFF2-40B4-BE49-F238E27FC236}">
                <ns2:creationId id="{69FD60DA-BC3E-408C-9307-463BA8F90D3F}"/>
              </a:ext>
            </a:extLst>
          </p:cNvPr>
          <p:cNvSpPr>
            <a:spLocks noGrp="1"/>
          </p:cNvSpPr>
          <p:nvPr/>
        </p:nvSpPr>
        <p:spPr>
          <a:xfrm>
            <a:off x="3772003" y="2343218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0" name="diagram block">
            <a:extLst>
              <a:ext uri="{FF2B5EF4-FFF2-40B4-BE49-F238E27FC236}">
                <ns2:creationId id="{E26CA082-0C58-4891-9801-F1FDF16FA0FF}"/>
              </a:ext>
            </a:extLst>
          </p:cNvPr>
          <p:cNvSpPr>
            <a:spLocks noGrp="1"/>
          </p:cNvSpPr>
          <p:nvPr/>
        </p:nvSpPr>
        <p:spPr>
          <a:xfrm>
            <a:off x="3880389" y="2343218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1" name="diagram block">
            <a:extLst>
              <a:ext uri="{FF2B5EF4-FFF2-40B4-BE49-F238E27FC236}">
                <ns2:creationId id="{DB21C943-E6B2-4036-AB73-202657E791F9}"/>
              </a:ext>
            </a:extLst>
          </p:cNvPr>
          <p:cNvSpPr>
            <a:spLocks noGrp="1"/>
          </p:cNvSpPr>
          <p:nvPr/>
        </p:nvSpPr>
        <p:spPr>
          <a:xfrm>
            <a:off x="3988776" y="2343218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2" name="diagram block">
            <a:extLst>
              <a:ext uri="{FF2B5EF4-FFF2-40B4-BE49-F238E27FC236}">
                <ns2:creationId id="{B3F05CAB-5E35-41A8-9CAE-C9A5326362CD}"/>
              </a:ext>
            </a:extLst>
          </p:cNvPr>
          <p:cNvSpPr>
            <a:spLocks noGrp="1"/>
          </p:cNvSpPr>
          <p:nvPr/>
        </p:nvSpPr>
        <p:spPr>
          <a:xfrm>
            <a:off x="4097163" y="2343218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3" name="diagram block">
            <a:extLst>
              <a:ext uri="{FF2B5EF4-FFF2-40B4-BE49-F238E27FC236}">
                <ns2:creationId id="{DDF00741-67BF-419A-AC75-0675CADD1B56}"/>
              </a:ext>
            </a:extLst>
          </p:cNvPr>
          <p:cNvSpPr>
            <a:spLocks noGrp="1"/>
          </p:cNvSpPr>
          <p:nvPr/>
        </p:nvSpPr>
        <p:spPr>
          <a:xfrm>
            <a:off x="4205550" y="2343218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4" name="2">
            <a:extLst>
              <a:ext uri="{FF2B5EF4-FFF2-40B4-BE49-F238E27FC236}">
                <ns2:creationId id="{3C407326-5185-4F6E-AD01-AD8278F393DD}"/>
              </a:ext>
            </a:extLst>
          </p:cNvPr>
          <p:cNvSpPr>
            <a:spLocks noGrp="1"/>
          </p:cNvSpPr>
          <p:nvPr/>
        </p:nvSpPr>
        <p:spPr>
          <a:xfrm>
            <a:off x="355522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205" name="2">
            <a:extLst>
              <a:ext uri="{FF2B5EF4-FFF2-40B4-BE49-F238E27FC236}">
                <ns2:creationId id="{A872A28A-189D-45E2-A819-6DA995381ABF}"/>
              </a:ext>
            </a:extLst>
          </p:cNvPr>
          <p:cNvSpPr>
            <a:spLocks noGrp="1"/>
          </p:cNvSpPr>
          <p:nvPr/>
        </p:nvSpPr>
        <p:spPr>
          <a:xfrm>
            <a:off x="3307488" y="245418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206" name="diagram block">
            <a:extLst>
              <a:ext uri="{FF2B5EF4-FFF2-40B4-BE49-F238E27FC236}">
                <ns2:creationId id="{0CDFA59D-9092-40C7-9293-59E29C78E307}"/>
              </a:ext>
            </a:extLst>
          </p:cNvPr>
          <p:cNvSpPr>
            <a:spLocks noGrp="1"/>
          </p:cNvSpPr>
          <p:nvPr/>
        </p:nvSpPr>
        <p:spPr>
          <a:xfrm>
            <a:off x="3446842" y="2449024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7" name="diagram block">
            <a:extLst>
              <a:ext uri="{FF2B5EF4-FFF2-40B4-BE49-F238E27FC236}">
                <ns2:creationId id="{D9101C9A-1CCC-4DD7-8D33-403A4A04D1CE}"/>
              </a:ext>
            </a:extLst>
          </p:cNvPr>
          <p:cNvSpPr>
            <a:spLocks noGrp="1"/>
          </p:cNvSpPr>
          <p:nvPr/>
        </p:nvSpPr>
        <p:spPr>
          <a:xfrm>
            <a:off x="3555229" y="2449024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08" name="×">
            <a:extLst>
              <a:ext uri="{FF2B5EF4-FFF2-40B4-BE49-F238E27FC236}">
                <ns2:creationId id="{F820C428-0601-453A-8060-5FD3DBF680FF}"/>
              </a:ext>
            </a:extLst>
          </p:cNvPr>
          <p:cNvSpPr>
            <a:spLocks noGrp="1"/>
          </p:cNvSpPr>
          <p:nvPr/>
        </p:nvSpPr>
        <p:spPr>
          <a:xfrm>
            <a:off x="3555229" y="2443863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09" name="diagram block">
            <a:extLst>
              <a:ext uri="{FF2B5EF4-FFF2-40B4-BE49-F238E27FC236}">
                <ns2:creationId id="{84D958D9-F6C4-471E-BC2D-31F25AD00EEC}"/>
              </a:ext>
            </a:extLst>
          </p:cNvPr>
          <p:cNvSpPr>
            <a:spLocks noGrp="1"/>
          </p:cNvSpPr>
          <p:nvPr/>
        </p:nvSpPr>
        <p:spPr>
          <a:xfrm>
            <a:off x="3663616" y="2449024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0" name="diagram block">
            <a:extLst>
              <a:ext uri="{FF2B5EF4-FFF2-40B4-BE49-F238E27FC236}">
                <ns2:creationId id="{E2D8636A-5D50-4790-89E7-7CD0A34C23F9}"/>
              </a:ext>
            </a:extLst>
          </p:cNvPr>
          <p:cNvSpPr>
            <a:spLocks noGrp="1"/>
          </p:cNvSpPr>
          <p:nvPr/>
        </p:nvSpPr>
        <p:spPr>
          <a:xfrm>
            <a:off x="3772003" y="2449024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1" name="diagram block">
            <a:extLst>
              <a:ext uri="{FF2B5EF4-FFF2-40B4-BE49-F238E27FC236}">
                <ns2:creationId id="{F1736A7C-6CFB-43F7-B0F1-AD3D5D690FA5}"/>
              </a:ext>
            </a:extLst>
          </p:cNvPr>
          <p:cNvSpPr>
            <a:spLocks noGrp="1"/>
          </p:cNvSpPr>
          <p:nvPr/>
        </p:nvSpPr>
        <p:spPr>
          <a:xfrm>
            <a:off x="3880389" y="2449024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2" name="diagram block">
            <a:extLst>
              <a:ext uri="{FF2B5EF4-FFF2-40B4-BE49-F238E27FC236}">
                <ns2:creationId id="{BCEDC9A8-BDF9-48BB-92DD-CEED0197F9A3}"/>
              </a:ext>
            </a:extLst>
          </p:cNvPr>
          <p:cNvSpPr>
            <a:spLocks noGrp="1"/>
          </p:cNvSpPr>
          <p:nvPr/>
        </p:nvSpPr>
        <p:spPr>
          <a:xfrm>
            <a:off x="3988776" y="2449024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3" name="diagram block">
            <a:extLst>
              <a:ext uri="{FF2B5EF4-FFF2-40B4-BE49-F238E27FC236}">
                <ns2:creationId id="{837DAE42-EC92-4A32-AC83-90B2E4FEFB48}"/>
              </a:ext>
            </a:extLst>
          </p:cNvPr>
          <p:cNvSpPr>
            <a:spLocks noGrp="1"/>
          </p:cNvSpPr>
          <p:nvPr/>
        </p:nvSpPr>
        <p:spPr>
          <a:xfrm>
            <a:off x="4097163" y="2449024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4" name="diagram block">
            <a:extLst>
              <a:ext uri="{FF2B5EF4-FFF2-40B4-BE49-F238E27FC236}">
                <ns2:creationId id="{9EDE3910-A82C-4E62-AF24-BF3F8A3BE70A}"/>
              </a:ext>
            </a:extLst>
          </p:cNvPr>
          <p:cNvSpPr>
            <a:spLocks noGrp="1"/>
          </p:cNvSpPr>
          <p:nvPr/>
        </p:nvSpPr>
        <p:spPr>
          <a:xfrm>
            <a:off x="4205550" y="2449024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5" name="3">
            <a:extLst>
              <a:ext uri="{FF2B5EF4-FFF2-40B4-BE49-F238E27FC236}">
                <ns2:creationId id="{E9DC77CF-6348-4AD8-BF43-47DDC683A713}"/>
              </a:ext>
            </a:extLst>
          </p:cNvPr>
          <p:cNvSpPr>
            <a:spLocks noGrp="1"/>
          </p:cNvSpPr>
          <p:nvPr/>
        </p:nvSpPr>
        <p:spPr>
          <a:xfrm>
            <a:off x="366361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216" name="3">
            <a:extLst>
              <a:ext uri="{FF2B5EF4-FFF2-40B4-BE49-F238E27FC236}">
                <ns2:creationId id="{1D2FDA39-76B9-49EA-81DE-943E69D36B02}"/>
              </a:ext>
            </a:extLst>
          </p:cNvPr>
          <p:cNvSpPr>
            <a:spLocks noGrp="1"/>
          </p:cNvSpPr>
          <p:nvPr/>
        </p:nvSpPr>
        <p:spPr>
          <a:xfrm>
            <a:off x="3307488" y="255999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217" name="diagram block">
            <a:extLst>
              <a:ext uri="{FF2B5EF4-FFF2-40B4-BE49-F238E27FC236}">
                <ns2:creationId id="{A22C7E4C-A601-42FE-950C-EADBB070284B}"/>
              </a:ext>
            </a:extLst>
          </p:cNvPr>
          <p:cNvSpPr>
            <a:spLocks noGrp="1"/>
          </p:cNvSpPr>
          <p:nvPr/>
        </p:nvSpPr>
        <p:spPr>
          <a:xfrm>
            <a:off x="3446842" y="255483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8" name="diagram block">
            <a:extLst>
              <a:ext uri="{FF2B5EF4-FFF2-40B4-BE49-F238E27FC236}">
                <ns2:creationId id="{1F96D4F8-D535-498F-938C-010730724045}"/>
              </a:ext>
            </a:extLst>
          </p:cNvPr>
          <p:cNvSpPr>
            <a:spLocks noGrp="1"/>
          </p:cNvSpPr>
          <p:nvPr/>
        </p:nvSpPr>
        <p:spPr>
          <a:xfrm>
            <a:off x="3555229" y="255483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19" name="diagram block">
            <a:extLst>
              <a:ext uri="{FF2B5EF4-FFF2-40B4-BE49-F238E27FC236}">
                <ns2:creationId id="{969F2B5D-F56E-4CDC-9235-6587DE9E2047}"/>
              </a:ext>
            </a:extLst>
          </p:cNvPr>
          <p:cNvSpPr>
            <a:spLocks noGrp="1"/>
          </p:cNvSpPr>
          <p:nvPr/>
        </p:nvSpPr>
        <p:spPr>
          <a:xfrm>
            <a:off x="3663616" y="255483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0" name="×">
            <a:extLst>
              <a:ext uri="{FF2B5EF4-FFF2-40B4-BE49-F238E27FC236}">
                <ns2:creationId id="{BEB09228-F7E4-46AC-B317-9BC7FC20A153}"/>
              </a:ext>
            </a:extLst>
          </p:cNvPr>
          <p:cNvSpPr>
            <a:spLocks noGrp="1"/>
          </p:cNvSpPr>
          <p:nvPr/>
        </p:nvSpPr>
        <p:spPr>
          <a:xfrm>
            <a:off x="3663616" y="2549669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21" name="diagram block">
            <a:extLst>
              <a:ext uri="{FF2B5EF4-FFF2-40B4-BE49-F238E27FC236}">
                <ns2:creationId id="{C73C01D8-D7D7-4B33-8382-8A05815EE080}"/>
              </a:ext>
            </a:extLst>
          </p:cNvPr>
          <p:cNvSpPr>
            <a:spLocks noGrp="1"/>
          </p:cNvSpPr>
          <p:nvPr/>
        </p:nvSpPr>
        <p:spPr>
          <a:xfrm>
            <a:off x="3772003" y="255483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2" name="diagram block">
            <a:extLst>
              <a:ext uri="{FF2B5EF4-FFF2-40B4-BE49-F238E27FC236}">
                <ns2:creationId id="{8C9C7EA0-CB6E-4A17-917D-5333E0BA46C3}"/>
              </a:ext>
            </a:extLst>
          </p:cNvPr>
          <p:cNvSpPr>
            <a:spLocks noGrp="1"/>
          </p:cNvSpPr>
          <p:nvPr/>
        </p:nvSpPr>
        <p:spPr>
          <a:xfrm>
            <a:off x="3880389" y="2554831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3" name="diagram block">
            <a:extLst>
              <a:ext uri="{FF2B5EF4-FFF2-40B4-BE49-F238E27FC236}">
                <ns2:creationId id="{31915B02-35D8-4569-8CD7-7C0CA1B58D42}"/>
              </a:ext>
            </a:extLst>
          </p:cNvPr>
          <p:cNvSpPr>
            <a:spLocks noGrp="1"/>
          </p:cNvSpPr>
          <p:nvPr/>
        </p:nvSpPr>
        <p:spPr>
          <a:xfrm>
            <a:off x="3988776" y="255483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4" name="diagram block">
            <a:extLst>
              <a:ext uri="{FF2B5EF4-FFF2-40B4-BE49-F238E27FC236}">
                <ns2:creationId id="{523B76E3-C5A8-480F-A152-92F2AE6ACC26}"/>
              </a:ext>
            </a:extLst>
          </p:cNvPr>
          <p:cNvSpPr>
            <a:spLocks noGrp="1"/>
          </p:cNvSpPr>
          <p:nvPr/>
        </p:nvSpPr>
        <p:spPr>
          <a:xfrm>
            <a:off x="4097163" y="255483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5" name="diagram block">
            <a:extLst>
              <a:ext uri="{FF2B5EF4-FFF2-40B4-BE49-F238E27FC236}">
                <ns2:creationId id="{03FB4450-2906-4F99-A71F-C5BA4E87E890}"/>
              </a:ext>
            </a:extLst>
          </p:cNvPr>
          <p:cNvSpPr>
            <a:spLocks noGrp="1"/>
          </p:cNvSpPr>
          <p:nvPr/>
        </p:nvSpPr>
        <p:spPr>
          <a:xfrm>
            <a:off x="4205550" y="255483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6" name="4">
            <a:extLst>
              <a:ext uri="{FF2B5EF4-FFF2-40B4-BE49-F238E27FC236}">
                <ns2:creationId id="{DD80E85C-A823-4882-A99A-7944F2EAE9EE}"/>
              </a:ext>
            </a:extLst>
          </p:cNvPr>
          <p:cNvSpPr>
            <a:spLocks noGrp="1"/>
          </p:cNvSpPr>
          <p:nvPr/>
        </p:nvSpPr>
        <p:spPr>
          <a:xfrm>
            <a:off x="377200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27" name="4">
            <a:extLst>
              <a:ext uri="{FF2B5EF4-FFF2-40B4-BE49-F238E27FC236}">
                <ns2:creationId id="{FA1892CB-6C8C-4C7B-82E2-D1F1D1654ED4}"/>
              </a:ext>
            </a:extLst>
          </p:cNvPr>
          <p:cNvSpPr>
            <a:spLocks noGrp="1"/>
          </p:cNvSpPr>
          <p:nvPr/>
        </p:nvSpPr>
        <p:spPr>
          <a:xfrm>
            <a:off x="3307488" y="2665798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228" name="diagram block">
            <a:extLst>
              <a:ext uri="{FF2B5EF4-FFF2-40B4-BE49-F238E27FC236}">
                <ns2:creationId id="{A7D30368-6F7C-4419-8C1F-F9821871AFBF}"/>
              </a:ext>
            </a:extLst>
          </p:cNvPr>
          <p:cNvSpPr>
            <a:spLocks noGrp="1"/>
          </p:cNvSpPr>
          <p:nvPr/>
        </p:nvSpPr>
        <p:spPr>
          <a:xfrm>
            <a:off x="3446842" y="2660637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29" name="diagram block">
            <a:extLst>
              <a:ext uri="{FF2B5EF4-FFF2-40B4-BE49-F238E27FC236}">
                <ns2:creationId id="{81802587-2A3E-4701-825D-517E1CEBED1E}"/>
              </a:ext>
            </a:extLst>
          </p:cNvPr>
          <p:cNvSpPr>
            <a:spLocks noGrp="1"/>
          </p:cNvSpPr>
          <p:nvPr/>
        </p:nvSpPr>
        <p:spPr>
          <a:xfrm>
            <a:off x="3555229" y="2660637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0" name="diagram block">
            <a:extLst>
              <a:ext uri="{FF2B5EF4-FFF2-40B4-BE49-F238E27FC236}">
                <ns2:creationId id="{218C6431-02AE-4F5E-9F59-48D5A19D2F3A}"/>
              </a:ext>
            </a:extLst>
          </p:cNvPr>
          <p:cNvSpPr>
            <a:spLocks noGrp="1"/>
          </p:cNvSpPr>
          <p:nvPr/>
        </p:nvSpPr>
        <p:spPr>
          <a:xfrm>
            <a:off x="3663616" y="2660637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1" name="diagram block">
            <a:extLst>
              <a:ext uri="{FF2B5EF4-FFF2-40B4-BE49-F238E27FC236}">
                <ns2:creationId id="{56FD120D-8593-4B09-8C9E-7C55FD779E83}"/>
              </a:ext>
            </a:extLst>
          </p:cNvPr>
          <p:cNvSpPr>
            <a:spLocks noGrp="1"/>
          </p:cNvSpPr>
          <p:nvPr/>
        </p:nvSpPr>
        <p:spPr>
          <a:xfrm>
            <a:off x="3772003" y="2660637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2" name="×">
            <a:extLst>
              <a:ext uri="{FF2B5EF4-FFF2-40B4-BE49-F238E27FC236}">
                <ns2:creationId id="{FFB37390-1308-4836-A1D2-9033D8BD4E29}"/>
              </a:ext>
            </a:extLst>
          </p:cNvPr>
          <p:cNvSpPr>
            <a:spLocks noGrp="1"/>
          </p:cNvSpPr>
          <p:nvPr/>
        </p:nvSpPr>
        <p:spPr>
          <a:xfrm>
            <a:off x="3772003" y="2655475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33" name="diagram block">
            <a:extLst>
              <a:ext uri="{FF2B5EF4-FFF2-40B4-BE49-F238E27FC236}">
                <ns2:creationId id="{135DF4C8-78B6-4086-BF0E-32B8A7B960FA}"/>
              </a:ext>
            </a:extLst>
          </p:cNvPr>
          <p:cNvSpPr>
            <a:spLocks noGrp="1"/>
          </p:cNvSpPr>
          <p:nvPr/>
        </p:nvSpPr>
        <p:spPr>
          <a:xfrm>
            <a:off x="3880389" y="2660637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4" name="diagram block">
            <a:extLst>
              <a:ext uri="{FF2B5EF4-FFF2-40B4-BE49-F238E27FC236}">
                <ns2:creationId id="{D84ECF95-8557-4DB1-8C83-611E28000EF1}"/>
              </a:ext>
            </a:extLst>
          </p:cNvPr>
          <p:cNvSpPr>
            <a:spLocks noGrp="1"/>
          </p:cNvSpPr>
          <p:nvPr/>
        </p:nvSpPr>
        <p:spPr>
          <a:xfrm>
            <a:off x="3988776" y="2660637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5" name="diagram block">
            <a:extLst>
              <a:ext uri="{FF2B5EF4-FFF2-40B4-BE49-F238E27FC236}">
                <ns2:creationId id="{2902EAF9-246A-4492-998F-486A5219F9FB}"/>
              </a:ext>
            </a:extLst>
          </p:cNvPr>
          <p:cNvSpPr>
            <a:spLocks noGrp="1"/>
          </p:cNvSpPr>
          <p:nvPr/>
        </p:nvSpPr>
        <p:spPr>
          <a:xfrm>
            <a:off x="4097163" y="2660637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6" name="diagram block">
            <a:extLst>
              <a:ext uri="{FF2B5EF4-FFF2-40B4-BE49-F238E27FC236}">
                <ns2:creationId id="{5745E153-60A2-425E-8A8B-486EE524ED24}"/>
              </a:ext>
            </a:extLst>
          </p:cNvPr>
          <p:cNvSpPr>
            <a:spLocks noGrp="1"/>
          </p:cNvSpPr>
          <p:nvPr/>
        </p:nvSpPr>
        <p:spPr>
          <a:xfrm>
            <a:off x="4205550" y="2660637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37" name="5">
            <a:extLst>
              <a:ext uri="{FF2B5EF4-FFF2-40B4-BE49-F238E27FC236}">
                <ns2:creationId id="{90AC1217-9F40-4F11-AF85-797CC2597684}"/>
              </a:ext>
            </a:extLst>
          </p:cNvPr>
          <p:cNvSpPr>
            <a:spLocks noGrp="1"/>
          </p:cNvSpPr>
          <p:nvPr/>
        </p:nvSpPr>
        <p:spPr>
          <a:xfrm>
            <a:off x="3880389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238" name="5">
            <a:extLst>
              <a:ext uri="{FF2B5EF4-FFF2-40B4-BE49-F238E27FC236}">
                <ns2:creationId id="{1DB309CF-F8C9-471E-AD33-7AB7AC3F0B2B}"/>
              </a:ext>
            </a:extLst>
          </p:cNvPr>
          <p:cNvSpPr>
            <a:spLocks noGrp="1"/>
          </p:cNvSpPr>
          <p:nvPr/>
        </p:nvSpPr>
        <p:spPr>
          <a:xfrm>
            <a:off x="3307488" y="2771604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239" name="diagram block">
            <a:extLst>
              <a:ext uri="{FF2B5EF4-FFF2-40B4-BE49-F238E27FC236}">
                <ns2:creationId id="{C53BBB74-978A-4496-88B4-248DF03C835A}"/>
              </a:ext>
            </a:extLst>
          </p:cNvPr>
          <p:cNvSpPr>
            <a:spLocks noGrp="1"/>
          </p:cNvSpPr>
          <p:nvPr/>
        </p:nvSpPr>
        <p:spPr>
          <a:xfrm>
            <a:off x="3446842" y="2766443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0" name="diagram block">
            <a:extLst>
              <a:ext uri="{FF2B5EF4-FFF2-40B4-BE49-F238E27FC236}">
                <ns2:creationId id="{130D7BBC-D2D2-4581-8D68-31AB655DFFB4}"/>
              </a:ext>
            </a:extLst>
          </p:cNvPr>
          <p:cNvSpPr>
            <a:spLocks noGrp="1"/>
          </p:cNvSpPr>
          <p:nvPr/>
        </p:nvSpPr>
        <p:spPr>
          <a:xfrm>
            <a:off x="3555229" y="2766443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1" name="diagram block">
            <a:extLst>
              <a:ext uri="{FF2B5EF4-FFF2-40B4-BE49-F238E27FC236}">
                <ns2:creationId id="{8179C75A-68AA-4E18-86A3-409525E54286}"/>
              </a:ext>
            </a:extLst>
          </p:cNvPr>
          <p:cNvSpPr>
            <a:spLocks noGrp="1"/>
          </p:cNvSpPr>
          <p:nvPr/>
        </p:nvSpPr>
        <p:spPr>
          <a:xfrm>
            <a:off x="3663616" y="2766443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2" name="diagram block">
            <a:extLst>
              <a:ext uri="{FF2B5EF4-FFF2-40B4-BE49-F238E27FC236}">
                <ns2:creationId id="{8F4346DF-287F-4816-A6CA-EBE85B4A20B6}"/>
              </a:ext>
            </a:extLst>
          </p:cNvPr>
          <p:cNvSpPr>
            <a:spLocks noGrp="1"/>
          </p:cNvSpPr>
          <p:nvPr/>
        </p:nvSpPr>
        <p:spPr>
          <a:xfrm>
            <a:off x="3772003" y="2766443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3" name="diagram block">
            <a:extLst>
              <a:ext uri="{FF2B5EF4-FFF2-40B4-BE49-F238E27FC236}">
                <ns2:creationId id="{19343A23-A54E-4DB5-AA0F-9EAFFF8D9892}"/>
              </a:ext>
            </a:extLst>
          </p:cNvPr>
          <p:cNvSpPr>
            <a:spLocks noGrp="1"/>
          </p:cNvSpPr>
          <p:nvPr/>
        </p:nvSpPr>
        <p:spPr>
          <a:xfrm>
            <a:off x="3880389" y="2766443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4" name="×">
            <a:extLst>
              <a:ext uri="{FF2B5EF4-FFF2-40B4-BE49-F238E27FC236}">
                <ns2:creationId id="{0A819ECF-7EDC-4ADC-8043-F72299951F3E}"/>
              </a:ext>
            </a:extLst>
          </p:cNvPr>
          <p:cNvSpPr>
            <a:spLocks noGrp="1"/>
          </p:cNvSpPr>
          <p:nvPr/>
        </p:nvSpPr>
        <p:spPr>
          <a:xfrm>
            <a:off x="3880389" y="2761282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45" name="diagram block">
            <a:extLst>
              <a:ext uri="{FF2B5EF4-FFF2-40B4-BE49-F238E27FC236}">
                <ns2:creationId id="{EFC12358-AE45-46A5-A21C-6CB21FBBF2CA}"/>
              </a:ext>
            </a:extLst>
          </p:cNvPr>
          <p:cNvSpPr>
            <a:spLocks noGrp="1"/>
          </p:cNvSpPr>
          <p:nvPr/>
        </p:nvSpPr>
        <p:spPr>
          <a:xfrm>
            <a:off x="3988776" y="2766443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6" name="diagram block">
            <a:extLst>
              <a:ext uri="{FF2B5EF4-FFF2-40B4-BE49-F238E27FC236}">
                <ns2:creationId id="{2A521C2E-C99C-4389-87F0-26AA10DD6C94}"/>
              </a:ext>
            </a:extLst>
          </p:cNvPr>
          <p:cNvSpPr>
            <a:spLocks noGrp="1"/>
          </p:cNvSpPr>
          <p:nvPr/>
        </p:nvSpPr>
        <p:spPr>
          <a:xfrm>
            <a:off x="4097163" y="2766443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7" name="diagram block">
            <a:extLst>
              <a:ext uri="{FF2B5EF4-FFF2-40B4-BE49-F238E27FC236}">
                <ns2:creationId id="{EA7C6507-0AE0-4C9E-8902-9FB94DDC3DC7}"/>
              </a:ext>
            </a:extLst>
          </p:cNvPr>
          <p:cNvSpPr>
            <a:spLocks noGrp="1"/>
          </p:cNvSpPr>
          <p:nvPr/>
        </p:nvSpPr>
        <p:spPr>
          <a:xfrm>
            <a:off x="4205550" y="2766443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48" name="6">
            <a:extLst>
              <a:ext uri="{FF2B5EF4-FFF2-40B4-BE49-F238E27FC236}">
                <ns2:creationId id="{DB01E8F7-B7EF-4206-9F02-414A39679FA2}"/>
              </a:ext>
            </a:extLst>
          </p:cNvPr>
          <p:cNvSpPr>
            <a:spLocks noGrp="1"/>
          </p:cNvSpPr>
          <p:nvPr/>
        </p:nvSpPr>
        <p:spPr>
          <a:xfrm>
            <a:off x="3988776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249" name="6">
            <a:extLst>
              <a:ext uri="{FF2B5EF4-FFF2-40B4-BE49-F238E27FC236}">
                <ns2:creationId id="{6BCB90C2-E9E4-468E-BC36-637B61C70A4B}"/>
              </a:ext>
            </a:extLst>
          </p:cNvPr>
          <p:cNvSpPr>
            <a:spLocks noGrp="1"/>
          </p:cNvSpPr>
          <p:nvPr/>
        </p:nvSpPr>
        <p:spPr>
          <a:xfrm>
            <a:off x="3307488" y="2877410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6</a:t>
            </a:r>
          </a:p>
        </p:txBody>
      </p:sp>
      <p:sp>
        <p:nvSpPr>
          <p:cNvPr id="250" name="diagram block">
            <a:extLst>
              <a:ext uri="{FF2B5EF4-FFF2-40B4-BE49-F238E27FC236}">
                <ns2:creationId id="{DFA7EDEF-4150-4E77-9F12-E522952DB0D5}"/>
              </a:ext>
            </a:extLst>
          </p:cNvPr>
          <p:cNvSpPr>
            <a:spLocks noGrp="1"/>
          </p:cNvSpPr>
          <p:nvPr/>
        </p:nvSpPr>
        <p:spPr>
          <a:xfrm>
            <a:off x="3446842" y="2872249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1" name="diagram block">
            <a:extLst>
              <a:ext uri="{FF2B5EF4-FFF2-40B4-BE49-F238E27FC236}">
                <ns2:creationId id="{B8D6F96F-D660-462B-9ABC-2161FDB4C8C9}"/>
              </a:ext>
            </a:extLst>
          </p:cNvPr>
          <p:cNvSpPr>
            <a:spLocks noGrp="1"/>
          </p:cNvSpPr>
          <p:nvPr/>
        </p:nvSpPr>
        <p:spPr>
          <a:xfrm>
            <a:off x="3555229" y="2872249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2" name="diagram block">
            <a:extLst>
              <a:ext uri="{FF2B5EF4-FFF2-40B4-BE49-F238E27FC236}">
                <ns2:creationId id="{C4866A3D-BD33-4A7D-A2C1-CC33301DC84D}"/>
              </a:ext>
            </a:extLst>
          </p:cNvPr>
          <p:cNvSpPr>
            <a:spLocks noGrp="1"/>
          </p:cNvSpPr>
          <p:nvPr/>
        </p:nvSpPr>
        <p:spPr>
          <a:xfrm>
            <a:off x="3663616" y="2872249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3" name="diagram block">
            <a:extLst>
              <a:ext uri="{FF2B5EF4-FFF2-40B4-BE49-F238E27FC236}">
                <ns2:creationId id="{062E43DC-663C-4957-AF02-1DA67E29858A}"/>
              </a:ext>
            </a:extLst>
          </p:cNvPr>
          <p:cNvSpPr>
            <a:spLocks noGrp="1"/>
          </p:cNvSpPr>
          <p:nvPr/>
        </p:nvSpPr>
        <p:spPr>
          <a:xfrm>
            <a:off x="3772003" y="2872249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4" name="diagram block">
            <a:extLst>
              <a:ext uri="{FF2B5EF4-FFF2-40B4-BE49-F238E27FC236}">
                <ns2:creationId id="{5D0EFA9B-1D4C-47D4-8373-EC2935FED0A0}"/>
              </a:ext>
            </a:extLst>
          </p:cNvPr>
          <p:cNvSpPr>
            <a:spLocks noGrp="1"/>
          </p:cNvSpPr>
          <p:nvPr/>
        </p:nvSpPr>
        <p:spPr>
          <a:xfrm>
            <a:off x="3880389" y="2872249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5" name="diagram block">
            <a:extLst>
              <a:ext uri="{FF2B5EF4-FFF2-40B4-BE49-F238E27FC236}">
                <ns2:creationId id="{91E29C37-9A75-496C-B5F4-F8A728305B28}"/>
              </a:ext>
            </a:extLst>
          </p:cNvPr>
          <p:cNvSpPr>
            <a:spLocks noGrp="1"/>
          </p:cNvSpPr>
          <p:nvPr/>
        </p:nvSpPr>
        <p:spPr>
          <a:xfrm>
            <a:off x="3988776" y="2872249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6" name="×">
            <a:extLst>
              <a:ext uri="{FF2B5EF4-FFF2-40B4-BE49-F238E27FC236}">
                <ns2:creationId id="{C89A76F0-DACA-4870-8FF0-73928FD4E0B5}"/>
              </a:ext>
            </a:extLst>
          </p:cNvPr>
          <p:cNvSpPr>
            <a:spLocks noGrp="1"/>
          </p:cNvSpPr>
          <p:nvPr/>
        </p:nvSpPr>
        <p:spPr>
          <a:xfrm>
            <a:off x="3988776" y="2867088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57" name="diagram block">
            <a:extLst>
              <a:ext uri="{FF2B5EF4-FFF2-40B4-BE49-F238E27FC236}">
                <ns2:creationId id="{E0DF1617-FF44-4C2F-9518-4F6F591141CC}"/>
              </a:ext>
            </a:extLst>
          </p:cNvPr>
          <p:cNvSpPr>
            <a:spLocks noGrp="1"/>
          </p:cNvSpPr>
          <p:nvPr/>
        </p:nvSpPr>
        <p:spPr>
          <a:xfrm>
            <a:off x="4097163" y="2872249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8" name="diagram block">
            <a:extLst>
              <a:ext uri="{FF2B5EF4-FFF2-40B4-BE49-F238E27FC236}">
                <ns2:creationId id="{C6010FC4-0673-4623-86E6-11790D4D9CC6}"/>
              </a:ext>
            </a:extLst>
          </p:cNvPr>
          <p:cNvSpPr>
            <a:spLocks noGrp="1"/>
          </p:cNvSpPr>
          <p:nvPr/>
        </p:nvSpPr>
        <p:spPr>
          <a:xfrm>
            <a:off x="4205550" y="2872249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59" name="7">
            <a:extLst>
              <a:ext uri="{FF2B5EF4-FFF2-40B4-BE49-F238E27FC236}">
                <ns2:creationId id="{9AC7CEE7-5610-4D93-BAC8-C6D8840C2AE7}"/>
              </a:ext>
            </a:extLst>
          </p:cNvPr>
          <p:cNvSpPr>
            <a:spLocks noGrp="1"/>
          </p:cNvSpPr>
          <p:nvPr/>
        </p:nvSpPr>
        <p:spPr>
          <a:xfrm>
            <a:off x="4097163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7</a:t>
            </a:r>
          </a:p>
        </p:txBody>
      </p:sp>
      <p:sp>
        <p:nvSpPr>
          <p:cNvPr id="260" name="7">
            <a:extLst>
              <a:ext uri="{FF2B5EF4-FFF2-40B4-BE49-F238E27FC236}">
                <ns2:creationId id="{A40FDBF7-2918-48F8-8DD7-7BFC41C308B5}"/>
              </a:ext>
            </a:extLst>
          </p:cNvPr>
          <p:cNvSpPr>
            <a:spLocks noGrp="1"/>
          </p:cNvSpPr>
          <p:nvPr/>
        </p:nvSpPr>
        <p:spPr>
          <a:xfrm>
            <a:off x="3307488" y="2983216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7</a:t>
            </a:r>
          </a:p>
        </p:txBody>
      </p:sp>
      <p:sp>
        <p:nvSpPr>
          <p:cNvPr id="261" name="diagram block">
            <a:extLst>
              <a:ext uri="{FF2B5EF4-FFF2-40B4-BE49-F238E27FC236}">
                <ns2:creationId id="{6BAF2EDE-B746-4CAE-A6CE-4EBD8AE74F93}"/>
              </a:ext>
            </a:extLst>
          </p:cNvPr>
          <p:cNvSpPr>
            <a:spLocks noGrp="1"/>
          </p:cNvSpPr>
          <p:nvPr/>
        </p:nvSpPr>
        <p:spPr>
          <a:xfrm>
            <a:off x="3446842" y="2978055"/>
            <a:ext cx="108387" cy="105806"/>
          </a:xfrm>
          <a:prstGeom prst="rect">
            <a:avLst/>
          </a:prstGeom>
          <a:solidFill>
            <a:srgbClr val="2D6FA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2" name="diagram block">
            <a:extLst>
              <a:ext uri="{FF2B5EF4-FFF2-40B4-BE49-F238E27FC236}">
                <ns2:creationId id="{8F20EDF7-8566-40C7-8B51-DC87F5BAC45E}"/>
              </a:ext>
            </a:extLst>
          </p:cNvPr>
          <p:cNvSpPr>
            <a:spLocks noGrp="1"/>
          </p:cNvSpPr>
          <p:nvPr/>
        </p:nvSpPr>
        <p:spPr>
          <a:xfrm>
            <a:off x="3555229" y="2978055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3" name="diagram block">
            <a:extLst>
              <a:ext uri="{FF2B5EF4-FFF2-40B4-BE49-F238E27FC236}">
                <ns2:creationId id="{488919CE-7533-4213-BB31-E46C20A16B00}"/>
              </a:ext>
            </a:extLst>
          </p:cNvPr>
          <p:cNvSpPr>
            <a:spLocks noGrp="1"/>
          </p:cNvSpPr>
          <p:nvPr/>
        </p:nvSpPr>
        <p:spPr>
          <a:xfrm>
            <a:off x="3663616" y="2978055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4" name="diagram block">
            <a:extLst>
              <a:ext uri="{FF2B5EF4-FFF2-40B4-BE49-F238E27FC236}">
                <ns2:creationId id="{AAE1B6AA-B262-4086-9089-DB52FDCC3FBD}"/>
              </a:ext>
            </a:extLst>
          </p:cNvPr>
          <p:cNvSpPr>
            <a:spLocks noGrp="1"/>
          </p:cNvSpPr>
          <p:nvPr/>
        </p:nvSpPr>
        <p:spPr>
          <a:xfrm>
            <a:off x="3772003" y="2978055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5" name="diagram block">
            <a:extLst>
              <a:ext uri="{FF2B5EF4-FFF2-40B4-BE49-F238E27FC236}">
                <ns2:creationId id="{587CD064-4B0E-4804-BA20-FCE5C912B35A}"/>
              </a:ext>
            </a:extLst>
          </p:cNvPr>
          <p:cNvSpPr>
            <a:spLocks noGrp="1"/>
          </p:cNvSpPr>
          <p:nvPr/>
        </p:nvSpPr>
        <p:spPr>
          <a:xfrm>
            <a:off x="3880389" y="2978055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6" name="diagram block">
            <a:extLst>
              <a:ext uri="{FF2B5EF4-FFF2-40B4-BE49-F238E27FC236}">
                <ns2:creationId id="{E6A11124-EEF1-41BB-B343-EE331C5E6710}"/>
              </a:ext>
            </a:extLst>
          </p:cNvPr>
          <p:cNvSpPr>
            <a:spLocks noGrp="1"/>
          </p:cNvSpPr>
          <p:nvPr/>
        </p:nvSpPr>
        <p:spPr>
          <a:xfrm>
            <a:off x="3988776" y="2978055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7" name="diagram block">
            <a:extLst>
              <a:ext uri="{FF2B5EF4-FFF2-40B4-BE49-F238E27FC236}">
                <ns2:creationId id="{E2A2D45D-4B1F-4890-A623-55F9CBF1D2F2}"/>
              </a:ext>
            </a:extLst>
          </p:cNvPr>
          <p:cNvSpPr>
            <a:spLocks noGrp="1"/>
          </p:cNvSpPr>
          <p:nvPr/>
        </p:nvSpPr>
        <p:spPr>
          <a:xfrm>
            <a:off x="4097163" y="2978055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68" name="×">
            <a:extLst>
              <a:ext uri="{FF2B5EF4-FFF2-40B4-BE49-F238E27FC236}">
                <ns2:creationId id="{42FCB0FB-5800-41B6-9AD4-988E1166A360}"/>
              </a:ext>
            </a:extLst>
          </p:cNvPr>
          <p:cNvSpPr>
            <a:spLocks noGrp="1"/>
          </p:cNvSpPr>
          <p:nvPr/>
        </p:nvSpPr>
        <p:spPr>
          <a:xfrm>
            <a:off x="4097163" y="2972894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69" name="diagram block">
            <a:extLst>
              <a:ext uri="{FF2B5EF4-FFF2-40B4-BE49-F238E27FC236}">
                <ns2:creationId id="{020F0B0B-C2D3-47BE-84E6-BA3DCF851EA8}"/>
              </a:ext>
            </a:extLst>
          </p:cNvPr>
          <p:cNvSpPr>
            <a:spLocks noGrp="1"/>
          </p:cNvSpPr>
          <p:nvPr/>
        </p:nvSpPr>
        <p:spPr>
          <a:xfrm>
            <a:off x="4205550" y="2978055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0" name="8">
            <a:extLst>
              <a:ext uri="{FF2B5EF4-FFF2-40B4-BE49-F238E27FC236}">
                <ns2:creationId id="{2FA5710A-1EAA-4754-9892-2B426C39E081}"/>
              </a:ext>
            </a:extLst>
          </p:cNvPr>
          <p:cNvSpPr>
            <a:spLocks noGrp="1"/>
          </p:cNvSpPr>
          <p:nvPr/>
        </p:nvSpPr>
        <p:spPr>
          <a:xfrm>
            <a:off x="4205550" y="2219348"/>
            <a:ext cx="108387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271" name="8">
            <a:extLst>
              <a:ext uri="{FF2B5EF4-FFF2-40B4-BE49-F238E27FC236}">
                <ns2:creationId id="{7594AD9B-C071-42D9-A7C6-F8EF75FA2912}"/>
              </a:ext>
            </a:extLst>
          </p:cNvPr>
          <p:cNvSpPr>
            <a:spLocks noGrp="1"/>
          </p:cNvSpPr>
          <p:nvPr/>
        </p:nvSpPr>
        <p:spPr>
          <a:xfrm>
            <a:off x="3307488" y="3089022"/>
            <a:ext cx="113548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22"/>
          </a:bodyPr>
          <a:lstStyle>
            <a:def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9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272" name="diagram block">
            <a:extLst>
              <a:ext uri="{FF2B5EF4-FFF2-40B4-BE49-F238E27FC236}">
                <ns2:creationId id="{4ACB1E98-4277-45F4-8072-DAB6DD1C17BF}"/>
              </a:ext>
            </a:extLst>
          </p:cNvPr>
          <p:cNvSpPr>
            <a:spLocks noGrp="1"/>
          </p:cNvSpPr>
          <p:nvPr/>
        </p:nvSpPr>
        <p:spPr>
          <a:xfrm>
            <a:off x="3446842" y="3083861"/>
            <a:ext cx="108387" cy="105806"/>
          </a:xfrm>
          <a:prstGeom prst="rect">
            <a:avLst/>
          </a:prstGeom>
          <a:solidFill>
            <a:srgbClr val="1F5F9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3" name="diagram block">
            <a:extLst>
              <a:ext uri="{FF2B5EF4-FFF2-40B4-BE49-F238E27FC236}">
                <ns2:creationId id="{9DC5F3A3-A498-45DE-BEAB-9EE5668BAAAA}"/>
              </a:ext>
            </a:extLst>
          </p:cNvPr>
          <p:cNvSpPr>
            <a:spLocks noGrp="1"/>
          </p:cNvSpPr>
          <p:nvPr/>
        </p:nvSpPr>
        <p:spPr>
          <a:xfrm>
            <a:off x="3555229" y="3083861"/>
            <a:ext cx="108387" cy="105806"/>
          </a:xfrm>
          <a:prstGeom prst="rect">
            <a:avLst/>
          </a:prstGeom>
          <a:solidFill>
            <a:srgbClr val="346CA8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4" name="diagram block">
            <a:extLst>
              <a:ext uri="{FF2B5EF4-FFF2-40B4-BE49-F238E27FC236}">
                <ns2:creationId id="{A7371829-E9E7-45A7-B9C2-57BD90A3247D}"/>
              </a:ext>
            </a:extLst>
          </p:cNvPr>
          <p:cNvSpPr>
            <a:spLocks noGrp="1"/>
          </p:cNvSpPr>
          <p:nvPr/>
        </p:nvSpPr>
        <p:spPr>
          <a:xfrm>
            <a:off x="3663616" y="3083861"/>
            <a:ext cx="108387" cy="105806"/>
          </a:xfrm>
          <a:prstGeom prst="rect">
            <a:avLst/>
          </a:prstGeom>
          <a:solidFill>
            <a:srgbClr val="467FB9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5" name="diagram block">
            <a:extLst>
              <a:ext uri="{FF2B5EF4-FFF2-40B4-BE49-F238E27FC236}">
                <ns2:creationId id="{343A880A-5F35-48A9-BC14-9216FF5015B0}"/>
              </a:ext>
            </a:extLst>
          </p:cNvPr>
          <p:cNvSpPr>
            <a:spLocks noGrp="1"/>
          </p:cNvSpPr>
          <p:nvPr/>
        </p:nvSpPr>
        <p:spPr>
          <a:xfrm>
            <a:off x="3772003" y="3083861"/>
            <a:ext cx="108387" cy="105806"/>
          </a:xfrm>
          <a:prstGeom prst="rect">
            <a:avLst/>
          </a:prstGeom>
          <a:solidFill>
            <a:srgbClr val="5D93C7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6" name="diagram block">
            <a:extLst>
              <a:ext uri="{FF2B5EF4-FFF2-40B4-BE49-F238E27FC236}">
                <ns2:creationId id="{AC9EBDA3-7FCA-461A-BE50-188D64A74620}"/>
              </a:ext>
            </a:extLst>
          </p:cNvPr>
          <p:cNvSpPr>
            <a:spLocks noGrp="1"/>
          </p:cNvSpPr>
          <p:nvPr/>
        </p:nvSpPr>
        <p:spPr>
          <a:xfrm>
            <a:off x="3880389" y="3083861"/>
            <a:ext cx="108387" cy="105806"/>
          </a:xfrm>
          <a:prstGeom prst="rect">
            <a:avLst/>
          </a:prstGeom>
          <a:solidFill>
            <a:srgbClr val="7DADDA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7" name="diagram block">
            <a:extLst>
              <a:ext uri="{FF2B5EF4-FFF2-40B4-BE49-F238E27FC236}">
                <ns2:creationId id="{E9D0D63E-9D93-4DA2-A4F1-BB5A36F4E3BA}"/>
              </a:ext>
            </a:extLst>
          </p:cNvPr>
          <p:cNvSpPr>
            <a:spLocks noGrp="1"/>
          </p:cNvSpPr>
          <p:nvPr/>
        </p:nvSpPr>
        <p:spPr>
          <a:xfrm>
            <a:off x="3988776" y="3083861"/>
            <a:ext cx="108387" cy="105806"/>
          </a:xfrm>
          <a:prstGeom prst="rect">
            <a:avLst/>
          </a:prstGeom>
          <a:solidFill>
            <a:srgbClr val="91BBDF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8" name="diagram block">
            <a:extLst>
              <a:ext uri="{FF2B5EF4-FFF2-40B4-BE49-F238E27FC236}">
                <ns2:creationId id="{CA123933-2891-409E-B2C7-CF88D9B3C095}"/>
              </a:ext>
            </a:extLst>
          </p:cNvPr>
          <p:cNvSpPr>
            <a:spLocks noGrp="1"/>
          </p:cNvSpPr>
          <p:nvPr/>
        </p:nvSpPr>
        <p:spPr>
          <a:xfrm>
            <a:off x="4097163" y="3083861"/>
            <a:ext cx="108387" cy="105806"/>
          </a:xfrm>
          <a:prstGeom prst="rect">
            <a:avLst/>
          </a:prstGeom>
          <a:solidFill>
            <a:srgbClr val="5D99CD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79" name="diagram block">
            <a:extLst>
              <a:ext uri="{FF2B5EF4-FFF2-40B4-BE49-F238E27FC236}">
                <ns2:creationId id="{8D5D9464-1FA8-4DC4-844D-5DF0320B1639}"/>
              </a:ext>
            </a:extLst>
          </p:cNvPr>
          <p:cNvSpPr>
            <a:spLocks noGrp="1"/>
          </p:cNvSpPr>
          <p:nvPr/>
        </p:nvSpPr>
        <p:spPr>
          <a:xfrm>
            <a:off x="4205550" y="3083861"/>
            <a:ext cx="108387" cy="105806"/>
          </a:xfrm>
          <a:prstGeom prst="rect">
            <a:avLst/>
          </a:prstGeom>
          <a:solidFill>
            <a:srgbClr val="A9B4C1"/>
          </a:solidFill>
          <a:ln w="1806">
            <a:solidFill>
              <a:srgbClr val="C5D7E5"/>
            </a:solidFill>
            <a:prstDash val="solid"/>
          </a:ln>
        </p:spPr>
      </p:sp>
      <p:sp>
        <p:nvSpPr>
          <p:cNvPr id="280" name="×">
            <a:extLst>
              <a:ext uri="{FF2B5EF4-FFF2-40B4-BE49-F238E27FC236}">
                <ns2:creationId id="{409A2C07-91F3-4BB5-B4E4-5E1852870D80}"/>
              </a:ext>
            </a:extLst>
          </p:cNvPr>
          <p:cNvSpPr>
            <a:spLocks noGrp="1"/>
          </p:cNvSpPr>
          <p:nvPr/>
        </p:nvSpPr>
        <p:spPr>
          <a:xfrm>
            <a:off x="4205550" y="3078700"/>
            <a:ext cx="108387" cy="1058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243647"/>
                </a:solidFill>
                <a:latin typeface="Arial Narrow"/>
                <a:ea typeface="Arial Narrow"/>
                <a:cs typeface="Arial Narrow"/>
              </a:rPr>
              <a:t>×</a:t>
            </a:r>
          </a:p>
        </p:txBody>
      </p:sp>
      <p:sp>
        <p:nvSpPr>
          <p:cNvPr id="281" name="dᵢⱼ">
            <a:extLst>
              <a:ext uri="{FF2B5EF4-FFF2-40B4-BE49-F238E27FC236}">
                <ns2:creationId id="{446CA753-9889-4FDA-8664-8A019C244C15}"/>
              </a:ext>
            </a:extLst>
          </p:cNvPr>
          <p:cNvSpPr>
            <a:spLocks noGrp="1"/>
          </p:cNvSpPr>
          <p:nvPr/>
        </p:nvSpPr>
        <p:spPr>
          <a:xfrm>
            <a:off x="4422323" y="2260638"/>
            <a:ext cx="175483" cy="11870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2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</a:t>
            </a:r>
          </a:p>
        </p:txBody>
      </p:sp>
      <p:sp>
        <p:nvSpPr>
          <p:cNvPr id="282" name="diagram block">
            <a:extLst>
              <a:ext uri="{FF2B5EF4-FFF2-40B4-BE49-F238E27FC236}">
                <ns2:creationId id="{C1638D34-EE55-4662-8D25-1BE3E3F3321C}"/>
              </a:ext>
            </a:extLst>
          </p:cNvPr>
          <p:cNvSpPr>
            <a:spLocks noGrp="1"/>
          </p:cNvSpPr>
          <p:nvPr/>
        </p:nvSpPr>
        <p:spPr>
          <a:xfrm>
            <a:off x="4386194" y="2394831"/>
            <a:ext cx="77419" cy="707095"/>
          </a:xfrm>
          <a:prstGeom prst="rect">
            <a:avLst/>
          </a:prstGeom>
          <a:gradFill>
            <a:gsLst>
              <a:gs pos="0">
                <a:srgbClr val="1E609E"/>
              </a:gs>
              <a:gs pos="100000">
                <a:srgbClr val="D2E6F4"/>
              </a:gs>
            </a:gsLst>
            <a:lin ang="5400000"/>
          </a:gradFill>
          <a:ln w="3097">
            <a:solidFill>
              <a:srgbClr val="B6CADB"/>
            </a:solidFill>
            <a:prstDash val="solid"/>
          </a:ln>
        </p:spPr>
      </p:sp>
      <p:sp>
        <p:nvSpPr>
          <p:cNvPr id="283" name="high">
            <a:extLst>
              <a:ext uri="{FF2B5EF4-FFF2-40B4-BE49-F238E27FC236}">
                <ns2:creationId id="{743A3E2F-655F-412F-9B3C-D4A32F9683F9}"/>
              </a:ext>
            </a:extLst>
          </p:cNvPr>
          <p:cNvSpPr>
            <a:spLocks noGrp="1"/>
          </p:cNvSpPr>
          <p:nvPr/>
        </p:nvSpPr>
        <p:spPr>
          <a:xfrm>
            <a:off x="4504903" y="2405154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high</a:t>
            </a:r>
          </a:p>
        </p:txBody>
      </p:sp>
      <p:sp>
        <p:nvSpPr>
          <p:cNvPr id="284" name="low">
            <a:extLst>
              <a:ext uri="{FF2B5EF4-FFF2-40B4-BE49-F238E27FC236}">
                <ns2:creationId id="{37FF84B3-B203-4BF2-9A6D-3B427E867368}"/>
              </a:ext>
            </a:extLst>
          </p:cNvPr>
          <p:cNvSpPr>
            <a:spLocks noGrp="1"/>
          </p:cNvSpPr>
          <p:nvPr/>
        </p:nvSpPr>
        <p:spPr>
          <a:xfrm>
            <a:off x="4504903" y="3019345"/>
            <a:ext cx="149677" cy="1083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650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low</a:t>
            </a:r>
          </a:p>
        </p:txBody>
      </p:sp>
      <p:sp>
        <p:nvSpPr>
          <p:cNvPr id="285" name="Diagonal masked (no self-relation)">
            <a:extLst>
              <a:ext uri="{FF2B5EF4-FFF2-40B4-BE49-F238E27FC236}">
                <ns2:creationId id="{05D555B4-9B52-4216-B455-7CDD69379A24}"/>
              </a:ext>
            </a:extLst>
          </p:cNvPr>
          <p:cNvSpPr>
            <a:spLocks noGrp="1"/>
          </p:cNvSpPr>
          <p:nvPr/>
        </p:nvSpPr>
        <p:spPr>
          <a:xfrm>
            <a:off x="3307488" y="3277409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Diagonal masked (no self-relation)</a:t>
            </a:r>
          </a:p>
        </p:txBody>
      </p:sp>
      <p:sp>
        <p:nvSpPr>
          <p:cNvPr id="286" name="All other windows are neighbors">
            <a:extLst>
              <a:ext uri="{FF2B5EF4-FFF2-40B4-BE49-F238E27FC236}">
                <ns2:creationId id="{74F7BC87-6358-4717-9E1D-C57FE18D5DA3}"/>
              </a:ext>
            </a:extLst>
          </p:cNvPr>
          <p:cNvSpPr>
            <a:spLocks noGrp="1"/>
          </p:cNvSpPr>
          <p:nvPr/>
        </p:nvSpPr>
        <p:spPr>
          <a:xfrm>
            <a:off x="3307488" y="3401280"/>
            <a:ext cx="1378060" cy="11354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All other windows are neighbors</a:t>
            </a:r>
          </a:p>
        </p:txBody>
      </p:sp>
      <p:sp>
        <p:nvSpPr>
          <p:cNvPr id="287" name="diagram block">
            <a:extLst>
              <a:ext uri="{FF2B5EF4-FFF2-40B4-BE49-F238E27FC236}">
                <ns2:creationId id="{41C5526A-BB6C-4EFF-9259-465B71DE4791}"/>
              </a:ext>
            </a:extLst>
          </p:cNvPr>
          <p:cNvSpPr>
            <a:spLocks noGrp="1"/>
          </p:cNvSpPr>
          <p:nvPr/>
        </p:nvSpPr>
        <p:spPr>
          <a:xfrm>
            <a:off x="4721677" y="2229670"/>
            <a:ext cx="1176770" cy="1326447"/>
          </a:xfrm>
          <a:prstGeom prst="roundRect">
            <a:avLst>
              <a:gd name="adj" fmla="val 1754"/>
            </a:avLst>
          </a:prstGeom>
          <a:solidFill>
            <a:srgbClr val="F8FBFF"/>
          </a:solidFill>
          <a:ln w="3871">
            <a:solidFill>
              <a:srgbClr val="C3DDF3"/>
            </a:solidFill>
            <a:prstDash val="solid"/>
          </a:ln>
        </p:spPr>
      </p:sp>
      <p:sp>
        <p:nvSpPr>
          <p:cNvPr id="288" name="dᵢⱼ =">
            <a:extLst>
              <a:ext uri="{FF2B5EF4-FFF2-40B4-BE49-F238E27FC236}">
                <ns2:creationId id="{FAA26116-26FA-4B80-BC22-9D5AD3E8C224}"/>
              </a:ext>
            </a:extLst>
          </p:cNvPr>
          <p:cNvSpPr>
            <a:spLocks noGrp="1"/>
          </p:cNvSpPr>
          <p:nvPr/>
        </p:nvSpPr>
        <p:spPr>
          <a:xfrm>
            <a:off x="4799096" y="2379347"/>
            <a:ext cx="283870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dᵢⱼ =</a:t>
            </a:r>
          </a:p>
        </p:txBody>
      </p:sp>
      <p:sp>
        <p:nvSpPr>
          <p:cNvPr id="289" name="1">
            <a:extLst>
              <a:ext uri="{FF2B5EF4-FFF2-40B4-BE49-F238E27FC236}">
                <ns2:creationId id="{DCFA12C4-3B9F-4292-B8D9-51579F1EB27B}"/>
              </a:ext>
            </a:extLst>
          </p:cNvPr>
          <p:cNvSpPr>
            <a:spLocks noGrp="1"/>
          </p:cNvSpPr>
          <p:nvPr/>
        </p:nvSpPr>
        <p:spPr>
          <a:xfrm>
            <a:off x="5088127" y="2332896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cxnSp>
        <p:nvCxnSpPr>
          <p:cNvPr id="290" name="native PowerPoint connector">
            <a:extLst>
              <a:ext uri="{FF2B5EF4-FFF2-40B4-BE49-F238E27FC236}">
                <ns2:creationId id="{E282D71B-9556-4BD4-ACD3-BCE7FCAFA99A}"/>
              </a:ext>
            </a:extLst>
          </p:cNvPr>
          <p:cNvCxnSpPr/>
          <p:nvPr/>
        </p:nvCxnSpPr>
        <p:spPr>
          <a:xfrm flipH="0" flipV="0">
            <a:off x="5103611" y="2461876"/>
            <a:ext cx="98064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1" name="18">
            <a:extLst>
              <a:ext uri="{FF2B5EF4-FFF2-40B4-BE49-F238E27FC236}">
                <ns2:creationId id="{34DE38F8-EAF6-4FE7-A78F-A7BF72066BC8}"/>
              </a:ext>
            </a:extLst>
          </p:cNvPr>
          <p:cNvSpPr>
            <a:spLocks noGrp="1"/>
          </p:cNvSpPr>
          <p:nvPr/>
        </p:nvSpPr>
        <p:spPr>
          <a:xfrm>
            <a:off x="5088127" y="2469773"/>
            <a:ext cx="129032" cy="1105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9227"/>
          </a:bodyPr>
          <a:lstStyle>
            <a:def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2" name="∑">
            <a:extLst>
              <a:ext uri="{FF2B5EF4-FFF2-40B4-BE49-F238E27FC236}">
                <ns2:creationId id="{D185D157-7EF5-4F01-83A5-E49ACD04DA3F}"/>
              </a:ext>
            </a:extLst>
          </p:cNvPr>
          <p:cNvSpPr>
            <a:spLocks noGrp="1"/>
          </p:cNvSpPr>
          <p:nvPr/>
        </p:nvSpPr>
        <p:spPr>
          <a:xfrm>
            <a:off x="5227482" y="2332896"/>
            <a:ext cx="201290" cy="2322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704"/>
          </a:bodyPr>
          <a:lstStyle>
            <a:def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4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293" name="18">
            <a:extLst>
              <a:ext uri="{FF2B5EF4-FFF2-40B4-BE49-F238E27FC236}">
                <ns2:creationId id="{21F4C0F0-3422-483D-8EC7-3ACED62F4891}"/>
              </a:ext>
            </a:extLst>
          </p:cNvPr>
          <p:cNvSpPr>
            <a:spLocks noGrp="1"/>
          </p:cNvSpPr>
          <p:nvPr/>
        </p:nvSpPr>
        <p:spPr>
          <a:xfrm>
            <a:off x="5279095" y="2260638"/>
            <a:ext cx="149677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294" name="k=1">
            <a:extLst>
              <a:ext uri="{FF2B5EF4-FFF2-40B4-BE49-F238E27FC236}">
                <ns2:creationId id="{5DAF8E3B-CE82-45E4-9830-F15CBD79259E}"/>
              </a:ext>
            </a:extLst>
          </p:cNvPr>
          <p:cNvSpPr>
            <a:spLocks noGrp="1"/>
          </p:cNvSpPr>
          <p:nvPr/>
        </p:nvSpPr>
        <p:spPr>
          <a:xfrm>
            <a:off x="5211998" y="2559992"/>
            <a:ext cx="221935" cy="103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50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k=1</a:t>
            </a:r>
          </a:p>
        </p:txBody>
      </p:sp>
      <p:sp>
        <p:nvSpPr>
          <p:cNvPr id="295" name="(uᵢₖ − uⱼₖ)²">
            <a:extLst>
              <a:ext uri="{FF2B5EF4-FFF2-40B4-BE49-F238E27FC236}">
                <ns2:creationId id="{FAE0BA8B-F2AF-4BE4-9FE4-0D3F885EA68C}"/>
              </a:ext>
            </a:extLst>
          </p:cNvPr>
          <p:cNvSpPr>
            <a:spLocks noGrp="1"/>
          </p:cNvSpPr>
          <p:nvPr/>
        </p:nvSpPr>
        <p:spPr>
          <a:xfrm>
            <a:off x="5402965" y="2394831"/>
            <a:ext cx="469676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8009"/>
          </a:bodyPr>
          <a:lstStyle>
            <a:def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(uᵢₖ − uⱼₖ)²</a:t>
            </a:r>
          </a:p>
        </p:txBody>
      </p:sp>
      <p:sp>
        <p:nvSpPr>
          <p:cNvPr id="296" name="p(j | i) =">
            <a:extLst>
              <a:ext uri="{FF2B5EF4-FFF2-40B4-BE49-F238E27FC236}">
                <ns2:creationId id="{9F89C55D-56CE-44BB-9EA2-A61780F5E952}"/>
              </a:ext>
            </a:extLst>
          </p:cNvPr>
          <p:cNvSpPr>
            <a:spLocks noGrp="1"/>
          </p:cNvSpPr>
          <p:nvPr/>
        </p:nvSpPr>
        <p:spPr>
          <a:xfrm>
            <a:off x="4773290" y="2776765"/>
            <a:ext cx="459353" cy="1754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p(j | i) =</a:t>
            </a:r>
          </a:p>
        </p:txBody>
      </p:sp>
      <p:sp>
        <p:nvSpPr>
          <p:cNvPr id="297" name="exp(−dᵢⱼ / τₐ)">
            <a:extLst>
              <a:ext uri="{FF2B5EF4-FFF2-40B4-BE49-F238E27FC236}">
                <ns2:creationId id="{70AA5778-F388-4077-A850-BF8EA4009C19}"/>
              </a:ext>
            </a:extLst>
          </p:cNvPr>
          <p:cNvSpPr>
            <a:spLocks noGrp="1"/>
          </p:cNvSpPr>
          <p:nvPr/>
        </p:nvSpPr>
        <p:spPr>
          <a:xfrm>
            <a:off x="5217159" y="2689024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exp(−dᵢⱼ / τₐ)</a:t>
            </a:r>
          </a:p>
        </p:txBody>
      </p:sp>
      <p:cxnSp>
        <p:nvCxnSpPr>
          <p:cNvPr id="298" name="native PowerPoint connector">
            <a:extLst>
              <a:ext uri="{FF2B5EF4-FFF2-40B4-BE49-F238E27FC236}">
                <ns2:creationId id="{F8142BAA-6B16-48B9-BED5-B13E6A026773}"/>
              </a:ext>
            </a:extLst>
          </p:cNvPr>
          <p:cNvCxnSpPr/>
          <p:nvPr/>
        </p:nvCxnSpPr>
        <p:spPr>
          <a:xfrm flipH="0" flipV="0">
            <a:off x="5232643" y="2843294"/>
            <a:ext cx="619353" cy="0"/>
          </a:xfrm>
          <a:prstGeom prst="straightConnector1">
            <a:avLst/>
          </a:prstGeom>
          <a:ln w="5677">
            <a:solidFill>
              <a:srgbClr val="061A3C"/>
            </a:solidFill>
            <a:prstDash val="solid"/>
          </a:ln>
        </p:spPr>
      </p:cxnSp>
      <p:sp>
        <p:nvSpPr>
          <p:cNvPr id="299" name="∑ₖ≠ᵢ exp(−dᵢₖ / τₐ)">
            <a:extLst>
              <a:ext uri="{FF2B5EF4-FFF2-40B4-BE49-F238E27FC236}">
                <ns2:creationId id="{09C804A3-94FC-4CD7-BF08-88FFD2AED463}"/>
              </a:ext>
            </a:extLst>
          </p:cNvPr>
          <p:cNvSpPr>
            <a:spLocks noGrp="1"/>
          </p:cNvSpPr>
          <p:nvPr/>
        </p:nvSpPr>
        <p:spPr>
          <a:xfrm>
            <a:off x="5217159" y="2852739"/>
            <a:ext cx="650321" cy="132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283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∑ₖ≠ᵢ exp(−dᵢₖ / τₐ)</a:t>
            </a:r>
          </a:p>
        </p:txBody>
      </p:sp>
      <p:sp>
        <p:nvSpPr>
          <p:cNvPr id="300" name="for j ≠ i">
            <a:extLst>
              <a:ext uri="{FF2B5EF4-FFF2-40B4-BE49-F238E27FC236}">
                <ns2:creationId id="{CFCCB79D-47DF-4DFC-8545-29C62C311044}"/>
              </a:ext>
            </a:extLst>
          </p:cNvPr>
          <p:cNvSpPr>
            <a:spLocks noGrp="1"/>
          </p:cNvSpPr>
          <p:nvPr/>
        </p:nvSpPr>
        <p:spPr>
          <a:xfrm>
            <a:off x="5088127" y="3081281"/>
            <a:ext cx="717417" cy="1393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796"/>
          </a:bodyPr>
          <a:lstStyle>
            <a:def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for j ≠ i</a:t>
            </a:r>
          </a:p>
        </p:txBody>
      </p:sp>
      <p:sp>
        <p:nvSpPr>
          <p:cNvPr id="301" name="τₐ: frozen temperature">
            <a:extLst>
              <a:ext uri="{FF2B5EF4-FFF2-40B4-BE49-F238E27FC236}">
                <ns2:creationId id="{64F7F282-4752-4D67-A337-6D86341DD562}"/>
              </a:ext>
            </a:extLst>
          </p:cNvPr>
          <p:cNvSpPr>
            <a:spLocks noGrp="1"/>
          </p:cNvSpPr>
          <p:nvPr/>
        </p:nvSpPr>
        <p:spPr>
          <a:xfrm>
            <a:off x="4799096" y="3215474"/>
            <a:ext cx="1037416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257"/>
          </a:bodyPr>
          <a:lstStyle>
            <a:def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τₐ: frozen temperature</a:t>
            </a:r>
          </a:p>
        </p:txBody>
      </p:sp>
      <p:sp>
        <p:nvSpPr>
          <p:cNvPr id="302" name="(teacher and student share τₐ)">
            <a:extLst>
              <a:ext uri="{FF2B5EF4-FFF2-40B4-BE49-F238E27FC236}">
                <ns2:creationId id="{F9389B13-728D-4549-8FF1-439D709D0A89}"/>
              </a:ext>
            </a:extLst>
          </p:cNvPr>
          <p:cNvSpPr>
            <a:spLocks noGrp="1"/>
          </p:cNvSpPr>
          <p:nvPr/>
        </p:nvSpPr>
        <p:spPr>
          <a:xfrm>
            <a:off x="4793935" y="3349667"/>
            <a:ext cx="1047739" cy="129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2505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(teacher and student share τₐ)</a:t>
            </a:r>
          </a:p>
        </p:txBody>
      </p:sp>
      <p:sp>
        <p:nvSpPr>
          <p:cNvPr id="303" name="diagram block">
            <a:extLst>
              <a:ext uri="{FF2B5EF4-FFF2-40B4-BE49-F238E27FC236}">
                <ns2:creationId id="{2FABDAC4-8E71-48BE-947D-0993A5F05484}"/>
              </a:ext>
            </a:extLst>
          </p:cNvPr>
          <p:cNvSpPr>
            <a:spLocks noGrp="1"/>
          </p:cNvSpPr>
          <p:nvPr/>
        </p:nvSpPr>
        <p:spPr>
          <a:xfrm>
            <a:off x="3292004" y="3623214"/>
            <a:ext cx="2611605" cy="304515"/>
          </a:xfrm>
          <a:prstGeom prst="roundRect">
            <a:avLst>
              <a:gd name="adj" fmla="val 10169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9A0"/>
            </a:solidFill>
            <a:prstDash val="solid"/>
          </a:ln>
        </p:spPr>
      </p:sp>
      <p:sp>
        <p:nvSpPr>
          <p:cNvPr id="304" name="L_temp,a = meanᵢ KL(p_teacher(j | i) || p_student(j | i))">
            <a:extLst>
              <a:ext uri="{FF2B5EF4-FFF2-40B4-BE49-F238E27FC236}">
                <ns2:creationId id="{02712155-807A-40F2-A841-430AD6BBC49F}"/>
              </a:ext>
            </a:extLst>
          </p:cNvPr>
          <p:cNvSpPr>
            <a:spLocks noGrp="1"/>
          </p:cNvSpPr>
          <p:nvPr/>
        </p:nvSpPr>
        <p:spPr>
          <a:xfrm>
            <a:off x="3348778" y="3721278"/>
            <a:ext cx="2503218" cy="1651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0588"/>
          </a:bodyPr>
          <a:lstStyle>
            <a:def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meanᵢ KL(p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teacher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(j | i) || p</a:t>
            </a:r>
            <a:r>
              <a:rPr sz="71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student</a:t>
            </a:r>
            <a:r>
              <a:rPr sz="975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(j | i))</a:t>
            </a:r>
          </a:p>
        </p:txBody>
      </p:sp>
      <p:sp>
        <p:nvSpPr>
          <p:cNvPr id="305" name="All other windows are neighbors (diagonal masked).">
            <a:extLst>
              <a:ext uri="{FF2B5EF4-FFF2-40B4-BE49-F238E27FC236}">
                <ns2:creationId id="{573DD2FB-E1F4-4EB0-A8AC-7A3D526EB480}"/>
              </a:ext>
            </a:extLst>
          </p:cNvPr>
          <p:cNvSpPr>
            <a:spLocks noGrp="1"/>
          </p:cNvSpPr>
          <p:nvPr/>
        </p:nvSpPr>
        <p:spPr>
          <a:xfrm>
            <a:off x="3322972" y="3999987"/>
            <a:ext cx="25341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All other windows are neighbors (diagonal masked).</a:t>
            </a:r>
          </a:p>
        </p:txBody>
      </p:sp>
      <p:sp>
        <p:nvSpPr>
          <p:cNvPr id="306" name="diagram block">
            <a:extLst>
              <a:ext uri="{FF2B5EF4-FFF2-40B4-BE49-F238E27FC236}">
                <ns2:creationId id="{B1EDDA76-DBA8-4E75-BA2E-30CECB13F4EA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</p:sp>
      <p:sp>
        <p:nvSpPr>
          <p:cNvPr id="307" name="diagram block">
            <a:extLst>
              <a:ext uri="{FF2B5EF4-FFF2-40B4-BE49-F238E27FC236}">
                <ns2:creationId id="{49FC3B1F-8512-444E-9767-27FC2E35C8DF}"/>
              </a:ext>
            </a:extLst>
          </p:cNvPr>
          <p:cNvSpPr>
            <a:spLocks noGrp="1"/>
          </p:cNvSpPr>
          <p:nvPr/>
        </p:nvSpPr>
        <p:spPr>
          <a:xfrm>
            <a:off x="6073931" y="650321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308" name="Camera 1 (view 1)">
            <a:extLst>
              <a:ext uri="{FF2B5EF4-FFF2-40B4-BE49-F238E27FC236}">
                <ns2:creationId id="{236E29C5-3F94-4DA3-BE7A-8CF490B12445}"/>
              </a:ext>
            </a:extLst>
          </p:cNvPr>
          <p:cNvSpPr>
            <a:spLocks noGrp="1"/>
          </p:cNvSpPr>
          <p:nvPr/>
        </p:nvSpPr>
        <p:spPr>
          <a:xfrm>
            <a:off x="6099737" y="676127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Camera 1 (view 1)</a:t>
            </a:r>
          </a:p>
        </p:txBody>
      </p:sp>
      <p:sp>
        <p:nvSpPr>
          <p:cNvPr id="309" name="Time 1 (future)">
            <a:extLst>
              <a:ext uri="{FF2B5EF4-FFF2-40B4-BE49-F238E27FC236}">
                <ns2:creationId id="{E0F3AEB0-D33E-4EC5-87EC-AEDD24C5506C}"/>
              </a:ext>
            </a:extLst>
          </p:cNvPr>
          <p:cNvSpPr>
            <a:spLocks noGrp="1"/>
          </p:cNvSpPr>
          <p:nvPr/>
        </p:nvSpPr>
        <p:spPr>
          <a:xfrm>
            <a:off x="6182317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1 (future)</a:t>
            </a:r>
          </a:p>
        </p:txBody>
      </p:sp>
      <p:sp>
        <p:nvSpPr>
          <p:cNvPr id="310" name="Time 2 (future)">
            <a:extLst>
              <a:ext uri="{FF2B5EF4-FFF2-40B4-BE49-F238E27FC236}">
                <ns2:creationId id="{3E9EE0E5-A2FA-409E-A1C0-388AAF3F4FD7}"/>
              </a:ext>
            </a:extLst>
          </p:cNvPr>
          <p:cNvSpPr>
            <a:spLocks noGrp="1"/>
          </p:cNvSpPr>
          <p:nvPr/>
        </p:nvSpPr>
        <p:spPr>
          <a:xfrm>
            <a:off x="7064895" y="877417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2 (future)</a:t>
            </a:r>
          </a:p>
        </p:txBody>
      </p:sp>
      <p:sp>
        <p:nvSpPr>
          <p:cNvPr id="311" name="diagram block">
            <a:extLst>
              <a:ext uri="{FF2B5EF4-FFF2-40B4-BE49-F238E27FC236}">
                <ns2:creationId id="{31990D77-6EF6-401E-BCD5-535AF43490D3}"/>
              </a:ext>
            </a:extLst>
          </p:cNvPr>
          <p:cNvSpPr>
            <a:spLocks noGrp="1"/>
          </p:cNvSpPr>
          <p:nvPr/>
        </p:nvSpPr>
        <p:spPr>
          <a:xfrm>
            <a:off x="619780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2" name="diagram block">
            <a:extLst>
              <a:ext uri="{FF2B5EF4-FFF2-40B4-BE49-F238E27FC236}">
                <ns2:creationId id="{5DE88FB6-91F1-4121-A435-11332C241FCD}"/>
              </a:ext>
            </a:extLst>
          </p:cNvPr>
          <p:cNvSpPr>
            <a:spLocks noGrp="1"/>
          </p:cNvSpPr>
          <p:nvPr/>
        </p:nvSpPr>
        <p:spPr>
          <a:xfrm>
            <a:off x="630360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3" name="diagram block">
            <a:extLst>
              <a:ext uri="{FF2B5EF4-FFF2-40B4-BE49-F238E27FC236}">
                <ns2:creationId id="{DAFBAFA3-DE86-4C84-A651-3A6274E5BF17}"/>
              </a:ext>
            </a:extLst>
          </p:cNvPr>
          <p:cNvSpPr>
            <a:spLocks noGrp="1"/>
          </p:cNvSpPr>
          <p:nvPr/>
        </p:nvSpPr>
        <p:spPr>
          <a:xfrm>
            <a:off x="640941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4" name="diagram block">
            <a:extLst>
              <a:ext uri="{FF2B5EF4-FFF2-40B4-BE49-F238E27FC236}">
                <ns2:creationId id="{9CAC1DBC-B922-4EEA-A33F-CAB7DB85E895}"/>
              </a:ext>
            </a:extLst>
          </p:cNvPr>
          <p:cNvSpPr>
            <a:spLocks noGrp="1"/>
          </p:cNvSpPr>
          <p:nvPr/>
        </p:nvSpPr>
        <p:spPr>
          <a:xfrm>
            <a:off x="651522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5" name="diagram block">
            <a:extLst>
              <a:ext uri="{FF2B5EF4-FFF2-40B4-BE49-F238E27FC236}">
                <ns2:creationId id="{4664D71A-9C02-410E-BE0C-77EE2A6AC62F}"/>
              </a:ext>
            </a:extLst>
          </p:cNvPr>
          <p:cNvSpPr>
            <a:spLocks noGrp="1"/>
          </p:cNvSpPr>
          <p:nvPr/>
        </p:nvSpPr>
        <p:spPr>
          <a:xfrm>
            <a:off x="662102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6" name="diagram block">
            <a:extLst>
              <a:ext uri="{FF2B5EF4-FFF2-40B4-BE49-F238E27FC236}">
                <ns2:creationId id="{198EBDB4-DC80-42C1-96CE-DBAA89DE70BA}"/>
              </a:ext>
            </a:extLst>
          </p:cNvPr>
          <p:cNvSpPr>
            <a:spLocks noGrp="1"/>
          </p:cNvSpPr>
          <p:nvPr/>
        </p:nvSpPr>
        <p:spPr>
          <a:xfrm>
            <a:off x="6726832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7" name="diagram block">
            <a:extLst>
              <a:ext uri="{FF2B5EF4-FFF2-40B4-BE49-F238E27FC236}">
                <ns2:creationId id="{CC5EAFCB-B165-4751-BB18-0B82AE447D91}"/>
              </a:ext>
            </a:extLst>
          </p:cNvPr>
          <p:cNvSpPr>
            <a:spLocks noGrp="1"/>
          </p:cNvSpPr>
          <p:nvPr/>
        </p:nvSpPr>
        <p:spPr>
          <a:xfrm>
            <a:off x="6832638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8" name="diagram block">
            <a:extLst>
              <a:ext uri="{FF2B5EF4-FFF2-40B4-BE49-F238E27FC236}">
                <ns2:creationId id="{517033E3-17CB-4C37-B94F-BAE4612491A8}"/>
              </a:ext>
            </a:extLst>
          </p:cNvPr>
          <p:cNvSpPr>
            <a:spLocks noGrp="1"/>
          </p:cNvSpPr>
          <p:nvPr/>
        </p:nvSpPr>
        <p:spPr>
          <a:xfrm>
            <a:off x="619780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19" name="diagram block">
            <a:extLst>
              <a:ext uri="{FF2B5EF4-FFF2-40B4-BE49-F238E27FC236}">
                <ns2:creationId id="{3DFE7C46-9F60-449E-873D-51EE1A4A96F4}"/>
              </a:ext>
            </a:extLst>
          </p:cNvPr>
          <p:cNvSpPr>
            <a:spLocks noGrp="1"/>
          </p:cNvSpPr>
          <p:nvPr/>
        </p:nvSpPr>
        <p:spPr>
          <a:xfrm>
            <a:off x="630360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0" name="diagram block">
            <a:extLst>
              <a:ext uri="{FF2B5EF4-FFF2-40B4-BE49-F238E27FC236}">
                <ns2:creationId id="{85DF9B34-4CFB-4256-BC24-A0B370337E5D}"/>
              </a:ext>
            </a:extLst>
          </p:cNvPr>
          <p:cNvSpPr>
            <a:spLocks noGrp="1"/>
          </p:cNvSpPr>
          <p:nvPr/>
        </p:nvSpPr>
        <p:spPr>
          <a:xfrm>
            <a:off x="640941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1" name="diagram block">
            <a:extLst>
              <a:ext uri="{FF2B5EF4-FFF2-40B4-BE49-F238E27FC236}">
                <ns2:creationId id="{CC88A7EA-0FCF-431F-955F-A359530DF722}"/>
              </a:ext>
            </a:extLst>
          </p:cNvPr>
          <p:cNvSpPr>
            <a:spLocks noGrp="1"/>
          </p:cNvSpPr>
          <p:nvPr/>
        </p:nvSpPr>
        <p:spPr>
          <a:xfrm>
            <a:off x="651522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2" name="diagram block">
            <a:extLst>
              <a:ext uri="{FF2B5EF4-FFF2-40B4-BE49-F238E27FC236}">
                <ns2:creationId id="{3DC7DCA5-CDA2-488A-AD0B-0ABD1676BE9C}"/>
              </a:ext>
            </a:extLst>
          </p:cNvPr>
          <p:cNvSpPr>
            <a:spLocks noGrp="1"/>
          </p:cNvSpPr>
          <p:nvPr/>
        </p:nvSpPr>
        <p:spPr>
          <a:xfrm>
            <a:off x="662102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3" name="diagram block">
            <a:extLst>
              <a:ext uri="{FF2B5EF4-FFF2-40B4-BE49-F238E27FC236}">
                <ns2:creationId id="{D94A8EFE-9889-4E8B-BD73-7451FA09F612}"/>
              </a:ext>
            </a:extLst>
          </p:cNvPr>
          <p:cNvSpPr>
            <a:spLocks noGrp="1"/>
          </p:cNvSpPr>
          <p:nvPr/>
        </p:nvSpPr>
        <p:spPr>
          <a:xfrm>
            <a:off x="6726832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4" name="diagram block">
            <a:extLst>
              <a:ext uri="{FF2B5EF4-FFF2-40B4-BE49-F238E27FC236}">
                <ns2:creationId id="{81294859-5D7B-4C96-9CF8-BF88B2B4D167}"/>
              </a:ext>
            </a:extLst>
          </p:cNvPr>
          <p:cNvSpPr>
            <a:spLocks noGrp="1"/>
          </p:cNvSpPr>
          <p:nvPr/>
        </p:nvSpPr>
        <p:spPr>
          <a:xfrm>
            <a:off x="6832638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5" name="diagram block">
            <a:extLst>
              <a:ext uri="{FF2B5EF4-FFF2-40B4-BE49-F238E27FC236}">
                <ns2:creationId id="{BB211803-A860-478B-AADA-6A7475915E1E}"/>
              </a:ext>
            </a:extLst>
          </p:cNvPr>
          <p:cNvSpPr>
            <a:spLocks noGrp="1"/>
          </p:cNvSpPr>
          <p:nvPr/>
        </p:nvSpPr>
        <p:spPr>
          <a:xfrm>
            <a:off x="619780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6" name="diagram block">
            <a:extLst>
              <a:ext uri="{FF2B5EF4-FFF2-40B4-BE49-F238E27FC236}">
                <ns2:creationId id="{D90A4BD4-541E-4C91-BA8B-EA22E91FE92E}"/>
              </a:ext>
            </a:extLst>
          </p:cNvPr>
          <p:cNvSpPr>
            <a:spLocks noGrp="1"/>
          </p:cNvSpPr>
          <p:nvPr/>
        </p:nvSpPr>
        <p:spPr>
          <a:xfrm>
            <a:off x="630360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7" name="diagram block">
            <a:extLst>
              <a:ext uri="{FF2B5EF4-FFF2-40B4-BE49-F238E27FC236}">
                <ns2:creationId id="{CAFE069F-5392-4A21-A359-16391D3C1D09}"/>
              </a:ext>
            </a:extLst>
          </p:cNvPr>
          <p:cNvSpPr>
            <a:spLocks noGrp="1"/>
          </p:cNvSpPr>
          <p:nvPr/>
        </p:nvSpPr>
        <p:spPr>
          <a:xfrm>
            <a:off x="6409414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8" name="diagram block">
            <a:extLst>
              <a:ext uri="{FF2B5EF4-FFF2-40B4-BE49-F238E27FC236}">
                <ns2:creationId id="{052262A9-D38E-4E2E-B5F2-79122BCE7A42}"/>
              </a:ext>
            </a:extLst>
          </p:cNvPr>
          <p:cNvSpPr>
            <a:spLocks noGrp="1"/>
          </p:cNvSpPr>
          <p:nvPr/>
        </p:nvSpPr>
        <p:spPr>
          <a:xfrm>
            <a:off x="6515220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29" name="diagram block">
            <a:extLst>
              <a:ext uri="{FF2B5EF4-FFF2-40B4-BE49-F238E27FC236}">
                <ns2:creationId id="{58872AAA-2C6A-412B-8DA4-94E9F4A73499}"/>
              </a:ext>
            </a:extLst>
          </p:cNvPr>
          <p:cNvSpPr>
            <a:spLocks noGrp="1"/>
          </p:cNvSpPr>
          <p:nvPr/>
        </p:nvSpPr>
        <p:spPr>
          <a:xfrm>
            <a:off x="6621026" y="1202577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0" name="diagram block">
            <a:extLst>
              <a:ext uri="{FF2B5EF4-FFF2-40B4-BE49-F238E27FC236}">
                <ns2:creationId id="{736567C5-8264-491C-8FCC-7185BD874341}"/>
              </a:ext>
            </a:extLst>
          </p:cNvPr>
          <p:cNvSpPr>
            <a:spLocks noGrp="1"/>
          </p:cNvSpPr>
          <p:nvPr/>
        </p:nvSpPr>
        <p:spPr>
          <a:xfrm>
            <a:off x="6726832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1" name="diagram block">
            <a:extLst>
              <a:ext uri="{FF2B5EF4-FFF2-40B4-BE49-F238E27FC236}">
                <ns2:creationId id="{887327CB-25A6-4C85-9867-FE95E59E8C53}"/>
              </a:ext>
            </a:extLst>
          </p:cNvPr>
          <p:cNvSpPr>
            <a:spLocks noGrp="1"/>
          </p:cNvSpPr>
          <p:nvPr/>
        </p:nvSpPr>
        <p:spPr>
          <a:xfrm>
            <a:off x="6832638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2" name="diagram block">
            <a:extLst>
              <a:ext uri="{FF2B5EF4-FFF2-40B4-BE49-F238E27FC236}">
                <ns2:creationId id="{4E337364-6B89-443C-B9B0-25F63BD34BF9}"/>
              </a:ext>
            </a:extLst>
          </p:cNvPr>
          <p:cNvSpPr>
            <a:spLocks noGrp="1"/>
          </p:cNvSpPr>
          <p:nvPr/>
        </p:nvSpPr>
        <p:spPr>
          <a:xfrm>
            <a:off x="619780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3" name="diagram block">
            <a:extLst>
              <a:ext uri="{FF2B5EF4-FFF2-40B4-BE49-F238E27FC236}">
                <ns2:creationId id="{653AFF49-D604-40A4-98D2-5DBF98CF8F00}"/>
              </a:ext>
            </a:extLst>
          </p:cNvPr>
          <p:cNvSpPr>
            <a:spLocks noGrp="1"/>
          </p:cNvSpPr>
          <p:nvPr/>
        </p:nvSpPr>
        <p:spPr>
          <a:xfrm>
            <a:off x="6303607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4" name="diagram block">
            <a:extLst>
              <a:ext uri="{FF2B5EF4-FFF2-40B4-BE49-F238E27FC236}">
                <ns2:creationId id="{B83C8E61-4C82-40EB-A64C-6983B6ACF806}"/>
              </a:ext>
            </a:extLst>
          </p:cNvPr>
          <p:cNvSpPr>
            <a:spLocks noGrp="1"/>
          </p:cNvSpPr>
          <p:nvPr/>
        </p:nvSpPr>
        <p:spPr>
          <a:xfrm>
            <a:off x="6409414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5" name="diagram block">
            <a:extLst>
              <a:ext uri="{FF2B5EF4-FFF2-40B4-BE49-F238E27FC236}">
                <ns2:creationId id="{AC794DA2-87B5-4416-BE51-5133F9FA90F9}"/>
              </a:ext>
            </a:extLst>
          </p:cNvPr>
          <p:cNvSpPr>
            <a:spLocks noGrp="1"/>
          </p:cNvSpPr>
          <p:nvPr/>
        </p:nvSpPr>
        <p:spPr>
          <a:xfrm>
            <a:off x="6515220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</p:sp>
      <p:sp>
        <p:nvSpPr>
          <p:cNvPr id="336" name="diagram block">
            <a:extLst>
              <a:ext uri="{FF2B5EF4-FFF2-40B4-BE49-F238E27FC236}">
                <ns2:creationId id="{B652DE42-0F16-4372-8B0E-9643AA2316AF}"/>
              </a:ext>
            </a:extLst>
          </p:cNvPr>
          <p:cNvSpPr>
            <a:spLocks noGrp="1"/>
          </p:cNvSpPr>
          <p:nvPr/>
        </p:nvSpPr>
        <p:spPr>
          <a:xfrm>
            <a:off x="6621026" y="1308383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7" name="diagram block">
            <a:extLst>
              <a:ext uri="{FF2B5EF4-FFF2-40B4-BE49-F238E27FC236}">
                <ns2:creationId id="{4AEAFA0E-9ED6-42DA-9A7C-5B33D1B53529}"/>
              </a:ext>
            </a:extLst>
          </p:cNvPr>
          <p:cNvSpPr>
            <a:spLocks noGrp="1"/>
          </p:cNvSpPr>
          <p:nvPr/>
        </p:nvSpPr>
        <p:spPr>
          <a:xfrm>
            <a:off x="6726832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8" name="diagram block">
            <a:extLst>
              <a:ext uri="{FF2B5EF4-FFF2-40B4-BE49-F238E27FC236}">
                <ns2:creationId id="{3701960B-A30C-4A93-AE3B-1496B9E7BFC9}"/>
              </a:ext>
            </a:extLst>
          </p:cNvPr>
          <p:cNvSpPr>
            <a:spLocks noGrp="1"/>
          </p:cNvSpPr>
          <p:nvPr/>
        </p:nvSpPr>
        <p:spPr>
          <a:xfrm>
            <a:off x="6832638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39" name="diagram block">
            <a:extLst>
              <a:ext uri="{FF2B5EF4-FFF2-40B4-BE49-F238E27FC236}">
                <ns2:creationId id="{4FE001E0-A5CF-4CAE-825D-C09273FFE367}"/>
              </a:ext>
            </a:extLst>
          </p:cNvPr>
          <p:cNvSpPr>
            <a:spLocks noGrp="1"/>
          </p:cNvSpPr>
          <p:nvPr/>
        </p:nvSpPr>
        <p:spPr>
          <a:xfrm>
            <a:off x="619780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0" name="diagram block">
            <a:extLst>
              <a:ext uri="{FF2B5EF4-FFF2-40B4-BE49-F238E27FC236}">
                <ns2:creationId id="{280C84B2-7FAB-4657-8B1D-9EFE417A1FA6}"/>
              </a:ext>
            </a:extLst>
          </p:cNvPr>
          <p:cNvSpPr>
            <a:spLocks noGrp="1"/>
          </p:cNvSpPr>
          <p:nvPr/>
        </p:nvSpPr>
        <p:spPr>
          <a:xfrm>
            <a:off x="630360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1" name="diagram block">
            <a:extLst>
              <a:ext uri="{FF2B5EF4-FFF2-40B4-BE49-F238E27FC236}">
                <ns2:creationId id="{5FB1992F-601B-4377-BB5B-7C1CC5368BA3}"/>
              </a:ext>
            </a:extLst>
          </p:cNvPr>
          <p:cNvSpPr>
            <a:spLocks noGrp="1"/>
          </p:cNvSpPr>
          <p:nvPr/>
        </p:nvSpPr>
        <p:spPr>
          <a:xfrm>
            <a:off x="6409414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2" name="diagram block">
            <a:extLst>
              <a:ext uri="{FF2B5EF4-FFF2-40B4-BE49-F238E27FC236}">
                <ns2:creationId id="{964A3024-CCE5-4E75-8AB1-FB0C16A9F25B}"/>
              </a:ext>
            </a:extLst>
          </p:cNvPr>
          <p:cNvSpPr>
            <a:spLocks noGrp="1"/>
          </p:cNvSpPr>
          <p:nvPr/>
        </p:nvSpPr>
        <p:spPr>
          <a:xfrm>
            <a:off x="6515220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3" name="diagram block">
            <a:extLst>
              <a:ext uri="{FF2B5EF4-FFF2-40B4-BE49-F238E27FC236}">
                <ns2:creationId id="{46962080-0B6E-4B5B-B1A3-F3B06F358245}"/>
              </a:ext>
            </a:extLst>
          </p:cNvPr>
          <p:cNvSpPr>
            <a:spLocks noGrp="1"/>
          </p:cNvSpPr>
          <p:nvPr/>
        </p:nvSpPr>
        <p:spPr>
          <a:xfrm>
            <a:off x="6621026" y="1414189"/>
            <a:ext cx="99096" cy="99096"/>
          </a:xfrm>
          <a:prstGeom prst="rect">
            <a:avLst/>
          </a:prstGeom>
          <a:solidFill>
            <a:srgbClr val="FFD251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4" name="diagram block">
            <a:extLst>
              <a:ext uri="{FF2B5EF4-FFF2-40B4-BE49-F238E27FC236}">
                <ns2:creationId id="{ED6E2628-6D64-43D0-9F8D-583717AC1BA7}"/>
              </a:ext>
            </a:extLst>
          </p:cNvPr>
          <p:cNvSpPr>
            <a:spLocks noGrp="1"/>
          </p:cNvSpPr>
          <p:nvPr/>
        </p:nvSpPr>
        <p:spPr>
          <a:xfrm>
            <a:off x="6726832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5" name="diagram block">
            <a:extLst>
              <a:ext uri="{FF2B5EF4-FFF2-40B4-BE49-F238E27FC236}">
                <ns2:creationId id="{580713BC-1FE2-40E7-A8B4-DBF80ED3E4A0}"/>
              </a:ext>
            </a:extLst>
          </p:cNvPr>
          <p:cNvSpPr>
            <a:spLocks noGrp="1"/>
          </p:cNvSpPr>
          <p:nvPr/>
        </p:nvSpPr>
        <p:spPr>
          <a:xfrm>
            <a:off x="6832638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6" name="diagram block">
            <a:extLst>
              <a:ext uri="{FF2B5EF4-FFF2-40B4-BE49-F238E27FC236}">
                <ns2:creationId id="{F1922D6B-0C08-4057-9E5C-D672F9D82680}"/>
              </a:ext>
            </a:extLst>
          </p:cNvPr>
          <p:cNvSpPr>
            <a:spLocks noGrp="1"/>
          </p:cNvSpPr>
          <p:nvPr/>
        </p:nvSpPr>
        <p:spPr>
          <a:xfrm>
            <a:off x="619780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7" name="diagram block">
            <a:extLst>
              <a:ext uri="{FF2B5EF4-FFF2-40B4-BE49-F238E27FC236}">
                <ns2:creationId id="{DD230590-8C77-4696-AA88-800D99431645}"/>
              </a:ext>
            </a:extLst>
          </p:cNvPr>
          <p:cNvSpPr>
            <a:spLocks noGrp="1"/>
          </p:cNvSpPr>
          <p:nvPr/>
        </p:nvSpPr>
        <p:spPr>
          <a:xfrm>
            <a:off x="630360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8" name="diagram block">
            <a:extLst>
              <a:ext uri="{FF2B5EF4-FFF2-40B4-BE49-F238E27FC236}">
                <ns2:creationId id="{AEA981FD-63CA-49EA-BA12-35A37E02E2E0}"/>
              </a:ext>
            </a:extLst>
          </p:cNvPr>
          <p:cNvSpPr>
            <a:spLocks noGrp="1"/>
          </p:cNvSpPr>
          <p:nvPr/>
        </p:nvSpPr>
        <p:spPr>
          <a:xfrm>
            <a:off x="640941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49" name="diagram block">
            <a:extLst>
              <a:ext uri="{FF2B5EF4-FFF2-40B4-BE49-F238E27FC236}">
                <ns2:creationId id="{3F8A25A3-C3C4-4C3C-9566-0D5FCA34173B}"/>
              </a:ext>
            </a:extLst>
          </p:cNvPr>
          <p:cNvSpPr>
            <a:spLocks noGrp="1"/>
          </p:cNvSpPr>
          <p:nvPr/>
        </p:nvSpPr>
        <p:spPr>
          <a:xfrm>
            <a:off x="651522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0" name="diagram block">
            <a:extLst>
              <a:ext uri="{FF2B5EF4-FFF2-40B4-BE49-F238E27FC236}">
                <ns2:creationId id="{21568134-1F62-45CB-9CAF-488EF4B341AF}"/>
              </a:ext>
            </a:extLst>
          </p:cNvPr>
          <p:cNvSpPr>
            <a:spLocks noGrp="1"/>
          </p:cNvSpPr>
          <p:nvPr/>
        </p:nvSpPr>
        <p:spPr>
          <a:xfrm>
            <a:off x="662102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1" name="diagram block">
            <a:extLst>
              <a:ext uri="{FF2B5EF4-FFF2-40B4-BE49-F238E27FC236}">
                <ns2:creationId id="{899F9BB3-C257-48A3-A553-8BF9A17D0A64}"/>
              </a:ext>
            </a:extLst>
          </p:cNvPr>
          <p:cNvSpPr>
            <a:spLocks noGrp="1"/>
          </p:cNvSpPr>
          <p:nvPr/>
        </p:nvSpPr>
        <p:spPr>
          <a:xfrm>
            <a:off x="6726832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2" name="diagram block">
            <a:extLst>
              <a:ext uri="{FF2B5EF4-FFF2-40B4-BE49-F238E27FC236}">
                <ns2:creationId id="{821CD719-F769-49E3-B720-C5E1AFFA6CFF}"/>
              </a:ext>
            </a:extLst>
          </p:cNvPr>
          <p:cNvSpPr>
            <a:spLocks noGrp="1"/>
          </p:cNvSpPr>
          <p:nvPr/>
        </p:nvSpPr>
        <p:spPr>
          <a:xfrm>
            <a:off x="6832638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3" name="diagram block">
            <a:extLst>
              <a:ext uri="{FF2B5EF4-FFF2-40B4-BE49-F238E27FC236}">
                <ns2:creationId id="{E4AFD7E8-47A0-4410-81E8-D12D1699145E}"/>
              </a:ext>
            </a:extLst>
          </p:cNvPr>
          <p:cNvSpPr>
            <a:spLocks noGrp="1"/>
          </p:cNvSpPr>
          <p:nvPr/>
        </p:nvSpPr>
        <p:spPr>
          <a:xfrm>
            <a:off x="619780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4" name="diagram block">
            <a:extLst>
              <a:ext uri="{FF2B5EF4-FFF2-40B4-BE49-F238E27FC236}">
                <ns2:creationId id="{C6E5CAF2-CB64-4C3D-B4AC-E737AC3706BE}"/>
              </a:ext>
            </a:extLst>
          </p:cNvPr>
          <p:cNvSpPr>
            <a:spLocks noGrp="1"/>
          </p:cNvSpPr>
          <p:nvPr/>
        </p:nvSpPr>
        <p:spPr>
          <a:xfrm>
            <a:off x="630360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5" name="diagram block">
            <a:extLst>
              <a:ext uri="{FF2B5EF4-FFF2-40B4-BE49-F238E27FC236}">
                <ns2:creationId id="{3E1E0D31-7AD9-48C1-A404-E319C520E8EC}"/>
              </a:ext>
            </a:extLst>
          </p:cNvPr>
          <p:cNvSpPr>
            <a:spLocks noGrp="1"/>
          </p:cNvSpPr>
          <p:nvPr/>
        </p:nvSpPr>
        <p:spPr>
          <a:xfrm>
            <a:off x="640941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6" name="diagram block">
            <a:extLst>
              <a:ext uri="{FF2B5EF4-FFF2-40B4-BE49-F238E27FC236}">
                <ns2:creationId id="{A10DC944-9678-4EAB-9496-6601FD192791}"/>
              </a:ext>
            </a:extLst>
          </p:cNvPr>
          <p:cNvSpPr>
            <a:spLocks noGrp="1"/>
          </p:cNvSpPr>
          <p:nvPr/>
        </p:nvSpPr>
        <p:spPr>
          <a:xfrm>
            <a:off x="651522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7" name="diagram block">
            <a:extLst>
              <a:ext uri="{FF2B5EF4-FFF2-40B4-BE49-F238E27FC236}">
                <ns2:creationId id="{63DA277E-2CF0-49AC-A171-BA402DEDE2CE}"/>
              </a:ext>
            </a:extLst>
          </p:cNvPr>
          <p:cNvSpPr>
            <a:spLocks noGrp="1"/>
          </p:cNvSpPr>
          <p:nvPr/>
        </p:nvSpPr>
        <p:spPr>
          <a:xfrm>
            <a:off x="662102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8" name="diagram block">
            <a:extLst>
              <a:ext uri="{FF2B5EF4-FFF2-40B4-BE49-F238E27FC236}">
                <ns2:creationId id="{E5519679-6162-49C3-A44C-B15A84A2AC9F}"/>
              </a:ext>
            </a:extLst>
          </p:cNvPr>
          <p:cNvSpPr>
            <a:spLocks noGrp="1"/>
          </p:cNvSpPr>
          <p:nvPr/>
        </p:nvSpPr>
        <p:spPr>
          <a:xfrm>
            <a:off x="6726832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59" name="diagram block">
            <a:extLst>
              <a:ext uri="{FF2B5EF4-FFF2-40B4-BE49-F238E27FC236}">
                <ns2:creationId id="{C09DE228-DA02-40B1-B6DD-704382986B82}"/>
              </a:ext>
            </a:extLst>
          </p:cNvPr>
          <p:cNvSpPr>
            <a:spLocks noGrp="1"/>
          </p:cNvSpPr>
          <p:nvPr/>
        </p:nvSpPr>
        <p:spPr>
          <a:xfrm>
            <a:off x="6832638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0" name="diagram block">
            <a:extLst>
              <a:ext uri="{FF2B5EF4-FFF2-40B4-BE49-F238E27FC236}">
                <ns2:creationId id="{2090A06A-063F-41C7-A7C4-909FA2309386}"/>
              </a:ext>
            </a:extLst>
          </p:cNvPr>
          <p:cNvSpPr>
            <a:spLocks noGrp="1"/>
          </p:cNvSpPr>
          <p:nvPr/>
        </p:nvSpPr>
        <p:spPr>
          <a:xfrm>
            <a:off x="7080379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1" name="diagram block">
            <a:extLst>
              <a:ext uri="{FF2B5EF4-FFF2-40B4-BE49-F238E27FC236}">
                <ns2:creationId id="{B16D1E79-7358-4E0D-9CE4-B3B0958FB0C0}"/>
              </a:ext>
            </a:extLst>
          </p:cNvPr>
          <p:cNvSpPr>
            <a:spLocks noGrp="1"/>
          </p:cNvSpPr>
          <p:nvPr/>
        </p:nvSpPr>
        <p:spPr>
          <a:xfrm>
            <a:off x="7186185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2" name="diagram block">
            <a:extLst>
              <a:ext uri="{FF2B5EF4-FFF2-40B4-BE49-F238E27FC236}">
                <ns2:creationId id="{9D739FF9-10D3-44B2-ADB1-AAD8728332C6}"/>
              </a:ext>
            </a:extLst>
          </p:cNvPr>
          <p:cNvSpPr>
            <a:spLocks noGrp="1"/>
          </p:cNvSpPr>
          <p:nvPr/>
        </p:nvSpPr>
        <p:spPr>
          <a:xfrm>
            <a:off x="7291991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3" name="diagram block">
            <a:extLst>
              <a:ext uri="{FF2B5EF4-FFF2-40B4-BE49-F238E27FC236}">
                <ns2:creationId id="{0CE3DB8A-0EDB-42D4-8CC0-9654C360B8EC}"/>
              </a:ext>
            </a:extLst>
          </p:cNvPr>
          <p:cNvSpPr>
            <a:spLocks noGrp="1"/>
          </p:cNvSpPr>
          <p:nvPr/>
        </p:nvSpPr>
        <p:spPr>
          <a:xfrm>
            <a:off x="7397797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4" name="diagram block">
            <a:extLst>
              <a:ext uri="{FF2B5EF4-FFF2-40B4-BE49-F238E27FC236}">
                <ns2:creationId id="{9193203F-5F5F-4233-A01F-32113D30A073}"/>
              </a:ext>
            </a:extLst>
          </p:cNvPr>
          <p:cNvSpPr>
            <a:spLocks noGrp="1"/>
          </p:cNvSpPr>
          <p:nvPr/>
        </p:nvSpPr>
        <p:spPr>
          <a:xfrm>
            <a:off x="7503604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5" name="diagram block">
            <a:extLst>
              <a:ext uri="{FF2B5EF4-FFF2-40B4-BE49-F238E27FC236}">
                <ns2:creationId id="{5C7A61C7-4E5C-478D-AF0F-5BD986C6886B}"/>
              </a:ext>
            </a:extLst>
          </p:cNvPr>
          <p:cNvSpPr>
            <a:spLocks noGrp="1"/>
          </p:cNvSpPr>
          <p:nvPr/>
        </p:nvSpPr>
        <p:spPr>
          <a:xfrm>
            <a:off x="7609410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6" name="diagram block">
            <a:extLst>
              <a:ext uri="{FF2B5EF4-FFF2-40B4-BE49-F238E27FC236}">
                <ns2:creationId id="{A8351CB0-B63F-406F-B1D6-53778C83425C}"/>
              </a:ext>
            </a:extLst>
          </p:cNvPr>
          <p:cNvSpPr>
            <a:spLocks noGrp="1"/>
          </p:cNvSpPr>
          <p:nvPr/>
        </p:nvSpPr>
        <p:spPr>
          <a:xfrm>
            <a:off x="7715216" y="9909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7" name="diagram block">
            <a:extLst>
              <a:ext uri="{FF2B5EF4-FFF2-40B4-BE49-F238E27FC236}">
                <ns2:creationId id="{E07C060E-4F00-4476-9163-A1C2000BA7B5}"/>
              </a:ext>
            </a:extLst>
          </p:cNvPr>
          <p:cNvSpPr>
            <a:spLocks noGrp="1"/>
          </p:cNvSpPr>
          <p:nvPr/>
        </p:nvSpPr>
        <p:spPr>
          <a:xfrm>
            <a:off x="7080379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8" name="diagram block">
            <a:extLst>
              <a:ext uri="{FF2B5EF4-FFF2-40B4-BE49-F238E27FC236}">
                <ns2:creationId id="{3943DA91-CE95-4C48-9FDA-DE64767A0AAE}"/>
              </a:ext>
            </a:extLst>
          </p:cNvPr>
          <p:cNvSpPr>
            <a:spLocks noGrp="1"/>
          </p:cNvSpPr>
          <p:nvPr/>
        </p:nvSpPr>
        <p:spPr>
          <a:xfrm>
            <a:off x="7186185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69" name="diagram block">
            <a:extLst>
              <a:ext uri="{FF2B5EF4-FFF2-40B4-BE49-F238E27FC236}">
                <ns2:creationId id="{76D816DB-4297-4388-9EE7-9302956D6164}"/>
              </a:ext>
            </a:extLst>
          </p:cNvPr>
          <p:cNvSpPr>
            <a:spLocks noGrp="1"/>
          </p:cNvSpPr>
          <p:nvPr/>
        </p:nvSpPr>
        <p:spPr>
          <a:xfrm>
            <a:off x="7291991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0" name="diagram block">
            <a:extLst>
              <a:ext uri="{FF2B5EF4-FFF2-40B4-BE49-F238E27FC236}">
                <ns2:creationId id="{DB59CBD6-883B-49CD-9DAC-BECD39E4B184}"/>
              </a:ext>
            </a:extLst>
          </p:cNvPr>
          <p:cNvSpPr>
            <a:spLocks noGrp="1"/>
          </p:cNvSpPr>
          <p:nvPr/>
        </p:nvSpPr>
        <p:spPr>
          <a:xfrm>
            <a:off x="7397797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1" name="diagram block">
            <a:extLst>
              <a:ext uri="{FF2B5EF4-FFF2-40B4-BE49-F238E27FC236}">
                <ns2:creationId id="{8E134559-A125-41A4-9D53-CEDAD90584C0}"/>
              </a:ext>
            </a:extLst>
          </p:cNvPr>
          <p:cNvSpPr>
            <a:spLocks noGrp="1"/>
          </p:cNvSpPr>
          <p:nvPr/>
        </p:nvSpPr>
        <p:spPr>
          <a:xfrm>
            <a:off x="7503604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2" name="diagram block">
            <a:extLst>
              <a:ext uri="{FF2B5EF4-FFF2-40B4-BE49-F238E27FC236}">
                <ns2:creationId id="{811FC1BB-9B5A-4E8B-85C5-0E0E9BDD40B8}"/>
              </a:ext>
            </a:extLst>
          </p:cNvPr>
          <p:cNvSpPr>
            <a:spLocks noGrp="1"/>
          </p:cNvSpPr>
          <p:nvPr/>
        </p:nvSpPr>
        <p:spPr>
          <a:xfrm>
            <a:off x="7609410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3" name="diagram block">
            <a:extLst>
              <a:ext uri="{FF2B5EF4-FFF2-40B4-BE49-F238E27FC236}">
                <ns2:creationId id="{17B32FEF-8A22-43FC-A3F2-4AFE4993EE27}"/>
              </a:ext>
            </a:extLst>
          </p:cNvPr>
          <p:cNvSpPr>
            <a:spLocks noGrp="1"/>
          </p:cNvSpPr>
          <p:nvPr/>
        </p:nvSpPr>
        <p:spPr>
          <a:xfrm>
            <a:off x="7715216" y="10967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4" name="diagram block">
            <a:extLst>
              <a:ext uri="{FF2B5EF4-FFF2-40B4-BE49-F238E27FC236}">
                <ns2:creationId id="{6992DF9C-C3A5-4CD7-97D8-58103B1542C4}"/>
              </a:ext>
            </a:extLst>
          </p:cNvPr>
          <p:cNvSpPr>
            <a:spLocks noGrp="1"/>
          </p:cNvSpPr>
          <p:nvPr/>
        </p:nvSpPr>
        <p:spPr>
          <a:xfrm>
            <a:off x="7080379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5" name="diagram block">
            <a:extLst>
              <a:ext uri="{FF2B5EF4-FFF2-40B4-BE49-F238E27FC236}">
                <ns2:creationId id="{A364B57D-7C55-4643-B841-41F1D2683192}"/>
              </a:ext>
            </a:extLst>
          </p:cNvPr>
          <p:cNvSpPr>
            <a:spLocks noGrp="1"/>
          </p:cNvSpPr>
          <p:nvPr/>
        </p:nvSpPr>
        <p:spPr>
          <a:xfrm>
            <a:off x="7186185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6" name="diagram block">
            <a:extLst>
              <a:ext uri="{FF2B5EF4-FFF2-40B4-BE49-F238E27FC236}">
                <ns2:creationId id="{69095E89-8D62-445A-8E3B-602AFE7480D4}"/>
              </a:ext>
            </a:extLst>
          </p:cNvPr>
          <p:cNvSpPr>
            <a:spLocks noGrp="1"/>
          </p:cNvSpPr>
          <p:nvPr/>
        </p:nvSpPr>
        <p:spPr>
          <a:xfrm>
            <a:off x="7291991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7" name="diagram block">
            <a:extLst>
              <a:ext uri="{FF2B5EF4-FFF2-40B4-BE49-F238E27FC236}">
                <ns2:creationId id="{0A9F96A7-85B1-4238-99CC-FB193688C1BD}"/>
              </a:ext>
            </a:extLst>
          </p:cNvPr>
          <p:cNvSpPr>
            <a:spLocks noGrp="1"/>
          </p:cNvSpPr>
          <p:nvPr/>
        </p:nvSpPr>
        <p:spPr>
          <a:xfrm>
            <a:off x="7397797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8" name="diagram block">
            <a:extLst>
              <a:ext uri="{FF2B5EF4-FFF2-40B4-BE49-F238E27FC236}">
                <ns2:creationId id="{91942F66-3B36-45A4-90DC-2F950BEAA3FA}"/>
              </a:ext>
            </a:extLst>
          </p:cNvPr>
          <p:cNvSpPr>
            <a:spLocks noGrp="1"/>
          </p:cNvSpPr>
          <p:nvPr/>
        </p:nvSpPr>
        <p:spPr>
          <a:xfrm>
            <a:off x="7503604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79" name="diagram block">
            <a:extLst>
              <a:ext uri="{FF2B5EF4-FFF2-40B4-BE49-F238E27FC236}">
                <ns2:creationId id="{CB69BC82-DC98-4145-AD42-DB90032D531D}"/>
              </a:ext>
            </a:extLst>
          </p:cNvPr>
          <p:cNvSpPr>
            <a:spLocks noGrp="1"/>
          </p:cNvSpPr>
          <p:nvPr/>
        </p:nvSpPr>
        <p:spPr>
          <a:xfrm>
            <a:off x="7609410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0" name="diagram block">
            <a:extLst>
              <a:ext uri="{FF2B5EF4-FFF2-40B4-BE49-F238E27FC236}">
                <ns2:creationId id="{C36F34E0-4279-4907-95C8-266860243DBF}"/>
              </a:ext>
            </a:extLst>
          </p:cNvPr>
          <p:cNvSpPr>
            <a:spLocks noGrp="1"/>
          </p:cNvSpPr>
          <p:nvPr/>
        </p:nvSpPr>
        <p:spPr>
          <a:xfrm>
            <a:off x="7715216" y="120257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1" name="diagram block">
            <a:extLst>
              <a:ext uri="{FF2B5EF4-FFF2-40B4-BE49-F238E27FC236}">
                <ns2:creationId id="{70FA8853-76ED-4D79-AECC-319167E65C43}"/>
              </a:ext>
            </a:extLst>
          </p:cNvPr>
          <p:cNvSpPr>
            <a:spLocks noGrp="1"/>
          </p:cNvSpPr>
          <p:nvPr/>
        </p:nvSpPr>
        <p:spPr>
          <a:xfrm>
            <a:off x="7080379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2" name="diagram block">
            <a:extLst>
              <a:ext uri="{FF2B5EF4-FFF2-40B4-BE49-F238E27FC236}">
                <ns2:creationId id="{F50AF424-0EE9-4DDF-A26D-204B2779FC1D}"/>
              </a:ext>
            </a:extLst>
          </p:cNvPr>
          <p:cNvSpPr>
            <a:spLocks noGrp="1"/>
          </p:cNvSpPr>
          <p:nvPr/>
        </p:nvSpPr>
        <p:spPr>
          <a:xfrm>
            <a:off x="7186185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3" name="diagram block">
            <a:extLst>
              <a:ext uri="{FF2B5EF4-FFF2-40B4-BE49-F238E27FC236}">
                <ns2:creationId id="{2C140A1D-A1EB-4910-BA3C-3E7B8FD8A53F}"/>
              </a:ext>
            </a:extLst>
          </p:cNvPr>
          <p:cNvSpPr>
            <a:spLocks noGrp="1"/>
          </p:cNvSpPr>
          <p:nvPr/>
        </p:nvSpPr>
        <p:spPr>
          <a:xfrm>
            <a:off x="7291991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4" name="diagram block">
            <a:extLst>
              <a:ext uri="{FF2B5EF4-FFF2-40B4-BE49-F238E27FC236}">
                <ns2:creationId id="{0F7750DD-E7F8-43DF-8745-6326F2AA586F}"/>
              </a:ext>
            </a:extLst>
          </p:cNvPr>
          <p:cNvSpPr>
            <a:spLocks noGrp="1"/>
          </p:cNvSpPr>
          <p:nvPr/>
        </p:nvSpPr>
        <p:spPr>
          <a:xfrm>
            <a:off x="7397797" y="1308383"/>
            <a:ext cx="99096" cy="99096"/>
          </a:xfrm>
          <a:prstGeom prst="rect">
            <a:avLst/>
          </a:prstGeom>
          <a:solidFill>
            <a:srgbClr val="FF8156"/>
          </a:solidFill>
          <a:ln w="7226">
            <a:solidFill>
              <a:srgbClr val="D74425"/>
            </a:solidFill>
            <a:prstDash val="solid"/>
          </a:ln>
        </p:spPr>
      </p:sp>
      <p:sp>
        <p:nvSpPr>
          <p:cNvPr id="385" name="diagram block">
            <a:extLst>
              <a:ext uri="{FF2B5EF4-FFF2-40B4-BE49-F238E27FC236}">
                <ns2:creationId id="{BA91F3E7-C7F8-4DAD-8B0E-A14382C5709A}"/>
              </a:ext>
            </a:extLst>
          </p:cNvPr>
          <p:cNvSpPr>
            <a:spLocks noGrp="1"/>
          </p:cNvSpPr>
          <p:nvPr/>
        </p:nvSpPr>
        <p:spPr>
          <a:xfrm>
            <a:off x="7503604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6" name="diagram block">
            <a:extLst>
              <a:ext uri="{FF2B5EF4-FFF2-40B4-BE49-F238E27FC236}">
                <ns2:creationId id="{0781F15B-9E19-478C-B088-F5300A4F0886}"/>
              </a:ext>
            </a:extLst>
          </p:cNvPr>
          <p:cNvSpPr>
            <a:spLocks noGrp="1"/>
          </p:cNvSpPr>
          <p:nvPr/>
        </p:nvSpPr>
        <p:spPr>
          <a:xfrm>
            <a:off x="7609410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7" name="diagram block">
            <a:extLst>
              <a:ext uri="{FF2B5EF4-FFF2-40B4-BE49-F238E27FC236}">
                <ns2:creationId id="{7BBDF78B-AD27-45A5-931E-D94185D023FD}"/>
              </a:ext>
            </a:extLst>
          </p:cNvPr>
          <p:cNvSpPr>
            <a:spLocks noGrp="1"/>
          </p:cNvSpPr>
          <p:nvPr/>
        </p:nvSpPr>
        <p:spPr>
          <a:xfrm>
            <a:off x="7715216" y="130838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8" name="diagram block">
            <a:extLst>
              <a:ext uri="{FF2B5EF4-FFF2-40B4-BE49-F238E27FC236}">
                <ns2:creationId id="{654E286A-ED8F-46E6-986F-41A0C05EA5EA}"/>
              </a:ext>
            </a:extLst>
          </p:cNvPr>
          <p:cNvSpPr>
            <a:spLocks noGrp="1"/>
          </p:cNvSpPr>
          <p:nvPr/>
        </p:nvSpPr>
        <p:spPr>
          <a:xfrm>
            <a:off x="7080379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89" name="diagram block">
            <a:extLst>
              <a:ext uri="{FF2B5EF4-FFF2-40B4-BE49-F238E27FC236}">
                <ns2:creationId id="{CDB3ABBC-B7D3-4C34-A837-CAD1BD31BD0E}"/>
              </a:ext>
            </a:extLst>
          </p:cNvPr>
          <p:cNvSpPr>
            <a:spLocks noGrp="1"/>
          </p:cNvSpPr>
          <p:nvPr/>
        </p:nvSpPr>
        <p:spPr>
          <a:xfrm>
            <a:off x="7186185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0" name="diagram block">
            <a:extLst>
              <a:ext uri="{FF2B5EF4-FFF2-40B4-BE49-F238E27FC236}">
                <ns2:creationId id="{197506C9-9D23-4844-B32D-1E664768EBCE}"/>
              </a:ext>
            </a:extLst>
          </p:cNvPr>
          <p:cNvSpPr>
            <a:spLocks noGrp="1"/>
          </p:cNvSpPr>
          <p:nvPr/>
        </p:nvSpPr>
        <p:spPr>
          <a:xfrm>
            <a:off x="7291991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1" name="diagram block">
            <a:extLst>
              <a:ext uri="{FF2B5EF4-FFF2-40B4-BE49-F238E27FC236}">
                <ns2:creationId id="{17C28136-8247-475C-91E0-9742665D4559}"/>
              </a:ext>
            </a:extLst>
          </p:cNvPr>
          <p:cNvSpPr>
            <a:spLocks noGrp="1"/>
          </p:cNvSpPr>
          <p:nvPr/>
        </p:nvSpPr>
        <p:spPr>
          <a:xfrm>
            <a:off x="7397797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2" name="diagram block">
            <a:extLst>
              <a:ext uri="{FF2B5EF4-FFF2-40B4-BE49-F238E27FC236}">
                <ns2:creationId id="{72C6075F-D7C1-4C55-8D03-C3B3E7D4A065}"/>
              </a:ext>
            </a:extLst>
          </p:cNvPr>
          <p:cNvSpPr>
            <a:spLocks noGrp="1"/>
          </p:cNvSpPr>
          <p:nvPr/>
        </p:nvSpPr>
        <p:spPr>
          <a:xfrm>
            <a:off x="7503604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3" name="diagram block">
            <a:extLst>
              <a:ext uri="{FF2B5EF4-FFF2-40B4-BE49-F238E27FC236}">
                <ns2:creationId id="{FDE38760-FEF2-4AA4-87A1-348EC18BD1DA}"/>
              </a:ext>
            </a:extLst>
          </p:cNvPr>
          <p:cNvSpPr>
            <a:spLocks noGrp="1"/>
          </p:cNvSpPr>
          <p:nvPr/>
        </p:nvSpPr>
        <p:spPr>
          <a:xfrm>
            <a:off x="7609410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4" name="diagram block">
            <a:extLst>
              <a:ext uri="{FF2B5EF4-FFF2-40B4-BE49-F238E27FC236}">
                <ns2:creationId id="{AEE5CA75-0EF4-4A30-840A-EBBDF85A5027}"/>
              </a:ext>
            </a:extLst>
          </p:cNvPr>
          <p:cNvSpPr>
            <a:spLocks noGrp="1"/>
          </p:cNvSpPr>
          <p:nvPr/>
        </p:nvSpPr>
        <p:spPr>
          <a:xfrm>
            <a:off x="7715216" y="141418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5" name="diagram block">
            <a:extLst>
              <a:ext uri="{FF2B5EF4-FFF2-40B4-BE49-F238E27FC236}">
                <ns2:creationId id="{64090FC4-2DA1-4821-A1BF-7D5FB9F38D6A}"/>
              </a:ext>
            </a:extLst>
          </p:cNvPr>
          <p:cNvSpPr>
            <a:spLocks noGrp="1"/>
          </p:cNvSpPr>
          <p:nvPr/>
        </p:nvSpPr>
        <p:spPr>
          <a:xfrm>
            <a:off x="7080379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6" name="diagram block">
            <a:extLst>
              <a:ext uri="{FF2B5EF4-FFF2-40B4-BE49-F238E27FC236}">
                <ns2:creationId id="{233048F5-0760-448C-9BE4-8EC6400DF7A3}"/>
              </a:ext>
            </a:extLst>
          </p:cNvPr>
          <p:cNvSpPr>
            <a:spLocks noGrp="1"/>
          </p:cNvSpPr>
          <p:nvPr/>
        </p:nvSpPr>
        <p:spPr>
          <a:xfrm>
            <a:off x="7186185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7" name="diagram block">
            <a:extLst>
              <a:ext uri="{FF2B5EF4-FFF2-40B4-BE49-F238E27FC236}">
                <ns2:creationId id="{2B88621B-AAA1-442F-AE6A-9A09CEFAB87D}"/>
              </a:ext>
            </a:extLst>
          </p:cNvPr>
          <p:cNvSpPr>
            <a:spLocks noGrp="1"/>
          </p:cNvSpPr>
          <p:nvPr/>
        </p:nvSpPr>
        <p:spPr>
          <a:xfrm>
            <a:off x="7291991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8" name="diagram block">
            <a:extLst>
              <a:ext uri="{FF2B5EF4-FFF2-40B4-BE49-F238E27FC236}">
                <ns2:creationId id="{00D6016D-088D-4970-AAAA-5A0A1CEBEFFB}"/>
              </a:ext>
            </a:extLst>
          </p:cNvPr>
          <p:cNvSpPr>
            <a:spLocks noGrp="1"/>
          </p:cNvSpPr>
          <p:nvPr/>
        </p:nvSpPr>
        <p:spPr>
          <a:xfrm>
            <a:off x="7397797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399" name="diagram block">
            <a:extLst>
              <a:ext uri="{FF2B5EF4-FFF2-40B4-BE49-F238E27FC236}">
                <ns2:creationId id="{6754A663-18F0-4B2E-A2A9-357D8D84AF84}"/>
              </a:ext>
            </a:extLst>
          </p:cNvPr>
          <p:cNvSpPr>
            <a:spLocks noGrp="1"/>
          </p:cNvSpPr>
          <p:nvPr/>
        </p:nvSpPr>
        <p:spPr>
          <a:xfrm>
            <a:off x="7503604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0" name="diagram block">
            <a:extLst>
              <a:ext uri="{FF2B5EF4-FFF2-40B4-BE49-F238E27FC236}">
                <ns2:creationId id="{98239C17-5E10-409D-8D3F-F38D35BE998A}"/>
              </a:ext>
            </a:extLst>
          </p:cNvPr>
          <p:cNvSpPr>
            <a:spLocks noGrp="1"/>
          </p:cNvSpPr>
          <p:nvPr/>
        </p:nvSpPr>
        <p:spPr>
          <a:xfrm>
            <a:off x="7609410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1" name="diagram block">
            <a:extLst>
              <a:ext uri="{FF2B5EF4-FFF2-40B4-BE49-F238E27FC236}">
                <ns2:creationId id="{F1E25B45-7FE8-42D9-8254-E1473B998C3A}"/>
              </a:ext>
            </a:extLst>
          </p:cNvPr>
          <p:cNvSpPr>
            <a:spLocks noGrp="1"/>
          </p:cNvSpPr>
          <p:nvPr/>
        </p:nvSpPr>
        <p:spPr>
          <a:xfrm>
            <a:off x="7715216" y="151999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2" name="diagram block">
            <a:extLst>
              <a:ext uri="{FF2B5EF4-FFF2-40B4-BE49-F238E27FC236}">
                <ns2:creationId id="{0E7D829A-0B33-41AA-B15D-EF020E395E53}"/>
              </a:ext>
            </a:extLst>
          </p:cNvPr>
          <p:cNvSpPr>
            <a:spLocks noGrp="1"/>
          </p:cNvSpPr>
          <p:nvPr/>
        </p:nvSpPr>
        <p:spPr>
          <a:xfrm>
            <a:off x="7080379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3" name="diagram block">
            <a:extLst>
              <a:ext uri="{FF2B5EF4-FFF2-40B4-BE49-F238E27FC236}">
                <ns2:creationId id="{3C11674A-ADC9-45EB-8C44-E52BCDA8CC47}"/>
              </a:ext>
            </a:extLst>
          </p:cNvPr>
          <p:cNvSpPr>
            <a:spLocks noGrp="1"/>
          </p:cNvSpPr>
          <p:nvPr/>
        </p:nvSpPr>
        <p:spPr>
          <a:xfrm>
            <a:off x="7186185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4" name="diagram block">
            <a:extLst>
              <a:ext uri="{FF2B5EF4-FFF2-40B4-BE49-F238E27FC236}">
                <ns2:creationId id="{0390ADBB-3100-4550-8293-0DF582A02057}"/>
              </a:ext>
            </a:extLst>
          </p:cNvPr>
          <p:cNvSpPr>
            <a:spLocks noGrp="1"/>
          </p:cNvSpPr>
          <p:nvPr/>
        </p:nvSpPr>
        <p:spPr>
          <a:xfrm>
            <a:off x="7291991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5" name="diagram block">
            <a:extLst>
              <a:ext uri="{FF2B5EF4-FFF2-40B4-BE49-F238E27FC236}">
                <ns2:creationId id="{80134FF8-77B9-47E6-B2DD-6BE2931D3503}"/>
              </a:ext>
            </a:extLst>
          </p:cNvPr>
          <p:cNvSpPr>
            <a:spLocks noGrp="1"/>
          </p:cNvSpPr>
          <p:nvPr/>
        </p:nvSpPr>
        <p:spPr>
          <a:xfrm>
            <a:off x="7397797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6" name="diagram block">
            <a:extLst>
              <a:ext uri="{FF2B5EF4-FFF2-40B4-BE49-F238E27FC236}">
                <ns2:creationId id="{2FEF3C4A-093E-4FA2-A02F-C23F4E92867F}"/>
              </a:ext>
            </a:extLst>
          </p:cNvPr>
          <p:cNvSpPr>
            <a:spLocks noGrp="1"/>
          </p:cNvSpPr>
          <p:nvPr/>
        </p:nvSpPr>
        <p:spPr>
          <a:xfrm>
            <a:off x="7503604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7" name="diagram block">
            <a:extLst>
              <a:ext uri="{FF2B5EF4-FFF2-40B4-BE49-F238E27FC236}">
                <ns2:creationId id="{02EF6B8E-164C-449D-AA06-501AB25F5D76}"/>
              </a:ext>
            </a:extLst>
          </p:cNvPr>
          <p:cNvSpPr>
            <a:spLocks noGrp="1"/>
          </p:cNvSpPr>
          <p:nvPr/>
        </p:nvSpPr>
        <p:spPr>
          <a:xfrm>
            <a:off x="7609410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08" name="diagram block">
            <a:extLst>
              <a:ext uri="{FF2B5EF4-FFF2-40B4-BE49-F238E27FC236}">
                <ns2:creationId id="{CAF175AF-7CC1-4911-BB3B-0DBBA21D48E4}"/>
              </a:ext>
            </a:extLst>
          </p:cNvPr>
          <p:cNvSpPr>
            <a:spLocks noGrp="1"/>
          </p:cNvSpPr>
          <p:nvPr/>
        </p:nvSpPr>
        <p:spPr>
          <a:xfrm>
            <a:off x="7715216" y="162580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cxnSp>
        <p:nvCxnSpPr>
          <p:cNvPr id="409" name="native PowerPoint connector">
            <a:extLst>
              <a:ext uri="{FF2B5EF4-FFF2-40B4-BE49-F238E27FC236}">
                <ns2:creationId id="{5560F97F-1D93-40F2-BB81-C602306A077E}"/>
              </a:ext>
            </a:extLst>
          </p:cNvPr>
          <p:cNvCxnSpPr/>
          <p:nvPr/>
        </p:nvCxnSpPr>
        <p:spPr>
          <a:xfrm flipH="1" flipV="1">
            <a:off x="6337156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0" name="native PowerPoint connector">
            <a:extLst>
              <a:ext uri="{FF2B5EF4-FFF2-40B4-BE49-F238E27FC236}">
                <ns2:creationId id="{2B669C95-7858-4918-BCA4-1089D25B358B}"/>
              </a:ext>
            </a:extLst>
          </p:cNvPr>
          <p:cNvCxnSpPr/>
          <p:nvPr/>
        </p:nvCxnSpPr>
        <p:spPr>
          <a:xfrm flipH="0" flipV="1">
            <a:off x="6564252" y="1130319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1" name="native PowerPoint connector">
            <a:extLst>
              <a:ext uri="{FF2B5EF4-FFF2-40B4-BE49-F238E27FC236}">
                <ns2:creationId id="{042EF05B-6C0B-47FA-8B5A-6B0C64568FF0}"/>
              </a:ext>
            </a:extLst>
          </p:cNvPr>
          <p:cNvCxnSpPr/>
          <p:nvPr/>
        </p:nvCxnSpPr>
        <p:spPr>
          <a:xfrm flipH="0" flipV="1">
            <a:off x="6564252" y="1130319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2" name="native PowerPoint connector">
            <a:extLst>
              <a:ext uri="{FF2B5EF4-FFF2-40B4-BE49-F238E27FC236}">
                <ns2:creationId id="{03482DB7-3DFC-4D42-A8AF-4E8C3A39ADD8}"/>
              </a:ext>
            </a:extLst>
          </p:cNvPr>
          <p:cNvCxnSpPr/>
          <p:nvPr/>
        </p:nvCxnSpPr>
        <p:spPr>
          <a:xfrm flipH="1" flipV="0">
            <a:off x="6337156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3" name="native PowerPoint connector">
            <a:extLst>
              <a:ext uri="{FF2B5EF4-FFF2-40B4-BE49-F238E27FC236}">
                <ns2:creationId id="{85006306-410C-4239-B800-ED83B0AAF68C}"/>
              </a:ext>
            </a:extLst>
          </p:cNvPr>
          <p:cNvCxnSpPr/>
          <p:nvPr/>
        </p:nvCxnSpPr>
        <p:spPr>
          <a:xfrm flipH="0" flipV="0">
            <a:off x="6564252" y="1357415"/>
            <a:ext cx="227096" cy="0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4" name="native PowerPoint connector">
            <a:extLst>
              <a:ext uri="{FF2B5EF4-FFF2-40B4-BE49-F238E27FC236}">
                <ns2:creationId id="{202B9B33-07F0-4860-A63E-695F1CA6AFDD}"/>
              </a:ext>
            </a:extLst>
          </p:cNvPr>
          <p:cNvCxnSpPr/>
          <p:nvPr/>
        </p:nvCxnSpPr>
        <p:spPr>
          <a:xfrm flipH="1" flipV="0">
            <a:off x="6337156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5" name="native PowerPoint connector">
            <a:extLst>
              <a:ext uri="{FF2B5EF4-FFF2-40B4-BE49-F238E27FC236}">
                <ns2:creationId id="{8A19E394-8898-4BCC-9D4C-D193FC40438C}"/>
              </a:ext>
            </a:extLst>
          </p:cNvPr>
          <p:cNvCxnSpPr/>
          <p:nvPr/>
        </p:nvCxnSpPr>
        <p:spPr>
          <a:xfrm flipH="0" flipV="0">
            <a:off x="6564252" y="1357415"/>
            <a:ext cx="0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6" name="native PowerPoint connector">
            <a:extLst>
              <a:ext uri="{FF2B5EF4-FFF2-40B4-BE49-F238E27FC236}">
                <ns2:creationId id="{F04706D6-A675-44E8-B90C-5AFF698764EB}"/>
              </a:ext>
            </a:extLst>
          </p:cNvPr>
          <p:cNvCxnSpPr/>
          <p:nvPr/>
        </p:nvCxnSpPr>
        <p:spPr>
          <a:xfrm flipH="0" flipV="0">
            <a:off x="6564252" y="1357415"/>
            <a:ext cx="227096" cy="227096"/>
          </a:xfrm>
          <a:prstGeom prst="straightConnector1">
            <a:avLst/>
          </a:prstGeom>
          <a:ln w="7742">
            <a:solidFill>
              <a:srgbClr val="153B6A"/>
            </a:solidFill>
            <a:prstDash val="solid"/>
            <a:tailEnd type="triangle" w="sm" len="sm"/>
          </a:ln>
        </p:spPr>
      </p:cxnSp>
      <p:cxnSp>
        <p:nvCxnSpPr>
          <p:cNvPr id="417" name="native PowerPoint connector">
            <a:extLst>
              <a:ext uri="{FF2B5EF4-FFF2-40B4-BE49-F238E27FC236}">
                <ns2:creationId id="{A7D84F60-AE54-43DD-8ECA-A7403C5F3DE6}"/>
              </a:ext>
            </a:extLst>
          </p:cNvPr>
          <p:cNvCxnSpPr/>
          <p:nvPr/>
        </p:nvCxnSpPr>
        <p:spPr>
          <a:xfrm flipH="0" flipV="0">
            <a:off x="6631348" y="1357415"/>
            <a:ext cx="753546" cy="0"/>
          </a:xfrm>
          <a:prstGeom prst="straightConnector1">
            <a:avLst/>
          </a:prstGeom>
          <a:ln w="8258">
            <a:solidFill>
              <a:srgbClr val="153B6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18" name="diagram block">
            <a:extLst>
              <a:ext uri="{FF2B5EF4-FFF2-40B4-BE49-F238E27FC236}">
                <ns2:creationId id="{4802742B-C8A1-4526-A4BE-5271553A6CC2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30064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FFF5DC"/>
              </a:gs>
              <a:gs pos="100000">
                <a:srgbClr val="FFFDF8"/>
              </a:gs>
            </a:gsLst>
            <a:lin ang="5400000"/>
          </a:gradFill>
          <a:ln w="5161">
            <a:solidFill>
              <a:srgbClr val="F3D18C"/>
            </a:solidFill>
            <a:prstDash val="solid"/>
          </a:ln>
        </p:spPr>
      </p:sp>
      <p:sp>
        <p:nvSpPr>
          <p:cNvPr id="419" name="diagram block">
            <a:extLst>
              <a:ext uri="{FF2B5EF4-FFF2-40B4-BE49-F238E27FC236}">
                <ns2:creationId id="{0CD2391C-6966-4493-82DC-20325FFAAB8C}"/>
              </a:ext>
            </a:extLst>
          </p:cNvPr>
          <p:cNvSpPr>
            <a:spLocks noGrp="1"/>
          </p:cNvSpPr>
          <p:nvPr/>
        </p:nvSpPr>
        <p:spPr>
          <a:xfrm>
            <a:off x="6073931" y="2012897"/>
            <a:ext cx="1775478" cy="175483"/>
          </a:xfrm>
          <a:prstGeom prst="roundRect">
            <a:avLst>
              <a:gd name="adj" fmla="val 14706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noFill/>
            <a:prstDash val="solid"/>
          </a:ln>
        </p:spPr>
      </p:sp>
      <p:sp>
        <p:nvSpPr>
          <p:cNvPr id="420" name="Camera 2 (view 2)">
            <a:extLst>
              <a:ext uri="{FF2B5EF4-FFF2-40B4-BE49-F238E27FC236}">
                <ns2:creationId id="{56656CAE-B82A-4018-9670-8D7AF629149F}"/>
              </a:ext>
            </a:extLst>
          </p:cNvPr>
          <p:cNvSpPr>
            <a:spLocks noGrp="1"/>
          </p:cNvSpPr>
          <p:nvPr/>
        </p:nvSpPr>
        <p:spPr>
          <a:xfrm>
            <a:off x="6099737" y="2038703"/>
            <a:ext cx="1723865" cy="123871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95287"/>
          </a:bodyPr>
          <a:lstStyle>
            <a:def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Camera 2 (view 2)</a:t>
            </a:r>
          </a:p>
        </p:txBody>
      </p:sp>
      <p:sp>
        <p:nvSpPr>
          <p:cNvPr id="421" name="Time 1 (future)">
            <a:extLst>
              <a:ext uri="{FF2B5EF4-FFF2-40B4-BE49-F238E27FC236}">
                <ns2:creationId id="{F8598F75-B6ED-4174-838D-570F45FD1CF4}"/>
              </a:ext>
            </a:extLst>
          </p:cNvPr>
          <p:cNvSpPr>
            <a:spLocks noGrp="1"/>
          </p:cNvSpPr>
          <p:nvPr/>
        </p:nvSpPr>
        <p:spPr>
          <a:xfrm>
            <a:off x="6182317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1 (future)</a:t>
            </a:r>
          </a:p>
        </p:txBody>
      </p:sp>
      <p:sp>
        <p:nvSpPr>
          <p:cNvPr id="422" name="Time 2 (future)">
            <a:extLst>
              <a:ext uri="{FF2B5EF4-FFF2-40B4-BE49-F238E27FC236}">
                <ns2:creationId id="{B04060F1-9DC8-4B09-8D31-97142D016AE9}"/>
              </a:ext>
            </a:extLst>
          </p:cNvPr>
          <p:cNvSpPr>
            <a:spLocks noGrp="1"/>
          </p:cNvSpPr>
          <p:nvPr/>
        </p:nvSpPr>
        <p:spPr>
          <a:xfrm>
            <a:off x="7064895" y="2239993"/>
            <a:ext cx="748385" cy="1238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9976"/>
          </a:bodyPr>
          <a:lstStyle>
            <a:def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1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Time 2 (future)</a:t>
            </a:r>
          </a:p>
        </p:txBody>
      </p:sp>
      <p:sp>
        <p:nvSpPr>
          <p:cNvPr id="423" name="diagram block">
            <a:extLst>
              <a:ext uri="{FF2B5EF4-FFF2-40B4-BE49-F238E27FC236}">
                <ns2:creationId id="{C3DC0134-C6AA-4D2A-AC8A-1B0CA8B1544D}"/>
              </a:ext>
            </a:extLst>
          </p:cNvPr>
          <p:cNvSpPr>
            <a:spLocks noGrp="1"/>
          </p:cNvSpPr>
          <p:nvPr/>
        </p:nvSpPr>
        <p:spPr>
          <a:xfrm>
            <a:off x="619780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4" name="diagram block">
            <a:extLst>
              <a:ext uri="{FF2B5EF4-FFF2-40B4-BE49-F238E27FC236}">
                <ns2:creationId id="{CEA604D7-D5DC-4421-B006-B7994075BA9D}"/>
              </a:ext>
            </a:extLst>
          </p:cNvPr>
          <p:cNvSpPr>
            <a:spLocks noGrp="1"/>
          </p:cNvSpPr>
          <p:nvPr/>
        </p:nvSpPr>
        <p:spPr>
          <a:xfrm>
            <a:off x="630360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5" name="diagram block">
            <a:extLst>
              <a:ext uri="{FF2B5EF4-FFF2-40B4-BE49-F238E27FC236}">
                <ns2:creationId id="{0B482885-19CD-4C17-9E75-1A16BC6FA6F3}"/>
              </a:ext>
            </a:extLst>
          </p:cNvPr>
          <p:cNvSpPr>
            <a:spLocks noGrp="1"/>
          </p:cNvSpPr>
          <p:nvPr/>
        </p:nvSpPr>
        <p:spPr>
          <a:xfrm>
            <a:off x="640941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6" name="diagram block">
            <a:extLst>
              <a:ext uri="{FF2B5EF4-FFF2-40B4-BE49-F238E27FC236}">
                <ns2:creationId id="{7A3BB672-00A7-4571-BA71-A6A67FAA893E}"/>
              </a:ext>
            </a:extLst>
          </p:cNvPr>
          <p:cNvSpPr>
            <a:spLocks noGrp="1"/>
          </p:cNvSpPr>
          <p:nvPr/>
        </p:nvSpPr>
        <p:spPr>
          <a:xfrm>
            <a:off x="651522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7" name="diagram block">
            <a:extLst>
              <a:ext uri="{FF2B5EF4-FFF2-40B4-BE49-F238E27FC236}">
                <ns2:creationId id="{D855EE53-9D1D-47B3-A0AB-FCE443075F32}"/>
              </a:ext>
            </a:extLst>
          </p:cNvPr>
          <p:cNvSpPr>
            <a:spLocks noGrp="1"/>
          </p:cNvSpPr>
          <p:nvPr/>
        </p:nvSpPr>
        <p:spPr>
          <a:xfrm>
            <a:off x="662102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8" name="diagram block">
            <a:extLst>
              <a:ext uri="{FF2B5EF4-FFF2-40B4-BE49-F238E27FC236}">
                <ns2:creationId id="{188FB602-8856-445D-95DC-3C7DE076D150}"/>
              </a:ext>
            </a:extLst>
          </p:cNvPr>
          <p:cNvSpPr>
            <a:spLocks noGrp="1"/>
          </p:cNvSpPr>
          <p:nvPr/>
        </p:nvSpPr>
        <p:spPr>
          <a:xfrm>
            <a:off x="6726832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29" name="diagram block">
            <a:extLst>
              <a:ext uri="{FF2B5EF4-FFF2-40B4-BE49-F238E27FC236}">
                <ns2:creationId id="{B0EE3BEF-05FA-4640-BADC-34E1E107685B}"/>
              </a:ext>
            </a:extLst>
          </p:cNvPr>
          <p:cNvSpPr>
            <a:spLocks noGrp="1"/>
          </p:cNvSpPr>
          <p:nvPr/>
        </p:nvSpPr>
        <p:spPr>
          <a:xfrm>
            <a:off x="6832638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0" name="diagram block">
            <a:extLst>
              <a:ext uri="{FF2B5EF4-FFF2-40B4-BE49-F238E27FC236}">
                <ns2:creationId id="{260FD7DB-B995-4582-8950-CA30A9682D85}"/>
              </a:ext>
            </a:extLst>
          </p:cNvPr>
          <p:cNvSpPr>
            <a:spLocks noGrp="1"/>
          </p:cNvSpPr>
          <p:nvPr/>
        </p:nvSpPr>
        <p:spPr>
          <a:xfrm>
            <a:off x="619780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1" name="diagram block">
            <a:extLst>
              <a:ext uri="{FF2B5EF4-FFF2-40B4-BE49-F238E27FC236}">
                <ns2:creationId id="{1A8E620F-C8B1-4C30-B73A-1F06331833DB}"/>
              </a:ext>
            </a:extLst>
          </p:cNvPr>
          <p:cNvSpPr>
            <a:spLocks noGrp="1"/>
          </p:cNvSpPr>
          <p:nvPr/>
        </p:nvSpPr>
        <p:spPr>
          <a:xfrm>
            <a:off x="630360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2" name="diagram block">
            <a:extLst>
              <a:ext uri="{FF2B5EF4-FFF2-40B4-BE49-F238E27FC236}">
                <ns2:creationId id="{C532F6FF-B5A4-4E80-8BC7-6F35E82269DE}"/>
              </a:ext>
            </a:extLst>
          </p:cNvPr>
          <p:cNvSpPr>
            <a:spLocks noGrp="1"/>
          </p:cNvSpPr>
          <p:nvPr/>
        </p:nvSpPr>
        <p:spPr>
          <a:xfrm>
            <a:off x="640941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3" name="diagram block">
            <a:extLst>
              <a:ext uri="{FF2B5EF4-FFF2-40B4-BE49-F238E27FC236}">
                <ns2:creationId id="{7678D1C9-31E5-4442-B5ED-4E661AEE7D01}"/>
              </a:ext>
            </a:extLst>
          </p:cNvPr>
          <p:cNvSpPr>
            <a:spLocks noGrp="1"/>
          </p:cNvSpPr>
          <p:nvPr/>
        </p:nvSpPr>
        <p:spPr>
          <a:xfrm>
            <a:off x="651522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4" name="diagram block">
            <a:extLst>
              <a:ext uri="{FF2B5EF4-FFF2-40B4-BE49-F238E27FC236}">
                <ns2:creationId id="{60814BF9-BBE2-4741-800D-71DE3ED5549B}"/>
              </a:ext>
            </a:extLst>
          </p:cNvPr>
          <p:cNvSpPr>
            <a:spLocks noGrp="1"/>
          </p:cNvSpPr>
          <p:nvPr/>
        </p:nvSpPr>
        <p:spPr>
          <a:xfrm>
            <a:off x="662102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5" name="diagram block">
            <a:extLst>
              <a:ext uri="{FF2B5EF4-FFF2-40B4-BE49-F238E27FC236}">
                <ns2:creationId id="{6761CC64-0925-4A02-AACC-64AC278DD1AD}"/>
              </a:ext>
            </a:extLst>
          </p:cNvPr>
          <p:cNvSpPr>
            <a:spLocks noGrp="1"/>
          </p:cNvSpPr>
          <p:nvPr/>
        </p:nvSpPr>
        <p:spPr>
          <a:xfrm>
            <a:off x="6726832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6" name="diagram block">
            <a:extLst>
              <a:ext uri="{FF2B5EF4-FFF2-40B4-BE49-F238E27FC236}">
                <ns2:creationId id="{9354DF5B-B835-4E02-B9A0-6C7E381557CD}"/>
              </a:ext>
            </a:extLst>
          </p:cNvPr>
          <p:cNvSpPr>
            <a:spLocks noGrp="1"/>
          </p:cNvSpPr>
          <p:nvPr/>
        </p:nvSpPr>
        <p:spPr>
          <a:xfrm>
            <a:off x="6832638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7" name="diagram block">
            <a:extLst>
              <a:ext uri="{FF2B5EF4-FFF2-40B4-BE49-F238E27FC236}">
                <ns2:creationId id="{6EE1FBE4-4335-4746-A3B8-2F37FF24C169}"/>
              </a:ext>
            </a:extLst>
          </p:cNvPr>
          <p:cNvSpPr>
            <a:spLocks noGrp="1"/>
          </p:cNvSpPr>
          <p:nvPr/>
        </p:nvSpPr>
        <p:spPr>
          <a:xfrm>
            <a:off x="619780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8" name="diagram block">
            <a:extLst>
              <a:ext uri="{FF2B5EF4-FFF2-40B4-BE49-F238E27FC236}">
                <ns2:creationId id="{98BC6C6B-B80E-4BA9-A48E-35D38FFAF6C1}"/>
              </a:ext>
            </a:extLst>
          </p:cNvPr>
          <p:cNvSpPr>
            <a:spLocks noGrp="1"/>
          </p:cNvSpPr>
          <p:nvPr/>
        </p:nvSpPr>
        <p:spPr>
          <a:xfrm>
            <a:off x="630360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39" name="diagram block">
            <a:extLst>
              <a:ext uri="{FF2B5EF4-FFF2-40B4-BE49-F238E27FC236}">
                <ns2:creationId id="{5681A49E-533E-4BEA-B1E1-1889584FA038}"/>
              </a:ext>
            </a:extLst>
          </p:cNvPr>
          <p:cNvSpPr>
            <a:spLocks noGrp="1"/>
          </p:cNvSpPr>
          <p:nvPr/>
        </p:nvSpPr>
        <p:spPr>
          <a:xfrm>
            <a:off x="640941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0" name="diagram block">
            <a:extLst>
              <a:ext uri="{FF2B5EF4-FFF2-40B4-BE49-F238E27FC236}">
                <ns2:creationId id="{7CDDCA30-5BE2-43D8-AB92-255BE34EE1CE}"/>
              </a:ext>
            </a:extLst>
          </p:cNvPr>
          <p:cNvSpPr>
            <a:spLocks noGrp="1"/>
          </p:cNvSpPr>
          <p:nvPr/>
        </p:nvSpPr>
        <p:spPr>
          <a:xfrm>
            <a:off x="651522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1" name="diagram block">
            <a:extLst>
              <a:ext uri="{FF2B5EF4-FFF2-40B4-BE49-F238E27FC236}">
                <ns2:creationId id="{EDFE7A08-F3D6-4C62-8664-C337DB9F25EF}"/>
              </a:ext>
            </a:extLst>
          </p:cNvPr>
          <p:cNvSpPr>
            <a:spLocks noGrp="1"/>
          </p:cNvSpPr>
          <p:nvPr/>
        </p:nvSpPr>
        <p:spPr>
          <a:xfrm>
            <a:off x="662102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2" name="diagram block">
            <a:extLst>
              <a:ext uri="{FF2B5EF4-FFF2-40B4-BE49-F238E27FC236}">
                <ns2:creationId id="{5F653672-D1C9-458A-A174-E5B76FBF9DA1}"/>
              </a:ext>
            </a:extLst>
          </p:cNvPr>
          <p:cNvSpPr>
            <a:spLocks noGrp="1"/>
          </p:cNvSpPr>
          <p:nvPr/>
        </p:nvSpPr>
        <p:spPr>
          <a:xfrm>
            <a:off x="6726832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3" name="diagram block">
            <a:extLst>
              <a:ext uri="{FF2B5EF4-FFF2-40B4-BE49-F238E27FC236}">
                <ns2:creationId id="{D286512B-0490-4317-AAE0-8A7B8C0988E0}"/>
              </a:ext>
            </a:extLst>
          </p:cNvPr>
          <p:cNvSpPr>
            <a:spLocks noGrp="1"/>
          </p:cNvSpPr>
          <p:nvPr/>
        </p:nvSpPr>
        <p:spPr>
          <a:xfrm>
            <a:off x="6832638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4" name="diagram block">
            <a:extLst>
              <a:ext uri="{FF2B5EF4-FFF2-40B4-BE49-F238E27FC236}">
                <ns2:creationId id="{6376D9DA-D776-4BDE-9CB1-BAC4ECC72ACD}"/>
              </a:ext>
            </a:extLst>
          </p:cNvPr>
          <p:cNvSpPr>
            <a:spLocks noGrp="1"/>
          </p:cNvSpPr>
          <p:nvPr/>
        </p:nvSpPr>
        <p:spPr>
          <a:xfrm>
            <a:off x="619780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5" name="diagram block">
            <a:extLst>
              <a:ext uri="{FF2B5EF4-FFF2-40B4-BE49-F238E27FC236}">
                <ns2:creationId id="{091155BE-9231-498C-92B0-B0FADA918A25}"/>
              </a:ext>
            </a:extLst>
          </p:cNvPr>
          <p:cNvSpPr>
            <a:spLocks noGrp="1"/>
          </p:cNvSpPr>
          <p:nvPr/>
        </p:nvSpPr>
        <p:spPr>
          <a:xfrm>
            <a:off x="630360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6" name="diagram block">
            <a:extLst>
              <a:ext uri="{FF2B5EF4-FFF2-40B4-BE49-F238E27FC236}">
                <ns2:creationId id="{49F31AEC-99B3-4B2E-BB98-D412469D0100}"/>
              </a:ext>
            </a:extLst>
          </p:cNvPr>
          <p:cNvSpPr>
            <a:spLocks noGrp="1"/>
          </p:cNvSpPr>
          <p:nvPr/>
        </p:nvSpPr>
        <p:spPr>
          <a:xfrm>
            <a:off x="640941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7" name="diagram block">
            <a:extLst>
              <a:ext uri="{FF2B5EF4-FFF2-40B4-BE49-F238E27FC236}">
                <ns2:creationId id="{0F787252-64D6-48BE-B1DF-66EEF37792A3}"/>
              </a:ext>
            </a:extLst>
          </p:cNvPr>
          <p:cNvSpPr>
            <a:spLocks noGrp="1"/>
          </p:cNvSpPr>
          <p:nvPr/>
        </p:nvSpPr>
        <p:spPr>
          <a:xfrm>
            <a:off x="651522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8" name="diagram block">
            <a:extLst>
              <a:ext uri="{FF2B5EF4-FFF2-40B4-BE49-F238E27FC236}">
                <ns2:creationId id="{59E61F90-8AFC-4854-9A95-67587A48514D}"/>
              </a:ext>
            </a:extLst>
          </p:cNvPr>
          <p:cNvSpPr>
            <a:spLocks noGrp="1"/>
          </p:cNvSpPr>
          <p:nvPr/>
        </p:nvSpPr>
        <p:spPr>
          <a:xfrm>
            <a:off x="662102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49" name="diagram block">
            <a:extLst>
              <a:ext uri="{FF2B5EF4-FFF2-40B4-BE49-F238E27FC236}">
                <ns2:creationId id="{54F3C85B-5F99-4A9D-BC01-B0868196A704}"/>
              </a:ext>
            </a:extLst>
          </p:cNvPr>
          <p:cNvSpPr>
            <a:spLocks noGrp="1"/>
          </p:cNvSpPr>
          <p:nvPr/>
        </p:nvSpPr>
        <p:spPr>
          <a:xfrm>
            <a:off x="6726832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0" name="diagram block">
            <a:extLst>
              <a:ext uri="{FF2B5EF4-FFF2-40B4-BE49-F238E27FC236}">
                <ns2:creationId id="{4E8B85E4-F433-45B6-AC13-64A61DE246E2}"/>
              </a:ext>
            </a:extLst>
          </p:cNvPr>
          <p:cNvSpPr>
            <a:spLocks noGrp="1"/>
          </p:cNvSpPr>
          <p:nvPr/>
        </p:nvSpPr>
        <p:spPr>
          <a:xfrm>
            <a:off x="6832638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1" name="diagram block">
            <a:extLst>
              <a:ext uri="{FF2B5EF4-FFF2-40B4-BE49-F238E27FC236}">
                <ns2:creationId id="{E886425F-E8AD-4D21-B9FD-E9511B546B85}"/>
              </a:ext>
            </a:extLst>
          </p:cNvPr>
          <p:cNvSpPr>
            <a:spLocks noGrp="1"/>
          </p:cNvSpPr>
          <p:nvPr/>
        </p:nvSpPr>
        <p:spPr>
          <a:xfrm>
            <a:off x="619780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2" name="diagram block">
            <a:extLst>
              <a:ext uri="{FF2B5EF4-FFF2-40B4-BE49-F238E27FC236}">
                <ns2:creationId id="{EB7B6AE5-0B45-4585-A4F2-A11BC9386A85}"/>
              </a:ext>
            </a:extLst>
          </p:cNvPr>
          <p:cNvSpPr>
            <a:spLocks noGrp="1"/>
          </p:cNvSpPr>
          <p:nvPr/>
        </p:nvSpPr>
        <p:spPr>
          <a:xfrm>
            <a:off x="630360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3" name="diagram block">
            <a:extLst>
              <a:ext uri="{FF2B5EF4-FFF2-40B4-BE49-F238E27FC236}">
                <ns2:creationId id="{DCB034C0-FD79-479E-BAB2-DD8DCD5ADBD1}"/>
              </a:ext>
            </a:extLst>
          </p:cNvPr>
          <p:cNvSpPr>
            <a:spLocks noGrp="1"/>
          </p:cNvSpPr>
          <p:nvPr/>
        </p:nvSpPr>
        <p:spPr>
          <a:xfrm>
            <a:off x="640941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4" name="diagram block">
            <a:extLst>
              <a:ext uri="{FF2B5EF4-FFF2-40B4-BE49-F238E27FC236}">
                <ns2:creationId id="{867CB69D-758E-437E-AC94-4C52268BC06F}"/>
              </a:ext>
            </a:extLst>
          </p:cNvPr>
          <p:cNvSpPr>
            <a:spLocks noGrp="1"/>
          </p:cNvSpPr>
          <p:nvPr/>
        </p:nvSpPr>
        <p:spPr>
          <a:xfrm>
            <a:off x="651522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5" name="diagram block">
            <a:extLst>
              <a:ext uri="{FF2B5EF4-FFF2-40B4-BE49-F238E27FC236}">
                <ns2:creationId id="{0D1AB1D4-9054-4F4B-99C2-C9BC12E33221}"/>
              </a:ext>
            </a:extLst>
          </p:cNvPr>
          <p:cNvSpPr>
            <a:spLocks noGrp="1"/>
          </p:cNvSpPr>
          <p:nvPr/>
        </p:nvSpPr>
        <p:spPr>
          <a:xfrm>
            <a:off x="662102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6" name="diagram block">
            <a:extLst>
              <a:ext uri="{FF2B5EF4-FFF2-40B4-BE49-F238E27FC236}">
                <ns2:creationId id="{CEC85362-1416-4F53-9760-0CF5D35C056D}"/>
              </a:ext>
            </a:extLst>
          </p:cNvPr>
          <p:cNvSpPr>
            <a:spLocks noGrp="1"/>
          </p:cNvSpPr>
          <p:nvPr/>
        </p:nvSpPr>
        <p:spPr>
          <a:xfrm>
            <a:off x="6726832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7" name="diagram block">
            <a:extLst>
              <a:ext uri="{FF2B5EF4-FFF2-40B4-BE49-F238E27FC236}">
                <ns2:creationId id="{41C0F2CD-B469-464B-BB8D-E17242B1E93E}"/>
              </a:ext>
            </a:extLst>
          </p:cNvPr>
          <p:cNvSpPr>
            <a:spLocks noGrp="1"/>
          </p:cNvSpPr>
          <p:nvPr/>
        </p:nvSpPr>
        <p:spPr>
          <a:xfrm>
            <a:off x="6832638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8" name="diagram block">
            <a:extLst>
              <a:ext uri="{FF2B5EF4-FFF2-40B4-BE49-F238E27FC236}">
                <ns2:creationId id="{F86A970C-F3C7-40B3-85C9-2A75338AC7B2}"/>
              </a:ext>
            </a:extLst>
          </p:cNvPr>
          <p:cNvSpPr>
            <a:spLocks noGrp="1"/>
          </p:cNvSpPr>
          <p:nvPr/>
        </p:nvSpPr>
        <p:spPr>
          <a:xfrm>
            <a:off x="619780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59" name="diagram block">
            <a:extLst>
              <a:ext uri="{FF2B5EF4-FFF2-40B4-BE49-F238E27FC236}">
                <ns2:creationId id="{94A8AA24-E33F-4D05-AFD8-04D685328256}"/>
              </a:ext>
            </a:extLst>
          </p:cNvPr>
          <p:cNvSpPr>
            <a:spLocks noGrp="1"/>
          </p:cNvSpPr>
          <p:nvPr/>
        </p:nvSpPr>
        <p:spPr>
          <a:xfrm>
            <a:off x="630360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0" name="diagram block">
            <a:extLst>
              <a:ext uri="{FF2B5EF4-FFF2-40B4-BE49-F238E27FC236}">
                <ns2:creationId id="{B461D0D8-69B8-4E5A-BE0E-79436D0CBFF8}"/>
              </a:ext>
            </a:extLst>
          </p:cNvPr>
          <p:cNvSpPr>
            <a:spLocks noGrp="1"/>
          </p:cNvSpPr>
          <p:nvPr/>
        </p:nvSpPr>
        <p:spPr>
          <a:xfrm>
            <a:off x="640941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1" name="diagram block">
            <a:extLst>
              <a:ext uri="{FF2B5EF4-FFF2-40B4-BE49-F238E27FC236}">
                <ns2:creationId id="{F4437D06-4917-4B04-A604-72565CF48C17}"/>
              </a:ext>
            </a:extLst>
          </p:cNvPr>
          <p:cNvSpPr>
            <a:spLocks noGrp="1"/>
          </p:cNvSpPr>
          <p:nvPr/>
        </p:nvSpPr>
        <p:spPr>
          <a:xfrm>
            <a:off x="651522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2" name="diagram block">
            <a:extLst>
              <a:ext uri="{FF2B5EF4-FFF2-40B4-BE49-F238E27FC236}">
                <ns2:creationId id="{4963C7F5-83D1-459B-9D1A-4A0666C01129}"/>
              </a:ext>
            </a:extLst>
          </p:cNvPr>
          <p:cNvSpPr>
            <a:spLocks noGrp="1"/>
          </p:cNvSpPr>
          <p:nvPr/>
        </p:nvSpPr>
        <p:spPr>
          <a:xfrm>
            <a:off x="662102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3" name="diagram block">
            <a:extLst>
              <a:ext uri="{FF2B5EF4-FFF2-40B4-BE49-F238E27FC236}">
                <ns2:creationId id="{154C28E7-820F-40DE-9E61-ABB9022AC122}"/>
              </a:ext>
            </a:extLst>
          </p:cNvPr>
          <p:cNvSpPr>
            <a:spLocks noGrp="1"/>
          </p:cNvSpPr>
          <p:nvPr/>
        </p:nvSpPr>
        <p:spPr>
          <a:xfrm>
            <a:off x="6726832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4" name="diagram block">
            <a:extLst>
              <a:ext uri="{FF2B5EF4-FFF2-40B4-BE49-F238E27FC236}">
                <ns2:creationId id="{581F8A13-918E-414C-AC08-5E56E481F203}"/>
              </a:ext>
            </a:extLst>
          </p:cNvPr>
          <p:cNvSpPr>
            <a:spLocks noGrp="1"/>
          </p:cNvSpPr>
          <p:nvPr/>
        </p:nvSpPr>
        <p:spPr>
          <a:xfrm>
            <a:off x="6832638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5" name="diagram block">
            <a:extLst>
              <a:ext uri="{FF2B5EF4-FFF2-40B4-BE49-F238E27FC236}">
                <ns2:creationId id="{63C8729A-EBC5-417F-A25E-CEEC98CC2425}"/>
              </a:ext>
            </a:extLst>
          </p:cNvPr>
          <p:cNvSpPr>
            <a:spLocks noGrp="1"/>
          </p:cNvSpPr>
          <p:nvPr/>
        </p:nvSpPr>
        <p:spPr>
          <a:xfrm>
            <a:off x="619780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6" name="diagram block">
            <a:extLst>
              <a:ext uri="{FF2B5EF4-FFF2-40B4-BE49-F238E27FC236}">
                <ns2:creationId id="{959BCDA0-3649-434B-B979-EBD163207F5C}"/>
              </a:ext>
            </a:extLst>
          </p:cNvPr>
          <p:cNvSpPr>
            <a:spLocks noGrp="1"/>
          </p:cNvSpPr>
          <p:nvPr/>
        </p:nvSpPr>
        <p:spPr>
          <a:xfrm>
            <a:off x="630360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7" name="diagram block">
            <a:extLst>
              <a:ext uri="{FF2B5EF4-FFF2-40B4-BE49-F238E27FC236}">
                <ns2:creationId id="{D36E6836-02F2-4CBE-BDA8-68AD56518CCD}"/>
              </a:ext>
            </a:extLst>
          </p:cNvPr>
          <p:cNvSpPr>
            <a:spLocks noGrp="1"/>
          </p:cNvSpPr>
          <p:nvPr/>
        </p:nvSpPr>
        <p:spPr>
          <a:xfrm>
            <a:off x="640941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8" name="diagram block">
            <a:extLst>
              <a:ext uri="{FF2B5EF4-FFF2-40B4-BE49-F238E27FC236}">
                <ns2:creationId id="{6702598E-8E71-4B75-AF30-43D3EDE047AF}"/>
              </a:ext>
            </a:extLst>
          </p:cNvPr>
          <p:cNvSpPr>
            <a:spLocks noGrp="1"/>
          </p:cNvSpPr>
          <p:nvPr/>
        </p:nvSpPr>
        <p:spPr>
          <a:xfrm>
            <a:off x="651522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69" name="diagram block">
            <a:extLst>
              <a:ext uri="{FF2B5EF4-FFF2-40B4-BE49-F238E27FC236}">
                <ns2:creationId id="{A92F4141-1950-4ACB-A4D6-DE7A0C988578}"/>
              </a:ext>
            </a:extLst>
          </p:cNvPr>
          <p:cNvSpPr>
            <a:spLocks noGrp="1"/>
          </p:cNvSpPr>
          <p:nvPr/>
        </p:nvSpPr>
        <p:spPr>
          <a:xfrm>
            <a:off x="662102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0" name="diagram block">
            <a:extLst>
              <a:ext uri="{FF2B5EF4-FFF2-40B4-BE49-F238E27FC236}">
                <ns2:creationId id="{13DFEDE0-1E4C-4228-9F2E-10EEC8E2CACA}"/>
              </a:ext>
            </a:extLst>
          </p:cNvPr>
          <p:cNvSpPr>
            <a:spLocks noGrp="1"/>
          </p:cNvSpPr>
          <p:nvPr/>
        </p:nvSpPr>
        <p:spPr>
          <a:xfrm>
            <a:off x="6726832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1" name="diagram block">
            <a:extLst>
              <a:ext uri="{FF2B5EF4-FFF2-40B4-BE49-F238E27FC236}">
                <ns2:creationId id="{4FB4FFFB-BB9C-4EC0-9861-EAA9BA826459}"/>
              </a:ext>
            </a:extLst>
          </p:cNvPr>
          <p:cNvSpPr>
            <a:spLocks noGrp="1"/>
          </p:cNvSpPr>
          <p:nvPr/>
        </p:nvSpPr>
        <p:spPr>
          <a:xfrm>
            <a:off x="6832638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2" name="diagram block">
            <a:extLst>
              <a:ext uri="{FF2B5EF4-FFF2-40B4-BE49-F238E27FC236}">
                <ns2:creationId id="{8C10041D-FD02-4FA8-AC0B-2F03DFF7B559}"/>
              </a:ext>
            </a:extLst>
          </p:cNvPr>
          <p:cNvSpPr>
            <a:spLocks noGrp="1"/>
          </p:cNvSpPr>
          <p:nvPr/>
        </p:nvSpPr>
        <p:spPr>
          <a:xfrm>
            <a:off x="7080379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3" name="diagram block">
            <a:extLst>
              <a:ext uri="{FF2B5EF4-FFF2-40B4-BE49-F238E27FC236}">
                <ns2:creationId id="{527314B1-60F2-4FF5-9FF2-7C306A17C4F5}"/>
              </a:ext>
            </a:extLst>
          </p:cNvPr>
          <p:cNvSpPr>
            <a:spLocks noGrp="1"/>
          </p:cNvSpPr>
          <p:nvPr/>
        </p:nvSpPr>
        <p:spPr>
          <a:xfrm>
            <a:off x="7186185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4" name="diagram block">
            <a:extLst>
              <a:ext uri="{FF2B5EF4-FFF2-40B4-BE49-F238E27FC236}">
                <ns2:creationId id="{BEF1AFF6-A14D-4F3A-BE3B-C38DF655F7F5}"/>
              </a:ext>
            </a:extLst>
          </p:cNvPr>
          <p:cNvSpPr>
            <a:spLocks noGrp="1"/>
          </p:cNvSpPr>
          <p:nvPr/>
        </p:nvSpPr>
        <p:spPr>
          <a:xfrm>
            <a:off x="7291991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5" name="diagram block">
            <a:extLst>
              <a:ext uri="{FF2B5EF4-FFF2-40B4-BE49-F238E27FC236}">
                <ns2:creationId id="{ED7C265F-0058-4DA0-9B44-BE4B3392502D}"/>
              </a:ext>
            </a:extLst>
          </p:cNvPr>
          <p:cNvSpPr>
            <a:spLocks noGrp="1"/>
          </p:cNvSpPr>
          <p:nvPr/>
        </p:nvSpPr>
        <p:spPr>
          <a:xfrm>
            <a:off x="7397797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6" name="diagram block">
            <a:extLst>
              <a:ext uri="{FF2B5EF4-FFF2-40B4-BE49-F238E27FC236}">
                <ns2:creationId id="{AA20489F-3CAC-40BF-8605-AB8B9A7DE099}"/>
              </a:ext>
            </a:extLst>
          </p:cNvPr>
          <p:cNvSpPr>
            <a:spLocks noGrp="1"/>
          </p:cNvSpPr>
          <p:nvPr/>
        </p:nvSpPr>
        <p:spPr>
          <a:xfrm>
            <a:off x="7503604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7" name="diagram block">
            <a:extLst>
              <a:ext uri="{FF2B5EF4-FFF2-40B4-BE49-F238E27FC236}">
                <ns2:creationId id="{CCED2E30-213A-4E6B-B6EF-9C2A60C62D5C}"/>
              </a:ext>
            </a:extLst>
          </p:cNvPr>
          <p:cNvSpPr>
            <a:spLocks noGrp="1"/>
          </p:cNvSpPr>
          <p:nvPr/>
        </p:nvSpPr>
        <p:spPr>
          <a:xfrm>
            <a:off x="7609410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8" name="diagram block">
            <a:extLst>
              <a:ext uri="{FF2B5EF4-FFF2-40B4-BE49-F238E27FC236}">
                <ns2:creationId id="{3C8B3962-A0AE-42D3-8D25-2F0A5438BE10}"/>
              </a:ext>
            </a:extLst>
          </p:cNvPr>
          <p:cNvSpPr>
            <a:spLocks noGrp="1"/>
          </p:cNvSpPr>
          <p:nvPr/>
        </p:nvSpPr>
        <p:spPr>
          <a:xfrm>
            <a:off x="7715216" y="235354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79" name="diagram block">
            <a:extLst>
              <a:ext uri="{FF2B5EF4-FFF2-40B4-BE49-F238E27FC236}">
                <ns2:creationId id="{1F4573F8-5430-4AA7-8794-22B17B0DAC6A}"/>
              </a:ext>
            </a:extLst>
          </p:cNvPr>
          <p:cNvSpPr>
            <a:spLocks noGrp="1"/>
          </p:cNvSpPr>
          <p:nvPr/>
        </p:nvSpPr>
        <p:spPr>
          <a:xfrm>
            <a:off x="7080379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0" name="diagram block">
            <a:extLst>
              <a:ext uri="{FF2B5EF4-FFF2-40B4-BE49-F238E27FC236}">
                <ns2:creationId id="{BE592397-D624-48C3-AFB2-A19C30997887}"/>
              </a:ext>
            </a:extLst>
          </p:cNvPr>
          <p:cNvSpPr>
            <a:spLocks noGrp="1"/>
          </p:cNvSpPr>
          <p:nvPr/>
        </p:nvSpPr>
        <p:spPr>
          <a:xfrm>
            <a:off x="7186185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1" name="diagram block">
            <a:extLst>
              <a:ext uri="{FF2B5EF4-FFF2-40B4-BE49-F238E27FC236}">
                <ns2:creationId id="{DCCC4150-3B94-48F1-AE01-E370BDE55553}"/>
              </a:ext>
            </a:extLst>
          </p:cNvPr>
          <p:cNvSpPr>
            <a:spLocks noGrp="1"/>
          </p:cNvSpPr>
          <p:nvPr/>
        </p:nvSpPr>
        <p:spPr>
          <a:xfrm>
            <a:off x="7291991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2" name="diagram block">
            <a:extLst>
              <a:ext uri="{FF2B5EF4-FFF2-40B4-BE49-F238E27FC236}">
                <ns2:creationId id="{C1688B52-420A-4D91-8F18-66B6E51E97AD}"/>
              </a:ext>
            </a:extLst>
          </p:cNvPr>
          <p:cNvSpPr>
            <a:spLocks noGrp="1"/>
          </p:cNvSpPr>
          <p:nvPr/>
        </p:nvSpPr>
        <p:spPr>
          <a:xfrm>
            <a:off x="7397797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3" name="diagram block">
            <a:extLst>
              <a:ext uri="{FF2B5EF4-FFF2-40B4-BE49-F238E27FC236}">
                <ns2:creationId id="{173A5E20-6A62-4237-9D3E-0C67CF7BA5F3}"/>
              </a:ext>
            </a:extLst>
          </p:cNvPr>
          <p:cNvSpPr>
            <a:spLocks noGrp="1"/>
          </p:cNvSpPr>
          <p:nvPr/>
        </p:nvSpPr>
        <p:spPr>
          <a:xfrm>
            <a:off x="7503604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4" name="diagram block">
            <a:extLst>
              <a:ext uri="{FF2B5EF4-FFF2-40B4-BE49-F238E27FC236}">
                <ns2:creationId id="{68DF8FE8-661A-4A68-A990-953177ADE341}"/>
              </a:ext>
            </a:extLst>
          </p:cNvPr>
          <p:cNvSpPr>
            <a:spLocks noGrp="1"/>
          </p:cNvSpPr>
          <p:nvPr/>
        </p:nvSpPr>
        <p:spPr>
          <a:xfrm>
            <a:off x="7609410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5" name="diagram block">
            <a:extLst>
              <a:ext uri="{FF2B5EF4-FFF2-40B4-BE49-F238E27FC236}">
                <ns2:creationId id="{BBA05A92-0BF3-49D4-8D11-A1DADA5106DA}"/>
              </a:ext>
            </a:extLst>
          </p:cNvPr>
          <p:cNvSpPr>
            <a:spLocks noGrp="1"/>
          </p:cNvSpPr>
          <p:nvPr/>
        </p:nvSpPr>
        <p:spPr>
          <a:xfrm>
            <a:off x="7715216" y="2459347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6" name="diagram block">
            <a:extLst>
              <a:ext uri="{FF2B5EF4-FFF2-40B4-BE49-F238E27FC236}">
                <ns2:creationId id="{E2FB7FF9-47D7-44DE-A507-ED862FC6BAB3}"/>
              </a:ext>
            </a:extLst>
          </p:cNvPr>
          <p:cNvSpPr>
            <a:spLocks noGrp="1"/>
          </p:cNvSpPr>
          <p:nvPr/>
        </p:nvSpPr>
        <p:spPr>
          <a:xfrm>
            <a:off x="7080379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7" name="diagram block">
            <a:extLst>
              <a:ext uri="{FF2B5EF4-FFF2-40B4-BE49-F238E27FC236}">
                <ns2:creationId id="{E638DEA8-E096-43F5-93E5-518B81E10E31}"/>
              </a:ext>
            </a:extLst>
          </p:cNvPr>
          <p:cNvSpPr>
            <a:spLocks noGrp="1"/>
          </p:cNvSpPr>
          <p:nvPr/>
        </p:nvSpPr>
        <p:spPr>
          <a:xfrm>
            <a:off x="7186185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8" name="diagram block">
            <a:extLst>
              <a:ext uri="{FF2B5EF4-FFF2-40B4-BE49-F238E27FC236}">
                <ns2:creationId id="{FD7B251F-F243-4124-B8DB-017A4B59F512}"/>
              </a:ext>
            </a:extLst>
          </p:cNvPr>
          <p:cNvSpPr>
            <a:spLocks noGrp="1"/>
          </p:cNvSpPr>
          <p:nvPr/>
        </p:nvSpPr>
        <p:spPr>
          <a:xfrm>
            <a:off x="7291991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89" name="diagram block">
            <a:extLst>
              <a:ext uri="{FF2B5EF4-FFF2-40B4-BE49-F238E27FC236}">
                <ns2:creationId id="{7373D98D-BCB4-4B2D-A561-AA5937F5F0D8}"/>
              </a:ext>
            </a:extLst>
          </p:cNvPr>
          <p:cNvSpPr>
            <a:spLocks noGrp="1"/>
          </p:cNvSpPr>
          <p:nvPr/>
        </p:nvSpPr>
        <p:spPr>
          <a:xfrm>
            <a:off x="7397797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0" name="diagram block">
            <a:extLst>
              <a:ext uri="{FF2B5EF4-FFF2-40B4-BE49-F238E27FC236}">
                <ns2:creationId id="{4FB2BD51-1E1D-4F71-86DE-81A08DE4115D}"/>
              </a:ext>
            </a:extLst>
          </p:cNvPr>
          <p:cNvSpPr>
            <a:spLocks noGrp="1"/>
          </p:cNvSpPr>
          <p:nvPr/>
        </p:nvSpPr>
        <p:spPr>
          <a:xfrm>
            <a:off x="7503604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1" name="diagram block">
            <a:extLst>
              <a:ext uri="{FF2B5EF4-FFF2-40B4-BE49-F238E27FC236}">
                <ns2:creationId id="{E6B1D942-2261-47C7-B844-24A3515C7DA2}"/>
              </a:ext>
            </a:extLst>
          </p:cNvPr>
          <p:cNvSpPr>
            <a:spLocks noGrp="1"/>
          </p:cNvSpPr>
          <p:nvPr/>
        </p:nvSpPr>
        <p:spPr>
          <a:xfrm>
            <a:off x="7609410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2" name="diagram block">
            <a:extLst>
              <a:ext uri="{FF2B5EF4-FFF2-40B4-BE49-F238E27FC236}">
                <ns2:creationId id="{3B034F28-99DD-4859-B887-E77C89516140}"/>
              </a:ext>
            </a:extLst>
          </p:cNvPr>
          <p:cNvSpPr>
            <a:spLocks noGrp="1"/>
          </p:cNvSpPr>
          <p:nvPr/>
        </p:nvSpPr>
        <p:spPr>
          <a:xfrm>
            <a:off x="7715216" y="2565153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3" name="diagram block">
            <a:extLst>
              <a:ext uri="{FF2B5EF4-FFF2-40B4-BE49-F238E27FC236}">
                <ns2:creationId id="{280A8E35-089D-4D49-A35D-99EDECEF3307}"/>
              </a:ext>
            </a:extLst>
          </p:cNvPr>
          <p:cNvSpPr>
            <a:spLocks noGrp="1"/>
          </p:cNvSpPr>
          <p:nvPr/>
        </p:nvSpPr>
        <p:spPr>
          <a:xfrm>
            <a:off x="7080379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4" name="diagram block">
            <a:extLst>
              <a:ext uri="{FF2B5EF4-FFF2-40B4-BE49-F238E27FC236}">
                <ns2:creationId id="{74549402-8D0A-4368-9ACA-84CB7E65371B}"/>
              </a:ext>
            </a:extLst>
          </p:cNvPr>
          <p:cNvSpPr>
            <a:spLocks noGrp="1"/>
          </p:cNvSpPr>
          <p:nvPr/>
        </p:nvSpPr>
        <p:spPr>
          <a:xfrm>
            <a:off x="7186185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5" name="diagram block">
            <a:extLst>
              <a:ext uri="{FF2B5EF4-FFF2-40B4-BE49-F238E27FC236}">
                <ns2:creationId id="{53CFCD4D-46CD-4836-8838-6049C99A9822}"/>
              </a:ext>
            </a:extLst>
          </p:cNvPr>
          <p:cNvSpPr>
            <a:spLocks noGrp="1"/>
          </p:cNvSpPr>
          <p:nvPr/>
        </p:nvSpPr>
        <p:spPr>
          <a:xfrm>
            <a:off x="7291991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6" name="diagram block">
            <a:extLst>
              <a:ext uri="{FF2B5EF4-FFF2-40B4-BE49-F238E27FC236}">
                <ns2:creationId id="{D8607463-F7D8-40DC-A468-18340CE54205}"/>
              </a:ext>
            </a:extLst>
          </p:cNvPr>
          <p:cNvSpPr>
            <a:spLocks noGrp="1"/>
          </p:cNvSpPr>
          <p:nvPr/>
        </p:nvSpPr>
        <p:spPr>
          <a:xfrm>
            <a:off x="7397797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7" name="diagram block">
            <a:extLst>
              <a:ext uri="{FF2B5EF4-FFF2-40B4-BE49-F238E27FC236}">
                <ns2:creationId id="{25021C7B-594C-4ADC-B222-59CC1BBF16F6}"/>
              </a:ext>
            </a:extLst>
          </p:cNvPr>
          <p:cNvSpPr>
            <a:spLocks noGrp="1"/>
          </p:cNvSpPr>
          <p:nvPr/>
        </p:nvSpPr>
        <p:spPr>
          <a:xfrm>
            <a:off x="7503604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8" name="diagram block">
            <a:extLst>
              <a:ext uri="{FF2B5EF4-FFF2-40B4-BE49-F238E27FC236}">
                <ns2:creationId id="{17D68D7A-8AA1-4633-8825-7B86D519B7D5}"/>
              </a:ext>
            </a:extLst>
          </p:cNvPr>
          <p:cNvSpPr>
            <a:spLocks noGrp="1"/>
          </p:cNvSpPr>
          <p:nvPr/>
        </p:nvSpPr>
        <p:spPr>
          <a:xfrm>
            <a:off x="7609410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499" name="diagram block">
            <a:extLst>
              <a:ext uri="{FF2B5EF4-FFF2-40B4-BE49-F238E27FC236}">
                <ns2:creationId id="{DEBC8979-D931-466B-A5A2-23A51AA5BB10}"/>
              </a:ext>
            </a:extLst>
          </p:cNvPr>
          <p:cNvSpPr>
            <a:spLocks noGrp="1"/>
          </p:cNvSpPr>
          <p:nvPr/>
        </p:nvSpPr>
        <p:spPr>
          <a:xfrm>
            <a:off x="7715216" y="2670959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0" name="diagram block">
            <a:extLst>
              <a:ext uri="{FF2B5EF4-FFF2-40B4-BE49-F238E27FC236}">
                <ns2:creationId id="{172F20FC-E32A-40FC-B9F3-3539EB9409EA}"/>
              </a:ext>
            </a:extLst>
          </p:cNvPr>
          <p:cNvSpPr>
            <a:spLocks noGrp="1"/>
          </p:cNvSpPr>
          <p:nvPr/>
        </p:nvSpPr>
        <p:spPr>
          <a:xfrm>
            <a:off x="7080379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1" name="diagram block">
            <a:extLst>
              <a:ext uri="{FF2B5EF4-FFF2-40B4-BE49-F238E27FC236}">
                <ns2:creationId id="{5AF5F7DE-7124-4508-9558-2CA169889838}"/>
              </a:ext>
            </a:extLst>
          </p:cNvPr>
          <p:cNvSpPr>
            <a:spLocks noGrp="1"/>
          </p:cNvSpPr>
          <p:nvPr/>
        </p:nvSpPr>
        <p:spPr>
          <a:xfrm>
            <a:off x="7186185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2" name="diagram block">
            <a:extLst>
              <a:ext uri="{FF2B5EF4-FFF2-40B4-BE49-F238E27FC236}">
                <ns2:creationId id="{0DF9EF17-25C4-4BB2-908A-3BC22A01B116}"/>
              </a:ext>
            </a:extLst>
          </p:cNvPr>
          <p:cNvSpPr>
            <a:spLocks noGrp="1"/>
          </p:cNvSpPr>
          <p:nvPr/>
        </p:nvSpPr>
        <p:spPr>
          <a:xfrm>
            <a:off x="7291991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3" name="diagram block">
            <a:extLst>
              <a:ext uri="{FF2B5EF4-FFF2-40B4-BE49-F238E27FC236}">
                <ns2:creationId id="{78C246E9-1EDD-40C1-959C-CCA2854333AA}"/>
              </a:ext>
            </a:extLst>
          </p:cNvPr>
          <p:cNvSpPr>
            <a:spLocks noGrp="1"/>
          </p:cNvSpPr>
          <p:nvPr/>
        </p:nvSpPr>
        <p:spPr>
          <a:xfrm>
            <a:off x="7397797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4" name="diagram block">
            <a:extLst>
              <a:ext uri="{FF2B5EF4-FFF2-40B4-BE49-F238E27FC236}">
                <ns2:creationId id="{441508D5-54E2-40DB-A912-957951A8DC8D}"/>
              </a:ext>
            </a:extLst>
          </p:cNvPr>
          <p:cNvSpPr>
            <a:spLocks noGrp="1"/>
          </p:cNvSpPr>
          <p:nvPr/>
        </p:nvSpPr>
        <p:spPr>
          <a:xfrm>
            <a:off x="7503604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5" name="diagram block">
            <a:extLst>
              <a:ext uri="{FF2B5EF4-FFF2-40B4-BE49-F238E27FC236}">
                <ns2:creationId id="{FFCDDA5F-4106-4151-819B-C4261B7B5C05}"/>
              </a:ext>
            </a:extLst>
          </p:cNvPr>
          <p:cNvSpPr>
            <a:spLocks noGrp="1"/>
          </p:cNvSpPr>
          <p:nvPr/>
        </p:nvSpPr>
        <p:spPr>
          <a:xfrm>
            <a:off x="7609410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6" name="diagram block">
            <a:extLst>
              <a:ext uri="{FF2B5EF4-FFF2-40B4-BE49-F238E27FC236}">
                <ns2:creationId id="{6CCC44EE-319A-4728-B11E-BCDEBA62CD6C}"/>
              </a:ext>
            </a:extLst>
          </p:cNvPr>
          <p:cNvSpPr>
            <a:spLocks noGrp="1"/>
          </p:cNvSpPr>
          <p:nvPr/>
        </p:nvSpPr>
        <p:spPr>
          <a:xfrm>
            <a:off x="7715216" y="2776765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7" name="diagram block">
            <a:extLst>
              <a:ext uri="{FF2B5EF4-FFF2-40B4-BE49-F238E27FC236}">
                <ns2:creationId id="{A0B5B799-4522-415A-B953-C50A6517554E}"/>
              </a:ext>
            </a:extLst>
          </p:cNvPr>
          <p:cNvSpPr>
            <a:spLocks noGrp="1"/>
          </p:cNvSpPr>
          <p:nvPr/>
        </p:nvSpPr>
        <p:spPr>
          <a:xfrm>
            <a:off x="7080379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8" name="diagram block">
            <a:extLst>
              <a:ext uri="{FF2B5EF4-FFF2-40B4-BE49-F238E27FC236}">
                <ns2:creationId id="{04D70E8A-9F70-46FB-9B59-853FB3DAC363}"/>
              </a:ext>
            </a:extLst>
          </p:cNvPr>
          <p:cNvSpPr>
            <a:spLocks noGrp="1"/>
          </p:cNvSpPr>
          <p:nvPr/>
        </p:nvSpPr>
        <p:spPr>
          <a:xfrm>
            <a:off x="7186185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09" name="diagram block">
            <a:extLst>
              <a:ext uri="{FF2B5EF4-FFF2-40B4-BE49-F238E27FC236}">
                <ns2:creationId id="{0F91047D-4A9B-40C4-B183-8C3A6E883422}"/>
              </a:ext>
            </a:extLst>
          </p:cNvPr>
          <p:cNvSpPr>
            <a:spLocks noGrp="1"/>
          </p:cNvSpPr>
          <p:nvPr/>
        </p:nvSpPr>
        <p:spPr>
          <a:xfrm>
            <a:off x="7291991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0" name="diagram block">
            <a:extLst>
              <a:ext uri="{FF2B5EF4-FFF2-40B4-BE49-F238E27FC236}">
                <ns2:creationId id="{6B337F28-953E-4DB7-B9D8-C1CB3B1E087F}"/>
              </a:ext>
            </a:extLst>
          </p:cNvPr>
          <p:cNvSpPr>
            <a:spLocks noGrp="1"/>
          </p:cNvSpPr>
          <p:nvPr/>
        </p:nvSpPr>
        <p:spPr>
          <a:xfrm>
            <a:off x="7397797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1" name="diagram block">
            <a:extLst>
              <a:ext uri="{FF2B5EF4-FFF2-40B4-BE49-F238E27FC236}">
                <ns2:creationId id="{BB1A297A-5B4E-40D1-832B-D3D7D3FD52CA}"/>
              </a:ext>
            </a:extLst>
          </p:cNvPr>
          <p:cNvSpPr>
            <a:spLocks noGrp="1"/>
          </p:cNvSpPr>
          <p:nvPr/>
        </p:nvSpPr>
        <p:spPr>
          <a:xfrm>
            <a:off x="7503604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2" name="diagram block">
            <a:extLst>
              <a:ext uri="{FF2B5EF4-FFF2-40B4-BE49-F238E27FC236}">
                <ns2:creationId id="{407C36DE-199F-45CA-BFAF-BDD6C16DF71F}"/>
              </a:ext>
            </a:extLst>
          </p:cNvPr>
          <p:cNvSpPr>
            <a:spLocks noGrp="1"/>
          </p:cNvSpPr>
          <p:nvPr/>
        </p:nvSpPr>
        <p:spPr>
          <a:xfrm>
            <a:off x="7609410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3" name="diagram block">
            <a:extLst>
              <a:ext uri="{FF2B5EF4-FFF2-40B4-BE49-F238E27FC236}">
                <ns2:creationId id="{D059CC35-42D3-44F2-9419-C5B22A7E5C6D}"/>
              </a:ext>
            </a:extLst>
          </p:cNvPr>
          <p:cNvSpPr>
            <a:spLocks noGrp="1"/>
          </p:cNvSpPr>
          <p:nvPr/>
        </p:nvSpPr>
        <p:spPr>
          <a:xfrm>
            <a:off x="7715216" y="2882571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4" name="diagram block">
            <a:extLst>
              <a:ext uri="{FF2B5EF4-FFF2-40B4-BE49-F238E27FC236}">
                <ns2:creationId id="{92E41801-77A5-4C73-9DAA-85924395125D}"/>
              </a:ext>
            </a:extLst>
          </p:cNvPr>
          <p:cNvSpPr>
            <a:spLocks noGrp="1"/>
          </p:cNvSpPr>
          <p:nvPr/>
        </p:nvSpPr>
        <p:spPr>
          <a:xfrm>
            <a:off x="7080379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5" name="diagram block">
            <a:extLst>
              <a:ext uri="{FF2B5EF4-FFF2-40B4-BE49-F238E27FC236}">
                <ns2:creationId id="{5AA434E7-69A1-4711-BE04-460CC0A3B55F}"/>
              </a:ext>
            </a:extLst>
          </p:cNvPr>
          <p:cNvSpPr>
            <a:spLocks noGrp="1"/>
          </p:cNvSpPr>
          <p:nvPr/>
        </p:nvSpPr>
        <p:spPr>
          <a:xfrm>
            <a:off x="7186185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6" name="diagram block">
            <a:extLst>
              <a:ext uri="{FF2B5EF4-FFF2-40B4-BE49-F238E27FC236}">
                <ns2:creationId id="{E1DC40D7-0F1B-4B6D-8583-49F2DAE9EF1A}"/>
              </a:ext>
            </a:extLst>
          </p:cNvPr>
          <p:cNvSpPr>
            <a:spLocks noGrp="1"/>
          </p:cNvSpPr>
          <p:nvPr/>
        </p:nvSpPr>
        <p:spPr>
          <a:xfrm>
            <a:off x="7291991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7" name="diagram block">
            <a:extLst>
              <a:ext uri="{FF2B5EF4-FFF2-40B4-BE49-F238E27FC236}">
                <ns2:creationId id="{5D972EBA-F213-4505-B1F8-DD60172A1167}"/>
              </a:ext>
            </a:extLst>
          </p:cNvPr>
          <p:cNvSpPr>
            <a:spLocks noGrp="1"/>
          </p:cNvSpPr>
          <p:nvPr/>
        </p:nvSpPr>
        <p:spPr>
          <a:xfrm>
            <a:off x="7397797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8" name="diagram block">
            <a:extLst>
              <a:ext uri="{FF2B5EF4-FFF2-40B4-BE49-F238E27FC236}">
                <ns2:creationId id="{F560E03B-6C49-41D9-8859-F9B7346D7FED}"/>
              </a:ext>
            </a:extLst>
          </p:cNvPr>
          <p:cNvSpPr>
            <a:spLocks noGrp="1"/>
          </p:cNvSpPr>
          <p:nvPr/>
        </p:nvSpPr>
        <p:spPr>
          <a:xfrm>
            <a:off x="7503604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19" name="diagram block">
            <a:extLst>
              <a:ext uri="{FF2B5EF4-FFF2-40B4-BE49-F238E27FC236}">
                <ns2:creationId id="{64478019-1446-46FD-BA44-772A8ADEE107}"/>
              </a:ext>
            </a:extLst>
          </p:cNvPr>
          <p:cNvSpPr>
            <a:spLocks noGrp="1"/>
          </p:cNvSpPr>
          <p:nvPr/>
        </p:nvSpPr>
        <p:spPr>
          <a:xfrm>
            <a:off x="7609410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20" name="diagram block">
            <a:extLst>
              <a:ext uri="{FF2B5EF4-FFF2-40B4-BE49-F238E27FC236}">
                <ns2:creationId id="{AE57B518-7245-4248-A186-E2922F7CA85F}"/>
              </a:ext>
            </a:extLst>
          </p:cNvPr>
          <p:cNvSpPr>
            <a:spLocks noGrp="1"/>
          </p:cNvSpPr>
          <p:nvPr/>
        </p:nvSpPr>
        <p:spPr>
          <a:xfrm>
            <a:off x="7715216" y="2988378"/>
            <a:ext cx="99096" cy="99096"/>
          </a:xfrm>
          <a:prstGeom prst="rect">
            <a:avLst/>
          </a:prstGeom>
          <a:solidFill>
            <a:srgbClr val="FFBE39"/>
          </a:solidFill>
          <a:ln w="2839">
            <a:solidFill>
              <a:srgbClr val="F0A71C"/>
            </a:solidFill>
            <a:prstDash val="solid"/>
          </a:ln>
        </p:spPr>
      </p:sp>
      <p:sp>
        <p:nvSpPr>
          <p:cNvPr id="521" name="diagram block">
            <a:extLst>
              <a:ext uri="{FF2B5EF4-FFF2-40B4-BE49-F238E27FC236}">
                <ns2:creationId id="{6134CD99-5A4F-4974-92C4-95D907B2900C}"/>
              </a:ext>
            </a:extLst>
          </p:cNvPr>
          <p:cNvSpPr>
            <a:spLocks noGrp="1"/>
          </p:cNvSpPr>
          <p:nvPr/>
        </p:nvSpPr>
        <p:spPr>
          <a:xfrm>
            <a:off x="7895860" y="686449"/>
            <a:ext cx="908384" cy="1310964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4129">
            <a:solidFill>
              <a:srgbClr val="CBDFEE"/>
            </a:solidFill>
            <a:prstDash val="solid"/>
          </a:ln>
        </p:spPr>
      </p:sp>
      <p:sp>
        <p:nvSpPr>
          <p:cNvPr id="522" name="diagram block">
            <a:extLst>
              <a:ext uri="{FF2B5EF4-FFF2-40B4-BE49-F238E27FC236}">
                <ns2:creationId id="{8E996823-CDF0-4606-BEED-7C59232A725C}"/>
              </a:ext>
            </a:extLst>
          </p:cNvPr>
          <p:cNvSpPr>
            <a:spLocks noGrp="1"/>
          </p:cNvSpPr>
          <p:nvPr/>
        </p:nvSpPr>
        <p:spPr>
          <a:xfrm>
            <a:off x="7962957" y="758707"/>
            <a:ext cx="129032" cy="129032"/>
          </a:xfrm>
          <a:prstGeom prst="rect">
            <a:avLst/>
          </a:prstGeom>
          <a:solidFill>
            <a:srgbClr val="FFBE39"/>
          </a:solidFill>
          <a:ln w="4645">
            <a:solidFill>
              <a:srgbClr val="E8A321"/>
            </a:solidFill>
            <a:prstDash val="solid"/>
          </a:ln>
        </p:spPr>
      </p:sp>
      <p:sp>
        <p:nvSpPr>
          <p:cNvPr id="523" name="Latent token&#10;(48-D)">
            <a:extLst>
              <a:ext uri="{FF2B5EF4-FFF2-40B4-BE49-F238E27FC236}">
                <ns2:creationId id="{CFC050E8-1FDF-4904-B4CD-55DF92FB8E38}"/>
              </a:ext>
            </a:extLst>
          </p:cNvPr>
          <p:cNvSpPr>
            <a:spLocks noGrp="1"/>
          </p:cNvSpPr>
          <p:nvPr/>
        </p:nvSpPr>
        <p:spPr>
          <a:xfrm>
            <a:off x="8138440" y="748385"/>
            <a:ext cx="609030" cy="2270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511"/>
          </a:bodyPr>
          <a:lstStyle>
            <a:def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Latent token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7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(48-D)</a:t>
            </a:r>
          </a:p>
        </p:txBody>
      </p:sp>
      <p:sp>
        <p:nvSpPr>
          <p:cNvPr id="524" name="diagram block">
            <a:extLst>
              <a:ext uri="{FF2B5EF4-FFF2-40B4-BE49-F238E27FC236}">
                <ns2:creationId id="{8E72D385-3D90-419E-9D86-36F2A3A470B3}"/>
              </a:ext>
            </a:extLst>
          </p:cNvPr>
          <p:cNvSpPr>
            <a:spLocks noGrp="1"/>
          </p:cNvSpPr>
          <p:nvPr/>
        </p:nvSpPr>
        <p:spPr>
          <a:xfrm>
            <a:off x="7962957" y="980642"/>
            <a:ext cx="129032" cy="118709"/>
          </a:xfrm>
          <a:prstGeom prst="rect">
            <a:avLst/>
          </a:prstGeom>
          <a:solidFill>
            <a:srgbClr val="FF8156"/>
          </a:solidFill>
          <a:ln w="4645">
            <a:solidFill>
              <a:srgbClr val="F35A36"/>
            </a:solidFill>
            <a:prstDash val="solid"/>
          </a:ln>
        </p:spPr>
      </p:sp>
      <p:sp>
        <p:nvSpPr>
          <p:cNvPr id="525" name="Selected location">
            <a:extLst>
              <a:ext uri="{FF2B5EF4-FFF2-40B4-BE49-F238E27FC236}">
                <ns2:creationId id="{D00F081B-E987-4ACD-BB4B-78EBB671656E}"/>
              </a:ext>
            </a:extLst>
          </p:cNvPr>
          <p:cNvSpPr>
            <a:spLocks noGrp="1"/>
          </p:cNvSpPr>
          <p:nvPr/>
        </p:nvSpPr>
        <p:spPr>
          <a:xfrm>
            <a:off x="8138440" y="985803"/>
            <a:ext cx="614192" cy="1445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913"/>
          </a:bodyPr>
          <a:lstStyle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Selected location</a:t>
            </a:r>
          </a:p>
        </p:txBody>
      </p:sp>
      <p:cxnSp>
        <p:nvCxnSpPr>
          <p:cNvPr id="526" name="native PowerPoint connector">
            <a:extLst>
              <a:ext uri="{FF2B5EF4-FFF2-40B4-BE49-F238E27FC236}">
                <ns2:creationId id="{4CA3CB2A-85A9-4509-B00A-54C4A9FB717A}"/>
              </a:ext>
            </a:extLst>
          </p:cNvPr>
          <p:cNvCxnSpPr/>
          <p:nvPr/>
        </p:nvCxnSpPr>
        <p:spPr>
          <a:xfrm flipH="0" flipV="0">
            <a:off x="7947473" y="1238706"/>
            <a:ext cx="175483" cy="0"/>
          </a:xfrm>
          <a:prstGeom prst="straightConnector1">
            <a:avLst/>
          </a:prstGeom>
          <a:ln w="7742">
            <a:solidFill>
              <a:srgbClr val="071B3C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527" name="Temporal edge&#10;(same position,&#10;same camera only)">
            <a:extLst>
              <a:ext uri="{FF2B5EF4-FFF2-40B4-BE49-F238E27FC236}">
                <ns2:creationId id="{79BFB717-DA2E-4353-BF29-44F5BF1D4621}"/>
              </a:ext>
            </a:extLst>
          </p:cNvPr>
          <p:cNvSpPr>
            <a:spLocks noGrp="1"/>
          </p:cNvSpPr>
          <p:nvPr/>
        </p:nvSpPr>
        <p:spPr>
          <a:xfrm>
            <a:off x="8153924" y="1176770"/>
            <a:ext cx="609030" cy="3303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5743"/>
          </a:bodyPr>
          <a:lstStyle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Temporal edge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(same position,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same camera only)</a:t>
            </a:r>
          </a:p>
        </p:txBody>
      </p:sp>
      <p:cxnSp>
        <p:nvCxnSpPr>
          <p:cNvPr id="528" name="native PowerPoint connector">
            <a:extLst>
              <a:ext uri="{FF2B5EF4-FFF2-40B4-BE49-F238E27FC236}">
                <ns2:creationId id="{409F0C0F-7F87-496B-B27F-6293358A362E}"/>
              </a:ext>
            </a:extLst>
          </p:cNvPr>
          <p:cNvCxnSpPr/>
          <p:nvPr/>
        </p:nvCxnSpPr>
        <p:spPr>
          <a:xfrm flipH="0" flipV="0">
            <a:off x="8035215" y="1486447"/>
            <a:ext cx="0" cy="211612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29" name="native PowerPoint connector">
            <a:extLst>
              <a:ext uri="{FF2B5EF4-FFF2-40B4-BE49-F238E27FC236}">
                <ns2:creationId id="{D876A12B-B0E4-4B76-AB36-EC9EB48E2E77}"/>
              </a:ext>
            </a:extLst>
          </p:cNvPr>
          <p:cNvCxnSpPr/>
          <p:nvPr/>
        </p:nvCxnSpPr>
        <p:spPr>
          <a:xfrm flipH="0" flipV="0">
            <a:off x="7937151" y="1594834"/>
            <a:ext cx="190967" cy="0"/>
          </a:xfrm>
          <a:prstGeom prst="straightConnector1">
            <a:avLst/>
          </a:prstGeom>
          <a:ln w="7742">
            <a:solidFill>
              <a:srgbClr val="071B3C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30" name="8 spatial neighbors&#10;(same time)">
            <a:extLst>
              <a:ext uri="{FF2B5EF4-FFF2-40B4-BE49-F238E27FC236}">
                <ns2:creationId id="{A6C12CEC-B697-44BF-856D-86C86B3291A1}"/>
              </a:ext>
            </a:extLst>
          </p:cNvPr>
          <p:cNvSpPr>
            <a:spLocks noGrp="1"/>
          </p:cNvSpPr>
          <p:nvPr/>
        </p:nvSpPr>
        <p:spPr>
          <a:xfrm>
            <a:off x="8153924" y="1548382"/>
            <a:ext cx="614192" cy="221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86081"/>
          </a:bodyPr>
          <a:lstStyle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spatial neighbors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(same time)</a:t>
            </a:r>
          </a:p>
        </p:txBody>
      </p:sp>
      <p:cxnSp>
        <p:nvCxnSpPr>
          <p:cNvPr id="531" name="native PowerPoint connector">
            <a:extLst>
              <a:ext uri="{FF2B5EF4-FFF2-40B4-BE49-F238E27FC236}">
                <ns2:creationId id="{80CB2F1F-D467-4DD5-9D2D-671BFAF4187D}"/>
              </a:ext>
            </a:extLst>
          </p:cNvPr>
          <p:cNvCxnSpPr/>
          <p:nvPr/>
        </p:nvCxnSpPr>
        <p:spPr>
          <a:xfrm flipH="0" flipV="0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cxnSp>
        <p:nvCxnSpPr>
          <p:cNvPr id="532" name="native PowerPoint connector">
            <a:extLst>
              <a:ext uri="{FF2B5EF4-FFF2-40B4-BE49-F238E27FC236}">
                <ns2:creationId id="{F442F16E-6DCA-4040-AC61-898AD0E5CD56}"/>
              </a:ext>
            </a:extLst>
          </p:cNvPr>
          <p:cNvCxnSpPr/>
          <p:nvPr/>
        </p:nvCxnSpPr>
        <p:spPr>
          <a:xfrm flipH="1" flipV="0">
            <a:off x="7968118" y="1811607"/>
            <a:ext cx="98064" cy="98064"/>
          </a:xfrm>
          <a:prstGeom prst="straightConnector1">
            <a:avLst/>
          </a:prstGeom>
          <a:ln w="12387">
            <a:solidFill>
              <a:srgbClr val="F31627"/>
            </a:solidFill>
            <a:prstDash val="solid"/>
          </a:ln>
        </p:spPr>
      </p:cxnSp>
      <p:sp>
        <p:nvSpPr>
          <p:cNvPr id="533" name="No cross-camera&#10;edges">
            <a:extLst>
              <a:ext uri="{FF2B5EF4-FFF2-40B4-BE49-F238E27FC236}">
                <ns2:creationId id="{CE2DE10E-FF15-4097-B2C4-7E86F66EB60D}"/>
              </a:ext>
            </a:extLst>
          </p:cNvPr>
          <p:cNvSpPr>
            <a:spLocks noGrp="1"/>
          </p:cNvSpPr>
          <p:nvPr/>
        </p:nvSpPr>
        <p:spPr>
          <a:xfrm>
            <a:off x="8153924" y="1806446"/>
            <a:ext cx="609030" cy="21161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845"/>
          </a:bodyPr>
          <a:lstStyle>
            <a:def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No cross-camera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edges</a:t>
            </a:r>
          </a:p>
        </p:txBody>
      </p:sp>
      <p:sp>
        <p:nvSpPr>
          <p:cNvPr id="534" name="diagram block">
            <a:extLst>
              <a:ext uri="{FF2B5EF4-FFF2-40B4-BE49-F238E27FC236}">
                <ns2:creationId id="{0453B2D4-36A9-4C73-937F-FDFEC39D55D3}"/>
              </a:ext>
            </a:extLst>
          </p:cNvPr>
          <p:cNvSpPr>
            <a:spLocks noGrp="1"/>
          </p:cNvSpPr>
          <p:nvPr/>
        </p:nvSpPr>
        <p:spPr>
          <a:xfrm>
            <a:off x="7901022" y="2250315"/>
            <a:ext cx="903223" cy="55225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5161">
            <a:solidFill>
              <a:srgbClr val="C3DFF6"/>
            </a:solidFill>
            <a:prstDash val="solid"/>
          </a:ln>
        </p:spPr>
      </p:sp>
      <p:sp>
        <p:nvSpPr>
          <p:cNvPr id="535" name="Each view’s original latent&#10;map is 14 × 14, pooled&#10;with 2 × 2 average pooli">
            <a:extLst>
              <a:ext uri="{FF2B5EF4-FFF2-40B4-BE49-F238E27FC236}">
                <ns2:creationId id="{FEDB4F73-7EFB-4B3A-B00E-631D6A841006}"/>
              </a:ext>
            </a:extLst>
          </p:cNvPr>
          <p:cNvSpPr>
            <a:spLocks noGrp="1"/>
          </p:cNvSpPr>
          <p:nvPr/>
        </p:nvSpPr>
        <p:spPr>
          <a:xfrm>
            <a:off x="7926828" y="2276122"/>
            <a:ext cx="851610" cy="50064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none" lIns="0" tIns="0" rIns="0" bIns="0" anchor="ctr">
            <a:normAutofit fontScale="86081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Each view’s original latent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map is 14 × 14, pooled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with 2 × 2 average pooling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to 7 × 7 (separately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for each view).</a:t>
            </a:r>
          </a:p>
        </p:txBody>
      </p:sp>
      <p:sp>
        <p:nvSpPr>
          <p:cNvPr id="536" name="diagram block">
            <a:extLst>
              <a:ext uri="{FF2B5EF4-FFF2-40B4-BE49-F238E27FC236}">
                <ns2:creationId id="{8CDC2ED7-A267-4A11-9BB7-9D0D79E61A8E}"/>
              </a:ext>
            </a:extLst>
          </p:cNvPr>
          <p:cNvSpPr>
            <a:spLocks noGrp="1"/>
          </p:cNvSpPr>
          <p:nvPr/>
        </p:nvSpPr>
        <p:spPr>
          <a:xfrm>
            <a:off x="6073931" y="3163861"/>
            <a:ext cx="2719991" cy="190967"/>
          </a:xfrm>
          <a:prstGeom prst="roundRect">
            <a:avLst>
              <a:gd name="adj" fmla="val 13514"/>
            </a:avLst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5161">
            <a:solidFill>
              <a:srgbClr val="EDCD8E"/>
            </a:solidFill>
            <a:prstDash val="solid"/>
          </a:ln>
        </p:spPr>
      </p:sp>
      <p:sp>
        <p:nvSpPr>
          <p:cNvPr id="537" name="2 future times × 2 views × 7 × 7 = 196 tokens, 48-D">
            <a:extLst>
              <a:ext uri="{FF2B5EF4-FFF2-40B4-BE49-F238E27FC236}">
                <ns2:creationId id="{06634D7A-F56C-4A1A-9DD4-1AEAE427E16F}"/>
              </a:ext>
            </a:extLst>
          </p:cNvPr>
          <p:cNvSpPr>
            <a:spLocks noGrp="1"/>
          </p:cNvSpPr>
          <p:nvPr/>
        </p:nvSpPr>
        <p:spPr>
          <a:xfrm>
            <a:off x="6099737" y="3189667"/>
            <a:ext cx="2668379" cy="139354"/>
          </a:xfrm>
          <a:prstGeom prst="rect">
            <a:avLst/>
          </a:prstGeom>
          <a:gradFill>
            <a:gsLst>
              <a:gs pos="0">
                <a:srgbClr val="FFF1D0"/>
              </a:gs>
              <a:gs pos="100000">
                <a:srgbClr val="FFF9ED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853" b="1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2 future times × 2 views × 7 × 7 = 196 tokens, 48-D</a:t>
            </a:r>
          </a:p>
        </p:txBody>
      </p:sp>
      <p:sp>
        <p:nvSpPr>
          <p:cNvPr id="538" name="diagram block">
            <a:extLst>
              <a:ext uri="{FF2B5EF4-FFF2-40B4-BE49-F238E27FC236}">
                <ns2:creationId id="{83918E43-7548-48ED-BB8D-F28A5FBFD02B}"/>
              </a:ext>
            </a:extLst>
          </p:cNvPr>
          <p:cNvSpPr>
            <a:spLocks noGrp="1"/>
          </p:cNvSpPr>
          <p:nvPr/>
        </p:nvSpPr>
        <p:spPr>
          <a:xfrm>
            <a:off x="6079092" y="3427086"/>
            <a:ext cx="2719991" cy="28387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88CA0"/>
            </a:solidFill>
            <a:prstDash val="solid"/>
          </a:ln>
        </p:spPr>
      </p:sp>
      <p:sp>
        <p:nvSpPr>
          <p:cNvPr id="539" name="L_st,z = meanᵢ KL(p_teacher(j | i) || p_student(j | i))">
            <a:extLst>
              <a:ext uri="{FF2B5EF4-FFF2-40B4-BE49-F238E27FC236}">
                <ns2:creationId id="{E8DA1C75-B104-4EEC-AD3F-58978DF45DBB}"/>
              </a:ext>
            </a:extLst>
          </p:cNvPr>
          <p:cNvSpPr>
            <a:spLocks noGrp="1"/>
          </p:cNvSpPr>
          <p:nvPr/>
        </p:nvSpPr>
        <p:spPr>
          <a:xfrm>
            <a:off x="6135866" y="3504505"/>
            <a:ext cx="2606443" cy="159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6264"/>
          </a:bodyPr>
          <a:lstStyle>
            <a:def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 = meanᵢ KL(p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teacher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(j | i) || p</a:t>
            </a:r>
            <a:r>
              <a:rPr sz="742" b="0" i="1" baseline="-23000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student</a:t>
            </a:r>
            <a:r>
              <a:rPr sz="1016" b="0" i="1">
                <a:solidFill>
                  <a:srgbClr val="CE1737"/>
                </a:solidFill>
                <a:latin typeface="Times New Roman"/>
                <a:ea typeface="Times New Roman"/>
                <a:cs typeface="Times New Roman"/>
              </a:rPr>
              <a:t>(j | i))</a:t>
            </a:r>
          </a:p>
        </p:txBody>
      </p:sp>
      <p:sp>
        <p:nvSpPr>
          <p:cNvPr id="540" name="8 local spatial neighbors + same-position temporal edge (same camera only).">
            <a:extLst>
              <a:ext uri="{FF2B5EF4-FFF2-40B4-BE49-F238E27FC236}">
                <ns2:creationId id="{388322BB-52E1-4D2D-8865-C70DA668C503}"/>
              </a:ext>
            </a:extLst>
          </p:cNvPr>
          <p:cNvSpPr>
            <a:spLocks noGrp="1"/>
          </p:cNvSpPr>
          <p:nvPr/>
        </p:nvSpPr>
        <p:spPr>
          <a:xfrm>
            <a:off x="6058447" y="3803859"/>
            <a:ext cx="2745798" cy="2374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4493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8 local spatial neighbors + same-position temporal edge (same camera only).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No cross-camera edges.</a:t>
            </a:r>
          </a:p>
        </p:txBody>
      </p:sp>
      <p:sp>
        <p:nvSpPr>
          <p:cNvPr id="541" name="diagram block">
            <a:extLst>
              <a:ext uri="{FF2B5EF4-FFF2-40B4-BE49-F238E27FC236}">
                <ns2:creationId id="{0172DED5-5845-47A7-A6FB-A9D311E5A3BF}"/>
              </a:ext>
            </a:extLst>
          </p:cNvPr>
          <p:cNvSpPr>
            <a:spLocks noGrp="1"/>
          </p:cNvSpPr>
          <p:nvPr/>
        </p:nvSpPr>
        <p:spPr>
          <a:xfrm>
            <a:off x="742335" y="4190954"/>
            <a:ext cx="7814169" cy="289031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FF0F2"/>
              </a:gs>
              <a:gs pos="100000">
                <a:srgbClr val="FFF8F8"/>
              </a:gs>
            </a:gsLst>
            <a:lin ang="5400000"/>
          </a:gradFill>
          <a:ln w="5161">
            <a:solidFill>
              <a:srgbClr val="F66E8F"/>
            </a:solidFill>
            <a:prstDash val="solid"/>
          </a:ln>
        </p:spPr>
      </p:sp>
      <p:sp>
        <p:nvSpPr>
          <p:cNvPr id="542" name="L = αₐ (L_bin,a + βₐ L_temp,a) + λ α_z (L_bin,z + β_z L_st,z)">
            <a:extLst>
              <a:ext uri="{FF2B5EF4-FFF2-40B4-BE49-F238E27FC236}">
                <ns2:creationId id="{78DEED7F-6B4F-4D0A-9AB2-7B751878E04A}"/>
              </a:ext>
            </a:extLst>
          </p:cNvPr>
          <p:cNvSpPr>
            <a:spLocks noGrp="1"/>
          </p:cNvSpPr>
          <p:nvPr/>
        </p:nvSpPr>
        <p:spPr>
          <a:xfrm>
            <a:off x="1568139" y="4252890"/>
            <a:ext cx="6152239" cy="2167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rmAutofit fontScale="97225"/>
          </a:bodyPr>
          <a:lstStyle>
            <a:def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L = αₐ (L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bin,a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βₐ 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temp,a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 + λ α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(L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bin,z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+ β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 L</a:t>
            </a:r>
            <a:r>
              <a:rPr sz="1068" b="0" i="1" baseline="-23000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st,z</a:t>
            </a:r>
            <a:r>
              <a:rPr sz="1463" b="0" i="1">
                <a:solidFill>
                  <a:srgbClr val="061A3C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43" name="diagram block">
            <a:extLst>
              <a:ext uri="{FF2B5EF4-FFF2-40B4-BE49-F238E27FC236}">
                <ns2:creationId id="{4DB81356-FF4A-4BD6-8E01-9DC5A947BBAD}"/>
              </a:ext>
            </a:extLst>
          </p:cNvPr>
          <p:cNvSpPr>
            <a:spLocks noGrp="1"/>
          </p:cNvSpPr>
          <p:nvPr/>
        </p:nvSpPr>
        <p:spPr>
          <a:xfrm>
            <a:off x="308788" y="4541921"/>
            <a:ext cx="4227083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</p:sp>
      <p:sp>
        <p:nvSpPr>
          <p:cNvPr id="544" name="Frozen teacher statistics and temperatures; teacher detached; train student">
            <a:extLst>
              <a:ext uri="{FF2B5EF4-FFF2-40B4-BE49-F238E27FC236}">
                <ns2:creationId id="{93696F98-29A7-4793-BD84-E4146343C7DF}"/>
              </a:ext>
            </a:extLst>
          </p:cNvPr>
          <p:cNvSpPr>
            <a:spLocks noGrp="1"/>
          </p:cNvSpPr>
          <p:nvPr/>
        </p:nvSpPr>
        <p:spPr>
          <a:xfrm>
            <a:off x="344917" y="4578050"/>
            <a:ext cx="4154826" cy="175483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80975"/>
          </a:bodyPr>
          <a:lstStyle>
            <a:def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l"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Frozen teacher statistics and temperatures; teacher detached; train student D and clipping ratios.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11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Relation KL constrains structure, soft-bin anchors absolute values.</a:t>
            </a:r>
          </a:p>
        </p:txBody>
      </p:sp>
      <p:sp>
        <p:nvSpPr>
          <p:cNvPr id="545" name="diagram block">
            <a:extLst>
              <a:ext uri="{FF2B5EF4-FFF2-40B4-BE49-F238E27FC236}">
                <ns2:creationId id="{4EBFC3C7-EB96-42E7-B448-D00A848EB479}"/>
              </a:ext>
            </a:extLst>
          </p:cNvPr>
          <p:cNvSpPr>
            <a:spLocks noGrp="1"/>
          </p:cNvSpPr>
          <p:nvPr/>
        </p:nvSpPr>
        <p:spPr>
          <a:xfrm>
            <a:off x="4737161" y="4541921"/>
            <a:ext cx="4113535" cy="247741"/>
          </a:xfrm>
          <a:prstGeom prst="roundRect">
            <a:avLst>
              <a:gd name="adj" fmla="val 10417"/>
            </a:avLst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5161">
            <a:solidFill>
              <a:srgbClr val="C5DFF6"/>
            </a:solidFill>
            <a:prstDash val="solid"/>
          </a:ln>
        </p:spPr>
      </p:sp>
      <p:sp>
        <p:nvSpPr>
          <p:cNvPr id="546" name="Current evidence: fixed-input fidelity; rollout prediction and closed-loop ">
            <a:extLst>
              <a:ext uri="{FF2B5EF4-FFF2-40B4-BE49-F238E27FC236}">
                <ns2:creationId id="{1E2CD5D5-011E-4BFC-BCF5-AFD73A3C202D}"/>
              </a:ext>
            </a:extLst>
          </p:cNvPr>
          <p:cNvSpPr>
            <a:spLocks noGrp="1"/>
          </p:cNvSpPr>
          <p:nvPr/>
        </p:nvSpPr>
        <p:spPr>
          <a:xfrm>
            <a:off x="4778451" y="4583211"/>
            <a:ext cx="4030955" cy="165161"/>
          </a:xfrm>
          <a:prstGeom prst="rect">
            <a:avLst/>
          </a:prstGeom>
          <a:gradFill>
            <a:gsLst>
              <a:gs pos="0">
                <a:srgbClr val="E6F2FF"/>
              </a:gs>
              <a:gs pos="100000">
                <a:srgbClr val="F5FAFF"/>
              </a:gs>
            </a:gsLst>
            <a:lin ang="5400000"/>
          </a:gradFill>
          <a:ln w="0">
            <a:noFill/>
          </a:ln>
        </p:spPr>
        <p:txBody>
          <a:bodyPr wrap="none" lIns="0" tIns="0" rIns="0" bIns="0" anchor="ctr">
            <a:normAutofit fontScale="100000"/>
          </a:bodyPr>
          <a:lstStyle>
            <a:def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defPPr>
            <a:lvl1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1pPr>
            <a:lvl2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2pPr>
            <a:lvl3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3pPr>
            <a:lvl4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4pPr>
            <a:lvl5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5pPr>
            <a:lvl6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6pPr>
            <a:lvl7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7pPr>
            <a:lvl8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8pPr>
            <a:lvl9pPr algn="ctr"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defRPr>
            </a:pPr>
            <a:r>
              <a:rPr sz="732" b="0" i="0">
                <a:solidFill>
                  <a:srgbClr val="061A3C"/>
                </a:solidFill>
                <a:latin typeface="Arial Narrow"/>
                <a:ea typeface="Arial Narrow"/>
                <a:cs typeface="Arial Narrow"/>
              </a:rPr>
              <a:t>Current evidence: fixed-input fidelity; rollout prediction and closed-loop benefit still under validation.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Temporal / spatial relational KL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411FB628-A2B6-47B2-9BAB-086FCF51F7A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ction: ordered temporal windows">
            <a:extLst>
              <a:ext uri="{FF2B5EF4-FFF2-40B4-BE49-F238E27FC236}">
                <a16:creationId xmlns:a16="http://schemas.microsoft.com/office/drawing/2014/main" id="{59669466-6C53-427B-B4ED-6C46401E697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962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Action: ordered temporal windows</a:t>
            </a:r>
          </a:p>
        </p:txBody>
      </p:sp>
      <p:sp>
        <p:nvSpPr>
          <p:cNvPr id="6" name="diagram block">
            <a:extLst>
              <a:ext uri="{FF2B5EF4-FFF2-40B4-BE49-F238E27FC236}">
                <a16:creationId xmlns:a16="http://schemas.microsoft.com/office/drawing/2014/main" id="{C8EA4C19-E5A1-4F94-BD67-8084C4839D8F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" name="diagram block">
            <a:extLst>
              <a:ext uri="{FF2B5EF4-FFF2-40B4-BE49-F238E27FC236}">
                <a16:creationId xmlns:a16="http://schemas.microsoft.com/office/drawing/2014/main" id="{12F92EAD-E5AB-4D6D-AFF8-E0F35126E1AB}"/>
              </a:ext>
            </a:extLst>
          </p:cNvPr>
          <p:cNvSpPr>
            <a:spLocks noGrp="1"/>
          </p:cNvSpPr>
          <p:nvPr/>
        </p:nvSpPr>
        <p:spPr>
          <a:xfrm>
            <a:off x="942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" name="diagram block">
            <a:extLst>
              <a:ext uri="{FF2B5EF4-FFF2-40B4-BE49-F238E27FC236}">
                <a16:creationId xmlns:a16="http://schemas.microsoft.com/office/drawing/2014/main" id="{35D3A425-655A-4CF5-AC96-DB8385343B42}"/>
              </a:ext>
            </a:extLst>
          </p:cNvPr>
          <p:cNvSpPr>
            <a:spLocks noGrp="1"/>
          </p:cNvSpPr>
          <p:nvPr/>
        </p:nvSpPr>
        <p:spPr>
          <a:xfrm>
            <a:off x="12763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diagram block">
            <a:extLst>
              <a:ext uri="{FF2B5EF4-FFF2-40B4-BE49-F238E27FC236}">
                <a16:creationId xmlns:a16="http://schemas.microsoft.com/office/drawing/2014/main" id="{2F05203D-F118-49BB-A059-FD9378A16E44}"/>
              </a:ext>
            </a:extLst>
          </p:cNvPr>
          <p:cNvSpPr>
            <a:spLocks noGrp="1"/>
          </p:cNvSpPr>
          <p:nvPr/>
        </p:nvSpPr>
        <p:spPr>
          <a:xfrm>
            <a:off x="16097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diagram block">
            <a:extLst>
              <a:ext uri="{FF2B5EF4-FFF2-40B4-BE49-F238E27FC236}">
                <a16:creationId xmlns:a16="http://schemas.microsoft.com/office/drawing/2014/main" id="{5AB8897E-48E7-4E70-A1D2-C10E56B7D648}"/>
              </a:ext>
            </a:extLst>
          </p:cNvPr>
          <p:cNvSpPr>
            <a:spLocks noGrp="1"/>
          </p:cNvSpPr>
          <p:nvPr/>
        </p:nvSpPr>
        <p:spPr>
          <a:xfrm>
            <a:off x="19431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diagram block">
            <a:extLst>
              <a:ext uri="{FF2B5EF4-FFF2-40B4-BE49-F238E27FC236}">
                <a16:creationId xmlns:a16="http://schemas.microsoft.com/office/drawing/2014/main" id="{061D9A9B-31E1-4D59-84EA-42454C748C6D}"/>
              </a:ext>
            </a:extLst>
          </p:cNvPr>
          <p:cNvSpPr>
            <a:spLocks noGrp="1"/>
          </p:cNvSpPr>
          <p:nvPr/>
        </p:nvSpPr>
        <p:spPr>
          <a:xfrm>
            <a:off x="22764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diagram block">
            <a:extLst>
              <a:ext uri="{FF2B5EF4-FFF2-40B4-BE49-F238E27FC236}">
                <a16:creationId xmlns:a16="http://schemas.microsoft.com/office/drawing/2014/main" id="{B881E08D-C186-45CE-AB6A-882A0ECE1BA9}"/>
              </a:ext>
            </a:extLst>
          </p:cNvPr>
          <p:cNvSpPr>
            <a:spLocks noGrp="1"/>
          </p:cNvSpPr>
          <p:nvPr/>
        </p:nvSpPr>
        <p:spPr>
          <a:xfrm>
            <a:off x="260985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diagram block">
            <a:extLst>
              <a:ext uri="{FF2B5EF4-FFF2-40B4-BE49-F238E27FC236}">
                <a16:creationId xmlns:a16="http://schemas.microsoft.com/office/drawing/2014/main" id="{F78F9CFC-3714-4BF1-AF74-1101FA613B66}"/>
              </a:ext>
            </a:extLst>
          </p:cNvPr>
          <p:cNvSpPr>
            <a:spLocks noGrp="1"/>
          </p:cNvSpPr>
          <p:nvPr/>
        </p:nvSpPr>
        <p:spPr>
          <a:xfrm>
            <a:off x="294322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diagram block">
            <a:extLst>
              <a:ext uri="{FF2B5EF4-FFF2-40B4-BE49-F238E27FC236}">
                <a16:creationId xmlns:a16="http://schemas.microsoft.com/office/drawing/2014/main" id="{5963F57D-B761-48BE-BC38-27DA2272611E}"/>
              </a:ext>
            </a:extLst>
          </p:cNvPr>
          <p:cNvSpPr>
            <a:spLocks noGrp="1"/>
          </p:cNvSpPr>
          <p:nvPr/>
        </p:nvSpPr>
        <p:spPr>
          <a:xfrm>
            <a:off x="3276600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diagram block">
            <a:extLst>
              <a:ext uri="{FF2B5EF4-FFF2-40B4-BE49-F238E27FC236}">
                <a16:creationId xmlns:a16="http://schemas.microsoft.com/office/drawing/2014/main" id="{56DFA513-32FE-456C-872C-54E64635EDBC}"/>
              </a:ext>
            </a:extLst>
          </p:cNvPr>
          <p:cNvSpPr>
            <a:spLocks noGrp="1"/>
          </p:cNvSpPr>
          <p:nvPr/>
        </p:nvSpPr>
        <p:spPr>
          <a:xfrm>
            <a:off x="3609975" y="1276350"/>
            <a:ext cx="285750" cy="2762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10 steps × 6 motor dimensions">
            <a:extLst>
              <a:ext uri="{FF2B5EF4-FFF2-40B4-BE49-F238E27FC236}">
                <a16:creationId xmlns:a16="http://schemas.microsoft.com/office/drawing/2014/main" id="{E49E327B-3084-4511-9DA7-C93690011C59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35337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 steps × 6 motor dimensions</a:t>
            </a:r>
          </a:p>
        </p:txBody>
      </p:sp>
      <p:cxnSp>
        <p:nvCxnSpPr>
          <p:cNvPr id="17" name="diagram connector">
            <a:extLst>
              <a:ext uri="{FF2B5EF4-FFF2-40B4-BE49-F238E27FC236}">
                <a16:creationId xmlns:a16="http://schemas.microsoft.com/office/drawing/2014/main" id="{6890D646-F940-4B68-8AF1-127767197C17}"/>
              </a:ext>
            </a:extLst>
          </p:cNvPr>
          <p:cNvCxnSpPr/>
          <p:nvPr/>
        </p:nvCxnSpPr>
        <p:spPr>
          <a:xfrm>
            <a:off x="2314575" y="1943100"/>
            <a:ext cx="0" cy="295275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8" name="[a₁,a₂,a₃]   [a₂,a₃,a₄]  …&#10;8 ordered tokens × 18 features">
            <a:extLst>
              <a:ext uri="{FF2B5EF4-FFF2-40B4-BE49-F238E27FC236}">
                <a16:creationId xmlns:a16="http://schemas.microsoft.com/office/drawing/2014/main" id="{B162DF4C-1EB1-4241-9755-ED12BC5A2C5F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486150" cy="695325"/>
          </a:xfrm>
          <a:prstGeom prst="rect">
            <a:avLst/>
          </a:prstGeom>
          <a:solidFill>
            <a:srgbClr val="E5F5F4"/>
          </a:solidFill>
          <a:ln w="11430">
            <a:solidFill>
              <a:srgbClr val="72B4B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[a₁,a₂,a₃]   [a₂,a₃,a₄]  …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8 ordered tokens × 18 features</a:t>
            </a:r>
          </a:p>
        </p:txBody>
      </p:sp>
      <p:sp>
        <p:nvSpPr>
          <p:cNvPr id="19" name="Neighbors: all other windows&#10;Self-pairs masked">
            <a:extLst>
              <a:ext uri="{FF2B5EF4-FFF2-40B4-BE49-F238E27FC236}">
                <a16:creationId xmlns:a16="http://schemas.microsoft.com/office/drawing/2014/main" id="{D4304640-07F9-4A82-9AF7-C848FA9819E2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34861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Neighbors: all other windows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Self-pairs masked</a:t>
            </a:r>
          </a:p>
        </p:txBody>
      </p:sp>
      <p:sp>
        <p:nvSpPr>
          <p:cNvPr id="20" name="Latent: spatial + temporal graph">
            <a:extLst>
              <a:ext uri="{FF2B5EF4-FFF2-40B4-BE49-F238E27FC236}">
                <a16:creationId xmlns:a16="http://schemas.microsoft.com/office/drawing/2014/main" id="{72DFEF4E-7146-4551-90FC-722BDC0CC111}"/>
              </a:ext>
            </a:extLst>
          </p:cNvPr>
          <p:cNvSpPr>
            <a:spLocks noGrp="1"/>
          </p:cNvSpPr>
          <p:nvPr/>
        </p:nvSpPr>
        <p:spPr>
          <a:xfrm>
            <a:off x="4648200" y="838200"/>
            <a:ext cx="3886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Latent: spatial + temporal graph</a:t>
            </a:r>
          </a:p>
        </p:txBody>
      </p:sp>
      <p:sp>
        <p:nvSpPr>
          <p:cNvPr id="21" name="2 future times × 2 views × 7 × 7&#10;196 tokens × 48 featur">
            <a:extLst>
              <a:ext uri="{FF2B5EF4-FFF2-40B4-BE49-F238E27FC236}">
                <a16:creationId xmlns:a16="http://schemas.microsoft.com/office/drawing/2014/main" id="{7646156C-7163-4544-83D1-4D9A33235AAC}"/>
              </a:ext>
            </a:extLst>
          </p:cNvPr>
          <p:cNvSpPr>
            <a:spLocks noGrp="1"/>
          </p:cNvSpPr>
          <p:nvPr/>
        </p:nvSpPr>
        <p:spPr>
          <a:xfrm>
            <a:off x="4648200" y="1190625"/>
            <a:ext cx="3886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 future times × 2 views × 7 × 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196 tokens × 48 features</a:t>
            </a:r>
          </a:p>
        </p:txBody>
      </p:sp>
      <p:sp>
        <p:nvSpPr>
          <p:cNvPr id="22" name="diagram block">
            <a:extLst>
              <a:ext uri="{FF2B5EF4-FFF2-40B4-BE49-F238E27FC236}">
                <a16:creationId xmlns:a16="http://schemas.microsoft.com/office/drawing/2014/main" id="{5C299FB0-9DE5-46DC-AA1F-A2ABBC4A6674}"/>
              </a:ext>
            </a:extLst>
          </p:cNvPr>
          <p:cNvSpPr>
            <a:spLocks noGrp="1"/>
          </p:cNvSpPr>
          <p:nvPr/>
        </p:nvSpPr>
        <p:spPr>
          <a:xfrm>
            <a:off x="46672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diagram block">
            <a:extLst>
              <a:ext uri="{FF2B5EF4-FFF2-40B4-BE49-F238E27FC236}">
                <a16:creationId xmlns:a16="http://schemas.microsoft.com/office/drawing/2014/main" id="{0277D500-4A75-4A79-8FFB-F28CCDA25B35}"/>
              </a:ext>
            </a:extLst>
          </p:cNvPr>
          <p:cNvSpPr>
            <a:spLocks noGrp="1"/>
          </p:cNvSpPr>
          <p:nvPr/>
        </p:nvSpPr>
        <p:spPr>
          <a:xfrm>
            <a:off x="48768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diagram block">
            <a:extLst>
              <a:ext uri="{FF2B5EF4-FFF2-40B4-BE49-F238E27FC236}">
                <a16:creationId xmlns:a16="http://schemas.microsoft.com/office/drawing/2014/main" id="{D62F5704-CB85-439B-A0CC-6811BCE28745}"/>
              </a:ext>
            </a:extLst>
          </p:cNvPr>
          <p:cNvSpPr>
            <a:spLocks noGrp="1"/>
          </p:cNvSpPr>
          <p:nvPr/>
        </p:nvSpPr>
        <p:spPr>
          <a:xfrm>
            <a:off x="50863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diagram block">
            <a:extLst>
              <a:ext uri="{FF2B5EF4-FFF2-40B4-BE49-F238E27FC236}">
                <a16:creationId xmlns:a16="http://schemas.microsoft.com/office/drawing/2014/main" id="{627864E3-47CA-43FE-9203-4D773CBEBC29}"/>
              </a:ext>
            </a:extLst>
          </p:cNvPr>
          <p:cNvSpPr>
            <a:spLocks noGrp="1"/>
          </p:cNvSpPr>
          <p:nvPr/>
        </p:nvSpPr>
        <p:spPr>
          <a:xfrm>
            <a:off x="52959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diagram block">
            <a:extLst>
              <a:ext uri="{FF2B5EF4-FFF2-40B4-BE49-F238E27FC236}">
                <a16:creationId xmlns:a16="http://schemas.microsoft.com/office/drawing/2014/main" id="{C38C1028-CB9E-42EF-80E1-D7637813D175}"/>
              </a:ext>
            </a:extLst>
          </p:cNvPr>
          <p:cNvSpPr>
            <a:spLocks noGrp="1"/>
          </p:cNvSpPr>
          <p:nvPr/>
        </p:nvSpPr>
        <p:spPr>
          <a:xfrm>
            <a:off x="55054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diagram block">
            <a:extLst>
              <a:ext uri="{FF2B5EF4-FFF2-40B4-BE49-F238E27FC236}">
                <a16:creationId xmlns:a16="http://schemas.microsoft.com/office/drawing/2014/main" id="{B7CAF79A-C913-4E8C-A607-F55A025EFAD5}"/>
              </a:ext>
            </a:extLst>
          </p:cNvPr>
          <p:cNvSpPr>
            <a:spLocks noGrp="1"/>
          </p:cNvSpPr>
          <p:nvPr/>
        </p:nvSpPr>
        <p:spPr>
          <a:xfrm>
            <a:off x="571500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diagram block">
            <a:extLst>
              <a:ext uri="{FF2B5EF4-FFF2-40B4-BE49-F238E27FC236}">
                <a16:creationId xmlns:a16="http://schemas.microsoft.com/office/drawing/2014/main" id="{DAF82843-AE13-4E33-9023-85326C1B938F}"/>
              </a:ext>
            </a:extLst>
          </p:cNvPr>
          <p:cNvSpPr>
            <a:spLocks noGrp="1"/>
          </p:cNvSpPr>
          <p:nvPr/>
        </p:nvSpPr>
        <p:spPr>
          <a:xfrm>
            <a:off x="5924550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diagram block">
            <a:extLst>
              <a:ext uri="{FF2B5EF4-FFF2-40B4-BE49-F238E27FC236}">
                <a16:creationId xmlns:a16="http://schemas.microsoft.com/office/drawing/2014/main" id="{C3AE6FC3-F960-4DF8-9640-FB78737BED77}"/>
              </a:ext>
            </a:extLst>
          </p:cNvPr>
          <p:cNvSpPr>
            <a:spLocks noGrp="1"/>
          </p:cNvSpPr>
          <p:nvPr/>
        </p:nvSpPr>
        <p:spPr>
          <a:xfrm>
            <a:off x="46672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diagram block">
            <a:extLst>
              <a:ext uri="{FF2B5EF4-FFF2-40B4-BE49-F238E27FC236}">
                <a16:creationId xmlns:a16="http://schemas.microsoft.com/office/drawing/2014/main" id="{D7F20901-3686-4013-B95E-42C5E7957FA0}"/>
              </a:ext>
            </a:extLst>
          </p:cNvPr>
          <p:cNvSpPr>
            <a:spLocks noGrp="1"/>
          </p:cNvSpPr>
          <p:nvPr/>
        </p:nvSpPr>
        <p:spPr>
          <a:xfrm>
            <a:off x="48768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1" name="diagram block">
            <a:extLst>
              <a:ext uri="{FF2B5EF4-FFF2-40B4-BE49-F238E27FC236}">
                <a16:creationId xmlns:a16="http://schemas.microsoft.com/office/drawing/2014/main" id="{1ACCD08B-FDE5-428D-AEAC-7C04B8923B5A}"/>
              </a:ext>
            </a:extLst>
          </p:cNvPr>
          <p:cNvSpPr>
            <a:spLocks noGrp="1"/>
          </p:cNvSpPr>
          <p:nvPr/>
        </p:nvSpPr>
        <p:spPr>
          <a:xfrm>
            <a:off x="50863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diagram block">
            <a:extLst>
              <a:ext uri="{FF2B5EF4-FFF2-40B4-BE49-F238E27FC236}">
                <a16:creationId xmlns:a16="http://schemas.microsoft.com/office/drawing/2014/main" id="{EC5BDE5F-4F08-4943-9A7E-E1CC473907D6}"/>
              </a:ext>
            </a:extLst>
          </p:cNvPr>
          <p:cNvSpPr>
            <a:spLocks noGrp="1"/>
          </p:cNvSpPr>
          <p:nvPr/>
        </p:nvSpPr>
        <p:spPr>
          <a:xfrm>
            <a:off x="52959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diagram block">
            <a:extLst>
              <a:ext uri="{FF2B5EF4-FFF2-40B4-BE49-F238E27FC236}">
                <a16:creationId xmlns:a16="http://schemas.microsoft.com/office/drawing/2014/main" id="{4EADB4C4-993F-4AEE-97AA-05AFCE000C28}"/>
              </a:ext>
            </a:extLst>
          </p:cNvPr>
          <p:cNvSpPr>
            <a:spLocks noGrp="1"/>
          </p:cNvSpPr>
          <p:nvPr/>
        </p:nvSpPr>
        <p:spPr>
          <a:xfrm>
            <a:off x="55054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diagram block">
            <a:extLst>
              <a:ext uri="{FF2B5EF4-FFF2-40B4-BE49-F238E27FC236}">
                <a16:creationId xmlns:a16="http://schemas.microsoft.com/office/drawing/2014/main" id="{9CD2327A-34CB-4548-872D-429C5D7F6BDC}"/>
              </a:ext>
            </a:extLst>
          </p:cNvPr>
          <p:cNvSpPr>
            <a:spLocks noGrp="1"/>
          </p:cNvSpPr>
          <p:nvPr/>
        </p:nvSpPr>
        <p:spPr>
          <a:xfrm>
            <a:off x="571500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diagram block">
            <a:extLst>
              <a:ext uri="{FF2B5EF4-FFF2-40B4-BE49-F238E27FC236}">
                <a16:creationId xmlns:a16="http://schemas.microsoft.com/office/drawing/2014/main" id="{3713179C-A900-4F1A-827A-F8F15E1E7A72}"/>
              </a:ext>
            </a:extLst>
          </p:cNvPr>
          <p:cNvSpPr>
            <a:spLocks noGrp="1"/>
          </p:cNvSpPr>
          <p:nvPr/>
        </p:nvSpPr>
        <p:spPr>
          <a:xfrm>
            <a:off x="5924550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diagram block">
            <a:extLst>
              <a:ext uri="{FF2B5EF4-FFF2-40B4-BE49-F238E27FC236}">
                <a16:creationId xmlns:a16="http://schemas.microsoft.com/office/drawing/2014/main" id="{1836D159-7302-496A-A64A-91D1E56FE2F1}"/>
              </a:ext>
            </a:extLst>
          </p:cNvPr>
          <p:cNvSpPr>
            <a:spLocks noGrp="1"/>
          </p:cNvSpPr>
          <p:nvPr/>
        </p:nvSpPr>
        <p:spPr>
          <a:xfrm>
            <a:off x="46672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diagram block">
            <a:extLst>
              <a:ext uri="{FF2B5EF4-FFF2-40B4-BE49-F238E27FC236}">
                <a16:creationId xmlns:a16="http://schemas.microsoft.com/office/drawing/2014/main" id="{5D15F292-7BEA-4C8A-B7E3-6603684C6FAD}"/>
              </a:ext>
            </a:extLst>
          </p:cNvPr>
          <p:cNvSpPr>
            <a:spLocks noGrp="1"/>
          </p:cNvSpPr>
          <p:nvPr/>
        </p:nvSpPr>
        <p:spPr>
          <a:xfrm>
            <a:off x="48768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diagram block">
            <a:extLst>
              <a:ext uri="{FF2B5EF4-FFF2-40B4-BE49-F238E27FC236}">
                <a16:creationId xmlns:a16="http://schemas.microsoft.com/office/drawing/2014/main" id="{3EFB7CE9-ECC9-43C5-AE3F-EB57414CC3EC}"/>
              </a:ext>
            </a:extLst>
          </p:cNvPr>
          <p:cNvSpPr>
            <a:spLocks noGrp="1"/>
          </p:cNvSpPr>
          <p:nvPr/>
        </p:nvSpPr>
        <p:spPr>
          <a:xfrm>
            <a:off x="50863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diagram block">
            <a:extLst>
              <a:ext uri="{FF2B5EF4-FFF2-40B4-BE49-F238E27FC236}">
                <a16:creationId xmlns:a16="http://schemas.microsoft.com/office/drawing/2014/main" id="{B9E7BE23-5961-4656-BC27-2E2F80F70D9E}"/>
              </a:ext>
            </a:extLst>
          </p:cNvPr>
          <p:cNvSpPr>
            <a:spLocks noGrp="1"/>
          </p:cNvSpPr>
          <p:nvPr/>
        </p:nvSpPr>
        <p:spPr>
          <a:xfrm>
            <a:off x="529590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diagram block">
            <a:extLst>
              <a:ext uri="{FF2B5EF4-FFF2-40B4-BE49-F238E27FC236}">
                <a16:creationId xmlns:a16="http://schemas.microsoft.com/office/drawing/2014/main" id="{085E069C-8561-46DA-BCF4-B232390F2132}"/>
              </a:ext>
            </a:extLst>
          </p:cNvPr>
          <p:cNvSpPr>
            <a:spLocks noGrp="1"/>
          </p:cNvSpPr>
          <p:nvPr/>
        </p:nvSpPr>
        <p:spPr>
          <a:xfrm>
            <a:off x="5505450" y="24288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diagram block">
            <a:extLst>
              <a:ext uri="{FF2B5EF4-FFF2-40B4-BE49-F238E27FC236}">
                <a16:creationId xmlns:a16="http://schemas.microsoft.com/office/drawing/2014/main" id="{435BD7AB-48AC-4277-9D3D-0025675B261B}"/>
              </a:ext>
            </a:extLst>
          </p:cNvPr>
          <p:cNvSpPr>
            <a:spLocks noGrp="1"/>
          </p:cNvSpPr>
          <p:nvPr/>
        </p:nvSpPr>
        <p:spPr>
          <a:xfrm>
            <a:off x="571500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diagram block">
            <a:extLst>
              <a:ext uri="{FF2B5EF4-FFF2-40B4-BE49-F238E27FC236}">
                <a16:creationId xmlns:a16="http://schemas.microsoft.com/office/drawing/2014/main" id="{49719A7C-A3C0-484E-ACA0-13F80DC7CF16}"/>
              </a:ext>
            </a:extLst>
          </p:cNvPr>
          <p:cNvSpPr>
            <a:spLocks noGrp="1"/>
          </p:cNvSpPr>
          <p:nvPr/>
        </p:nvSpPr>
        <p:spPr>
          <a:xfrm>
            <a:off x="5924550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3" name="diagram block">
            <a:extLst>
              <a:ext uri="{FF2B5EF4-FFF2-40B4-BE49-F238E27FC236}">
                <a16:creationId xmlns:a16="http://schemas.microsoft.com/office/drawing/2014/main" id="{F18AE254-8F48-49B9-B295-166379A63A50}"/>
              </a:ext>
            </a:extLst>
          </p:cNvPr>
          <p:cNvSpPr>
            <a:spLocks noGrp="1"/>
          </p:cNvSpPr>
          <p:nvPr/>
        </p:nvSpPr>
        <p:spPr>
          <a:xfrm>
            <a:off x="46672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diagram block">
            <a:extLst>
              <a:ext uri="{FF2B5EF4-FFF2-40B4-BE49-F238E27FC236}">
                <a16:creationId xmlns:a16="http://schemas.microsoft.com/office/drawing/2014/main" id="{C8C48A77-6CFE-49D9-A94F-FF7AF1EFE06D}"/>
              </a:ext>
            </a:extLst>
          </p:cNvPr>
          <p:cNvSpPr>
            <a:spLocks noGrp="1"/>
          </p:cNvSpPr>
          <p:nvPr/>
        </p:nvSpPr>
        <p:spPr>
          <a:xfrm>
            <a:off x="48768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diagram block">
            <a:extLst>
              <a:ext uri="{FF2B5EF4-FFF2-40B4-BE49-F238E27FC236}">
                <a16:creationId xmlns:a16="http://schemas.microsoft.com/office/drawing/2014/main" id="{67E5D373-C324-4B71-9A55-2D0F40F71590}"/>
              </a:ext>
            </a:extLst>
          </p:cNvPr>
          <p:cNvSpPr>
            <a:spLocks noGrp="1"/>
          </p:cNvSpPr>
          <p:nvPr/>
        </p:nvSpPr>
        <p:spPr>
          <a:xfrm>
            <a:off x="50863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diagram block">
            <a:extLst>
              <a:ext uri="{FF2B5EF4-FFF2-40B4-BE49-F238E27FC236}">
                <a16:creationId xmlns:a16="http://schemas.microsoft.com/office/drawing/2014/main" id="{1CFDF701-771D-40B0-AB90-1BEA783B2F75}"/>
              </a:ext>
            </a:extLst>
          </p:cNvPr>
          <p:cNvSpPr>
            <a:spLocks noGrp="1"/>
          </p:cNvSpPr>
          <p:nvPr/>
        </p:nvSpPr>
        <p:spPr>
          <a:xfrm>
            <a:off x="5295900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7" name="diagram block">
            <a:extLst>
              <a:ext uri="{FF2B5EF4-FFF2-40B4-BE49-F238E27FC236}">
                <a16:creationId xmlns:a16="http://schemas.microsoft.com/office/drawing/2014/main" id="{72B56902-BC82-4FCC-81E8-78EFE87BE3F3}"/>
              </a:ext>
            </a:extLst>
          </p:cNvPr>
          <p:cNvSpPr>
            <a:spLocks noGrp="1"/>
          </p:cNvSpPr>
          <p:nvPr/>
        </p:nvSpPr>
        <p:spPr>
          <a:xfrm>
            <a:off x="5505450" y="263842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" name="diagram block">
            <a:extLst>
              <a:ext uri="{FF2B5EF4-FFF2-40B4-BE49-F238E27FC236}">
                <a16:creationId xmlns:a16="http://schemas.microsoft.com/office/drawing/2014/main" id="{DFDB30EE-4129-48EE-9F04-E12FB456B74E}"/>
              </a:ext>
            </a:extLst>
          </p:cNvPr>
          <p:cNvSpPr>
            <a:spLocks noGrp="1"/>
          </p:cNvSpPr>
          <p:nvPr/>
        </p:nvSpPr>
        <p:spPr>
          <a:xfrm>
            <a:off x="571500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diagram block">
            <a:extLst>
              <a:ext uri="{FF2B5EF4-FFF2-40B4-BE49-F238E27FC236}">
                <a16:creationId xmlns:a16="http://schemas.microsoft.com/office/drawing/2014/main" id="{FAC0F662-8A09-4007-826A-B56C7741E363}"/>
              </a:ext>
            </a:extLst>
          </p:cNvPr>
          <p:cNvSpPr>
            <a:spLocks noGrp="1"/>
          </p:cNvSpPr>
          <p:nvPr/>
        </p:nvSpPr>
        <p:spPr>
          <a:xfrm>
            <a:off x="5924550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0" name="diagram block">
            <a:extLst>
              <a:ext uri="{FF2B5EF4-FFF2-40B4-BE49-F238E27FC236}">
                <a16:creationId xmlns:a16="http://schemas.microsoft.com/office/drawing/2014/main" id="{2EAF9778-7AAF-4B85-BCC7-71B451E0DF3A}"/>
              </a:ext>
            </a:extLst>
          </p:cNvPr>
          <p:cNvSpPr>
            <a:spLocks noGrp="1"/>
          </p:cNvSpPr>
          <p:nvPr/>
        </p:nvSpPr>
        <p:spPr>
          <a:xfrm>
            <a:off x="46672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1" name="diagram block">
            <a:extLst>
              <a:ext uri="{FF2B5EF4-FFF2-40B4-BE49-F238E27FC236}">
                <a16:creationId xmlns:a16="http://schemas.microsoft.com/office/drawing/2014/main" id="{0BD3E1FF-E7BA-4D46-A86E-B06236AC3936}"/>
              </a:ext>
            </a:extLst>
          </p:cNvPr>
          <p:cNvSpPr>
            <a:spLocks noGrp="1"/>
          </p:cNvSpPr>
          <p:nvPr/>
        </p:nvSpPr>
        <p:spPr>
          <a:xfrm>
            <a:off x="48768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2" name="diagram block">
            <a:extLst>
              <a:ext uri="{FF2B5EF4-FFF2-40B4-BE49-F238E27FC236}">
                <a16:creationId xmlns:a16="http://schemas.microsoft.com/office/drawing/2014/main" id="{5A6460F8-5B89-490E-AE32-A9F4E214015F}"/>
              </a:ext>
            </a:extLst>
          </p:cNvPr>
          <p:cNvSpPr>
            <a:spLocks noGrp="1"/>
          </p:cNvSpPr>
          <p:nvPr/>
        </p:nvSpPr>
        <p:spPr>
          <a:xfrm>
            <a:off x="50863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" name="diagram block">
            <a:extLst>
              <a:ext uri="{FF2B5EF4-FFF2-40B4-BE49-F238E27FC236}">
                <a16:creationId xmlns:a16="http://schemas.microsoft.com/office/drawing/2014/main" id="{0A45B5A6-D9D4-4C48-B107-722D9AF932D3}"/>
              </a:ext>
            </a:extLst>
          </p:cNvPr>
          <p:cNvSpPr>
            <a:spLocks noGrp="1"/>
          </p:cNvSpPr>
          <p:nvPr/>
        </p:nvSpPr>
        <p:spPr>
          <a:xfrm>
            <a:off x="529590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diagram block">
            <a:extLst>
              <a:ext uri="{FF2B5EF4-FFF2-40B4-BE49-F238E27FC236}">
                <a16:creationId xmlns:a16="http://schemas.microsoft.com/office/drawing/2014/main" id="{2173124A-1EA4-464F-90EB-9700E2ECF455}"/>
              </a:ext>
            </a:extLst>
          </p:cNvPr>
          <p:cNvSpPr>
            <a:spLocks noGrp="1"/>
          </p:cNvSpPr>
          <p:nvPr/>
        </p:nvSpPr>
        <p:spPr>
          <a:xfrm>
            <a:off x="5505450" y="2847975"/>
            <a:ext cx="190500" cy="190500"/>
          </a:xfrm>
          <a:prstGeom prst="rect">
            <a:avLst/>
          </a:prstGeom>
          <a:solidFill>
            <a:srgbClr val="F9D592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5" name="diagram block">
            <a:extLst>
              <a:ext uri="{FF2B5EF4-FFF2-40B4-BE49-F238E27FC236}">
                <a16:creationId xmlns:a16="http://schemas.microsoft.com/office/drawing/2014/main" id="{C253A472-BF3E-43E8-9FCC-B51944AFC8C3}"/>
              </a:ext>
            </a:extLst>
          </p:cNvPr>
          <p:cNvSpPr>
            <a:spLocks noGrp="1"/>
          </p:cNvSpPr>
          <p:nvPr/>
        </p:nvSpPr>
        <p:spPr>
          <a:xfrm>
            <a:off x="571500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6" name="diagram block">
            <a:extLst>
              <a:ext uri="{FF2B5EF4-FFF2-40B4-BE49-F238E27FC236}">
                <a16:creationId xmlns:a16="http://schemas.microsoft.com/office/drawing/2014/main" id="{BE57CAF6-8E11-4A1D-957C-B9B89B3FC17F}"/>
              </a:ext>
            </a:extLst>
          </p:cNvPr>
          <p:cNvSpPr>
            <a:spLocks noGrp="1"/>
          </p:cNvSpPr>
          <p:nvPr/>
        </p:nvSpPr>
        <p:spPr>
          <a:xfrm>
            <a:off x="5924550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7" name="diagram block">
            <a:extLst>
              <a:ext uri="{FF2B5EF4-FFF2-40B4-BE49-F238E27FC236}">
                <a16:creationId xmlns:a16="http://schemas.microsoft.com/office/drawing/2014/main" id="{0F5EF98E-5745-4E1C-9DCE-2673D5B965F1}"/>
              </a:ext>
            </a:extLst>
          </p:cNvPr>
          <p:cNvSpPr>
            <a:spLocks noGrp="1"/>
          </p:cNvSpPr>
          <p:nvPr/>
        </p:nvSpPr>
        <p:spPr>
          <a:xfrm>
            <a:off x="46672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" name="diagram block">
            <a:extLst>
              <a:ext uri="{FF2B5EF4-FFF2-40B4-BE49-F238E27FC236}">
                <a16:creationId xmlns:a16="http://schemas.microsoft.com/office/drawing/2014/main" id="{0922ACE8-17D3-4DB8-93B0-81A27CAF5ECC}"/>
              </a:ext>
            </a:extLst>
          </p:cNvPr>
          <p:cNvSpPr>
            <a:spLocks noGrp="1"/>
          </p:cNvSpPr>
          <p:nvPr/>
        </p:nvSpPr>
        <p:spPr>
          <a:xfrm>
            <a:off x="48768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9" name="diagram block">
            <a:extLst>
              <a:ext uri="{FF2B5EF4-FFF2-40B4-BE49-F238E27FC236}">
                <a16:creationId xmlns:a16="http://schemas.microsoft.com/office/drawing/2014/main" id="{397DB4B8-EAEC-4BE3-A1D5-1CC4B9ABB3D1}"/>
              </a:ext>
            </a:extLst>
          </p:cNvPr>
          <p:cNvSpPr>
            <a:spLocks noGrp="1"/>
          </p:cNvSpPr>
          <p:nvPr/>
        </p:nvSpPr>
        <p:spPr>
          <a:xfrm>
            <a:off x="50863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0" name="diagram block">
            <a:extLst>
              <a:ext uri="{FF2B5EF4-FFF2-40B4-BE49-F238E27FC236}">
                <a16:creationId xmlns:a16="http://schemas.microsoft.com/office/drawing/2014/main" id="{8D15BF7C-D90B-48E5-B219-0FFB33B1394F}"/>
              </a:ext>
            </a:extLst>
          </p:cNvPr>
          <p:cNvSpPr>
            <a:spLocks noGrp="1"/>
          </p:cNvSpPr>
          <p:nvPr/>
        </p:nvSpPr>
        <p:spPr>
          <a:xfrm>
            <a:off x="52959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1" name="diagram block">
            <a:extLst>
              <a:ext uri="{FF2B5EF4-FFF2-40B4-BE49-F238E27FC236}">
                <a16:creationId xmlns:a16="http://schemas.microsoft.com/office/drawing/2014/main" id="{0CC11DC1-F7FC-48D3-9CAC-7F63D7D15735}"/>
              </a:ext>
            </a:extLst>
          </p:cNvPr>
          <p:cNvSpPr>
            <a:spLocks noGrp="1"/>
          </p:cNvSpPr>
          <p:nvPr/>
        </p:nvSpPr>
        <p:spPr>
          <a:xfrm>
            <a:off x="55054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2" name="diagram block">
            <a:extLst>
              <a:ext uri="{FF2B5EF4-FFF2-40B4-BE49-F238E27FC236}">
                <a16:creationId xmlns:a16="http://schemas.microsoft.com/office/drawing/2014/main" id="{2C3DBDFE-A886-43CB-96B2-0D8717C78287}"/>
              </a:ext>
            </a:extLst>
          </p:cNvPr>
          <p:cNvSpPr>
            <a:spLocks noGrp="1"/>
          </p:cNvSpPr>
          <p:nvPr/>
        </p:nvSpPr>
        <p:spPr>
          <a:xfrm>
            <a:off x="571500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" name="diagram block">
            <a:extLst>
              <a:ext uri="{FF2B5EF4-FFF2-40B4-BE49-F238E27FC236}">
                <a16:creationId xmlns:a16="http://schemas.microsoft.com/office/drawing/2014/main" id="{9625C8A3-881C-4D15-8CC0-4CAF2458C9EC}"/>
              </a:ext>
            </a:extLst>
          </p:cNvPr>
          <p:cNvSpPr>
            <a:spLocks noGrp="1"/>
          </p:cNvSpPr>
          <p:nvPr/>
        </p:nvSpPr>
        <p:spPr>
          <a:xfrm>
            <a:off x="5924550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" name="diagram block">
            <a:extLst>
              <a:ext uri="{FF2B5EF4-FFF2-40B4-BE49-F238E27FC236}">
                <a16:creationId xmlns:a16="http://schemas.microsoft.com/office/drawing/2014/main" id="{CF86E2B3-4603-411C-B232-BB21B4FA5516}"/>
              </a:ext>
            </a:extLst>
          </p:cNvPr>
          <p:cNvSpPr>
            <a:spLocks noGrp="1"/>
          </p:cNvSpPr>
          <p:nvPr/>
        </p:nvSpPr>
        <p:spPr>
          <a:xfrm>
            <a:off x="46672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" name="diagram block">
            <a:extLst>
              <a:ext uri="{FF2B5EF4-FFF2-40B4-BE49-F238E27FC236}">
                <a16:creationId xmlns:a16="http://schemas.microsoft.com/office/drawing/2014/main" id="{62EAA159-902E-4C0E-9158-1887788554AC}"/>
              </a:ext>
            </a:extLst>
          </p:cNvPr>
          <p:cNvSpPr>
            <a:spLocks noGrp="1"/>
          </p:cNvSpPr>
          <p:nvPr/>
        </p:nvSpPr>
        <p:spPr>
          <a:xfrm>
            <a:off x="48768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6" name="diagram block">
            <a:extLst>
              <a:ext uri="{FF2B5EF4-FFF2-40B4-BE49-F238E27FC236}">
                <a16:creationId xmlns:a16="http://schemas.microsoft.com/office/drawing/2014/main" id="{ED454461-067D-4785-A8AA-96A91D8FA733}"/>
              </a:ext>
            </a:extLst>
          </p:cNvPr>
          <p:cNvSpPr>
            <a:spLocks noGrp="1"/>
          </p:cNvSpPr>
          <p:nvPr/>
        </p:nvSpPr>
        <p:spPr>
          <a:xfrm>
            <a:off x="50863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" name="diagram block">
            <a:extLst>
              <a:ext uri="{FF2B5EF4-FFF2-40B4-BE49-F238E27FC236}">
                <a16:creationId xmlns:a16="http://schemas.microsoft.com/office/drawing/2014/main" id="{8689E9CE-3318-4997-B3A1-98A33FB6A6E1}"/>
              </a:ext>
            </a:extLst>
          </p:cNvPr>
          <p:cNvSpPr>
            <a:spLocks noGrp="1"/>
          </p:cNvSpPr>
          <p:nvPr/>
        </p:nvSpPr>
        <p:spPr>
          <a:xfrm>
            <a:off x="52959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" name="diagram block">
            <a:extLst>
              <a:ext uri="{FF2B5EF4-FFF2-40B4-BE49-F238E27FC236}">
                <a16:creationId xmlns:a16="http://schemas.microsoft.com/office/drawing/2014/main" id="{653C3A5E-0315-43C0-82D3-37611963E652}"/>
              </a:ext>
            </a:extLst>
          </p:cNvPr>
          <p:cNvSpPr>
            <a:spLocks noGrp="1"/>
          </p:cNvSpPr>
          <p:nvPr/>
        </p:nvSpPr>
        <p:spPr>
          <a:xfrm>
            <a:off x="55054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" name="diagram block">
            <a:extLst>
              <a:ext uri="{FF2B5EF4-FFF2-40B4-BE49-F238E27FC236}">
                <a16:creationId xmlns:a16="http://schemas.microsoft.com/office/drawing/2014/main" id="{4ADAAFBF-8C92-4AC2-82A2-1CE3AEF9F8E1}"/>
              </a:ext>
            </a:extLst>
          </p:cNvPr>
          <p:cNvSpPr>
            <a:spLocks noGrp="1"/>
          </p:cNvSpPr>
          <p:nvPr/>
        </p:nvSpPr>
        <p:spPr>
          <a:xfrm>
            <a:off x="571500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0" name="diagram block">
            <a:extLst>
              <a:ext uri="{FF2B5EF4-FFF2-40B4-BE49-F238E27FC236}">
                <a16:creationId xmlns:a16="http://schemas.microsoft.com/office/drawing/2014/main" id="{423EEDF4-B6F5-4F37-8885-2699A3D47D28}"/>
              </a:ext>
            </a:extLst>
          </p:cNvPr>
          <p:cNvSpPr>
            <a:spLocks noGrp="1"/>
          </p:cNvSpPr>
          <p:nvPr/>
        </p:nvSpPr>
        <p:spPr>
          <a:xfrm>
            <a:off x="5924550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time 1">
            <a:extLst>
              <a:ext uri="{FF2B5EF4-FFF2-40B4-BE49-F238E27FC236}">
                <a16:creationId xmlns:a16="http://schemas.microsoft.com/office/drawing/2014/main" id="{23DC11C7-46A7-4507-AFE1-29C211BFCBF8}"/>
              </a:ext>
            </a:extLst>
          </p:cNvPr>
          <p:cNvSpPr>
            <a:spLocks noGrp="1"/>
          </p:cNvSpPr>
          <p:nvPr/>
        </p:nvSpPr>
        <p:spPr>
          <a:xfrm>
            <a:off x="4667250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72" name="diagram block">
            <a:extLst>
              <a:ext uri="{FF2B5EF4-FFF2-40B4-BE49-F238E27FC236}">
                <a16:creationId xmlns:a16="http://schemas.microsoft.com/office/drawing/2014/main" id="{52FE6C43-9316-4AA4-9E70-051634DB9DF9}"/>
              </a:ext>
            </a:extLst>
          </p:cNvPr>
          <p:cNvSpPr>
            <a:spLocks noGrp="1"/>
          </p:cNvSpPr>
          <p:nvPr/>
        </p:nvSpPr>
        <p:spPr>
          <a:xfrm>
            <a:off x="68103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diagram block">
            <a:extLst>
              <a:ext uri="{FF2B5EF4-FFF2-40B4-BE49-F238E27FC236}">
                <a16:creationId xmlns:a16="http://schemas.microsoft.com/office/drawing/2014/main" id="{FAB1C575-46A5-4CEC-8B09-A1FC7BA63074}"/>
              </a:ext>
            </a:extLst>
          </p:cNvPr>
          <p:cNvSpPr>
            <a:spLocks noGrp="1"/>
          </p:cNvSpPr>
          <p:nvPr/>
        </p:nvSpPr>
        <p:spPr>
          <a:xfrm>
            <a:off x="70199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4" name="diagram block">
            <a:extLst>
              <a:ext uri="{FF2B5EF4-FFF2-40B4-BE49-F238E27FC236}">
                <a16:creationId xmlns:a16="http://schemas.microsoft.com/office/drawing/2014/main" id="{E89FEF97-4C6B-437F-ACAD-F1FE2A5AFE99}"/>
              </a:ext>
            </a:extLst>
          </p:cNvPr>
          <p:cNvSpPr>
            <a:spLocks noGrp="1"/>
          </p:cNvSpPr>
          <p:nvPr/>
        </p:nvSpPr>
        <p:spPr>
          <a:xfrm>
            <a:off x="72294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5" name="diagram block">
            <a:extLst>
              <a:ext uri="{FF2B5EF4-FFF2-40B4-BE49-F238E27FC236}">
                <a16:creationId xmlns:a16="http://schemas.microsoft.com/office/drawing/2014/main" id="{1CE24B28-224D-4AFD-B427-FEE3A0548125}"/>
              </a:ext>
            </a:extLst>
          </p:cNvPr>
          <p:cNvSpPr>
            <a:spLocks noGrp="1"/>
          </p:cNvSpPr>
          <p:nvPr/>
        </p:nvSpPr>
        <p:spPr>
          <a:xfrm>
            <a:off x="74390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6" name="diagram block">
            <a:extLst>
              <a:ext uri="{FF2B5EF4-FFF2-40B4-BE49-F238E27FC236}">
                <a16:creationId xmlns:a16="http://schemas.microsoft.com/office/drawing/2014/main" id="{03C0DFE7-B86A-43C7-8F29-79477A799B4E}"/>
              </a:ext>
            </a:extLst>
          </p:cNvPr>
          <p:cNvSpPr>
            <a:spLocks noGrp="1"/>
          </p:cNvSpPr>
          <p:nvPr/>
        </p:nvSpPr>
        <p:spPr>
          <a:xfrm>
            <a:off x="76485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diagram block">
            <a:extLst>
              <a:ext uri="{FF2B5EF4-FFF2-40B4-BE49-F238E27FC236}">
                <a16:creationId xmlns:a16="http://schemas.microsoft.com/office/drawing/2014/main" id="{C89DDE2D-A5FA-45E1-8086-2C7271C1E6CC}"/>
              </a:ext>
            </a:extLst>
          </p:cNvPr>
          <p:cNvSpPr>
            <a:spLocks noGrp="1"/>
          </p:cNvSpPr>
          <p:nvPr/>
        </p:nvSpPr>
        <p:spPr>
          <a:xfrm>
            <a:off x="785812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8" name="diagram block">
            <a:extLst>
              <a:ext uri="{FF2B5EF4-FFF2-40B4-BE49-F238E27FC236}">
                <a16:creationId xmlns:a16="http://schemas.microsoft.com/office/drawing/2014/main" id="{D63AE6CE-6550-44B3-8ECC-0FA81C014937}"/>
              </a:ext>
            </a:extLst>
          </p:cNvPr>
          <p:cNvSpPr>
            <a:spLocks noGrp="1"/>
          </p:cNvSpPr>
          <p:nvPr/>
        </p:nvSpPr>
        <p:spPr>
          <a:xfrm>
            <a:off x="8067675" y="20097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" name="diagram block">
            <a:extLst>
              <a:ext uri="{FF2B5EF4-FFF2-40B4-BE49-F238E27FC236}">
                <a16:creationId xmlns:a16="http://schemas.microsoft.com/office/drawing/2014/main" id="{3EB7B46B-A406-4BA9-8137-AE31C4FBBD26}"/>
              </a:ext>
            </a:extLst>
          </p:cNvPr>
          <p:cNvSpPr>
            <a:spLocks noGrp="1"/>
          </p:cNvSpPr>
          <p:nvPr/>
        </p:nvSpPr>
        <p:spPr>
          <a:xfrm>
            <a:off x="68103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0" name="diagram block">
            <a:extLst>
              <a:ext uri="{FF2B5EF4-FFF2-40B4-BE49-F238E27FC236}">
                <a16:creationId xmlns:a16="http://schemas.microsoft.com/office/drawing/2014/main" id="{58F2FB3C-CFB2-49ED-BDB9-47C76EB50C6D}"/>
              </a:ext>
            </a:extLst>
          </p:cNvPr>
          <p:cNvSpPr>
            <a:spLocks noGrp="1"/>
          </p:cNvSpPr>
          <p:nvPr/>
        </p:nvSpPr>
        <p:spPr>
          <a:xfrm>
            <a:off x="70199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" name="diagram block">
            <a:extLst>
              <a:ext uri="{FF2B5EF4-FFF2-40B4-BE49-F238E27FC236}">
                <a16:creationId xmlns:a16="http://schemas.microsoft.com/office/drawing/2014/main" id="{1202F7FE-10B6-4E21-8610-E53F4E12CB68}"/>
              </a:ext>
            </a:extLst>
          </p:cNvPr>
          <p:cNvSpPr>
            <a:spLocks noGrp="1"/>
          </p:cNvSpPr>
          <p:nvPr/>
        </p:nvSpPr>
        <p:spPr>
          <a:xfrm>
            <a:off x="72294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2" name="diagram block">
            <a:extLst>
              <a:ext uri="{FF2B5EF4-FFF2-40B4-BE49-F238E27FC236}">
                <a16:creationId xmlns:a16="http://schemas.microsoft.com/office/drawing/2014/main" id="{E9B1C302-0D9E-4C0B-B561-C1DAA3F59C50}"/>
              </a:ext>
            </a:extLst>
          </p:cNvPr>
          <p:cNvSpPr>
            <a:spLocks noGrp="1"/>
          </p:cNvSpPr>
          <p:nvPr/>
        </p:nvSpPr>
        <p:spPr>
          <a:xfrm>
            <a:off x="74390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diagram block">
            <a:extLst>
              <a:ext uri="{FF2B5EF4-FFF2-40B4-BE49-F238E27FC236}">
                <a16:creationId xmlns:a16="http://schemas.microsoft.com/office/drawing/2014/main" id="{F8A31D5F-0B1F-406D-8424-C0067AED8B34}"/>
              </a:ext>
            </a:extLst>
          </p:cNvPr>
          <p:cNvSpPr>
            <a:spLocks noGrp="1"/>
          </p:cNvSpPr>
          <p:nvPr/>
        </p:nvSpPr>
        <p:spPr>
          <a:xfrm>
            <a:off x="76485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4" name="diagram block">
            <a:extLst>
              <a:ext uri="{FF2B5EF4-FFF2-40B4-BE49-F238E27FC236}">
                <a16:creationId xmlns:a16="http://schemas.microsoft.com/office/drawing/2014/main" id="{B06B37EE-6DF8-4E9D-B189-BBB0DE17F3D6}"/>
              </a:ext>
            </a:extLst>
          </p:cNvPr>
          <p:cNvSpPr>
            <a:spLocks noGrp="1"/>
          </p:cNvSpPr>
          <p:nvPr/>
        </p:nvSpPr>
        <p:spPr>
          <a:xfrm>
            <a:off x="785812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5" name="diagram block">
            <a:extLst>
              <a:ext uri="{FF2B5EF4-FFF2-40B4-BE49-F238E27FC236}">
                <a16:creationId xmlns:a16="http://schemas.microsoft.com/office/drawing/2014/main" id="{BD09C58D-ABE5-41B8-A10F-BEBF7D1967FB}"/>
              </a:ext>
            </a:extLst>
          </p:cNvPr>
          <p:cNvSpPr>
            <a:spLocks noGrp="1"/>
          </p:cNvSpPr>
          <p:nvPr/>
        </p:nvSpPr>
        <p:spPr>
          <a:xfrm>
            <a:off x="8067675" y="22193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6" name="diagram block">
            <a:extLst>
              <a:ext uri="{FF2B5EF4-FFF2-40B4-BE49-F238E27FC236}">
                <a16:creationId xmlns:a16="http://schemas.microsoft.com/office/drawing/2014/main" id="{FF76CDA0-479A-4226-974F-7C8C0E9F1E02}"/>
              </a:ext>
            </a:extLst>
          </p:cNvPr>
          <p:cNvSpPr>
            <a:spLocks noGrp="1"/>
          </p:cNvSpPr>
          <p:nvPr/>
        </p:nvSpPr>
        <p:spPr>
          <a:xfrm>
            <a:off x="68103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7" name="diagram block">
            <a:extLst>
              <a:ext uri="{FF2B5EF4-FFF2-40B4-BE49-F238E27FC236}">
                <a16:creationId xmlns:a16="http://schemas.microsoft.com/office/drawing/2014/main" id="{2DD35052-86F9-4F2C-B6CE-3AB2B0586620}"/>
              </a:ext>
            </a:extLst>
          </p:cNvPr>
          <p:cNvSpPr>
            <a:spLocks noGrp="1"/>
          </p:cNvSpPr>
          <p:nvPr/>
        </p:nvSpPr>
        <p:spPr>
          <a:xfrm>
            <a:off x="70199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8" name="diagram block">
            <a:extLst>
              <a:ext uri="{FF2B5EF4-FFF2-40B4-BE49-F238E27FC236}">
                <a16:creationId xmlns:a16="http://schemas.microsoft.com/office/drawing/2014/main" id="{A6F1C1EC-E66A-4A9F-B97E-85C0EA1BC2EC}"/>
              </a:ext>
            </a:extLst>
          </p:cNvPr>
          <p:cNvSpPr>
            <a:spLocks noGrp="1"/>
          </p:cNvSpPr>
          <p:nvPr/>
        </p:nvSpPr>
        <p:spPr>
          <a:xfrm>
            <a:off x="72294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9" name="diagram block">
            <a:extLst>
              <a:ext uri="{FF2B5EF4-FFF2-40B4-BE49-F238E27FC236}">
                <a16:creationId xmlns:a16="http://schemas.microsoft.com/office/drawing/2014/main" id="{2170E6D7-4871-480E-951C-883437ADDB59}"/>
              </a:ext>
            </a:extLst>
          </p:cNvPr>
          <p:cNvSpPr>
            <a:spLocks noGrp="1"/>
          </p:cNvSpPr>
          <p:nvPr/>
        </p:nvSpPr>
        <p:spPr>
          <a:xfrm>
            <a:off x="74390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0" name="diagram block">
            <a:extLst>
              <a:ext uri="{FF2B5EF4-FFF2-40B4-BE49-F238E27FC236}">
                <a16:creationId xmlns:a16="http://schemas.microsoft.com/office/drawing/2014/main" id="{21C3D348-9F30-40D3-BD11-11C78E000EDF}"/>
              </a:ext>
            </a:extLst>
          </p:cNvPr>
          <p:cNvSpPr>
            <a:spLocks noGrp="1"/>
          </p:cNvSpPr>
          <p:nvPr/>
        </p:nvSpPr>
        <p:spPr>
          <a:xfrm>
            <a:off x="76485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1" name="diagram block">
            <a:extLst>
              <a:ext uri="{FF2B5EF4-FFF2-40B4-BE49-F238E27FC236}">
                <a16:creationId xmlns:a16="http://schemas.microsoft.com/office/drawing/2014/main" id="{838FD6D9-1575-4939-86D0-E0EE5A574E86}"/>
              </a:ext>
            </a:extLst>
          </p:cNvPr>
          <p:cNvSpPr>
            <a:spLocks noGrp="1"/>
          </p:cNvSpPr>
          <p:nvPr/>
        </p:nvSpPr>
        <p:spPr>
          <a:xfrm>
            <a:off x="785812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2" name="diagram block">
            <a:extLst>
              <a:ext uri="{FF2B5EF4-FFF2-40B4-BE49-F238E27FC236}">
                <a16:creationId xmlns:a16="http://schemas.microsoft.com/office/drawing/2014/main" id="{B80997FD-38E7-49CB-BFBC-4777E3DD5DAB}"/>
              </a:ext>
            </a:extLst>
          </p:cNvPr>
          <p:cNvSpPr>
            <a:spLocks noGrp="1"/>
          </p:cNvSpPr>
          <p:nvPr/>
        </p:nvSpPr>
        <p:spPr>
          <a:xfrm>
            <a:off x="8067675" y="24288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3" name="diagram block">
            <a:extLst>
              <a:ext uri="{FF2B5EF4-FFF2-40B4-BE49-F238E27FC236}">
                <a16:creationId xmlns:a16="http://schemas.microsoft.com/office/drawing/2014/main" id="{07D98D97-684B-4C1D-AB12-47557AF81494}"/>
              </a:ext>
            </a:extLst>
          </p:cNvPr>
          <p:cNvSpPr>
            <a:spLocks noGrp="1"/>
          </p:cNvSpPr>
          <p:nvPr/>
        </p:nvSpPr>
        <p:spPr>
          <a:xfrm>
            <a:off x="68103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4" name="diagram block">
            <a:extLst>
              <a:ext uri="{FF2B5EF4-FFF2-40B4-BE49-F238E27FC236}">
                <a16:creationId xmlns:a16="http://schemas.microsoft.com/office/drawing/2014/main" id="{86175B87-EE19-4697-B88A-1B95AA69F9AD}"/>
              </a:ext>
            </a:extLst>
          </p:cNvPr>
          <p:cNvSpPr>
            <a:spLocks noGrp="1"/>
          </p:cNvSpPr>
          <p:nvPr/>
        </p:nvSpPr>
        <p:spPr>
          <a:xfrm>
            <a:off x="70199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5" name="diagram block">
            <a:extLst>
              <a:ext uri="{FF2B5EF4-FFF2-40B4-BE49-F238E27FC236}">
                <a16:creationId xmlns:a16="http://schemas.microsoft.com/office/drawing/2014/main" id="{394E75B5-AE23-48F1-B1C1-C3125DAB9C1E}"/>
              </a:ext>
            </a:extLst>
          </p:cNvPr>
          <p:cNvSpPr>
            <a:spLocks noGrp="1"/>
          </p:cNvSpPr>
          <p:nvPr/>
        </p:nvSpPr>
        <p:spPr>
          <a:xfrm>
            <a:off x="72294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6" name="diagram block">
            <a:extLst>
              <a:ext uri="{FF2B5EF4-FFF2-40B4-BE49-F238E27FC236}">
                <a16:creationId xmlns:a16="http://schemas.microsoft.com/office/drawing/2014/main" id="{9428DF12-DFF8-4B47-AFA4-9D23AA940AD0}"/>
              </a:ext>
            </a:extLst>
          </p:cNvPr>
          <p:cNvSpPr>
            <a:spLocks noGrp="1"/>
          </p:cNvSpPr>
          <p:nvPr/>
        </p:nvSpPr>
        <p:spPr>
          <a:xfrm>
            <a:off x="7439025" y="2638425"/>
            <a:ext cx="190500" cy="190500"/>
          </a:xfrm>
          <a:prstGeom prst="rect">
            <a:avLst/>
          </a:prstGeom>
          <a:solidFill>
            <a:srgbClr val="EEA454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7" name="diagram block">
            <a:extLst>
              <a:ext uri="{FF2B5EF4-FFF2-40B4-BE49-F238E27FC236}">
                <a16:creationId xmlns:a16="http://schemas.microsoft.com/office/drawing/2014/main" id="{1DE20C87-60F9-49D6-AECC-FFB48EF8A301}"/>
              </a:ext>
            </a:extLst>
          </p:cNvPr>
          <p:cNvSpPr>
            <a:spLocks noGrp="1"/>
          </p:cNvSpPr>
          <p:nvPr/>
        </p:nvSpPr>
        <p:spPr>
          <a:xfrm>
            <a:off x="76485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8" name="diagram block">
            <a:extLst>
              <a:ext uri="{FF2B5EF4-FFF2-40B4-BE49-F238E27FC236}">
                <a16:creationId xmlns:a16="http://schemas.microsoft.com/office/drawing/2014/main" id="{3D120416-9693-4456-973E-879731B952B3}"/>
              </a:ext>
            </a:extLst>
          </p:cNvPr>
          <p:cNvSpPr>
            <a:spLocks noGrp="1"/>
          </p:cNvSpPr>
          <p:nvPr/>
        </p:nvSpPr>
        <p:spPr>
          <a:xfrm>
            <a:off x="785812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9" name="diagram block">
            <a:extLst>
              <a:ext uri="{FF2B5EF4-FFF2-40B4-BE49-F238E27FC236}">
                <a16:creationId xmlns:a16="http://schemas.microsoft.com/office/drawing/2014/main" id="{546B5BF8-45E1-4D52-8573-F23C6605CC28}"/>
              </a:ext>
            </a:extLst>
          </p:cNvPr>
          <p:cNvSpPr>
            <a:spLocks noGrp="1"/>
          </p:cNvSpPr>
          <p:nvPr/>
        </p:nvSpPr>
        <p:spPr>
          <a:xfrm>
            <a:off x="8067675" y="26384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0" name="diagram block">
            <a:extLst>
              <a:ext uri="{FF2B5EF4-FFF2-40B4-BE49-F238E27FC236}">
                <a16:creationId xmlns:a16="http://schemas.microsoft.com/office/drawing/2014/main" id="{4CA943BE-E663-42A9-89A5-CEE76759BE6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1" name="diagram block">
            <a:extLst>
              <a:ext uri="{FF2B5EF4-FFF2-40B4-BE49-F238E27FC236}">
                <a16:creationId xmlns:a16="http://schemas.microsoft.com/office/drawing/2014/main" id="{8BAE1047-01CF-4F4B-A194-E0FF9B2C2278}"/>
              </a:ext>
            </a:extLst>
          </p:cNvPr>
          <p:cNvSpPr>
            <a:spLocks noGrp="1"/>
          </p:cNvSpPr>
          <p:nvPr/>
        </p:nvSpPr>
        <p:spPr>
          <a:xfrm>
            <a:off x="70199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2" name="diagram block">
            <a:extLst>
              <a:ext uri="{FF2B5EF4-FFF2-40B4-BE49-F238E27FC236}">
                <a16:creationId xmlns:a16="http://schemas.microsoft.com/office/drawing/2014/main" id="{3BAF1AC4-A8E8-4335-A55E-9661FF3EDA08}"/>
              </a:ext>
            </a:extLst>
          </p:cNvPr>
          <p:cNvSpPr>
            <a:spLocks noGrp="1"/>
          </p:cNvSpPr>
          <p:nvPr/>
        </p:nvSpPr>
        <p:spPr>
          <a:xfrm>
            <a:off x="72294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3" name="diagram block">
            <a:extLst>
              <a:ext uri="{FF2B5EF4-FFF2-40B4-BE49-F238E27FC236}">
                <a16:creationId xmlns:a16="http://schemas.microsoft.com/office/drawing/2014/main" id="{C977BDC0-C914-4D4E-8368-A4F7CABE362D}"/>
              </a:ext>
            </a:extLst>
          </p:cNvPr>
          <p:cNvSpPr>
            <a:spLocks noGrp="1"/>
          </p:cNvSpPr>
          <p:nvPr/>
        </p:nvSpPr>
        <p:spPr>
          <a:xfrm>
            <a:off x="74390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4" name="diagram block">
            <a:extLst>
              <a:ext uri="{FF2B5EF4-FFF2-40B4-BE49-F238E27FC236}">
                <a16:creationId xmlns:a16="http://schemas.microsoft.com/office/drawing/2014/main" id="{783FC06B-EF00-4873-8FBB-A495A47276E5}"/>
              </a:ext>
            </a:extLst>
          </p:cNvPr>
          <p:cNvSpPr>
            <a:spLocks noGrp="1"/>
          </p:cNvSpPr>
          <p:nvPr/>
        </p:nvSpPr>
        <p:spPr>
          <a:xfrm>
            <a:off x="76485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5" name="diagram block">
            <a:extLst>
              <a:ext uri="{FF2B5EF4-FFF2-40B4-BE49-F238E27FC236}">
                <a16:creationId xmlns:a16="http://schemas.microsoft.com/office/drawing/2014/main" id="{2A0F15E8-5215-43C3-A558-CE4E441A04AB}"/>
              </a:ext>
            </a:extLst>
          </p:cNvPr>
          <p:cNvSpPr>
            <a:spLocks noGrp="1"/>
          </p:cNvSpPr>
          <p:nvPr/>
        </p:nvSpPr>
        <p:spPr>
          <a:xfrm>
            <a:off x="785812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6" name="diagram block">
            <a:extLst>
              <a:ext uri="{FF2B5EF4-FFF2-40B4-BE49-F238E27FC236}">
                <a16:creationId xmlns:a16="http://schemas.microsoft.com/office/drawing/2014/main" id="{F8CAC5D0-7027-4A93-B0D1-F6182B246BC3}"/>
              </a:ext>
            </a:extLst>
          </p:cNvPr>
          <p:cNvSpPr>
            <a:spLocks noGrp="1"/>
          </p:cNvSpPr>
          <p:nvPr/>
        </p:nvSpPr>
        <p:spPr>
          <a:xfrm>
            <a:off x="8067675" y="28479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7" name="diagram block">
            <a:extLst>
              <a:ext uri="{FF2B5EF4-FFF2-40B4-BE49-F238E27FC236}">
                <a16:creationId xmlns:a16="http://schemas.microsoft.com/office/drawing/2014/main" id="{8CDA0B42-EEBA-4352-84C8-ED66EDEC248C}"/>
              </a:ext>
            </a:extLst>
          </p:cNvPr>
          <p:cNvSpPr>
            <a:spLocks noGrp="1"/>
          </p:cNvSpPr>
          <p:nvPr/>
        </p:nvSpPr>
        <p:spPr>
          <a:xfrm>
            <a:off x="68103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8" name="diagram block">
            <a:extLst>
              <a:ext uri="{FF2B5EF4-FFF2-40B4-BE49-F238E27FC236}">
                <a16:creationId xmlns:a16="http://schemas.microsoft.com/office/drawing/2014/main" id="{134630EB-1D19-4BD5-A1F3-A944BA14A6B2}"/>
              </a:ext>
            </a:extLst>
          </p:cNvPr>
          <p:cNvSpPr>
            <a:spLocks noGrp="1"/>
          </p:cNvSpPr>
          <p:nvPr/>
        </p:nvSpPr>
        <p:spPr>
          <a:xfrm>
            <a:off x="70199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9" name="diagram block">
            <a:extLst>
              <a:ext uri="{FF2B5EF4-FFF2-40B4-BE49-F238E27FC236}">
                <a16:creationId xmlns:a16="http://schemas.microsoft.com/office/drawing/2014/main" id="{2AB14C96-15B0-4480-8678-25426C825DD0}"/>
              </a:ext>
            </a:extLst>
          </p:cNvPr>
          <p:cNvSpPr>
            <a:spLocks noGrp="1"/>
          </p:cNvSpPr>
          <p:nvPr/>
        </p:nvSpPr>
        <p:spPr>
          <a:xfrm>
            <a:off x="72294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0" name="diagram block">
            <a:extLst>
              <a:ext uri="{FF2B5EF4-FFF2-40B4-BE49-F238E27FC236}">
                <a16:creationId xmlns:a16="http://schemas.microsoft.com/office/drawing/2014/main" id="{9C2F33DD-8290-4007-B45A-2071FB50D934}"/>
              </a:ext>
            </a:extLst>
          </p:cNvPr>
          <p:cNvSpPr>
            <a:spLocks noGrp="1"/>
          </p:cNvSpPr>
          <p:nvPr/>
        </p:nvSpPr>
        <p:spPr>
          <a:xfrm>
            <a:off x="74390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1" name="diagram block">
            <a:extLst>
              <a:ext uri="{FF2B5EF4-FFF2-40B4-BE49-F238E27FC236}">
                <a16:creationId xmlns:a16="http://schemas.microsoft.com/office/drawing/2014/main" id="{136DAE59-5E45-493B-8838-615A52959498}"/>
              </a:ext>
            </a:extLst>
          </p:cNvPr>
          <p:cNvSpPr>
            <a:spLocks noGrp="1"/>
          </p:cNvSpPr>
          <p:nvPr/>
        </p:nvSpPr>
        <p:spPr>
          <a:xfrm>
            <a:off x="76485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2" name="diagram block">
            <a:extLst>
              <a:ext uri="{FF2B5EF4-FFF2-40B4-BE49-F238E27FC236}">
                <a16:creationId xmlns:a16="http://schemas.microsoft.com/office/drawing/2014/main" id="{2948D47D-8537-4497-857A-CAFF49136A2F}"/>
              </a:ext>
            </a:extLst>
          </p:cNvPr>
          <p:cNvSpPr>
            <a:spLocks noGrp="1"/>
          </p:cNvSpPr>
          <p:nvPr/>
        </p:nvSpPr>
        <p:spPr>
          <a:xfrm>
            <a:off x="785812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3" name="diagram block">
            <a:extLst>
              <a:ext uri="{FF2B5EF4-FFF2-40B4-BE49-F238E27FC236}">
                <a16:creationId xmlns:a16="http://schemas.microsoft.com/office/drawing/2014/main" id="{CE933839-D1F5-4963-AA16-1873E65A3B1A}"/>
              </a:ext>
            </a:extLst>
          </p:cNvPr>
          <p:cNvSpPr>
            <a:spLocks noGrp="1"/>
          </p:cNvSpPr>
          <p:nvPr/>
        </p:nvSpPr>
        <p:spPr>
          <a:xfrm>
            <a:off x="8067675" y="305752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4" name="diagram block">
            <a:extLst>
              <a:ext uri="{FF2B5EF4-FFF2-40B4-BE49-F238E27FC236}">
                <a16:creationId xmlns:a16="http://schemas.microsoft.com/office/drawing/2014/main" id="{F4C2C585-5F10-4DB0-8B52-EB8B585950C5}"/>
              </a:ext>
            </a:extLst>
          </p:cNvPr>
          <p:cNvSpPr>
            <a:spLocks noGrp="1"/>
          </p:cNvSpPr>
          <p:nvPr/>
        </p:nvSpPr>
        <p:spPr>
          <a:xfrm>
            <a:off x="68103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5" name="diagram block">
            <a:extLst>
              <a:ext uri="{FF2B5EF4-FFF2-40B4-BE49-F238E27FC236}">
                <a16:creationId xmlns:a16="http://schemas.microsoft.com/office/drawing/2014/main" id="{4CA55D79-88B8-4DBB-A6B0-CF20CA819DB7}"/>
              </a:ext>
            </a:extLst>
          </p:cNvPr>
          <p:cNvSpPr>
            <a:spLocks noGrp="1"/>
          </p:cNvSpPr>
          <p:nvPr/>
        </p:nvSpPr>
        <p:spPr>
          <a:xfrm>
            <a:off x="70199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6" name="diagram block">
            <a:extLst>
              <a:ext uri="{FF2B5EF4-FFF2-40B4-BE49-F238E27FC236}">
                <a16:creationId xmlns:a16="http://schemas.microsoft.com/office/drawing/2014/main" id="{741C30CF-C434-4365-A758-91DECFCE8BDA}"/>
              </a:ext>
            </a:extLst>
          </p:cNvPr>
          <p:cNvSpPr>
            <a:spLocks noGrp="1"/>
          </p:cNvSpPr>
          <p:nvPr/>
        </p:nvSpPr>
        <p:spPr>
          <a:xfrm>
            <a:off x="72294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7" name="diagram block">
            <a:extLst>
              <a:ext uri="{FF2B5EF4-FFF2-40B4-BE49-F238E27FC236}">
                <a16:creationId xmlns:a16="http://schemas.microsoft.com/office/drawing/2014/main" id="{EC5ED8B9-F366-4CD9-8ECC-A8EF1E1A70D8}"/>
              </a:ext>
            </a:extLst>
          </p:cNvPr>
          <p:cNvSpPr>
            <a:spLocks noGrp="1"/>
          </p:cNvSpPr>
          <p:nvPr/>
        </p:nvSpPr>
        <p:spPr>
          <a:xfrm>
            <a:off x="74390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8" name="diagram block">
            <a:extLst>
              <a:ext uri="{FF2B5EF4-FFF2-40B4-BE49-F238E27FC236}">
                <a16:creationId xmlns:a16="http://schemas.microsoft.com/office/drawing/2014/main" id="{08FB166E-CE6E-4373-8768-8A1987C7E936}"/>
              </a:ext>
            </a:extLst>
          </p:cNvPr>
          <p:cNvSpPr>
            <a:spLocks noGrp="1"/>
          </p:cNvSpPr>
          <p:nvPr/>
        </p:nvSpPr>
        <p:spPr>
          <a:xfrm>
            <a:off x="76485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9" name="diagram block">
            <a:extLst>
              <a:ext uri="{FF2B5EF4-FFF2-40B4-BE49-F238E27FC236}">
                <a16:creationId xmlns:a16="http://schemas.microsoft.com/office/drawing/2014/main" id="{A9196810-43F7-4FA4-8D5B-7A3C71B854F1}"/>
              </a:ext>
            </a:extLst>
          </p:cNvPr>
          <p:cNvSpPr>
            <a:spLocks noGrp="1"/>
          </p:cNvSpPr>
          <p:nvPr/>
        </p:nvSpPr>
        <p:spPr>
          <a:xfrm>
            <a:off x="785812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0" name="diagram block">
            <a:extLst>
              <a:ext uri="{FF2B5EF4-FFF2-40B4-BE49-F238E27FC236}">
                <a16:creationId xmlns:a16="http://schemas.microsoft.com/office/drawing/2014/main" id="{B8DC177F-626C-4E0F-BB68-445F9ED1ECE9}"/>
              </a:ext>
            </a:extLst>
          </p:cNvPr>
          <p:cNvSpPr>
            <a:spLocks noGrp="1"/>
          </p:cNvSpPr>
          <p:nvPr/>
        </p:nvSpPr>
        <p:spPr>
          <a:xfrm>
            <a:off x="8067675" y="3267075"/>
            <a:ext cx="190500" cy="190500"/>
          </a:xfrm>
          <a:prstGeom prst="rect">
            <a:avLst/>
          </a:prstGeom>
          <a:solidFill>
            <a:srgbClr val="FFF2D6"/>
          </a:solidFill>
          <a:ln w="11430">
            <a:solidFill>
              <a:srgbClr val="E5C785"/>
            </a:solidFill>
          </a:ln>
        </p:spPr>
        <p:txBody>
          <a:bodyPr wrap="square" lIns="57150" tIns="28575" rIns="57150" bIns="28575" anchor="ctr">
            <a:noAutofit/>
          </a:bodyPr>
          <a:lstStyle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1" name="time 2">
            <a:extLst>
              <a:ext uri="{FF2B5EF4-FFF2-40B4-BE49-F238E27FC236}">
                <a16:creationId xmlns:a16="http://schemas.microsoft.com/office/drawing/2014/main" id="{9A69B97A-B054-4E59-9B9B-0FE76E58CDF0}"/>
              </a:ext>
            </a:extLst>
          </p:cNvPr>
          <p:cNvSpPr>
            <a:spLocks noGrp="1"/>
          </p:cNvSpPr>
          <p:nvPr/>
        </p:nvSpPr>
        <p:spPr>
          <a:xfrm>
            <a:off x="6810375" y="1743075"/>
            <a:ext cx="1466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cxnSp>
        <p:nvCxnSpPr>
          <p:cNvPr id="122" name="diagram connector">
            <a:extLst>
              <a:ext uri="{FF2B5EF4-FFF2-40B4-BE49-F238E27FC236}">
                <a16:creationId xmlns:a16="http://schemas.microsoft.com/office/drawing/2014/main" id="{5689DA3B-ADB1-4730-9CF1-72E9BAB6F6A6}"/>
              </a:ext>
            </a:extLst>
          </p:cNvPr>
          <p:cNvCxnSpPr/>
          <p:nvPr/>
        </p:nvCxnSpPr>
        <p:spPr>
          <a:xfrm flipH="1" flipV="1">
            <a:off x="518160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3" name="diagram connector">
            <a:extLst>
              <a:ext uri="{FF2B5EF4-FFF2-40B4-BE49-F238E27FC236}">
                <a16:creationId xmlns:a16="http://schemas.microsoft.com/office/drawing/2014/main" id="{395F88DD-A677-4FE4-A3F6-601AF1157162}"/>
              </a:ext>
            </a:extLst>
          </p:cNvPr>
          <p:cNvCxnSpPr/>
          <p:nvPr/>
        </p:nvCxnSpPr>
        <p:spPr>
          <a:xfrm flipV="1">
            <a:off x="5391150" y="252412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4" name="diagram connector">
            <a:extLst>
              <a:ext uri="{FF2B5EF4-FFF2-40B4-BE49-F238E27FC236}">
                <a16:creationId xmlns:a16="http://schemas.microsoft.com/office/drawing/2014/main" id="{54A80E8C-32C7-4B3E-9B05-F5DE6867EF63}"/>
              </a:ext>
            </a:extLst>
          </p:cNvPr>
          <p:cNvCxnSpPr/>
          <p:nvPr/>
        </p:nvCxnSpPr>
        <p:spPr>
          <a:xfrm flipV="1">
            <a:off x="5391150" y="252412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5" name="diagram connector">
            <a:extLst>
              <a:ext uri="{FF2B5EF4-FFF2-40B4-BE49-F238E27FC236}">
                <a16:creationId xmlns:a16="http://schemas.microsoft.com/office/drawing/2014/main" id="{23897515-ED79-465A-B82A-29352E4CA0F6}"/>
              </a:ext>
            </a:extLst>
          </p:cNvPr>
          <p:cNvCxnSpPr/>
          <p:nvPr/>
        </p:nvCxnSpPr>
        <p:spPr>
          <a:xfrm flipH="1">
            <a:off x="518160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6" name="diagram connector">
            <a:extLst>
              <a:ext uri="{FF2B5EF4-FFF2-40B4-BE49-F238E27FC236}">
                <a16:creationId xmlns:a16="http://schemas.microsoft.com/office/drawing/2014/main" id="{2E3E67F0-0CDF-464C-A75D-7F22B910C552}"/>
              </a:ext>
            </a:extLst>
          </p:cNvPr>
          <p:cNvCxnSpPr/>
          <p:nvPr/>
        </p:nvCxnSpPr>
        <p:spPr>
          <a:xfrm>
            <a:off x="5391150" y="2733675"/>
            <a:ext cx="209550" cy="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7" name="diagram connector">
            <a:extLst>
              <a:ext uri="{FF2B5EF4-FFF2-40B4-BE49-F238E27FC236}">
                <a16:creationId xmlns:a16="http://schemas.microsoft.com/office/drawing/2014/main" id="{C7BCF471-C94B-4166-8E68-E65722A491E2}"/>
              </a:ext>
            </a:extLst>
          </p:cNvPr>
          <p:cNvCxnSpPr/>
          <p:nvPr/>
        </p:nvCxnSpPr>
        <p:spPr>
          <a:xfrm flipH="1">
            <a:off x="518160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8" name="diagram connector">
            <a:extLst>
              <a:ext uri="{FF2B5EF4-FFF2-40B4-BE49-F238E27FC236}">
                <a16:creationId xmlns:a16="http://schemas.microsoft.com/office/drawing/2014/main" id="{C570B9B2-7FA5-4100-AD3A-9FF892620DE4}"/>
              </a:ext>
            </a:extLst>
          </p:cNvPr>
          <p:cNvCxnSpPr/>
          <p:nvPr/>
        </p:nvCxnSpPr>
        <p:spPr>
          <a:xfrm>
            <a:off x="5391150" y="2733675"/>
            <a:ext cx="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29" name="diagram connector">
            <a:extLst>
              <a:ext uri="{FF2B5EF4-FFF2-40B4-BE49-F238E27FC236}">
                <a16:creationId xmlns:a16="http://schemas.microsoft.com/office/drawing/2014/main" id="{1A3FDE95-71ED-4A98-8617-04EB1F771DB0}"/>
              </a:ext>
            </a:extLst>
          </p:cNvPr>
          <p:cNvCxnSpPr/>
          <p:nvPr/>
        </p:nvCxnSpPr>
        <p:spPr>
          <a:xfrm>
            <a:off x="5391150" y="2733675"/>
            <a:ext cx="209550" cy="209550"/>
          </a:xfrm>
          <a:prstGeom prst="straightConnector1">
            <a:avLst/>
          </a:prstGeom>
          <a:ln w="9525">
            <a:solidFill>
              <a:srgbClr val="BA7A13"/>
            </a:solidFill>
            <a:prstDash val="solid"/>
          </a:ln>
        </p:spPr>
      </p:cxnSp>
      <p:cxnSp>
        <p:nvCxnSpPr>
          <p:cNvPr id="130" name="diagram connector">
            <a:extLst>
              <a:ext uri="{FF2B5EF4-FFF2-40B4-BE49-F238E27FC236}">
                <a16:creationId xmlns:a16="http://schemas.microsoft.com/office/drawing/2014/main" id="{17452E4A-2D55-4BC6-B88B-896989D91BA7}"/>
              </a:ext>
            </a:extLst>
          </p:cNvPr>
          <p:cNvCxnSpPr/>
          <p:nvPr/>
        </p:nvCxnSpPr>
        <p:spPr>
          <a:xfrm>
            <a:off x="5495925" y="2724150"/>
            <a:ext cx="2019300" cy="0"/>
          </a:xfrm>
          <a:prstGeom prst="straightConnector1">
            <a:avLst/>
          </a:prstGeom>
          <a:ln w="17145">
            <a:solidFill>
              <a:srgbClr val="B5444F"/>
            </a:solidFill>
            <a:prstDash val="dash"/>
            <a:tailEnd type="triangle" w="sm" len="sm"/>
          </a:ln>
        </p:spPr>
      </p:cxnSp>
      <p:sp>
        <p:nvSpPr>
          <p:cNvPr id="131" name="8 spatial neighbors + same-position time edge&#10;2×2 pool ">
            <a:extLst>
              <a:ext uri="{FF2B5EF4-FFF2-40B4-BE49-F238E27FC236}">
                <a16:creationId xmlns:a16="http://schemas.microsoft.com/office/drawing/2014/main" id="{C947369A-C154-4929-873D-06390C5A74F5}"/>
              </a:ext>
            </a:extLst>
          </p:cNvPr>
          <p:cNvSpPr>
            <a:spLocks noGrp="1"/>
          </p:cNvSpPr>
          <p:nvPr/>
        </p:nvSpPr>
        <p:spPr>
          <a:xfrm>
            <a:off x="4648200" y="3629025"/>
            <a:ext cx="38862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8 spatial neighbors + same-position time edge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2×2 pool per view; no cross-camera edges</a:t>
            </a:r>
          </a:p>
        </p:txBody>
      </p:sp>
      <p:sp>
        <p:nvSpPr>
          <p:cNvPr id="132" name="dᵢⱼ = mean (uᵢ − uⱼ)²    p(j|i) = softmax(−dᵢⱼ / τ)">
            <a:extLst>
              <a:ext uri="{FF2B5EF4-FFF2-40B4-BE49-F238E27FC236}">
                <a16:creationId xmlns:a16="http://schemas.microsoft.com/office/drawing/2014/main" id="{200295F8-1C56-4AEA-892D-4BB7A74825C0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dᵢⱼ = mean (uᵢ − uⱼ)²    p(j|i) = softmax(−dᵢⱼ / τ)</a:t>
            </a:r>
          </a:p>
        </p:txBody>
      </p:sp>
      <p:sp>
        <p:nvSpPr>
          <p:cNvPr id="133" name="Match teacher → student neighbor distributions with KL;">
            <a:extLst>
              <a:ext uri="{FF2B5EF4-FFF2-40B4-BE49-F238E27FC236}">
                <a16:creationId xmlns:a16="http://schemas.microsoft.com/office/drawing/2014/main" id="{6CCD2EE2-D94F-428D-8B78-17C55F5B492F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Match teacher → student neighbor distributions with KL; frozen teacher statistics and temperature.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The combined KL objective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3">
            <a:extLst>
              <a:ext uri="{FF2B5EF4-FFF2-40B4-BE49-F238E27FC236}">
                <a16:creationId xmlns:a16="http://schemas.microsoft.com/office/drawing/2014/main" id="{AC833E53-C3E9-4B42-9168-EED21F0EB3B4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 = α_a [ L_bin,a + β_a L_temporal,a ]">
            <a:extLst>
              <a:ext uri="{FF2B5EF4-FFF2-40B4-BE49-F238E27FC236}">
                <a16:creationId xmlns:a16="http://schemas.microsoft.com/office/drawing/2014/main" id="{28671CD8-F73C-42A0-8940-71195EE27833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 = α_a [ L_bin,a + β_a L_temporal,a ]</a:t>
            </a:r>
          </a:p>
        </p:txBody>
      </p:sp>
      <p:sp>
        <p:nvSpPr>
          <p:cNvPr id="6" name="     + λ α_z [ L_bin,z + β_z L_spatiotemporal,z ]">
            <a:extLst>
              <a:ext uri="{FF2B5EF4-FFF2-40B4-BE49-F238E27FC236}">
                <a16:creationId xmlns:a16="http://schemas.microsoft.com/office/drawing/2014/main" id="{9A9F28DE-5313-4C6A-9B6C-5E0D29156A59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7924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     + λ α_z [ L_bin,z + β_z L_spatiotemporal,z ]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2138694-B2C3-4F50-B9E1-78B0778AFD59}"/>
              </a:ext>
            </a:extLst>
          </p:cNvPr>
          <p:cNvGraphicFramePr/>
          <p:nvPr/>
        </p:nvGraphicFramePr>
        <p:xfrm>
          <a:off x="609600" y="2266950"/>
          <a:ext cx="7924800" cy="17621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 / calibration rule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α_a, α_z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Initial C80 MSE / soft-bin KL; NMSE / soft-bin KL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λ = ρc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Original action–latent balance; ρ=1.5, λ≈0.04245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τ_a, τ_z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Median positive C80 teacher neighbor distance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β_a, β_z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0.25 × soft-bin KL / relation KL under fixed teacher noise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nly student D and clipping ratios are updated.&#10;All sta">
            <a:extLst>
              <a:ext uri="{FF2B5EF4-FFF2-40B4-BE49-F238E27FC236}">
                <a16:creationId xmlns:a16="http://schemas.microsoft.com/office/drawing/2014/main" id="{F636B259-D916-4F1A-BB13-FA6F14FE3602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7924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Only student D and clipping ratios are updated.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All statistics and weights are frozen before training; teacher is detached.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KL refinement: current evidence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4">
            <a:extLst>
              <a:ext uri="{FF2B5EF4-FFF2-40B4-BE49-F238E27FC236}">
                <ns2:creationId id="{CFEC2950-EA3F-4C2A-B4BC-003C01097588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ame held-out 40 cases × 2 seeds · fixed final80 checkp">
            <a:extLst>
              <a:ext uri="{FF2B5EF4-FFF2-40B4-BE49-F238E27FC236}">
                <ns2:creationId id="{0821A2BB-E283-4417-9DF1-63F812B313C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Same held-out 40 cases × 2 seeds · fixed final80 checkpoints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ns2:creationId id="{F9A53C2F-7038-4A81-9837-9CF9D2CB05C0}"/>
              </a:ext>
            </a:extLst>
          </p:cNvPr>
          <p:cNvGraphicFramePr/>
          <p:nvPr/>
        </p:nvGraphicFramePr>
        <p:xfrm>
          <a:off x="609600" y="1362075"/>
          <a:ext cx="7924800" cy="17856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ns2:colId val="20000"/>
                    </a:ext>
                  </a:extLst>
                </a:gridCol>
                <a:gridCol w="1285875">
                  <a:extLst>
                    <a:ext uri="{9D8B030D-6E8A-4147-A177-3AD203B41FA5}">
                      <ns2:colId val="20001"/>
                    </a:ext>
                  </a:extLst>
                </a:gridCol>
                <a:gridCol w="1285875">
                  <a:extLst>
                    <a:ext uri="{9D8B030D-6E8A-4147-A177-3AD203B41FA5}">
                      <ns2:colId val="20002"/>
                    </a:ext>
                  </a:extLst>
                </a:gridCol>
                <a:gridCol w="1285875">
                  <a:extLst>
                    <a:ext uri="{9D8B030D-6E8A-4147-A177-3AD203B41FA5}">
                      <ns2:colId val="20003"/>
                    </a:ext>
                  </a:extLst>
                </a:gridCol>
                <a:gridCol w="1438275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Refinement loss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relation KL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MSE + NMSE (historical)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Soft-bin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0.032330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0.053033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0.040418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0.006397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Soft-bin + relational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0.031438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0.054296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0.034485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0.006147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7" name="Adding relations: temporal KL −14.68%, latent relation ">
            <a:extLst>
              <a:ext uri="{FF2B5EF4-FFF2-40B4-BE49-F238E27FC236}">
                <ns2:creationId id="{78A2CF9D-8CE6-44F8-B3B0-553F7C35E23D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7924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Adding relations: temporal KL −14.68%, latent relation KL −3.91%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Motor RMSE −2.76%, while latent NMSE rises 2.38% vs soft-bin</a:t>
            </a:r>
          </a:p>
        </p:txBody>
      </p:sp>
      <p:sp>
        <p:nvSpPr>
          <p:cNvPr id="8" name="Paired LIBERO+ evaluation is in progress; final success">
            <a:extLst>
              <a:ext uri="{FF2B5EF4-FFF2-40B4-BE49-F238E27FC236}">
                <ns2:creationId id="{BB949A31-2612-493F-A278-2B1C7EA5FFA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7924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B5444F"/>
                </a:solidFill>
                <a:latin typeface="Arial"/>
                <a:ea typeface="Arial"/>
                <a:cs typeface="Arial"/>
              </a:rPr>
              <a:t>Paired LIBERO+ evaluation is in progress; final success rates are pending.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5">
            <a:extLst>
              <a:ext uri="{FF2B5EF4-FFF2-40B4-BE49-F238E27FC236}">
                <ns2:creationId id="{108EA697-04C7-4350-B015-F56168B176B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01">
            <a:extLst>
              <a:ext uri="{FF2B5EF4-FFF2-40B4-BE49-F238E27FC236}">
                <ns2:creationId id="{B7D68348-4934-48CE-B2AF-2048ABC5B63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dentify future-latent fidelity as a key quantization t">
            <a:extLst>
              <a:ext uri="{FF2B5EF4-FFF2-40B4-BE49-F238E27FC236}">
                <ns2:creationId id="{8CF1897E-CC79-4F24-9B9B-1FCCD1C0DA33}"/>
              </a:ext>
            </a:extLst>
          </p:cNvPr>
          <p:cNvSpPr>
            <a:spLocks noGrp="1"/>
          </p:cNvSpPr>
          <p:nvPr/>
        </p:nvSpPr>
        <p:spPr>
          <a:xfrm>
            <a:off x="1219200" y="876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Identify future-latent fidelity as a key quantization target</a:t>
            </a:r>
          </a:p>
        </p:txBody>
      </p:sp>
      <p:sp>
        <p:nvSpPr>
          <p:cNvPr id="7" name="Evidence: fixed-reader interventions link latent preser">
            <a:extLst>
              <a:ext uri="{FF2B5EF4-FFF2-40B4-BE49-F238E27FC236}">
                <ns2:creationId id="{6D1A471D-42D7-49C0-BB73-DCBA9A1A1E9F}"/>
              </a:ext>
            </a:extLst>
          </p:cNvPr>
          <p:cNvSpPr>
            <a:spLocks noGrp="1"/>
          </p:cNvSpPr>
          <p:nvPr/>
        </p:nvSpPr>
        <p:spPr>
          <a:xfrm>
            <a:off x="1219200" y="1228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Evidence: fixed-reader interventions link latent preservation to mean action fidelity.</a:t>
            </a:r>
          </a:p>
        </p:txBody>
      </p:sp>
      <p:sp>
        <p:nvSpPr>
          <p:cNvPr id="8" name="02">
            <a:extLst>
              <a:ext uri="{FF2B5EF4-FFF2-40B4-BE49-F238E27FC236}">
                <ns2:creationId id="{9C4A07F1-9A5B-43D0-9759-BD313EC41EE2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evelop latent + action relational distillation for WAM">
            <a:extLst>
              <a:ext uri="{FF2B5EF4-FFF2-40B4-BE49-F238E27FC236}">
                <ns2:creationId id="{3AFFE3DE-44BD-400D-9D57-33A31DD5902E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latent + action relational </a:t>
            </a:r>
            <a:r>
              <a:rPr lang="en-US"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KL</a:t>
            </a:r>
            <a:r>
              <a:rPr lang="en-US" dirty="0"/>
              <a:t> </a:t>
            </a: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distillation for WAMs</a:t>
            </a:r>
          </a:p>
        </p:txBody>
      </p:sp>
      <p:sp>
        <p:nvSpPr>
          <p:cNvPr id="10" name="Aim: preserve value and structure, and better anticipat">
            <a:extLst>
              <a:ext uri="{FF2B5EF4-FFF2-40B4-BE49-F238E27FC236}">
                <ns2:creationId id="{EA5A2CFB-6725-4FF8-A0EA-49A026D8048C}"/>
              </a:ext>
            </a:extLst>
          </p:cNvPr>
          <p:cNvSpPr>
            <a:spLocks noGrp="1"/>
          </p:cNvSpPr>
          <p:nvPr/>
        </p:nvSpPr>
        <p:spPr>
          <a:xfrm>
            <a:off x="1219200" y="21431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Aim: preserve value and structure, and better anticipate rollout error.</a:t>
            </a:r>
          </a:p>
        </p:txBody>
      </p:sp>
      <p:sp>
        <p:nvSpPr>
          <p:cNvPr id="11" name="03">
            <a:extLst>
              <a:ext uri="{FF2B5EF4-FFF2-40B4-BE49-F238E27FC236}">
                <ns2:creationId id="{4E883789-CFA6-428B-A362-71A78019108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Build a VQ framework with competitive performance at si">
            <a:extLst>
              <a:ext uri="{FF2B5EF4-FFF2-40B4-BE49-F238E27FC236}">
                <ns2:creationId id="{88CB98DB-9DE5-4235-A5CC-05B8D4C203D9}"/>
              </a:ext>
            </a:extLst>
          </p:cNvPr>
          <p:cNvSpPr>
            <a:spLocks noGrp="1"/>
          </p:cNvSpPr>
          <p:nvPr/>
        </p:nvSpPr>
        <p:spPr>
          <a:xfrm>
            <a:off x="1219200" y="27051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Build a VQ framework with competitive performance at similar bpw</a:t>
            </a:r>
          </a:p>
        </p:txBody>
      </p:sp>
      <p:sp>
        <p:nvSpPr>
          <p:cNvPr id="13" name="Demonstrated on Fast-WAM and Cosmos Policy; “first” req">
            <a:extLst>
              <a:ext uri="{FF2B5EF4-FFF2-40B4-BE49-F238E27FC236}">
                <ns2:creationId id="{C45C1403-C7AB-434E-911F-C7D4CA3F5BE9}"/>
              </a:ext>
            </a:extLst>
          </p:cNvPr>
          <p:cNvSpPr>
            <a:spLocks noGrp="1"/>
          </p:cNvSpPr>
          <p:nvPr/>
        </p:nvSpPr>
        <p:spPr>
          <a:xfrm>
            <a:off x="1219200" y="30575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Demonstrated on Fast-WAM and Cosmos Policy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expand to </a:t>
            </a:r>
            <a:r>
              <a:rPr lang="en-US" altLang="zh-CN" dirty="0" err="1"/>
              <a:t>Lingbot</a:t>
            </a:r>
            <a:r>
              <a:rPr lang="en-US" altLang="zh-CN" dirty="0"/>
              <a:t> VA</a:t>
            </a:r>
            <a:endParaRPr sz="1500" b="0" dirty="0">
              <a:solidFill>
                <a:srgbClr val="6471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04">
            <a:extLst>
              <a:ext uri="{FF2B5EF4-FFF2-40B4-BE49-F238E27FC236}">
                <ns2:creationId id="{8C85AD22-7EDA-40D0-B472-0C412634856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Deliver native kernel acceleration for the VQ framework">
            <a:extLst>
              <a:ext uri="{FF2B5EF4-FFF2-40B4-BE49-F238E27FC236}">
                <ns2:creationId id="{8EC93EB3-D5B4-4A5B-8CC2-FD7799875B5C}"/>
              </a:ext>
            </a:extLst>
          </p:cNvPr>
          <p:cNvSpPr>
            <a:spLocks noGrp="1"/>
          </p:cNvSpPr>
          <p:nvPr/>
        </p:nvSpPr>
        <p:spPr>
          <a:xfrm>
            <a:off x="1219200" y="36195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Deliver native kernel acceleration for the VQ framework</a:t>
            </a:r>
          </a:p>
        </p:txBody>
      </p:sp>
      <p:sp>
        <p:nvSpPr>
          <p:cNvPr id="16" name="Planned contribution · not implemented yet; no native s">
            <a:extLst>
              <a:ext uri="{FF2B5EF4-FFF2-40B4-BE49-F238E27FC236}">
                <ns2:creationId id="{27B3DB6B-892C-40B4-A6EB-38A68FB6B20A}"/>
              </a:ext>
            </a:extLst>
          </p:cNvPr>
          <p:cNvSpPr>
            <a:spLocks noGrp="1"/>
          </p:cNvSpPr>
          <p:nvPr/>
        </p:nvSpPr>
        <p:spPr>
          <a:xfrm>
            <a:off x="1219200" y="39719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not implemented yet; 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6">
            <a:extLst>
              <a:ext uri="{FF2B5EF4-FFF2-40B4-BE49-F238E27FC236}">
                <ns2:creationId id="{CEF0AC16-EF2A-415B-A3E5-8F6732FA1B7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01">
            <a:extLst>
              <a:ext uri="{FF2B5EF4-FFF2-40B4-BE49-F238E27FC236}">
                <ns2:creationId id="{305A9A48-284B-4983-9357-09DB5B76AC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fine KL against closed-loop outcomes">
            <a:extLst>
              <a:ext uri="{FF2B5EF4-FFF2-40B4-BE49-F238E27FC236}">
                <ns2:creationId id="{AEAF0434-A82E-4960-B4C0-5509583ED783}"/>
              </a:ext>
            </a:extLst>
          </p:cNvPr>
          <p:cNvSpPr>
            <a:spLocks noGrp="1"/>
          </p:cNvSpPr>
          <p:nvPr/>
        </p:nvSpPr>
        <p:spPr>
          <a:xfrm>
            <a:off x="1219200" y="81915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Refine KL against closed-loop outcomes</a:t>
            </a:r>
          </a:p>
        </p:txBody>
      </p:sp>
      <p:sp>
        <p:nvSpPr>
          <p:cNvPr id="7" name="Finish the paired run; inspect failure traces and impro">
            <a:extLst>
              <a:ext uri="{FF2B5EF4-FFF2-40B4-BE49-F238E27FC236}">
                <ns2:creationId id="{8DD053D8-9C33-4327-B94A-C845097B47EE}"/>
              </a:ext>
            </a:extLst>
          </p:cNvPr>
          <p:cNvSpPr>
            <a:spLocks noGrp="1"/>
          </p:cNvSpPr>
          <p:nvPr/>
        </p:nvSpPr>
        <p:spPr>
          <a:xfrm>
            <a:off x="1219200" y="117157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inspect failure traces and improve loss balance.</a:t>
            </a:r>
          </a:p>
        </p:txBody>
      </p:sp>
      <p:sp>
        <p:nvSpPr>
          <p:cNvPr id="8" name="02">
            <a:extLst>
              <a:ext uri="{FF2B5EF4-FFF2-40B4-BE49-F238E27FC236}">
                <ns2:creationId id="{593C0B44-80C2-45DC-A90A-BE905D1DADFC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n controlled ablations">
            <a:extLst>
              <a:ext uri="{FF2B5EF4-FFF2-40B4-BE49-F238E27FC236}">
                <ns2:creationId id="{BE4F7C39-5091-47CC-BF67-E7222212992B}"/>
              </a:ext>
            </a:extLst>
          </p:cNvPr>
          <p:cNvSpPr>
            <a:spLocks noGrp="1"/>
          </p:cNvSpPr>
          <p:nvPr/>
        </p:nvSpPr>
        <p:spPr>
          <a:xfrm>
            <a:off x="1219200" y="160972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Run controlled ablations</a:t>
            </a:r>
          </a:p>
        </p:txBody>
      </p:sp>
      <p:sp>
        <p:nvSpPr>
          <p:cNvPr id="10" name="Soft-bin / temporal / spatial terms; action–latent bala">
            <a:extLst>
              <a:ext uri="{FF2B5EF4-FFF2-40B4-BE49-F238E27FC236}">
                <ns2:creationId id="{17698A78-DC30-40E2-8305-7E85CB95C311}"/>
              </a:ext>
            </a:extLst>
          </p:cNvPr>
          <p:cNvSpPr>
            <a:spLocks noGrp="1"/>
          </p:cNvSpPr>
          <p:nvPr/>
        </p:nvSpPr>
        <p:spPr>
          <a:xfrm>
            <a:off x="1219200" y="196215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Soft-bin / temporal / spatial terms; action–latent balance; 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per channel/direct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clipping.</a:t>
            </a:r>
          </a:p>
        </p:txBody>
      </p:sp>
      <p:sp>
        <p:nvSpPr>
          <p:cNvPr id="11" name="03">
            <a:extLst>
              <a:ext uri="{FF2B5EF4-FFF2-40B4-BE49-F238E27FC236}">
                <ns2:creationId id="{F6A145ED-F72E-4811-8B19-7B384A39191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and models and benchmarks">
            <a:extLst>
              <a:ext uri="{FF2B5EF4-FFF2-40B4-BE49-F238E27FC236}">
                <ns2:creationId id="{A6D15AE7-E171-4E42-929E-F7A01F3B78E5}"/>
              </a:ext>
            </a:extLst>
          </p:cNvPr>
          <p:cNvSpPr>
            <a:spLocks noGrp="1"/>
          </p:cNvSpPr>
          <p:nvPr/>
        </p:nvSpPr>
        <p:spPr>
          <a:xfrm>
            <a:off x="1219200" y="2400300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Expand models and benchmarks</a:t>
            </a:r>
          </a:p>
        </p:txBody>
      </p:sp>
      <p:sp>
        <p:nvSpPr>
          <p:cNvPr id="13" name="Cosmos Policy on LIBERO / LIBERO+; LingBot-VA2 on RoboT">
            <a:extLst>
              <a:ext uri="{FF2B5EF4-FFF2-40B4-BE49-F238E27FC236}">
                <ns2:creationId id="{9CFD0449-E907-4C35-A204-FCEAADDAE1DA}"/>
              </a:ext>
            </a:extLst>
          </p:cNvPr>
          <p:cNvSpPr>
            <a:spLocks noGrp="1"/>
          </p:cNvSpPr>
          <p:nvPr/>
        </p:nvSpPr>
        <p:spPr>
          <a:xfrm>
            <a:off x="1219200" y="2752725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FastWAM</a:t>
            </a:r>
            <a:r>
              <a:rPr lang="en-US"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/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Cosmos Policy on LIBERO / LIBERO+; LingBot-VA2 on </a:t>
            </a:r>
            <a:r>
              <a:rPr sz="1500" b="0" dirty="0" err="1">
                <a:solidFill>
                  <a:srgbClr val="647184"/>
                </a:solidFill>
                <a:latin typeface="Arial"/>
                <a:ea typeface="Arial"/>
                <a:cs typeface="Arial"/>
              </a:rPr>
              <a:t>RoboTwin</a:t>
            </a:r>
            <a:r>
              <a:rPr sz="1500" b="0" dirty="0">
                <a:solidFill>
                  <a:srgbClr val="647184"/>
                </a:solidFill>
                <a:latin typeface="Arial"/>
                <a:ea typeface="Arial"/>
                <a:cs typeface="Arial"/>
              </a:rPr>
              <a:t> 2.0.</a:t>
            </a:r>
          </a:p>
        </p:txBody>
      </p:sp>
      <p:sp>
        <p:nvSpPr>
          <p:cNvPr id="14" name="04">
            <a:extLst>
              <a:ext uri="{FF2B5EF4-FFF2-40B4-BE49-F238E27FC236}">
                <ns2:creationId id="{9D4437E9-FB78-4690-8601-DB7B0E1C793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alidate on a real robot and implement native accelerat">
            <a:extLst>
              <a:ext uri="{FF2B5EF4-FFF2-40B4-BE49-F238E27FC236}">
                <ns2:creationId id="{C6F0A0FD-D623-48A0-AAAE-EB969088F305}"/>
              </a:ext>
            </a:extLst>
          </p:cNvPr>
          <p:cNvSpPr>
            <a:spLocks noGrp="1"/>
          </p:cNvSpPr>
          <p:nvPr/>
        </p:nvSpPr>
        <p:spPr>
          <a:xfrm>
            <a:off x="1219200" y="3190875"/>
            <a:ext cx="731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Validate on a real robot and implement native acceleration</a:t>
            </a:r>
          </a:p>
        </p:txBody>
      </p:sp>
      <p:sp>
        <p:nvSpPr>
          <p:cNvPr id="16" name="Measure task success and end-to-end latency; establish ">
            <a:extLst>
              <a:ext uri="{FF2B5EF4-FFF2-40B4-BE49-F238E27FC236}">
                <ns2:creationId id="{EBF3E6B8-2144-4665-9A32-83C70BBE2CC7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7315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Measure task success and end-to-end latency; establish the actual deployment gain.</a:t>
            </a:r>
          </a:p>
        </p:txBody>
      </p:sp>
      <p:sp>
        <p:nvSpPr>
          <p:cNvPr id="17" name="Hope to catch CVPR :)">
            <a:extLst>
              <a:ext uri="{FF2B5EF4-FFF2-40B4-BE49-F238E27FC236}">
                <ns2:creationId id="{2CF3078A-33AE-451A-984C-806ADE990C82}"/>
              </a:ext>
            </a:extLst>
          </p:cNvPr>
          <p:cNvSpPr>
            <a:spLocks noGrp="1"/>
          </p:cNvSpPr>
          <p:nvPr/>
        </p:nvSpPr>
        <p:spPr>
          <a:xfrm>
            <a:off x="1219200" y="4333875"/>
            <a:ext cx="7315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Hope to catch CVPR :)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0" y="2219325"/>
            <a:ext cx="5905500" cy="952500"/>
          </a:xfrm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Thankuuu</a:t>
            </a:r>
            <a:endParaRPr sz="3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protocol and bit-budget scope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8">
            <a:extLst>
              <a:ext uri="{FF2B5EF4-FFF2-40B4-BE49-F238E27FC236}">
                <ns2:creationId id="{E553F4E8-1507-45A2-91E3-975BB0F26FC3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656A2AC1-8433-49C8-818C-C40D39F5ECE0}"/>
              </a:ext>
            </a:extLst>
          </p:cNvPr>
          <p:cNvGraphicFramePr/>
          <p:nvPr/>
        </p:nvGraphicFramePr>
        <p:xfrm>
          <a:off x="609600" y="981075"/>
          <a:ext cx="7924800" cy="274510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ns2:colId val="20000"/>
                    </a:ext>
                  </a:extLst>
                </a:gridCol>
                <a:gridCol w="3143250">
                  <a:extLst>
                    <a:ext uri="{9D8B030D-6E8A-4147-A177-3AD203B41FA5}">
                      <ns2:colId val="20001"/>
                    </a:ext>
                  </a:extLst>
                </a:gridCol>
                <a:gridCol w="29718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Closed-loop cohort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 × 7 × 10 = 280 variants / arm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280-variant protocol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Sampler / chunk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steps; execute 10/32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 denoising steps; execute 16/16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614 Linear layers; 6.016B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280 Linear layers; 1.762B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encoding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d4, 2 × K256 BF16 books, B32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encoding family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</a:tbl>
          </a:graphicData>
        </a:graphic>
      </p:graphicFrame>
      <p:sp>
        <p:nvSpPr>
          <p:cNvPr id="6" name="Equivalent bpw = encoded payload bytes × 8 / target wei">
            <a:extLst>
              <a:ext uri="{FF2B5EF4-FFF2-40B4-BE49-F238E27FC236}">
                <ns2:creationId id="{7F5AD04A-3985-40A7-BDCE-DCC19722861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792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Equivalent bpw = encoded payload bytes × 8 / target weight count</a:t>
            </a:r>
          </a:p>
        </p:txBody>
      </p:sp>
      <p:sp>
        <p:nvSpPr>
          <p:cNvPr id="7" name="Includes quantizer metadata where measured; excludes ac">
            <a:extLst>
              <a:ext uri="{FF2B5EF4-FFF2-40B4-BE49-F238E27FC236}">
                <ns2:creationId id="{7A315053-C4DB-414E-A876-4BFE2F0F7746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7924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Includes quantizer metadata where measured; excludes activations, KV and non-target model weights.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Encoded bpw is not runtime VRAM. Fast-WAM rotation baselines use a different native S4 path.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C80 activation refinements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19">
            <a:extLst>
              <a:ext uri="{FF2B5EF4-FFF2-40B4-BE49-F238E27FC236}">
                <ns2:creationId id="{9E32FC7B-5329-4C38-A479-C5A9E8CFA84A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2BAB3D8E-ED38-4824-8CC3-8F3BDA0833BA}"/>
              </a:ext>
            </a:extLst>
          </p:cNvPr>
          <p:cNvGraphicFramePr/>
          <p:nvPr/>
        </p:nvGraphicFramePr>
        <p:xfrm>
          <a:off x="609600" y="1057275"/>
          <a:ext cx="7924800" cy="2938056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ns2:colId val="20000"/>
                    </a:ext>
                  </a:extLst>
                </a:gridCol>
                <a:gridCol w="1476375">
                  <a:extLst>
                    <a:ext uri="{9D8B030D-6E8A-4147-A177-3AD203B41FA5}">
                      <ns2:colId val="20001"/>
                    </a:ext>
                  </a:extLst>
                </a:gridCol>
                <a:gridCol w="1476375">
                  <a:extLst>
                    <a:ext uri="{9D8B030D-6E8A-4147-A177-3AD203B41FA5}">
                      <ns2:colId val="20002"/>
                    </a:ext>
                  </a:extLst>
                </a:gridCol>
                <a:gridCol w="1971675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Closed-loop successes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ρ1.5 baseline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0.044297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0.060877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scaling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0.043987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0.054152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per-channel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0.032668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0.048842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</a:tbl>
          </a:graphicData>
        </a:graphic>
      </p:graphicFrame>
      <p:sp>
        <p:nvSpPr>
          <p:cNvPr id="6" name="Per-channel scaling substantially improves motor fideli">
            <a:extLst>
              <a:ext uri="{FF2B5EF4-FFF2-40B4-BE49-F238E27FC236}">
                <ns2:creationId id="{949242AC-9C0F-45DA-A7B8-503F8BD1F1FF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7924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Per-channel scaling substantially improves motor fidelity.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Joint optimization and latent fidelity trade-offs still need closed-loop explanation.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execution cost and kernel work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0">
            <a:extLst>
              <a:ext uri="{FF2B5EF4-FFF2-40B4-BE49-F238E27FC236}">
                <ns2:creationId id="{D78FFEF0-8EA2-44EA-9A54-A1E7A532DEA9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ns2:creationId id="{51F7C194-B000-43D1-91D5-790E40445C6C}"/>
              </a:ext>
            </a:extLst>
          </p:cNvPr>
          <p:cNvGraphicFramePr/>
          <p:nvPr/>
        </p:nvGraphicFramePr>
        <p:xfrm>
          <a:off x="609600" y="1066800"/>
          <a:ext cx="7924800" cy="2209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1885950">
                  <a:extLst>
                    <a:ext uri="{9D8B030D-6E8A-4147-A177-3AD203B41FA5}">
                      <ns2:colId val="20001"/>
                    </a:ext>
                  </a:extLst>
                </a:gridCol>
                <a:gridCol w="308610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/ implementation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Warm full-query mean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C80 clip / joint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4.99 s / 4.96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 + batched H128 + fake A4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4.91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Cached BF16 compensated weights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Cosmos BF16 / SpinQuant /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0.594 / 1.057 / 10.042 s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path still uses block-wise H128</a:t>
                      </a:r>
                    </a:p>
                  </a:txBody>
                  <a:tcPr marL="76200" marR="57150" marT="47625" marB="47625" anchor="ctr">
                    <a:lnL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 cap="flat" cmpd="sng" algn="ctr">
                      <a:solidFill>
                        <a:srgbClr val="CF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6" name="Native VQ speedup is not implemented">
            <a:extLst>
              <a:ext uri="{FF2B5EF4-FFF2-40B4-BE49-F238E27FC236}">
                <ns2:creationId id="{403AED75-D17F-42AA-8F0A-CC2F339B521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7924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Native VQ speedup is not implemented</a:t>
            </a:r>
          </a:p>
        </p:txBody>
      </p:sp>
      <p:sp>
        <p:nvSpPr>
          <p:cNvPr id="7" name="Profile transform / decoding costs and connect batched ">
            <a:extLst>
              <a:ext uri="{FF2B5EF4-FFF2-40B4-BE49-F238E27FC236}">
                <ns2:creationId id="{FC369603-515C-4EDD-8B0A-EE6196FD0747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7924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Profile transform / decoding costs and connect batched transforms.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the native VQ path; measure end-to-end latency and memory.</a:t>
            </a:r>
          </a:p>
        </p:txBody>
      </p:sp>
      <p:sp>
        <p:nvSpPr>
          <p:cNvPr id="8" name="Different rollout trajectories yield different query co">
            <a:extLst>
              <a:ext uri="{FF2B5EF4-FFF2-40B4-BE49-F238E27FC236}">
                <ns2:creationId id="{A12EA68A-7AA4-4409-8B89-FFB019343171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Different rollout trajectories yield different query counts; these means are not paired latency benchmarks.</a:t>
            </a:r>
          </a:p>
        </p:txBody>
      </p:sp>
    </p:spTree>
    <p:extLst>
      <p:ext uri="{BB962C8B-B14F-4D97-AF65-F5344CB8AC3E}">
        <ns3:creationId val="3510779972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ImageGen method design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1">
            <a:extLst>
              <a:ext uri="{FF2B5EF4-FFF2-40B4-BE49-F238E27FC236}">
                <ns2:creationId id="{47D8878E-FE92-4FF6-827D-FC049027EACB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5" name="图片 4">
            <a:extLst>
              <a:ext uri="{FF2B5EF4-FFF2-40B4-BE49-F238E27FC236}">
                <ns2:creationId id="{B2DC4861-93A8-4DBB-88CC-23FA11EFE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4830" y="742950"/>
            <a:ext cx="6634340" cy="3733800"/>
          </a:xfrm>
          <a:prstGeom prst="rect">
            <a:avLst/>
          </a:prstGeom>
        </p:spPr>
      </p:pic>
      <p:sp>
        <p:nvSpPr>
          <p:cNvPr id="6" name="Generated design reference; the method on slides 2–4 is">
            <a:extLst>
              <a:ext uri="{FF2B5EF4-FFF2-40B4-BE49-F238E27FC236}">
                <ns2:creationId id="{AD4ED069-00EC-4C77-8CC3-984DF7FCEB3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Generated design reference; the method on slide 2 is rebuilt as editable PowerPoint objects.</a:t>
            </a:r>
          </a:p>
        </p:txBody>
      </p:sp>
    </p:spTree>
    <p:extLst>
      <p:ext uri="{BB962C8B-B14F-4D97-AF65-F5344CB8AC3E}">
        <ns4:creationId val="3510779972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ImageGen loss design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22">
            <a:extLst>
              <a:ext uri="{FF2B5EF4-FFF2-40B4-BE49-F238E27FC236}">
                <ns2:creationId id="{29253F7E-5BEC-46C8-AE00-7BE1B2CD156E}"/>
              </a:ext>
            </a:extLst>
          </p:cNvPr>
          <p:cNvSpPr>
            <a:spLocks noGrp="1"/>
          </p:cNvSpPr>
          <p:nvPr/>
        </p:nvSpPr>
        <p:spPr>
          <a:xfrm>
            <a:off x="8715375" y="4600575"/>
            <a:ext cx="2095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" name="图片 4">
            <a:extLst>
              <a:ext uri="{FF2B5EF4-FFF2-40B4-BE49-F238E27FC236}">
                <ns2:creationId id="{9B67D484-71AC-4F2F-BA06-CC3DFC41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4830" y="742950"/>
            <a:ext cx="6634340" cy="3733800"/>
          </a:xfrm>
          <a:prstGeom prst="rect">
            <a:avLst/>
          </a:prstGeom>
        </p:spPr>
      </p:pic>
      <p:sp>
        <p:nvSpPr>
          <p:cNvPr id="6" name="Generated design reference; editable loss definitions a">
            <a:extLst>
              <a:ext uri="{FF2B5EF4-FFF2-40B4-BE49-F238E27FC236}">
                <ns2:creationId id="{F57EA025-168B-4D46-9CD7-36E66674BA5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924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Generated design reference; editable loss definitions and diagrams are on slide 9.</a:t>
            </a:r>
          </a:p>
        </p:txBody>
      </p:sp>
    </p:spTree>
    <p:extLst>
      <p:ext uri="{BB962C8B-B14F-4D97-AF65-F5344CB8AC3E}">
        <ns4:creationId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4613</Words>
  <Application>Microsoft Office PowerPoint</Application>
  <DocSecurity>0</DocSecurity>
  <PresentationFormat>全屏显示(16:9)</PresentationFormat>
  <Paragraphs>557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Latent + Action-Aware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Thankuuu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4</cp:revision>
  <dcterms:created xsi:type="dcterms:W3CDTF">2026-10-20T12:58:15Z</dcterms:created>
  <dcterms:modified xsi:type="dcterms:W3CDTF">2026-10-20T13:23:27Z</dcterms:modified>
</cp:coreProperties>
</file>