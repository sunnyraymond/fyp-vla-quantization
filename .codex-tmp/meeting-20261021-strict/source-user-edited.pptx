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634" y="-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本次汇报顺序：已实现方法 → 所有有代表性的本地 LIBERO+ 闭环结果 → future intervention → 旧 loss 与闭环的差距 → Soft-bin + relational KL → potential contributions 与下一步。所有闭环数据来自已完成本地报告，截止 20 October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已实现的 Fast-WAM weight quantization 框架。Teacher 和 student 共享 observations、language、proprioception、sampler seeds。Student 通过自身生成的 future 构建 video K/V；不注入 teacher future 训练。所有 614 target Linear 覆盖 video/action/proprio 等目标模块。Weight calibration 更新 codebooks 和 row gains；indices、B32 exponents 和 transforms 固定。图为结构示意，tokens 数量不代表真实 tensor 大小。</a:t>
            </a:r>
          </a:p>
          <a:p>
            <a:r>
              <a:t>Sources:</a:t>
            </a:r>
          </a:p>
          <a:p>
            <a:r>
              <a:t>D:/Downloads/Final Year Project/experiment/idea-validation/fastwam-vq-c8-action-latent-plus/README.zh.md</a:t>
            </a:r>
          </a:p>
          <a:p>
            <a:r>
              <a:t>D:/Downloads/Final Year Project/experiment/idea-validation/fastwam-vq-action-latent/README.zh.md</a:t>
            </a:r>
          </a:p>
          <a:p>
            <a:r>
              <a:t>D:/Downloads/Final Year Project/Weekly Slides/2026-10-21_assets/method-imagegen-reference.png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每一 target Linear 共享两个 K=256,d=4 BF16 codebooks。每四个 scalar weight 使用两条 uint8 indices，core cost 为 16/4=4 bpw。每 output row 保留 BF16 RMS row gain r；沿 input dimension 每 32 个 weights 用一个 uint8 exponent，贡献 8/32=0.25 bpw。e_g=round(log2(block_RMS/r_row))，拟合中固定。有效预算含 codebooks、gains、tails 和 transforms，Fast-WAM row-scale≈4.020873，microscaling≈4.270878。Weight calibration 用 FP32 masters/STE 调整 BF16-stored books 与 row gains。</a:t>
            </a:r>
          </a:p>
          <a:p>
            <a:r>
              <a:t>Sources:</a:t>
            </a:r>
          </a:p>
          <a:p>
            <a:r>
              <a:t>D:/Downloads/Final Year Project/experiment/idea-validation/fastwam-vq-microscale/README.zh.md</a:t>
            </a:r>
          </a:p>
          <a:p>
            <a:r>
              <a:t>D:/Downloads/Final Year Project/experiment/idea-validation/fastwam-vq-microscale/RESULTS.zh.md</a:t>
            </a:r>
          </a:p>
          <a:p>
            <a:r>
              <a:t>D:/Downloads/Final Year Project/experiment/idea-validation/fastwam-vq-c8-action-latent-plus/README.zh.md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per-input-channel scaling + per-Linear activation clipping，不是每 channel 一个 clipping threshold。D=2^log2_D 为每个 physical input channel 一个正的 continuous scale；r_l 为每 Linear 一个 ratio，跨 token/denoising steps 共享。先对 input 施加已冻结 Smooth0.5/H128，然后 v=z/D；每 token s=r_l max|v|/7，signed A4 q=clamp(round(v/s),-7,7)。decoded BF16 Wq 乘相同 D 后以 BF16 缓存。忽略 rounding 时 compensating Linear 恒等；已 quantized 情况下改变 error。C80 refinement 从 C8 rho1.5 开始，80 updates，只训 D/r_l，VQ 参数冻结。使用 coupled dynamic-absmax surrogate 和 STE。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Project/experiment/idea-validation/fastwam-vq-per-channel-scaling-clipping/channel_banks.py</a:t>
            </a:r>
          </a:p>
          <a:p>
            <a:r>
              <a:t>D:/Downloads/Final Year Project/experiment/idea-validation/fastwam-vq-c80-per-channel-plus/README.zh.md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 rows 都来自本地完成的 frozen 280-variant cohort，不是 paper-reported numbers。每 suite 分母 70。QuaRot/SpinQuant 是针对 Fast-WAM 的本地 adaptation，不等同官方完整 recipe。Scalar 与 rotation baselines 实际采用 native packed S4 path，而 VQ 是 decode BF16；本表只比较 closed-loop success 与编码预算，不比较 latency。不同 arm calibration 覆盖和目标不同，不是单因素消融。Rotation bpw 的4.125是4bit code+BF16 scale/128 的估算，未把 rotations/tails 算入，因此加 dagger，避免误报为实测全 overhead payload。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 frozen 280-episode cohort 的全部后续完成配置。C8表示weight calibration contexts；C80表示 activation-refinement contexts，不是 rollout 数。ρ0.1 完整2epochs/16updates，ρ1.5为1epoch/8updates；这是各自冻结配置，不是matched training budget消融。C80 clip-only207，joint202，per-channel203；joint per-channel虽有fixed-input结果尚未发现完成闭环，不能加入completed表。该cohort未有独立seed重复，不应对1—5个success小差异宣称稳定统计优势。</a:t>
            </a:r>
          </a:p>
          <a:p>
            <a:r>
              <a:t>Sources:</a:t>
            </a:r>
          </a:p>
          <a:p>
            <a:r>
              <a:t>D:/Downloads/Final Year Project/experiment/idea-validation/fastwam-vq-c8-action-latent-plus/results/RESULTS.zh.md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Cosmos-Predict2-2B direct policy，planning disabled。三臂840episodes全部完成，每臂280。5denoising steps、16action chunk并执行16steps；与Fast-WAM10/10和执行10steps不同，不能跨model数值比较来归因量化方法。C8共享observations但teacher由Cosmos自身产生。VQ学习codebooks/rowgains，目标为16×6motor MSE+future-image slots6/7 NMSE。SpinQuant200updates，VQ16updates且objectives不同，因此不是action/latent loss贡献的单因素消融。有效bpw均含编码开销；whole DiT bpw另计未量化参数。</a:t>
            </a:r>
          </a:p>
          <a:p>
            <a:r>
              <a:t>Sources:</a:t>
            </a:r>
          </a:p>
          <a:p>
            <a:r>
              <a:t>D:/Downloads/Final Year Project/experiment/idea-validation/cosmos-policy-c8-w4a4/RESULTS.zh.md</a:t>
            </a:r>
          </a:p>
          <a:p>
            <a:r>
              <a:t>D:/Downloads/Final Year Project/experiment/idea-validation/cosmos-policy-c8-w4a4/retrieved/results/evaluation/summary.json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干预冻结 downstream BF16 reader，包括 video prepare/prefill、action DiT/proprio 等，注入不同 donor 的 final future，重新构建 K/V。完整60contexts包括8cal、4selection×2seed、22test×2seed；表格是22test cases先平均2seeds的case mean。BF16 donor自重放误差0，Parent=0.036144691，Action-only=.041243219，Action+latent=.035083670。13/22first10改善，full32/late22各14/22。是已见cohort的fixed-input intervention，0 executed episodes，不是真实future accuracy或新泛化证据。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Project/experiment/idea-validation/fastwam-vq-future-reader/retrieved/results/analysis_teacher/REPORT.zh.md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左表来自2×2cross-reader intervention，reader固定action-only或action+latent时替换future donor。这里reader不再是BF16。Action-only reader mean .058110442→.053481176，action+latent reader .058676505→.052951009。分别10/22、12/22cases改善，平均收益不等于每case收益。右表是另一个fixedBF16reader NMSE-matched control：C=T+alpha(A−T)，经有界BF16correction逐context匹配B的NMSE，alpha不使用action选值。B−C mean−.00099049但median+.000042169，11/22改善，leave-one-out可变正，full32/late22比C差。原均值收益约84%由总future误差幅度降低重现。不能宣称已确认特定semantic/spatial有害drift。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Project/experiment/idea-validation/fastwam-vq-future-reader/retrieved/results/analysis_cross/REPORT.zh.md</a:t>
            </a:r>
          </a:p>
          <a:p>
            <a:r>
              <a:t>D:/Downloads/Final Year Project/experiment/idea-validation/fastwam-vq-future-nmse-matched/RESULTS.zh.md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原训练loss是first10motor MSE+rho*c*futureNMSE，c=0.028303017887797623，rho1.5，lambda=.04245452683169643。RMSE仅用来报告，优化的是MSE。c依据初始化calibrationmean冻结，rho不是gradient ratio。Fixedinput来自40heldoutcases×2seeds，四suite等权。C80clip .0438484373/.0548481241，joint .0418468372/.0489733362，perchannel .031641466/.055377875；对应闭环207/202/203。Heldout metric和closedloop是不同测量而且访问状态分布不同。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真实实现softbin_loss.py以Gaussian CDFdifference而不是centroidsoftmax生成每scalar16bin分布。z=(x−mu_c)/max(std_c,.02)，mu/std仅完整C80teacher计算并冻结。15interioredges[-3.5,3.5]等间距，sigma=.375，两个无限tail。每一对应scalar位置算KL(teacher||student)再平均，不是整条actiontrajectory先pool成histogram。Teacher detached。alpha_a=.01230247928,alpha_z=.31297895225，初始C80 MSE/KL和NMSE/KL配平，保留原rho*c。只训D/r_l，80updates，固定final80；books/gains/indices/exponents不变。</a:t>
            </a:r>
          </a:p>
          <a:p>
            <a:r>
              <a:t>Sources:</a:t>
            </a:r>
          </a:p>
          <a:p>
            <a:r>
              <a:t>D:/Downloads/Final Year Project/experiment/idea-validation/fastwam-vq-dual-kl/softbin_loss.py</a:t>
            </a:r>
          </a:p>
          <a:p>
            <a:r>
              <a:t>D:/Downloads/Final Year Project/experiment/idea-validation/fastwam-vq-dual-kl/results/prepare/loss_scaling.json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关系代码用每feature mean-squared pairwise distance，不是Gram matrix。Action标准化first10×6，经length3stride1 orderedwindows得到8×18tokens，全部非selfwindows相邻。Latentshape[1,48,3,14,28]去frame0，按widthsplit两camera各14×14，各自2×2avgpool到7×7，2times×2views×49=196token×48features。邻边是samecamera,sametime的8neighbors以及sameposition跨time。Boundary spatial节点少于8邻居。无跨cameraedge，无action-latent强制时间插值。Teacher概率detach，tau依据C80teacherpositiveedgedistancemedian冻结。Softbin检测关系对整体translation/signflip等的盲区。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Project/experiment/idea-validation/fastwam-vq-relational-kl/relational_loss.py</a:t>
            </a:r>
          </a:p>
          <a:p>
            <a:r>
              <a:t>D:/Downloads/Final Year Project/experiment/idea-validation/fastwam-vq-relational-kl/README.zh.md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=alpha_a*(action_KL+beta_a*action_temporal_KL)+rho*c*alpha_z*(latent_KL+beta_z*latent_spatiotemporal_KL)。Teacheronlycalibrationfitting：alpha用C80initMSE/KL与NMSE/KL；tau_a=.05844502896,tau_z=.42243281007；beta_a=.61968510916,beta_z=27.14823378066，通过预设standardizednoise std .1的0.25relativeweight配平。0.25并不意味着真实modelerror或gradient中占25%。D/r_l独立从C8rho1.5checkpoint初始化，各80updates，未用heldoutselectfinal80。Distance关系本身有translation/signflip/部分timereversal盲区，softbin绝对anchor补足，不能声称所有结构错误可识别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Project/experiment/idea-validation/fastwam-vq-relational-kl/results/prepare/summary.json</a:t>
            </a:r>
          </a:p>
          <a:p>
            <a:r>
              <a:t>D:/Downloads/Final Year Project/experiment/idea-validation/fastwam-vq-relational-kl/protocol.json</a:t>
            </a:r>
          </a:p>
          <a:p>
            <a:r>
              <a:t>D:/Downloads/Final Year Project/experiment/idea-validation/fastwam-vq-relational-kl/results/ANALYSIS.zh.md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来自原40heldoutcase×2seeds，先seedcase平均再四suite等权。Softbinrelationaltrain各1trajectory、80updates，固定final80，不在heldout选ckpt。原MSEfinal80是历史同协议endpoint重放比较。Softbin.03232986/.053033005，relational.031438487/.054295895；temporal .040418109→.034484781；spatiotemporal .0063970953→.006147169；composite .0059133057→.0057434071。KL闭环评测在最近local快照431/560episode记录，未有completecriterion。进度不是success，pending不能替代最终rates。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Project/experiment/idea-validation/fastwam-vq-relational-kl/results/ANALYSIS.zh.md</a:t>
            </a:r>
          </a:p>
          <a:p>
            <a:r>
              <a:t>D:/Downloads/Final Year Project/experiment/idea-validation/fastwam-vq-relational-kl/results/aggregate/summary.json</a:t>
            </a:r>
          </a:p>
          <a:p>
            <a:r>
              <a:t>D:/Downloads/Final Year Project/Weekly Slides/2026-10-21_assets/cosmos_loss.json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的四点contribution按证据强度润色：1当前fixedinputfutureintervention支持latentfidelity的重要性，但likelyvulnerable机制还待验证；2loss已实现，forecastrollouterror仍为researchgoal，当前没有证明predictiveassociation；3Fast-WAM+Cosmos框架/闭环已实现，similarbpw下cohortcurrentrecipecompetitive，但first需priorartcheck且不声称SOTA或统计显著；4nativekernel尚未实现。所有措辞作为proposedpapercontributions，不把目标写成completed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优先完成冻结checkpoint的pairedLIBERO+评测；loss优化需以闭环success与失败轨迹为目标，同时保留原cohortcontrols。候选消融：MSEvssoftbin、action-onlyvslatent-onlyvsboth、temporal-onlyvsspatial/temporal-latent、D/r的分离、C8/C80等校准规模，匹配bpw与预算。换baseline：CosmosPolicy on LIBERO/LIBERO+，LingBot-VA2 on RoboTwin2.0，均为planned未实现本轮不保证可行性/日期。真实robot需要确认hardware/tasks，报告success、rollout error与endtoendlatency。Kernel关注decode/transformprofiling、batchedtransform接线、nativeVQ执行与真实latency，不将compressedpayload当作VRAM。CVPR表达愿望无未查证deadline。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讨论重点：当前proxy与闭环目标之间的差距、KL结构设计的优先级、跨模型和真机验证范围，以及kernel工作量。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FastWAM模型614targetLinears/6016317440weights。encodedbpw统一bytes*8/Ntarget。Scalar receipt包含transforms，VQ包含indices/books/gains/B32exps/transforms；perchannel另计FP32log2D。Rotation只有code+G128scaleestimate4.125，未有统一completepayload。Cosmos同target280Linear1761607680weights。两model不同steps/chunks因此不跨模型比较latency或success来声称量化方法优劣。闭环manifest280是固定subset，不是全LIBEROPlusbenchmark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inputevidence：same40heldoutcases×2seed/equal4suites。Baseline.044296774/.060877371;clip.043848437/.054848124;b32.043986743/.054151555;joint.041846837/.048973336;perchannel.031641466/.055377875;jointperchannel.032668?.048842。Jointperchannel数字从周报四舍五入，完整源results。本表用于记录已实现的可训练参数组合，不给没有完成closedloop的row补成功率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Project/experiment/idea-validation/fastwam-vq-joint-per-channel/results/RESULTS.zh.md</a:t>
            </a:r>
          </a:p>
          <a:p>
            <a:r>
              <a:t>https://app.notion.com/p/3fd44c7da965815ead32f7858e8e98db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rmfullactionquerycost来自不同rolloutquery流，非fixedinputpairedbenchmark。FastWAMclip4.99sec/joint4.96/perchannel4.90508；CosmosBF16.59399,Spin1.05653,VQ10.04213。CosmosVQ在线blockH128path未接入batchedtransform，即使summary标签写batched也不能声称已生效。此页保持实现scope避免把编码4bpw当成nativeacceleration。</a:t>
            </a:r>
          </a:p>
          <a:p>
            <a:r>
              <a:t>Sources: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Slides/2026-10-21_assets/method-imagegen-reference.png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Slides/2026-10-21_assets/loss-imagegen-reference.png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2D037324-548F-406E-8248-03A5F342A1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2295B599-9CD4-44A6-AC58-C6CEE5B7024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726" y="1752600"/>
            <a:ext cx="5953125" cy="533400"/>
          </a:xfrm>
        </p:spPr>
        <p:txBody>
          <a:bodyPr wrap="square" lIns="0" tIns="0" rIns="0" bIns="0" anchor="ctr">
            <a:noAutofit/>
          </a:bodyPr>
          <a:lstStyle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50000"/>
              </a:lnSpc>
              <a:spcBef>
                <a:spcPts val="1800"/>
              </a:spcBef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+ Action-Aware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726" y="3758279"/>
            <a:ext cx="5953125" cy="857250"/>
          </a:xfrm>
        </p:spPr>
        <p:txBody>
          <a:bodyPr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  <p:sp>
        <p:nvSpPr>
          <p:cNvPr id="4" name="Meeting subtitle">
            <a:extLst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noGrp="1"/>
          </p:cNvSpPr>
          <p:nvPr/>
        </p:nvSpPr>
        <p:spPr>
          <a:xfrm>
            <a:off x="2756726" y="303847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</a:t>
            </a:r>
            <a:r>
              <a:rPr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VQ, activation refinement &amp; relational KL</a:t>
            </a:r>
          </a:p>
        </p:txBody>
      </p:sp>
      <p:sp>
        <p:nvSpPr>
          <p:cNvPr id="5" name="WAM Quantization">
            <a:extLst>
              <a:ext uri="{FF2B5EF4-FFF2-40B4-BE49-F238E27FC236}">
                <a16:creationId xmlns:a16="http://schemas.microsoft.com/office/drawing/2014/main" id="{FB70EFC3-DFCC-4984-9F41-A109206989EF}"/>
              </a:ext>
            </a:extLst>
          </p:cNvPr>
          <p:cNvSpPr>
            <a:spLocks noGrp="1"/>
          </p:cNvSpPr>
          <p:nvPr/>
        </p:nvSpPr>
        <p:spPr>
          <a:xfrm>
            <a:off x="2756726" y="2295525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Latent + action-aware Microscaling VQ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">
            <a:extLst>
              <a:ext uri="{FF2B5EF4-FFF2-40B4-BE49-F238E27FC236}">
                <a16:creationId xmlns:a16="http://schemas.microsoft.com/office/drawing/2014/main" id="{FBDB4BE8-C6A6-4623-BE25-7F653F54D220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Observation + language + proprioception">
            <a:extLst>
              <a:ext uri="{FF2B5EF4-FFF2-40B4-BE49-F238E27FC236}">
                <a16:creationId xmlns:a16="http://schemas.microsoft.com/office/drawing/2014/main" id="{3308161E-C6E1-4D81-B237-D499FFF2741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Observation + language + proprioception</a:t>
            </a:r>
          </a:p>
        </p:txBody>
      </p:sp>
      <p:sp>
        <p:nvSpPr>
          <p:cNvPr id="6" name="Shared&#10;inputs">
            <a:extLst>
              <a:ext uri="{FF2B5EF4-FFF2-40B4-BE49-F238E27FC236}">
                <a16:creationId xmlns:a16="http://schemas.microsoft.com/office/drawing/2014/main" id="{C596649E-B1A8-4BF4-940E-67CB3654F30E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952500" cy="942975"/>
          </a:xfrm>
          <a:prstGeom prst="rect">
            <a:avLst/>
          </a:prstGeom>
          <a:solidFill>
            <a:srgbClr val="F1F5FA"/>
          </a:solidFill>
          <a:ln w="11430">
            <a:solidFill>
              <a:srgbClr val="CFD9E3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Shared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BF16 teacher · frozen">
            <a:extLst>
              <a:ext uri="{FF2B5EF4-FFF2-40B4-BE49-F238E27FC236}">
                <a16:creationId xmlns:a16="http://schemas.microsoft.com/office/drawing/2014/main" id="{EC23B14C-18DE-4A30-B8DD-86ED067666E2}"/>
              </a:ext>
            </a:extLst>
          </p:cNvPr>
          <p:cNvSpPr>
            <a:spLocks noGrp="1"/>
          </p:cNvSpPr>
          <p:nvPr/>
        </p:nvSpPr>
        <p:spPr>
          <a:xfrm>
            <a:off x="1952625" y="1171575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2059"/>
                </a:solidFill>
                <a:latin typeface="Arial"/>
                <a:ea typeface="Arial"/>
                <a:cs typeface="Arial"/>
              </a:rPr>
              <a:t>BF16 teacher · frozen</a:t>
            </a:r>
          </a:p>
        </p:txBody>
      </p:sp>
      <p:sp>
        <p:nvSpPr>
          <p:cNvPr id="8" name="Video DiT">
            <a:extLst>
              <a:ext uri="{FF2B5EF4-FFF2-40B4-BE49-F238E27FC236}">
                <a16:creationId xmlns:a16="http://schemas.microsoft.com/office/drawing/2014/main" id="{A94E74C3-97D9-43D3-8914-FE24603FAE10}"/>
              </a:ext>
            </a:extLst>
          </p:cNvPr>
          <p:cNvSpPr>
            <a:spLocks noGrp="1"/>
          </p:cNvSpPr>
          <p:nvPr/>
        </p:nvSpPr>
        <p:spPr>
          <a:xfrm>
            <a:off x="1952625" y="1562100"/>
            <a:ext cx="1409700" cy="600075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Video DiT</a:t>
            </a:r>
          </a:p>
        </p:txBody>
      </p:sp>
      <p:sp>
        <p:nvSpPr>
          <p:cNvPr id="9" name="Future Zₜ">
            <a:extLst>
              <a:ext uri="{FF2B5EF4-FFF2-40B4-BE49-F238E27FC236}">
                <a16:creationId xmlns:a16="http://schemas.microsoft.com/office/drawing/2014/main" id="{C9BC5441-9CDB-462F-AC78-AB240566949A}"/>
              </a:ext>
            </a:extLst>
          </p:cNvPr>
          <p:cNvSpPr>
            <a:spLocks noGrp="1"/>
          </p:cNvSpPr>
          <p:nvPr/>
        </p:nvSpPr>
        <p:spPr>
          <a:xfrm>
            <a:off x="3733800" y="1562100"/>
            <a:ext cx="1219200" cy="600075"/>
          </a:xfrm>
          <a:prstGeom prst="rect">
            <a:avLst/>
          </a:prstGeom>
          <a:solidFill>
            <a:srgbClr val="FFF2D6"/>
          </a:solidFill>
          <a:ln w="11430">
            <a:solidFill>
              <a:srgbClr val="DCBB74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Future Zₜ</a:t>
            </a:r>
          </a:p>
        </p:txBody>
      </p:sp>
      <p:sp>
        <p:nvSpPr>
          <p:cNvPr id="10" name="Action DiT">
            <a:extLst>
              <a:ext uri="{FF2B5EF4-FFF2-40B4-BE49-F238E27FC236}">
                <a16:creationId xmlns:a16="http://schemas.microsoft.com/office/drawing/2014/main" id="{93657955-CD7E-4B7F-9989-61ACA51DCEED}"/>
              </a:ext>
            </a:extLst>
          </p:cNvPr>
          <p:cNvSpPr>
            <a:spLocks noGrp="1"/>
          </p:cNvSpPr>
          <p:nvPr/>
        </p:nvSpPr>
        <p:spPr>
          <a:xfrm>
            <a:off x="5324475" y="1562100"/>
            <a:ext cx="1409700" cy="600075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 DiT</a:t>
            </a:r>
          </a:p>
        </p:txBody>
      </p:sp>
      <p:sp>
        <p:nvSpPr>
          <p:cNvPr id="11" name="Actions aₜ">
            <a:extLst>
              <a:ext uri="{FF2B5EF4-FFF2-40B4-BE49-F238E27FC236}">
                <a16:creationId xmlns:a16="http://schemas.microsoft.com/office/drawing/2014/main" id="{DC458F8D-86E2-46DA-8C9A-F7D05281AA63}"/>
              </a:ext>
            </a:extLst>
          </p:cNvPr>
          <p:cNvSpPr>
            <a:spLocks noGrp="1"/>
          </p:cNvSpPr>
          <p:nvPr/>
        </p:nvSpPr>
        <p:spPr>
          <a:xfrm>
            <a:off x="7105650" y="1562100"/>
            <a:ext cx="1362075" cy="600075"/>
          </a:xfrm>
          <a:prstGeom prst="rect">
            <a:avLst/>
          </a:prstGeom>
          <a:solidFill>
            <a:srgbClr val="E5F5F4"/>
          </a:solidFill>
          <a:ln w="11430">
            <a:solidFill>
              <a:srgbClr val="73B8B7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Actions aₜ</a:t>
            </a:r>
          </a:p>
        </p:txBody>
      </p:sp>
      <p:sp>
        <p:nvSpPr>
          <p:cNvPr id="12" name="Quantized WAM">
            <a:extLst>
              <a:ext uri="{FF2B5EF4-FFF2-40B4-BE49-F238E27FC236}">
                <a16:creationId xmlns:a16="http://schemas.microsoft.com/office/drawing/2014/main" id="{24BFE861-BCD4-4623-9D5F-7220874EAD7D}"/>
              </a:ext>
            </a:extLst>
          </p:cNvPr>
          <p:cNvSpPr>
            <a:spLocks noGrp="1"/>
          </p:cNvSpPr>
          <p:nvPr/>
        </p:nvSpPr>
        <p:spPr>
          <a:xfrm>
            <a:off x="1952625" y="2333625"/>
            <a:ext cx="2295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Quantized WAM</a:t>
            </a:r>
          </a:p>
        </p:txBody>
      </p:sp>
      <p:sp>
        <p:nvSpPr>
          <p:cNvPr id="13" name="Video DiT&#10;VQ + A4">
            <a:extLst>
              <a:ext uri="{FF2B5EF4-FFF2-40B4-BE49-F238E27FC236}">
                <a16:creationId xmlns:a16="http://schemas.microsoft.com/office/drawing/2014/main" id="{1B48C673-C3B1-436E-8394-67AAA5A26157}"/>
              </a:ext>
            </a:extLst>
          </p:cNvPr>
          <p:cNvSpPr>
            <a:spLocks noGrp="1"/>
          </p:cNvSpPr>
          <p:nvPr/>
        </p:nvSpPr>
        <p:spPr>
          <a:xfrm>
            <a:off x="1952625" y="2714625"/>
            <a:ext cx="1409700" cy="657225"/>
          </a:xfrm>
          <a:prstGeom prst="rect">
            <a:avLst/>
          </a:prstGeom>
          <a:solidFill>
            <a:srgbClr val="FBECEE"/>
          </a:solidFill>
          <a:ln w="11430">
            <a:solidFill>
              <a:srgbClr val="D89BA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Video DiT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VQ + A4</a:t>
            </a:r>
          </a:p>
        </p:txBody>
      </p:sp>
      <p:sp>
        <p:nvSpPr>
          <p:cNvPr id="14" name="Own future Zₛ">
            <a:extLst>
              <a:ext uri="{FF2B5EF4-FFF2-40B4-BE49-F238E27FC236}">
                <a16:creationId xmlns:a16="http://schemas.microsoft.com/office/drawing/2014/main" id="{4B655C06-F5CF-40A6-BCB7-1664BA07BDA2}"/>
              </a:ext>
            </a:extLst>
          </p:cNvPr>
          <p:cNvSpPr>
            <a:spLocks noGrp="1"/>
          </p:cNvSpPr>
          <p:nvPr/>
        </p:nvSpPr>
        <p:spPr>
          <a:xfrm>
            <a:off x="3733800" y="2714625"/>
            <a:ext cx="1219200" cy="657225"/>
          </a:xfrm>
          <a:prstGeom prst="rect">
            <a:avLst/>
          </a:prstGeom>
          <a:solidFill>
            <a:srgbClr val="FFF2D6"/>
          </a:solidFill>
          <a:ln w="11430">
            <a:solidFill>
              <a:srgbClr val="DCBB74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Own future Zₛ</a:t>
            </a:r>
          </a:p>
        </p:txBody>
      </p:sp>
      <p:sp>
        <p:nvSpPr>
          <p:cNvPr id="15" name="Action DiT&#10;VQ + A4">
            <a:extLst>
              <a:ext uri="{FF2B5EF4-FFF2-40B4-BE49-F238E27FC236}">
                <a16:creationId xmlns:a16="http://schemas.microsoft.com/office/drawing/2014/main" id="{4674858F-F778-4B4A-933C-AF9377168541}"/>
              </a:ext>
            </a:extLst>
          </p:cNvPr>
          <p:cNvSpPr>
            <a:spLocks noGrp="1"/>
          </p:cNvSpPr>
          <p:nvPr/>
        </p:nvSpPr>
        <p:spPr>
          <a:xfrm>
            <a:off x="5324475" y="2714625"/>
            <a:ext cx="1409700" cy="657225"/>
          </a:xfrm>
          <a:prstGeom prst="rect">
            <a:avLst/>
          </a:prstGeom>
          <a:solidFill>
            <a:srgbClr val="FBECEE"/>
          </a:solidFill>
          <a:ln w="11430">
            <a:solidFill>
              <a:srgbClr val="D89BA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 DiT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VQ + A4</a:t>
            </a:r>
          </a:p>
        </p:txBody>
      </p:sp>
      <p:sp>
        <p:nvSpPr>
          <p:cNvPr id="16" name="Actions aₛ">
            <a:extLst>
              <a:ext uri="{FF2B5EF4-FFF2-40B4-BE49-F238E27FC236}">
                <a16:creationId xmlns:a16="http://schemas.microsoft.com/office/drawing/2014/main" id="{F41C5136-7B55-424C-89B5-C1658EF88D94}"/>
              </a:ext>
            </a:extLst>
          </p:cNvPr>
          <p:cNvSpPr>
            <a:spLocks noGrp="1"/>
          </p:cNvSpPr>
          <p:nvPr/>
        </p:nvSpPr>
        <p:spPr>
          <a:xfrm>
            <a:off x="7105650" y="2714625"/>
            <a:ext cx="1362075" cy="657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3B8B7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Actions aₛ</a:t>
            </a:r>
          </a:p>
        </p:txBody>
      </p:sp>
      <p:cxnSp>
        <p:nvCxnSpPr>
          <p:cNvPr id="17" name="diagram connector">
            <a:extLst>
              <a:ext uri="{FF2B5EF4-FFF2-40B4-BE49-F238E27FC236}">
                <a16:creationId xmlns:a16="http://schemas.microsoft.com/office/drawing/2014/main" id="{3E1CCE6A-E364-4D55-87AA-9AB0762F8566}"/>
              </a:ext>
            </a:extLst>
          </p:cNvPr>
          <p:cNvCxnSpPr/>
          <p:nvPr/>
        </p:nvCxnSpPr>
        <p:spPr>
          <a:xfrm>
            <a:off x="3362325" y="18669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8" name="diagram connector">
            <a:extLst>
              <a:ext uri="{FF2B5EF4-FFF2-40B4-BE49-F238E27FC236}">
                <a16:creationId xmlns:a16="http://schemas.microsoft.com/office/drawing/2014/main" id="{070BE5CF-877A-480C-826B-14B0BFB2C2AA}"/>
              </a:ext>
            </a:extLst>
          </p:cNvPr>
          <p:cNvCxnSpPr/>
          <p:nvPr/>
        </p:nvCxnSpPr>
        <p:spPr>
          <a:xfrm>
            <a:off x="4953000" y="18669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9" name="diagram connector">
            <a:extLst>
              <a:ext uri="{FF2B5EF4-FFF2-40B4-BE49-F238E27FC236}">
                <a16:creationId xmlns:a16="http://schemas.microsoft.com/office/drawing/2014/main" id="{EBF8E88A-E19C-465C-8795-E6DAFA51C866}"/>
              </a:ext>
            </a:extLst>
          </p:cNvPr>
          <p:cNvCxnSpPr/>
          <p:nvPr/>
        </p:nvCxnSpPr>
        <p:spPr>
          <a:xfrm>
            <a:off x="6734175" y="18669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0" name="diagram connector">
            <a:extLst>
              <a:ext uri="{FF2B5EF4-FFF2-40B4-BE49-F238E27FC236}">
                <a16:creationId xmlns:a16="http://schemas.microsoft.com/office/drawing/2014/main" id="{526FAA9B-0FD9-43B7-B876-6AF04F9AAA1E}"/>
              </a:ext>
            </a:extLst>
          </p:cNvPr>
          <p:cNvCxnSpPr/>
          <p:nvPr/>
        </p:nvCxnSpPr>
        <p:spPr>
          <a:xfrm>
            <a:off x="3362325" y="3038475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1" name="diagram connector">
            <a:extLst>
              <a:ext uri="{FF2B5EF4-FFF2-40B4-BE49-F238E27FC236}">
                <a16:creationId xmlns:a16="http://schemas.microsoft.com/office/drawing/2014/main" id="{7C46010F-E56E-41AF-A9E0-1FA5691E453B}"/>
              </a:ext>
            </a:extLst>
          </p:cNvPr>
          <p:cNvCxnSpPr/>
          <p:nvPr/>
        </p:nvCxnSpPr>
        <p:spPr>
          <a:xfrm>
            <a:off x="4953000" y="3038475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2" name="diagram connector">
            <a:extLst>
              <a:ext uri="{FF2B5EF4-FFF2-40B4-BE49-F238E27FC236}">
                <a16:creationId xmlns:a16="http://schemas.microsoft.com/office/drawing/2014/main" id="{41C82B3F-D7B1-41E5-ADFF-F7D94706B8B2}"/>
              </a:ext>
            </a:extLst>
          </p:cNvPr>
          <p:cNvCxnSpPr/>
          <p:nvPr/>
        </p:nvCxnSpPr>
        <p:spPr>
          <a:xfrm>
            <a:off x="6734175" y="3038475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3" name="diagram connector">
            <a:extLst>
              <a:ext uri="{FF2B5EF4-FFF2-40B4-BE49-F238E27FC236}">
                <a16:creationId xmlns:a16="http://schemas.microsoft.com/office/drawing/2014/main" id="{E6DC7934-679D-4430-AD26-C74A4487493D}"/>
              </a:ext>
            </a:extLst>
          </p:cNvPr>
          <p:cNvCxnSpPr/>
          <p:nvPr/>
        </p:nvCxnSpPr>
        <p:spPr>
          <a:xfrm>
            <a:off x="1562100" y="1981200"/>
            <a:ext cx="19050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24" name="diagram connector">
            <a:extLst>
              <a:ext uri="{FF2B5EF4-FFF2-40B4-BE49-F238E27FC236}">
                <a16:creationId xmlns:a16="http://schemas.microsoft.com/office/drawing/2014/main" id="{24DF5C2B-E35A-422F-AB35-D028F1B20D1D}"/>
              </a:ext>
            </a:extLst>
          </p:cNvPr>
          <p:cNvCxnSpPr/>
          <p:nvPr/>
        </p:nvCxnSpPr>
        <p:spPr>
          <a:xfrm>
            <a:off x="1752600" y="1866900"/>
            <a:ext cx="2000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5" name="diagram connector">
            <a:extLst>
              <a:ext uri="{FF2B5EF4-FFF2-40B4-BE49-F238E27FC236}">
                <a16:creationId xmlns:a16="http://schemas.microsoft.com/office/drawing/2014/main" id="{704C2827-72AC-4E5A-9D90-22F08A9CC4E1}"/>
              </a:ext>
            </a:extLst>
          </p:cNvPr>
          <p:cNvCxnSpPr/>
          <p:nvPr/>
        </p:nvCxnSpPr>
        <p:spPr>
          <a:xfrm>
            <a:off x="1752600" y="3038475"/>
            <a:ext cx="2000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6" name="diagram connector">
            <a:extLst>
              <a:ext uri="{FF2B5EF4-FFF2-40B4-BE49-F238E27FC236}">
                <a16:creationId xmlns:a16="http://schemas.microsoft.com/office/drawing/2014/main" id="{0BEA32ED-B2D8-421E-83EC-998C06273D28}"/>
              </a:ext>
            </a:extLst>
          </p:cNvPr>
          <p:cNvCxnSpPr/>
          <p:nvPr/>
        </p:nvCxnSpPr>
        <p:spPr>
          <a:xfrm>
            <a:off x="1752600" y="1866900"/>
            <a:ext cx="0" cy="117157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sp>
        <p:nvSpPr>
          <p:cNvPr id="27" name="video K/V">
            <a:extLst>
              <a:ext uri="{FF2B5EF4-FFF2-40B4-BE49-F238E27FC236}">
                <a16:creationId xmlns:a16="http://schemas.microsoft.com/office/drawing/2014/main" id="{7E3F3356-51D0-4C31-88A1-1389CE75CF20}"/>
              </a:ext>
            </a:extLst>
          </p:cNvPr>
          <p:cNvSpPr>
            <a:spLocks noGrp="1"/>
          </p:cNvSpPr>
          <p:nvPr/>
        </p:nvSpPr>
        <p:spPr>
          <a:xfrm>
            <a:off x="4914900" y="21812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video K/V</a:t>
            </a:r>
          </a:p>
        </p:txBody>
      </p:sp>
      <p:cxnSp>
        <p:nvCxnSpPr>
          <p:cNvPr id="28" name="diagram connector">
            <a:extLst>
              <a:ext uri="{FF2B5EF4-FFF2-40B4-BE49-F238E27FC236}">
                <a16:creationId xmlns:a16="http://schemas.microsoft.com/office/drawing/2014/main" id="{C94186D7-17CE-4799-802F-7E4D916E8A99}"/>
              </a:ext>
            </a:extLst>
          </p:cNvPr>
          <p:cNvCxnSpPr/>
          <p:nvPr/>
        </p:nvCxnSpPr>
        <p:spPr>
          <a:xfrm>
            <a:off x="4333875" y="2162175"/>
            <a:ext cx="0" cy="552450"/>
          </a:xfrm>
          <a:prstGeom prst="straightConnector1">
            <a:avLst/>
          </a:prstGeom>
          <a:ln w="17145">
            <a:solidFill>
              <a:srgbClr val="BA7A13"/>
            </a:solidFill>
            <a:prstDash val="dash"/>
          </a:ln>
        </p:spPr>
      </p:cxnSp>
      <p:sp>
        <p:nvSpPr>
          <p:cNvPr id="29" name="Latent loss">
            <a:extLst>
              <a:ext uri="{FF2B5EF4-FFF2-40B4-BE49-F238E27FC236}">
                <a16:creationId xmlns:a16="http://schemas.microsoft.com/office/drawing/2014/main" id="{C92ED80F-A731-43C3-86A6-7E9AE3193D57}"/>
              </a:ext>
            </a:extLst>
          </p:cNvPr>
          <p:cNvSpPr>
            <a:spLocks noGrp="1"/>
          </p:cNvSpPr>
          <p:nvPr/>
        </p:nvSpPr>
        <p:spPr>
          <a:xfrm>
            <a:off x="3600450" y="3457575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Latent loss</a:t>
            </a:r>
          </a:p>
        </p:txBody>
      </p:sp>
      <p:cxnSp>
        <p:nvCxnSpPr>
          <p:cNvPr id="30" name="diagram connector">
            <a:extLst>
              <a:ext uri="{FF2B5EF4-FFF2-40B4-BE49-F238E27FC236}">
                <a16:creationId xmlns:a16="http://schemas.microsoft.com/office/drawing/2014/main" id="{3668AF2D-94FF-4F7C-9FF0-7FE0A825CE13}"/>
              </a:ext>
            </a:extLst>
          </p:cNvPr>
          <p:cNvCxnSpPr/>
          <p:nvPr/>
        </p:nvCxnSpPr>
        <p:spPr>
          <a:xfrm>
            <a:off x="7781925" y="2162175"/>
            <a:ext cx="0" cy="552450"/>
          </a:xfrm>
          <a:prstGeom prst="straightConnector1">
            <a:avLst/>
          </a:prstGeom>
          <a:ln w="17145">
            <a:solidFill>
              <a:srgbClr val="087F8C"/>
            </a:solidFill>
            <a:prstDash val="dash"/>
          </a:ln>
        </p:spPr>
      </p:cxnSp>
      <p:sp>
        <p:nvSpPr>
          <p:cNvPr id="31" name="Action loss">
            <a:extLst>
              <a:ext uri="{FF2B5EF4-FFF2-40B4-BE49-F238E27FC236}">
                <a16:creationId xmlns:a16="http://schemas.microsoft.com/office/drawing/2014/main" id="{F4FFE0BD-CCD5-4641-8C19-9006C6FC8B1E}"/>
              </a:ext>
            </a:extLst>
          </p:cNvPr>
          <p:cNvSpPr>
            <a:spLocks noGrp="1"/>
          </p:cNvSpPr>
          <p:nvPr/>
        </p:nvSpPr>
        <p:spPr>
          <a:xfrm>
            <a:off x="7058025" y="3457575"/>
            <a:ext cx="1466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Action loss</a:t>
            </a:r>
          </a:p>
        </p:txBody>
      </p:sp>
      <p:sp>
        <p:nvSpPr>
          <p:cNvPr id="32" name="MSE(first 10 × 6 motor actions) + ρc · NMSE(future late">
            <a:extLst>
              <a:ext uri="{FF2B5EF4-FFF2-40B4-BE49-F238E27FC236}">
                <a16:creationId xmlns:a16="http://schemas.microsoft.com/office/drawing/2014/main" id="{3ED934A2-636B-4656-9DB5-7BA169517B2D}"/>
              </a:ext>
            </a:extLst>
          </p:cNvPr>
          <p:cNvSpPr>
            <a:spLocks noGrp="1"/>
          </p:cNvSpPr>
          <p:nvPr/>
        </p:nvSpPr>
        <p:spPr>
          <a:xfrm>
            <a:off x="952500" y="3895725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MSE(first 10 × 6 motor actions) + ρc · NMSE(future latents)</a:t>
            </a:r>
          </a:p>
        </p:txBody>
      </p:sp>
      <p:sp>
        <p:nvSpPr>
          <p:cNvPr id="33" name="614 target Linears; update codebooks + row gains. Laten">
            <a:extLst>
              <a:ext uri="{FF2B5EF4-FFF2-40B4-BE49-F238E27FC236}">
                <a16:creationId xmlns:a16="http://schemas.microsoft.com/office/drawing/2014/main" id="{7AD0FD9B-3D84-485F-8DFA-68F3837F5D56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614 target Linears; update codebooks + row gains. Latents exclude frame 0; motor loss excludes gripper.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Microscaling additive VQ weights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3">
            <a:extLst>
              <a:ext uri="{FF2B5EF4-FFF2-40B4-BE49-F238E27FC236}">
                <a16:creationId xmlns:a16="http://schemas.microsoft.com/office/drawing/2014/main" id="{1B4EBE44-4EEC-4A40-8983-B65C28FD9670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ransformed weight row">
            <a:extLst>
              <a:ext uri="{FF2B5EF4-FFF2-40B4-BE49-F238E27FC236}">
                <a16:creationId xmlns:a16="http://schemas.microsoft.com/office/drawing/2014/main" id="{3AD12B47-9713-44E2-9186-5F1FFE90348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Transformed weight row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6FE1A0F5-D670-4EA7-A5FE-C8AF8767DB17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7D0BC3FC-31D3-424F-832F-6AB0B4C0A0A7}"/>
              </a:ext>
            </a:extLst>
          </p:cNvPr>
          <p:cNvSpPr>
            <a:spLocks noGrp="1"/>
          </p:cNvSpPr>
          <p:nvPr/>
        </p:nvSpPr>
        <p:spPr>
          <a:xfrm>
            <a:off x="9048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259A578F-F0BB-464D-86AD-22C0D367C548}"/>
              </a:ext>
            </a:extLst>
          </p:cNvPr>
          <p:cNvSpPr>
            <a:spLocks noGrp="1"/>
          </p:cNvSpPr>
          <p:nvPr/>
        </p:nvSpPr>
        <p:spPr>
          <a:xfrm>
            <a:off x="12001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C3282941-CFB3-4E37-97CA-09BEB4238C2D}"/>
              </a:ext>
            </a:extLst>
          </p:cNvPr>
          <p:cNvSpPr>
            <a:spLocks noGrp="1"/>
          </p:cNvSpPr>
          <p:nvPr/>
        </p:nvSpPr>
        <p:spPr>
          <a:xfrm>
            <a:off x="14954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87BC78BE-4A35-45AC-8CDF-D77427F308DF}"/>
              </a:ext>
            </a:extLst>
          </p:cNvPr>
          <p:cNvSpPr>
            <a:spLocks noGrp="1"/>
          </p:cNvSpPr>
          <p:nvPr/>
        </p:nvSpPr>
        <p:spPr>
          <a:xfrm>
            <a:off x="17907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B372C74A-FE65-40A4-9F77-FB5D3A32073E}"/>
              </a:ext>
            </a:extLst>
          </p:cNvPr>
          <p:cNvSpPr>
            <a:spLocks noGrp="1"/>
          </p:cNvSpPr>
          <p:nvPr/>
        </p:nvSpPr>
        <p:spPr>
          <a:xfrm>
            <a:off x="20859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4A2BC7DC-9A51-4A68-A813-EFA7F791E89D}"/>
              </a:ext>
            </a:extLst>
          </p:cNvPr>
          <p:cNvSpPr>
            <a:spLocks noGrp="1"/>
          </p:cNvSpPr>
          <p:nvPr/>
        </p:nvSpPr>
        <p:spPr>
          <a:xfrm>
            <a:off x="23812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73225969-1630-4676-AC13-C2CC3E3DE2B7}"/>
              </a:ext>
            </a:extLst>
          </p:cNvPr>
          <p:cNvSpPr>
            <a:spLocks noGrp="1"/>
          </p:cNvSpPr>
          <p:nvPr/>
        </p:nvSpPr>
        <p:spPr>
          <a:xfrm>
            <a:off x="26765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B32 = 8 vectors × d4">
            <a:extLst>
              <a:ext uri="{FF2B5EF4-FFF2-40B4-BE49-F238E27FC236}">
                <a16:creationId xmlns:a16="http://schemas.microsoft.com/office/drawing/2014/main" id="{C9CA1346-6DA8-459D-AF3E-654D87F4BA69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AE029C70-482D-43DD-9150-240D2CF639A7}"/>
              </a:ext>
            </a:extLst>
          </p:cNvPr>
          <p:cNvSpPr>
            <a:spLocks noGrp="1"/>
          </p:cNvSpPr>
          <p:nvPr/>
        </p:nvSpPr>
        <p:spPr>
          <a:xfrm>
            <a:off x="32289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diagram block">
            <a:extLst>
              <a:ext uri="{FF2B5EF4-FFF2-40B4-BE49-F238E27FC236}">
                <a16:creationId xmlns:a16="http://schemas.microsoft.com/office/drawing/2014/main" id="{BDB7A1F8-9CCC-47A3-8E8A-F6B42511458E}"/>
              </a:ext>
            </a:extLst>
          </p:cNvPr>
          <p:cNvSpPr>
            <a:spLocks noGrp="1"/>
          </p:cNvSpPr>
          <p:nvPr/>
        </p:nvSpPr>
        <p:spPr>
          <a:xfrm>
            <a:off x="35242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diagram block">
            <a:extLst>
              <a:ext uri="{FF2B5EF4-FFF2-40B4-BE49-F238E27FC236}">
                <a16:creationId xmlns:a16="http://schemas.microsoft.com/office/drawing/2014/main" id="{FF02A0EE-16B1-4D5D-B505-2050614BAB03}"/>
              </a:ext>
            </a:extLst>
          </p:cNvPr>
          <p:cNvSpPr>
            <a:spLocks noGrp="1"/>
          </p:cNvSpPr>
          <p:nvPr/>
        </p:nvSpPr>
        <p:spPr>
          <a:xfrm>
            <a:off x="38195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diagram block">
            <a:extLst>
              <a:ext uri="{FF2B5EF4-FFF2-40B4-BE49-F238E27FC236}">
                <a16:creationId xmlns:a16="http://schemas.microsoft.com/office/drawing/2014/main" id="{65244407-B6C7-4ECB-9B0C-6EB5A6597EDF}"/>
              </a:ext>
            </a:extLst>
          </p:cNvPr>
          <p:cNvSpPr>
            <a:spLocks noGrp="1"/>
          </p:cNvSpPr>
          <p:nvPr/>
        </p:nvSpPr>
        <p:spPr>
          <a:xfrm>
            <a:off x="41148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diagram block">
            <a:extLst>
              <a:ext uri="{FF2B5EF4-FFF2-40B4-BE49-F238E27FC236}">
                <a16:creationId xmlns:a16="http://schemas.microsoft.com/office/drawing/2014/main" id="{134EAF76-22F4-41AE-AEAC-E829B3CB954D}"/>
              </a:ext>
            </a:extLst>
          </p:cNvPr>
          <p:cNvSpPr>
            <a:spLocks noGrp="1"/>
          </p:cNvSpPr>
          <p:nvPr/>
        </p:nvSpPr>
        <p:spPr>
          <a:xfrm>
            <a:off x="44100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diagram block">
            <a:extLst>
              <a:ext uri="{FF2B5EF4-FFF2-40B4-BE49-F238E27FC236}">
                <a16:creationId xmlns:a16="http://schemas.microsoft.com/office/drawing/2014/main" id="{8CEDF0AD-FCDD-42E0-BF8C-451A613E65FD}"/>
              </a:ext>
            </a:extLst>
          </p:cNvPr>
          <p:cNvSpPr>
            <a:spLocks noGrp="1"/>
          </p:cNvSpPr>
          <p:nvPr/>
        </p:nvSpPr>
        <p:spPr>
          <a:xfrm>
            <a:off x="4705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diagram block">
            <a:extLst>
              <a:ext uri="{FF2B5EF4-FFF2-40B4-BE49-F238E27FC236}">
                <a16:creationId xmlns:a16="http://schemas.microsoft.com/office/drawing/2014/main" id="{42BD034B-7DC8-4C76-BD88-7B11BEA001E5}"/>
              </a:ext>
            </a:extLst>
          </p:cNvPr>
          <p:cNvSpPr>
            <a:spLocks noGrp="1"/>
          </p:cNvSpPr>
          <p:nvPr/>
        </p:nvSpPr>
        <p:spPr>
          <a:xfrm>
            <a:off x="5000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ACBAE066-455D-4993-ADC4-4CF57ED9822E}"/>
              </a:ext>
            </a:extLst>
          </p:cNvPr>
          <p:cNvSpPr>
            <a:spLocks noGrp="1"/>
          </p:cNvSpPr>
          <p:nvPr/>
        </p:nvSpPr>
        <p:spPr>
          <a:xfrm>
            <a:off x="5295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B32 = 8 vectors × d4">
            <a:extLst>
              <a:ext uri="{FF2B5EF4-FFF2-40B4-BE49-F238E27FC236}">
                <a16:creationId xmlns:a16="http://schemas.microsoft.com/office/drawing/2014/main" id="{39E4534F-6111-4CDC-A77B-F5DC174B9824}"/>
              </a:ext>
            </a:extLst>
          </p:cNvPr>
          <p:cNvSpPr>
            <a:spLocks noGrp="1"/>
          </p:cNvSpPr>
          <p:nvPr/>
        </p:nvSpPr>
        <p:spPr>
          <a:xfrm>
            <a:off x="3228975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2FB72A13-6DAC-4E55-8400-5FEB4CFDFB23}"/>
              </a:ext>
            </a:extLst>
          </p:cNvPr>
          <p:cNvSpPr>
            <a:spLocks noGrp="1"/>
          </p:cNvSpPr>
          <p:nvPr/>
        </p:nvSpPr>
        <p:spPr>
          <a:xfrm>
            <a:off x="5848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7A47C065-EBED-4D4F-ADF0-E42EBFF587E1}"/>
              </a:ext>
            </a:extLst>
          </p:cNvPr>
          <p:cNvSpPr>
            <a:spLocks noGrp="1"/>
          </p:cNvSpPr>
          <p:nvPr/>
        </p:nvSpPr>
        <p:spPr>
          <a:xfrm>
            <a:off x="6143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12116A0D-D694-42A3-94FD-7312C8701B02}"/>
              </a:ext>
            </a:extLst>
          </p:cNvPr>
          <p:cNvSpPr>
            <a:spLocks noGrp="1"/>
          </p:cNvSpPr>
          <p:nvPr/>
        </p:nvSpPr>
        <p:spPr>
          <a:xfrm>
            <a:off x="6438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73295BC1-74BF-4D09-8F25-BA0A351CE7E1}"/>
              </a:ext>
            </a:extLst>
          </p:cNvPr>
          <p:cNvSpPr>
            <a:spLocks noGrp="1"/>
          </p:cNvSpPr>
          <p:nvPr/>
        </p:nvSpPr>
        <p:spPr>
          <a:xfrm>
            <a:off x="67341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2CB38F35-A462-401B-915D-C28028FF7FEE}"/>
              </a:ext>
            </a:extLst>
          </p:cNvPr>
          <p:cNvSpPr>
            <a:spLocks noGrp="1"/>
          </p:cNvSpPr>
          <p:nvPr/>
        </p:nvSpPr>
        <p:spPr>
          <a:xfrm>
            <a:off x="70294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E249D3E5-B477-4BC1-A417-0C528D26A9B2}"/>
              </a:ext>
            </a:extLst>
          </p:cNvPr>
          <p:cNvSpPr>
            <a:spLocks noGrp="1"/>
          </p:cNvSpPr>
          <p:nvPr/>
        </p:nvSpPr>
        <p:spPr>
          <a:xfrm>
            <a:off x="73247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F2F773B5-FE19-4E38-9624-BEC3B5D70395}"/>
              </a:ext>
            </a:extLst>
          </p:cNvPr>
          <p:cNvSpPr>
            <a:spLocks noGrp="1"/>
          </p:cNvSpPr>
          <p:nvPr/>
        </p:nvSpPr>
        <p:spPr>
          <a:xfrm>
            <a:off x="76200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595741C-FE56-416C-B8D5-6402885AFF8B}"/>
              </a:ext>
            </a:extLst>
          </p:cNvPr>
          <p:cNvSpPr>
            <a:spLocks noGrp="1"/>
          </p:cNvSpPr>
          <p:nvPr/>
        </p:nvSpPr>
        <p:spPr>
          <a:xfrm>
            <a:off x="79152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…">
            <a:extLst>
              <a:ext uri="{FF2B5EF4-FFF2-40B4-BE49-F238E27FC236}">
                <a16:creationId xmlns:a16="http://schemas.microsoft.com/office/drawing/2014/main" id="{67442764-BB85-4CA2-AA5E-EEE69C6CB39A}"/>
              </a:ext>
            </a:extLst>
          </p:cNvPr>
          <p:cNvSpPr>
            <a:spLocks noGrp="1"/>
          </p:cNvSpPr>
          <p:nvPr/>
        </p:nvSpPr>
        <p:spPr>
          <a:xfrm>
            <a:off x="584835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3" name="i₁  (8-bit)">
            <a:extLst>
              <a:ext uri="{FF2B5EF4-FFF2-40B4-BE49-F238E27FC236}">
                <a16:creationId xmlns:a16="http://schemas.microsoft.com/office/drawing/2014/main" id="{BA11FAFC-D747-410E-862D-465B6A229145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i₁  (8-bit)</a:t>
            </a:r>
          </a:p>
        </p:txBody>
      </p:sp>
      <p:sp>
        <p:nvSpPr>
          <p:cNvPr id="34" name="i₂  (8-bit)">
            <a:extLst>
              <a:ext uri="{FF2B5EF4-FFF2-40B4-BE49-F238E27FC236}">
                <a16:creationId xmlns:a16="http://schemas.microsoft.com/office/drawing/2014/main" id="{A4C63435-18B3-4D82-81E9-D7DA362455DE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i₂  (8-bit)</a:t>
            </a:r>
          </a:p>
        </p:txBody>
      </p:sp>
      <p:sp>
        <p:nvSpPr>
          <p:cNvPr id="35" name="Codebook C₁&#10;256 × 4 · BF16">
            <a:extLst>
              <a:ext uri="{FF2B5EF4-FFF2-40B4-BE49-F238E27FC236}">
                <a16:creationId xmlns:a16="http://schemas.microsoft.com/office/drawing/2014/main" id="{44C97447-E07F-42EA-9405-A524CC8736B0}"/>
              </a:ext>
            </a:extLst>
          </p:cNvPr>
          <p:cNvSpPr>
            <a:spLocks noGrp="1"/>
          </p:cNvSpPr>
          <p:nvPr/>
        </p:nvSpPr>
        <p:spPr>
          <a:xfrm>
            <a:off x="2257425" y="2009775"/>
            <a:ext cx="2219325" cy="6381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C₁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sp>
        <p:nvSpPr>
          <p:cNvPr id="36" name="Codebook C₂&#10;256 × 4 · BF16">
            <a:extLst>
              <a:ext uri="{FF2B5EF4-FFF2-40B4-BE49-F238E27FC236}">
                <a16:creationId xmlns:a16="http://schemas.microsoft.com/office/drawing/2014/main" id="{E774B519-6860-4E8C-A605-4136032AC4FF}"/>
              </a:ext>
            </a:extLst>
          </p:cNvPr>
          <p:cNvSpPr>
            <a:spLocks noGrp="1"/>
          </p:cNvSpPr>
          <p:nvPr/>
        </p:nvSpPr>
        <p:spPr>
          <a:xfrm>
            <a:off x="2257425" y="2867025"/>
            <a:ext cx="2219325" cy="63817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C₂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cxnSp>
        <p:nvCxnSpPr>
          <p:cNvPr id="37" name="diagram connector">
            <a:extLst>
              <a:ext uri="{FF2B5EF4-FFF2-40B4-BE49-F238E27FC236}">
                <a16:creationId xmlns:a16="http://schemas.microsoft.com/office/drawing/2014/main" id="{11CECB53-AAC4-455E-BF54-BEBB1E4D65B9}"/>
              </a:ext>
            </a:extLst>
          </p:cNvPr>
          <p:cNvCxnSpPr/>
          <p:nvPr/>
        </p:nvCxnSpPr>
        <p:spPr>
          <a:xfrm>
            <a:off x="1866900" y="2314575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8" name="diagram connector">
            <a:extLst>
              <a:ext uri="{FF2B5EF4-FFF2-40B4-BE49-F238E27FC236}">
                <a16:creationId xmlns:a16="http://schemas.microsoft.com/office/drawing/2014/main" id="{FA83978A-91BC-4767-A5B1-91FAD99A1A76}"/>
              </a:ext>
            </a:extLst>
          </p:cNvPr>
          <p:cNvCxnSpPr/>
          <p:nvPr/>
        </p:nvCxnSpPr>
        <p:spPr>
          <a:xfrm>
            <a:off x="1866900" y="3181350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9" name="diagram connector">
            <a:extLst>
              <a:ext uri="{FF2B5EF4-FFF2-40B4-BE49-F238E27FC236}">
                <a16:creationId xmlns:a16="http://schemas.microsoft.com/office/drawing/2014/main" id="{92D69383-7D13-470D-983F-16C1E09A6D51}"/>
              </a:ext>
            </a:extLst>
          </p:cNvPr>
          <p:cNvCxnSpPr/>
          <p:nvPr/>
        </p:nvCxnSpPr>
        <p:spPr>
          <a:xfrm>
            <a:off x="4476750" y="2324100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0" name="diagram connector">
            <a:extLst>
              <a:ext uri="{FF2B5EF4-FFF2-40B4-BE49-F238E27FC236}">
                <a16:creationId xmlns:a16="http://schemas.microsoft.com/office/drawing/2014/main" id="{0DB4FB0C-604F-4473-B720-67D9CDE7EC15}"/>
              </a:ext>
            </a:extLst>
          </p:cNvPr>
          <p:cNvCxnSpPr/>
          <p:nvPr/>
        </p:nvCxnSpPr>
        <p:spPr>
          <a:xfrm>
            <a:off x="5067300" y="2324100"/>
            <a:ext cx="0" cy="43815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1" name="diagram connector">
            <a:extLst>
              <a:ext uri="{FF2B5EF4-FFF2-40B4-BE49-F238E27FC236}">
                <a16:creationId xmlns:a16="http://schemas.microsoft.com/office/drawing/2014/main" id="{A6A662B7-3BC4-4505-881C-00F1E2B3D222}"/>
              </a:ext>
            </a:extLst>
          </p:cNvPr>
          <p:cNvCxnSpPr/>
          <p:nvPr/>
        </p:nvCxnSpPr>
        <p:spPr>
          <a:xfrm>
            <a:off x="4476750" y="3190875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2" name="diagram connector">
            <a:extLst>
              <a:ext uri="{FF2B5EF4-FFF2-40B4-BE49-F238E27FC236}">
                <a16:creationId xmlns:a16="http://schemas.microsoft.com/office/drawing/2014/main" id="{C9548849-8BDA-45CD-82DA-BEF0FAE1A8BF}"/>
              </a:ext>
            </a:extLst>
          </p:cNvPr>
          <p:cNvCxnSpPr/>
          <p:nvPr/>
        </p:nvCxnSpPr>
        <p:spPr>
          <a:xfrm flipV="1">
            <a:off x="5067300" y="2762250"/>
            <a:ext cx="0" cy="42862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sp>
        <p:nvSpPr>
          <p:cNvPr id="43" name="+">
            <a:extLst>
              <a:ext uri="{FF2B5EF4-FFF2-40B4-BE49-F238E27FC236}">
                <a16:creationId xmlns:a16="http://schemas.microsoft.com/office/drawing/2014/main" id="{86DDC595-E59A-4B9C-8F61-5EF187010572}"/>
              </a:ext>
            </a:extLst>
          </p:cNvPr>
          <p:cNvSpPr>
            <a:spLocks noGrp="1"/>
          </p:cNvSpPr>
          <p:nvPr/>
        </p:nvSpPr>
        <p:spPr>
          <a:xfrm>
            <a:off x="4895850" y="2571750"/>
            <a:ext cx="352425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1B2059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cxnSp>
        <p:nvCxnSpPr>
          <p:cNvPr id="44" name="diagram connector">
            <a:extLst>
              <a:ext uri="{FF2B5EF4-FFF2-40B4-BE49-F238E27FC236}">
                <a16:creationId xmlns:a16="http://schemas.microsoft.com/office/drawing/2014/main" id="{B0C032C7-F94D-4455-819C-06B269AEB4AD}"/>
              </a:ext>
            </a:extLst>
          </p:cNvPr>
          <p:cNvCxnSpPr/>
          <p:nvPr/>
        </p:nvCxnSpPr>
        <p:spPr>
          <a:xfrm>
            <a:off x="5257800" y="2762250"/>
            <a:ext cx="4095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45" name="× r_row × 2^(e_g)">
            <a:extLst>
              <a:ext uri="{FF2B5EF4-FFF2-40B4-BE49-F238E27FC236}">
                <a16:creationId xmlns:a16="http://schemas.microsoft.com/office/drawing/2014/main" id="{DECAE95F-C8FF-4E36-B98C-D759934557B4}"/>
              </a:ext>
            </a:extLst>
          </p:cNvPr>
          <p:cNvSpPr>
            <a:spLocks noGrp="1"/>
          </p:cNvSpPr>
          <p:nvPr/>
        </p:nvSpPr>
        <p:spPr>
          <a:xfrm>
            <a:off x="5667375" y="2419350"/>
            <a:ext cx="2800350" cy="7048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× r_row × 2^(e_g)</a:t>
            </a:r>
          </a:p>
        </p:txBody>
      </p:sp>
      <p:sp>
        <p:nvSpPr>
          <p:cNvPr id="46" name="e_g = round(log₂(block_RMS / r_row))">
            <a:extLst>
              <a:ext uri="{FF2B5EF4-FFF2-40B4-BE49-F238E27FC236}">
                <a16:creationId xmlns:a16="http://schemas.microsoft.com/office/drawing/2014/main" id="{498571B3-55C9-4BEB-933E-F6FA0500FAD0}"/>
              </a:ext>
            </a:extLst>
          </p:cNvPr>
          <p:cNvSpPr>
            <a:spLocks noGrp="1"/>
          </p:cNvSpPr>
          <p:nvPr/>
        </p:nvSpPr>
        <p:spPr>
          <a:xfrm>
            <a:off x="4933950" y="2038350"/>
            <a:ext cx="3619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e_g = round(log₂(block_RMS / r_row))</a:t>
            </a:r>
          </a:p>
        </p:txBody>
      </p:sp>
      <p:sp>
        <p:nvSpPr>
          <p:cNvPr id="47" name="BF16 row gain + B32 exponent">
            <a:extLst>
              <a:ext uri="{FF2B5EF4-FFF2-40B4-BE49-F238E27FC236}">
                <a16:creationId xmlns:a16="http://schemas.microsoft.com/office/drawing/2014/main" id="{C21A5CED-AB8D-42FD-8F6C-B272A8E02EB4}"/>
              </a:ext>
            </a:extLst>
          </p:cNvPr>
          <p:cNvSpPr>
            <a:spLocks noGrp="1"/>
          </p:cNvSpPr>
          <p:nvPr/>
        </p:nvSpPr>
        <p:spPr>
          <a:xfrm>
            <a:off x="5572125" y="32670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BF16 row gain + B32 exponent</a:t>
            </a:r>
          </a:p>
        </p:txBody>
      </p:sp>
      <p:sp>
        <p:nvSpPr>
          <p:cNvPr id="48" name="4 core bpw  +  0.25 B32 bpw  +  codebooks / gains / tra">
            <a:extLst>
              <a:ext uri="{FF2B5EF4-FFF2-40B4-BE49-F238E27FC236}">
                <a16:creationId xmlns:a16="http://schemas.microsoft.com/office/drawing/2014/main" id="{AF8BA2DF-EBC7-4345-B967-4842C9C54326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 core bpw  +  0.25 B32 bpw  +  codebooks / gains / transforms  ≈  4.27 bpw</a:t>
            </a:r>
          </a:p>
        </p:txBody>
      </p:sp>
      <p:sp>
        <p:nvSpPr>
          <p:cNvPr id="49" name="Fixed indices + exponents; calibrate codebooks + row ga">
            <a:extLst>
              <a:ext uri="{FF2B5EF4-FFF2-40B4-BE49-F238E27FC236}">
                <a16:creationId xmlns:a16="http://schemas.microsoft.com/office/drawing/2014/main" id="{E1EB25C5-2027-4B3B-84D7-DD29BA647848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Fixed indices + exponents; calibrate codebooks + row gains. VQ codewords remain BF16 values.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Per-channel scaling + activation clipping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4">
            <a:extLst>
              <a:ext uri="{FF2B5EF4-FFF2-40B4-BE49-F238E27FC236}">
                <a16:creationId xmlns:a16="http://schemas.microsoft.com/office/drawing/2014/main" id="{6DE47FC7-E9C3-4CAD-994E-A1AE88FD435C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ctivation path">
            <a:extLst>
              <a:ext uri="{FF2B5EF4-FFF2-40B4-BE49-F238E27FC236}">
                <a16:creationId xmlns:a16="http://schemas.microsoft.com/office/drawing/2014/main" id="{73857DCD-0B19-4AD6-9CD4-46C506166B67}"/>
              </a:ext>
            </a:extLst>
          </p:cNvPr>
          <p:cNvSpPr>
            <a:spLocks noGrp="1"/>
          </p:cNvSpPr>
          <p:nvPr/>
        </p:nvSpPr>
        <p:spPr>
          <a:xfrm>
            <a:off x="609600" y="84772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Activation path</a:t>
            </a:r>
          </a:p>
        </p:txBody>
      </p:sp>
      <p:sp>
        <p:nvSpPr>
          <p:cNvPr id="6" name="X">
            <a:extLst>
              <a:ext uri="{FF2B5EF4-FFF2-40B4-BE49-F238E27FC236}">
                <a16:creationId xmlns:a16="http://schemas.microsoft.com/office/drawing/2014/main" id="{DD32E345-382C-41F7-BCA3-72E3E055D2D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57150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9E3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Smooth 0.5&#10;+ H128">
            <a:extLst>
              <a:ext uri="{FF2B5EF4-FFF2-40B4-BE49-F238E27FC236}">
                <a16:creationId xmlns:a16="http://schemas.microsoft.com/office/drawing/2014/main" id="{0ADE67B7-6322-48B1-B383-D54A3FEBCFF2}"/>
              </a:ext>
            </a:extLst>
          </p:cNvPr>
          <p:cNvSpPr>
            <a:spLocks noGrp="1"/>
          </p:cNvSpPr>
          <p:nvPr/>
        </p:nvSpPr>
        <p:spPr>
          <a:xfrm>
            <a:off x="1457325" y="1362075"/>
            <a:ext cx="1485900" cy="628650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Smooth 0.5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 H128</a:t>
            </a:r>
          </a:p>
        </p:txBody>
      </p:sp>
      <p:sp>
        <p:nvSpPr>
          <p:cNvPr id="8" name="÷ D">
            <a:extLst>
              <a:ext uri="{FF2B5EF4-FFF2-40B4-BE49-F238E27FC236}">
                <a16:creationId xmlns:a16="http://schemas.microsoft.com/office/drawing/2014/main" id="{0490057E-DA5D-4BED-BF98-A536C3714248}"/>
              </a:ext>
            </a:extLst>
          </p:cNvPr>
          <p:cNvSpPr>
            <a:spLocks noGrp="1"/>
          </p:cNvSpPr>
          <p:nvPr/>
        </p:nvSpPr>
        <p:spPr>
          <a:xfrm>
            <a:off x="3228975" y="1362075"/>
            <a:ext cx="1000125" cy="628650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÷ D</a:t>
            </a:r>
          </a:p>
        </p:txBody>
      </p:sp>
      <p:sp>
        <p:nvSpPr>
          <p:cNvPr id="9" name="Dynamic&#10;signed A4">
            <a:extLst>
              <a:ext uri="{FF2B5EF4-FFF2-40B4-BE49-F238E27FC236}">
                <a16:creationId xmlns:a16="http://schemas.microsoft.com/office/drawing/2014/main" id="{023877B4-E5B3-41DD-B6A5-D1372B711D71}"/>
              </a:ext>
            </a:extLst>
          </p:cNvPr>
          <p:cNvSpPr>
            <a:spLocks noGrp="1"/>
          </p:cNvSpPr>
          <p:nvPr/>
        </p:nvSpPr>
        <p:spPr>
          <a:xfrm>
            <a:off x="4514850" y="1362075"/>
            <a:ext cx="1562100" cy="62865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Dynamic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signed A4</a:t>
            </a:r>
          </a:p>
        </p:txBody>
      </p:sp>
      <p:sp>
        <p:nvSpPr>
          <p:cNvPr id="10" name="BF16&#10;dense Linear">
            <a:extLst>
              <a:ext uri="{FF2B5EF4-FFF2-40B4-BE49-F238E27FC236}">
                <a16:creationId xmlns:a16="http://schemas.microsoft.com/office/drawing/2014/main" id="{5E457820-9E47-4D09-9B1B-FA42F7DDC095}"/>
              </a:ext>
            </a:extLst>
          </p:cNvPr>
          <p:cNvSpPr>
            <a:spLocks noGrp="1"/>
          </p:cNvSpPr>
          <p:nvPr/>
        </p:nvSpPr>
        <p:spPr>
          <a:xfrm>
            <a:off x="6705600" y="1362075"/>
            <a:ext cx="1762125" cy="6286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dense Linear</a:t>
            </a:r>
          </a:p>
        </p:txBody>
      </p:sp>
      <p:cxnSp>
        <p:nvCxnSpPr>
          <p:cNvPr id="11" name="diagram connector">
            <a:extLst>
              <a:ext uri="{FF2B5EF4-FFF2-40B4-BE49-F238E27FC236}">
                <a16:creationId xmlns:a16="http://schemas.microsoft.com/office/drawing/2014/main" id="{4A9E33DA-C3FA-4372-8692-6E116B2CB6B7}"/>
              </a:ext>
            </a:extLst>
          </p:cNvPr>
          <p:cNvCxnSpPr/>
          <p:nvPr/>
        </p:nvCxnSpPr>
        <p:spPr>
          <a:xfrm>
            <a:off x="1181100" y="1676400"/>
            <a:ext cx="2762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2" name="diagram connector">
            <a:extLst>
              <a:ext uri="{FF2B5EF4-FFF2-40B4-BE49-F238E27FC236}">
                <a16:creationId xmlns:a16="http://schemas.microsoft.com/office/drawing/2014/main" id="{B69A8E64-27F5-49C6-8E88-F19E42A4E0D1}"/>
              </a:ext>
            </a:extLst>
          </p:cNvPr>
          <p:cNvCxnSpPr/>
          <p:nvPr/>
        </p:nvCxnSpPr>
        <p:spPr>
          <a:xfrm>
            <a:off x="2943225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3" name="diagram connector">
            <a:extLst>
              <a:ext uri="{FF2B5EF4-FFF2-40B4-BE49-F238E27FC236}">
                <a16:creationId xmlns:a16="http://schemas.microsoft.com/office/drawing/2014/main" id="{22194B51-F90F-41CD-9227-B38D0B7F3332}"/>
              </a:ext>
            </a:extLst>
          </p:cNvPr>
          <p:cNvCxnSpPr/>
          <p:nvPr/>
        </p:nvCxnSpPr>
        <p:spPr>
          <a:xfrm>
            <a:off x="4229100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4" name="diagram connector">
            <a:extLst>
              <a:ext uri="{FF2B5EF4-FFF2-40B4-BE49-F238E27FC236}">
                <a16:creationId xmlns:a16="http://schemas.microsoft.com/office/drawing/2014/main" id="{CDF26E95-FD46-4CEA-A3DE-D965C093F119}"/>
              </a:ext>
            </a:extLst>
          </p:cNvPr>
          <p:cNvCxnSpPr/>
          <p:nvPr/>
        </p:nvCxnSpPr>
        <p:spPr>
          <a:xfrm>
            <a:off x="6076950" y="1676400"/>
            <a:ext cx="6286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5" name="z">
            <a:extLst>
              <a:ext uri="{FF2B5EF4-FFF2-40B4-BE49-F238E27FC236}">
                <a16:creationId xmlns:a16="http://schemas.microsoft.com/office/drawing/2014/main" id="{9BD514D8-20D8-465D-BA81-D53D7AAB3C20}"/>
              </a:ext>
            </a:extLst>
          </p:cNvPr>
          <p:cNvSpPr>
            <a:spLocks noGrp="1"/>
          </p:cNvSpPr>
          <p:nvPr/>
        </p:nvSpPr>
        <p:spPr>
          <a:xfrm>
            <a:off x="2971800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6" name="v">
            <a:extLst>
              <a:ext uri="{FF2B5EF4-FFF2-40B4-BE49-F238E27FC236}">
                <a16:creationId xmlns:a16="http://schemas.microsoft.com/office/drawing/2014/main" id="{7962F1A7-04E5-40F0-8CE2-83393796F439}"/>
              </a:ext>
            </a:extLst>
          </p:cNvPr>
          <p:cNvSpPr>
            <a:spLocks noGrp="1"/>
          </p:cNvSpPr>
          <p:nvPr/>
        </p:nvSpPr>
        <p:spPr>
          <a:xfrm>
            <a:off x="4257675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7" name="Weight path">
            <a:extLst>
              <a:ext uri="{FF2B5EF4-FFF2-40B4-BE49-F238E27FC236}">
                <a16:creationId xmlns:a16="http://schemas.microsoft.com/office/drawing/2014/main" id="{7B24C0BA-7322-4018-9EF4-85C0CCD5E170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Weight path</a:t>
            </a:r>
          </a:p>
        </p:txBody>
      </p:sp>
      <p:sp>
        <p:nvSpPr>
          <p:cNvPr id="18" name="Frozen VQ&#10;representation">
            <a:extLst>
              <a:ext uri="{FF2B5EF4-FFF2-40B4-BE49-F238E27FC236}">
                <a16:creationId xmlns:a16="http://schemas.microsoft.com/office/drawing/2014/main" id="{90F95EBD-A2CA-44E0-82B9-CD5A11177E7C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2000250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VQ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9" name="Decode Wq">
            <a:extLst>
              <a:ext uri="{FF2B5EF4-FFF2-40B4-BE49-F238E27FC236}">
                <a16:creationId xmlns:a16="http://schemas.microsoft.com/office/drawing/2014/main" id="{121BF9DC-689C-42E5-A34A-E8E672A2B274}"/>
              </a:ext>
            </a:extLst>
          </p:cNvPr>
          <p:cNvSpPr>
            <a:spLocks noGrp="1"/>
          </p:cNvSpPr>
          <p:nvPr/>
        </p:nvSpPr>
        <p:spPr>
          <a:xfrm>
            <a:off x="2981325" y="2828925"/>
            <a:ext cx="1552575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Decode Wq</a:t>
            </a:r>
          </a:p>
        </p:txBody>
      </p:sp>
      <p:sp>
        <p:nvSpPr>
          <p:cNvPr id="20" name="BF16(Wq · D)&#10;cache once">
            <a:extLst>
              <a:ext uri="{FF2B5EF4-FFF2-40B4-BE49-F238E27FC236}">
                <a16:creationId xmlns:a16="http://schemas.microsoft.com/office/drawing/2014/main" id="{603A0E03-341A-42CD-A768-0BC2A3BB3561}"/>
              </a:ext>
            </a:extLst>
          </p:cNvPr>
          <p:cNvSpPr>
            <a:spLocks noGrp="1"/>
          </p:cNvSpPr>
          <p:nvPr/>
        </p:nvSpPr>
        <p:spPr>
          <a:xfrm>
            <a:off x="4905375" y="2828925"/>
            <a:ext cx="1762125" cy="581025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BF16(Wq · D)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cache once</a:t>
            </a:r>
          </a:p>
        </p:txBody>
      </p:sp>
      <p:cxnSp>
        <p:nvCxnSpPr>
          <p:cNvPr id="21" name="diagram connector">
            <a:extLst>
              <a:ext uri="{FF2B5EF4-FFF2-40B4-BE49-F238E27FC236}">
                <a16:creationId xmlns:a16="http://schemas.microsoft.com/office/drawing/2014/main" id="{3B3D22C0-760D-4B8E-9FB7-270B7B03B513}"/>
              </a:ext>
            </a:extLst>
          </p:cNvPr>
          <p:cNvCxnSpPr/>
          <p:nvPr/>
        </p:nvCxnSpPr>
        <p:spPr>
          <a:xfrm>
            <a:off x="260985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2" name="diagram connector">
            <a:extLst>
              <a:ext uri="{FF2B5EF4-FFF2-40B4-BE49-F238E27FC236}">
                <a16:creationId xmlns:a16="http://schemas.microsoft.com/office/drawing/2014/main" id="{ECC681EA-701F-496A-9562-EED32CD45225}"/>
              </a:ext>
            </a:extLst>
          </p:cNvPr>
          <p:cNvCxnSpPr/>
          <p:nvPr/>
        </p:nvCxnSpPr>
        <p:spPr>
          <a:xfrm>
            <a:off x="453390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3" name="diagram connector">
            <a:extLst>
              <a:ext uri="{FF2B5EF4-FFF2-40B4-BE49-F238E27FC236}">
                <a16:creationId xmlns:a16="http://schemas.microsoft.com/office/drawing/2014/main" id="{D8AC73C7-EA19-4F6F-A86B-0D8CC66B713F}"/>
              </a:ext>
            </a:extLst>
          </p:cNvPr>
          <p:cNvCxnSpPr/>
          <p:nvPr/>
        </p:nvCxnSpPr>
        <p:spPr>
          <a:xfrm>
            <a:off x="6667500" y="3124200"/>
            <a:ext cx="9048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24" name="diagram connector">
            <a:extLst>
              <a:ext uri="{FF2B5EF4-FFF2-40B4-BE49-F238E27FC236}">
                <a16:creationId xmlns:a16="http://schemas.microsoft.com/office/drawing/2014/main" id="{13A16DCA-4B83-4F72-9B6C-AEE7D293E91A}"/>
              </a:ext>
            </a:extLst>
          </p:cNvPr>
          <p:cNvCxnSpPr/>
          <p:nvPr/>
        </p:nvCxnSpPr>
        <p:spPr>
          <a:xfrm flipV="1">
            <a:off x="7572375" y="1990725"/>
            <a:ext cx="0" cy="113347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25" name="s_t = r_l · max |v_t| / 7">
            <a:extLst>
              <a:ext uri="{FF2B5EF4-FFF2-40B4-BE49-F238E27FC236}">
                <a16:creationId xmlns:a16="http://schemas.microsoft.com/office/drawing/2014/main" id="{E90397C9-C31F-4D6F-93F3-8860EC630E6F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s_t = r_l · max |v_t| / 7</a:t>
            </a:r>
          </a:p>
        </p:txBody>
      </p:sp>
      <p:sp>
        <p:nvSpPr>
          <p:cNvPr id="26" name="q = clamp(round(v / s_t), −7, 7)">
            <a:extLst>
              <a:ext uri="{FF2B5EF4-FFF2-40B4-BE49-F238E27FC236}">
                <a16:creationId xmlns:a16="http://schemas.microsoft.com/office/drawing/2014/main" id="{5B1AB267-73BC-4315-9351-7F47194DBFEE}"/>
              </a:ext>
            </a:extLst>
          </p:cNvPr>
          <p:cNvSpPr>
            <a:spLocks noGrp="1"/>
          </p:cNvSpPr>
          <p:nvPr/>
        </p:nvSpPr>
        <p:spPr>
          <a:xfrm>
            <a:off x="4524375" y="3790950"/>
            <a:ext cx="4010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q = clamp(round(v / s_t), −7, 7)</a:t>
            </a:r>
          </a:p>
        </p:txBody>
      </p:sp>
      <p:sp>
        <p:nvSpPr>
          <p:cNvPr id="27" name="Learn D per channel + r_l per Linear on C80; keep VQ we">
            <a:extLst>
              <a:ext uri="{FF2B5EF4-FFF2-40B4-BE49-F238E27FC236}">
                <a16:creationId xmlns:a16="http://schemas.microsoft.com/office/drawing/2014/main" id="{52B49B88-4332-45FB-B73A-2427CCCDD46C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Learn D per channel + r_l per Linear on C80; keep VQ weights fixed. BF16 KV; native VQ kernel pending.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LIBERO+ local baselines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5">
            <a:extLst>
              <a:ext uri="{FF2B5EF4-FFF2-40B4-BE49-F238E27FC236}">
                <a16:creationId xmlns:a16="http://schemas.microsoft.com/office/drawing/2014/main" id="{8FF2626E-B834-4843-92F8-96499DAA199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Frozen paired cohort: 4 suites × 7 perturbations × 10 v">
            <a:extLst>
              <a:ext uri="{FF2B5EF4-FFF2-40B4-BE49-F238E27FC236}">
                <a16:creationId xmlns:a16="http://schemas.microsoft.com/office/drawing/2014/main" id="{670D6530-E84C-438E-9E68-8968D9AD51D8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7924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paired cohort: 4 suites × 7 perturbations × 10 variants = 280 episodes /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DC3A00E-CF8B-46BA-9993-62C11D5A9140}"/>
              </a:ext>
            </a:extLst>
          </p:cNvPr>
          <p:cNvGraphicFramePr/>
          <p:nvPr/>
        </p:nvGraphicFramePr>
        <p:xfrm>
          <a:off x="609600" y="1352550"/>
          <a:ext cx="7924800" cy="27437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195 (69.64%)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Smooth + H128 Scalar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200 (71.43%)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Row-scale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4.02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Microscaling VQ: 204/280 vs local SpinQuant 203/280">
            <a:extLst>
              <a:ext uri="{FF2B5EF4-FFF2-40B4-BE49-F238E27FC236}">
                <a16:creationId xmlns:a16="http://schemas.microsoft.com/office/drawing/2014/main" id="{DEEAAEF1-56E9-4219-87E7-0AF037F9B694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7924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Microscaling VQ: 204/280 vs local SpinQuant 203/280</a:t>
            </a:r>
          </a:p>
        </p:txBody>
      </p:sp>
      <p:sp>
        <p:nvSpPr>
          <p:cNvPr id="8" name="Overall denominator: 280; suite cells: /70. Low-bit arm">
            <a:extLst>
              <a:ext uri="{FF2B5EF4-FFF2-40B4-BE49-F238E27FC236}">
                <a16:creationId xmlns:a16="http://schemas.microsoft.com/office/drawing/2014/main" id="{1D3A956E-4519-4AB1-B8DE-65BE1BCA6A8D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 denominator: 280; suite cells: /70. Low-bit arms: W4A4. † bpw estimates exclude rotation/tail overhead.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supervision and refinement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6">
            <a:extLst>
              <a:ext uri="{FF2B5EF4-FFF2-40B4-BE49-F238E27FC236}">
                <a16:creationId xmlns:a16="http://schemas.microsoft.com/office/drawing/2014/main" id="{F97E9971-8CB9-4E18-A99A-DC1748396EA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A+Z: action+latent · C8 weight calibration / C80 activa">
            <a:extLst>
              <a:ext uri="{FF2B5EF4-FFF2-40B4-BE49-F238E27FC236}">
                <a16:creationId xmlns:a16="http://schemas.microsoft.com/office/drawing/2014/main" id="{2090CFD7-1982-44B9-97A0-E2B60C218DD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A+Z: action+latent · C8 weight calibration / C80 activation refinement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5FB2FE-E83B-4E83-87D2-D353EA6C6DF7}"/>
              </a:ext>
            </a:extLst>
          </p:cNvPr>
          <p:cNvGraphicFramePr/>
          <p:nvPr/>
        </p:nvGraphicFramePr>
        <p:xfrm>
          <a:off x="609600" y="1276350"/>
          <a:ext cx="7924800" cy="30070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ρ0.1 · 2 epochs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201 (71.79%)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ρ1.5 · 1 epoch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 (73.57%)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C80 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207 (73.93%)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joint VQ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channel scales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Best completed low-bit result here: clip-only 207/280 (">
            <a:extLst>
              <a:ext uri="{FF2B5EF4-FFF2-40B4-BE49-F238E27FC236}">
                <a16:creationId xmlns:a16="http://schemas.microsoft.com/office/drawing/2014/main" id="{5D0AB6E1-7573-4C49-9FF5-75551C005485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Best completed low-bit result here: clip-only 207/280 (73.93%)</a:t>
            </a:r>
          </a:p>
        </p:txBody>
      </p:sp>
      <p:sp>
        <p:nvSpPr>
          <p:cNvPr id="8" name="Overall: /280; suite: /70. Target-weight bpw includes m">
            <a:extLst>
              <a:ext uri="{FF2B5EF4-FFF2-40B4-BE49-F238E27FC236}">
                <a16:creationId xmlns:a16="http://schemas.microsoft.com/office/drawing/2014/main" id="{E20005B5-4A10-4ABD-A3EB-DFD7DA82DE73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Target-weight bpw includes metadata; VQ uses decoded BF16 + fake A4.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 Policy: LIBERO+ transfer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7">
            <a:extLst>
              <a:ext uri="{FF2B5EF4-FFF2-40B4-BE49-F238E27FC236}">
                <a16:creationId xmlns:a16="http://schemas.microsoft.com/office/drawing/2014/main" id="{BF23D87F-8729-46D6-857A-9737977CC8AF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Direct policy · C8 calibration · same 280 paired varian">
            <a:extLst>
              <a:ext uri="{FF2B5EF4-FFF2-40B4-BE49-F238E27FC236}">
                <a16:creationId xmlns:a16="http://schemas.microsoft.com/office/drawing/2014/main" id="{3FD9FEC3-13F8-4791-B5C5-04B89C38583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Direct policy · C8 calibration · same 280 paired variants per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289CF9A-BBC1-4EC0-80F0-EDE77016FB08}"/>
              </a:ext>
            </a:extLst>
          </p:cNvPr>
          <p:cNvGraphicFramePr/>
          <p:nvPr/>
        </p:nvGraphicFramePr>
        <p:xfrm>
          <a:off x="609600" y="1333500"/>
          <a:ext cx="7924800" cy="1835469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233 (83.21%)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 W4A4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221 (78.93%)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 Micro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226 (80.71%)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+5 successes vs SpinQuant; −7 vs BF16">
            <a:extLst>
              <a:ext uri="{FF2B5EF4-FFF2-40B4-BE49-F238E27FC236}">
                <a16:creationId xmlns:a16="http://schemas.microsoft.com/office/drawing/2014/main" id="{D924FAD7-33A8-4EC8-859B-CC3AC0EF4225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+5 successes vs </a:t>
            </a:r>
            <a:r>
              <a:rPr sz="1950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; −7 vs BF16</a:t>
            </a:r>
          </a:p>
        </p:txBody>
      </p:sp>
      <p:sp>
        <p:nvSpPr>
          <p:cNvPr id="8" name="VQ uses 3.92% more target-weight bits than SpinQuant.&#10;W">
            <a:extLst>
              <a:ext uri="{FF2B5EF4-FFF2-40B4-BE49-F238E27FC236}">
                <a16:creationId xmlns:a16="http://schemas.microsoft.com/office/drawing/2014/main" id="{5551FDCF-00DE-44BF-B6A8-44F652783FAB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VQ uses 3.92% more target-weight bits than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Whole-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DiT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bpw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: 5.45 vs 5.31; transferability of the current recipe is demonstrated.</a:t>
            </a:r>
          </a:p>
        </p:txBody>
      </p:sp>
      <p:sp>
        <p:nvSpPr>
          <p:cNvPr id="9" name="Overall: /280; suite: /70. bpw covers target weights. D">
            <a:extLst>
              <a:ext uri="{FF2B5EF4-FFF2-40B4-BE49-F238E27FC236}">
                <a16:creationId xmlns:a16="http://schemas.microsoft.com/office/drawing/2014/main" id="{359A938C-0F83-48C2-8E74-F6CD607564DF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bpw covers target weights. Decoded BF16 / fake A4; native speedup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Does protecting the future help downstream actions?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8">
            <a:extLst>
              <a:ext uri="{FF2B5EF4-FFF2-40B4-BE49-F238E27FC236}">
                <a16:creationId xmlns:a16="http://schemas.microsoft.com/office/drawing/2014/main" id="{7884B4B0-1758-4E36-B0F5-8F54374BB9F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Future donor&#10;Parent / action-only / +latent">
            <a:extLst>
              <a:ext uri="{FF2B5EF4-FFF2-40B4-BE49-F238E27FC236}">
                <a16:creationId xmlns:a16="http://schemas.microsoft.com/office/drawing/2014/main" id="{F9B97089-A337-4A08-A9E6-E0A63C49032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3028950" cy="6953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Future donor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Parent / action-only / +latent</a:t>
            </a:r>
          </a:p>
        </p:txBody>
      </p:sp>
      <p:sp>
        <p:nvSpPr>
          <p:cNvPr id="6" name="Fixed BF16 reader&#10;video K/V → Action DiT">
            <a:extLst>
              <a:ext uri="{FF2B5EF4-FFF2-40B4-BE49-F238E27FC236}">
                <a16:creationId xmlns:a16="http://schemas.microsoft.com/office/drawing/2014/main" id="{6FB435E4-819F-4D88-B27F-8C1F3B0ACDE5}"/>
              </a:ext>
            </a:extLst>
          </p:cNvPr>
          <p:cNvSpPr>
            <a:spLocks noGrp="1"/>
          </p:cNvSpPr>
          <p:nvPr/>
        </p:nvSpPr>
        <p:spPr>
          <a:xfrm>
            <a:off x="4276725" y="971550"/>
            <a:ext cx="3028950" cy="695325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Fixed BF16 reader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video K/V → Action DiT</a:t>
            </a:r>
          </a:p>
        </p:txBody>
      </p:sp>
      <p:cxnSp>
        <p:nvCxnSpPr>
          <p:cNvPr id="7" name="diagram connector">
            <a:extLst>
              <a:ext uri="{FF2B5EF4-FFF2-40B4-BE49-F238E27FC236}">
                <a16:creationId xmlns:a16="http://schemas.microsoft.com/office/drawing/2014/main" id="{CB7059DB-E522-4E50-A0A3-67E6F625C6DD}"/>
              </a:ext>
            </a:extLst>
          </p:cNvPr>
          <p:cNvCxnSpPr/>
          <p:nvPr/>
        </p:nvCxnSpPr>
        <p:spPr>
          <a:xfrm>
            <a:off x="3638550" y="1323975"/>
            <a:ext cx="6381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8" name="diagram connector">
            <a:extLst>
              <a:ext uri="{FF2B5EF4-FFF2-40B4-BE49-F238E27FC236}">
                <a16:creationId xmlns:a16="http://schemas.microsoft.com/office/drawing/2014/main" id="{EE924E2E-0E85-4B2D-AD35-D3DB71759F0A}"/>
              </a:ext>
            </a:extLst>
          </p:cNvPr>
          <p:cNvCxnSpPr/>
          <p:nvPr/>
        </p:nvCxnSpPr>
        <p:spPr>
          <a:xfrm>
            <a:off x="7305675" y="1323975"/>
            <a:ext cx="4857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9" name="a">
            <a:extLst>
              <a:ext uri="{FF2B5EF4-FFF2-40B4-BE49-F238E27FC236}">
                <a16:creationId xmlns:a16="http://schemas.microsoft.com/office/drawing/2014/main" id="{F73FBE39-AA9D-4862-81F0-B5FF7E8084DE}"/>
              </a:ext>
            </a:extLst>
          </p:cNvPr>
          <p:cNvSpPr>
            <a:spLocks noGrp="1"/>
          </p:cNvSpPr>
          <p:nvPr/>
        </p:nvSpPr>
        <p:spPr>
          <a:xfrm>
            <a:off x="7791450" y="1057275"/>
            <a:ext cx="666750" cy="5238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1BD3457-06AE-4476-80DB-6E89D658BA66}"/>
              </a:ext>
            </a:extLst>
          </p:cNvPr>
          <p:cNvGraphicFramePr/>
          <p:nvPr/>
        </p:nvGraphicFramePr>
        <p:xfrm>
          <a:off x="609600" y="2009775"/>
          <a:ext cx="7924800" cy="1695452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First-10 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Vs action-only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Parent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0.036145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−12.36%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−14.93%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Protecting future latents improves mean downstream moto">
            <a:extLst>
              <a:ext uri="{FF2B5EF4-FFF2-40B4-BE49-F238E27FC236}">
                <a16:creationId xmlns:a16="http://schemas.microsoft.com/office/drawing/2014/main" id="{5EDAC540-6F62-4A82-8B73-B5FE086E2FD1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Protecting future latents improves mean downstream motor fidelity</a:t>
            </a:r>
          </a:p>
        </p:txBody>
      </p:sp>
      <p:sp>
        <p:nvSpPr>
          <p:cNvPr id="12" name="Earlier row-scale VQ family: 22 cases × 2 seeds; 13/22 ">
            <a:extLst>
              <a:ext uri="{FF2B5EF4-FFF2-40B4-BE49-F238E27FC236}">
                <a16:creationId xmlns:a16="http://schemas.microsoft.com/office/drawing/2014/main" id="{1FF4ECC2-F372-43AD-A818-124E15B3BA9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Earlier row-scale VQ family: 22 cases × 2 seeds; 13/22 improve. Fixed-input teacher fidelity; no closed-loop claim.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Future protection across readers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9">
            <a:extLst>
              <a:ext uri="{FF2B5EF4-FFF2-40B4-BE49-F238E27FC236}">
                <a16:creationId xmlns:a16="http://schemas.microsoft.com/office/drawing/2014/main" id="{37328851-47E3-4E70-915E-C62CC3220821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The mean gain transfers across readers">
            <a:extLst>
              <a:ext uri="{FF2B5EF4-FFF2-40B4-BE49-F238E27FC236}">
                <a16:creationId xmlns:a16="http://schemas.microsoft.com/office/drawing/2014/main" id="{F8C8A040-475B-4974-8FD5-DCF7A592C92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mean gain transfers across readers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B3C8D2E-3244-4E64-8660-7F94C9F3BBBD}"/>
              </a:ext>
            </a:extLst>
          </p:cNvPr>
          <p:cNvGraphicFramePr/>
          <p:nvPr/>
        </p:nvGraphicFramePr>
        <p:xfrm>
          <a:off x="609600" y="1333500"/>
          <a:ext cx="7924800" cy="11811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student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A-only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A+latent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0.058110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0.053481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0.058677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0.052951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Most of the gain can be reproduced by reducing future e">
            <a:extLst>
              <a:ext uri="{FF2B5EF4-FFF2-40B4-BE49-F238E27FC236}">
                <a16:creationId xmlns:a16="http://schemas.microsoft.com/office/drawing/2014/main" id="{4FE23CBF-8C0C-4F1A-B029-912576AC128B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Most of the gain can be reproduced by reducing future error energy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EF8CB40-0318-4AE1-9C95-F63720886A99}"/>
              </a:ext>
            </a:extLst>
          </p:cNvPr>
          <p:cNvGraphicFramePr/>
          <p:nvPr/>
        </p:nvGraphicFramePr>
        <p:xfrm>
          <a:off x="609600" y="3181350"/>
          <a:ext cx="7924800" cy="1304924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 · fixed BF16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A: 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0.093011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C: A, NMSE matched to B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0.071786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0.036074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B: 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0.071787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B vs C improves 11/22 cases; no robust extra benefit at">
            <a:extLst>
              <a:ext uri="{FF2B5EF4-FFF2-40B4-BE49-F238E27FC236}">
                <a16:creationId xmlns:a16="http://schemas.microsoft.com/office/drawing/2014/main" id="{D004A614-A6C7-4815-A0A2-FAE1B2C914B6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 vs C improves 11/22 cases; no robust extra benefit at matched NMSE. This supports latent fidelity, not a unique mechanism.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MSE fidelity and closed-loop success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350992AB-5D5D-4644-B5B3-F4BA68EA356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Original objective:  L = MSE_action + ρc · NMSE_future">
            <a:extLst>
              <a:ext uri="{FF2B5EF4-FFF2-40B4-BE49-F238E27FC236}">
                <a16:creationId xmlns:a16="http://schemas.microsoft.com/office/drawing/2014/main" id="{D751AF47-60DE-4E26-B4E2-AA672542BA30}"/>
              </a:ext>
            </a:extLst>
          </p:cNvPr>
          <p:cNvSpPr>
            <a:spLocks noGrp="1"/>
          </p:cNvSpPr>
          <p:nvPr/>
        </p:nvSpPr>
        <p:spPr>
          <a:xfrm>
            <a:off x="609600" y="828675"/>
            <a:ext cx="7924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Original objective:  L = MSE_action + ρc · NMSE_future</a:t>
            </a:r>
          </a:p>
        </p:txBody>
      </p:sp>
      <p:sp>
        <p:nvSpPr>
          <p:cNvPr id="6" name="c is frozen from initial calibration loss values; ρ = 1">
            <a:extLst>
              <a:ext uri="{FF2B5EF4-FFF2-40B4-BE49-F238E27FC236}">
                <a16:creationId xmlns:a16="http://schemas.microsoft.com/office/drawing/2014/main" id="{0B9524AA-DB39-4CC7-AE02-935EF4CFE690}"/>
              </a:ext>
            </a:extLst>
          </p:cNvPr>
          <p:cNvSpPr>
            <a:spLocks noGrp="1"/>
          </p:cNvSpPr>
          <p:nvPr/>
        </p:nvSpPr>
        <p:spPr>
          <a:xfrm>
            <a:off x="609600" y="1247775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 is frozen from initial calibration loss values; ρ = 1.5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F79D55-57AB-4DB5-9CF3-C8C7EED93531}"/>
              </a:ext>
            </a:extLst>
          </p:cNvPr>
          <p:cNvGraphicFramePr/>
          <p:nvPr/>
        </p:nvGraphicFramePr>
        <p:xfrm>
          <a:off x="609600" y="1857375"/>
          <a:ext cx="7924800" cy="1846899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C80 refinement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LIBERO+ success ↑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 · 73.93%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 · 72.14%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 · 72.50%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−27.84% motor RMSE, but −4 closed-loop successes vs cli">
            <a:extLst>
              <a:ext uri="{FF2B5EF4-FFF2-40B4-BE49-F238E27FC236}">
                <a16:creationId xmlns:a16="http://schemas.microsoft.com/office/drawing/2014/main" id="{D7B7B3B3-7EA6-4088-A6E5-75F1A0B1C27A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−27.84% motor RMSE, but −4 closed-loop successes vs clip-only</a:t>
            </a:r>
          </a:p>
        </p:txBody>
      </p:sp>
      <p:sp>
        <p:nvSpPr>
          <p:cNvPr id="9" name="Motivation: preserve the structure of action sequences ">
            <a:extLst>
              <a:ext uri="{FF2B5EF4-FFF2-40B4-BE49-F238E27FC236}">
                <a16:creationId xmlns:a16="http://schemas.microsoft.com/office/drawing/2014/main" id="{F5F1C212-E5F1-4345-84D8-ACB1E0D14057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Motivation: preserve the structure of action sequences and future latents,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then test whether the objective better tracks rollout failures.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Soft-bin KL: preserve absolute values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E56261C3-EF7A-47E2-A4F9-6DCFB75E9641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acher xₜ">
            <a:extLst>
              <a:ext uri="{FF2B5EF4-FFF2-40B4-BE49-F238E27FC236}">
                <a16:creationId xmlns:a16="http://schemas.microsoft.com/office/drawing/2014/main" id="{E7F35945-3C59-4F64-B6DF-60A6565446A4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562100" cy="571500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Teacher xₜ</a:t>
            </a:r>
          </a:p>
        </p:txBody>
      </p:sp>
      <p:sp>
        <p:nvSpPr>
          <p:cNvPr id="6" name="Student xₛ">
            <a:extLst>
              <a:ext uri="{FF2B5EF4-FFF2-40B4-BE49-F238E27FC236}">
                <a16:creationId xmlns:a16="http://schemas.microsoft.com/office/drawing/2014/main" id="{E2D84521-2508-43D6-B70B-9F0B14797710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562100" cy="571500"/>
          </a:xfrm>
          <a:prstGeom prst="rect">
            <a:avLst/>
          </a:prstGeom>
          <a:solidFill>
            <a:srgbClr val="FBECEE"/>
          </a:solidFill>
          <a:ln w="11430">
            <a:solidFill>
              <a:srgbClr val="D89BA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Student xₛ</a:t>
            </a:r>
          </a:p>
        </p:txBody>
      </p:sp>
      <p:sp>
        <p:nvSpPr>
          <p:cNvPr id="7" name="Shared frozen&#10;channel normalization">
            <a:extLst>
              <a:ext uri="{FF2B5EF4-FFF2-40B4-BE49-F238E27FC236}">
                <a16:creationId xmlns:a16="http://schemas.microsoft.com/office/drawing/2014/main" id="{8D2D4D33-CDE7-401C-824E-0612D5311D96}"/>
              </a:ext>
            </a:extLst>
          </p:cNvPr>
          <p:cNvSpPr>
            <a:spLocks noGrp="1"/>
          </p:cNvSpPr>
          <p:nvPr/>
        </p:nvSpPr>
        <p:spPr>
          <a:xfrm>
            <a:off x="2771775" y="1400175"/>
            <a:ext cx="2428875" cy="9715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Shared frozen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channel normalization</a:t>
            </a:r>
          </a:p>
        </p:txBody>
      </p:sp>
      <p:cxnSp>
        <p:nvCxnSpPr>
          <p:cNvPr id="8" name="diagram connector">
            <a:extLst>
              <a:ext uri="{FF2B5EF4-FFF2-40B4-BE49-F238E27FC236}">
                <a16:creationId xmlns:a16="http://schemas.microsoft.com/office/drawing/2014/main" id="{5896AC8E-D07D-4E6B-87D9-820881A29311}"/>
              </a:ext>
            </a:extLst>
          </p:cNvPr>
          <p:cNvCxnSpPr/>
          <p:nvPr/>
        </p:nvCxnSpPr>
        <p:spPr>
          <a:xfrm>
            <a:off x="2171700" y="1419225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9" name="diagram connector">
            <a:extLst>
              <a:ext uri="{FF2B5EF4-FFF2-40B4-BE49-F238E27FC236}">
                <a16:creationId xmlns:a16="http://schemas.microsoft.com/office/drawing/2014/main" id="{290B188D-ADCA-4BCC-8397-EEE1977CC908}"/>
              </a:ext>
            </a:extLst>
          </p:cNvPr>
          <p:cNvCxnSpPr/>
          <p:nvPr/>
        </p:nvCxnSpPr>
        <p:spPr>
          <a:xfrm>
            <a:off x="2543175" y="1419225"/>
            <a:ext cx="0" cy="27622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10" name="diagram connector">
            <a:extLst>
              <a:ext uri="{FF2B5EF4-FFF2-40B4-BE49-F238E27FC236}">
                <a16:creationId xmlns:a16="http://schemas.microsoft.com/office/drawing/2014/main" id="{85B0EBA0-B0D4-4F5A-9171-40954BD7BB10}"/>
              </a:ext>
            </a:extLst>
          </p:cNvPr>
          <p:cNvCxnSpPr/>
          <p:nvPr/>
        </p:nvCxnSpPr>
        <p:spPr>
          <a:xfrm>
            <a:off x="2543175" y="1695450"/>
            <a:ext cx="22860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1" name="diagram connector">
            <a:extLst>
              <a:ext uri="{FF2B5EF4-FFF2-40B4-BE49-F238E27FC236}">
                <a16:creationId xmlns:a16="http://schemas.microsoft.com/office/drawing/2014/main" id="{2D6A284E-C289-4BDF-9CF3-18659A59FA15}"/>
              </a:ext>
            </a:extLst>
          </p:cNvPr>
          <p:cNvCxnSpPr/>
          <p:nvPr/>
        </p:nvCxnSpPr>
        <p:spPr>
          <a:xfrm>
            <a:off x="2171700" y="2600325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12" name="diagram connector">
            <a:extLst>
              <a:ext uri="{FF2B5EF4-FFF2-40B4-BE49-F238E27FC236}">
                <a16:creationId xmlns:a16="http://schemas.microsoft.com/office/drawing/2014/main" id="{A85C8A12-4535-445A-880E-E2327597E8F8}"/>
              </a:ext>
            </a:extLst>
          </p:cNvPr>
          <p:cNvCxnSpPr/>
          <p:nvPr/>
        </p:nvCxnSpPr>
        <p:spPr>
          <a:xfrm flipV="1">
            <a:off x="2543175" y="2085975"/>
            <a:ext cx="0" cy="51435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13" name="diagram connector">
            <a:extLst>
              <a:ext uri="{FF2B5EF4-FFF2-40B4-BE49-F238E27FC236}">
                <a16:creationId xmlns:a16="http://schemas.microsoft.com/office/drawing/2014/main" id="{C7AD315A-1DC2-4216-AE1A-8D125F466E56}"/>
              </a:ext>
            </a:extLst>
          </p:cNvPr>
          <p:cNvCxnSpPr/>
          <p:nvPr/>
        </p:nvCxnSpPr>
        <p:spPr>
          <a:xfrm>
            <a:off x="2543175" y="2085975"/>
            <a:ext cx="22860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4" name="z = (x − μ_c) / max(σ_c, 0.02)">
            <a:extLst>
              <a:ext uri="{FF2B5EF4-FFF2-40B4-BE49-F238E27FC236}">
                <a16:creationId xmlns:a16="http://schemas.microsoft.com/office/drawing/2014/main" id="{AFB2DF1E-B24D-4E69-81D6-1D7A3A0CEDB9}"/>
              </a:ext>
            </a:extLst>
          </p:cNvPr>
          <p:cNvSpPr>
            <a:spLocks noGrp="1"/>
          </p:cNvSpPr>
          <p:nvPr/>
        </p:nvSpPr>
        <p:spPr>
          <a:xfrm>
            <a:off x="2705100" y="2533650"/>
            <a:ext cx="2686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z = (x − μ_c) / max(σ_c, 0.02)</a:t>
            </a:r>
          </a:p>
        </p:txBody>
      </p:sp>
      <p:cxnSp>
        <p:nvCxnSpPr>
          <p:cNvPr id="15" name="diagram connector">
            <a:extLst>
              <a:ext uri="{FF2B5EF4-FFF2-40B4-BE49-F238E27FC236}">
                <a16:creationId xmlns:a16="http://schemas.microsoft.com/office/drawing/2014/main" id="{BF33ECD2-2DD8-4C51-B294-8A3B249440E1}"/>
              </a:ext>
            </a:extLst>
          </p:cNvPr>
          <p:cNvCxnSpPr/>
          <p:nvPr/>
        </p:nvCxnSpPr>
        <p:spPr>
          <a:xfrm>
            <a:off x="5200650" y="1885950"/>
            <a:ext cx="4857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6" name="16-bin distribution&#10;Gaussian CDF mass&#10;σ = 0.375">
            <a:extLst>
              <a:ext uri="{FF2B5EF4-FFF2-40B4-BE49-F238E27FC236}">
                <a16:creationId xmlns:a16="http://schemas.microsoft.com/office/drawing/2014/main" id="{5E1A09B9-607C-4FA7-A151-E7AAAE95B29F}"/>
              </a:ext>
            </a:extLst>
          </p:cNvPr>
          <p:cNvSpPr>
            <a:spLocks noGrp="1"/>
          </p:cNvSpPr>
          <p:nvPr/>
        </p:nvSpPr>
        <p:spPr>
          <a:xfrm>
            <a:off x="5686425" y="1381125"/>
            <a:ext cx="2781300" cy="10287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16-bin distribution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Gaussian CDF mass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σ = 0.375</a:t>
            </a:r>
          </a:p>
        </p:txBody>
      </p:sp>
      <p:sp>
        <p:nvSpPr>
          <p:cNvPr id="17" name="diagram block">
            <a:extLst>
              <a:ext uri="{FF2B5EF4-FFF2-40B4-BE49-F238E27FC236}">
                <a16:creationId xmlns:a16="http://schemas.microsoft.com/office/drawing/2014/main" id="{A2A6DEE0-C5E6-4793-A4D5-CFA3F3E30F0E}"/>
              </a:ext>
            </a:extLst>
          </p:cNvPr>
          <p:cNvSpPr>
            <a:spLocks noGrp="1"/>
          </p:cNvSpPr>
          <p:nvPr/>
        </p:nvSpPr>
        <p:spPr>
          <a:xfrm>
            <a:off x="57340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diagram block">
            <a:extLst>
              <a:ext uri="{FF2B5EF4-FFF2-40B4-BE49-F238E27FC236}">
                <a16:creationId xmlns:a16="http://schemas.microsoft.com/office/drawing/2014/main" id="{82A44217-9C20-43B4-A7B6-6540AB38B350}"/>
              </a:ext>
            </a:extLst>
          </p:cNvPr>
          <p:cNvSpPr>
            <a:spLocks noGrp="1"/>
          </p:cNvSpPr>
          <p:nvPr/>
        </p:nvSpPr>
        <p:spPr>
          <a:xfrm>
            <a:off x="59055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diagram block">
            <a:extLst>
              <a:ext uri="{FF2B5EF4-FFF2-40B4-BE49-F238E27FC236}">
                <a16:creationId xmlns:a16="http://schemas.microsoft.com/office/drawing/2014/main" id="{31730DF1-C624-40EA-8E24-60078B948FE8}"/>
              </a:ext>
            </a:extLst>
          </p:cNvPr>
          <p:cNvSpPr>
            <a:spLocks noGrp="1"/>
          </p:cNvSpPr>
          <p:nvPr/>
        </p:nvSpPr>
        <p:spPr>
          <a:xfrm>
            <a:off x="60769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diagram block">
            <a:extLst>
              <a:ext uri="{FF2B5EF4-FFF2-40B4-BE49-F238E27FC236}">
                <a16:creationId xmlns:a16="http://schemas.microsoft.com/office/drawing/2014/main" id="{21AB72A5-0CA3-4F90-8F52-CD12D164F99D}"/>
              </a:ext>
            </a:extLst>
          </p:cNvPr>
          <p:cNvSpPr>
            <a:spLocks noGrp="1"/>
          </p:cNvSpPr>
          <p:nvPr/>
        </p:nvSpPr>
        <p:spPr>
          <a:xfrm>
            <a:off x="62484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diagram block">
            <a:extLst>
              <a:ext uri="{FF2B5EF4-FFF2-40B4-BE49-F238E27FC236}">
                <a16:creationId xmlns:a16="http://schemas.microsoft.com/office/drawing/2014/main" id="{235DCBFB-5DB8-4297-98BB-FC004932E73A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BED13E88-5049-44EF-B3E0-C4469ED12FC6}"/>
              </a:ext>
            </a:extLst>
          </p:cNvPr>
          <p:cNvSpPr>
            <a:spLocks noGrp="1"/>
          </p:cNvSpPr>
          <p:nvPr/>
        </p:nvSpPr>
        <p:spPr>
          <a:xfrm>
            <a:off x="65913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diagram block">
            <a:extLst>
              <a:ext uri="{FF2B5EF4-FFF2-40B4-BE49-F238E27FC236}">
                <a16:creationId xmlns:a16="http://schemas.microsoft.com/office/drawing/2014/main" id="{9FD9F15A-A2CB-4F57-8DFB-9D0508C3B649}"/>
              </a:ext>
            </a:extLst>
          </p:cNvPr>
          <p:cNvSpPr>
            <a:spLocks noGrp="1"/>
          </p:cNvSpPr>
          <p:nvPr/>
        </p:nvSpPr>
        <p:spPr>
          <a:xfrm>
            <a:off x="67627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B8921DD8-05DD-4B53-83F6-465981B00BDA}"/>
              </a:ext>
            </a:extLst>
          </p:cNvPr>
          <p:cNvSpPr>
            <a:spLocks noGrp="1"/>
          </p:cNvSpPr>
          <p:nvPr/>
        </p:nvSpPr>
        <p:spPr>
          <a:xfrm>
            <a:off x="69342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763642A2-D249-49FE-8931-3ACA17D5F290}"/>
              </a:ext>
            </a:extLst>
          </p:cNvPr>
          <p:cNvSpPr>
            <a:spLocks noGrp="1"/>
          </p:cNvSpPr>
          <p:nvPr/>
        </p:nvSpPr>
        <p:spPr>
          <a:xfrm>
            <a:off x="71056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751C0D02-C47E-4E71-8852-B8F471E6FEC0}"/>
              </a:ext>
            </a:extLst>
          </p:cNvPr>
          <p:cNvSpPr>
            <a:spLocks noGrp="1"/>
          </p:cNvSpPr>
          <p:nvPr/>
        </p:nvSpPr>
        <p:spPr>
          <a:xfrm>
            <a:off x="72771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5B1C1F7D-C57B-46FB-9B5A-F17BCFF2F7F8}"/>
              </a:ext>
            </a:extLst>
          </p:cNvPr>
          <p:cNvSpPr>
            <a:spLocks noGrp="1"/>
          </p:cNvSpPr>
          <p:nvPr/>
        </p:nvSpPr>
        <p:spPr>
          <a:xfrm>
            <a:off x="74485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3774EB1C-BC8B-484A-98AB-EC7800B0240F}"/>
              </a:ext>
            </a:extLst>
          </p:cNvPr>
          <p:cNvSpPr>
            <a:spLocks noGrp="1"/>
          </p:cNvSpPr>
          <p:nvPr/>
        </p:nvSpPr>
        <p:spPr>
          <a:xfrm>
            <a:off x="76200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DC4CD22D-8E33-4792-A1BA-D02CE4C15D6B}"/>
              </a:ext>
            </a:extLst>
          </p:cNvPr>
          <p:cNvSpPr>
            <a:spLocks noGrp="1"/>
          </p:cNvSpPr>
          <p:nvPr/>
        </p:nvSpPr>
        <p:spPr>
          <a:xfrm>
            <a:off x="77914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BADDB095-6B08-43EF-9256-8E5E3836B780}"/>
              </a:ext>
            </a:extLst>
          </p:cNvPr>
          <p:cNvSpPr>
            <a:spLocks noGrp="1"/>
          </p:cNvSpPr>
          <p:nvPr/>
        </p:nvSpPr>
        <p:spPr>
          <a:xfrm>
            <a:off x="79629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EDA7AFEE-EF63-43F3-8081-30A83CB0B736}"/>
              </a:ext>
            </a:extLst>
          </p:cNvPr>
          <p:cNvSpPr>
            <a:spLocks noGrp="1"/>
          </p:cNvSpPr>
          <p:nvPr/>
        </p:nvSpPr>
        <p:spPr>
          <a:xfrm>
            <a:off x="813435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diagram block">
            <a:extLst>
              <a:ext uri="{FF2B5EF4-FFF2-40B4-BE49-F238E27FC236}">
                <a16:creationId xmlns:a16="http://schemas.microsoft.com/office/drawing/2014/main" id="{DD73B1E8-FC5F-4480-AEF9-6B85AE5FCD60}"/>
              </a:ext>
            </a:extLst>
          </p:cNvPr>
          <p:cNvSpPr>
            <a:spLocks noGrp="1"/>
          </p:cNvSpPr>
          <p:nvPr/>
        </p:nvSpPr>
        <p:spPr>
          <a:xfrm>
            <a:off x="8305800" y="2600325"/>
            <a:ext cx="123825" cy="22860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15 interior edges: −3.5 … 3.5 + 2 tails">
            <a:extLst>
              <a:ext uri="{FF2B5EF4-FFF2-40B4-BE49-F238E27FC236}">
                <a16:creationId xmlns:a16="http://schemas.microsoft.com/office/drawing/2014/main" id="{63D63C5D-80FC-4E22-B04E-42FA9CFC4BCD}"/>
              </a:ext>
            </a:extLst>
          </p:cNvPr>
          <p:cNvSpPr>
            <a:spLocks noGrp="1"/>
          </p:cNvSpPr>
          <p:nvPr/>
        </p:nvSpPr>
        <p:spPr>
          <a:xfrm>
            <a:off x="5562600" y="2952750"/>
            <a:ext cx="29813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 interior edges: −3.5 … 3.5 + 2 tails</a:t>
            </a:r>
          </a:p>
        </p:txBody>
      </p:sp>
      <p:sp>
        <p:nvSpPr>
          <p:cNvPr id="34" name="L_bin = mean over scalar positions KL(p_teacher || p_st">
            <a:extLst>
              <a:ext uri="{FF2B5EF4-FFF2-40B4-BE49-F238E27FC236}">
                <a16:creationId xmlns:a16="http://schemas.microsoft.com/office/drawing/2014/main" id="{115E69A7-B121-4B58-B928-B5FF7EA11CF1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7924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L_bin = mean over scalar positions KL(p_teacher || p_student)</a:t>
            </a:r>
          </a:p>
        </p:txBody>
      </p:sp>
      <p:sp>
        <p:nvSpPr>
          <p:cNvPr id="35" name="Apply separately to first 10 × 6 motor values and futur">
            <a:extLst>
              <a:ext uri="{FF2B5EF4-FFF2-40B4-BE49-F238E27FC236}">
                <a16:creationId xmlns:a16="http://schemas.microsoft.com/office/drawing/2014/main" id="{3BFC86CF-A0D5-4555-A5D8-AF767127C2B9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7924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Apply separately to first 10 × 6 motor values and future latent values.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Soft-bin keeps the absolute-value anchor when relation distances have blind spots.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Temporal / spatial relational KL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411FB628-A2B6-47B2-9BAB-086FCF51F7A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ction: ordered temporal windows">
            <a:extLst>
              <a:ext uri="{FF2B5EF4-FFF2-40B4-BE49-F238E27FC236}">
                <a16:creationId xmlns:a16="http://schemas.microsoft.com/office/drawing/2014/main" id="{59669466-6C53-427B-B4ED-6C46401E697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962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Action: ordered temporal windows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C8EA4C19-E5A1-4F94-BD67-8084C4839D8F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12F92EAD-E5AB-4D6D-AFF8-E0F35126E1AB}"/>
              </a:ext>
            </a:extLst>
          </p:cNvPr>
          <p:cNvSpPr>
            <a:spLocks noGrp="1"/>
          </p:cNvSpPr>
          <p:nvPr/>
        </p:nvSpPr>
        <p:spPr>
          <a:xfrm>
            <a:off x="942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35D3A425-655A-4CF5-AC96-DB8385343B42}"/>
              </a:ext>
            </a:extLst>
          </p:cNvPr>
          <p:cNvSpPr>
            <a:spLocks noGrp="1"/>
          </p:cNvSpPr>
          <p:nvPr/>
        </p:nvSpPr>
        <p:spPr>
          <a:xfrm>
            <a:off x="12763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2F05203D-F118-49BB-A059-FD9378A16E44}"/>
              </a:ext>
            </a:extLst>
          </p:cNvPr>
          <p:cNvSpPr>
            <a:spLocks noGrp="1"/>
          </p:cNvSpPr>
          <p:nvPr/>
        </p:nvSpPr>
        <p:spPr>
          <a:xfrm>
            <a:off x="16097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5AB8897E-48E7-4E70-A1D2-C10E56B7D648}"/>
              </a:ext>
            </a:extLst>
          </p:cNvPr>
          <p:cNvSpPr>
            <a:spLocks noGrp="1"/>
          </p:cNvSpPr>
          <p:nvPr/>
        </p:nvSpPr>
        <p:spPr>
          <a:xfrm>
            <a:off x="19431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061D9A9B-31E1-4D59-84EA-42454C748C6D}"/>
              </a:ext>
            </a:extLst>
          </p:cNvPr>
          <p:cNvSpPr>
            <a:spLocks noGrp="1"/>
          </p:cNvSpPr>
          <p:nvPr/>
        </p:nvSpPr>
        <p:spPr>
          <a:xfrm>
            <a:off x="22764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B881E08D-C186-45CE-AB6A-882A0ECE1BA9}"/>
              </a:ext>
            </a:extLst>
          </p:cNvPr>
          <p:cNvSpPr>
            <a:spLocks noGrp="1"/>
          </p:cNvSpPr>
          <p:nvPr/>
        </p:nvSpPr>
        <p:spPr>
          <a:xfrm>
            <a:off x="26098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F78F9CFC-3714-4BF1-AF74-1101FA613B66}"/>
              </a:ext>
            </a:extLst>
          </p:cNvPr>
          <p:cNvSpPr>
            <a:spLocks noGrp="1"/>
          </p:cNvSpPr>
          <p:nvPr/>
        </p:nvSpPr>
        <p:spPr>
          <a:xfrm>
            <a:off x="29432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diagram block">
            <a:extLst>
              <a:ext uri="{FF2B5EF4-FFF2-40B4-BE49-F238E27FC236}">
                <a16:creationId xmlns:a16="http://schemas.microsoft.com/office/drawing/2014/main" id="{5963F57D-B761-48BE-BC38-27DA2272611E}"/>
              </a:ext>
            </a:extLst>
          </p:cNvPr>
          <p:cNvSpPr>
            <a:spLocks noGrp="1"/>
          </p:cNvSpPr>
          <p:nvPr/>
        </p:nvSpPr>
        <p:spPr>
          <a:xfrm>
            <a:off x="3276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56DFA513-32FE-456C-872C-54E64635EDBC}"/>
              </a:ext>
            </a:extLst>
          </p:cNvPr>
          <p:cNvSpPr>
            <a:spLocks noGrp="1"/>
          </p:cNvSpPr>
          <p:nvPr/>
        </p:nvSpPr>
        <p:spPr>
          <a:xfrm>
            <a:off x="3609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10 steps × 6 motor dimensions">
            <a:extLst>
              <a:ext uri="{FF2B5EF4-FFF2-40B4-BE49-F238E27FC236}">
                <a16:creationId xmlns:a16="http://schemas.microsoft.com/office/drawing/2014/main" id="{E49E327B-3084-4511-9DA7-C93690011C59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35337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 steps × 6 motor dimensions</a:t>
            </a:r>
          </a:p>
        </p:txBody>
      </p:sp>
      <p:cxnSp>
        <p:nvCxnSpPr>
          <p:cNvPr id="17" name="diagram connector">
            <a:extLst>
              <a:ext uri="{FF2B5EF4-FFF2-40B4-BE49-F238E27FC236}">
                <a16:creationId xmlns:a16="http://schemas.microsoft.com/office/drawing/2014/main" id="{6890D646-F940-4B68-8AF1-127767197C17}"/>
              </a:ext>
            </a:extLst>
          </p:cNvPr>
          <p:cNvCxnSpPr/>
          <p:nvPr/>
        </p:nvCxnSpPr>
        <p:spPr>
          <a:xfrm>
            <a:off x="2314575" y="1943100"/>
            <a:ext cx="0" cy="295275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8" name="[a₁,a₂,a₃]   [a₂,a₃,a₄]  …&#10;8 ordered tokens × 18 features">
            <a:extLst>
              <a:ext uri="{FF2B5EF4-FFF2-40B4-BE49-F238E27FC236}">
                <a16:creationId xmlns:a16="http://schemas.microsoft.com/office/drawing/2014/main" id="{B162DF4C-1EB1-4241-9755-ED12BC5A2C5F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486150" cy="6953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[a₁,a₂,a₃]   [a₂,a₃,a₄]  …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8 ordered tokens × 18 features</a:t>
            </a:r>
          </a:p>
        </p:txBody>
      </p:sp>
      <p:sp>
        <p:nvSpPr>
          <p:cNvPr id="19" name="Neighbors: all other windows&#10;Self-pairs masked">
            <a:extLst>
              <a:ext uri="{FF2B5EF4-FFF2-40B4-BE49-F238E27FC236}">
                <a16:creationId xmlns:a16="http://schemas.microsoft.com/office/drawing/2014/main" id="{D4304640-07F9-4A82-9AF7-C848FA9819E2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3486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Neighbors: all other windows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Self-pairs masked</a:t>
            </a:r>
          </a:p>
        </p:txBody>
      </p:sp>
      <p:sp>
        <p:nvSpPr>
          <p:cNvPr id="20" name="Latent: spatial + temporal graph">
            <a:extLst>
              <a:ext uri="{FF2B5EF4-FFF2-40B4-BE49-F238E27FC236}">
                <a16:creationId xmlns:a16="http://schemas.microsoft.com/office/drawing/2014/main" id="{72DFEF4E-7146-4551-90FC-722BDC0CC111}"/>
              </a:ext>
            </a:extLst>
          </p:cNvPr>
          <p:cNvSpPr>
            <a:spLocks noGrp="1"/>
          </p:cNvSpPr>
          <p:nvPr/>
        </p:nvSpPr>
        <p:spPr>
          <a:xfrm>
            <a:off x="4648200" y="838200"/>
            <a:ext cx="3886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Latent: spatial + temporal graph</a:t>
            </a:r>
          </a:p>
        </p:txBody>
      </p:sp>
      <p:sp>
        <p:nvSpPr>
          <p:cNvPr id="21" name="2 future times × 2 views × 7 × 7&#10;196 tokens × 48 featur">
            <a:extLst>
              <a:ext uri="{FF2B5EF4-FFF2-40B4-BE49-F238E27FC236}">
                <a16:creationId xmlns:a16="http://schemas.microsoft.com/office/drawing/2014/main" id="{7646156C-7163-4544-83D1-4D9A33235AAC}"/>
              </a:ext>
            </a:extLst>
          </p:cNvPr>
          <p:cNvSpPr>
            <a:spLocks noGrp="1"/>
          </p:cNvSpPr>
          <p:nvPr/>
        </p:nvSpPr>
        <p:spPr>
          <a:xfrm>
            <a:off x="4648200" y="1190625"/>
            <a:ext cx="3886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 future times × 2 views × 7 × 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196 tokens × 48 features</a:t>
            </a:r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5C299FB0-9DE5-46DC-AA1F-A2ABBC4A6674}"/>
              </a:ext>
            </a:extLst>
          </p:cNvPr>
          <p:cNvSpPr>
            <a:spLocks noGrp="1"/>
          </p:cNvSpPr>
          <p:nvPr/>
        </p:nvSpPr>
        <p:spPr>
          <a:xfrm>
            <a:off x="46672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diagram block">
            <a:extLst>
              <a:ext uri="{FF2B5EF4-FFF2-40B4-BE49-F238E27FC236}">
                <a16:creationId xmlns:a16="http://schemas.microsoft.com/office/drawing/2014/main" id="{0277D500-4A75-4A79-8FFB-F28CCDA25B35}"/>
              </a:ext>
            </a:extLst>
          </p:cNvPr>
          <p:cNvSpPr>
            <a:spLocks noGrp="1"/>
          </p:cNvSpPr>
          <p:nvPr/>
        </p:nvSpPr>
        <p:spPr>
          <a:xfrm>
            <a:off x="48768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D62F5704-CB85-439B-A0CC-6811BCE28745}"/>
              </a:ext>
            </a:extLst>
          </p:cNvPr>
          <p:cNvSpPr>
            <a:spLocks noGrp="1"/>
          </p:cNvSpPr>
          <p:nvPr/>
        </p:nvSpPr>
        <p:spPr>
          <a:xfrm>
            <a:off x="50863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627864E3-47CA-43FE-9203-4D773CBEBC29}"/>
              </a:ext>
            </a:extLst>
          </p:cNvPr>
          <p:cNvSpPr>
            <a:spLocks noGrp="1"/>
          </p:cNvSpPr>
          <p:nvPr/>
        </p:nvSpPr>
        <p:spPr>
          <a:xfrm>
            <a:off x="52959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C38C1028-CB9E-42EF-80E1-D7637813D175}"/>
              </a:ext>
            </a:extLst>
          </p:cNvPr>
          <p:cNvSpPr>
            <a:spLocks noGrp="1"/>
          </p:cNvSpPr>
          <p:nvPr/>
        </p:nvSpPr>
        <p:spPr>
          <a:xfrm>
            <a:off x="55054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B7CAF79A-C913-4E8C-A607-F55A025EFAD5}"/>
              </a:ext>
            </a:extLst>
          </p:cNvPr>
          <p:cNvSpPr>
            <a:spLocks noGrp="1"/>
          </p:cNvSpPr>
          <p:nvPr/>
        </p:nvSpPr>
        <p:spPr>
          <a:xfrm>
            <a:off x="57150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DAF82843-AE13-4E33-9023-85326C1B938F}"/>
              </a:ext>
            </a:extLst>
          </p:cNvPr>
          <p:cNvSpPr>
            <a:spLocks noGrp="1"/>
          </p:cNvSpPr>
          <p:nvPr/>
        </p:nvSpPr>
        <p:spPr>
          <a:xfrm>
            <a:off x="59245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C3AE6FC3-F960-4DF8-9640-FB78737BED77}"/>
              </a:ext>
            </a:extLst>
          </p:cNvPr>
          <p:cNvSpPr>
            <a:spLocks noGrp="1"/>
          </p:cNvSpPr>
          <p:nvPr/>
        </p:nvSpPr>
        <p:spPr>
          <a:xfrm>
            <a:off x="46672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D7F20901-3686-4013-B95E-42C5E7957FA0}"/>
              </a:ext>
            </a:extLst>
          </p:cNvPr>
          <p:cNvSpPr>
            <a:spLocks noGrp="1"/>
          </p:cNvSpPr>
          <p:nvPr/>
        </p:nvSpPr>
        <p:spPr>
          <a:xfrm>
            <a:off x="48768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ACCD08B-FDE5-428D-AEAC-7C04B8923B5A}"/>
              </a:ext>
            </a:extLst>
          </p:cNvPr>
          <p:cNvSpPr>
            <a:spLocks noGrp="1"/>
          </p:cNvSpPr>
          <p:nvPr/>
        </p:nvSpPr>
        <p:spPr>
          <a:xfrm>
            <a:off x="50863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diagram block">
            <a:extLst>
              <a:ext uri="{FF2B5EF4-FFF2-40B4-BE49-F238E27FC236}">
                <a16:creationId xmlns:a16="http://schemas.microsoft.com/office/drawing/2014/main" id="{EC5BDE5F-4F08-4943-9A7E-E1CC473907D6}"/>
              </a:ext>
            </a:extLst>
          </p:cNvPr>
          <p:cNvSpPr>
            <a:spLocks noGrp="1"/>
          </p:cNvSpPr>
          <p:nvPr/>
        </p:nvSpPr>
        <p:spPr>
          <a:xfrm>
            <a:off x="52959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diagram block">
            <a:extLst>
              <a:ext uri="{FF2B5EF4-FFF2-40B4-BE49-F238E27FC236}">
                <a16:creationId xmlns:a16="http://schemas.microsoft.com/office/drawing/2014/main" id="{4EADB4C4-993F-4AEE-97AA-05AFCE000C28}"/>
              </a:ext>
            </a:extLst>
          </p:cNvPr>
          <p:cNvSpPr>
            <a:spLocks noGrp="1"/>
          </p:cNvSpPr>
          <p:nvPr/>
        </p:nvSpPr>
        <p:spPr>
          <a:xfrm>
            <a:off x="55054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diagram block">
            <a:extLst>
              <a:ext uri="{FF2B5EF4-FFF2-40B4-BE49-F238E27FC236}">
                <a16:creationId xmlns:a16="http://schemas.microsoft.com/office/drawing/2014/main" id="{9CD2327A-34CB-4548-872D-429C5D7F6BDC}"/>
              </a:ext>
            </a:extLst>
          </p:cNvPr>
          <p:cNvSpPr>
            <a:spLocks noGrp="1"/>
          </p:cNvSpPr>
          <p:nvPr/>
        </p:nvSpPr>
        <p:spPr>
          <a:xfrm>
            <a:off x="57150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diagram block">
            <a:extLst>
              <a:ext uri="{FF2B5EF4-FFF2-40B4-BE49-F238E27FC236}">
                <a16:creationId xmlns:a16="http://schemas.microsoft.com/office/drawing/2014/main" id="{3713179C-A900-4F1A-827A-F8F15E1E7A72}"/>
              </a:ext>
            </a:extLst>
          </p:cNvPr>
          <p:cNvSpPr>
            <a:spLocks noGrp="1"/>
          </p:cNvSpPr>
          <p:nvPr/>
        </p:nvSpPr>
        <p:spPr>
          <a:xfrm>
            <a:off x="59245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diagram block">
            <a:extLst>
              <a:ext uri="{FF2B5EF4-FFF2-40B4-BE49-F238E27FC236}">
                <a16:creationId xmlns:a16="http://schemas.microsoft.com/office/drawing/2014/main" id="{1836D159-7302-496A-A64A-91D1E56FE2F1}"/>
              </a:ext>
            </a:extLst>
          </p:cNvPr>
          <p:cNvSpPr>
            <a:spLocks noGrp="1"/>
          </p:cNvSpPr>
          <p:nvPr/>
        </p:nvSpPr>
        <p:spPr>
          <a:xfrm>
            <a:off x="46672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7" name="diagram block">
            <a:extLst>
              <a:ext uri="{FF2B5EF4-FFF2-40B4-BE49-F238E27FC236}">
                <a16:creationId xmlns:a16="http://schemas.microsoft.com/office/drawing/2014/main" id="{5D15F292-7BEA-4C8A-B7E3-6603684C6FAD}"/>
              </a:ext>
            </a:extLst>
          </p:cNvPr>
          <p:cNvSpPr>
            <a:spLocks noGrp="1"/>
          </p:cNvSpPr>
          <p:nvPr/>
        </p:nvSpPr>
        <p:spPr>
          <a:xfrm>
            <a:off x="48768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8" name="diagram block">
            <a:extLst>
              <a:ext uri="{FF2B5EF4-FFF2-40B4-BE49-F238E27FC236}">
                <a16:creationId xmlns:a16="http://schemas.microsoft.com/office/drawing/2014/main" id="{3EFB7CE9-ECC9-43C5-AE3F-EB57414CC3EC}"/>
              </a:ext>
            </a:extLst>
          </p:cNvPr>
          <p:cNvSpPr>
            <a:spLocks noGrp="1"/>
          </p:cNvSpPr>
          <p:nvPr/>
        </p:nvSpPr>
        <p:spPr>
          <a:xfrm>
            <a:off x="50863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diagram block">
            <a:extLst>
              <a:ext uri="{FF2B5EF4-FFF2-40B4-BE49-F238E27FC236}">
                <a16:creationId xmlns:a16="http://schemas.microsoft.com/office/drawing/2014/main" id="{B9E7BE23-5961-4656-BC27-2E2F80F70D9E}"/>
              </a:ext>
            </a:extLst>
          </p:cNvPr>
          <p:cNvSpPr>
            <a:spLocks noGrp="1"/>
          </p:cNvSpPr>
          <p:nvPr/>
        </p:nvSpPr>
        <p:spPr>
          <a:xfrm>
            <a:off x="529590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diagram block">
            <a:extLst>
              <a:ext uri="{FF2B5EF4-FFF2-40B4-BE49-F238E27FC236}">
                <a16:creationId xmlns:a16="http://schemas.microsoft.com/office/drawing/2014/main" id="{085E069C-8561-46DA-BCF4-B232390F2132}"/>
              </a:ext>
            </a:extLst>
          </p:cNvPr>
          <p:cNvSpPr>
            <a:spLocks noGrp="1"/>
          </p:cNvSpPr>
          <p:nvPr/>
        </p:nvSpPr>
        <p:spPr>
          <a:xfrm>
            <a:off x="55054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diagram block">
            <a:extLst>
              <a:ext uri="{FF2B5EF4-FFF2-40B4-BE49-F238E27FC236}">
                <a16:creationId xmlns:a16="http://schemas.microsoft.com/office/drawing/2014/main" id="{435BD7AB-48AC-4277-9D3D-0025675B261B}"/>
              </a:ext>
            </a:extLst>
          </p:cNvPr>
          <p:cNvSpPr>
            <a:spLocks noGrp="1"/>
          </p:cNvSpPr>
          <p:nvPr/>
        </p:nvSpPr>
        <p:spPr>
          <a:xfrm>
            <a:off x="57150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diagram block">
            <a:extLst>
              <a:ext uri="{FF2B5EF4-FFF2-40B4-BE49-F238E27FC236}">
                <a16:creationId xmlns:a16="http://schemas.microsoft.com/office/drawing/2014/main" id="{49719A7C-A3C0-484E-ACA0-13F80DC7CF16}"/>
              </a:ext>
            </a:extLst>
          </p:cNvPr>
          <p:cNvSpPr>
            <a:spLocks noGrp="1"/>
          </p:cNvSpPr>
          <p:nvPr/>
        </p:nvSpPr>
        <p:spPr>
          <a:xfrm>
            <a:off x="59245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" name="diagram block">
            <a:extLst>
              <a:ext uri="{FF2B5EF4-FFF2-40B4-BE49-F238E27FC236}">
                <a16:creationId xmlns:a16="http://schemas.microsoft.com/office/drawing/2014/main" id="{F18AE254-8F48-49B9-B295-166379A63A50}"/>
              </a:ext>
            </a:extLst>
          </p:cNvPr>
          <p:cNvSpPr>
            <a:spLocks noGrp="1"/>
          </p:cNvSpPr>
          <p:nvPr/>
        </p:nvSpPr>
        <p:spPr>
          <a:xfrm>
            <a:off x="46672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" name="diagram block">
            <a:extLst>
              <a:ext uri="{FF2B5EF4-FFF2-40B4-BE49-F238E27FC236}">
                <a16:creationId xmlns:a16="http://schemas.microsoft.com/office/drawing/2014/main" id="{C8C48A77-6CFE-49D9-A94F-FF7AF1EFE06D}"/>
              </a:ext>
            </a:extLst>
          </p:cNvPr>
          <p:cNvSpPr>
            <a:spLocks noGrp="1"/>
          </p:cNvSpPr>
          <p:nvPr/>
        </p:nvSpPr>
        <p:spPr>
          <a:xfrm>
            <a:off x="48768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diagram block">
            <a:extLst>
              <a:ext uri="{FF2B5EF4-FFF2-40B4-BE49-F238E27FC236}">
                <a16:creationId xmlns:a16="http://schemas.microsoft.com/office/drawing/2014/main" id="{67E5D373-C324-4B71-9A55-2D0F40F71590}"/>
              </a:ext>
            </a:extLst>
          </p:cNvPr>
          <p:cNvSpPr>
            <a:spLocks noGrp="1"/>
          </p:cNvSpPr>
          <p:nvPr/>
        </p:nvSpPr>
        <p:spPr>
          <a:xfrm>
            <a:off x="50863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diagram block">
            <a:extLst>
              <a:ext uri="{FF2B5EF4-FFF2-40B4-BE49-F238E27FC236}">
                <a16:creationId xmlns:a16="http://schemas.microsoft.com/office/drawing/2014/main" id="{1CFDF701-771D-40B0-AB90-1BEA783B2F75}"/>
              </a:ext>
            </a:extLst>
          </p:cNvPr>
          <p:cNvSpPr>
            <a:spLocks noGrp="1"/>
          </p:cNvSpPr>
          <p:nvPr/>
        </p:nvSpPr>
        <p:spPr>
          <a:xfrm>
            <a:off x="5295900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7" name="diagram block">
            <a:extLst>
              <a:ext uri="{FF2B5EF4-FFF2-40B4-BE49-F238E27FC236}">
                <a16:creationId xmlns:a16="http://schemas.microsoft.com/office/drawing/2014/main" id="{72B56902-BC82-4FCC-81E8-78EFE87BE3F3}"/>
              </a:ext>
            </a:extLst>
          </p:cNvPr>
          <p:cNvSpPr>
            <a:spLocks noGrp="1"/>
          </p:cNvSpPr>
          <p:nvPr/>
        </p:nvSpPr>
        <p:spPr>
          <a:xfrm>
            <a:off x="55054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8" name="diagram block">
            <a:extLst>
              <a:ext uri="{FF2B5EF4-FFF2-40B4-BE49-F238E27FC236}">
                <a16:creationId xmlns:a16="http://schemas.microsoft.com/office/drawing/2014/main" id="{DFDB30EE-4129-48EE-9F04-E12FB456B74E}"/>
              </a:ext>
            </a:extLst>
          </p:cNvPr>
          <p:cNvSpPr>
            <a:spLocks noGrp="1"/>
          </p:cNvSpPr>
          <p:nvPr/>
        </p:nvSpPr>
        <p:spPr>
          <a:xfrm>
            <a:off x="57150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diagram block">
            <a:extLst>
              <a:ext uri="{FF2B5EF4-FFF2-40B4-BE49-F238E27FC236}">
                <a16:creationId xmlns:a16="http://schemas.microsoft.com/office/drawing/2014/main" id="{FAC0F662-8A09-4007-826A-B56C7741E363}"/>
              </a:ext>
            </a:extLst>
          </p:cNvPr>
          <p:cNvSpPr>
            <a:spLocks noGrp="1"/>
          </p:cNvSpPr>
          <p:nvPr/>
        </p:nvSpPr>
        <p:spPr>
          <a:xfrm>
            <a:off x="59245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0" name="diagram block">
            <a:extLst>
              <a:ext uri="{FF2B5EF4-FFF2-40B4-BE49-F238E27FC236}">
                <a16:creationId xmlns:a16="http://schemas.microsoft.com/office/drawing/2014/main" id="{2EAF9778-7AAF-4B85-BCC7-71B451E0DF3A}"/>
              </a:ext>
            </a:extLst>
          </p:cNvPr>
          <p:cNvSpPr>
            <a:spLocks noGrp="1"/>
          </p:cNvSpPr>
          <p:nvPr/>
        </p:nvSpPr>
        <p:spPr>
          <a:xfrm>
            <a:off x="46672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1" name="diagram block">
            <a:extLst>
              <a:ext uri="{FF2B5EF4-FFF2-40B4-BE49-F238E27FC236}">
                <a16:creationId xmlns:a16="http://schemas.microsoft.com/office/drawing/2014/main" id="{0BD3E1FF-E7BA-4D46-A86E-B06236AC3936}"/>
              </a:ext>
            </a:extLst>
          </p:cNvPr>
          <p:cNvSpPr>
            <a:spLocks noGrp="1"/>
          </p:cNvSpPr>
          <p:nvPr/>
        </p:nvSpPr>
        <p:spPr>
          <a:xfrm>
            <a:off x="48768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2" name="diagram block">
            <a:extLst>
              <a:ext uri="{FF2B5EF4-FFF2-40B4-BE49-F238E27FC236}">
                <a16:creationId xmlns:a16="http://schemas.microsoft.com/office/drawing/2014/main" id="{5A6460F8-5B89-490E-AE32-A9F4E214015F}"/>
              </a:ext>
            </a:extLst>
          </p:cNvPr>
          <p:cNvSpPr>
            <a:spLocks noGrp="1"/>
          </p:cNvSpPr>
          <p:nvPr/>
        </p:nvSpPr>
        <p:spPr>
          <a:xfrm>
            <a:off x="50863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3" name="diagram block">
            <a:extLst>
              <a:ext uri="{FF2B5EF4-FFF2-40B4-BE49-F238E27FC236}">
                <a16:creationId xmlns:a16="http://schemas.microsoft.com/office/drawing/2014/main" id="{0A45B5A6-D9D4-4C48-B107-722D9AF932D3}"/>
              </a:ext>
            </a:extLst>
          </p:cNvPr>
          <p:cNvSpPr>
            <a:spLocks noGrp="1"/>
          </p:cNvSpPr>
          <p:nvPr/>
        </p:nvSpPr>
        <p:spPr>
          <a:xfrm>
            <a:off x="529590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diagram block">
            <a:extLst>
              <a:ext uri="{FF2B5EF4-FFF2-40B4-BE49-F238E27FC236}">
                <a16:creationId xmlns:a16="http://schemas.microsoft.com/office/drawing/2014/main" id="{2173124A-1EA4-464F-90EB-9700E2ECF455}"/>
              </a:ext>
            </a:extLst>
          </p:cNvPr>
          <p:cNvSpPr>
            <a:spLocks noGrp="1"/>
          </p:cNvSpPr>
          <p:nvPr/>
        </p:nvSpPr>
        <p:spPr>
          <a:xfrm>
            <a:off x="55054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" name="diagram block">
            <a:extLst>
              <a:ext uri="{FF2B5EF4-FFF2-40B4-BE49-F238E27FC236}">
                <a16:creationId xmlns:a16="http://schemas.microsoft.com/office/drawing/2014/main" id="{C253A472-BF3E-43E8-9FCC-B51944AFC8C3}"/>
              </a:ext>
            </a:extLst>
          </p:cNvPr>
          <p:cNvSpPr>
            <a:spLocks noGrp="1"/>
          </p:cNvSpPr>
          <p:nvPr/>
        </p:nvSpPr>
        <p:spPr>
          <a:xfrm>
            <a:off x="57150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6" name="diagram block">
            <a:extLst>
              <a:ext uri="{FF2B5EF4-FFF2-40B4-BE49-F238E27FC236}">
                <a16:creationId xmlns:a16="http://schemas.microsoft.com/office/drawing/2014/main" id="{BE57CAF6-8E11-4A1D-957C-B9B89B3FC17F}"/>
              </a:ext>
            </a:extLst>
          </p:cNvPr>
          <p:cNvSpPr>
            <a:spLocks noGrp="1"/>
          </p:cNvSpPr>
          <p:nvPr/>
        </p:nvSpPr>
        <p:spPr>
          <a:xfrm>
            <a:off x="59245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7" name="diagram block">
            <a:extLst>
              <a:ext uri="{FF2B5EF4-FFF2-40B4-BE49-F238E27FC236}">
                <a16:creationId xmlns:a16="http://schemas.microsoft.com/office/drawing/2014/main" id="{0F5EF98E-5745-4E1C-9DCE-2673D5B965F1}"/>
              </a:ext>
            </a:extLst>
          </p:cNvPr>
          <p:cNvSpPr>
            <a:spLocks noGrp="1"/>
          </p:cNvSpPr>
          <p:nvPr/>
        </p:nvSpPr>
        <p:spPr>
          <a:xfrm>
            <a:off x="46672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" name="diagram block">
            <a:extLst>
              <a:ext uri="{FF2B5EF4-FFF2-40B4-BE49-F238E27FC236}">
                <a16:creationId xmlns:a16="http://schemas.microsoft.com/office/drawing/2014/main" id="{0922ACE8-17D3-4DB8-93B0-81A27CAF5ECC}"/>
              </a:ext>
            </a:extLst>
          </p:cNvPr>
          <p:cNvSpPr>
            <a:spLocks noGrp="1"/>
          </p:cNvSpPr>
          <p:nvPr/>
        </p:nvSpPr>
        <p:spPr>
          <a:xfrm>
            <a:off x="48768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9" name="diagram block">
            <a:extLst>
              <a:ext uri="{FF2B5EF4-FFF2-40B4-BE49-F238E27FC236}">
                <a16:creationId xmlns:a16="http://schemas.microsoft.com/office/drawing/2014/main" id="{397DB4B8-EAEC-4BE3-A1D5-1CC4B9ABB3D1}"/>
              </a:ext>
            </a:extLst>
          </p:cNvPr>
          <p:cNvSpPr>
            <a:spLocks noGrp="1"/>
          </p:cNvSpPr>
          <p:nvPr/>
        </p:nvSpPr>
        <p:spPr>
          <a:xfrm>
            <a:off x="50863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0" name="diagram block">
            <a:extLst>
              <a:ext uri="{FF2B5EF4-FFF2-40B4-BE49-F238E27FC236}">
                <a16:creationId xmlns:a16="http://schemas.microsoft.com/office/drawing/2014/main" id="{8D15BF7C-D90B-48E5-B219-0FFB33B1394F}"/>
              </a:ext>
            </a:extLst>
          </p:cNvPr>
          <p:cNvSpPr>
            <a:spLocks noGrp="1"/>
          </p:cNvSpPr>
          <p:nvPr/>
        </p:nvSpPr>
        <p:spPr>
          <a:xfrm>
            <a:off x="52959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1" name="diagram block">
            <a:extLst>
              <a:ext uri="{FF2B5EF4-FFF2-40B4-BE49-F238E27FC236}">
                <a16:creationId xmlns:a16="http://schemas.microsoft.com/office/drawing/2014/main" id="{0CC11DC1-F7FC-48D3-9CAC-7F63D7D15735}"/>
              </a:ext>
            </a:extLst>
          </p:cNvPr>
          <p:cNvSpPr>
            <a:spLocks noGrp="1"/>
          </p:cNvSpPr>
          <p:nvPr/>
        </p:nvSpPr>
        <p:spPr>
          <a:xfrm>
            <a:off x="55054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2" name="diagram block">
            <a:extLst>
              <a:ext uri="{FF2B5EF4-FFF2-40B4-BE49-F238E27FC236}">
                <a16:creationId xmlns:a16="http://schemas.microsoft.com/office/drawing/2014/main" id="{2C3DBDFE-A886-43CB-96B2-0D8717C78287}"/>
              </a:ext>
            </a:extLst>
          </p:cNvPr>
          <p:cNvSpPr>
            <a:spLocks noGrp="1"/>
          </p:cNvSpPr>
          <p:nvPr/>
        </p:nvSpPr>
        <p:spPr>
          <a:xfrm>
            <a:off x="57150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" name="diagram block">
            <a:extLst>
              <a:ext uri="{FF2B5EF4-FFF2-40B4-BE49-F238E27FC236}">
                <a16:creationId xmlns:a16="http://schemas.microsoft.com/office/drawing/2014/main" id="{9625C8A3-881C-4D15-8CC0-4CAF2458C9EC}"/>
              </a:ext>
            </a:extLst>
          </p:cNvPr>
          <p:cNvSpPr>
            <a:spLocks noGrp="1"/>
          </p:cNvSpPr>
          <p:nvPr/>
        </p:nvSpPr>
        <p:spPr>
          <a:xfrm>
            <a:off x="59245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" name="diagram block">
            <a:extLst>
              <a:ext uri="{FF2B5EF4-FFF2-40B4-BE49-F238E27FC236}">
                <a16:creationId xmlns:a16="http://schemas.microsoft.com/office/drawing/2014/main" id="{CF86E2B3-4603-411C-B232-BB21B4FA5516}"/>
              </a:ext>
            </a:extLst>
          </p:cNvPr>
          <p:cNvSpPr>
            <a:spLocks noGrp="1"/>
          </p:cNvSpPr>
          <p:nvPr/>
        </p:nvSpPr>
        <p:spPr>
          <a:xfrm>
            <a:off x="46672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" name="diagram block">
            <a:extLst>
              <a:ext uri="{FF2B5EF4-FFF2-40B4-BE49-F238E27FC236}">
                <a16:creationId xmlns:a16="http://schemas.microsoft.com/office/drawing/2014/main" id="{62EAA159-902E-4C0E-9158-1887788554AC}"/>
              </a:ext>
            </a:extLst>
          </p:cNvPr>
          <p:cNvSpPr>
            <a:spLocks noGrp="1"/>
          </p:cNvSpPr>
          <p:nvPr/>
        </p:nvSpPr>
        <p:spPr>
          <a:xfrm>
            <a:off x="48768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6" name="diagram block">
            <a:extLst>
              <a:ext uri="{FF2B5EF4-FFF2-40B4-BE49-F238E27FC236}">
                <a16:creationId xmlns:a16="http://schemas.microsoft.com/office/drawing/2014/main" id="{ED454461-067D-4785-A8AA-96A91D8FA733}"/>
              </a:ext>
            </a:extLst>
          </p:cNvPr>
          <p:cNvSpPr>
            <a:spLocks noGrp="1"/>
          </p:cNvSpPr>
          <p:nvPr/>
        </p:nvSpPr>
        <p:spPr>
          <a:xfrm>
            <a:off x="50863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" name="diagram block">
            <a:extLst>
              <a:ext uri="{FF2B5EF4-FFF2-40B4-BE49-F238E27FC236}">
                <a16:creationId xmlns:a16="http://schemas.microsoft.com/office/drawing/2014/main" id="{8689E9CE-3318-4997-B3A1-98A33FB6A6E1}"/>
              </a:ext>
            </a:extLst>
          </p:cNvPr>
          <p:cNvSpPr>
            <a:spLocks noGrp="1"/>
          </p:cNvSpPr>
          <p:nvPr/>
        </p:nvSpPr>
        <p:spPr>
          <a:xfrm>
            <a:off x="52959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" name="diagram block">
            <a:extLst>
              <a:ext uri="{FF2B5EF4-FFF2-40B4-BE49-F238E27FC236}">
                <a16:creationId xmlns:a16="http://schemas.microsoft.com/office/drawing/2014/main" id="{653C3A5E-0315-43C0-82D3-37611963E652}"/>
              </a:ext>
            </a:extLst>
          </p:cNvPr>
          <p:cNvSpPr>
            <a:spLocks noGrp="1"/>
          </p:cNvSpPr>
          <p:nvPr/>
        </p:nvSpPr>
        <p:spPr>
          <a:xfrm>
            <a:off x="55054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" name="diagram block">
            <a:extLst>
              <a:ext uri="{FF2B5EF4-FFF2-40B4-BE49-F238E27FC236}">
                <a16:creationId xmlns:a16="http://schemas.microsoft.com/office/drawing/2014/main" id="{4ADAAFBF-8C92-4AC2-82A2-1CE3AEF9F8E1}"/>
              </a:ext>
            </a:extLst>
          </p:cNvPr>
          <p:cNvSpPr>
            <a:spLocks noGrp="1"/>
          </p:cNvSpPr>
          <p:nvPr/>
        </p:nvSpPr>
        <p:spPr>
          <a:xfrm>
            <a:off x="57150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0" name="diagram block">
            <a:extLst>
              <a:ext uri="{FF2B5EF4-FFF2-40B4-BE49-F238E27FC236}">
                <a16:creationId xmlns:a16="http://schemas.microsoft.com/office/drawing/2014/main" id="{423EEDF4-B6F5-4F37-8885-2699A3D47D28}"/>
              </a:ext>
            </a:extLst>
          </p:cNvPr>
          <p:cNvSpPr>
            <a:spLocks noGrp="1"/>
          </p:cNvSpPr>
          <p:nvPr/>
        </p:nvSpPr>
        <p:spPr>
          <a:xfrm>
            <a:off x="59245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time 1">
            <a:extLst>
              <a:ext uri="{FF2B5EF4-FFF2-40B4-BE49-F238E27FC236}">
                <a16:creationId xmlns:a16="http://schemas.microsoft.com/office/drawing/2014/main" id="{23DC11C7-46A7-4507-AFE1-29C211BFCBF8}"/>
              </a:ext>
            </a:extLst>
          </p:cNvPr>
          <p:cNvSpPr>
            <a:spLocks noGrp="1"/>
          </p:cNvSpPr>
          <p:nvPr/>
        </p:nvSpPr>
        <p:spPr>
          <a:xfrm>
            <a:off x="4667250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72" name="diagram block">
            <a:extLst>
              <a:ext uri="{FF2B5EF4-FFF2-40B4-BE49-F238E27FC236}">
                <a16:creationId xmlns:a16="http://schemas.microsoft.com/office/drawing/2014/main" id="{52FE6C43-9316-4AA4-9E70-051634DB9DF9}"/>
              </a:ext>
            </a:extLst>
          </p:cNvPr>
          <p:cNvSpPr>
            <a:spLocks noGrp="1"/>
          </p:cNvSpPr>
          <p:nvPr/>
        </p:nvSpPr>
        <p:spPr>
          <a:xfrm>
            <a:off x="68103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diagram block">
            <a:extLst>
              <a:ext uri="{FF2B5EF4-FFF2-40B4-BE49-F238E27FC236}">
                <a16:creationId xmlns:a16="http://schemas.microsoft.com/office/drawing/2014/main" id="{FAB1C575-46A5-4CEC-8B09-A1FC7BA63074}"/>
              </a:ext>
            </a:extLst>
          </p:cNvPr>
          <p:cNvSpPr>
            <a:spLocks noGrp="1"/>
          </p:cNvSpPr>
          <p:nvPr/>
        </p:nvSpPr>
        <p:spPr>
          <a:xfrm>
            <a:off x="70199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4" name="diagram block">
            <a:extLst>
              <a:ext uri="{FF2B5EF4-FFF2-40B4-BE49-F238E27FC236}">
                <a16:creationId xmlns:a16="http://schemas.microsoft.com/office/drawing/2014/main" id="{E89FEF97-4C6B-437F-ACAD-F1FE2A5AFE99}"/>
              </a:ext>
            </a:extLst>
          </p:cNvPr>
          <p:cNvSpPr>
            <a:spLocks noGrp="1"/>
          </p:cNvSpPr>
          <p:nvPr/>
        </p:nvSpPr>
        <p:spPr>
          <a:xfrm>
            <a:off x="72294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5" name="diagram block">
            <a:extLst>
              <a:ext uri="{FF2B5EF4-FFF2-40B4-BE49-F238E27FC236}">
                <a16:creationId xmlns:a16="http://schemas.microsoft.com/office/drawing/2014/main" id="{1CE24B28-224D-4AFD-B427-FEE3A0548125}"/>
              </a:ext>
            </a:extLst>
          </p:cNvPr>
          <p:cNvSpPr>
            <a:spLocks noGrp="1"/>
          </p:cNvSpPr>
          <p:nvPr/>
        </p:nvSpPr>
        <p:spPr>
          <a:xfrm>
            <a:off x="74390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6" name="diagram block">
            <a:extLst>
              <a:ext uri="{FF2B5EF4-FFF2-40B4-BE49-F238E27FC236}">
                <a16:creationId xmlns:a16="http://schemas.microsoft.com/office/drawing/2014/main" id="{03C0DFE7-B86A-43C7-8F29-79477A799B4E}"/>
              </a:ext>
            </a:extLst>
          </p:cNvPr>
          <p:cNvSpPr>
            <a:spLocks noGrp="1"/>
          </p:cNvSpPr>
          <p:nvPr/>
        </p:nvSpPr>
        <p:spPr>
          <a:xfrm>
            <a:off x="76485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diagram block">
            <a:extLst>
              <a:ext uri="{FF2B5EF4-FFF2-40B4-BE49-F238E27FC236}">
                <a16:creationId xmlns:a16="http://schemas.microsoft.com/office/drawing/2014/main" id="{C89DDE2D-A5FA-45E1-8086-2C7271C1E6CC}"/>
              </a:ext>
            </a:extLst>
          </p:cNvPr>
          <p:cNvSpPr>
            <a:spLocks noGrp="1"/>
          </p:cNvSpPr>
          <p:nvPr/>
        </p:nvSpPr>
        <p:spPr>
          <a:xfrm>
            <a:off x="78581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8" name="diagram block">
            <a:extLst>
              <a:ext uri="{FF2B5EF4-FFF2-40B4-BE49-F238E27FC236}">
                <a16:creationId xmlns:a16="http://schemas.microsoft.com/office/drawing/2014/main" id="{D63AE6CE-6550-44B3-8ECC-0FA81C014937}"/>
              </a:ext>
            </a:extLst>
          </p:cNvPr>
          <p:cNvSpPr>
            <a:spLocks noGrp="1"/>
          </p:cNvSpPr>
          <p:nvPr/>
        </p:nvSpPr>
        <p:spPr>
          <a:xfrm>
            <a:off x="80676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9" name="diagram block">
            <a:extLst>
              <a:ext uri="{FF2B5EF4-FFF2-40B4-BE49-F238E27FC236}">
                <a16:creationId xmlns:a16="http://schemas.microsoft.com/office/drawing/2014/main" id="{3EB7B46B-A406-4BA9-8137-AE31C4FBBD26}"/>
              </a:ext>
            </a:extLst>
          </p:cNvPr>
          <p:cNvSpPr>
            <a:spLocks noGrp="1"/>
          </p:cNvSpPr>
          <p:nvPr/>
        </p:nvSpPr>
        <p:spPr>
          <a:xfrm>
            <a:off x="68103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0" name="diagram block">
            <a:extLst>
              <a:ext uri="{FF2B5EF4-FFF2-40B4-BE49-F238E27FC236}">
                <a16:creationId xmlns:a16="http://schemas.microsoft.com/office/drawing/2014/main" id="{58F2FB3C-CFB2-49ED-BDB9-47C76EB50C6D}"/>
              </a:ext>
            </a:extLst>
          </p:cNvPr>
          <p:cNvSpPr>
            <a:spLocks noGrp="1"/>
          </p:cNvSpPr>
          <p:nvPr/>
        </p:nvSpPr>
        <p:spPr>
          <a:xfrm>
            <a:off x="70199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" name="diagram block">
            <a:extLst>
              <a:ext uri="{FF2B5EF4-FFF2-40B4-BE49-F238E27FC236}">
                <a16:creationId xmlns:a16="http://schemas.microsoft.com/office/drawing/2014/main" id="{1202F7FE-10B6-4E21-8610-E53F4E12CB68}"/>
              </a:ext>
            </a:extLst>
          </p:cNvPr>
          <p:cNvSpPr>
            <a:spLocks noGrp="1"/>
          </p:cNvSpPr>
          <p:nvPr/>
        </p:nvSpPr>
        <p:spPr>
          <a:xfrm>
            <a:off x="72294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2" name="diagram block">
            <a:extLst>
              <a:ext uri="{FF2B5EF4-FFF2-40B4-BE49-F238E27FC236}">
                <a16:creationId xmlns:a16="http://schemas.microsoft.com/office/drawing/2014/main" id="{E9B1C302-0D9E-4C0B-B561-C1DAA3F59C50}"/>
              </a:ext>
            </a:extLst>
          </p:cNvPr>
          <p:cNvSpPr>
            <a:spLocks noGrp="1"/>
          </p:cNvSpPr>
          <p:nvPr/>
        </p:nvSpPr>
        <p:spPr>
          <a:xfrm>
            <a:off x="74390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diagram block">
            <a:extLst>
              <a:ext uri="{FF2B5EF4-FFF2-40B4-BE49-F238E27FC236}">
                <a16:creationId xmlns:a16="http://schemas.microsoft.com/office/drawing/2014/main" id="{F8A31D5F-0B1F-406D-8424-C0067AED8B34}"/>
              </a:ext>
            </a:extLst>
          </p:cNvPr>
          <p:cNvSpPr>
            <a:spLocks noGrp="1"/>
          </p:cNvSpPr>
          <p:nvPr/>
        </p:nvSpPr>
        <p:spPr>
          <a:xfrm>
            <a:off x="76485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4" name="diagram block">
            <a:extLst>
              <a:ext uri="{FF2B5EF4-FFF2-40B4-BE49-F238E27FC236}">
                <a16:creationId xmlns:a16="http://schemas.microsoft.com/office/drawing/2014/main" id="{B06B37EE-6DF8-4E9D-B189-BBB0DE17F3D6}"/>
              </a:ext>
            </a:extLst>
          </p:cNvPr>
          <p:cNvSpPr>
            <a:spLocks noGrp="1"/>
          </p:cNvSpPr>
          <p:nvPr/>
        </p:nvSpPr>
        <p:spPr>
          <a:xfrm>
            <a:off x="78581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5" name="diagram block">
            <a:extLst>
              <a:ext uri="{FF2B5EF4-FFF2-40B4-BE49-F238E27FC236}">
                <a16:creationId xmlns:a16="http://schemas.microsoft.com/office/drawing/2014/main" id="{BD09C58D-ABE5-41B8-A10F-BEBF7D1967FB}"/>
              </a:ext>
            </a:extLst>
          </p:cNvPr>
          <p:cNvSpPr>
            <a:spLocks noGrp="1"/>
          </p:cNvSpPr>
          <p:nvPr/>
        </p:nvSpPr>
        <p:spPr>
          <a:xfrm>
            <a:off x="80676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6" name="diagram block">
            <a:extLst>
              <a:ext uri="{FF2B5EF4-FFF2-40B4-BE49-F238E27FC236}">
                <a16:creationId xmlns:a16="http://schemas.microsoft.com/office/drawing/2014/main" id="{FF76CDA0-479A-4226-974F-7C8C0E9F1E02}"/>
              </a:ext>
            </a:extLst>
          </p:cNvPr>
          <p:cNvSpPr>
            <a:spLocks noGrp="1"/>
          </p:cNvSpPr>
          <p:nvPr/>
        </p:nvSpPr>
        <p:spPr>
          <a:xfrm>
            <a:off x="68103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7" name="diagram block">
            <a:extLst>
              <a:ext uri="{FF2B5EF4-FFF2-40B4-BE49-F238E27FC236}">
                <a16:creationId xmlns:a16="http://schemas.microsoft.com/office/drawing/2014/main" id="{2DD35052-86F9-4F2C-B6CE-3AB2B0586620}"/>
              </a:ext>
            </a:extLst>
          </p:cNvPr>
          <p:cNvSpPr>
            <a:spLocks noGrp="1"/>
          </p:cNvSpPr>
          <p:nvPr/>
        </p:nvSpPr>
        <p:spPr>
          <a:xfrm>
            <a:off x="70199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8" name="diagram block">
            <a:extLst>
              <a:ext uri="{FF2B5EF4-FFF2-40B4-BE49-F238E27FC236}">
                <a16:creationId xmlns:a16="http://schemas.microsoft.com/office/drawing/2014/main" id="{A6F1C1EC-E66A-4A9F-B97E-85C0EA1BC2EC}"/>
              </a:ext>
            </a:extLst>
          </p:cNvPr>
          <p:cNvSpPr>
            <a:spLocks noGrp="1"/>
          </p:cNvSpPr>
          <p:nvPr/>
        </p:nvSpPr>
        <p:spPr>
          <a:xfrm>
            <a:off x="72294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9" name="diagram block">
            <a:extLst>
              <a:ext uri="{FF2B5EF4-FFF2-40B4-BE49-F238E27FC236}">
                <a16:creationId xmlns:a16="http://schemas.microsoft.com/office/drawing/2014/main" id="{2170E6D7-4871-480E-951C-883437ADDB59}"/>
              </a:ext>
            </a:extLst>
          </p:cNvPr>
          <p:cNvSpPr>
            <a:spLocks noGrp="1"/>
          </p:cNvSpPr>
          <p:nvPr/>
        </p:nvSpPr>
        <p:spPr>
          <a:xfrm>
            <a:off x="74390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" name="diagram block">
            <a:extLst>
              <a:ext uri="{FF2B5EF4-FFF2-40B4-BE49-F238E27FC236}">
                <a16:creationId xmlns:a16="http://schemas.microsoft.com/office/drawing/2014/main" id="{21C3D348-9F30-40D3-BD11-11C78E000EDF}"/>
              </a:ext>
            </a:extLst>
          </p:cNvPr>
          <p:cNvSpPr>
            <a:spLocks noGrp="1"/>
          </p:cNvSpPr>
          <p:nvPr/>
        </p:nvSpPr>
        <p:spPr>
          <a:xfrm>
            <a:off x="76485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" name="diagram block">
            <a:extLst>
              <a:ext uri="{FF2B5EF4-FFF2-40B4-BE49-F238E27FC236}">
                <a16:creationId xmlns:a16="http://schemas.microsoft.com/office/drawing/2014/main" id="{838FD6D9-1575-4939-86D0-E0EE5A574E86}"/>
              </a:ext>
            </a:extLst>
          </p:cNvPr>
          <p:cNvSpPr>
            <a:spLocks noGrp="1"/>
          </p:cNvSpPr>
          <p:nvPr/>
        </p:nvSpPr>
        <p:spPr>
          <a:xfrm>
            <a:off x="78581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2" name="diagram block">
            <a:extLst>
              <a:ext uri="{FF2B5EF4-FFF2-40B4-BE49-F238E27FC236}">
                <a16:creationId xmlns:a16="http://schemas.microsoft.com/office/drawing/2014/main" id="{B80997FD-38E7-49CB-BFBC-4777E3DD5DAB}"/>
              </a:ext>
            </a:extLst>
          </p:cNvPr>
          <p:cNvSpPr>
            <a:spLocks noGrp="1"/>
          </p:cNvSpPr>
          <p:nvPr/>
        </p:nvSpPr>
        <p:spPr>
          <a:xfrm>
            <a:off x="80676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3" name="diagram block">
            <a:extLst>
              <a:ext uri="{FF2B5EF4-FFF2-40B4-BE49-F238E27FC236}">
                <a16:creationId xmlns:a16="http://schemas.microsoft.com/office/drawing/2014/main" id="{07D98D97-684B-4C1D-AB12-47557AF81494}"/>
              </a:ext>
            </a:extLst>
          </p:cNvPr>
          <p:cNvSpPr>
            <a:spLocks noGrp="1"/>
          </p:cNvSpPr>
          <p:nvPr/>
        </p:nvSpPr>
        <p:spPr>
          <a:xfrm>
            <a:off x="68103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4" name="diagram block">
            <a:extLst>
              <a:ext uri="{FF2B5EF4-FFF2-40B4-BE49-F238E27FC236}">
                <a16:creationId xmlns:a16="http://schemas.microsoft.com/office/drawing/2014/main" id="{86175B87-EE19-4697-B88A-1B95AA69F9AD}"/>
              </a:ext>
            </a:extLst>
          </p:cNvPr>
          <p:cNvSpPr>
            <a:spLocks noGrp="1"/>
          </p:cNvSpPr>
          <p:nvPr/>
        </p:nvSpPr>
        <p:spPr>
          <a:xfrm>
            <a:off x="70199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5" name="diagram block">
            <a:extLst>
              <a:ext uri="{FF2B5EF4-FFF2-40B4-BE49-F238E27FC236}">
                <a16:creationId xmlns:a16="http://schemas.microsoft.com/office/drawing/2014/main" id="{394E75B5-AE23-48F1-B1C1-C3125DAB9C1E}"/>
              </a:ext>
            </a:extLst>
          </p:cNvPr>
          <p:cNvSpPr>
            <a:spLocks noGrp="1"/>
          </p:cNvSpPr>
          <p:nvPr/>
        </p:nvSpPr>
        <p:spPr>
          <a:xfrm>
            <a:off x="72294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6" name="diagram block">
            <a:extLst>
              <a:ext uri="{FF2B5EF4-FFF2-40B4-BE49-F238E27FC236}">
                <a16:creationId xmlns:a16="http://schemas.microsoft.com/office/drawing/2014/main" id="{9428DF12-DFF8-4B47-AFA4-9D23AA940AD0}"/>
              </a:ext>
            </a:extLst>
          </p:cNvPr>
          <p:cNvSpPr>
            <a:spLocks noGrp="1"/>
          </p:cNvSpPr>
          <p:nvPr/>
        </p:nvSpPr>
        <p:spPr>
          <a:xfrm>
            <a:off x="7439025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7" name="diagram block">
            <a:extLst>
              <a:ext uri="{FF2B5EF4-FFF2-40B4-BE49-F238E27FC236}">
                <a16:creationId xmlns:a16="http://schemas.microsoft.com/office/drawing/2014/main" id="{1DE20C87-60F9-49D6-AECC-FFB48EF8A301}"/>
              </a:ext>
            </a:extLst>
          </p:cNvPr>
          <p:cNvSpPr>
            <a:spLocks noGrp="1"/>
          </p:cNvSpPr>
          <p:nvPr/>
        </p:nvSpPr>
        <p:spPr>
          <a:xfrm>
            <a:off x="76485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8" name="diagram block">
            <a:extLst>
              <a:ext uri="{FF2B5EF4-FFF2-40B4-BE49-F238E27FC236}">
                <a16:creationId xmlns:a16="http://schemas.microsoft.com/office/drawing/2014/main" id="{3D120416-9693-4456-973E-879731B952B3}"/>
              </a:ext>
            </a:extLst>
          </p:cNvPr>
          <p:cNvSpPr>
            <a:spLocks noGrp="1"/>
          </p:cNvSpPr>
          <p:nvPr/>
        </p:nvSpPr>
        <p:spPr>
          <a:xfrm>
            <a:off x="78581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9" name="diagram block">
            <a:extLst>
              <a:ext uri="{FF2B5EF4-FFF2-40B4-BE49-F238E27FC236}">
                <a16:creationId xmlns:a16="http://schemas.microsoft.com/office/drawing/2014/main" id="{546B5BF8-45E1-4D52-8573-F23C6605CC28}"/>
              </a:ext>
            </a:extLst>
          </p:cNvPr>
          <p:cNvSpPr>
            <a:spLocks noGrp="1"/>
          </p:cNvSpPr>
          <p:nvPr/>
        </p:nvSpPr>
        <p:spPr>
          <a:xfrm>
            <a:off x="80676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0" name="diagram block">
            <a:extLst>
              <a:ext uri="{FF2B5EF4-FFF2-40B4-BE49-F238E27FC236}">
                <a16:creationId xmlns:a16="http://schemas.microsoft.com/office/drawing/2014/main" id="{4CA943BE-E663-42A9-89A5-CEE76759BE69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1" name="diagram block">
            <a:extLst>
              <a:ext uri="{FF2B5EF4-FFF2-40B4-BE49-F238E27FC236}">
                <a16:creationId xmlns:a16="http://schemas.microsoft.com/office/drawing/2014/main" id="{8BAE1047-01CF-4F4B-A194-E0FF9B2C2278}"/>
              </a:ext>
            </a:extLst>
          </p:cNvPr>
          <p:cNvSpPr>
            <a:spLocks noGrp="1"/>
          </p:cNvSpPr>
          <p:nvPr/>
        </p:nvSpPr>
        <p:spPr>
          <a:xfrm>
            <a:off x="70199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2" name="diagram block">
            <a:extLst>
              <a:ext uri="{FF2B5EF4-FFF2-40B4-BE49-F238E27FC236}">
                <a16:creationId xmlns:a16="http://schemas.microsoft.com/office/drawing/2014/main" id="{3BAF1AC4-A8E8-4335-A55E-9661FF3EDA08}"/>
              </a:ext>
            </a:extLst>
          </p:cNvPr>
          <p:cNvSpPr>
            <a:spLocks noGrp="1"/>
          </p:cNvSpPr>
          <p:nvPr/>
        </p:nvSpPr>
        <p:spPr>
          <a:xfrm>
            <a:off x="72294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3" name="diagram block">
            <a:extLst>
              <a:ext uri="{FF2B5EF4-FFF2-40B4-BE49-F238E27FC236}">
                <a16:creationId xmlns:a16="http://schemas.microsoft.com/office/drawing/2014/main" id="{C977BDC0-C914-4D4E-8368-A4F7CABE362D}"/>
              </a:ext>
            </a:extLst>
          </p:cNvPr>
          <p:cNvSpPr>
            <a:spLocks noGrp="1"/>
          </p:cNvSpPr>
          <p:nvPr/>
        </p:nvSpPr>
        <p:spPr>
          <a:xfrm>
            <a:off x="74390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4" name="diagram block">
            <a:extLst>
              <a:ext uri="{FF2B5EF4-FFF2-40B4-BE49-F238E27FC236}">
                <a16:creationId xmlns:a16="http://schemas.microsoft.com/office/drawing/2014/main" id="{783FC06B-EF00-4873-8FBB-A495A47276E5}"/>
              </a:ext>
            </a:extLst>
          </p:cNvPr>
          <p:cNvSpPr>
            <a:spLocks noGrp="1"/>
          </p:cNvSpPr>
          <p:nvPr/>
        </p:nvSpPr>
        <p:spPr>
          <a:xfrm>
            <a:off x="76485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5" name="diagram block">
            <a:extLst>
              <a:ext uri="{FF2B5EF4-FFF2-40B4-BE49-F238E27FC236}">
                <a16:creationId xmlns:a16="http://schemas.microsoft.com/office/drawing/2014/main" id="{2A0F15E8-5215-43C3-A558-CE4E441A04AB}"/>
              </a:ext>
            </a:extLst>
          </p:cNvPr>
          <p:cNvSpPr>
            <a:spLocks noGrp="1"/>
          </p:cNvSpPr>
          <p:nvPr/>
        </p:nvSpPr>
        <p:spPr>
          <a:xfrm>
            <a:off x="78581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6" name="diagram block">
            <a:extLst>
              <a:ext uri="{FF2B5EF4-FFF2-40B4-BE49-F238E27FC236}">
                <a16:creationId xmlns:a16="http://schemas.microsoft.com/office/drawing/2014/main" id="{F8CAC5D0-7027-4A93-B0D1-F6182B246BC3}"/>
              </a:ext>
            </a:extLst>
          </p:cNvPr>
          <p:cNvSpPr>
            <a:spLocks noGrp="1"/>
          </p:cNvSpPr>
          <p:nvPr/>
        </p:nvSpPr>
        <p:spPr>
          <a:xfrm>
            <a:off x="80676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7" name="diagram block">
            <a:extLst>
              <a:ext uri="{FF2B5EF4-FFF2-40B4-BE49-F238E27FC236}">
                <a16:creationId xmlns:a16="http://schemas.microsoft.com/office/drawing/2014/main" id="{8CDA0B42-EEBA-4352-84C8-ED66EDEC248C}"/>
              </a:ext>
            </a:extLst>
          </p:cNvPr>
          <p:cNvSpPr>
            <a:spLocks noGrp="1"/>
          </p:cNvSpPr>
          <p:nvPr/>
        </p:nvSpPr>
        <p:spPr>
          <a:xfrm>
            <a:off x="68103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8" name="diagram block">
            <a:extLst>
              <a:ext uri="{FF2B5EF4-FFF2-40B4-BE49-F238E27FC236}">
                <a16:creationId xmlns:a16="http://schemas.microsoft.com/office/drawing/2014/main" id="{134630EB-1D19-4BD5-A1F3-A944BA14A6B2}"/>
              </a:ext>
            </a:extLst>
          </p:cNvPr>
          <p:cNvSpPr>
            <a:spLocks noGrp="1"/>
          </p:cNvSpPr>
          <p:nvPr/>
        </p:nvSpPr>
        <p:spPr>
          <a:xfrm>
            <a:off x="70199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9" name="diagram block">
            <a:extLst>
              <a:ext uri="{FF2B5EF4-FFF2-40B4-BE49-F238E27FC236}">
                <a16:creationId xmlns:a16="http://schemas.microsoft.com/office/drawing/2014/main" id="{2AB14C96-15B0-4480-8678-25426C825DD0}"/>
              </a:ext>
            </a:extLst>
          </p:cNvPr>
          <p:cNvSpPr>
            <a:spLocks noGrp="1"/>
          </p:cNvSpPr>
          <p:nvPr/>
        </p:nvSpPr>
        <p:spPr>
          <a:xfrm>
            <a:off x="72294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0" name="diagram block">
            <a:extLst>
              <a:ext uri="{FF2B5EF4-FFF2-40B4-BE49-F238E27FC236}">
                <a16:creationId xmlns:a16="http://schemas.microsoft.com/office/drawing/2014/main" id="{9C2F33DD-8290-4007-B45A-2071FB50D934}"/>
              </a:ext>
            </a:extLst>
          </p:cNvPr>
          <p:cNvSpPr>
            <a:spLocks noGrp="1"/>
          </p:cNvSpPr>
          <p:nvPr/>
        </p:nvSpPr>
        <p:spPr>
          <a:xfrm>
            <a:off x="74390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1" name="diagram block">
            <a:extLst>
              <a:ext uri="{FF2B5EF4-FFF2-40B4-BE49-F238E27FC236}">
                <a16:creationId xmlns:a16="http://schemas.microsoft.com/office/drawing/2014/main" id="{136DAE59-5E45-493B-8838-615A52959498}"/>
              </a:ext>
            </a:extLst>
          </p:cNvPr>
          <p:cNvSpPr>
            <a:spLocks noGrp="1"/>
          </p:cNvSpPr>
          <p:nvPr/>
        </p:nvSpPr>
        <p:spPr>
          <a:xfrm>
            <a:off x="76485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2" name="diagram block">
            <a:extLst>
              <a:ext uri="{FF2B5EF4-FFF2-40B4-BE49-F238E27FC236}">
                <a16:creationId xmlns:a16="http://schemas.microsoft.com/office/drawing/2014/main" id="{2948D47D-8537-4497-857A-CAFF49136A2F}"/>
              </a:ext>
            </a:extLst>
          </p:cNvPr>
          <p:cNvSpPr>
            <a:spLocks noGrp="1"/>
          </p:cNvSpPr>
          <p:nvPr/>
        </p:nvSpPr>
        <p:spPr>
          <a:xfrm>
            <a:off x="78581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3" name="diagram block">
            <a:extLst>
              <a:ext uri="{FF2B5EF4-FFF2-40B4-BE49-F238E27FC236}">
                <a16:creationId xmlns:a16="http://schemas.microsoft.com/office/drawing/2014/main" id="{CE933839-D1F5-4963-AA16-1873E65A3B1A}"/>
              </a:ext>
            </a:extLst>
          </p:cNvPr>
          <p:cNvSpPr>
            <a:spLocks noGrp="1"/>
          </p:cNvSpPr>
          <p:nvPr/>
        </p:nvSpPr>
        <p:spPr>
          <a:xfrm>
            <a:off x="80676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4" name="diagram block">
            <a:extLst>
              <a:ext uri="{FF2B5EF4-FFF2-40B4-BE49-F238E27FC236}">
                <a16:creationId xmlns:a16="http://schemas.microsoft.com/office/drawing/2014/main" id="{F4C2C585-5F10-4DB0-8B52-EB8B585950C5}"/>
              </a:ext>
            </a:extLst>
          </p:cNvPr>
          <p:cNvSpPr>
            <a:spLocks noGrp="1"/>
          </p:cNvSpPr>
          <p:nvPr/>
        </p:nvSpPr>
        <p:spPr>
          <a:xfrm>
            <a:off x="68103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5" name="diagram block">
            <a:extLst>
              <a:ext uri="{FF2B5EF4-FFF2-40B4-BE49-F238E27FC236}">
                <a16:creationId xmlns:a16="http://schemas.microsoft.com/office/drawing/2014/main" id="{4CA55D79-88B8-4DBB-A6B0-CF20CA819DB7}"/>
              </a:ext>
            </a:extLst>
          </p:cNvPr>
          <p:cNvSpPr>
            <a:spLocks noGrp="1"/>
          </p:cNvSpPr>
          <p:nvPr/>
        </p:nvSpPr>
        <p:spPr>
          <a:xfrm>
            <a:off x="70199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6" name="diagram block">
            <a:extLst>
              <a:ext uri="{FF2B5EF4-FFF2-40B4-BE49-F238E27FC236}">
                <a16:creationId xmlns:a16="http://schemas.microsoft.com/office/drawing/2014/main" id="{741C30CF-C434-4365-A758-91DECFCE8BDA}"/>
              </a:ext>
            </a:extLst>
          </p:cNvPr>
          <p:cNvSpPr>
            <a:spLocks noGrp="1"/>
          </p:cNvSpPr>
          <p:nvPr/>
        </p:nvSpPr>
        <p:spPr>
          <a:xfrm>
            <a:off x="72294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7" name="diagram block">
            <a:extLst>
              <a:ext uri="{FF2B5EF4-FFF2-40B4-BE49-F238E27FC236}">
                <a16:creationId xmlns:a16="http://schemas.microsoft.com/office/drawing/2014/main" id="{EC5ED8B9-F366-4CD9-8ECC-A8EF1E1A70D8}"/>
              </a:ext>
            </a:extLst>
          </p:cNvPr>
          <p:cNvSpPr>
            <a:spLocks noGrp="1"/>
          </p:cNvSpPr>
          <p:nvPr/>
        </p:nvSpPr>
        <p:spPr>
          <a:xfrm>
            <a:off x="74390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8" name="diagram block">
            <a:extLst>
              <a:ext uri="{FF2B5EF4-FFF2-40B4-BE49-F238E27FC236}">
                <a16:creationId xmlns:a16="http://schemas.microsoft.com/office/drawing/2014/main" id="{08FB166E-CE6E-4373-8768-8A1987C7E936}"/>
              </a:ext>
            </a:extLst>
          </p:cNvPr>
          <p:cNvSpPr>
            <a:spLocks noGrp="1"/>
          </p:cNvSpPr>
          <p:nvPr/>
        </p:nvSpPr>
        <p:spPr>
          <a:xfrm>
            <a:off x="76485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9" name="diagram block">
            <a:extLst>
              <a:ext uri="{FF2B5EF4-FFF2-40B4-BE49-F238E27FC236}">
                <a16:creationId xmlns:a16="http://schemas.microsoft.com/office/drawing/2014/main" id="{A9196810-43F7-4FA4-8D5B-7A3C71B854F1}"/>
              </a:ext>
            </a:extLst>
          </p:cNvPr>
          <p:cNvSpPr>
            <a:spLocks noGrp="1"/>
          </p:cNvSpPr>
          <p:nvPr/>
        </p:nvSpPr>
        <p:spPr>
          <a:xfrm>
            <a:off x="78581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0" name="diagram block">
            <a:extLst>
              <a:ext uri="{FF2B5EF4-FFF2-40B4-BE49-F238E27FC236}">
                <a16:creationId xmlns:a16="http://schemas.microsoft.com/office/drawing/2014/main" id="{B8DC177F-626C-4E0F-BB68-445F9ED1ECE9}"/>
              </a:ext>
            </a:extLst>
          </p:cNvPr>
          <p:cNvSpPr>
            <a:spLocks noGrp="1"/>
          </p:cNvSpPr>
          <p:nvPr/>
        </p:nvSpPr>
        <p:spPr>
          <a:xfrm>
            <a:off x="80676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1" name="time 2">
            <a:extLst>
              <a:ext uri="{FF2B5EF4-FFF2-40B4-BE49-F238E27FC236}">
                <a16:creationId xmlns:a16="http://schemas.microsoft.com/office/drawing/2014/main" id="{9A69B97A-B054-4E59-9B9B-0FE76E58CDF0}"/>
              </a:ext>
            </a:extLst>
          </p:cNvPr>
          <p:cNvSpPr>
            <a:spLocks noGrp="1"/>
          </p:cNvSpPr>
          <p:nvPr/>
        </p:nvSpPr>
        <p:spPr>
          <a:xfrm>
            <a:off x="6810375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cxnSp>
        <p:nvCxnSpPr>
          <p:cNvPr id="122" name="diagram connector">
            <a:extLst>
              <a:ext uri="{FF2B5EF4-FFF2-40B4-BE49-F238E27FC236}">
                <a16:creationId xmlns:a16="http://schemas.microsoft.com/office/drawing/2014/main" id="{5689DA3B-ADB1-4730-9CF1-72E9BAB6F6A6}"/>
              </a:ext>
            </a:extLst>
          </p:cNvPr>
          <p:cNvCxnSpPr/>
          <p:nvPr/>
        </p:nvCxnSpPr>
        <p:spPr>
          <a:xfrm flipH="1" flipV="1">
            <a:off x="518160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3" name="diagram connector">
            <a:extLst>
              <a:ext uri="{FF2B5EF4-FFF2-40B4-BE49-F238E27FC236}">
                <a16:creationId xmlns:a16="http://schemas.microsoft.com/office/drawing/2014/main" id="{395F88DD-A677-4FE4-A3F6-601AF1157162}"/>
              </a:ext>
            </a:extLst>
          </p:cNvPr>
          <p:cNvCxnSpPr/>
          <p:nvPr/>
        </p:nvCxnSpPr>
        <p:spPr>
          <a:xfrm flipV="1">
            <a:off x="5391150" y="252412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4" name="diagram connector">
            <a:extLst>
              <a:ext uri="{FF2B5EF4-FFF2-40B4-BE49-F238E27FC236}">
                <a16:creationId xmlns:a16="http://schemas.microsoft.com/office/drawing/2014/main" id="{54A80E8C-32C7-4B3E-9B05-F5DE6867EF63}"/>
              </a:ext>
            </a:extLst>
          </p:cNvPr>
          <p:cNvCxnSpPr/>
          <p:nvPr/>
        </p:nvCxnSpPr>
        <p:spPr>
          <a:xfrm flipV="1">
            <a:off x="539115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5" name="diagram connector">
            <a:extLst>
              <a:ext uri="{FF2B5EF4-FFF2-40B4-BE49-F238E27FC236}">
                <a16:creationId xmlns:a16="http://schemas.microsoft.com/office/drawing/2014/main" id="{23897515-ED79-465A-B82A-29352E4CA0F6}"/>
              </a:ext>
            </a:extLst>
          </p:cNvPr>
          <p:cNvCxnSpPr/>
          <p:nvPr/>
        </p:nvCxnSpPr>
        <p:spPr>
          <a:xfrm flipH="1">
            <a:off x="518160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6" name="diagram connector">
            <a:extLst>
              <a:ext uri="{FF2B5EF4-FFF2-40B4-BE49-F238E27FC236}">
                <a16:creationId xmlns:a16="http://schemas.microsoft.com/office/drawing/2014/main" id="{2E3E67F0-0CDF-464C-A75D-7F22B910C552}"/>
              </a:ext>
            </a:extLst>
          </p:cNvPr>
          <p:cNvCxnSpPr/>
          <p:nvPr/>
        </p:nvCxnSpPr>
        <p:spPr>
          <a:xfrm>
            <a:off x="539115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7" name="diagram connector">
            <a:extLst>
              <a:ext uri="{FF2B5EF4-FFF2-40B4-BE49-F238E27FC236}">
                <a16:creationId xmlns:a16="http://schemas.microsoft.com/office/drawing/2014/main" id="{C7BCF471-C94B-4166-8E68-E65722A491E2}"/>
              </a:ext>
            </a:extLst>
          </p:cNvPr>
          <p:cNvCxnSpPr/>
          <p:nvPr/>
        </p:nvCxnSpPr>
        <p:spPr>
          <a:xfrm flipH="1">
            <a:off x="518160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8" name="diagram connector">
            <a:extLst>
              <a:ext uri="{FF2B5EF4-FFF2-40B4-BE49-F238E27FC236}">
                <a16:creationId xmlns:a16="http://schemas.microsoft.com/office/drawing/2014/main" id="{C570B9B2-7FA5-4100-AD3A-9FF892620DE4}"/>
              </a:ext>
            </a:extLst>
          </p:cNvPr>
          <p:cNvCxnSpPr/>
          <p:nvPr/>
        </p:nvCxnSpPr>
        <p:spPr>
          <a:xfrm>
            <a:off x="5391150" y="273367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9" name="diagram connector">
            <a:extLst>
              <a:ext uri="{FF2B5EF4-FFF2-40B4-BE49-F238E27FC236}">
                <a16:creationId xmlns:a16="http://schemas.microsoft.com/office/drawing/2014/main" id="{1A3FDE95-71ED-4A98-8617-04EB1F771DB0}"/>
              </a:ext>
            </a:extLst>
          </p:cNvPr>
          <p:cNvCxnSpPr/>
          <p:nvPr/>
        </p:nvCxnSpPr>
        <p:spPr>
          <a:xfrm>
            <a:off x="539115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30" name="diagram connector">
            <a:extLst>
              <a:ext uri="{FF2B5EF4-FFF2-40B4-BE49-F238E27FC236}">
                <a16:creationId xmlns:a16="http://schemas.microsoft.com/office/drawing/2014/main" id="{17452E4A-2D55-4BC6-B88B-896989D91BA7}"/>
              </a:ext>
            </a:extLst>
          </p:cNvPr>
          <p:cNvCxnSpPr/>
          <p:nvPr/>
        </p:nvCxnSpPr>
        <p:spPr>
          <a:xfrm>
            <a:off x="5495925" y="2724150"/>
            <a:ext cx="2019300" cy="0"/>
          </a:xfrm>
          <a:prstGeom prst="straightConnector1">
            <a:avLst/>
          </a:prstGeom>
          <a:ln w="17145">
            <a:solidFill>
              <a:srgbClr val="B5444F"/>
            </a:solidFill>
            <a:prstDash val="dash"/>
            <a:tailEnd type="triangle" w="sm" len="sm"/>
          </a:ln>
        </p:spPr>
      </p:cxnSp>
      <p:sp>
        <p:nvSpPr>
          <p:cNvPr id="131" name="8 spatial neighbors + same-position time edge&#10;2×2 pool ">
            <a:extLst>
              <a:ext uri="{FF2B5EF4-FFF2-40B4-BE49-F238E27FC236}">
                <a16:creationId xmlns:a16="http://schemas.microsoft.com/office/drawing/2014/main" id="{C947369A-C154-4929-873D-06390C5A74F5}"/>
              </a:ext>
            </a:extLst>
          </p:cNvPr>
          <p:cNvSpPr>
            <a:spLocks noGrp="1"/>
          </p:cNvSpPr>
          <p:nvPr/>
        </p:nvSpPr>
        <p:spPr>
          <a:xfrm>
            <a:off x="4648200" y="3629025"/>
            <a:ext cx="38862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8 spatial neighbors + same-position time edge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2×2 pool per view; no cross-camera edges</a:t>
            </a:r>
          </a:p>
        </p:txBody>
      </p:sp>
      <p:sp>
        <p:nvSpPr>
          <p:cNvPr id="132" name="dᵢⱼ = mean (uᵢ − uⱼ)²    p(j|i) = softmax(−dᵢⱼ / τ)">
            <a:extLst>
              <a:ext uri="{FF2B5EF4-FFF2-40B4-BE49-F238E27FC236}">
                <a16:creationId xmlns:a16="http://schemas.microsoft.com/office/drawing/2014/main" id="{200295F8-1C56-4AEA-892D-4BB7A74825C0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dᵢⱼ = mean (uᵢ − uⱼ)²    p(j|i) = softmax(−dᵢⱼ / τ)</a:t>
            </a:r>
          </a:p>
        </p:txBody>
      </p:sp>
      <p:sp>
        <p:nvSpPr>
          <p:cNvPr id="133" name="Match teacher → student neighbor distributions with KL;">
            <a:extLst>
              <a:ext uri="{FF2B5EF4-FFF2-40B4-BE49-F238E27FC236}">
                <a16:creationId xmlns:a16="http://schemas.microsoft.com/office/drawing/2014/main" id="{6CCD2EE2-D94F-428D-8B78-17C55F5B492F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Match teacher → student neighbor distributions with KL; frozen teacher statistics and temperature.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The combined KL objective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3">
            <a:extLst>
              <a:ext uri="{FF2B5EF4-FFF2-40B4-BE49-F238E27FC236}">
                <a16:creationId xmlns:a16="http://schemas.microsoft.com/office/drawing/2014/main" id="{AC833E53-C3E9-4B42-9168-EED21F0EB3B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 = α_a [ L_bin,a + β_a L_temporal,a ]">
            <a:extLst>
              <a:ext uri="{FF2B5EF4-FFF2-40B4-BE49-F238E27FC236}">
                <a16:creationId xmlns:a16="http://schemas.microsoft.com/office/drawing/2014/main" id="{28671CD8-F73C-42A0-8940-71195EE27833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 = α_a [ L_bin,a + β_a L_temporal,a ]</a:t>
            </a:r>
          </a:p>
        </p:txBody>
      </p:sp>
      <p:sp>
        <p:nvSpPr>
          <p:cNvPr id="6" name="     + λ α_z [ L_bin,z + β_z L_spatiotemporal,z ]">
            <a:extLst>
              <a:ext uri="{FF2B5EF4-FFF2-40B4-BE49-F238E27FC236}">
                <a16:creationId xmlns:a16="http://schemas.microsoft.com/office/drawing/2014/main" id="{9A9F28DE-5313-4C6A-9B6C-5E0D29156A59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     + λ α_z [ L_bin,z + β_z L_spatiotemporal,z ]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2138694-B2C3-4F50-B9E1-78B0778AFD59}"/>
              </a:ext>
            </a:extLst>
          </p:cNvPr>
          <p:cNvGraphicFramePr/>
          <p:nvPr/>
        </p:nvGraphicFramePr>
        <p:xfrm>
          <a:off x="609600" y="2266950"/>
          <a:ext cx="7924800" cy="17621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 / calibration rule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α_a, α_z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Initial C80 MSE / soft-bin KL; NMSE / soft-bin KL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λ = ρc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Original action–latent balance; ρ=1.5, λ≈0.04245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τ_a, τ_z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Median positive C80 teacher neighbor distance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β_a, β_z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0.25 × soft-bin KL / relation KL under fixed teacher noise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nly student D and clipping ratios are updated.&#10;All sta">
            <a:extLst>
              <a:ext uri="{FF2B5EF4-FFF2-40B4-BE49-F238E27FC236}">
                <a16:creationId xmlns:a16="http://schemas.microsoft.com/office/drawing/2014/main" id="{F636B259-D916-4F1A-BB13-FA6F14FE3602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Only student D and clipping ratios are updated.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All statistics and weights are frozen before training; teacher is detached.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KL refinement: current evidence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4">
            <a:extLst>
              <a:ext uri="{FF2B5EF4-FFF2-40B4-BE49-F238E27FC236}">
                <a16:creationId xmlns:a16="http://schemas.microsoft.com/office/drawing/2014/main" id="{CFEC2950-EA3F-4C2A-B4BC-003C01097588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Same held-out 40 cases × 2 seeds · fixed final80 checkp">
            <a:extLst>
              <a:ext uri="{FF2B5EF4-FFF2-40B4-BE49-F238E27FC236}">
                <a16:creationId xmlns:a16="http://schemas.microsoft.com/office/drawing/2014/main" id="{0821A2BB-E283-4417-9DF1-63F812B313C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Same held-out 40 cases × 2 seeds · fixed final80 checkpoints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A53C2F-7038-4A81-9837-9CF9D2CB05C0}"/>
              </a:ext>
            </a:extLst>
          </p:cNvPr>
          <p:cNvGraphicFramePr/>
          <p:nvPr/>
        </p:nvGraphicFramePr>
        <p:xfrm>
          <a:off x="609600" y="1362075"/>
          <a:ext cx="7924800" cy="17856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Refinement loss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Temporal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relation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MSE + NMSE (historical)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Soft-bin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0.032330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0.053033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0.040418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0.006397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Soft-bin + relational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0.031438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0.054296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0.034485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0.006147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dding relations: temporal KL −14.68%, latent relation ">
            <a:extLst>
              <a:ext uri="{FF2B5EF4-FFF2-40B4-BE49-F238E27FC236}">
                <a16:creationId xmlns:a16="http://schemas.microsoft.com/office/drawing/2014/main" id="{78A2CF9D-8CE6-44F8-B3B0-553F7C35E23D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7924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Adding relations: temporal KL −14.68%, latent relation KL −3.91%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Motor RMSE −2.76%, while latent NMSE rises 2.38% vs soft-bin</a:t>
            </a:r>
          </a:p>
        </p:txBody>
      </p:sp>
      <p:sp>
        <p:nvSpPr>
          <p:cNvPr id="8" name="Paired LIBERO+ evaluation is in progress; final success">
            <a:extLst>
              <a:ext uri="{FF2B5EF4-FFF2-40B4-BE49-F238E27FC236}">
                <a16:creationId xmlns:a16="http://schemas.microsoft.com/office/drawing/2014/main" id="{BB949A31-2612-493F-A278-2B1C7EA5FFA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7924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Paired LIBERO+ evaluation is in progress; final success rates are pending.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Potential contributions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5">
            <a:extLst>
              <a:ext uri="{FF2B5EF4-FFF2-40B4-BE49-F238E27FC236}">
                <a16:creationId xmlns:a16="http://schemas.microsoft.com/office/drawing/2014/main" id="{108EA697-04C7-4350-B015-F56168B176B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B7D68348-4934-48CE-B2AF-2048ABC5B63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dentify future-latent fidelity as a key quantization t">
            <a:extLst>
              <a:ext uri="{FF2B5EF4-FFF2-40B4-BE49-F238E27FC236}">
                <a16:creationId xmlns:a16="http://schemas.microsoft.com/office/drawing/2014/main" id="{8CF1897E-CC79-4F24-9B9B-1FCCD1C0DA33}"/>
              </a:ext>
            </a:extLst>
          </p:cNvPr>
          <p:cNvSpPr>
            <a:spLocks noGrp="1"/>
          </p:cNvSpPr>
          <p:nvPr/>
        </p:nvSpPr>
        <p:spPr>
          <a:xfrm>
            <a:off x="1219200" y="876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Identify future-latent fidelity as a key quantization target</a:t>
            </a:r>
          </a:p>
        </p:txBody>
      </p:sp>
      <p:sp>
        <p:nvSpPr>
          <p:cNvPr id="7" name="Evidence: fixed-reader interventions link latent preser">
            <a:extLst>
              <a:ext uri="{FF2B5EF4-FFF2-40B4-BE49-F238E27FC236}">
                <a16:creationId xmlns:a16="http://schemas.microsoft.com/office/drawing/2014/main" id="{6D1A471D-42D7-49C0-BB73-DCBA9A1A1E9F}"/>
              </a:ext>
            </a:extLst>
          </p:cNvPr>
          <p:cNvSpPr>
            <a:spLocks noGrp="1"/>
          </p:cNvSpPr>
          <p:nvPr/>
        </p:nvSpPr>
        <p:spPr>
          <a:xfrm>
            <a:off x="1219200" y="1228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Evidence: fixed-reader interventions link latent preservation to mean action fidelity.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9C4A07F1-9A5B-43D0-9759-BD313EC41EE2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Develop latent + action relational distillation for WAM">
            <a:extLst>
              <a:ext uri="{FF2B5EF4-FFF2-40B4-BE49-F238E27FC236}">
                <a16:creationId xmlns:a16="http://schemas.microsoft.com/office/drawing/2014/main" id="{3AFFE3DE-44BD-400D-9D57-33A31DD5902E}"/>
              </a:ext>
            </a:extLst>
          </p:cNvPr>
          <p:cNvSpPr>
            <a:spLocks noGrp="1"/>
          </p:cNvSpPr>
          <p:nvPr/>
        </p:nvSpPr>
        <p:spPr>
          <a:xfrm>
            <a:off x="1219200" y="17907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latent + action relational </a:t>
            </a:r>
            <a:r>
              <a:rPr lang="en-US"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KL</a:t>
            </a:r>
            <a:r>
              <a:rPr lang="en-US" dirty="0"/>
              <a:t> </a:t>
            </a: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distillation for WAMs</a:t>
            </a:r>
          </a:p>
        </p:txBody>
      </p:sp>
      <p:sp>
        <p:nvSpPr>
          <p:cNvPr id="10" name="Aim: preserve value and structure, and better anticipat">
            <a:extLst>
              <a:ext uri="{FF2B5EF4-FFF2-40B4-BE49-F238E27FC236}">
                <a16:creationId xmlns:a16="http://schemas.microsoft.com/office/drawing/2014/main" id="{EA5A2CFB-6725-4FF8-A0EA-49A026D8048C}"/>
              </a:ext>
            </a:extLst>
          </p:cNvPr>
          <p:cNvSpPr>
            <a:spLocks noGrp="1"/>
          </p:cNvSpPr>
          <p:nvPr/>
        </p:nvSpPr>
        <p:spPr>
          <a:xfrm>
            <a:off x="1219200" y="21431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Aim: preserve value and structure, and better anticipate rollout error.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4E883789-CFA6-428B-A362-71A780191083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Build a VQ framework with competitive performance at si">
            <a:extLst>
              <a:ext uri="{FF2B5EF4-FFF2-40B4-BE49-F238E27FC236}">
                <a16:creationId xmlns:a16="http://schemas.microsoft.com/office/drawing/2014/main" id="{88CB98DB-9DE5-4235-A5CC-05B8D4C203D9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Build a VQ framework with competitive performance at similar bpw</a:t>
            </a:r>
          </a:p>
        </p:txBody>
      </p:sp>
      <p:sp>
        <p:nvSpPr>
          <p:cNvPr id="13" name="Demonstrated on Fast-WAM and Cosmos Policy; “first” req">
            <a:extLst>
              <a:ext uri="{FF2B5EF4-FFF2-40B4-BE49-F238E27FC236}">
                <a16:creationId xmlns:a16="http://schemas.microsoft.com/office/drawing/2014/main" id="{C45C1403-C7AB-434E-911F-C7D4CA3F5BE9}"/>
              </a:ext>
            </a:extLst>
          </p:cNvPr>
          <p:cNvSpPr>
            <a:spLocks noGrp="1"/>
          </p:cNvSpPr>
          <p:nvPr/>
        </p:nvSpPr>
        <p:spPr>
          <a:xfrm>
            <a:off x="1219200" y="30575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Demonstrated on Fast-WAM and Cosmos Policy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expand to </a:t>
            </a:r>
            <a:r>
              <a:rPr lang="en-US" altLang="zh-CN" dirty="0" err="1"/>
              <a:t>Lingbot</a:t>
            </a:r>
            <a:r>
              <a:rPr lang="en-US" altLang="zh-CN" dirty="0"/>
              <a:t> VA</a:t>
            </a:r>
            <a:endParaRPr sz="1500" b="0" dirty="0">
              <a:solidFill>
                <a:srgbClr val="6471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04">
            <a:extLst>
              <a:ext uri="{FF2B5EF4-FFF2-40B4-BE49-F238E27FC236}">
                <a16:creationId xmlns:a16="http://schemas.microsoft.com/office/drawing/2014/main" id="{8C85AD22-7EDA-40D0-B472-0C412634856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Deliver native kernel acceleration for the VQ framework">
            <a:extLst>
              <a:ext uri="{FF2B5EF4-FFF2-40B4-BE49-F238E27FC236}">
                <a16:creationId xmlns:a16="http://schemas.microsoft.com/office/drawing/2014/main" id="{8EC93EB3-D5B4-4A5B-8CC2-FD7799875B5C}"/>
              </a:ext>
            </a:extLst>
          </p:cNvPr>
          <p:cNvSpPr>
            <a:spLocks noGrp="1"/>
          </p:cNvSpPr>
          <p:nvPr/>
        </p:nvSpPr>
        <p:spPr>
          <a:xfrm>
            <a:off x="1219200" y="36195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Deliver native kernel acceleration for the VQ framework</a:t>
            </a:r>
          </a:p>
        </p:txBody>
      </p:sp>
      <p:sp>
        <p:nvSpPr>
          <p:cNvPr id="16" name="Planned contribution · not implemented yet; no native s">
            <a:extLst>
              <a:ext uri="{FF2B5EF4-FFF2-40B4-BE49-F238E27FC236}">
                <a16:creationId xmlns:a16="http://schemas.microsoft.com/office/drawing/2014/main" id="{27B3DB6B-892C-40B4-A6EB-38A68FB6B20A}"/>
              </a:ext>
            </a:extLst>
          </p:cNvPr>
          <p:cNvSpPr>
            <a:spLocks noGrp="1"/>
          </p:cNvSpPr>
          <p:nvPr/>
        </p:nvSpPr>
        <p:spPr>
          <a:xfrm>
            <a:off x="1219200" y="39719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not implemented yet; 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6">
            <a:extLst>
              <a:ext uri="{FF2B5EF4-FFF2-40B4-BE49-F238E27FC236}">
                <a16:creationId xmlns:a16="http://schemas.microsoft.com/office/drawing/2014/main" id="{CEF0AC16-EF2A-415B-A3E5-8F6732FA1B7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305A9A48-284B-4983-9357-09DB5B76AC7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fine KL against closed-loop outcomes">
            <a:extLst>
              <a:ext uri="{FF2B5EF4-FFF2-40B4-BE49-F238E27FC236}">
                <a16:creationId xmlns:a16="http://schemas.microsoft.com/office/drawing/2014/main" id="{AEAF0434-A82E-4960-B4C0-5509583ED783}"/>
              </a:ext>
            </a:extLst>
          </p:cNvPr>
          <p:cNvSpPr>
            <a:spLocks noGrp="1"/>
          </p:cNvSpPr>
          <p:nvPr/>
        </p:nvSpPr>
        <p:spPr>
          <a:xfrm>
            <a:off x="1219200" y="81915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Refine KL against closed-loop outcomes</a:t>
            </a:r>
          </a:p>
        </p:txBody>
      </p:sp>
      <p:sp>
        <p:nvSpPr>
          <p:cNvPr id="7" name="Finish the paired run; inspect failure traces and impro">
            <a:extLst>
              <a:ext uri="{FF2B5EF4-FFF2-40B4-BE49-F238E27FC236}">
                <a16:creationId xmlns:a16="http://schemas.microsoft.com/office/drawing/2014/main" id="{8DD053D8-9C33-4327-B94A-C845097B47EE}"/>
              </a:ext>
            </a:extLst>
          </p:cNvPr>
          <p:cNvSpPr>
            <a:spLocks noGrp="1"/>
          </p:cNvSpPr>
          <p:nvPr/>
        </p:nvSpPr>
        <p:spPr>
          <a:xfrm>
            <a:off x="1219200" y="117157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inspect failure traces and improve loss balance.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593C0B44-80C2-45DC-A90A-BE905D1DADFC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n controlled ablations">
            <a:extLst>
              <a:ext uri="{FF2B5EF4-FFF2-40B4-BE49-F238E27FC236}">
                <a16:creationId xmlns:a16="http://schemas.microsoft.com/office/drawing/2014/main" id="{BE4F7C39-5091-47CC-BF67-E7222212992B}"/>
              </a:ext>
            </a:extLst>
          </p:cNvPr>
          <p:cNvSpPr>
            <a:spLocks noGrp="1"/>
          </p:cNvSpPr>
          <p:nvPr/>
        </p:nvSpPr>
        <p:spPr>
          <a:xfrm>
            <a:off x="1219200" y="160972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Run controlled ablations</a:t>
            </a:r>
          </a:p>
        </p:txBody>
      </p:sp>
      <p:sp>
        <p:nvSpPr>
          <p:cNvPr id="10" name="Soft-bin / temporal / spatial terms; action–latent bala">
            <a:extLst>
              <a:ext uri="{FF2B5EF4-FFF2-40B4-BE49-F238E27FC236}">
                <a16:creationId xmlns:a16="http://schemas.microsoft.com/office/drawing/2014/main" id="{17698A78-DC30-40E2-8305-7E85CB95C311}"/>
              </a:ext>
            </a:extLst>
          </p:cNvPr>
          <p:cNvSpPr>
            <a:spLocks noGrp="1"/>
          </p:cNvSpPr>
          <p:nvPr/>
        </p:nvSpPr>
        <p:spPr>
          <a:xfrm>
            <a:off x="1219200" y="196215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Soft-bin / temporal / spatial terms; action–latent balance; 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per channel/direct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clipping.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F6A145ED-F72E-4811-8B19-7B384A39191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xpand models and benchmarks">
            <a:extLst>
              <a:ext uri="{FF2B5EF4-FFF2-40B4-BE49-F238E27FC236}">
                <a16:creationId xmlns:a16="http://schemas.microsoft.com/office/drawing/2014/main" id="{A6D15AE7-E171-4E42-929E-F7A01F3B78E5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Expand models and benchmarks</a:t>
            </a:r>
          </a:p>
        </p:txBody>
      </p:sp>
      <p:sp>
        <p:nvSpPr>
          <p:cNvPr id="13" name="Cosmos Policy on LIBERO / LIBERO+; LingBot-VA2 on RoboT">
            <a:extLst>
              <a:ext uri="{FF2B5EF4-FFF2-40B4-BE49-F238E27FC236}">
                <a16:creationId xmlns:a16="http://schemas.microsoft.com/office/drawing/2014/main" id="{9CFD0449-E907-4C35-A204-FCEAADDAE1DA}"/>
              </a:ext>
            </a:extLst>
          </p:cNvPr>
          <p:cNvSpPr>
            <a:spLocks noGrp="1"/>
          </p:cNvSpPr>
          <p:nvPr/>
        </p:nvSpPr>
        <p:spPr>
          <a:xfrm>
            <a:off x="1219200" y="2752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FastWAM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/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Cosmos Policy on LIBERO / LIBERO+; LingBot-VA2 on </a:t>
            </a:r>
            <a:r>
              <a:rPr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RoboTwin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2.0.</a:t>
            </a:r>
          </a:p>
        </p:txBody>
      </p:sp>
      <p:sp>
        <p:nvSpPr>
          <p:cNvPr id="14" name="04">
            <a:extLst>
              <a:ext uri="{FF2B5EF4-FFF2-40B4-BE49-F238E27FC236}">
                <a16:creationId xmlns:a16="http://schemas.microsoft.com/office/drawing/2014/main" id="{9D4437E9-FB78-4690-8601-DB7B0E1C793C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Validate on a real robot and implement native accelerat">
            <a:extLst>
              <a:ext uri="{FF2B5EF4-FFF2-40B4-BE49-F238E27FC236}">
                <a16:creationId xmlns:a16="http://schemas.microsoft.com/office/drawing/2014/main" id="{C6F0A0FD-D623-48A0-AAAE-EB969088F305}"/>
              </a:ext>
            </a:extLst>
          </p:cNvPr>
          <p:cNvSpPr>
            <a:spLocks noGrp="1"/>
          </p:cNvSpPr>
          <p:nvPr/>
        </p:nvSpPr>
        <p:spPr>
          <a:xfrm>
            <a:off x="1219200" y="319087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Validate on a real robot and implement native acceleration</a:t>
            </a:r>
          </a:p>
        </p:txBody>
      </p:sp>
      <p:sp>
        <p:nvSpPr>
          <p:cNvPr id="16" name="Measure task success and end-to-end latency; establish ">
            <a:extLst>
              <a:ext uri="{FF2B5EF4-FFF2-40B4-BE49-F238E27FC236}">
                <a16:creationId xmlns:a16="http://schemas.microsoft.com/office/drawing/2014/main" id="{EBF3E6B8-2144-4665-9A32-83C70BBE2CC7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Measure task success and end-to-end latency; establish the actual deployment gain.</a:t>
            </a:r>
          </a:p>
        </p:txBody>
      </p:sp>
      <p:sp>
        <p:nvSpPr>
          <p:cNvPr id="17" name="Hope to catch CVPR :)">
            <a:extLst>
              <a:ext uri="{FF2B5EF4-FFF2-40B4-BE49-F238E27FC236}">
                <a16:creationId xmlns:a16="http://schemas.microsoft.com/office/drawing/2014/main" id="{2CF3078A-33AE-451A-984C-806ADE990C82}"/>
              </a:ext>
            </a:extLst>
          </p:cNvPr>
          <p:cNvSpPr>
            <a:spLocks noGrp="1"/>
          </p:cNvSpPr>
          <p:nvPr/>
        </p:nvSpPr>
        <p:spPr>
          <a:xfrm>
            <a:off x="1219200" y="4333875"/>
            <a:ext cx="7315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Hope to catch CVPR :)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0" y="2219325"/>
            <a:ext cx="5905500" cy="952500"/>
          </a:xfrm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Thankuuu</a:t>
            </a:r>
            <a:endParaRPr sz="3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protocol and bit-budget scope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8">
            <a:extLst>
              <a:ext uri="{FF2B5EF4-FFF2-40B4-BE49-F238E27FC236}">
                <a16:creationId xmlns:a16="http://schemas.microsoft.com/office/drawing/2014/main" id="{E553F4E8-1507-45A2-91E3-975BB0F26FC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56A2AC1-8433-49C8-818C-C40D39F5ECE0}"/>
              </a:ext>
            </a:extLst>
          </p:cNvPr>
          <p:cNvGraphicFramePr/>
          <p:nvPr/>
        </p:nvGraphicFramePr>
        <p:xfrm>
          <a:off x="609600" y="981075"/>
          <a:ext cx="7924800" cy="274510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Closed-loop cohort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 × 7 × 10 = 280 variants / arm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280-variant protocol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Sampler / chunk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steps; execute 10/32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 denoising steps; execute 16/16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614 Linear layers; 6.016B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280 Linear layers; 1.762B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encoding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d4, 2 × K256 BF16 books, B32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encoding family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Equivalent bpw = encoded payload bytes × 8 / target wei">
            <a:extLst>
              <a:ext uri="{FF2B5EF4-FFF2-40B4-BE49-F238E27FC236}">
                <a16:creationId xmlns:a16="http://schemas.microsoft.com/office/drawing/2014/main" id="{7F5AD04A-3985-40A7-BDCE-DCC19722861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Equivalent bpw = encoded payload bytes × 8 / target weight count</a:t>
            </a:r>
          </a:p>
        </p:txBody>
      </p:sp>
      <p:sp>
        <p:nvSpPr>
          <p:cNvPr id="7" name="Includes quantizer metadata where measured; excludes ac">
            <a:extLst>
              <a:ext uri="{FF2B5EF4-FFF2-40B4-BE49-F238E27FC236}">
                <a16:creationId xmlns:a16="http://schemas.microsoft.com/office/drawing/2014/main" id="{7A315053-C4DB-414E-A876-4BFE2F0F7746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Includes quantizer metadata where measured; excludes activations, KV and non-target model weights.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Encoded bpw is not runtime VRAM. Fast-WAM rotation baselines use a different native S4 path.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C80 activation refinements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9">
            <a:extLst>
              <a:ext uri="{FF2B5EF4-FFF2-40B4-BE49-F238E27FC236}">
                <a16:creationId xmlns:a16="http://schemas.microsoft.com/office/drawing/2014/main" id="{9E32FC7B-5329-4C38-A479-C5A9E8CFA84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BAB3D8E-ED38-4824-8CC3-8F3BDA0833BA}"/>
              </a:ext>
            </a:extLst>
          </p:cNvPr>
          <p:cNvGraphicFramePr/>
          <p:nvPr/>
        </p:nvGraphicFramePr>
        <p:xfrm>
          <a:off x="609600" y="1057275"/>
          <a:ext cx="7924800" cy="2938056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Closed-loop successes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ρ1.5 baseline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0.044297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0.060877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scaling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0.043987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0.054152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per-channel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0.032668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0.048842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Per-channel scaling substantially improves motor fideli">
            <a:extLst>
              <a:ext uri="{FF2B5EF4-FFF2-40B4-BE49-F238E27FC236}">
                <a16:creationId xmlns:a16="http://schemas.microsoft.com/office/drawing/2014/main" id="{949242AC-9C0F-45DA-A7B8-503F8BD1F1FF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7924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Per-channel scaling substantially improves motor fidelity.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Joint optimization and latent fidelity trade-offs still need closed-loop explanation.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execution cost and kernel work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0">
            <a:extLst>
              <a:ext uri="{FF2B5EF4-FFF2-40B4-BE49-F238E27FC236}">
                <a16:creationId xmlns:a16="http://schemas.microsoft.com/office/drawing/2014/main" id="{D78FFEF0-8EA2-44EA-9A54-A1E7A532DEA9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1F7C194-B000-43D1-91D5-790E40445C6C}"/>
              </a:ext>
            </a:extLst>
          </p:cNvPr>
          <p:cNvGraphicFramePr/>
          <p:nvPr/>
        </p:nvGraphicFramePr>
        <p:xfrm>
          <a:off x="609600" y="1066800"/>
          <a:ext cx="7924800" cy="22098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/ implementation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Warm full-query mean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C80 clip / joint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4.99 s / 4.96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 + batched H128 + fake A4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4.91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Cached BF16 compensated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Cosmos BF16 / SpinQuant /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0.594 / 1.057 / 10.042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path still uses block-wise H128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Native VQ speedup is not implemented">
            <a:extLst>
              <a:ext uri="{FF2B5EF4-FFF2-40B4-BE49-F238E27FC236}">
                <a16:creationId xmlns:a16="http://schemas.microsoft.com/office/drawing/2014/main" id="{403AED75-D17F-42AA-8F0A-CC2F339B5213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Native VQ speedup is not implemented</a:t>
            </a:r>
          </a:p>
        </p:txBody>
      </p:sp>
      <p:sp>
        <p:nvSpPr>
          <p:cNvPr id="7" name="Profile transform / decoding costs and connect batched ">
            <a:extLst>
              <a:ext uri="{FF2B5EF4-FFF2-40B4-BE49-F238E27FC236}">
                <a16:creationId xmlns:a16="http://schemas.microsoft.com/office/drawing/2014/main" id="{FC369603-515C-4EDD-8B0A-EE6196FD0747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Profile transform / decoding costs and connect batched transforms.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the native VQ path; measure end-to-end latency and memory.</a:t>
            </a:r>
          </a:p>
        </p:txBody>
      </p:sp>
      <p:sp>
        <p:nvSpPr>
          <p:cNvPr id="8" name="Different rollout trajectories yield different query co">
            <a:extLst>
              <a:ext uri="{FF2B5EF4-FFF2-40B4-BE49-F238E27FC236}">
                <a16:creationId xmlns:a16="http://schemas.microsoft.com/office/drawing/2014/main" id="{A12EA68A-7AA4-4409-8B89-FFB019343171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Different rollout trajectories yield different query counts; these means are not paired latency benchmarks.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ImageGen method design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1">
            <a:extLst>
              <a:ext uri="{FF2B5EF4-FFF2-40B4-BE49-F238E27FC236}">
                <a16:creationId xmlns:a16="http://schemas.microsoft.com/office/drawing/2014/main" id="{47D8878E-FE92-4FF6-827D-FC049027EACB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DC4861-93A8-4DBB-88CC-23FA11EFE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4830" y="742950"/>
            <a:ext cx="6634340" cy="3733800"/>
          </a:xfrm>
          <a:prstGeom prst="rect">
            <a:avLst/>
          </a:prstGeom>
        </p:spPr>
      </p:pic>
      <p:sp>
        <p:nvSpPr>
          <p:cNvPr id="6" name="Generated design reference; the method on slides 2–4 is">
            <a:extLst>
              <a:ext uri="{FF2B5EF4-FFF2-40B4-BE49-F238E27FC236}">
                <a16:creationId xmlns:a16="http://schemas.microsoft.com/office/drawing/2014/main" id="{AD4ED069-00EC-4C77-8CC3-984DF7FCEB3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Generated design reference; the method on slides 2–4 is rebuilt as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ImageGen loss design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2">
            <a:extLst>
              <a:ext uri="{FF2B5EF4-FFF2-40B4-BE49-F238E27FC236}">
                <a16:creationId xmlns:a16="http://schemas.microsoft.com/office/drawing/2014/main" id="{29253F7E-5BEC-46C8-AE00-7BE1B2CD156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67D484-71AC-4F2F-BA06-CC3DFC418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4830" y="742950"/>
            <a:ext cx="6634340" cy="3733800"/>
          </a:xfrm>
          <a:prstGeom prst="rect">
            <a:avLst/>
          </a:prstGeom>
        </p:spPr>
      </p:pic>
      <p:sp>
        <p:nvSpPr>
          <p:cNvPr id="6" name="Generated design reference; editable loss definitions a">
            <a:extLst>
              <a:ext uri="{FF2B5EF4-FFF2-40B4-BE49-F238E27FC236}">
                <a16:creationId xmlns:a16="http://schemas.microsoft.com/office/drawing/2014/main" id="{F57EA025-168B-4D46-9CD7-36E66674BA58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Generated design reference; editable loss definitions and diagrams are on slides 11–13.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4613</Words>
  <Application>Microsoft Office PowerPoint</Application>
  <DocSecurity>0</DocSecurity>
  <PresentationFormat>全屏显示(16:9)</PresentationFormat>
  <Paragraphs>557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Latent + Action-Aware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Thankuuu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#GUO YICHEN#</cp:lastModifiedBy>
  <cp:revision>4</cp:revision>
  <dcterms:created xsi:type="dcterms:W3CDTF">2026-10-20T12:58:15Z</dcterms:created>
  <dcterms:modified xsi:type="dcterms:W3CDTF">2026-10-20T13:23:27Z</dcterms:modified>
</cp:coreProperties>
</file>