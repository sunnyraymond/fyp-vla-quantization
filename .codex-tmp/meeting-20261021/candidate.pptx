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b0287df59f4cbf" /><Relationship Type="http://schemas.openxmlformats.org/officeDocument/2006/relationships/extended-properties" Target="/docProps/app.xml" Id="R15a5d94d245a4043" /><Relationship Type="http://schemas.openxmlformats.org/officeDocument/2006/relationships/officeDocument" Target="/ppt/presentation.xml" Id="R20624e93b41941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47bbb237794787"/>
  </p:sldMasterIdLst>
  <p:notesMasterIdLst>
    <p:notesMasterId xmlns:r="http://schemas.openxmlformats.org/officeDocument/2006/relationships" r:id="Rb854d1c47b3d4181"/>
  </p:notesMasterIdLst>
  <p:sldIdLst>
    <p:sldId xmlns:r="http://schemas.openxmlformats.org/officeDocument/2006/relationships" id="256" r:id="Rc3e2d63fd1f54239"/>
    <p:sldId xmlns:r="http://schemas.openxmlformats.org/officeDocument/2006/relationships" id="257" r:id="R7b9acbd876b04818"/>
    <p:sldId xmlns:r="http://schemas.openxmlformats.org/officeDocument/2006/relationships" id="258" r:id="Rbe554f232fe44449"/>
    <p:sldId xmlns:r="http://schemas.openxmlformats.org/officeDocument/2006/relationships" id="259" r:id="R21fbe5e4329e4c42"/>
    <p:sldId xmlns:r="http://schemas.openxmlformats.org/officeDocument/2006/relationships" id="260" r:id="R4a718e31a46843c9"/>
    <p:sldId xmlns:r="http://schemas.openxmlformats.org/officeDocument/2006/relationships" id="261" r:id="R76fe97641acf46f5"/>
    <p:sldId xmlns:r="http://schemas.openxmlformats.org/officeDocument/2006/relationships" id="262" r:id="R3cc7dfc82c064e6a"/>
    <p:sldId xmlns:r="http://schemas.openxmlformats.org/officeDocument/2006/relationships" id="263" r:id="Rf3fcca53708447f9"/>
    <p:sldId xmlns:r="http://schemas.openxmlformats.org/officeDocument/2006/relationships" id="264" r:id="Re2bf0f6c372e47d0"/>
    <p:sldId xmlns:r="http://schemas.openxmlformats.org/officeDocument/2006/relationships" id="265" r:id="R85febadac82d4f31"/>
    <p:sldId xmlns:r="http://schemas.openxmlformats.org/officeDocument/2006/relationships" id="266" r:id="Rc1f18869d46e4b70"/>
    <p:sldId xmlns:r="http://schemas.openxmlformats.org/officeDocument/2006/relationships" id="267" r:id="R3b6c803cbf6c4596"/>
    <p:sldId xmlns:r="http://schemas.openxmlformats.org/officeDocument/2006/relationships" id="268" r:id="R2f9f774628874704"/>
    <p:sldId xmlns:r="http://schemas.openxmlformats.org/officeDocument/2006/relationships" id="269" r:id="Ra7e5a4d38dde4152"/>
    <p:sldId xmlns:r="http://schemas.openxmlformats.org/officeDocument/2006/relationships" id="270" r:id="R8ab1e81ac57d4291"/>
    <p:sldId xmlns:r="http://schemas.openxmlformats.org/officeDocument/2006/relationships" id="271" r:id="R9875ce8f38684a2a"/>
    <p:sldId xmlns:r="http://schemas.openxmlformats.org/officeDocument/2006/relationships" id="272" r:id="Ra9cf24758e87454e"/>
    <p:sldId xmlns:r="http://schemas.openxmlformats.org/officeDocument/2006/relationships" id="273" r:id="Rf11e74b76b01478e"/>
    <p:sldId xmlns:r="http://schemas.openxmlformats.org/officeDocument/2006/relationships" id="274" r:id="Rd237da7fd6914f68"/>
    <p:sldId xmlns:r="http://schemas.openxmlformats.org/officeDocument/2006/relationships" id="275" r:id="R59fc01760f5c4a5c"/>
    <p:sldId xmlns:r="http://schemas.openxmlformats.org/officeDocument/2006/relationships" id="276" r:id="R73c08364000940c0"/>
    <p:sldId xmlns:r="http://schemas.openxmlformats.org/officeDocument/2006/relationships" id="277" r:id="Rf782e0b852624224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7bb8f40e0e4c91" /><Relationship Type="http://schemas.openxmlformats.org/officeDocument/2006/relationships/slideMaster" Target="/ppt/slideMasters/slideMaster1.xml" Id="R4647bbb237794787" /><Relationship Type="http://schemas.openxmlformats.org/officeDocument/2006/relationships/notesMaster" Target="/ppt/notesMasters/notesMaster1.xml" Id="Rb854d1c47b3d4181" /><Relationship Type="http://schemas.openxmlformats.org/officeDocument/2006/relationships/presProps" Target="/ppt/presProps.xml" Id="R5deb44c1f82a43b3" /><Relationship Type="http://schemas.openxmlformats.org/officeDocument/2006/relationships/viewProps" Target="/ppt/viewProps.xml" Id="Re8baf8b5abf44d62" /><Relationship Type="http://schemas.openxmlformats.org/officeDocument/2006/relationships/tableStyles" Target="/ppt/tableStyles.xml" Id="R4b59e8c07a2342df" /><Relationship Type="http://schemas.openxmlformats.org/officeDocument/2006/relationships/slide" Target="/ppt/slides/slide1.xml" Id="Rc3e2d63fd1f54239" /><Relationship Type="http://schemas.openxmlformats.org/officeDocument/2006/relationships/slide" Target="/ppt/slides/slide2.xml" Id="R7b9acbd876b04818" /><Relationship Type="http://schemas.openxmlformats.org/officeDocument/2006/relationships/slide" Target="/ppt/slides/slide3.xml" Id="Rbe554f232fe44449" /><Relationship Type="http://schemas.openxmlformats.org/officeDocument/2006/relationships/slide" Target="/ppt/slides/slide4.xml" Id="R21fbe5e4329e4c42" /><Relationship Type="http://schemas.openxmlformats.org/officeDocument/2006/relationships/slide" Target="/ppt/slides/slide5.xml" Id="R4a718e31a46843c9" /><Relationship Type="http://schemas.openxmlformats.org/officeDocument/2006/relationships/slide" Target="/ppt/slides/slide6.xml" Id="R76fe97641acf46f5" /><Relationship Type="http://schemas.openxmlformats.org/officeDocument/2006/relationships/slide" Target="/ppt/slides/slide7.xml" Id="R3cc7dfc82c064e6a" /><Relationship Type="http://schemas.openxmlformats.org/officeDocument/2006/relationships/slide" Target="/ppt/slides/slide8.xml" Id="Rf3fcca53708447f9" /><Relationship Type="http://schemas.openxmlformats.org/officeDocument/2006/relationships/slide" Target="/ppt/slides/slide9.xml" Id="Re2bf0f6c372e47d0" /><Relationship Type="http://schemas.openxmlformats.org/officeDocument/2006/relationships/slide" Target="/ppt/slides/slide10.xml" Id="R85febadac82d4f31" /><Relationship Type="http://schemas.openxmlformats.org/officeDocument/2006/relationships/slide" Target="/ppt/slides/slide11.xml" Id="Rc1f18869d46e4b70" /><Relationship Type="http://schemas.openxmlformats.org/officeDocument/2006/relationships/slide" Target="/ppt/slides/slide12.xml" Id="R3b6c803cbf6c4596" /><Relationship Type="http://schemas.openxmlformats.org/officeDocument/2006/relationships/slide" Target="/ppt/slides/slide13.xml" Id="R2f9f774628874704" /><Relationship Type="http://schemas.openxmlformats.org/officeDocument/2006/relationships/slide" Target="/ppt/slides/slide14.xml" Id="Ra7e5a4d38dde4152" /><Relationship Type="http://schemas.openxmlformats.org/officeDocument/2006/relationships/slide" Target="/ppt/slides/slide15.xml" Id="R8ab1e81ac57d4291" /><Relationship Type="http://schemas.openxmlformats.org/officeDocument/2006/relationships/slide" Target="/ppt/slides/slide16.xml" Id="R9875ce8f38684a2a" /><Relationship Type="http://schemas.openxmlformats.org/officeDocument/2006/relationships/slide" Target="/ppt/slides/slide17.xml" Id="Ra9cf24758e87454e" /><Relationship Type="http://schemas.openxmlformats.org/officeDocument/2006/relationships/slide" Target="/ppt/slides/slide18.xml" Id="Rf11e74b76b01478e" /><Relationship Type="http://schemas.openxmlformats.org/officeDocument/2006/relationships/slide" Target="/ppt/slides/slide19.xml" Id="Rd237da7fd6914f68" /><Relationship Type="http://schemas.openxmlformats.org/officeDocument/2006/relationships/slide" Target="/ppt/slides/slide20.xml" Id="R59fc01760f5c4a5c" /><Relationship Type="http://schemas.openxmlformats.org/officeDocument/2006/relationships/slide" Target="/ppt/slides/slide21.xml" Id="R73c08364000940c0" /><Relationship Type="http://schemas.openxmlformats.org/officeDocument/2006/relationships/slide" Target="/ppt/slides/slide22.xml" Id="Rf782e0b8526242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3b49d0b4ff48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ecfbcac370484c" /><Relationship Type="http://schemas.openxmlformats.org/officeDocument/2006/relationships/notesMaster" Target="/ppt/notesMasters/notesMaster1.xml" Id="Rb9eab18b93ed41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e1cba73d1d4ff4" /><Relationship Type="http://schemas.openxmlformats.org/officeDocument/2006/relationships/notesMaster" Target="/ppt/notesMasters/notesMaster1.xml" Id="R97dfd33e042546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957948fe424a97" /><Relationship Type="http://schemas.openxmlformats.org/officeDocument/2006/relationships/notesMaster" Target="/ppt/notesMasters/notesMaster1.xml" Id="Ra230806bbdad42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08df68e1404a86" /><Relationship Type="http://schemas.openxmlformats.org/officeDocument/2006/relationships/notesMaster" Target="/ppt/notesMasters/notesMaster1.xml" Id="R9a970e5d519d49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9b4b5666294415" /><Relationship Type="http://schemas.openxmlformats.org/officeDocument/2006/relationships/notesMaster" Target="/ppt/notesMasters/notesMaster1.xml" Id="R613762a027644f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2783409cc54e19" /><Relationship Type="http://schemas.openxmlformats.org/officeDocument/2006/relationships/notesMaster" Target="/ppt/notesMasters/notesMaster1.xml" Id="R47a97e29ed594a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a770285cee487a" /><Relationship Type="http://schemas.openxmlformats.org/officeDocument/2006/relationships/notesMaster" Target="/ppt/notesMasters/notesMaster1.xml" Id="R93840bf4a6f940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69843a17d64cf9" /><Relationship Type="http://schemas.openxmlformats.org/officeDocument/2006/relationships/notesMaster" Target="/ppt/notesMasters/notesMaster1.xml" Id="Red24c86bfc6b4f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c1436cb91e4bbf" /><Relationship Type="http://schemas.openxmlformats.org/officeDocument/2006/relationships/notesMaster" Target="/ppt/notesMasters/notesMaster1.xml" Id="R6a8ed0ecaa854e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31115f23f843a9" /><Relationship Type="http://schemas.openxmlformats.org/officeDocument/2006/relationships/notesMaster" Target="/ppt/notesMasters/notesMaster1.xml" Id="Raa2d17d0440f43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bef0c6b19c43ad" /><Relationship Type="http://schemas.openxmlformats.org/officeDocument/2006/relationships/notesMaster" Target="/ppt/notesMasters/notesMaster1.xml" Id="R96b82f137c7d46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d07967eccb41e4" /><Relationship Type="http://schemas.openxmlformats.org/officeDocument/2006/relationships/notesMaster" Target="/ppt/notesMasters/notesMaster1.xml" Id="R65e62bbd752240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f1f19d3f2d434d" /><Relationship Type="http://schemas.openxmlformats.org/officeDocument/2006/relationships/notesMaster" Target="/ppt/notesMasters/notesMaster1.xml" Id="Ra3eebcd765324a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ccb8b43e49491c" /><Relationship Type="http://schemas.openxmlformats.org/officeDocument/2006/relationships/notesMaster" Target="/ppt/notesMasters/notesMaster1.xml" Id="R055f0fc9730d4da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c7a07d554fa422b" /><Relationship Type="http://schemas.openxmlformats.org/officeDocument/2006/relationships/notesMaster" Target="/ppt/notesMasters/notesMaster1.xml" Id="Rb5433055ab3047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fcb87b74b44a2b" /><Relationship Type="http://schemas.openxmlformats.org/officeDocument/2006/relationships/notesMaster" Target="/ppt/notesMasters/notesMaster1.xml" Id="R4fa48e349c144b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d425b74c8fe4db9" /><Relationship Type="http://schemas.openxmlformats.org/officeDocument/2006/relationships/notesMaster" Target="/ppt/notesMasters/notesMaster1.xml" Id="R86067137c75b4b8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0b08c5eb7534ed6" /><Relationship Type="http://schemas.openxmlformats.org/officeDocument/2006/relationships/notesMaster" Target="/ppt/notesMasters/notesMaster1.xml" Id="Rdc285fc5ea10453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85a315a21cb4e01" /><Relationship Type="http://schemas.openxmlformats.org/officeDocument/2006/relationships/notesMaster" Target="/ppt/notesMasters/notesMaster1.xml" Id="R11557583de7843f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135006d7891474d" /><Relationship Type="http://schemas.openxmlformats.org/officeDocument/2006/relationships/notesMaster" Target="/ppt/notesMasters/notesMaster1.xml" Id="R3f26d8a9285e430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092ac3f0ca74e36" /><Relationship Type="http://schemas.openxmlformats.org/officeDocument/2006/relationships/notesMaster" Target="/ppt/notesMasters/notesMaster1.xml" Id="R2df35a515df84d8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7aa185276634092" /><Relationship Type="http://schemas.openxmlformats.org/officeDocument/2006/relationships/notesMaster" Target="/ppt/notesMasters/notesMaster1.xml" Id="R8231ec0f74154a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本次汇报顺序：已实现方法 → 所有有代表性的本地 LIBERO+ 闭环结果 → future intervention → 旧 loss 与闭环的差距 → Soft-bin + relational KL → potential contributions 与下一步。所有闭环数据来自已完成本地报告，截止 20 October 2026。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已实现的 Fast-WAM weight quantization 框架。Teacher 和 student 共享 observations、language、proprioception、sampler seeds。Student 通过自身生成的 future 构建 video K/V；不注入 teacher future 训练。所有 614 target Linear 覆盖 video/action/proprio 等目标模块。Weight calibration 更新 codebooks 和 row gains；indices、B32 exponents 和 transforms 固定。图为结构示意，tokens 数量不代表真实 tensor 大小。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D:/Downloads/Final Year Project/experiment/idea-validation/fastwam-vq-c8-action-latent-plus/README.zh.md</a:t>
            </a:r>
          </a:p>
          <a:p xmlns:a="http://schemas.openxmlformats.org/drawingml/2006/main">
            <a:r>
              <a:t>D:/Downloads/Final Year Project/experiment/idea-validation/fastwam-vq-action-latent/README.zh.md</a:t>
            </a:r>
          </a:p>
          <a:p xmlns:a="http://schemas.openxmlformats.org/drawingml/2006/main">
            <a:r>
              <a:t>D:/Downloads/Final Year Project/Weekly Slides/2026-10-21_assets/method-imagegen-reference.png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每一 target Linear 共享两个 K=256,d=4 BF16 codebooks。每四个 scalar weight 使用两条 uint8 indices，core cost 为 16/4=4 bpw。每 output row 保留 BF16 RMS row gain r；沿 input dimension 每 32 个 weights 用一个 uint8 exponent，贡献 8/32=0.25 bpw。e_g=round(log2(block_RMS/r_row))，拟合中固定。有效预算含 codebooks、gains、tails 和 transforms，Fast-WAM row-scale≈4.020873，microscaling≈4.270878。Weight calibration 用 FP32 masters/STE 调整 BF16-stored books 与 row gains。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D:/Downloads/Final Year Project/experiment/idea-validation/fastwam-vq-microscale/README.zh.md</a:t>
            </a:r>
          </a:p>
          <a:p xmlns:a="http://schemas.openxmlformats.org/drawingml/2006/main">
            <a:r>
              <a:t>D:/Downloads/Final Year Project/experiment/idea-validation/fastwam-vq-microscale/RESULTS.zh.md</a:t>
            </a:r>
          </a:p>
          <a:p xmlns:a="http://schemas.openxmlformats.org/drawingml/2006/main">
            <a:r>
              <a:t>D:/Downloads/Final Year Project/experiment/idea-validation/fastwam-vq-c8-action-latent-plus/README.zh.md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per-input-channel scaling + per-Linear activation clipping，不是每 channel 一个 clipping threshold。D=2^log2_D 为每个 physical input channel 一个正的 continuous scale；r_l 为每 Linear 一个 ratio，跨 token/denoising steps 共享。先对 input 施加已冻结 Smooth0.5/H128，然后 v=z/D；每 token s=r_l max|v|/7，signed A4 q=clamp(round(v/s),-7,7)。decoded BF16 Wq 乘相同 D 后以 BF16 缓存。忽略 rounding 时 compensating Linear 恒等；已 quantized 情况下改变 error。C80 refinement 从 C8 rho1.5 开始，80 updates，只训 D/r_l，VQ 参数冻结。使用 coupled dynamic-absmax surrogate 和 STE。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D:/Downloads/Final Year Project/experiment/idea-validation/fastwam-vq-per-channel-scaling-clipping/channel_banks.py</a:t>
            </a:r>
          </a:p>
          <a:p xmlns:a="http://schemas.openxmlformats.org/drawingml/2006/main">
            <a:r>
              <a:t>D:/Downloads/Final Year Project/experiment/idea-validation/fastwam-vq-c80-per-channel-plus/README.zh.md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 rows 都来自本地完成的 frozen 280-variant cohort，不是 paper-reported numbers。每 suite 分母 70。QuaRot/SpinQuant 是针对 Fast-WAM 的本地 adaptation，不等同官方完整 recipe。Scalar 与 rotation baselines 实际采用 native packed S4 path，而 VQ 是 decode BF16；本表只比较 closed-loop success 与编码预算，不比较 latency。不同 arm calibration 覆盖和目标不同，不是单因素消融。Rotation bpw 的4.125是4bit code+BF16 scale/128 的估算，未把 rotations/tails 算入，因此加 dagger，避免误报为实测全 overhead payload。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D:/Downloads/Final Year Project/experiment/idea-validation/fastwam-vq-plus/results/RESULTS.zh.md</a:t>
            </a:r>
          </a:p>
          <a:p xmlns:a="http://schemas.openxmlformats.org/drawingml/2006/main">
            <a:r>
              <a:t>D:/Downloads/Final Year Project/experiment/idea-validation/fastwam-rotation-baselines/protocol.json</a:t>
            </a:r>
          </a:p>
          <a:p xmlns:a="http://schemas.openxmlformats.org/drawingml/2006/main">
            <a:r>
              <a:t>D:/Downloads/Final Year Project/experiment/idea-validation/fastwam-smooth-scalar-plus/source_receipts/receipt.json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 frozen 280-episode cohort 的全部后续完成配置。C8表示weight calibration contexts；C80表示 activation-refinement contexts，不是 rollout 数。ρ0.1 完整2epochs/16updates，ρ1.5为1epoch/8updates；这是各自冻结配置，不是matched training budget消融。C80 clip-only207，joint202，per-channel203；joint per-channel虽有fixed-input结果尚未发现完成闭环，不能加入completed表。该cohort未有独立seed重复，不应对1—5个success小差异宣称稳定统计优势。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D:/Downloads/Final Year Project/experiment/idea-validation/fastwam-vq-c8-action-latent-plus/results/RESULTS.zh.md</a:t>
            </a:r>
          </a:p>
          <a:p xmlns:a="http://schemas.openxmlformats.org/drawingml/2006/main">
            <a:r>
              <a:t>D:/Downloads/Final Year Project/experiment/idea-validation/fastwam-vq-c80-clip-joint-plus/RESULTS.zh.md</a:t>
            </a:r>
          </a:p>
          <a:p xmlns:a="http://schemas.openxmlformats.org/drawingml/2006/main">
            <a:r>
              <a:t>D:/Downloads/Final Year Project/experiment/idea-validation/fastwam-vq-c80-per-channel-plus/RESULTS.zh.md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Cosmos-Predict2-2B direct policy，planning disabled。三臂840episodes全部完成，每臂280。5denoising steps、16action chunk并执行16steps；与Fast-WAM10/10和执行10steps不同，不能跨model数值比较来归因量化方法。C8共享observations但teacher由Cosmos自身产生。VQ学习codebooks/rowgains，目标为16×6motor MSE+future-image slots6/7 NMSE。SpinQuant200updates，VQ16updates且objectives不同，因此不是action/latent loss贡献的单因素消融。有效bpw均含编码开销；whole DiT bpw另计未量化参数。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D:/Downloads/Final Year Project/experiment/idea-validation/cosmos-policy-c8-w4a4/RESULTS.zh.md</a:t>
            </a:r>
          </a:p>
          <a:p xmlns:a="http://schemas.openxmlformats.org/drawingml/2006/main">
            <a:r>
              <a:t>D:/Downloads/Final Year Project/experiment/idea-validation/cosmos-policy-c8-w4a4/retrieved/results/evaluation/summary.json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干预冻结 downstream BF16 reader，包括 video prepare/prefill、action DiT/proprio 等，注入不同 donor 的 final future，重新构建 K/V。完整60contexts包括8cal、4selection×2seed、22test×2seed；表格是22test cases先平均2seeds的case mean。BF16 donor自重放误差0，Parent=0.036144691，Action-only=.041243219，Action+latent=.035083670。13/22first10改善，full32/late22各14/22。是已见cohort的fixed-input intervention，0 executed episodes，不是真实future accuracy或新泛化证据。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D:/Downloads/Final Year Project/experiment/idea-validation/fastwam-vq-future-reader/retrieved/results/analysis_teacher/REPORT.zh.md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左表来自2×2cross-reader intervention，reader固定action-only或action+latent时替换future donor。这里reader不再是BF16。Action-only reader mean .058110442→.053481176，action+latent reader .058676505→.052951009。分别10/22、12/22cases改善，平均收益不等于每case收益。右表是另一个fixedBF16reader NMSE-matched control：C=T+alpha(A−T)，经有界BF16correction逐context匹配B的NMSE，alpha不使用action选值。B−C mean−.00099049但median+.000042169，11/22改善，leave-one-out可变正，full32/late22比C差。原均值收益约84%由总future误差幅度降低重现。不能宣称已确认特定semantic/spatial有害drift。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D:/Downloads/Final Year Project/experiment/idea-validation/fastwam-vq-future-reader/retrieved/results/analysis_cross/REPORT.zh.md</a:t>
            </a:r>
          </a:p>
          <a:p xmlns:a="http://schemas.openxmlformats.org/drawingml/2006/main">
            <a:r>
              <a:t>D:/Downloads/Final Year Project/experiment/idea-validation/fastwam-vq-future-nmse-matched/RESULTS.zh.md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原训练loss是first10motor MSE+rho*c*futureNMSE，c=0.028303017887797623，rho1.5，lambda=.04245452683169643。RMSE仅用来报告，优化的是MSE。c依据初始化calibrationmean冻结，rho不是gradient ratio。Fixedinput来自40heldoutcases×2seeds，四suite等权。C80clip .0438484373/.0548481241，joint .0418468372/.0489733362，perchannel .031641466/.055377875；对应闭环207/202/203。Heldout metric和closedloop是不同测量而且访问状态分布不同。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D:/Downloads/Final Year Project/experiment/idea-validation/fastwam-vq-per-channel-scaling-clipping/results/RESULTS.zh.md</a:t>
            </a:r>
          </a:p>
          <a:p xmlns:a="http://schemas.openxmlformats.org/drawingml/2006/main">
            <a:r>
              <a:t>D:/Downloads/Final Year Project/experiment/idea-validation/fastwam-vq-c80-clip-joint-plus/RESULTS.zh.md</a:t>
            </a:r>
          </a:p>
          <a:p xmlns:a="http://schemas.openxmlformats.org/drawingml/2006/main">
            <a:r>
              <a:t>D:/Downloads/Final Year Project/experiment/idea-validation/fastwam-vq-c80-per-channel-plus/RESULTS.zh.md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真实实现softbin_loss.py以Gaussian CDFdifference而不是centroidsoftmax生成每scalar16bin分布。z=(x−mu_c)/max(std_c,.02)，mu/std仅完整C80teacher计算并冻结。15interioredges[-3.5,3.5]等间距，sigma=.375，两个无限tail。每一对应scalar位置算KL(teacher||student)再平均，不是整条actiontrajectory先pool成histogram。Teacher detached。alpha_a=.01230247928,alpha_z=.31297895225，初始C80 MSE/KL和NMSE/KL配平，保留原rho*c。只训D/r_l，80updates，固定final80；books/gains/indices/exponents不变。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D:/Downloads/Final Year Project/experiment/idea-validation/fastwam-vq-dual-kl/softbin_loss.py</a:t>
            </a:r>
          </a:p>
          <a:p xmlns:a="http://schemas.openxmlformats.org/drawingml/2006/main">
            <a:r>
              <a:t>D:/Downloads/Final Year Project/experiment/idea-validation/fastwam-vq-dual-kl/results/prepare/loss_scaling.json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关系代码用每feature mean-squared pairwise distance，不是Gram matrix。Action标准化first10×6，经length3stride1 orderedwindows得到8×18tokens，全部非selfwindows相邻。Latentshape[1,48,3,14,28]去frame0，按widthsplit两camera各14×14，各自2×2avgpool到7×7，2times×2views×49=196token×48features。邻边是samecamera,sametime的8neighbors以及sameposition跨time。Boundary spatial节点少于8邻居。无跨cameraedge，无action-latent强制时间插值。Teacher概率detach，tau依据C80teacherpositiveedgedistancemedian冻结。Softbin检测关系对整体translation/signflip等的盲区。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D:/Downloads/Final Year Project/experiment/idea-validation/fastwam-vq-relational-kl/relational_loss.py</a:t>
            </a:r>
          </a:p>
          <a:p xmlns:a="http://schemas.openxmlformats.org/drawingml/2006/main">
            <a:r>
              <a:t>D:/Downloads/Final Year Project/experiment/idea-validation/fastwam-vq-relational-kl/README.zh.md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=alpha_a*(action_KL+beta_a*action_temporal_KL)+rho*c*alpha_z*(latent_KL+beta_z*latent_spatiotemporal_KL)。Teacheronlycalibrationfitting：alpha用C80initMSE/KL与NMSE/KL；tau_a=.05844502896,tau_z=.42243281007；beta_a=.61968510916,beta_z=27.14823378066，通过预设standardizednoise std .1的0.25relativeweight配平。0.25并不意味着真实modelerror或gradient中占25%。D/r_l独立从C8rho1.5checkpoint初始化，各80updates，未用heldoutselectfinal80。Distance关系本身有translation/signflip/部分timereversal盲区，softbin绝对anchor补足，不能声称所有结构错误可识别。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D:/Downloads/Final Year Project/experiment/idea-validation/fastwam-vq-relational-kl/results/prepare/summary.json</a:t>
            </a:r>
          </a:p>
          <a:p xmlns:a="http://schemas.openxmlformats.org/drawingml/2006/main">
            <a:r>
              <a:t>D:/Downloads/Final Year Project/experiment/idea-validation/fastwam-vq-relational-kl/protocol.json</a:t>
            </a:r>
          </a:p>
          <a:p xmlns:a="http://schemas.openxmlformats.org/drawingml/2006/main">
            <a:r>
              <a:t>D:/Downloads/Final Year Project/experiment/idea-validation/fastwam-vq-relational-kl/results/ANALYSIS.zh.md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表来自原40heldoutcase×2seeds，先seedcase平均再四suite等权。Softbinrelationaltrain各1trajectory、80updates，固定final80，不在heldout选ckpt。原MSEfinal80是历史同协议endpoint重放比较。Softbin.03232986/.053033005，relational.031438487/.054295895；temporal .040418109→.034484781；spatiotemporal .0063970953→.006147169；composite .0059133057→.0057434071。KL闭环评测在最近local快照431/560episode记录，未有completecriterion。进度不是success，pending不能替代最终rates。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D:/Downloads/Final Year Project/experiment/idea-validation/fastwam-vq-relational-kl/results/ANALYSIS.zh.md</a:t>
            </a:r>
          </a:p>
          <a:p xmlns:a="http://schemas.openxmlformats.org/drawingml/2006/main">
            <a:r>
              <a:t>D:/Downloads/Final Year Project/experiment/idea-validation/fastwam-vq-relational-kl/results/aggregate/summary.json</a:t>
            </a:r>
          </a:p>
          <a:p xmlns:a="http://schemas.openxmlformats.org/drawingml/2006/main">
            <a:r>
              <a:t>D:/Downloads/Final Year Project/Weekly Slides/2026-10-21_assets/cosmos_loss.json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的四点contribution按证据强度润色：1当前fixedinputfutureintervention支持latentfidelity的重要性，但likelyvulnerable机制还待验证；2loss已实现，forecastrollouterror仍为researchgoal，当前没有证明predictiveassociation；3Fast-WAM+Cosmos框架/闭环已实现，similarbpw下cohortcurrentrecipecompetitive，但first需priorartcheck且不声称SOTA或统计显著；4nativekernel尚未实现。所有措辞作为proposedpapercontributions，不把目标写成completedclai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近期优先完成冻结checkpoint的pairedLIBERO+评测；loss优化需以闭环success与失败轨迹为目标，同时保留原cohortcontrols。候选消融：MSEvssoftbin、action-onlyvslatent-onlyvsboth、temporal-onlyvsspatial/temporal-latent、D/r的分离、C8/C80等校准规模，匹配bpw与预算。换baseline：CosmosPolicy on LIBERO/LIBERO+，LingBot-VA2 on RoboTwin2.0，均为planned未实现本轮不保证可行性/日期。真实robot需要确认hardware/tasks，报告success、rollout error与endtoendlatency。Kernel关注decode/transformprofiling、batchedtransform接线、nativeVQ执行与真实latency，不将compressedpayload当作VRAM。CVPR表达愿望无未查证deadline。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讨论重点：当前proxy与闭环目标之间的差距、KL结构设计的优先级、跨模型和真机验证范围，以及kernel工作量。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FastWAM模型614targetLinears/6016317440weights。encodedbpw统一bytes*8/Ntarget。Scalar receipt包含transforms，VQ包含indices/books/gains/B32exps/transforms；perchannel另计FP32log2D。Rotation只有code+G128scaleestimate4.125，未有统一completepayload。Cosmos同target280Linear1761607680weights。两model不同steps/chunks因此不跨模型比较latency或success来声称量化方法优劣。闭环manifest280是固定subset，不是全LIBEROPlusbenchmark。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D:/Downloads/Final Year Project/experiment/idea-validation/fastwam-vq-plus/results/RESULTS.zh.md</a:t>
            </a:r>
          </a:p>
          <a:p xmlns:a="http://schemas.openxmlformats.org/drawingml/2006/main">
            <a:r>
              <a:t>D:/Downloads/Final Year Project/experiment/idea-validation/fastwam-rotation-baselines/protocol.json</a:t>
            </a:r>
          </a:p>
          <a:p xmlns:a="http://schemas.openxmlformats.org/drawingml/2006/main">
            <a:r>
              <a:t>D:/Downloads/Final Year Project/experiment/idea-validation/fastwam-smooth-scalar-plus/source_receipts/receipt.json</a:t>
            </a:r>
          </a:p>
          <a:p xmlns:a="http://schemas.openxmlformats.org/drawingml/2006/main">
            <a:r>
              <a:t>D:/Downloads/Final Year Project/experiment/idea-validation/fastwam-vq-c80-per-channel-plus/RESULTS.zh.md</a:t>
            </a:r>
          </a:p>
          <a:p xmlns:a="http://schemas.openxmlformats.org/drawingml/2006/main">
            <a:r>
              <a:t>D:/Downloads/Final Year Project/experiment/idea-validation/cosmos-policy-c8-w4a4/RESULTS.zh.md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edinputevidence：same40heldoutcases×2seed/equal4suites。Baseline.044296774/.060877371;clip.043848437/.054848124;b32.043986743/.054151555;joint.041846837/.048973336;perchannel.031641466/.055377875;jointperchannel.032668?.048842。Jointperchannel数字从周报四舍五入，完整源results。本表用于记录已实现的可训练参数组合，不给没有完成closedloop的row补成功率。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D:/Downloads/Final Year Project/experiment/idea-validation/fastwam-vq-per-channel-scaling-clipping/results/RESULTS.zh.md</a:t>
            </a:r>
          </a:p>
          <a:p xmlns:a="http://schemas.openxmlformats.org/drawingml/2006/main">
            <a:r>
              <a:t>D:/Downloads/Final Year Project/experiment/idea-validation/fastwam-vq-joint-per-channel/results/RESULTS.zh.md</a:t>
            </a:r>
          </a:p>
          <a:p xmlns:a="http://schemas.openxmlformats.org/drawingml/2006/main">
            <a:r>
              <a:t>https://app.notion.com/p/3fd44c7da965815ead32f7858e8e98db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rmfullactionquerycost来自不同rolloutquery流，非fixedinputpairedbenchmark。FastWAMclip4.99sec/joint4.96/perchannel4.90508；CosmosBF16.59399,Spin1.05653,VQ10.04213。CosmosVQ在线blockH128path未接入batchedtransform，即使summary标签写batched也不能声称已生效。此页保持实现scope避免把编码4bpw当成nativeacceleration。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D:/Downloads/Final Year Project/experiment/idea-validation/fastwam-vq-c80-clip-joint-plus/RESULTS.zh.md</a:t>
            </a:r>
          </a:p>
          <a:p xmlns:a="http://schemas.openxmlformats.org/drawingml/2006/main">
            <a:r>
              <a:t>D:/Downloads/Final Year Project/experiment/idea-validation/fastwam-vq-c80-per-channel-plus/RESULTS.zh.md</a:t>
            </a:r>
          </a:p>
          <a:p xmlns:a="http://schemas.openxmlformats.org/drawingml/2006/main">
            <a:r>
              <a:t>D:/Downloads/Final Year Project/experiment/idea-validation/cosmos-policy-c8-w4a4/RESULTS.zh.md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本页是用户要求的built-inimagegen学术图视觉设计参考，图内label仅作示意，不作为数值证据。正式方法描述以slides2—4和11—13的可编辑objects与源码为准。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D:/Downloads/Final Year Project/Weekly Slides/2026-10-21_assets/method-imagegen-reference.png</a:t>
            </a:r>
          </a:p>
          <a:p xmlns:a="http://schemas.openxmlformats.org/drawingml/2006/main">
            <a:r>
              <a:t>D:/Downloads/Final Year Project/Weekly Slides/2026-10-21_assets/imagegen-prompts.txt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本页是用户要求的built-inimagegen学术图视觉设计参考，图内label仅作示意，不作为数值证据。正式方法描述以slides2—4和11—13的可编辑objects与源码为准。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D:/Downloads/Final Year Project/Weekly Slides/2026-10-21_assets/loss-imagegen-reference.png</a:t>
            </a:r>
          </a:p>
          <a:p xmlns:a="http://schemas.openxmlformats.org/drawingml/2006/main">
            <a:r>
              <a:t>D:/Downloads/Final Year Project/Weekly Slides/2026-10-21_assets/imagegen-prompts.txt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6aa6260d7145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793cd8098e47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52e14fd3d464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ea1a21443045f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d7d9f36f54a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076774f03a41d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cd6e0cc5e8491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e34c942ad7460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a0a16e922410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67E4D5-1401-482F-824F-C33E6DAD42E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C9DA456-77A2-4F05-8F53-B1015A42FF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F665B20-DB7A-4E51-BDDD-F1E3661198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6F0FC19-7CD1-4C5E-9D12-7101DE1BF6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90510C-4C19-4FE0-8DA9-7229F499F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BF198EF-FD8E-41F1-8392-0092717B84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043A2F-A458-4BF9-9A6B-ECA5398A5F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86712C-7A8C-4850-ABB7-72B0976171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F8FA4E-C023-4087-9D88-B5D2B11A9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305176"/>
            <a:ext cx="8229600" cy="1021556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9CBBE51-BF9B-479E-837F-C1249B400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180035"/>
            <a:ext cx="8229600" cy="1125140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F6BFA5-E349-4AA9-A828-67F3F8EE71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9761213-466E-4A18-9A2D-FA531E3AF8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BA682A3-93C9-4E65-AD95-C099AA896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E94EA7-F60A-43F7-883F-D4D838C2F8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C68976-4F83-40FF-B880-217C31AF55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11FA47A-3F46-4786-AB1F-69D4DC3B16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B9A0069-3F99-43D6-A8C8-D5412265F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71FC5CB-D2D4-43E7-8C65-717853420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60BA59-5BCC-428F-85D9-EAC3988BAB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91245"/>
            <a:ext cx="4040188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FB3967BE-A7E4-47CC-A22E-05E18BE43CE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1871068"/>
            <a:ext cx="4040188" cy="27213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0BE56DE-BEB5-40F3-A275-6B0B062CB9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6" y="1391245"/>
            <a:ext cx="4041775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CE93E0D-26AC-4B95-AB48-AB5E4CB6D44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6" y="1871068"/>
            <a:ext cx="4041775" cy="27213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03CDD95-9DE6-4D95-A298-A3A2D7B8B3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A89A6D4-1FA9-42F1-A8EA-A0F3881D0D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04BF2ED-1876-4366-8432-BE90789CF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F0A0D750-AF6A-405F-A48C-702E658994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7567AD3-2BE6-4B01-9DF0-11AFE1511D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ECF8CDE-FB10-4D61-AC43-F0D39D27CA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D3D842A-DC9C-4997-969A-2B90CFD1A6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730A6BB-F0EC-4011-AEB3-B100E6E56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591463"/>
            <a:ext cx="3008313" cy="8715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7B2BBF9-06F3-4FE5-ACBD-3D051029214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591464"/>
            <a:ext cx="5111750" cy="4048651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FBEAFEE-0F58-4084-961F-355B90BA393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1" y="1593860"/>
            <a:ext cx="3008313" cy="3046254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0EFEEC3-5CA8-46D5-8CCB-0BB120EF82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D6525AA-7A6F-4DA1-BC06-C7838B4FF8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8FF091-C265-404D-826D-A64539B60C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3600450"/>
            <a:ext cx="5486400" cy="425054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1A89DF-DC8E-4EA7-9690-78284340D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459581"/>
            <a:ext cx="5486400" cy="30861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3695CD0-D070-4047-AB37-E4A116E8439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4025503"/>
            <a:ext cx="5486400" cy="60364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7DC239-BE29-4FC5-8613-9827BC3231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886307"/>
            <a:ext cx="4858022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Research </a:t>
            </a:r>
            <a:r>
              <a:t>centre</a:t>
            </a:r>
            <a:r>
              <a:t> / College / School Name Here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F5C7963-707A-4635-8E8A-F13F66E56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82222" y="4886307"/>
            <a:ext cx="704578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E6562B1-0B0F-0246-9532-09536BC2AE5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206e54f2cb5b46db" /><Relationship Type="http://schemas.openxmlformats.org/officeDocument/2006/relationships/image" Target="/ppt/media/image2.png" Id="Rf0f17174d94d4615" /><Relationship Type="http://schemas.openxmlformats.org/officeDocument/2006/relationships/theme" Target="/ppt/slideMasters/theme/theme2.xml" Id="R5833dd9978f242fd" /><Relationship Type="http://schemas.openxmlformats.org/officeDocument/2006/relationships/slideLayout" Target="/ppt/slideLayouts/slideLayout1.xml" Id="R3716f927b86f4bef" /><Relationship Type="http://schemas.openxmlformats.org/officeDocument/2006/relationships/slideLayout" Target="/ppt/slideLayouts/slideLayout2.xml" Id="Rc813a525473540af" /><Relationship Type="http://schemas.openxmlformats.org/officeDocument/2006/relationships/slideLayout" Target="/ppt/slideLayouts/slideLayout3.xml" Id="R05ef7ab3ce08479d" /><Relationship Type="http://schemas.openxmlformats.org/officeDocument/2006/relationships/slideLayout" Target="/ppt/slideLayouts/slideLayout4.xml" Id="R338bea4beadd4224" /><Relationship Type="http://schemas.openxmlformats.org/officeDocument/2006/relationships/slideLayout" Target="/ppt/slideLayouts/slideLayout5.xml" Id="R896da7f977e14e17" /><Relationship Type="http://schemas.openxmlformats.org/officeDocument/2006/relationships/slideLayout" Target="/ppt/slideLayouts/slideLayout6.xml" Id="Re1cdc66d63e04894" /><Relationship Type="http://schemas.openxmlformats.org/officeDocument/2006/relationships/slideLayout" Target="/ppt/slideLayouts/slideLayout7.xml" Id="R88e40c88cfd24876" /><Relationship Type="http://schemas.openxmlformats.org/officeDocument/2006/relationships/slideLayout" Target="/ppt/slideLayouts/slideLayout8.xml" Id="R07311076ec844161" /><Relationship Type="http://schemas.openxmlformats.org/officeDocument/2006/relationships/slideLayout" Target="/ppt/slideLayouts/slideLayout9.xml" Id="R70bc6ffceb4a4f4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E56AA3D-92F6-4927-BD04-0D4F734192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422724"/>
            <a:ext cx="8229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49BCCB1-1071-4616-A735-701F5247F4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416896"/>
            <a:ext cx="8229600" cy="29070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8" name="Picture 3">
            <a:extLst xmlns:a="http://schemas.openxmlformats.org/drawingml/2006/main">
              <a:ext uri="{FF2B5EF4-FFF2-40B4-BE49-F238E27FC236}">
                <a16:creationId xmlns:a16="http://schemas.microsoft.com/office/drawing/2014/main" id="{2D037324-548F-406E-8248-03A5F342A1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e54f2cb5b46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872762"/>
            <a:ext cx="9144000" cy="285750"/>
          </a:xfrm>
          <a:prstGeom xmlns:a="http://schemas.openxmlformats.org/drawingml/2006/main" prst="rect">
            <a:avLst/>
          </a:prstGeom>
        </p:spPr>
      </p:pic>
      <p:pic>
        <p:nvPicPr>
          <p:cNvPr id="9" name="Picture 7">
            <a:extLst xmlns:a="http://schemas.openxmlformats.org/drawingml/2006/main">
              <a:ext uri="{FF2B5EF4-FFF2-40B4-BE49-F238E27FC236}">
                <a16:creationId xmlns:a16="http://schemas.microsoft.com/office/drawing/2014/main" id="{2295B599-9CD4-44A6-AC58-C6CEE5B702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f17174d94d4615"/>
          <a:srcRect xmlns:a="http://schemas.openxmlformats.org/drawingml/2006/main" l="18865" t="17198" r="0" b="0"/>
          <a:stretch xmlns:a="http://schemas.openxmlformats.org/drawingml/2006/main"/>
        </p:blipFill>
        <p:spPr>
          <a:xfrm xmlns:a="http://schemas.openxmlformats.org/drawingml/2006/main">
            <a:off x="6631259" y="4936272"/>
            <a:ext cx="1801682" cy="158013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16f927b86f4bef"/>
    <p:sldLayoutId xmlns:r="http://schemas.openxmlformats.org/officeDocument/2006/relationships" id="2147483650" r:id="Rc813a525473540af"/>
    <p:sldLayoutId xmlns:r="http://schemas.openxmlformats.org/officeDocument/2006/relationships" id="2147483651" r:id="R05ef7ab3ce08479d"/>
    <p:sldLayoutId xmlns:r="http://schemas.openxmlformats.org/officeDocument/2006/relationships" id="2147483652" r:id="R338bea4beadd4224"/>
    <p:sldLayoutId xmlns:r="http://schemas.openxmlformats.org/officeDocument/2006/relationships" id="2147483653" r:id="R896da7f977e14e17"/>
    <p:sldLayoutId xmlns:r="http://schemas.openxmlformats.org/officeDocument/2006/relationships" id="2147483654" r:id="Re1cdc66d63e04894"/>
    <p:sldLayoutId xmlns:r="http://schemas.openxmlformats.org/officeDocument/2006/relationships" id="2147483655" r:id="R88e40c88cfd24876"/>
    <p:sldLayoutId xmlns:r="http://schemas.openxmlformats.org/officeDocument/2006/relationships" id="2147483656" r:id="R07311076ec844161"/>
    <p:sldLayoutId xmlns:r="http://schemas.openxmlformats.org/officeDocument/2006/relationships" id="2147483657" r:id="R70bc6ffceb4a4f4f"/>
  </p:sldLayoutIdLst>
  <p:hf sldNum="0" hdr="0" dt="0"/>
  <p:txStyles>
    <p:titleStyle>
      <a:lvl1pPr xmlns:a="http://schemas.openxmlformats.org/drawingml/2006/main" algn="l" defTabSz="457200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1881c90224ac2" /><Relationship Type="http://schemas.openxmlformats.org/officeDocument/2006/relationships/image" Target="/ppt/media/image.jpeg" Id="Rd8192a2b75264db8" /><Relationship Type="http://schemas.openxmlformats.org/officeDocument/2006/relationships/notesSlide" Target="/ppt/notesSlides/notesSlide1.xml" Id="R8a3f00a08bb647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0f1883e9ad4fb7" /><Relationship Type="http://schemas.openxmlformats.org/officeDocument/2006/relationships/notesSlide" Target="/ppt/notesSlides/notesSlide2.xml" Id="Rc98c7c93c98c4d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daf4cdd2554642" /><Relationship Type="http://schemas.openxmlformats.org/officeDocument/2006/relationships/notesSlide" Target="/ppt/notesSlides/notesSlide3.xml" Id="R5bee3d0ceea04a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99223a9fd54266" /><Relationship Type="http://schemas.openxmlformats.org/officeDocument/2006/relationships/notesSlide" Target="/ppt/notesSlides/notesSlide4.xml" Id="R8094b4510b5c45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379511d8e04496" /><Relationship Type="http://schemas.openxmlformats.org/officeDocument/2006/relationships/notesSlide" Target="/ppt/notesSlides/notesSlide5.xml" Id="R49780426a1bb44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863752babb4363" /><Relationship Type="http://schemas.openxmlformats.org/officeDocument/2006/relationships/notesSlide" Target="/ppt/notesSlides/notesSlide6.xml" Id="R9fe1f42a24054e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51d57e64e04514" /><Relationship Type="http://schemas.openxmlformats.org/officeDocument/2006/relationships/notesSlide" Target="/ppt/notesSlides/notesSlide7.xml" Id="R2b734eeaa8e840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2a0e4cac3a4141" /><Relationship Type="http://schemas.openxmlformats.org/officeDocument/2006/relationships/notesSlide" Target="/ppt/notesSlides/notesSlide8.xml" Id="Rcb82a5fb081b4a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a13b566a4c4218" /><Relationship Type="http://schemas.openxmlformats.org/officeDocument/2006/relationships/notesSlide" Target="/ppt/notesSlides/notesSlide9.xml" Id="Rd6fe60bbf09d4a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03aaa659e347e4" /><Relationship Type="http://schemas.openxmlformats.org/officeDocument/2006/relationships/notesSlide" Target="/ppt/notesSlides/notesSlide10.xml" Id="Rbd546b6a7a9e4a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68b58ff5074046" /><Relationship Type="http://schemas.openxmlformats.org/officeDocument/2006/relationships/notesSlide" Target="/ppt/notesSlides/notesSlide11.xml" Id="Re408e9c2a43d43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3fba9f25b24649" /><Relationship Type="http://schemas.openxmlformats.org/officeDocument/2006/relationships/notesSlide" Target="/ppt/notesSlides/notesSlide12.xml" Id="R84a3be46d885483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b4206856664e71" /><Relationship Type="http://schemas.openxmlformats.org/officeDocument/2006/relationships/notesSlide" Target="/ppt/notesSlides/notesSlide13.xml" Id="R6b6b7467b1964a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077f72cfbd4c8f" /><Relationship Type="http://schemas.openxmlformats.org/officeDocument/2006/relationships/notesSlide" Target="/ppt/notesSlides/notesSlide14.xml" Id="Ra35787886ffe41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7d553d34ef4be5" /><Relationship Type="http://schemas.openxmlformats.org/officeDocument/2006/relationships/notesSlide" Target="/ppt/notesSlides/notesSlide15.xml" Id="Rcfa01c66a386473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7284a1c4b440cb" /><Relationship Type="http://schemas.openxmlformats.org/officeDocument/2006/relationships/notesSlide" Target="/ppt/notesSlides/notesSlide16.xml" Id="R55baefc60a5744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a5102ed8e4803" /><Relationship Type="http://schemas.openxmlformats.org/officeDocument/2006/relationships/image" Target="/ppt/media/image.jpeg" Id="Racabc256be6646b8" /><Relationship Type="http://schemas.openxmlformats.org/officeDocument/2006/relationships/notesSlide" Target="/ppt/notesSlides/notesSlide17.xml" Id="Rd76e1fc12f8349b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9c1591e7554a32" /><Relationship Type="http://schemas.openxmlformats.org/officeDocument/2006/relationships/notesSlide" Target="/ppt/notesSlides/notesSlide18.xml" Id="R53418bf4e9cd416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0d7eaedc2f44ee" /><Relationship Type="http://schemas.openxmlformats.org/officeDocument/2006/relationships/notesSlide" Target="/ppt/notesSlides/notesSlide19.xml" Id="Ra9440d7932de42d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7f202531c64dbf" /><Relationship Type="http://schemas.openxmlformats.org/officeDocument/2006/relationships/notesSlide" Target="/ppt/notesSlides/notesSlide20.xml" Id="Rc08cf9d1924243c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fa01fe442941cb" /><Relationship Type="http://schemas.openxmlformats.org/officeDocument/2006/relationships/image" Target="/ppt/media/image3.png" Id="R1826c678db904839" /><Relationship Type="http://schemas.openxmlformats.org/officeDocument/2006/relationships/notesSlide" Target="/ppt/notesSlides/notesSlide21.xml" Id="R600067e2fdc84b8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f74720cece413a" /><Relationship Type="http://schemas.openxmlformats.org/officeDocument/2006/relationships/image" Target="/ppt/media/image4.png" Id="R985e69a9340644af" /><Relationship Type="http://schemas.openxmlformats.org/officeDocument/2006/relationships/notesSlide" Target="/ppt/notesSlides/notesSlide22.xml" Id="Ree4690ee587f4a2b" /></Relationships>
</file>

<file path=ppt/slides/slide1.xml><?xml version="1.0" encoding="utf-8"?>
<p:sld xmlns:p="http://schemas.openxmlformats.org/presentationml/2006/main" showMasterSp="0">
  <p:cSld>
    <p:bg>
      <p:bgPr>
        <a:blipFill xmlns:a="http://schemas.openxmlformats.org/drawingml/2006/main" rotWithShape="1">
          <a:blip xmlns:r="http://schemas.openxmlformats.org/officeDocument/2006/relationships" r:embed="Rd8192a2b75264db8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B10D82-12E8-413F-B22E-5B2F140E3AE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756726" y="1752600"/>
            <a:ext cx="5953125" cy="533400"/>
          </a:xfr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spcBef>
                <a:spcPts val="1800"/>
              </a:spcBef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Latent + Action-Aware</a:t>
            </a:r>
            <a:endParaRPr sz="3200" b="1">
              <a:solidFill>
                <a:schemeClr val="bg1"/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372C7A-310D-4A9C-8F84-4CD18CA032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56726" y="3758279"/>
            <a:ext cx="5953125" cy="85725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Guo Yichen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College of Computing and Data Science (CCDS)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 October 2026</a:t>
            </a:r>
          </a:p>
        </p:txBody>
      </p:sp>
      <p:sp>
        <p:nvSpPr>
          <p:cNvPr id="4" name="Meeting subtitle">
            <a:extLst xmlns:a="http://schemas.openxmlformats.org/drawingml/2006/main">
              <a:ext uri="{FF2B5EF4-FFF2-40B4-BE49-F238E27FC236}">
                <a16:creationId xmlns:a16="http://schemas.microsoft.com/office/drawing/2014/main" id="{A5069BB0-258F-4D92-A186-44EB7B63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726" y="3038475"/>
            <a:ext cx="5953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Microscaling VQ, activation refinement &amp; relational KL</a:t>
            </a:r>
          </a:p>
        </p:txBody>
      </p:sp>
      <p:sp>
        <p:nvSpPr>
          <p:cNvPr id="5" name="WAM Quantization">
            <a:extLst xmlns:a="http://schemas.openxmlformats.org/drawingml/2006/main">
              <a:ext uri="{FF2B5EF4-FFF2-40B4-BE49-F238E27FC236}">
                <a16:creationId xmlns:a16="http://schemas.microsoft.com/office/drawing/2014/main" id="{FB70EFC3-DFCC-4984-9F41-A1092069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6726" y="2295525"/>
            <a:ext cx="59531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WAM Quantization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Latent + action-aware Microscaling VQ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2">
            <a:extLst xmlns:a="http://schemas.openxmlformats.org/drawingml/2006/main">
              <a:ext uri="{FF2B5EF4-FFF2-40B4-BE49-F238E27FC236}">
                <a16:creationId xmlns:a16="http://schemas.microsoft.com/office/drawing/2014/main" id="{FBDB4BE8-C6A6-4623-BE25-7F653F54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005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Observation + language + proprioception">
            <a:extLst xmlns:a="http://schemas.openxmlformats.org/drawingml/2006/main">
              <a:ext uri="{FF2B5EF4-FFF2-40B4-BE49-F238E27FC236}">
                <a16:creationId xmlns:a16="http://schemas.microsoft.com/office/drawing/2014/main" id="{3308161E-C6E1-4D81-B237-D499FFF2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92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Observation + language + proprioception</a:t>
            </a:r>
          </a:p>
        </p:txBody>
      </p:sp>
      <p:sp>
        <p:nvSpPr>
          <p:cNvPr id="6" name="Shared&#10;inputs">
            <a:extLst xmlns:a="http://schemas.openxmlformats.org/drawingml/2006/main">
              <a:ext uri="{FF2B5EF4-FFF2-40B4-BE49-F238E27FC236}">
                <a16:creationId xmlns:a16="http://schemas.microsoft.com/office/drawing/2014/main" id="{C596649E-B1A8-4BF4-940E-67CB3654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9525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11430">
            <a:solidFill>
              <a:srgbClr val="CFD9E3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Shared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7" name="BF16 teacher · frozen">
            <a:extLst xmlns:a="http://schemas.openxmlformats.org/drawingml/2006/main">
              <a:ext uri="{FF2B5EF4-FFF2-40B4-BE49-F238E27FC236}">
                <a16:creationId xmlns:a16="http://schemas.microsoft.com/office/drawing/2014/main" id="{EC23B14C-18DE-4A30-B8DD-86ED0676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17157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B205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B2059"/>
                </a:solidFill>
                <a:latin typeface="Arial"/>
                <a:ea typeface="Arial"/>
                <a:cs typeface="Arial"/>
              </a:rPr>
              <a:t>BF16 teacher · frozen</a:t>
            </a:r>
          </a:p>
        </p:txBody>
      </p:sp>
      <p:sp>
        <p:nvSpPr>
          <p:cNvPr id="8" name="Video DiT">
            <a:extLst xmlns:a="http://schemas.openxmlformats.org/drawingml/2006/main">
              <a:ext uri="{FF2B5EF4-FFF2-40B4-BE49-F238E27FC236}">
                <a16:creationId xmlns:a16="http://schemas.microsoft.com/office/drawing/2014/main" id="{A94E74C3-97D9-43D3-8914-FE24603F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562100"/>
            <a:ext cx="14097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11430">
            <a:solidFill>
              <a:srgbClr val="7EACDC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Video DiT</a:t>
            </a:r>
          </a:p>
        </p:txBody>
      </p:sp>
      <p:sp>
        <p:nvSpPr>
          <p:cNvPr id="9" name="Future Zₜ">
            <a:extLst xmlns:a="http://schemas.openxmlformats.org/drawingml/2006/main">
              <a:ext uri="{FF2B5EF4-FFF2-40B4-BE49-F238E27FC236}">
                <a16:creationId xmlns:a16="http://schemas.microsoft.com/office/drawing/2014/main" id="{C9BC5441-9CDB-462F-AC78-AB240566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62100"/>
            <a:ext cx="12192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DCBB74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Future Zₜ</a:t>
            </a:r>
          </a:p>
        </p:txBody>
      </p:sp>
      <p:sp>
        <p:nvSpPr>
          <p:cNvPr id="10" name="Action DiT">
            <a:extLst xmlns:a="http://schemas.openxmlformats.org/drawingml/2006/main">
              <a:ext uri="{FF2B5EF4-FFF2-40B4-BE49-F238E27FC236}">
                <a16:creationId xmlns:a16="http://schemas.microsoft.com/office/drawing/2014/main" id="{93657955-CD7E-4B7F-9989-61ACA51D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562100"/>
            <a:ext cx="14097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11430">
            <a:solidFill>
              <a:srgbClr val="7EACDC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Action DiT</a:t>
            </a:r>
          </a:p>
        </p:txBody>
      </p:sp>
      <p:sp>
        <p:nvSpPr>
          <p:cNvPr id="11" name="Actions aₜ">
            <a:extLst xmlns:a="http://schemas.openxmlformats.org/drawingml/2006/main">
              <a:ext uri="{FF2B5EF4-FFF2-40B4-BE49-F238E27FC236}">
                <a16:creationId xmlns:a16="http://schemas.microsoft.com/office/drawing/2014/main" id="{DC458F8D-86E2-46DA-8C9A-F7D05281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562100"/>
            <a:ext cx="1362075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3B8B7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Actions aₜ</a:t>
            </a:r>
          </a:p>
        </p:txBody>
      </p:sp>
      <p:sp>
        <p:nvSpPr>
          <p:cNvPr id="12" name="Quantized WAM">
            <a:extLst xmlns:a="http://schemas.openxmlformats.org/drawingml/2006/main">
              <a:ext uri="{FF2B5EF4-FFF2-40B4-BE49-F238E27FC236}">
                <a16:creationId xmlns:a16="http://schemas.microsoft.com/office/drawing/2014/main" id="{24BFE861-BCD4-4623-9D5F-7220874E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33625"/>
            <a:ext cx="2295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444F"/>
                </a:solidFill>
                <a:latin typeface="Arial"/>
                <a:ea typeface="Arial"/>
                <a:cs typeface="Arial"/>
              </a:rPr>
              <a:t>Quantized WAM</a:t>
            </a:r>
          </a:p>
        </p:txBody>
      </p:sp>
      <p:sp>
        <p:nvSpPr>
          <p:cNvPr id="13" name="Video DiT&#10;VQ + A4">
            <a:extLst xmlns:a="http://schemas.openxmlformats.org/drawingml/2006/main">
              <a:ext uri="{FF2B5EF4-FFF2-40B4-BE49-F238E27FC236}">
                <a16:creationId xmlns:a16="http://schemas.microsoft.com/office/drawing/2014/main" id="{1B48C673-C3B1-436E-8394-67AAA5A2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14625"/>
            <a:ext cx="14097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E"/>
          </a:solidFill>
          <a:ln xmlns:a="http://schemas.openxmlformats.org/drawingml/2006/main" w="11430">
            <a:solidFill>
              <a:srgbClr val="D89BA2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Video DiT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VQ + A4</a:t>
            </a:r>
          </a:p>
        </p:txBody>
      </p:sp>
      <p:sp>
        <p:nvSpPr>
          <p:cNvPr id="14" name="Own future Zₛ">
            <a:extLst xmlns:a="http://schemas.openxmlformats.org/drawingml/2006/main">
              <a:ext uri="{FF2B5EF4-FFF2-40B4-BE49-F238E27FC236}">
                <a16:creationId xmlns:a16="http://schemas.microsoft.com/office/drawing/2014/main" id="{4B655C06-F5CF-40A6-BCB7-1664BA07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14625"/>
            <a:ext cx="12192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DCBB74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Own future Zₛ</a:t>
            </a:r>
          </a:p>
        </p:txBody>
      </p:sp>
      <p:sp>
        <p:nvSpPr>
          <p:cNvPr id="15" name="Action DiT&#10;VQ + A4">
            <a:extLst xmlns:a="http://schemas.openxmlformats.org/drawingml/2006/main">
              <a:ext uri="{FF2B5EF4-FFF2-40B4-BE49-F238E27FC236}">
                <a16:creationId xmlns:a16="http://schemas.microsoft.com/office/drawing/2014/main" id="{4674858F-F778-4B4A-933C-AF937716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714625"/>
            <a:ext cx="14097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E"/>
          </a:solidFill>
          <a:ln xmlns:a="http://schemas.openxmlformats.org/drawingml/2006/main" w="11430">
            <a:solidFill>
              <a:srgbClr val="D89BA2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Action DiT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VQ + A4</a:t>
            </a:r>
          </a:p>
        </p:txBody>
      </p:sp>
      <p:sp>
        <p:nvSpPr>
          <p:cNvPr id="16" name="Actions aₛ">
            <a:extLst xmlns:a="http://schemas.openxmlformats.org/drawingml/2006/main">
              <a:ext uri="{FF2B5EF4-FFF2-40B4-BE49-F238E27FC236}">
                <a16:creationId xmlns:a16="http://schemas.microsoft.com/office/drawing/2014/main" id="{F41C5136-7B55-424C-89B5-C1658EF8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14625"/>
            <a:ext cx="13620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3B8B7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Actions aₛ</a:t>
            </a:r>
          </a:p>
        </p:txBody>
      </p:sp>
      <p:cxnSp>
        <p:nvCxnSpPr>
          <p:cNvPr id="17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3E1CCE6A-E364-4D55-87AA-9AB0762F856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62325" y="18669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8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070BE5CF-877A-480C-826B-14B0BFB2C2A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18669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9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EBF8E88A-E19C-465C-8795-E6DAFA51C86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734175" y="18669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0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526FAA9B-0FD9-43B7-B876-6AF04F9AAA1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362325" y="303847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1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7C46010F-E56E-41AF-A9E0-1FA5691E453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303847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2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41C82B3F-D7B1-41E5-ADFF-F7D94706B8B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734175" y="303847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3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E6DC7934-679D-4430-AD26-C74A4487493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62100" y="19812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</a:ln>
        </p:spPr>
      </p:cxnSp>
      <p:cxnSp>
        <p:nvCxnSpPr>
          <p:cNvPr id="24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24DF5C2B-E35A-422F-AB35-D028F1B20D1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52600" y="1866900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5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704C2827-72AC-4E5A-9D90-22F08A9CC4E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52600" y="303847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6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0BEA32ED-B2D8-421E-83EC-998C06273D2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752600" y="1866900"/>
            <a:ext cx="0" cy="11715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</a:ln>
        </p:spPr>
      </p:cxnSp>
      <p:sp>
        <p:nvSpPr>
          <p:cNvPr id="27" name="video K/V">
            <a:extLst xmlns:a="http://schemas.openxmlformats.org/drawingml/2006/main">
              <a:ext uri="{FF2B5EF4-FFF2-40B4-BE49-F238E27FC236}">
                <a16:creationId xmlns:a16="http://schemas.microsoft.com/office/drawing/2014/main" id="{7E3F3356-51D0-4C31-88A1-1389CE75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812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video K/V</a:t>
            </a:r>
          </a:p>
        </p:txBody>
      </p:sp>
      <p:cxnSp>
        <p:nvCxnSpPr>
          <p:cNvPr id="28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C94186D7-17CE-4799-802F-7E4D916E8A9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33875" y="216217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A7A13"/>
            </a:solidFill>
            <a:prstDash val="dash"/>
          </a:ln>
        </p:spPr>
      </p:cxnSp>
      <p:sp>
        <p:nvSpPr>
          <p:cNvPr id="29" name="Latent loss">
            <a:extLst xmlns:a="http://schemas.openxmlformats.org/drawingml/2006/main">
              <a:ext uri="{FF2B5EF4-FFF2-40B4-BE49-F238E27FC236}">
                <a16:creationId xmlns:a16="http://schemas.microsoft.com/office/drawing/2014/main" id="{C92ED80F-A731-43C3-86A6-7E9AE319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575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Latent loss</a:t>
            </a:r>
          </a:p>
        </p:txBody>
      </p:sp>
      <p:cxnSp>
        <p:nvCxnSpPr>
          <p:cNvPr id="30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3668AF2D-94FF-4F7C-9FF0-7FE0A825CE1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781925" y="216217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dash"/>
          </a:ln>
        </p:spPr>
      </p:cxnSp>
      <p:sp>
        <p:nvSpPr>
          <p:cNvPr id="31" name="Action loss">
            <a:extLst xmlns:a="http://schemas.openxmlformats.org/drawingml/2006/main">
              <a:ext uri="{FF2B5EF4-FFF2-40B4-BE49-F238E27FC236}">
                <a16:creationId xmlns:a16="http://schemas.microsoft.com/office/drawing/2014/main" id="{F4FFE0BD-CCD5-4641-8C19-9006C6FC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45757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Action loss</a:t>
            </a:r>
          </a:p>
        </p:txBody>
      </p:sp>
      <p:sp>
        <p:nvSpPr>
          <p:cNvPr id="32" name="MSE(first 10 × 6 motor actions) + ρc · NMSE(future late">
            <a:extLst xmlns:a="http://schemas.openxmlformats.org/drawingml/2006/main">
              <a:ext uri="{FF2B5EF4-FFF2-40B4-BE49-F238E27FC236}">
                <a16:creationId xmlns:a16="http://schemas.microsoft.com/office/drawing/2014/main" id="{3ED934A2-636B-4656-9DB5-7BA16951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572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MSE(first 10 × 6 motor actions) + ρc · NMSE(future latents)</a:t>
            </a:r>
          </a:p>
        </p:txBody>
      </p:sp>
      <p:sp>
        <p:nvSpPr>
          <p:cNvPr id="33" name="614 target Linears; update codebooks + row gains. Laten">
            <a:extLst xmlns:a="http://schemas.openxmlformats.org/drawingml/2006/main">
              <a:ext uri="{FF2B5EF4-FFF2-40B4-BE49-F238E27FC236}">
                <a16:creationId xmlns:a16="http://schemas.microsoft.com/office/drawing/2014/main" id="{7AD0FD9B-3D84-485F-8DFA-68F3837F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7924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614 target Linears; update codebooks + row gains. Latents exclude frame 0; motor loss excludes gripper.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Microscaling additive VQ weights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3">
            <a:extLst xmlns:a="http://schemas.openxmlformats.org/drawingml/2006/main">
              <a:ext uri="{FF2B5EF4-FFF2-40B4-BE49-F238E27FC236}">
                <a16:creationId xmlns:a16="http://schemas.microsoft.com/office/drawing/2014/main" id="{1B4EBE44-4EEC-4A40-8983-B65C28FD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005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Transformed weight row">
            <a:extLst xmlns:a="http://schemas.openxmlformats.org/drawingml/2006/main">
              <a:ext uri="{FF2B5EF4-FFF2-40B4-BE49-F238E27FC236}">
                <a16:creationId xmlns:a16="http://schemas.microsoft.com/office/drawing/2014/main" id="{3AD12B47-9713-44E2-9186-5F1FFE90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381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Transformed weight row</a:t>
            </a:r>
          </a:p>
        </p:txBody>
      </p:sp>
      <p:sp>
        <p:nvSpPr>
          <p:cNvPr id="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FE1A0F5-D670-4EA7-A5FE-C8AF8767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D0BC3FC-31D3-424F-832F-6AB0B4C0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59A578F-F0BB-464D-86AD-22C0D367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3282941-CFB3-4E37-97CA-09BEB423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7BC78BE-4A35-45AC-8CDF-D77427F3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372C74A-FE65-40A4-9F77-FB5D3A32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A2BC7DC-9A51-4A68-A813-EFA7F791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3225969-1630-4676-AC13-C2CC3E3D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4" name="B32 = 8 vectors × d4">
            <a:extLst xmlns:a="http://schemas.openxmlformats.org/drawingml/2006/main">
              <a:ext uri="{FF2B5EF4-FFF2-40B4-BE49-F238E27FC236}">
                <a16:creationId xmlns:a16="http://schemas.microsoft.com/office/drawing/2014/main" id="{C9CA1346-6DA8-459D-AF3E-654D87F4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B32 = 8 vectors × d4</a:t>
            </a:r>
          </a:p>
        </p:txBody>
      </p:sp>
      <p:sp>
        <p:nvSpPr>
          <p:cNvPr id="1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E029C70-482D-43DD-9150-240D2CF6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DB7A1F8-9CCC-47A3-8E8A-F6B42511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F02A0EE-16B1-4D5D-B505-2050614B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5244407-B6C7-4ECB-9B0C-6EB5A659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34EAF76-22F4-41AE-AEAC-E829B3CB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CEDF0AD-FCDD-42E0-BF8C-451A613E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2BD034B-7DC8-4C76-BD88-7B11BEA0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CBAE066-455D-4993-ADC4-4CF57ED9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3" name="B32 = 8 vectors × d4">
            <a:extLst xmlns:a="http://schemas.openxmlformats.org/drawingml/2006/main">
              <a:ext uri="{FF2B5EF4-FFF2-40B4-BE49-F238E27FC236}">
                <a16:creationId xmlns:a16="http://schemas.microsoft.com/office/drawing/2014/main" id="{39E4534F-6111-4CDC-A77B-F5DC174B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5906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B32 = 8 vectors × d4</a:t>
            </a:r>
          </a:p>
        </p:txBody>
      </p:sp>
      <p:sp>
        <p:nvSpPr>
          <p:cNvPr id="2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FB72A13-6DAC-4E55-8400-5FEB4CFD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A47C065-EBED-4D4F-ADF0-E42EBFF5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2116A0D-D694-42A3-94FD-7312C8701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3295BC1-74BF-4D09-8F25-BA0A351C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CB38F35-A462-401B-915D-C28028FF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249D3E5-B477-4BC1-A417-0C528D26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3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2F773B5-FE19-4E38-9624-BEC3B5D7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3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595741C-FE56-416C-B8D5-6402885A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1266825"/>
            <a:ext cx="2667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2FA"/>
          </a:solidFill>
          <a:ln xmlns:a="http://schemas.openxmlformats.org/drawingml/2006/main" w="11430">
            <a:solidFill>
              <a:srgbClr val="A9B8C8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32" name="…">
            <a:extLst xmlns:a="http://schemas.openxmlformats.org/drawingml/2006/main">
              <a:ext uri="{FF2B5EF4-FFF2-40B4-BE49-F238E27FC236}">
                <a16:creationId xmlns:a16="http://schemas.microsoft.com/office/drawing/2014/main" id="{67442764-BB85-4CA2-AA5E-EEE69C6C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5906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33" name="i₁  (8-bit)">
            <a:extLst xmlns:a="http://schemas.openxmlformats.org/drawingml/2006/main">
              <a:ext uri="{FF2B5EF4-FFF2-40B4-BE49-F238E27FC236}">
                <a16:creationId xmlns:a16="http://schemas.microsoft.com/office/drawing/2014/main" id="{BA11FAFC-D747-410E-862D-465B6A22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190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i₁  (8-bit)</a:t>
            </a:r>
          </a:p>
        </p:txBody>
      </p:sp>
      <p:sp>
        <p:nvSpPr>
          <p:cNvPr id="34" name="i₂  (8-bit)">
            <a:extLst xmlns:a="http://schemas.openxmlformats.org/drawingml/2006/main">
              <a:ext uri="{FF2B5EF4-FFF2-40B4-BE49-F238E27FC236}">
                <a16:creationId xmlns:a16="http://schemas.microsoft.com/office/drawing/2014/main" id="{A4C63435-18B3-4D82-81E9-D7DA3624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1190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i₂  (8-bit)</a:t>
            </a:r>
          </a:p>
        </p:txBody>
      </p:sp>
      <p:sp>
        <p:nvSpPr>
          <p:cNvPr id="35" name="Codebook C₁&#10;256 × 4 · BF16">
            <a:extLst xmlns:a="http://schemas.openxmlformats.org/drawingml/2006/main">
              <a:ext uri="{FF2B5EF4-FFF2-40B4-BE49-F238E27FC236}">
                <a16:creationId xmlns:a16="http://schemas.microsoft.com/office/drawing/2014/main" id="{44C97447-E07F-42EA-9405-A524CC87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009775"/>
            <a:ext cx="22193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Codebook C₁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256 × 4 · BF16</a:t>
            </a:r>
          </a:p>
        </p:txBody>
      </p:sp>
      <p:sp>
        <p:nvSpPr>
          <p:cNvPr id="36" name="Codebook C₂&#10;256 × 4 · BF16">
            <a:extLst xmlns:a="http://schemas.openxmlformats.org/drawingml/2006/main">
              <a:ext uri="{FF2B5EF4-FFF2-40B4-BE49-F238E27FC236}">
                <a16:creationId xmlns:a16="http://schemas.microsoft.com/office/drawing/2014/main" id="{E774B519-6860-4E8C-A605-4136032A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867025"/>
            <a:ext cx="22193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D9B466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Codebook C₂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256 × 4 · BF16</a:t>
            </a:r>
          </a:p>
        </p:txBody>
      </p:sp>
      <p:cxnSp>
        <p:nvCxnSpPr>
          <p:cNvPr id="37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11CECB53-AAC4-455E-BF54-BEBB1E4D65B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66900" y="23145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38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FA83978A-91BC-4767-A5B1-91FAD99A1A7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66900" y="318135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39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92D69383-7D13-470D-983F-16C1E09A6D5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76750" y="23241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</a:ln>
        </p:spPr>
      </p:cxnSp>
      <p:cxnSp>
        <p:nvCxnSpPr>
          <p:cNvPr id="40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0DB4FB0C-604F-4473-B720-67D9CDE7EC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67300" y="2324100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</a:ln>
        </p:spPr>
      </p:cxnSp>
      <p:cxnSp>
        <p:nvCxnSpPr>
          <p:cNvPr id="41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A6A662B7-3BC4-4505-881C-00F1E2B3D22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76750" y="319087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</a:ln>
        </p:spPr>
      </p:cxnSp>
      <p:cxnSp>
        <p:nvCxnSpPr>
          <p:cNvPr id="42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C9548849-8BDA-45CD-82DA-BEF0FAE1A8B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067300" y="2762250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</a:ln>
        </p:spPr>
      </p:cxnSp>
      <p:sp>
        <p:nvSpPr>
          <p:cNvPr id="43" name="+">
            <a:extLst xmlns:a="http://schemas.openxmlformats.org/drawingml/2006/main">
              <a:ext uri="{FF2B5EF4-FFF2-40B4-BE49-F238E27FC236}">
                <a16:creationId xmlns:a16="http://schemas.microsoft.com/office/drawing/2014/main" id="{86DDC595-E59A-4B9C-8F61-5EF18701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3524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B2059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cxnSp>
        <p:nvCxnSpPr>
          <p:cNvPr id="44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B0C032C7-F94D-4455-819C-06B269AEB4A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257800" y="2762250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45" name="× r_row × 2^(e_g)">
            <a:extLst xmlns:a="http://schemas.openxmlformats.org/drawingml/2006/main">
              <a:ext uri="{FF2B5EF4-FFF2-40B4-BE49-F238E27FC236}">
                <a16:creationId xmlns:a16="http://schemas.microsoft.com/office/drawing/2014/main" id="{DECAE95F-C8FF-4E36-B98C-D7599345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419350"/>
            <a:ext cx="280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11430">
            <a:solidFill>
              <a:srgbClr val="93A9C2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× r_row × 2^(e_g)</a:t>
            </a:r>
          </a:p>
        </p:txBody>
      </p:sp>
      <p:sp>
        <p:nvSpPr>
          <p:cNvPr id="46" name="e_g = round(log₂(block_RMS / r_row))">
            <a:extLst xmlns:a="http://schemas.openxmlformats.org/drawingml/2006/main">
              <a:ext uri="{FF2B5EF4-FFF2-40B4-BE49-F238E27FC236}">
                <a16:creationId xmlns:a16="http://schemas.microsoft.com/office/drawing/2014/main" id="{498571B3-55C9-4BEB-933E-F6FA0500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38350"/>
            <a:ext cx="3619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e_g = round(log₂(block_RMS / r_row))</a:t>
            </a:r>
          </a:p>
        </p:txBody>
      </p:sp>
      <p:sp>
        <p:nvSpPr>
          <p:cNvPr id="47" name="BF16 row gain + B32 exponent">
            <a:extLst xmlns:a="http://schemas.openxmlformats.org/drawingml/2006/main">
              <a:ext uri="{FF2B5EF4-FFF2-40B4-BE49-F238E27FC236}">
                <a16:creationId xmlns:a16="http://schemas.microsoft.com/office/drawing/2014/main" id="{C21A5CED-AB8D-42FD-8F6C-B272A8E0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670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BF16 row gain + B32 exponent</a:t>
            </a:r>
          </a:p>
        </p:txBody>
      </p:sp>
      <p:sp>
        <p:nvSpPr>
          <p:cNvPr id="48" name="4 core bpw  +  0.25 B32 bpw  +  codebooks / gains / tra">
            <a:extLst xmlns:a="http://schemas.openxmlformats.org/drawingml/2006/main">
              <a:ext uri="{FF2B5EF4-FFF2-40B4-BE49-F238E27FC236}">
                <a16:creationId xmlns:a16="http://schemas.microsoft.com/office/drawing/2014/main" id="{AF8BA2DF-EBC7-4345-B967-4842C9C5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792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4 core bpw  +  0.25 B32 bpw  +  codebooks / gains / transforms  ≈  4.27 bpw</a:t>
            </a:r>
          </a:p>
        </p:txBody>
      </p:sp>
      <p:sp>
        <p:nvSpPr>
          <p:cNvPr id="49" name="Fixed indices + exponents; calibrate codebooks + row ga">
            <a:extLst xmlns:a="http://schemas.openxmlformats.org/drawingml/2006/main">
              <a:ext uri="{FF2B5EF4-FFF2-40B4-BE49-F238E27FC236}">
                <a16:creationId xmlns:a16="http://schemas.microsoft.com/office/drawing/2014/main" id="{E1EB25C5-2027-4B3B-84D7-DD29BA64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7924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Fixed indices + exponents; calibrate codebooks + row gains. VQ codewords remain BF16 values.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Per-channel scaling + activation clipping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4">
            <a:extLst xmlns:a="http://schemas.openxmlformats.org/drawingml/2006/main">
              <a:ext uri="{FF2B5EF4-FFF2-40B4-BE49-F238E27FC236}">
                <a16:creationId xmlns:a16="http://schemas.microsoft.com/office/drawing/2014/main" id="{6DE47FC7-E9C3-4CAD-994E-A1AE88FD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005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Activation path">
            <a:extLst xmlns:a="http://schemas.openxmlformats.org/drawingml/2006/main">
              <a:ext uri="{FF2B5EF4-FFF2-40B4-BE49-F238E27FC236}">
                <a16:creationId xmlns:a16="http://schemas.microsoft.com/office/drawing/2014/main" id="{73857DCD-0B19-4AD6-9CD4-46C50616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4772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Activation path</a:t>
            </a:r>
          </a:p>
        </p:txBody>
      </p:sp>
      <p:sp>
        <p:nvSpPr>
          <p:cNvPr id="6" name="X">
            <a:extLst xmlns:a="http://schemas.openxmlformats.org/drawingml/2006/main">
              <a:ext uri="{FF2B5EF4-FFF2-40B4-BE49-F238E27FC236}">
                <a16:creationId xmlns:a16="http://schemas.microsoft.com/office/drawing/2014/main" id="{DD32E345-382C-41F7-BCA3-72E3E055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571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FD9E3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7" name="Smooth 0.5&#10;+ H128">
            <a:extLst xmlns:a="http://schemas.openxmlformats.org/drawingml/2006/main">
              <a:ext uri="{FF2B5EF4-FFF2-40B4-BE49-F238E27FC236}">
                <a16:creationId xmlns:a16="http://schemas.microsoft.com/office/drawing/2014/main" id="{0ADE67B7-6322-48B1-B383-D54A3FEB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362075"/>
            <a:ext cx="1485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11430">
            <a:solidFill>
              <a:srgbClr val="7EACDC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Smooth 0.5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+ H128</a:t>
            </a:r>
          </a:p>
        </p:txBody>
      </p:sp>
      <p:sp>
        <p:nvSpPr>
          <p:cNvPr id="8" name="÷ D">
            <a:extLst xmlns:a="http://schemas.openxmlformats.org/drawingml/2006/main">
              <a:ext uri="{FF2B5EF4-FFF2-40B4-BE49-F238E27FC236}">
                <a16:creationId xmlns:a16="http://schemas.microsoft.com/office/drawing/2014/main" id="{0490057E-DA5D-4BED-BF98-A536C371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1362075"/>
            <a:ext cx="1000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D9B466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÷ D</a:t>
            </a:r>
          </a:p>
        </p:txBody>
      </p:sp>
      <p:sp>
        <p:nvSpPr>
          <p:cNvPr id="9" name="Dynamic&#10;signed A4">
            <a:extLst xmlns:a="http://schemas.openxmlformats.org/drawingml/2006/main">
              <a:ext uri="{FF2B5EF4-FFF2-40B4-BE49-F238E27FC236}">
                <a16:creationId xmlns:a16="http://schemas.microsoft.com/office/drawing/2014/main" id="{023877B4-E5B3-41DD-B6A5-D1372B71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362075"/>
            <a:ext cx="15621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Dynamic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signed A4</a:t>
            </a:r>
          </a:p>
        </p:txBody>
      </p:sp>
      <p:sp>
        <p:nvSpPr>
          <p:cNvPr id="10" name="BF16&#10;dense Linear">
            <a:extLst xmlns:a="http://schemas.openxmlformats.org/drawingml/2006/main">
              <a:ext uri="{FF2B5EF4-FFF2-40B4-BE49-F238E27FC236}">
                <a16:creationId xmlns:a16="http://schemas.microsoft.com/office/drawing/2014/main" id="{5E457820-9E47-4D09-9B1B-FA42F7DD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62075"/>
            <a:ext cx="1762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11430">
            <a:solidFill>
              <a:srgbClr val="93A9C2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BF16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dense Linear</a:t>
            </a:r>
          </a:p>
        </p:txBody>
      </p:sp>
      <p:cxnSp>
        <p:nvCxnSpPr>
          <p:cNvPr id="11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4A9E33DA-C3FA-4372-8692-6E116B2CB6B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81100" y="1676400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2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B69A8E64-27F5-49C6-8E88-F19E42A4E0D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943225" y="1676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3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22194B51-F90F-41CD-9227-B38D0B7F333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229100" y="1676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4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CDF26E95-FD46-4CEA-A3DE-D965C093F11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076950" y="16764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15" name="z">
            <a:extLst xmlns:a="http://schemas.openxmlformats.org/drawingml/2006/main">
              <a:ext uri="{FF2B5EF4-FFF2-40B4-BE49-F238E27FC236}">
                <a16:creationId xmlns:a16="http://schemas.microsoft.com/office/drawing/2014/main" id="{9BD514D8-20D8-465D-BA81-D53D7AAB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438275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z</a:t>
            </a:r>
          </a:p>
        </p:txBody>
      </p:sp>
      <p:sp>
        <p:nvSpPr>
          <p:cNvPr id="16" name="v">
            <a:extLst xmlns:a="http://schemas.openxmlformats.org/drawingml/2006/main">
              <a:ext uri="{FF2B5EF4-FFF2-40B4-BE49-F238E27FC236}">
                <a16:creationId xmlns:a16="http://schemas.microsoft.com/office/drawing/2014/main" id="{7962F1A7-04E5-40F0-8CE2-83393796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438275"/>
            <a:ext cx="228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7" name="Weight path">
            <a:extLst xmlns:a="http://schemas.openxmlformats.org/drawingml/2006/main">
              <a:ext uri="{FF2B5EF4-FFF2-40B4-BE49-F238E27FC236}">
                <a16:creationId xmlns:a16="http://schemas.microsoft.com/office/drawing/2014/main" id="{7B24C0BA-7322-4018-9EF4-85C0CCD5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Weight path</a:t>
            </a:r>
          </a:p>
        </p:txBody>
      </p:sp>
      <p:sp>
        <p:nvSpPr>
          <p:cNvPr id="18" name="Frozen VQ&#10;representation">
            <a:extLst xmlns:a="http://schemas.openxmlformats.org/drawingml/2006/main">
              <a:ext uri="{FF2B5EF4-FFF2-40B4-BE49-F238E27FC236}">
                <a16:creationId xmlns:a16="http://schemas.microsoft.com/office/drawing/2014/main" id="{90F95EBD-A2CA-44E0-82B9-CD5A1117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925"/>
            <a:ext cx="20002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D9B466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Frozen VQ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19" name="Decode Wq">
            <a:extLst xmlns:a="http://schemas.openxmlformats.org/drawingml/2006/main">
              <a:ext uri="{FF2B5EF4-FFF2-40B4-BE49-F238E27FC236}">
                <a16:creationId xmlns:a16="http://schemas.microsoft.com/office/drawing/2014/main" id="{121BF9DC-689C-42E5-A34A-E8E672A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828925"/>
            <a:ext cx="155257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D9B466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Decode Wq</a:t>
            </a:r>
          </a:p>
        </p:txBody>
      </p:sp>
      <p:sp>
        <p:nvSpPr>
          <p:cNvPr id="20" name="BF16(Wq · D)&#10;cache once">
            <a:extLst xmlns:a="http://schemas.openxmlformats.org/drawingml/2006/main">
              <a:ext uri="{FF2B5EF4-FFF2-40B4-BE49-F238E27FC236}">
                <a16:creationId xmlns:a16="http://schemas.microsoft.com/office/drawing/2014/main" id="{603A0E03-341A-42CD-A768-0BC2A3BB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28925"/>
            <a:ext cx="1762125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11430">
            <a:solidFill>
              <a:srgbClr val="93A9C2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BF16(Wq · D)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cache once</a:t>
            </a:r>
          </a:p>
        </p:txBody>
      </p:sp>
      <p:cxnSp>
        <p:nvCxnSpPr>
          <p:cNvPr id="21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3B3D22C0-760D-4B8E-9FB7-270B7B03B51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609850" y="31242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2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ECC681EA-701F-496A-9562-EED32CD4522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533900" y="312420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23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D8AC73C7-EA19-4F6F-A86B-0D8CC66B713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667500" y="312420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</a:ln>
        </p:spPr>
      </p:cxnSp>
      <p:cxnSp>
        <p:nvCxnSpPr>
          <p:cNvPr id="24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13A16DCA-4B83-4F72-9B6C-AEE7D293E91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7572375" y="1990725"/>
            <a:ext cx="0" cy="11334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25" name="s_t = r_l · max |v_t| / 7">
            <a:extLst xmlns:a="http://schemas.openxmlformats.org/drawingml/2006/main">
              <a:ext uri="{FF2B5EF4-FFF2-40B4-BE49-F238E27FC236}">
                <a16:creationId xmlns:a16="http://schemas.microsoft.com/office/drawing/2014/main" id="{E90397C9-C31F-4D6F-93F3-8860EC63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s_t = r_l · max |v_t| / 7</a:t>
            </a:r>
          </a:p>
        </p:txBody>
      </p:sp>
      <p:sp>
        <p:nvSpPr>
          <p:cNvPr id="26" name="q = clamp(round(v / s_t), −7, 7)">
            <a:extLst xmlns:a="http://schemas.openxmlformats.org/drawingml/2006/main">
              <a:ext uri="{FF2B5EF4-FFF2-40B4-BE49-F238E27FC236}">
                <a16:creationId xmlns:a16="http://schemas.microsoft.com/office/drawing/2014/main" id="{5B1AB267-73BC-4315-9351-7F47194D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90950"/>
            <a:ext cx="4010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q = clamp(round(v / s_t), −7, 7)</a:t>
            </a:r>
          </a:p>
        </p:txBody>
      </p:sp>
      <p:sp>
        <p:nvSpPr>
          <p:cNvPr id="27" name="Learn D per channel + r_l per Linear on C80; keep VQ we">
            <a:extLst xmlns:a="http://schemas.openxmlformats.org/drawingml/2006/main">
              <a:ext uri="{FF2B5EF4-FFF2-40B4-BE49-F238E27FC236}">
                <a16:creationId xmlns:a16="http://schemas.microsoft.com/office/drawing/2014/main" id="{52B49B88-4332-45FB-B73A-2427CCCD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7924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Learn D per channel + r_l per Linear on C80; keep VQ weights fixed. BF16 KV; native VQ kernel pending.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Fast-WAM: LIBERO+ local baselines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5">
            <a:extLst xmlns:a="http://schemas.openxmlformats.org/drawingml/2006/main">
              <a:ext uri="{FF2B5EF4-FFF2-40B4-BE49-F238E27FC236}">
                <a16:creationId xmlns:a16="http://schemas.microsoft.com/office/drawing/2014/main" id="{8FF2626E-B834-4843-92F8-96499DAA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005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Frozen paired cohort: 4 suites × 7 perturbations × 10 v">
            <a:extLst xmlns:a="http://schemas.openxmlformats.org/drawingml/2006/main">
              <a:ext uri="{FF2B5EF4-FFF2-40B4-BE49-F238E27FC236}">
                <a16:creationId xmlns:a16="http://schemas.microsoft.com/office/drawing/2014/main" id="{670D6530-E84C-438E-9E68-8968D9AD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7924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Frozen paired cohort: 4 suites × 7 perturbations × 10 variants = 280 episodes / arm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3A00E-CF8B-46BA-9993-62C11D5A9140}"/>
              </a:ext>
            </a:extLst>
          </p:cNvPr>
          <p:cNvGraphicFramePr/>
          <p:nvPr/>
        </p:nvGraphicFramePr>
        <p:xfrm>
          <a:off xmlns:a="http://schemas.openxmlformats.org/drawingml/2006/main" x="609600" y="1352550"/>
          <a:ext xmlns:a="http://schemas.openxmlformats.org/drawingml/2006/main" cx="7924800" cy="2609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3150"/>
                <a:gridCol w="723900"/>
                <a:gridCol w="809625"/>
                <a:gridCol w="809625"/>
                <a:gridCol w="809625"/>
                <a:gridCol w="809625"/>
                <a:gridCol w="1619250"/>
              </a:tblGrid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Eq. bpw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16.00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216 (77.14%)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QuaRot adapted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≈4.13†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195 (69.64%)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SpinQuant adapted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≈4.13†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203 (72.50%)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Smooth + H128 Scalar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4.14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200 (71.43%)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Row-scale VQ + 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4.02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 (72.14%)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2836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B32 Micro VQ + 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204 (72.86%)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</a:tr>
            </a:tbl>
          </a:graphicData>
        </a:graphic>
      </p:graphicFrame>
      <p:sp>
        <p:nvSpPr>
          <p:cNvPr id="7" name="Microscaling VQ: 204/280 vs local SpinQuant 203/280">
            <a:extLst xmlns:a="http://schemas.openxmlformats.org/drawingml/2006/main">
              <a:ext uri="{FF2B5EF4-FFF2-40B4-BE49-F238E27FC236}">
                <a16:creationId xmlns:a16="http://schemas.microsoft.com/office/drawing/2014/main" id="{DEEAAEF1-56E9-4219-87E7-0AF037F9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792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Microscaling VQ: 204/280 vs local SpinQuant 203/280</a:t>
            </a:r>
          </a:p>
        </p:txBody>
      </p:sp>
      <p:sp>
        <p:nvSpPr>
          <p:cNvPr id="8" name="Overall denominator: 280; suite cells: /70. Low-bit arm">
            <a:extLst xmlns:a="http://schemas.openxmlformats.org/drawingml/2006/main">
              <a:ext uri="{FF2B5EF4-FFF2-40B4-BE49-F238E27FC236}">
                <a16:creationId xmlns:a16="http://schemas.microsoft.com/office/drawing/2014/main" id="{1D3A956E-4519-4AB1-B8DE-65BE1BCA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7924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73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73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Overall denominator: 280; suite cells: /70. Low-bit arms: W4A4. † bpw estimates exclude rotation/tail overhead.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Fast-WAM: supervision and refinement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6">
            <a:extLst xmlns:a="http://schemas.openxmlformats.org/drawingml/2006/main">
              <a:ext uri="{FF2B5EF4-FFF2-40B4-BE49-F238E27FC236}">
                <a16:creationId xmlns:a16="http://schemas.microsoft.com/office/drawing/2014/main" id="{F97E9971-8CB9-4E18-A99A-DC174839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005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A+Z: action+latent · C8 weight calibration / C80 activa">
            <a:extLst xmlns:a="http://schemas.openxmlformats.org/drawingml/2006/main">
              <a:ext uri="{FF2B5EF4-FFF2-40B4-BE49-F238E27FC236}">
                <a16:creationId xmlns:a16="http://schemas.microsoft.com/office/drawing/2014/main" id="{2090CFD7-1982-44B9-97A0-E2B60C21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92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A+Z: action+latent · C8 weight calibration / C80 activation refinement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FB2FE-E83B-4E83-87D2-D353EA6C6DF7}"/>
              </a:ext>
            </a:extLst>
          </p:cNvPr>
          <p:cNvGraphicFramePr/>
          <p:nvPr/>
        </p:nvGraphicFramePr>
        <p:xfrm>
          <a:off xmlns:a="http://schemas.openxmlformats.org/drawingml/2006/main" x="609600" y="1276350"/>
          <a:ext xmlns:a="http://schemas.openxmlformats.org/drawingml/2006/main" cx="7924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3150"/>
                <a:gridCol w="723900"/>
                <a:gridCol w="809625"/>
                <a:gridCol w="809625"/>
                <a:gridCol w="809625"/>
                <a:gridCol w="809625"/>
                <a:gridCol w="1619250"/>
              </a:tblGrid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Eq. bpw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16.00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216 (77.14%)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B32 Micro VQ + 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204 (72.86%)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 A+Z, ρ0.1 · 2 epochs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201 (71.79%)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 A+Z, ρ1.5 · 1 epoch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206 (73.57%)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C80 clip-only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51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50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207 (73.93%)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C80 joint VQ + clip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4.27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52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53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 (72.14%)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C80 channel scales + clip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4.28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56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47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203 (72.50%)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est completed low-bit result here: clip-only 207/280 (">
            <a:extLst xmlns:a="http://schemas.openxmlformats.org/drawingml/2006/main">
              <a:ext uri="{FF2B5EF4-FFF2-40B4-BE49-F238E27FC236}">
                <a16:creationId xmlns:a16="http://schemas.microsoft.com/office/drawing/2014/main" id="{5D0AB6E1-7573-4C49-9FF5-75551C00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792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Best completed low-bit result here: clip-only 207/280 (73.93%)</a:t>
            </a:r>
          </a:p>
        </p:txBody>
      </p:sp>
      <p:sp>
        <p:nvSpPr>
          <p:cNvPr id="8" name="Overall: /280; suite: /70. Target-weight bpw includes m">
            <a:extLst xmlns:a="http://schemas.openxmlformats.org/drawingml/2006/main">
              <a:ext uri="{FF2B5EF4-FFF2-40B4-BE49-F238E27FC236}">
                <a16:creationId xmlns:a16="http://schemas.microsoft.com/office/drawing/2014/main" id="{E20005B5-4A10-4ABD-A3EB-DFD7DA82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7924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Overall: /280; suite: /70. Target-weight bpw includes metadata; VQ uses decoded BF16 + fake A4.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Cosmos Policy: LIBERO+ transfer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7">
            <a:extLst xmlns:a="http://schemas.openxmlformats.org/drawingml/2006/main">
              <a:ext uri="{FF2B5EF4-FFF2-40B4-BE49-F238E27FC236}">
                <a16:creationId xmlns:a16="http://schemas.microsoft.com/office/drawing/2014/main" id="{BF23D87F-8729-46D6-857A-9737977C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005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Direct policy · C8 calibration · same 280 paired varian">
            <a:extLst xmlns:a="http://schemas.openxmlformats.org/drawingml/2006/main">
              <a:ext uri="{FF2B5EF4-FFF2-40B4-BE49-F238E27FC236}">
                <a16:creationId xmlns:a16="http://schemas.microsoft.com/office/drawing/2014/main" id="{3FD9FEC3-13F8-4791-B5C5-04B89C38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9625"/>
            <a:ext cx="792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Direct policy · C8 calibration · same 280 paired variants per arm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9CF9A-BBC1-4EC0-80F0-EDE77016FB08}"/>
              </a:ext>
            </a:extLst>
          </p:cNvPr>
          <p:cNvGraphicFramePr/>
          <p:nvPr/>
        </p:nvGraphicFramePr>
        <p:xfrm>
          <a:off xmlns:a="http://schemas.openxmlformats.org/drawingml/2006/main" x="609600" y="1333500"/>
          <a:ext xmlns:a="http://schemas.openxmlformats.org/drawingml/2006/main" cx="7924800" cy="1771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3150"/>
                <a:gridCol w="723900"/>
                <a:gridCol w="809625"/>
                <a:gridCol w="809625"/>
                <a:gridCol w="809625"/>
                <a:gridCol w="809625"/>
                <a:gridCol w="1619250"/>
              </a:tblGrid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Eq. bpw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Goal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Long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Overall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16.00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59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62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58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233 (83.21%)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SpinQuant adapted W4A4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4.13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54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61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46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221 (78.93%)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Action+latent Micro VQ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4.29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57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62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49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58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226 (80.71%)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</a:tr>
            </a:tbl>
          </a:graphicData>
        </a:graphic>
      </p:graphicFrame>
      <p:sp>
        <p:nvSpPr>
          <p:cNvPr id="7" name="+5 successes vs SpinQuant; −7 vs BF16">
            <a:extLst xmlns:a="http://schemas.openxmlformats.org/drawingml/2006/main">
              <a:ext uri="{FF2B5EF4-FFF2-40B4-BE49-F238E27FC236}">
                <a16:creationId xmlns:a16="http://schemas.microsoft.com/office/drawing/2014/main" id="{D924FAD7-33A8-4EC8-859B-CC3AC0EF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792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+5 successes vs SpinQuant; −7 vs BF16</a:t>
            </a:r>
          </a:p>
        </p:txBody>
      </p:sp>
      <p:sp>
        <p:nvSpPr>
          <p:cNvPr id="8" name="VQ uses 3.92% more target-weight bits than SpinQuant.&#10;W">
            <a:extLst xmlns:a="http://schemas.openxmlformats.org/drawingml/2006/main">
              <a:ext uri="{FF2B5EF4-FFF2-40B4-BE49-F238E27FC236}">
                <a16:creationId xmlns:a16="http://schemas.microsoft.com/office/drawing/2014/main" id="{5551FDCF-00DE-44BF-B6A8-44F65278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7924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VQ uses 3.92% more target-weight bits than SpinQuant.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Whole-DiT bpw: 5.45 vs 5.31; transferability of the current recipe is demonstrated.</a:t>
            </a:r>
          </a:p>
        </p:txBody>
      </p:sp>
      <p:sp>
        <p:nvSpPr>
          <p:cNvPr id="9" name="Overall: /280; suite: /70. bpw covers target weights. D">
            <a:extLst xmlns:a="http://schemas.openxmlformats.org/drawingml/2006/main">
              <a:ext uri="{FF2B5EF4-FFF2-40B4-BE49-F238E27FC236}">
                <a16:creationId xmlns:a16="http://schemas.microsoft.com/office/drawing/2014/main" id="{359A938C-0F83-48C2-8E74-F6CD6075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7924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Overall: /280; suite: /70. bpw covers target weights. Decoded BF16 / fake A4; native speedup remains untested.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4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Does protecting the future help downstream actions?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8">
            <a:extLst xmlns:a="http://schemas.openxmlformats.org/drawingml/2006/main">
              <a:ext uri="{FF2B5EF4-FFF2-40B4-BE49-F238E27FC236}">
                <a16:creationId xmlns:a16="http://schemas.microsoft.com/office/drawing/2014/main" id="{7884B4B0-1758-4E36-B0F5-8F54374B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005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Future donor&#10;Parent / action-only / +latent">
            <a:extLst xmlns:a="http://schemas.openxmlformats.org/drawingml/2006/main">
              <a:ext uri="{FF2B5EF4-FFF2-40B4-BE49-F238E27FC236}">
                <a16:creationId xmlns:a16="http://schemas.microsoft.com/office/drawing/2014/main" id="{F9B97089-A337-4A08-A9E6-E0A63C49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30289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D9B466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Future donor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Parent / action-only / +latent</a:t>
            </a:r>
          </a:p>
        </p:txBody>
      </p:sp>
      <p:sp>
        <p:nvSpPr>
          <p:cNvPr id="6" name="Fixed BF16 reader&#10;video K/V → Action DiT">
            <a:extLst xmlns:a="http://schemas.openxmlformats.org/drawingml/2006/main">
              <a:ext uri="{FF2B5EF4-FFF2-40B4-BE49-F238E27FC236}">
                <a16:creationId xmlns:a16="http://schemas.microsoft.com/office/drawing/2014/main" id="{6FB435E4-819F-4D88-B27F-8C1F3B0A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971550"/>
            <a:ext cx="30289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11430">
            <a:solidFill>
              <a:srgbClr val="7EACDC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Fixed BF16 reader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video K/V → Action DiT</a:t>
            </a:r>
          </a:p>
        </p:txBody>
      </p:sp>
      <p:cxnSp>
        <p:nvCxnSpPr>
          <p:cNvPr id="7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CB7059DB-E522-4E50-A0A3-67E6F625C6D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638550" y="1323975"/>
            <a:ext cx="638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8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EE924E2E-0E85-4B2D-AD35-D3DB71759F0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05675" y="1323975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9" name="a">
            <a:extLst xmlns:a="http://schemas.openxmlformats.org/drawingml/2006/main">
              <a:ext uri="{FF2B5EF4-FFF2-40B4-BE49-F238E27FC236}">
                <a16:creationId xmlns:a16="http://schemas.microsoft.com/office/drawing/2014/main" id="{F73FBE39-AA9D-4862-81F0-B5FF7E80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057275"/>
            <a:ext cx="666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BD3457-06AE-4476-80DB-6E89D658BA66}"/>
              </a:ext>
            </a:extLst>
          </p:cNvPr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7924800" cy="1695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571750"/>
                <a:gridCol w="2400300"/>
              </a:tblGrid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donor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First-10 motor RMSE ↓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Vs action-only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Parent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0.036145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−12.36%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Action-only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0.041243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Reference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Action+latent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0.035084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5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−14.93%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</a:tr>
            </a:tbl>
          </a:graphicData>
        </a:graphic>
      </p:graphicFrame>
      <p:sp>
        <p:nvSpPr>
          <p:cNvPr id="11" name="Protecting future latents improves mean downstream moto">
            <a:extLst xmlns:a="http://schemas.openxmlformats.org/drawingml/2006/main">
              <a:ext uri="{FF2B5EF4-FFF2-40B4-BE49-F238E27FC236}">
                <a16:creationId xmlns:a16="http://schemas.microsoft.com/office/drawing/2014/main" id="{5EDAC540-6F62-4A82-8B73-B5FE086E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792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Protecting future latents improves mean downstream motor fidelity</a:t>
            </a:r>
          </a:p>
        </p:txBody>
      </p:sp>
      <p:sp>
        <p:nvSpPr>
          <p:cNvPr id="12" name="Earlier row-scale VQ family: 22 cases × 2 seeds; 13/22 ">
            <a:extLst xmlns:a="http://schemas.openxmlformats.org/drawingml/2006/main">
              <a:ext uri="{FF2B5EF4-FFF2-40B4-BE49-F238E27FC236}">
                <a16:creationId xmlns:a16="http://schemas.microsoft.com/office/drawing/2014/main" id="{1FF4ECC2-F372-43AD-A818-124E15B3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924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Earlier row-scale VQ family: 22 cases × 2 seeds; 13/22 improve. Fixed-input teacher fidelity; no closed-loop claim.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Future protection across readers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9">
            <a:extLst xmlns:a="http://schemas.openxmlformats.org/drawingml/2006/main">
              <a:ext uri="{FF2B5EF4-FFF2-40B4-BE49-F238E27FC236}">
                <a16:creationId xmlns:a16="http://schemas.microsoft.com/office/drawing/2014/main" id="{37328851-47E3-4E70-915E-C62CC322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005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The mean gain transfers across readers">
            <a:extLst xmlns:a="http://schemas.openxmlformats.org/drawingml/2006/main">
              <a:ext uri="{FF2B5EF4-FFF2-40B4-BE49-F238E27FC236}">
                <a16:creationId xmlns:a16="http://schemas.microsoft.com/office/drawing/2014/main" id="{F8C8A040-475B-4974-8FD5-DCF7A592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92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The mean gain transfers across readers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C8D2E-3244-4E64-8660-7F94C9F3BBBD}"/>
              </a:ext>
            </a:extLst>
          </p:cNvPr>
          <p:cNvGraphicFramePr/>
          <p:nvPr/>
        </p:nvGraphicFramePr>
        <p:xfrm>
          <a:off xmlns:a="http://schemas.openxmlformats.org/drawingml/2006/main" x="609600" y="1333500"/>
          <a:ext xmlns:a="http://schemas.openxmlformats.org/drawingml/2006/main" cx="7924800" cy="1181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343150"/>
                <a:gridCol w="2343150"/>
              </a:tblGrid>
              <a:tr h="3937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Fixed student reader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A-only future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A+latent future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Action-only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0.058110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0.053481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Action+latent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0.058677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0.052951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Most of the gain can be reproduced by reducing future e">
            <a:extLst xmlns:a="http://schemas.openxmlformats.org/drawingml/2006/main">
              <a:ext uri="{FF2B5EF4-FFF2-40B4-BE49-F238E27FC236}">
                <a16:creationId xmlns:a16="http://schemas.microsoft.com/office/drawing/2014/main" id="{4FE23CBF-8C0C-4F1A-B029-912576AC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792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Most of the gain can be reproduced by reducing future error energy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8CB40-0318-4AE1-9C95-F63720886A99}"/>
              </a:ext>
            </a:extLst>
          </p:cNvPr>
          <p:cNvGraphicFramePr/>
          <p:nvPr/>
        </p:nvGraphicFramePr>
        <p:xfrm>
          <a:off xmlns:a="http://schemas.openxmlformats.org/drawingml/2006/main" x="609600" y="3181350"/>
          <a:ext xmlns:a="http://schemas.openxmlformats.org/drawingml/2006/main" cx="7924800" cy="1304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2057400"/>
                <a:gridCol w="2057400"/>
              </a:tblGrid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donor · fixed BF16 reader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Future NMSE ↓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</a:tr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A: action-only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0.093011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0.041243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C: A, NMSE matched to B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0.071786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0.036074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623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B: action+latent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0.071787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0.035084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</a:tr>
            </a:tbl>
          </a:graphicData>
        </a:graphic>
      </p:graphicFrame>
      <p:sp>
        <p:nvSpPr>
          <p:cNvPr id="9" name="B vs C improves 11/22 cases; no robust extra benefit at">
            <a:extLst xmlns:a="http://schemas.openxmlformats.org/drawingml/2006/main">
              <a:ext uri="{FF2B5EF4-FFF2-40B4-BE49-F238E27FC236}">
                <a16:creationId xmlns:a16="http://schemas.microsoft.com/office/drawing/2014/main" id="{D004A614-A6C7-4815-A0A2-FAE1B2C9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7924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8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8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B vs C improves 11/22 cases; no robust extra benefit at matched NMSE. This supports latent fidelity, not a unique mechanism.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MSE fidelity and closed-loop success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350992AB-5D5D-4644-B5B3-F4BA68EA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005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Original objective:  L = MSE_action + ρc · NMSE_future">
            <a:extLst xmlns:a="http://schemas.openxmlformats.org/drawingml/2006/main">
              <a:ext uri="{FF2B5EF4-FFF2-40B4-BE49-F238E27FC236}">
                <a16:creationId xmlns:a16="http://schemas.microsoft.com/office/drawing/2014/main" id="{D751AF47-60DE-4E26-B4E2-AA672542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"/>
            <a:ext cx="7924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Original objective:  L = MSE_action + ρc · NMSE_future</a:t>
            </a:r>
          </a:p>
        </p:txBody>
      </p:sp>
      <p:sp>
        <p:nvSpPr>
          <p:cNvPr id="6" name="c is frozen from initial calibration loss values; ρ = 1">
            <a:extLst xmlns:a="http://schemas.openxmlformats.org/drawingml/2006/main">
              <a:ext uri="{FF2B5EF4-FFF2-40B4-BE49-F238E27FC236}">
                <a16:creationId xmlns:a16="http://schemas.microsoft.com/office/drawing/2014/main" id="{0B9524AA-DB39-4CC7-AE02-935EF4CF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47775"/>
            <a:ext cx="792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c is frozen from initial calibration loss values; ρ = 1.5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79D55-57AB-4DB5-9CF3-C8C7EED93531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7924800" cy="1695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524000"/>
                <a:gridCol w="1581150"/>
                <a:gridCol w="1962150"/>
              </a:tblGrid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C80 refinement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NMSE ↓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LIBERO+ success ↑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Clip-only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0.043848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0.054848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207/280 · 73.93%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Joint VQ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0.041847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0.048973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202/280 · 72.14%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Per-channel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0.031641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0.055378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75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203/280 · 72.50%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</a:tr>
            </a:tbl>
          </a:graphicData>
        </a:graphic>
      </p:graphicFrame>
      <p:sp>
        <p:nvSpPr>
          <p:cNvPr id="8" name="−27.84% motor RMSE, but −4 closed-loop successes vs cli">
            <a:extLst xmlns:a="http://schemas.openxmlformats.org/drawingml/2006/main">
              <a:ext uri="{FF2B5EF4-FFF2-40B4-BE49-F238E27FC236}">
                <a16:creationId xmlns:a16="http://schemas.microsoft.com/office/drawing/2014/main" id="{D7B7B3B3-7EA6-4088-A6E5-75F1A0B1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792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444F"/>
                </a:solidFill>
                <a:latin typeface="Arial"/>
                <a:ea typeface="Arial"/>
                <a:cs typeface="Arial"/>
              </a:rPr>
              <a:t>−27.84% motor RMSE, but −4 closed-loop successes vs clip-only</a:t>
            </a:r>
          </a:p>
        </p:txBody>
      </p:sp>
      <p:sp>
        <p:nvSpPr>
          <p:cNvPr id="9" name="Motivation: preserve the structure of action sequences ">
            <a:extLst xmlns:a="http://schemas.openxmlformats.org/drawingml/2006/main">
              <a:ext uri="{FF2B5EF4-FFF2-40B4-BE49-F238E27FC236}">
                <a16:creationId xmlns:a16="http://schemas.microsoft.com/office/drawing/2014/main" id="{F5F1C212-E5F1-4345-84D8-ACB1E0D1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92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Motivation: preserve the structure of action sequences and future latents,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then test whether the objective better tracks rollout failures.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Soft-bin KL: preserve absolute values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E56261C3-EF7A-47E2-A4F9-6DCFB75E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005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acher xₜ">
            <a:extLst xmlns:a="http://schemas.openxmlformats.org/drawingml/2006/main">
              <a:ext uri="{FF2B5EF4-FFF2-40B4-BE49-F238E27FC236}">
                <a16:creationId xmlns:a16="http://schemas.microsoft.com/office/drawing/2014/main" id="{E7F35945-3C59-4F64-B6DF-60A65654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33475"/>
            <a:ext cx="1562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C"/>
          </a:solidFill>
          <a:ln xmlns:a="http://schemas.openxmlformats.org/drawingml/2006/main" w="11430">
            <a:solidFill>
              <a:srgbClr val="7EACDC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Teacher xₜ</a:t>
            </a:r>
          </a:p>
        </p:txBody>
      </p:sp>
      <p:sp>
        <p:nvSpPr>
          <p:cNvPr id="6" name="Student xₛ">
            <a:extLst xmlns:a="http://schemas.openxmlformats.org/drawingml/2006/main">
              <a:ext uri="{FF2B5EF4-FFF2-40B4-BE49-F238E27FC236}">
                <a16:creationId xmlns:a16="http://schemas.microsoft.com/office/drawing/2014/main" id="{E2D84521-2508-43D6-B70B-9F0B1479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562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E"/>
          </a:solidFill>
          <a:ln xmlns:a="http://schemas.openxmlformats.org/drawingml/2006/main" w="11430">
            <a:solidFill>
              <a:srgbClr val="D89BA2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Student xₛ</a:t>
            </a:r>
          </a:p>
        </p:txBody>
      </p:sp>
      <p:sp>
        <p:nvSpPr>
          <p:cNvPr id="7" name="Shared frozen&#10;channel normalization">
            <a:extLst xmlns:a="http://schemas.openxmlformats.org/drawingml/2006/main">
              <a:ext uri="{FF2B5EF4-FFF2-40B4-BE49-F238E27FC236}">
                <a16:creationId xmlns:a16="http://schemas.microsoft.com/office/drawing/2014/main" id="{8D2D4D33-CDE7-401C-824E-0612D531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400175"/>
            <a:ext cx="2428875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A"/>
          </a:solidFill>
          <a:ln xmlns:a="http://schemas.openxmlformats.org/drawingml/2006/main" w="11430">
            <a:solidFill>
              <a:srgbClr val="93A9C2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Shared frozen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channel normalization</a:t>
            </a:r>
          </a:p>
        </p:txBody>
      </p:sp>
      <p:cxnSp>
        <p:nvCxnSpPr>
          <p:cNvPr id="8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5896AC8E-D07D-4E6B-87D9-820881A2931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71700" y="141922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</a:ln>
        </p:spPr>
      </p:cxnSp>
      <p:cxnSp>
        <p:nvCxnSpPr>
          <p:cNvPr id="9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290B188D-ADCA-4BCC-8397-EEE1977CC90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43175" y="1419225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</a:ln>
        </p:spPr>
      </p:cxnSp>
      <p:cxnSp>
        <p:nvCxnSpPr>
          <p:cNvPr id="10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85B0EBA0-B0D4-4F5A-9171-40954BD7BB1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43175" y="1695450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cxnSp>
        <p:nvCxnSpPr>
          <p:cNvPr id="11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2D6A284E-C289-4BDF-9CF3-18659A59FA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71700" y="2600325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</a:ln>
        </p:spPr>
      </p:cxnSp>
      <p:cxnSp>
        <p:nvCxnSpPr>
          <p:cNvPr id="12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A85C8A12-4535-445A-880E-E2327597E8F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2543175" y="2085975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</a:ln>
        </p:spPr>
      </p:cxnSp>
      <p:cxnSp>
        <p:nvCxnSpPr>
          <p:cNvPr id="13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C7AD315A-1DC2-4216-AE1A-8D125F466E5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43175" y="208597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14" name="z = (x − μ_c) / max(σ_c, 0.02)">
            <a:extLst xmlns:a="http://schemas.openxmlformats.org/drawingml/2006/main">
              <a:ext uri="{FF2B5EF4-FFF2-40B4-BE49-F238E27FC236}">
                <a16:creationId xmlns:a16="http://schemas.microsoft.com/office/drawing/2014/main" id="{AFB2DF1E-B24D-4E69-81D6-1D7A3A0CE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33650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z = (x − μ_c) / max(σ_c, 0.02)</a:t>
            </a:r>
          </a:p>
        </p:txBody>
      </p:sp>
      <p:cxnSp>
        <p:nvCxnSpPr>
          <p:cNvPr id="15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BF33ECD2-2DD8-4C51-B294-8A3B249440E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200650" y="1885950"/>
            <a:ext cx="4857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92C45"/>
            </a:solidFill>
            <a:prstDash val="solid"/>
            <a:tailEnd type="triangle" w="sm" len="sm"/>
          </a:ln>
        </p:spPr>
      </p:cxnSp>
      <p:sp>
        <p:nvSpPr>
          <p:cNvPr id="16" name="16-bin distribution&#10;Gaussian CDF mass&#10;σ = 0.375">
            <a:extLst xmlns:a="http://schemas.openxmlformats.org/drawingml/2006/main">
              <a:ext uri="{FF2B5EF4-FFF2-40B4-BE49-F238E27FC236}">
                <a16:creationId xmlns:a16="http://schemas.microsoft.com/office/drawing/2014/main" id="{5E1A09B9-607C-4FA7-A151-E7AAAE95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381125"/>
            <a:ext cx="27813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16-bin distribution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Gaussian CDF mass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σ = 0.375</a:t>
            </a:r>
          </a:p>
        </p:txBody>
      </p:sp>
      <p:sp>
        <p:nvSpPr>
          <p:cNvPr id="1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2A6DEE0-C5E6-4793-A4D5-CFA3F3E3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00325"/>
            <a:ext cx="123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2A44217-9C20-43B4-A7B6-6540AB38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00325"/>
            <a:ext cx="123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1730DF1-C624-40EA-8E24-60078B94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00325"/>
            <a:ext cx="123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1AB72A5-0CA3-4F90-8F52-CD12D164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0325"/>
            <a:ext cx="123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35DCBFB-5DB8-4297-98BB-FC004932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0325"/>
            <a:ext cx="123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ED13E88-5049-44EF-B3E0-C4469ED1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00325"/>
            <a:ext cx="123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FD9F15A-A2CB-4F57-8DFB-9D0508C3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23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8921DD8-05DD-4B53-83F6-465981B0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0325"/>
            <a:ext cx="123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63642A2-D249-49FE-8931-3ACA17D5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00325"/>
            <a:ext cx="123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51C0D02-C47E-4E71-8852-B8F471E6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600325"/>
            <a:ext cx="123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B1C1F7D-C57B-46FB-9B5A-F17BCFF2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00325"/>
            <a:ext cx="123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774EB1C-BC8B-484A-98AB-EC7800B0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00325"/>
            <a:ext cx="123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C4CD22D-8E33-4792-A1BA-D02CE4C1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00325"/>
            <a:ext cx="123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3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ADDB095-6B08-43EF-9256-8E5E3836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00325"/>
            <a:ext cx="123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3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DA7AFEE-EF63-43F3-8081-30A83CB0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00325"/>
            <a:ext cx="123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3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D73B1E8-FC5F-4480-AEF9-6B85AE5F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00325"/>
            <a:ext cx="123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33" name="15 interior edges: −3.5 … 3.5 + 2 tails">
            <a:extLst xmlns:a="http://schemas.openxmlformats.org/drawingml/2006/main">
              <a:ext uri="{FF2B5EF4-FFF2-40B4-BE49-F238E27FC236}">
                <a16:creationId xmlns:a16="http://schemas.microsoft.com/office/drawing/2014/main" id="{63D63C5D-80FC-4E22-B04E-42FA9CFC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52750"/>
            <a:ext cx="2981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15 interior edges: −3.5 … 3.5 + 2 tails</a:t>
            </a:r>
          </a:p>
        </p:txBody>
      </p:sp>
      <p:sp>
        <p:nvSpPr>
          <p:cNvPr id="34" name="L_bin = mean over scalar positions KL(p_teacher || p_st">
            <a:extLst xmlns:a="http://schemas.openxmlformats.org/drawingml/2006/main">
              <a:ext uri="{FF2B5EF4-FFF2-40B4-BE49-F238E27FC236}">
                <a16:creationId xmlns:a16="http://schemas.microsoft.com/office/drawing/2014/main" id="{115E69A7-B121-4B58-B928-B5FF7EA1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7924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ctr"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L_bin = mean over scalar positions KL(p_teacher || p_student)</a:t>
            </a:r>
          </a:p>
        </p:txBody>
      </p:sp>
      <p:sp>
        <p:nvSpPr>
          <p:cNvPr id="35" name="Apply separately to first 10 × 6 motor values and futur">
            <a:extLst xmlns:a="http://schemas.openxmlformats.org/drawingml/2006/main">
              <a:ext uri="{FF2B5EF4-FFF2-40B4-BE49-F238E27FC236}">
                <a16:creationId xmlns:a16="http://schemas.microsoft.com/office/drawing/2014/main" id="{3BFC86CF-A0D5-4555-A5D8-AF767127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7924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Apply separately to first 10 × 6 motor values and future latent values.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Soft-bin keeps the absolute-value anchor when relation distances have blind spots.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Temporal / spatial relational KL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411FB628-A2B6-47B2-9BAB-086FCF51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005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Action: ordered temporal windows">
            <a:extLst xmlns:a="http://schemas.openxmlformats.org/drawingml/2006/main">
              <a:ext uri="{FF2B5EF4-FFF2-40B4-BE49-F238E27FC236}">
                <a16:creationId xmlns:a16="http://schemas.microsoft.com/office/drawing/2014/main" id="{59669466-6C53-427B-B4ED-6C46401E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3962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Action: ordered temporal windows</a:t>
            </a:r>
          </a:p>
        </p:txBody>
      </p:sp>
      <p:sp>
        <p:nvSpPr>
          <p:cNvPr id="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8EA4C19-E5A1-4F94-BD67-8084C4839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285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2F92EAD-E5AB-4D6D-AFF8-E0F35126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276350"/>
            <a:ext cx="285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5D3A425-655A-4CF5-AC96-DB838534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276350"/>
            <a:ext cx="285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F05203D-F118-49BB-A059-FD9378A1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276350"/>
            <a:ext cx="285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AB8897E-48E7-4E70-A1D2-C10E56B7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276350"/>
            <a:ext cx="285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61D9A9B-31E1-4D59-84EA-42454C74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276350"/>
            <a:ext cx="285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881E08D-C186-45CE-AB6A-882A0ECE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76350"/>
            <a:ext cx="285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78F9CFC-3714-4BF1-AF74-1101FA61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276350"/>
            <a:ext cx="285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963F57D-B761-48BE-BC38-27DA2272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276350"/>
            <a:ext cx="285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6DFA513-32FE-456C-872C-54E64635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276350"/>
            <a:ext cx="285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6" name="10 steps × 6 motor dimensions">
            <a:extLst xmlns:a="http://schemas.openxmlformats.org/drawingml/2006/main">
              <a:ext uri="{FF2B5EF4-FFF2-40B4-BE49-F238E27FC236}">
                <a16:creationId xmlns:a16="http://schemas.microsoft.com/office/drawing/2014/main" id="{E49E327B-3084-4511-9DA7-C9369001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35337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10 steps × 6 motor dimensions</a:t>
            </a:r>
          </a:p>
        </p:txBody>
      </p:sp>
      <p:cxnSp>
        <p:nvCxnSpPr>
          <p:cNvPr id="17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6890D646-F940-4B68-8AF1-127767197C1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14575" y="194310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18" name="[a₁,a₂,a₃]   [a₂,a₃,a₄]  …&#10;8 ordered tokens × 18 features">
            <a:extLst xmlns:a="http://schemas.openxmlformats.org/drawingml/2006/main">
              <a:ext uri="{FF2B5EF4-FFF2-40B4-BE49-F238E27FC236}">
                <a16:creationId xmlns:a16="http://schemas.microsoft.com/office/drawing/2014/main" id="{B162DF4C-1EB1-4241-9755-ED12BC5A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48615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4"/>
          </a:solidFill>
          <a:ln xmlns:a="http://schemas.openxmlformats.org/drawingml/2006/main" w="11430">
            <a:solidFill>
              <a:srgbClr val="72B4B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[a₁,a₂,a₃]   [a₂,a₃,a₄]  …</a:t>
            </a:r>
          </a:p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8 ordered tokens × 18 features</a:t>
            </a:r>
          </a:p>
        </p:txBody>
      </p:sp>
      <p:sp>
        <p:nvSpPr>
          <p:cNvPr id="19" name="Neighbors: all other windows&#10;Self-pairs masked">
            <a:extLst xmlns:a="http://schemas.openxmlformats.org/drawingml/2006/main">
              <a:ext uri="{FF2B5EF4-FFF2-40B4-BE49-F238E27FC236}">
                <a16:creationId xmlns:a16="http://schemas.microsoft.com/office/drawing/2014/main" id="{D4304640-07F9-4A82-9AF7-C848FA98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486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Neighbors: all other windows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Self-pairs masked</a:t>
            </a:r>
          </a:p>
        </p:txBody>
      </p:sp>
      <p:sp>
        <p:nvSpPr>
          <p:cNvPr id="20" name="Latent: spatial + temporal graph">
            <a:extLst xmlns:a="http://schemas.openxmlformats.org/drawingml/2006/main">
              <a:ext uri="{FF2B5EF4-FFF2-40B4-BE49-F238E27FC236}">
                <a16:creationId xmlns:a16="http://schemas.microsoft.com/office/drawing/2014/main" id="{72DFEF4E-7146-4551-90FC-722BDC0C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838200"/>
            <a:ext cx="3886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Latent: spatial + temporal graph</a:t>
            </a:r>
          </a:p>
        </p:txBody>
      </p:sp>
      <p:sp>
        <p:nvSpPr>
          <p:cNvPr id="21" name="2 future times × 2 views × 7 × 7&#10;196 tokens × 48 featur">
            <a:extLst xmlns:a="http://schemas.openxmlformats.org/drawingml/2006/main">
              <a:ext uri="{FF2B5EF4-FFF2-40B4-BE49-F238E27FC236}">
                <a16:creationId xmlns:a16="http://schemas.microsoft.com/office/drawing/2014/main" id="{7646156C-7163-4544-83D1-4D9A3323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190625"/>
            <a:ext cx="3886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2 future times × 2 views × 7 × 7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196 tokens × 48 features</a:t>
            </a:r>
          </a:p>
        </p:txBody>
      </p:sp>
      <p:sp>
        <p:nvSpPr>
          <p:cNvPr id="2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C299FB0-9DE5-46DC-AA1F-A2ABBC4A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97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277D500-4A75-4A79-8FFB-F28CCDA2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0097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62F5704-CB85-439B-A0CC-6811BCE2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097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27864E3-47CA-43FE-9203-4D773CBE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097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38C1028-CB9E-42EF-80E1-D7637813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097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7CAF79A-C913-4E8C-A607-F55A025E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97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AF82843-AE13-4E33-9023-85326C1B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097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2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3AE6FC3-F960-4DF8-9640-FB78737B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19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3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7F20901-3686-4013-B95E-42C5E795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19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3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ACCD08B-FDE5-428D-AEAC-7C04B892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19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3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C5BDE5F-4F08-4943-9A7E-E1CC4739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19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3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EADB4C4-993F-4AEE-97AA-05AFCE00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19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3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CD2327A-34CB-4548-872D-429C5D7F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19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3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713179C-A900-4F1A-827A-F8F15E1E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19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3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836D159-7302-496A-A64A-91D1E56F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288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3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D15F292-7BEA-4C8A-B7E3-6603684C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288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3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EFB7CE9-ECC9-43C5-AE3F-EB57414C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288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592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3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9E7BE23-5961-4656-BC27-2E2F80F7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288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592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4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85E069C-8561-46DA-BCF4-B232390F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288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592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4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35BD7AB-48AC-4277-9D3D-0025675B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288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4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9719A7C-A3C0-484E-ACA0-13F80DC7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288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4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18AE254-8F48-49B9-B295-166379A6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384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4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8C48A77-6CFE-49D9-A94F-FF7AF1EF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384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4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7E5D373-C324-4B71-9A55-2D0F40F7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384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592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4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CFDF701-771D-40B0-AB90-1BEA783B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384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454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4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2B56902-BC82-4FCC-81E8-78EFE87B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384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592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4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FDB30EE-4129-48EE-9F04-E12FB456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384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4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AC0F662-8A09-4007-826A-B56C7741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384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5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EAF9778-7AAF-4B85-BCC7-71B451E0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479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5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BD3E1FF-E7BA-4D46-A86E-B06236AC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479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5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A6460F8-5B89-490E-AE32-A9F4E214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479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592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5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A45B5A6-D9D4-4C48-B107-722D9AF9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479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592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5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173124A-1EA4-464F-90EB-9700E2EC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479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D592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5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253A472-BF3E-43E8-9FCC-B51944AF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479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5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E57CAF6-8E11-4A1D-957C-B9B89B3F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479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5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F5EF98E-5745-4E1C-9DCE-2673D5B9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57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5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922ACE8-17D3-4DB8-93B0-81A27CAF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57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5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97DB4B8-EAEC-4BE3-A1D5-1CC4B9AB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57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6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D15BF7C-D90B-48E5-B219-0FFB33B1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057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6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CC11DC1-F7FC-48D3-9CAC-7F63D7D1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57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6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C3DBDFE-A886-43CB-96B2-0D8717C7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57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6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625C8A3-881C-4D15-8CC0-4CAF2458C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57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6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F86E2B3-4603-411C-B232-BB21B4FA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67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6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2EAA159-902E-4C0E-9158-18877885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67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6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D454461-067D-4785-A8AA-96A91D8F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67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6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689E9CE-3318-4997-B3A1-98A33FB6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67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6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653C3A5E-0315-43C0-82D3-37611963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67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6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ADAAFBF-8C92-4AC2-82A2-1CE3AEF9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67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7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23EEDF4-B6F5-4F37-8885-2699A3D4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67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71" name="time 1">
            <a:extLst xmlns:a="http://schemas.openxmlformats.org/drawingml/2006/main">
              <a:ext uri="{FF2B5EF4-FFF2-40B4-BE49-F238E27FC236}">
                <a16:creationId xmlns:a16="http://schemas.microsoft.com/office/drawing/2014/main" id="{23DC11C7-46A7-4507-AFE1-29C211BF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743075"/>
            <a:ext cx="1466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A7A13"/>
                </a:solidFill>
                <a:latin typeface="Arial"/>
                <a:ea typeface="Arial"/>
                <a:cs typeface="Arial"/>
              </a:rPr>
              <a:t>time 1</a:t>
            </a:r>
          </a:p>
        </p:txBody>
      </p:sp>
      <p:sp>
        <p:nvSpPr>
          <p:cNvPr id="7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2FE6C43-9316-4AA4-9E70-051634DB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097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7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AB1C575-46A5-4CEC-8B09-A1FC7BA6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097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7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89FEF97-4C6B-437F-ACAD-F1FE2A5AF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0097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7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CE24B28-224D-4AFD-B427-FEE3A054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0097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7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3C0DFE7-B86A-43C7-8F29-79477A79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0097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7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89DDE2D-A5FA-45E1-8086-2C7271C1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097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7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D63AE6CE-6550-44B3-8ECC-0FA81C01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0097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7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EB7B46B-A406-4BA9-8137-AE31C4FB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19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8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8F2FB3C-CFB2-49ED-BDB9-47C76EB5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219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8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202F7FE-10B6-4E21-8610-E53F4E12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19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8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9B1C302-0D9E-4C0B-B561-C1DAA3F5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219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8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8A31D5F-0B1F-406D-8424-C0067AED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219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8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06B37EE-6DF8-4E9D-B189-BBB0DE17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19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8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D09C58D-ABE5-41B8-A10F-BEBF7D19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2193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8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F76CDA0-479A-4226-974F-7C8C0E9F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288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8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DD35052-86F9-4F2C-B6CE-3AB2B058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288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8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6F1C1EC-E66A-4A9F-B97E-85C0EA1B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288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8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170E6D7-4871-480E-951C-883437AD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4288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9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1C3D348-9F30-40D3-BD11-11C78E00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4288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9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38FD6D9-1575-4939-86D0-E0EE5A57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288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9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80997FD-38E7-49CB-BFBC-4777E3DD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288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9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7D98D97-684B-4C1D-AB12-47557AF8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384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9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6175B87-EE19-4697-B88A-1B95AA69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6384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9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94E75B5-AE23-48F1-B1C1-C3125DAB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6384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9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428DF12-DFF8-4B47-AFA4-9D23AA940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6384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454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9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DE20C87-60F9-49D6-AECC-FFB48EF8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6384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9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D120416-9693-4456-973E-879731B9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384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9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546B5BF8-45E1-4D52-8573-F23C6605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6384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0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CA943BE-E663-42A9-89A5-CEE76759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479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0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BAE1047-01CF-4F4B-A194-E0FF9B2C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479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0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3BAF1AC4-A8E8-4335-A55E-9661FF3E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8479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0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977BDC0-C914-4D4E-8368-A4F7CABE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8479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0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83FC06B-EF00-4873-8FBB-A495A472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8479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0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A0F15E8-5215-43C3-A558-CE4E441A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479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0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8CAC5D0-7027-4A93-B0D1-F6182B24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8479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0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8CDA0B42-EEBA-4352-84C8-ED66EDEC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57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0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34630EB-1D19-4BD5-A1F3-A944BA14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057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0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AB14C96-15B0-4480-8678-25426C82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057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1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9C2F33DD-8290-4007-B45A-2071FB50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057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11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136DAE59-5E45-493B-8838-615A5295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057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12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2948D47D-8537-4497-857A-CAFF4913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57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13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CE933839-D1F5-4963-AA16-1873E65A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0575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14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F4C2C585-5F10-4DB0-8B52-EB8B5859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67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15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4CA55D79-88B8-4DBB-A6B0-CF20CA81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67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16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741C30CF-C434-4365-A758-91DECFCE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67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17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EC5ED8B9-F366-4CD9-8ECC-A8EF1E1A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267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18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08FB166E-CE6E-4373-8768-8A1987C7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267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19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A9196810-43F7-4FA4-8D5B-7A3C71B8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67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20" name="diagram block">
            <a:extLst xmlns:a="http://schemas.openxmlformats.org/drawingml/2006/main">
              <a:ext uri="{FF2B5EF4-FFF2-40B4-BE49-F238E27FC236}">
                <a16:creationId xmlns:a16="http://schemas.microsoft.com/office/drawing/2014/main" id="{B8DC177F-626C-4E0F-BB68-445F9ED1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267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6"/>
          </a:solidFill>
          <a:ln xmlns:a="http://schemas.openxmlformats.org/drawingml/2006/main" w="11430">
            <a:solidFill>
              <a:srgbClr val="E5C785"/>
            </a:solidFill>
          </a:ln>
        </p:spPr>
        <p:txBody>
          <a:bodyPr xmlns:a="http://schemas.openxmlformats.org/drawingml/2006/main" wrap="square" lIns="57150" tIns="28575" rIns="57150" bIns="28575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</a:pPr>
            <a:r>
              <a:t/>
            </a:r>
          </a:p>
        </p:txBody>
      </p:sp>
      <p:sp>
        <p:nvSpPr>
          <p:cNvPr id="121" name="time 2">
            <a:extLst xmlns:a="http://schemas.openxmlformats.org/drawingml/2006/main">
              <a:ext uri="{FF2B5EF4-FFF2-40B4-BE49-F238E27FC236}">
                <a16:creationId xmlns:a16="http://schemas.microsoft.com/office/drawing/2014/main" id="{9A69B97A-B054-4E59-9B9B-0FE76E58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743075"/>
            <a:ext cx="1466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ctr"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A7A13"/>
                </a:solidFill>
                <a:latin typeface="Arial"/>
                <a:ea typeface="Arial"/>
                <a:cs typeface="Arial"/>
              </a:rPr>
              <a:t>time 2</a:t>
            </a:r>
          </a:p>
        </p:txBody>
      </p:sp>
      <p:cxnSp>
        <p:nvCxnSpPr>
          <p:cNvPr id="122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5689DA3B-ADB1-4730-9CF1-72E9BAB6F6A6}"/>
              </a:ext>
            </a:extLst>
          </p:cNvPr>
          <p:cNvCxnSpPr/>
          <p:nvPr/>
        </p:nvCxnSpPr>
        <p:spPr>
          <a:xfrm xmlns:a="http://schemas.openxmlformats.org/drawingml/2006/main" flipH="1" flipV="1">
            <a:off x="5181600" y="2524125"/>
            <a:ext cx="20955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A7A13"/>
            </a:solidFill>
            <a:prstDash val="solid"/>
          </a:ln>
        </p:spPr>
      </p:cxnSp>
      <p:cxnSp>
        <p:nvCxnSpPr>
          <p:cNvPr id="123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395F88DD-A677-4FE4-A3F6-601AF1157162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391150" y="252412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A7A13"/>
            </a:solidFill>
            <a:prstDash val="solid"/>
          </a:ln>
        </p:spPr>
      </p:cxnSp>
      <p:cxnSp>
        <p:nvCxnSpPr>
          <p:cNvPr id="124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54A80E8C-32C7-4B3E-9B05-F5DE6867EF6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391150" y="2524125"/>
            <a:ext cx="20955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A7A13"/>
            </a:solidFill>
            <a:prstDash val="solid"/>
          </a:ln>
        </p:spPr>
      </p:cxnSp>
      <p:cxnSp>
        <p:nvCxnSpPr>
          <p:cNvPr id="125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23897515-ED79-465A-B82A-29352E4CA0F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181600" y="27336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A7A13"/>
            </a:solidFill>
            <a:prstDash val="solid"/>
          </a:ln>
        </p:spPr>
      </p:cxnSp>
      <p:cxnSp>
        <p:nvCxnSpPr>
          <p:cNvPr id="126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2E3E67F0-0CDF-464C-A75D-7F22B910C55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391150" y="27336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A7A13"/>
            </a:solidFill>
            <a:prstDash val="solid"/>
          </a:ln>
        </p:spPr>
      </p:cxnSp>
      <p:cxnSp>
        <p:nvCxnSpPr>
          <p:cNvPr id="127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C7BCF471-C94B-4166-8E68-E65722A491E2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181600" y="2733675"/>
            <a:ext cx="20955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A7A13"/>
            </a:solidFill>
            <a:prstDash val="solid"/>
          </a:ln>
        </p:spPr>
      </p:cxnSp>
      <p:cxnSp>
        <p:nvCxnSpPr>
          <p:cNvPr id="128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C570B9B2-7FA5-4100-AD3A-9FF892620DE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391150" y="2733675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A7A13"/>
            </a:solidFill>
            <a:prstDash val="solid"/>
          </a:ln>
        </p:spPr>
      </p:cxnSp>
      <p:cxnSp>
        <p:nvCxnSpPr>
          <p:cNvPr id="129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1A3FDE95-71ED-4A98-8617-04EB1F771DB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391150" y="2733675"/>
            <a:ext cx="20955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A7A13"/>
            </a:solidFill>
            <a:prstDash val="solid"/>
          </a:ln>
        </p:spPr>
      </p:cxnSp>
      <p:cxnSp>
        <p:nvCxnSpPr>
          <p:cNvPr id="130" name="diagram connector">
            <a:extLst xmlns:a="http://schemas.openxmlformats.org/drawingml/2006/main">
              <a:ext uri="{FF2B5EF4-FFF2-40B4-BE49-F238E27FC236}">
                <a16:creationId xmlns:a16="http://schemas.microsoft.com/office/drawing/2014/main" id="{17452E4A-2D55-4BC6-B88B-896989D91BA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495925" y="2724150"/>
            <a:ext cx="20193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B5444F"/>
            </a:solidFill>
            <a:prstDash val="dash"/>
            <a:tailEnd type="triangle" w="sm" len="sm"/>
          </a:ln>
        </p:spPr>
      </p:cxnSp>
      <p:sp>
        <p:nvSpPr>
          <p:cNvPr id="131" name="8 spatial neighbors + same-position time edge&#10;2×2 pool ">
            <a:extLst xmlns:a="http://schemas.openxmlformats.org/drawingml/2006/main">
              <a:ext uri="{FF2B5EF4-FFF2-40B4-BE49-F238E27FC236}">
                <a16:creationId xmlns:a16="http://schemas.microsoft.com/office/drawing/2014/main" id="{C947369A-C154-4929-873D-06390C5A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29025"/>
            <a:ext cx="3886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8 spatial neighbors + same-position time edge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2×2 pool per view; no cross-camera edges</a:t>
            </a:r>
          </a:p>
        </p:txBody>
      </p:sp>
      <p:sp>
        <p:nvSpPr>
          <p:cNvPr id="132" name="dᵢⱼ = mean (uᵢ − uⱼ)²    p(j|i) = softmax(−dᵢⱼ / τ)">
            <a:extLst xmlns:a="http://schemas.openxmlformats.org/drawingml/2006/main">
              <a:ext uri="{FF2B5EF4-FFF2-40B4-BE49-F238E27FC236}">
                <a16:creationId xmlns:a16="http://schemas.microsoft.com/office/drawing/2014/main" id="{200295F8-1C56-4AEA-892D-4BB7A748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792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ctr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dᵢⱼ = mean (uᵢ − uⱼ)²    p(j|i) = softmax(−dᵢⱼ / τ)</a:t>
            </a:r>
          </a:p>
        </p:txBody>
      </p:sp>
      <p:sp>
        <p:nvSpPr>
          <p:cNvPr id="133" name="Match teacher → student neighbor distributions with KL;">
            <a:extLst xmlns:a="http://schemas.openxmlformats.org/drawingml/2006/main">
              <a:ext uri="{FF2B5EF4-FFF2-40B4-BE49-F238E27FC236}">
                <a16:creationId xmlns:a16="http://schemas.microsoft.com/office/drawing/2014/main" id="{6CCD2EE2-D94F-428D-8B78-17C55F5B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7924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8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8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Match teacher → student neighbor distributions with KL; frozen teacher statistics and temperature.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The combined KL objective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AC833E53-C3E9-4B42-9168-EED21F0E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005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L = α_a [ L_bin,a + β_a L_temporal,a ]">
            <a:extLst xmlns:a="http://schemas.openxmlformats.org/drawingml/2006/main">
              <a:ext uri="{FF2B5EF4-FFF2-40B4-BE49-F238E27FC236}">
                <a16:creationId xmlns:a16="http://schemas.microsoft.com/office/drawing/2014/main" id="{28671CD8-F73C-42A0-8940-71195EE2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7924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L = α_a [ L_bin,a + β_a L_temporal,a ]</a:t>
            </a:r>
          </a:p>
        </p:txBody>
      </p:sp>
      <p:sp>
        <p:nvSpPr>
          <p:cNvPr id="6" name="     + λ α_z [ L_bin,z + β_z L_spatiotemporal,z ]">
            <a:extLst xmlns:a="http://schemas.openxmlformats.org/drawingml/2006/main">
              <a:ext uri="{FF2B5EF4-FFF2-40B4-BE49-F238E27FC236}">
                <a16:creationId xmlns:a16="http://schemas.microsoft.com/office/drawing/2014/main" id="{9A9F28DE-5313-4C6A-9B6C-5E0D2915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924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BA7A1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A7A13"/>
                </a:solidFill>
                <a:latin typeface="Arial"/>
                <a:ea typeface="Arial"/>
                <a:cs typeface="Arial"/>
              </a:rPr>
              <a:t>     + λ α_z [ L_bin,z + β_z L_spatiotemporal,z ]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38694-B2C3-4F50-B9E1-78B0778AFD59}"/>
              </a:ext>
            </a:extLst>
          </p:cNvPr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7924800" cy="1762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6019800"/>
              </a:tblGrid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Definition / calibration rule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α_a, α_z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Initial C80 MSE / soft-bin KL; NMSE / soft-bin KL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λ = ρc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Original action–latent balance; ρ=1.5, λ≈0.04245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τ_a, τ_z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Median positive C80 teacher neighbor distance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β_a, β_z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0.25 × soft-bin KL / relation KL under fixed teacher noise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Only student D and clipping ratios are updated.&#10;All sta">
            <a:extLst xmlns:a="http://schemas.openxmlformats.org/drawingml/2006/main">
              <a:ext uri="{FF2B5EF4-FFF2-40B4-BE49-F238E27FC236}">
                <a16:creationId xmlns:a16="http://schemas.microsoft.com/office/drawing/2014/main" id="{F636B259-D916-4F1A-BB13-FA6F14FE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792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Only student D and clipping ratios are updated.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All statistics and weights are frozen before training; teacher is detached.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KL refinement: current evidence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CFEC2950-EA3F-4C2A-B4BC-003C0109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005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Same held-out 40 cases × 2 seeds · fixed final80 checkp">
            <a:extLst xmlns:a="http://schemas.openxmlformats.org/drawingml/2006/main">
              <a:ext uri="{FF2B5EF4-FFF2-40B4-BE49-F238E27FC236}">
                <a16:creationId xmlns:a16="http://schemas.microsoft.com/office/drawing/2014/main" id="{0821A2BB-E283-4417-9DF1-63F812B3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92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Same held-out 40 cases × 2 seeds · fixed final80 checkpoints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53C2F-7038-4A81-9837-9CF9D2CB05C0}"/>
              </a:ext>
            </a:extLst>
          </p:cNvPr>
          <p:cNvGraphicFramePr/>
          <p:nvPr/>
        </p:nvGraphicFramePr>
        <p:xfrm>
          <a:off xmlns:a="http://schemas.openxmlformats.org/drawingml/2006/main" x="609600" y="1362075"/>
          <a:ext xmlns:a="http://schemas.openxmlformats.org/drawingml/2006/main" cx="7924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28900"/>
                <a:gridCol w="1285875"/>
                <a:gridCol w="1285875"/>
                <a:gridCol w="1285875"/>
                <a:gridCol w="1438275"/>
              </a:tblGrid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Refinement loss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NMSE ↓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Temporal KL ↓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27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relation KL ↓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MSE + NMSE (historical)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0.031641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0.055378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Soft-bin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0.032330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0.053033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0.040418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0.006397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Soft-bin + relational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0.031438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0.054296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0.034485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88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0.006147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</a:tr>
            </a:tbl>
          </a:graphicData>
        </a:graphic>
      </p:graphicFrame>
      <p:sp>
        <p:nvSpPr>
          <p:cNvPr id="7" name="Adding relations: temporal KL −14.68%, latent relation ">
            <a:extLst xmlns:a="http://schemas.openxmlformats.org/drawingml/2006/main">
              <a:ext uri="{FF2B5EF4-FFF2-40B4-BE49-F238E27FC236}">
                <a16:creationId xmlns:a16="http://schemas.microsoft.com/office/drawing/2014/main" id="{78A2CF9D-8CE6-44F8-B3B0-553F7C35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79248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Adding relations: temporal KL −14.68%, latent relation KL −3.91%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Motor RMSE −2.76%, while latent NMSE rises 2.38% vs soft-bin</a:t>
            </a:r>
          </a:p>
        </p:txBody>
      </p:sp>
      <p:sp>
        <p:nvSpPr>
          <p:cNvPr id="8" name="Paired LIBERO+ evaluation is in progress; final success">
            <a:extLst xmlns:a="http://schemas.openxmlformats.org/drawingml/2006/main">
              <a:ext uri="{FF2B5EF4-FFF2-40B4-BE49-F238E27FC236}">
                <a16:creationId xmlns:a16="http://schemas.microsoft.com/office/drawing/2014/main" id="{BB949A31-2612-493F-A278-2B1C7EA5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7924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444F"/>
                </a:solidFill>
                <a:latin typeface="Arial"/>
                <a:ea typeface="Arial"/>
                <a:cs typeface="Arial"/>
              </a:rPr>
              <a:t>Paired LIBERO+ evaluation is in progress; final success rates are pending.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Potential contributions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108EA697-04C7-4350-B015-F56168B1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005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B7D68348-4934-48CE-B2AF-2048ABC5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19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Identify future-latent fidelity as a key quantization t">
            <a:extLst xmlns:a="http://schemas.openxmlformats.org/drawingml/2006/main">
              <a:ext uri="{FF2B5EF4-FFF2-40B4-BE49-F238E27FC236}">
                <a16:creationId xmlns:a16="http://schemas.microsoft.com/office/drawing/2014/main" id="{8CF1897E-CC79-4F24-9B9B-1FCCD1C0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6300"/>
            <a:ext cx="731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Identify future-latent fidelity as a key quantization target</a:t>
            </a:r>
          </a:p>
        </p:txBody>
      </p:sp>
      <p:sp>
        <p:nvSpPr>
          <p:cNvPr id="7" name="Evidence: fixed-reader interventions link latent preser">
            <a:extLst xmlns:a="http://schemas.openxmlformats.org/drawingml/2006/main">
              <a:ext uri="{FF2B5EF4-FFF2-40B4-BE49-F238E27FC236}">
                <a16:creationId xmlns:a16="http://schemas.microsoft.com/office/drawing/2014/main" id="{6D1A471D-42D7-49C0-BB73-DCBA9A1A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228725"/>
            <a:ext cx="731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Evidence: fixed-reader interventions link latent preservation to mean action fidelity.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9C4A07F1-9A5B-43D0-9759-BD313EC4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19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Develop latent + action relational distillation for WAM">
            <a:extLst xmlns:a="http://schemas.openxmlformats.org/drawingml/2006/main">
              <a:ext uri="{FF2B5EF4-FFF2-40B4-BE49-F238E27FC236}">
                <a16:creationId xmlns:a16="http://schemas.microsoft.com/office/drawing/2014/main" id="{3AFFE3DE-44BD-400D-9D57-33A31DD5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90700"/>
            <a:ext cx="731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Develop latent + action relational distillation for WAMs</a:t>
            </a:r>
          </a:p>
        </p:txBody>
      </p:sp>
      <p:sp>
        <p:nvSpPr>
          <p:cNvPr id="10" name="Aim: preserve value and structure, and better anticipat">
            <a:extLst xmlns:a="http://schemas.openxmlformats.org/drawingml/2006/main">
              <a:ext uri="{FF2B5EF4-FFF2-40B4-BE49-F238E27FC236}">
                <a16:creationId xmlns:a16="http://schemas.microsoft.com/office/drawing/2014/main" id="{EA5A2CFB-6725-4FF8-A0EA-49A026D8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43125"/>
            <a:ext cx="731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Aim: preserve value and structure, and better anticipate rollout error.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4E883789-CFA6-428B-A362-71A78019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419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Build a VQ framework with competitive performance at si">
            <a:extLst xmlns:a="http://schemas.openxmlformats.org/drawingml/2006/main">
              <a:ext uri="{FF2B5EF4-FFF2-40B4-BE49-F238E27FC236}">
                <a16:creationId xmlns:a16="http://schemas.microsoft.com/office/drawing/2014/main" id="{88CB98DB-9DE5-4235-A5CC-05B8D4C2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731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Build a VQ framework with competitive performance at similar bpw</a:t>
            </a:r>
          </a:p>
        </p:txBody>
      </p:sp>
      <p:sp>
        <p:nvSpPr>
          <p:cNvPr id="13" name="Demonstrated on Fast-WAM and Cosmos Policy; “first” req">
            <a:extLst xmlns:a="http://schemas.openxmlformats.org/drawingml/2006/main">
              <a:ext uri="{FF2B5EF4-FFF2-40B4-BE49-F238E27FC236}">
                <a16:creationId xmlns:a16="http://schemas.microsoft.com/office/drawing/2014/main" id="{C45C1403-C7AB-434E-911F-C7D4CA3F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57525"/>
            <a:ext cx="731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Demonstrated on Fast-WAM and Cosmos Policy; “first” requires a prior-art audit.</a:t>
            </a:r>
          </a:p>
        </p:txBody>
      </p:sp>
      <p:sp>
        <p:nvSpPr>
          <p:cNvPr id="14" name="04">
            <a:extLst xmlns:a="http://schemas.openxmlformats.org/drawingml/2006/main">
              <a:ext uri="{FF2B5EF4-FFF2-40B4-BE49-F238E27FC236}">
                <a16:creationId xmlns:a16="http://schemas.microsoft.com/office/drawing/2014/main" id="{8C85AD22-7EDA-40D0-B472-0C412634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419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Deliver native kernel acceleration for the VQ framework">
            <a:extLst xmlns:a="http://schemas.openxmlformats.org/drawingml/2006/main">
              <a:ext uri="{FF2B5EF4-FFF2-40B4-BE49-F238E27FC236}">
                <a16:creationId xmlns:a16="http://schemas.microsoft.com/office/drawing/2014/main" id="{8EC93EB3-D5B4-4A5B-8CC2-FD779987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19500"/>
            <a:ext cx="731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Deliver native kernel acceleration for the VQ framework</a:t>
            </a:r>
          </a:p>
        </p:txBody>
      </p:sp>
      <p:sp>
        <p:nvSpPr>
          <p:cNvPr id="16" name="Planned contribution · not implemented yet; no native s">
            <a:extLst xmlns:a="http://schemas.openxmlformats.org/drawingml/2006/main">
              <a:ext uri="{FF2B5EF4-FFF2-40B4-BE49-F238E27FC236}">
                <a16:creationId xmlns:a16="http://schemas.microsoft.com/office/drawing/2014/main" id="{27B3DB6B-892C-40B4-A6EB-38A68FB6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71925"/>
            <a:ext cx="731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Planned contribution · not implemented yet; no native speedup claimed.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16">
            <a:extLst xmlns:a="http://schemas.openxmlformats.org/drawingml/2006/main">
              <a:ext uri="{FF2B5EF4-FFF2-40B4-BE49-F238E27FC236}">
                <a16:creationId xmlns:a16="http://schemas.microsoft.com/office/drawing/2014/main" id="{CEF0AC16-EF2A-415B-A3E5-8F6732FA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005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305A9A48-284B-4983-9357-09DB5B76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419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fine KL against closed-loop outcomes">
            <a:extLst xmlns:a="http://schemas.openxmlformats.org/drawingml/2006/main">
              <a:ext uri="{FF2B5EF4-FFF2-40B4-BE49-F238E27FC236}">
                <a16:creationId xmlns:a16="http://schemas.microsoft.com/office/drawing/2014/main" id="{AEAF0434-A82E-4960-B4C0-5509583E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19150"/>
            <a:ext cx="731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Refine KL against closed-loop outcomes</a:t>
            </a:r>
          </a:p>
        </p:txBody>
      </p:sp>
      <p:sp>
        <p:nvSpPr>
          <p:cNvPr id="7" name="Finish the paired run; inspect failure traces and impro">
            <a:extLst xmlns:a="http://schemas.openxmlformats.org/drawingml/2006/main">
              <a:ext uri="{FF2B5EF4-FFF2-40B4-BE49-F238E27FC236}">
                <a16:creationId xmlns:a16="http://schemas.microsoft.com/office/drawing/2014/main" id="{8DD053D8-9C33-4327-B94A-C845097B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171575"/>
            <a:ext cx="731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Finish the paired run; inspect failure traces and improve loss balance.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593C0B44-80C2-45DC-A90A-BE905D1D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419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un controlled ablations">
            <a:extLst xmlns:a="http://schemas.openxmlformats.org/drawingml/2006/main">
              <a:ext uri="{FF2B5EF4-FFF2-40B4-BE49-F238E27FC236}">
                <a16:creationId xmlns:a16="http://schemas.microsoft.com/office/drawing/2014/main" id="{BE4F7C39-5091-47CC-BF67-E7222212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09725"/>
            <a:ext cx="731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Run controlled ablations</a:t>
            </a:r>
          </a:p>
        </p:txBody>
      </p:sp>
      <p:sp>
        <p:nvSpPr>
          <p:cNvPr id="10" name="Soft-bin / temporal / spatial terms; action–latent bala">
            <a:extLst xmlns:a="http://schemas.openxmlformats.org/drawingml/2006/main">
              <a:ext uri="{FF2B5EF4-FFF2-40B4-BE49-F238E27FC236}">
                <a16:creationId xmlns:a16="http://schemas.microsoft.com/office/drawing/2014/main" id="{17698A78-DC30-40E2-8305-7E85CB95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731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Soft-bin / temporal / spatial terms; action–latent balance; D versus clipping.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F6A145ED-F72E-4811-8B19-7B384A39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419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Expand models and benchmarks">
            <a:extLst xmlns:a="http://schemas.openxmlformats.org/drawingml/2006/main">
              <a:ext uri="{FF2B5EF4-FFF2-40B4-BE49-F238E27FC236}">
                <a16:creationId xmlns:a16="http://schemas.microsoft.com/office/drawing/2014/main" id="{A6D15AE7-E171-4E42-929E-F7A01F3B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00300"/>
            <a:ext cx="731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Expand models and benchmarks</a:t>
            </a:r>
          </a:p>
        </p:txBody>
      </p:sp>
      <p:sp>
        <p:nvSpPr>
          <p:cNvPr id="13" name="Cosmos Policy on LIBERO / LIBERO+; LingBot-VA2 on RoboT">
            <a:extLst xmlns:a="http://schemas.openxmlformats.org/drawingml/2006/main">
              <a:ext uri="{FF2B5EF4-FFF2-40B4-BE49-F238E27FC236}">
                <a16:creationId xmlns:a16="http://schemas.microsoft.com/office/drawing/2014/main" id="{9CFD0449-E907-4C35-A204-FCEAADDA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52725"/>
            <a:ext cx="731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Cosmos Policy on LIBERO / LIBERO+; LingBot-VA2 on RoboTwin 2.0.</a:t>
            </a:r>
          </a:p>
        </p:txBody>
      </p:sp>
      <p:sp>
        <p:nvSpPr>
          <p:cNvPr id="14" name="04">
            <a:extLst xmlns:a="http://schemas.openxmlformats.org/drawingml/2006/main">
              <a:ext uri="{FF2B5EF4-FFF2-40B4-BE49-F238E27FC236}">
                <a16:creationId xmlns:a16="http://schemas.microsoft.com/office/drawing/2014/main" id="{9D4437E9-FB78-4690-8601-DB7B0E1C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419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Validate on a real robot and implement native accelerat">
            <a:extLst xmlns:a="http://schemas.openxmlformats.org/drawingml/2006/main">
              <a:ext uri="{FF2B5EF4-FFF2-40B4-BE49-F238E27FC236}">
                <a16:creationId xmlns:a16="http://schemas.microsoft.com/office/drawing/2014/main" id="{C6F0A0FD-D623-48A0-AAAE-EB969088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90875"/>
            <a:ext cx="7315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Validate on a real robot and implement native acceleration</a:t>
            </a:r>
          </a:p>
        </p:txBody>
      </p:sp>
      <p:sp>
        <p:nvSpPr>
          <p:cNvPr id="16" name="Measure task success and end-to-end latency; establish ">
            <a:extLst xmlns:a="http://schemas.openxmlformats.org/drawingml/2006/main">
              <a:ext uri="{FF2B5EF4-FFF2-40B4-BE49-F238E27FC236}">
                <a16:creationId xmlns:a16="http://schemas.microsoft.com/office/drawing/2014/main" id="{EBF3E6B8-2144-4665-9A32-83C70BBE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43300"/>
            <a:ext cx="731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Measure task success and end-to-end latency; establish the actual deployment gain.</a:t>
            </a:r>
          </a:p>
        </p:txBody>
      </p:sp>
      <p:sp>
        <p:nvSpPr>
          <p:cNvPr id="17" name="Hope to catch CVPR :)">
            <a:extLst xmlns:a="http://schemas.openxmlformats.org/drawingml/2006/main">
              <a:ext uri="{FF2B5EF4-FFF2-40B4-BE49-F238E27FC236}">
                <a16:creationId xmlns:a16="http://schemas.microsoft.com/office/drawing/2014/main" id="{2CF3078A-33AE-451A-984C-806ADE99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33875"/>
            <a:ext cx="7315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Hope to catch CVPR :)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7.xml><?xml version="1.0" encoding="utf-8"?>
<p:sld xmlns:p="http://schemas.openxmlformats.org/presentationml/2006/main" showMasterSp="0">
  <p:cSld>
    <p:bg>
      <p:bgPr>
        <a:blipFill xmlns:a="http://schemas.openxmlformats.org/drawingml/2006/main" rotWithShape="1">
          <a:blip xmlns:r="http://schemas.openxmlformats.org/officeDocument/2006/relationships" r:embed="Racabc256be6646b8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A000BB-2B24-4889-8C0B-A42949ECAE6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762250" y="2219325"/>
            <a:ext cx="5905500" cy="95250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200598903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protocol and bit-budget scope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18">
            <a:extLst xmlns:a="http://schemas.openxmlformats.org/drawingml/2006/main">
              <a:ext uri="{FF2B5EF4-FFF2-40B4-BE49-F238E27FC236}">
                <a16:creationId xmlns:a16="http://schemas.microsoft.com/office/drawing/2014/main" id="{E553F4E8-1507-45A2-91E3-975BB0F2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005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A2AC1-8433-49C8-818C-C40D39F5ECE0}"/>
              </a:ext>
            </a:extLst>
          </p:cNvPr>
          <p:cNvGraphicFramePr/>
          <p:nvPr/>
        </p:nvGraphicFramePr>
        <p:xfrm>
          <a:off xmlns:a="http://schemas.openxmlformats.org/drawingml/2006/main" x="609600" y="981075"/>
          <a:ext xmlns:a="http://schemas.openxmlformats.org/drawingml/2006/main" cx="79248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143250"/>
                <a:gridCol w="2971800"/>
              </a:tblGrid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Condition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Fast-WAM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Cosmos Policy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Closed-loop cohort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 × 7 × 10 = 280 variants / arm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Same 280-variant protocol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Sampler / chunk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10 video + 10 action steps; execute 10/32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5 denoising steps; execute 16/16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Target weights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614 Linear layers; 6.016B weights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280 Linear layers; 1.762B weights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VQ encoding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d4, 2 × K256 BF16 books, B32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Same encoding family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Execution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Decoded BF16; fake A4; BF16 KV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2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Decoded BF16; fake A4; BF16 KV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quivalent bpw = encoded payload bytes × 8 / target wei">
            <a:extLst xmlns:a="http://schemas.openxmlformats.org/drawingml/2006/main">
              <a:ext uri="{FF2B5EF4-FFF2-40B4-BE49-F238E27FC236}">
                <a16:creationId xmlns:a16="http://schemas.microsoft.com/office/drawing/2014/main" id="{7F5AD04A-3985-40A7-BDCE-DCC19722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792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2C45"/>
                </a:solidFill>
                <a:latin typeface="Arial"/>
                <a:ea typeface="Arial"/>
                <a:cs typeface="Arial"/>
              </a:rPr>
              <a:t>Equivalent bpw = encoded payload bytes × 8 / target weight count</a:t>
            </a:r>
          </a:p>
        </p:txBody>
      </p:sp>
      <p:sp>
        <p:nvSpPr>
          <p:cNvPr id="7" name="Includes quantizer metadata where measured; excludes ac">
            <a:extLst xmlns:a="http://schemas.openxmlformats.org/drawingml/2006/main">
              <a:ext uri="{FF2B5EF4-FFF2-40B4-BE49-F238E27FC236}">
                <a16:creationId xmlns:a16="http://schemas.microsoft.com/office/drawing/2014/main" id="{7A315053-C4DB-414E-A876-4BFE2F0F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7924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Includes quantizer metadata where measured; excludes activations, KV and non-target model weights.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Encoded bpw is not runtime VRAM. Fast-WAM rotation baselines use a different native S4 path.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C80 activation refinements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19">
            <a:extLst xmlns:a="http://schemas.openxmlformats.org/drawingml/2006/main">
              <a:ext uri="{FF2B5EF4-FFF2-40B4-BE49-F238E27FC236}">
                <a16:creationId xmlns:a16="http://schemas.microsoft.com/office/drawing/2014/main" id="{9E32FC7B-5329-4C38-A479-C5A9E8CF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005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B3D8E-ED38-4824-8CC3-8F3BDA0833BA}"/>
              </a:ext>
            </a:extLst>
          </p:cNvPr>
          <p:cNvGraphicFramePr/>
          <p:nvPr/>
        </p:nvGraphicFramePr>
        <p:xfrm>
          <a:off xmlns:a="http://schemas.openxmlformats.org/drawingml/2006/main" x="609600" y="1057275"/>
          <a:ext xmlns:a="http://schemas.openxmlformats.org/drawingml/2006/main" cx="792480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1476375"/>
                <a:gridCol w="1476375"/>
                <a:gridCol w="1971675"/>
              </a:tblGrid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Motor RMSE ↓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Latent NMSE ↓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Closed-loop successes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C8 ρ1.5 baseline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0.044297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0.060877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206/280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Clip-only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0.043848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0.054848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207/280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B32 scaling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0.043987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0.054152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Not evaluated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Joint VQ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0.041847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0.048973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202/280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Per-channel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0.031641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0.055378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087F8C"/>
                          </a:solidFill>
                          <a:latin typeface="Arial"/>
                          <a:ea typeface="Arial"/>
                          <a:cs typeface="Arial"/>
                        </a:rPr>
                        <a:t>203/280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E5F5F4"/>
                    </a:solidFill>
                  </a:tcPr>
                </a:tc>
              </a:tr>
              <a:tr h="401411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Joint VQ + per-channel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0.032668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0.048842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Not evaluated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er-channel scaling substantially improves motor fideli">
            <a:extLst xmlns:a="http://schemas.openxmlformats.org/drawingml/2006/main">
              <a:ext uri="{FF2B5EF4-FFF2-40B4-BE49-F238E27FC236}">
                <a16:creationId xmlns:a16="http://schemas.microsoft.com/office/drawing/2014/main" id="{949242AC-9C0F-45DA-A7B8-503F8BD1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7924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Per-channel scaling substantially improves motor fidelity.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Joint optimization and latent fidelity trade-offs still need closed-loop explanation.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execution cost and kernel work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20">
            <a:extLst xmlns:a="http://schemas.openxmlformats.org/drawingml/2006/main">
              <a:ext uri="{FF2B5EF4-FFF2-40B4-BE49-F238E27FC236}">
                <a16:creationId xmlns:a16="http://schemas.microsoft.com/office/drawing/2014/main" id="{D78FFEF0-8EA2-44EA-9A54-A1E7A532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005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7C194-B000-43D1-91D5-790E40445C6C}"/>
              </a:ext>
            </a:extLst>
          </p:cNvPr>
          <p:cNvGraphicFramePr/>
          <p:nvPr/>
        </p:nvGraphicFramePr>
        <p:xfrm>
          <a:off xmlns:a="http://schemas.openxmlformats.org/drawingml/2006/main" x="609600" y="1066800"/>
          <a:ext xmlns:a="http://schemas.openxmlformats.org/drawingml/2006/main" cx="7924800" cy="1695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1885950"/>
                <a:gridCol w="3086100"/>
              </a:tblGrid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 / implementation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Warm full-query mean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T w="6668">
                      <a:solidFill>
                        <a:srgbClr val="CFD9E3"/>
                      </a:solidFill>
                      <a:prstDash val="solid"/>
                    </a:lnT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1B2059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Fast-WAM C80 clip / joint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4.99 s / 4.96 s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Decoded BF16 + batched H128 + fake A4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Fast-WAM per-channel + clipping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4.91 s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Cached BF16 compensated weights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3863"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Cosmos BF16 / SpinQuant / VQ</a:t>
                      </a:r>
                    </a:p>
                  </a:txBody>
                  <a:tcPr marL="76200" marR="57150" marT="47625" marB="47625" anchor="ctr">
                    <a:lnL w="6668">
                      <a:solidFill>
                        <a:srgbClr val="CFD9E3"/>
                      </a:solidFill>
                      <a:prstDash val="solid"/>
                    </a:lnL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0.594 / 1.057 / 10.042 s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>
                          <a:solidFill>
                            <a:srgbClr val="192C45"/>
                          </a:solidFill>
                          <a:latin typeface="Arial"/>
                          <a:ea typeface="Arial"/>
                          <a:cs typeface="Arial"/>
                        </a:rPr>
                        <a:t>VQ path still uses block-wise H128</a:t>
                      </a:r>
                    </a:p>
                  </a:txBody>
                  <a:tcPr marL="76200" marR="57150" marT="47625" marB="47625" anchor="ctr">
                    <a:lnR w="6668">
                      <a:solidFill>
                        <a:srgbClr val="CFD9E3"/>
                      </a:solidFill>
                      <a:prstDash val="solid"/>
                    </a:lnR>
                    <a:lnB w="6668">
                      <a:solidFill>
                        <a:srgbClr val="CFD9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Native VQ speedup is not implemented">
            <a:extLst xmlns:a="http://schemas.openxmlformats.org/drawingml/2006/main">
              <a:ext uri="{FF2B5EF4-FFF2-40B4-BE49-F238E27FC236}">
                <a16:creationId xmlns:a16="http://schemas.microsoft.com/office/drawing/2014/main" id="{403AED75-D17F-42AA-8F0A-CC2F339B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7924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B5444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5444F"/>
                </a:solidFill>
                <a:latin typeface="Arial"/>
                <a:ea typeface="Arial"/>
                <a:cs typeface="Arial"/>
              </a:rPr>
              <a:t>Native VQ speedup is not implemented</a:t>
            </a:r>
          </a:p>
        </p:txBody>
      </p:sp>
      <p:sp>
        <p:nvSpPr>
          <p:cNvPr id="7" name="Profile transform / decoding costs and connect batched ">
            <a:extLst xmlns:a="http://schemas.openxmlformats.org/drawingml/2006/main">
              <a:ext uri="{FF2B5EF4-FFF2-40B4-BE49-F238E27FC236}">
                <a16:creationId xmlns:a16="http://schemas.microsoft.com/office/drawing/2014/main" id="{FC369603-515C-4EDD-8B0A-EE6196FD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7924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Profile transform / decoding costs and connect batched transforms.</a:t>
            </a:r>
          </a:p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92C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C45"/>
                </a:solidFill>
                <a:latin typeface="Arial"/>
                <a:ea typeface="Arial"/>
                <a:cs typeface="Arial"/>
              </a:rPr>
              <a:t>Develop the native VQ path; measure end-to-end latency and memory.</a:t>
            </a:r>
          </a:p>
        </p:txBody>
      </p:sp>
      <p:sp>
        <p:nvSpPr>
          <p:cNvPr id="8" name="Different rollout trajectories yield different query co">
            <a:extLst xmlns:a="http://schemas.openxmlformats.org/drawingml/2006/main">
              <a:ext uri="{FF2B5EF4-FFF2-40B4-BE49-F238E27FC236}">
                <a16:creationId xmlns:a16="http://schemas.microsoft.com/office/drawing/2014/main" id="{A12EA68A-7AA4-4409-8B89-FFB01934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7924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125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Different rollout trajectories yield different query counts; these means are not paired latency benchmarks.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ImageGen method design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21">
            <a:extLst xmlns:a="http://schemas.openxmlformats.org/drawingml/2006/main">
              <a:ext uri="{FF2B5EF4-FFF2-40B4-BE49-F238E27FC236}">
                <a16:creationId xmlns:a16="http://schemas.microsoft.com/office/drawing/2014/main" id="{47D8878E-FE92-4FF6-827D-FC049027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005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C4861-93A8-4DBB-88CC-23FA11EFED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6c678db904839"/>
          <a:stretch xmlns:a="http://schemas.openxmlformats.org/drawingml/2006/main"/>
        </p:blipFill>
        <p:spPr>
          <a:xfrm xmlns:a="http://schemas.openxmlformats.org/drawingml/2006/main">
            <a:off x="1254830" y="742950"/>
            <a:ext cx="6634340" cy="3733800"/>
          </a:xfrm>
          <a:prstGeom xmlns:a="http://schemas.openxmlformats.org/drawingml/2006/main" prst="rect">
            <a:avLst/>
          </a:prstGeom>
        </p:spPr>
      </p:pic>
      <p:sp>
        <p:nvSpPr>
          <p:cNvPr id="6" name="Generated design reference; the method on slides 2–4 is">
            <a:extLst xmlns:a="http://schemas.openxmlformats.org/drawingml/2006/main">
              <a:ext uri="{FF2B5EF4-FFF2-40B4-BE49-F238E27FC236}">
                <a16:creationId xmlns:a16="http://schemas.microsoft.com/office/drawing/2014/main" id="{AD4ED069-00EC-4C77-8CC3-984DF7FC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7924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Generated design reference; the method on slides 2–4 is rebuilt as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6200"/>
            <a:ext cx="838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ctr">
            <a:noAutofit/>
          </a:bodyPr>
          <a:lstStyle xmlns:a="http://schemas.openxmlformats.org/drawingml/2006/main">
            <a:def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defPPr>
            <a:lvl1pPr algn="l" defTabSz="457200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Appendix: ImageGen loss design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36" y="124691"/>
            <a:ext cx="152400" cy="353291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22">
            <a:extLst xmlns:a="http://schemas.openxmlformats.org/drawingml/2006/main">
              <a:ext uri="{FF2B5EF4-FFF2-40B4-BE49-F238E27FC236}">
                <a16:creationId xmlns:a16="http://schemas.microsoft.com/office/drawing/2014/main" id="{29253F7E-5BEC-46C8-AE00-7BE1B2CD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00575"/>
            <a:ext cx="209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r"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938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7D484-71AC-4F2F-BA06-CC3DFC418F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e69a9340644af"/>
          <a:stretch xmlns:a="http://schemas.openxmlformats.org/drawingml/2006/main"/>
        </p:blipFill>
        <p:spPr>
          <a:xfrm xmlns:a="http://schemas.openxmlformats.org/drawingml/2006/main">
            <a:off x="1254830" y="742950"/>
            <a:ext cx="6634340" cy="3733800"/>
          </a:xfrm>
          <a:prstGeom xmlns:a="http://schemas.openxmlformats.org/drawingml/2006/main" prst="rect">
            <a:avLst/>
          </a:prstGeom>
        </p:spPr>
      </p:pic>
      <p:sp>
        <p:nvSpPr>
          <p:cNvPr id="6" name="Generated design reference; editable loss definitions a">
            <a:extLst xmlns:a="http://schemas.openxmlformats.org/drawingml/2006/main">
              <a:ext uri="{FF2B5EF4-FFF2-40B4-BE49-F238E27FC236}">
                <a16:creationId xmlns:a16="http://schemas.microsoft.com/office/drawing/2014/main" id="{F57EA025-168B-4D46-9CD7-36E66674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7924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64718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84"/>
                </a:solidFill>
                <a:latin typeface="Arial"/>
                <a:ea typeface="Arial"/>
                <a:cs typeface="Arial"/>
              </a:rPr>
              <a:t>Generated design reference; editable loss definitions and diagrams are on slides 11–13.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2026-10-20T12:58:15.6500000Z</dcterms:created>
  <dcterms:modified xsi:type="dcterms:W3CDTF">2026-10-20T12:58:15.6510000Z</dcterms:modified>
</coreProperties>
</file>