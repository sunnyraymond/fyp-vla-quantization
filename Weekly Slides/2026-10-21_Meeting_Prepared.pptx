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</p:sldIdLst>
  <p:sldSz cx="9144000" cy="5143500" type="screen16x9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972" autoAdjust="0"/>
  </p:normalViewPr>
  <p:slideViewPr>
    <p:cSldViewPr snapToGrid="0" snapToObjects="1">
      <p:cViewPr>
        <p:scale>
          <a:sx n="150" d="100"/>
          <a:sy n="150" d="100"/>
        </p:scale>
        <p:origin x="8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本次汇报顺序：已实现方法 → 所有有代表性的本地 LIBERO+ 闭环结果 → future intervention → 旧 loss 与闭环的差距 → Soft-bin + relational KL → potential contributions 与下一步。所有闭环数据来自已完成本地报告，截止 20 October 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当前实现：latent+action-aware Microscaling additive VQ，随后进行 per-input-channel D 和 per-Linear clipping ratio 的 refinement。沿用原第21页ImageGen设计，修正生成图中的不规范公式与输入标签；所有文字、公式、矩阵与箭头为PowerPoint原生可编辑对象，全部Times New Roman。Source: Weekly Slides/2026-10-21_assets/method-imagegen-reference.png。L_a为first10x6 motor MSE；L_z为生成future latent NMSE，observed frame0排除；L=L_a+lambda L_z，lambda=rho*c从初始calibration冻结。Student使用自己生成的future，不注入teacher future。Per-token动态A4，gripper不参与监督。当前执行decodedBF16+fakeA4+BF16KV，非nativeVQkernel。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所有 rows 都来自本地完成的 frozen 280-variant cohort，不是 paper-reported numbers。每 suite 分母 70。QuaRot/SpinQuant 是针对 Fast-WAM 的本地 adaptation，不等同官方完整 recipe。Scalar 与 rotation baselines 实际采用 native packed S4 path，而 VQ 是 decode BF16；本表只比较 closed-loop success 与编码预算，不比较 latency。不同 arm calibration 覆盖和目标不同，不是单因素消融。Rotation bpw 的4.125是4bit code+BF16 scale/128 的估算，未把 rotations/tails 算入，因此加 dagger，避免误报为实测全 overhead payload。</a:t>
            </a:r>
          </a:p>
          <a:p>
            <a:r>
              <a:t>Sources:</a:t>
            </a:r>
          </a:p>
          <a:p>
            <a:r>
              <a:t>D:/Downloads/Final Year Project/experiment/idea-validation/fastwam-vq-plus/results/RESULTS.zh.md</a:t>
            </a:r>
          </a:p>
          <a:p>
            <a:r>
              <a:t>D:/Downloads/Final Year Project/experiment/idea-validation/fastwam-rotation-baselines/protocol.json</a:t>
            </a:r>
          </a:p>
          <a:p>
            <a:r>
              <a:t>D:/Downloads/Final Year Project/experiment/idea-validation/fastwam-smooth-scalar-plus/source_receipts/receipt.json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同一 frozen 280-episode cohort 的全部后续完成配置。C8表示weight calibration contexts；C80表示 activation-refinement contexts，不是 rollout 数。ρ0.1 完整2epochs/16updates，ρ1.5为1epoch/8updates；这是各自冻结配置，不是matched training budget消融。C80 clip-only207，joint202，per-channel203；joint per-channel虽有fixed-input结果尚未发现完成闭环，不能加入completed表。该cohort未有独立seed重复，不应对1—5个success小差异宣称稳定统计优势。</a:t>
            </a:r>
          </a:p>
          <a:p>
            <a:r>
              <a:t>Sources:</a:t>
            </a:r>
          </a:p>
          <a:p>
            <a:r>
              <a:t>D:/Downloads/Final Year Project/experiment/idea-validation/fastwam-vq-c8-action-latent-plus/results/RESULTS.zh.md</a:t>
            </a:r>
          </a:p>
          <a:p>
            <a:r>
              <a:t>D:/Downloads/Final Year Project/experiment/idea-validation/fastwam-vq-c80-clip-joint-plus/RESULTS.zh.md</a:t>
            </a:r>
          </a:p>
          <a:p>
            <a:r>
              <a:t>D:/Downloads/Final Year Project/experiment/idea-validation/fastwam-vq-c80-per-channel-plus/RESULTS.zh.md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Cosmos-Predict2-2B direct policy，planning disabled。三臂840episodes全部完成，每臂280。5denoising steps、16action chunk并执行16steps；与Fast-WAM10/10和执行10steps不同，不能跨model数值比较来归因量化方法。C8共享observations但teacher由Cosmos自身产生。VQ学习codebooks/rowgains，目标为16×6motor MSE+future-image slots6/7 NMSE。SpinQuant200updates，VQ16updates且objectives不同，因此不是action/latent loss贡献的单因素消融。有效bpw均含编码开销；whole DiT bpw另计未量化参数。</a:t>
            </a:r>
          </a:p>
          <a:p>
            <a:r>
              <a:t>Sources:</a:t>
            </a:r>
          </a:p>
          <a:p>
            <a:r>
              <a:t>D:/Downloads/Final Year Project/experiment/idea-validation/cosmos-policy-c8-w4a4/RESULTS.zh.md</a:t>
            </a:r>
          </a:p>
          <a:p>
            <a:r>
              <a:t>D:/Downloads/Final Year Project/experiment/idea-validation/cosmos-policy-c8-w4a4/retrieved/results/evaluation/summary.json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干预冻结 downstream BF16 reader，包括 video prepare/prefill、action DiT/proprio 等，注入不同 donor 的 final future，重新构建 K/V。完整60contexts包括8cal、4selection×2seed、22test×2seed；表格是22test cases先平均2seeds的case mean。BF16 donor自重放误差0，Parent=0.036144691，Action-only=.041243219，Action+latent=.035083670。13/22first10改善，full32/late22各14/22。是已见cohort的fixed-input intervention，0 executed episodes，不是真实future accuracy或新泛化证据。</a:t>
            </a:r>
          </a:p>
          <a:p>
            <a:r>
              <a:t>Sources:</a:t>
            </a:r>
          </a:p>
          <a:p>
            <a:r>
              <a:t>D:/Downloads/Final Year Project/experiment/idea-validation/fastwam-vq-future-reader/retrieved/results/analysis_teacher/REPORT.zh.md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左表来自2×2cross-reader intervention，reader固定action-only或action+latent时替换future donor。这里reader不再是BF16。Action-only reader mean .058110442→.053481176，action+latent reader .058676505→.052951009。分别10/22、12/22cases改善，平均收益不等于每case收益。右表是另一个fixedBF16reader NMSE-matched control：C=T+alpha(A−T)，经有界BF16correction逐context匹配B的NMSE，alpha不使用action选值。B−C mean−.00099049但median+.000042169，11/22改善，leave-one-out可变正，full32/late22比C差。原均值收益约84%由总future误差幅度降低重现。不能宣称已确认特定semantic/spatial有害drift。</a:t>
            </a:r>
          </a:p>
          <a:p>
            <a:r>
              <a:t>Sources:</a:t>
            </a:r>
          </a:p>
          <a:p>
            <a:r>
              <a:t>D:/Downloads/Final Year Project/experiment/idea-validation/fastwam-vq-future-reader/retrieved/results/analysis_cross/REPORT.zh.md</a:t>
            </a:r>
          </a:p>
          <a:p>
            <a:r>
              <a:t>D:/Downloads/Final Year Project/experiment/idea-validation/fastwam-vq-future-nmse-matched/RESULTS.zh.md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原训练loss是first10motor MSE+rho*c*futureNMSE，c=0.028303017887797623，rho1.5，lambda=.04245452683169643。RMSE仅用来报告，优化的是MSE。c依据初始化calibrationmean冻结，rho不是gradient ratio。Fixedinput来自40heldoutcases×2seeds，四suite等权。C80clip .0438484373/.0548481241，joint .0418468372/.0489733362，perchannel .031641466/.055377875；对应闭环207/202/203。Heldout metric和closedloop是不同测量而且访问状态分布不同。</a:t>
            </a:r>
          </a:p>
          <a:p>
            <a:r>
              <a:t>Sources:</a:t>
            </a:r>
          </a:p>
          <a:p>
            <a:r>
              <a:t>D:/Downloads/Final Year Project/experiment/idea-validation/fastwam-vq-per-channel-scaling-clipping/results/RESULTS.zh.md</a:t>
            </a:r>
          </a:p>
          <a:p>
            <a:r>
              <a:t>D:/Downloads/Final Year Project/experiment/idea-validation/fastwam-vq-c80-clip-joint-plus/RESULTS.zh.md</a:t>
            </a:r>
          </a:p>
          <a:p>
            <a:r>
              <a:t>D:/Downloads/Final Year Project/experiment/idea-validation/fastwam-vq-c80-per-channel-plus/RESULTS.zh.md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本页严格按原第22页ImageGen设计重建Soft-bin + temporal/spatial relational KL。全部文字、数学文字、矩阵、柱图、网格和箭头均为PowerPoint原生可编辑对象。Source: Weekly Slides/2026-10-21_assets/loss-imagegen-reference.png。柱图和relationmatrix颜色为原图概念示意，不是新增实验观测。实际Gaussian CDF binning、action 3-step windows、两camera分开pooling和spatiotemporal邻接保持原实现。结构KL不估计完整action-latent联合密度；闭环结果仍待验证。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表来自原40heldoutcase×2seeds，先seedcase平均再四suite等权。Softbinrelationaltrain各1trajectory、80updates，固定final80，不在heldout选ckpt。原MSEfinal80是历史同协议endpoint重放比较。Softbin.03232986/.053033005，relational.031438487/.054295895；temporal .040418109→.034484781；spatiotemporal .0063970953→.006147169；composite .0059133057→.0057434071。KL闭环评测在最近local快照431/560episode记录，未有completecriterion。进度不是success，pending不能替代最终rates。</a:t>
            </a:r>
          </a:p>
          <a:p>
            <a:r>
              <a:t>Sources:</a:t>
            </a:r>
          </a:p>
          <a:p>
            <a:r>
              <a:t>D:/Downloads/Final Year Project/experiment/idea-validation/fastwam-vq-relational-kl/results/ANALYSIS.zh.md</a:t>
            </a:r>
          </a:p>
          <a:p>
            <a:r>
              <a:t>D:/Downloads/Final Year Project/experiment/idea-validation/fastwam-vq-relational-kl/results/aggregate/summary.json</a:t>
            </a:r>
          </a:p>
          <a:p>
            <a:r>
              <a:t>D:/Downloads/Final Year Project/Weekly Slides/2026-10-21_assets/cosmos_loss.json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的四点contribution按证据强度润色：1当前fixedinputfutureintervention支持latentfidelity的重要性，但likelyvulnerable机制还待验证；2loss已实现，forecastrollouterror仍为researchgoal，当前没有证明predictiveassociation；3Fast-WAM+Cosmos框架/闭环已实现，similarbpw下cohortcurrentrecipecompetitive，但first需priorartcheck且不声称SOTA或统计显著；4nativekernel尚未实现。所有措辞作为proposedpapercontributions，不把目标写成completedclai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近期优先完成冻结checkpoint的pairedLIBERO+评测；loss优化需以闭环success与失败轨迹为目标，同时保留原cohortcontrols。候选消融：MSEvssoftbin、action-onlyvslatent-onlyvsboth、temporal-onlyvsspatial/temporal-latent、D/r的分离、C8/C80等校准规模，匹配bpw与预算。换baseline：CosmosPolicy on LIBERO/LIBERO+，LingBot-VA2 on RoboTwin2.0，均为planned未实现本轮不保证可行性/日期。真实robot需要确认hardware/tasks，报告success、rollout error与endtoendlatency。Kernel关注decode/transformprofiling、batchedtransform接线、nativeVQ执行与真实latency，不将compressedpayload当作VRAM。CVPR表达愿望无未查证deadline。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讨论重点：当前proxy与闭环目标之间的差距、KL结构设计的优先级、跨模型和真机验证范围，以及kernel工作量。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FastWAM模型614targetLinears/6016317440weights。encodedbpw统一bytes*8/Ntarget。Scalar receipt包含transforms，VQ包含indices/books/gains/B32exps/transforms；perchannel另计FP32log2D。Rotation只有code+G128scaleestimate4.125，未有统一completepayload。Cosmos同target280Linear1761607680weights。两model不同steps/chunks因此不跨模型比较latency或success来声称量化方法优劣。闭环manifest280是固定subset，不是全LIBEROPlusbenchmark。</a:t>
            </a:r>
          </a:p>
          <a:p>
            <a:r>
              <a:t>Sources:</a:t>
            </a:r>
          </a:p>
          <a:p>
            <a:r>
              <a:t>D:/Downloads/Final Year Project/experiment/idea-validation/fastwam-vq-plus/results/RESULTS.zh.md</a:t>
            </a:r>
          </a:p>
          <a:p>
            <a:r>
              <a:t>D:/Downloads/Final Year Project/experiment/idea-validation/fastwam-rotation-baselines/protocol.json</a:t>
            </a:r>
          </a:p>
          <a:p>
            <a:r>
              <a:t>D:/Downloads/Final Year Project/experiment/idea-validation/fastwam-smooth-scalar-plus/source_receipts/receipt.json</a:t>
            </a:r>
          </a:p>
          <a:p>
            <a:r>
              <a:t>D:/Downloads/Final Year Project/experiment/idea-validation/fastwam-vq-c80-per-channel-plus/RESULTS.zh.md</a:t>
            </a:r>
          </a:p>
          <a:p>
            <a:r>
              <a:t>D:/Downloads/Final Year Project/experiment/idea-validation/cosmos-policy-c8-w4a4/RESULTS.zh.md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xedinputevidence：same40heldoutcases×2seed/equal4suites。Baseline.044296774/.060877371;clip.043848437/.054848124;b32.043986743/.054151555;joint.041846837/.048973336;perchannel.031641466/.055377875;jointperchannel.032668?.048842。Jointperchannel数字从周报四舍五入，完整源results。本表用于记录已实现的可训练参数组合，不给没有完成closedloop的row补成功率。</a:t>
            </a:r>
          </a:p>
          <a:p>
            <a:r>
              <a:t>Sources:</a:t>
            </a:r>
          </a:p>
          <a:p>
            <a:r>
              <a:t>D:/Downloads/Final Year Project/experiment/idea-validation/fastwam-vq-per-channel-scaling-clipping/results/RESULTS.zh.md</a:t>
            </a:r>
          </a:p>
          <a:p>
            <a:r>
              <a:t>D:/Downloads/Final Year Project/experiment/idea-validation/fastwam-vq-joint-per-channel/results/RESULTS.zh.md</a:t>
            </a:r>
          </a:p>
          <a:p>
            <a:r>
              <a:t>https://app.notion.com/p/3fd44c7da965815ead32f7858e8e98db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rmfullactionquerycost来自不同rolloutquery流，非fixedinputpairedbenchmark。FastWAMclip4.99sec/joint4.96/perchannel4.90508；CosmosBF16.59399,Spin1.05653,VQ10.04213。CosmosVQ在线blockH128path未接入batchedtransform，即使summary标签写batched也不能声称已生效。此页保持实现scope避免把编码4bpw当成nativeacceleration。</a:t>
            </a:r>
          </a:p>
          <a:p>
            <a:r>
              <a:t>Sources:</a:t>
            </a:r>
          </a:p>
          <a:p>
            <a:r>
              <a:t>D:/Downloads/Final Year Project/experiment/idea-validation/fastwam-vq-c80-clip-joint-plus/RESULTS.zh.md</a:t>
            </a:r>
          </a:p>
          <a:p>
            <a:r>
              <a:t>D:/Downloads/Final Year Project/experiment/idea-validation/fastwam-vq-c80-per-channel-plus/RESULTS.zh.md</a:t>
            </a:r>
          </a:p>
          <a:p>
            <a:r>
              <a:t>D:/Downloads/Final Year Project/experiment/idea-validation/cosmos-policy-c8-w4a4/RESULTS.zh.md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本页是用户要求的built-inimagegen学术图视觉设计参考，图内label仅作示意，不作为数值证据。正式方法描述以slides2—4和11—13的可编辑objects与源码为准。</a:t>
            </a:r>
          </a:p>
          <a:p>
            <a:r>
              <a:t>Sources:</a:t>
            </a:r>
          </a:p>
          <a:p>
            <a:r>
              <a:t>D:/Downloads/Final Year Project/Weekly Slides/2026-10-21_assets/method-imagegen-reference.png</a:t>
            </a:r>
          </a:p>
          <a:p>
            <a:r>
              <a:t>D:/Downloads/Final Year Project/Weekly Slides/2026-10-21_assets/imagegen-prompts.txt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本页是用户要求的built-inimagegen学术图视觉设计参考，图内label仅作示意，不作为数值证据。正式方法描述以slides2—4和11—13的可编辑objects与源码为准。</a:t>
            </a:r>
          </a:p>
          <a:p>
            <a:r>
              <a:t>Sources:</a:t>
            </a:r>
          </a:p>
          <a:p>
            <a:r>
              <a:t>D:/Downloads/Final Year Project/Weekly Slides/2026-10-21_assets/loss-imagegen-reference.png</a:t>
            </a:r>
          </a:p>
          <a:p>
            <a:r>
              <a:t>D:/Downloads/Final Year Project/Weekly Slides/2026-10-21_assets/imagegen-prompts.txt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7E4D5-1401-482F-824F-C33E6DAD4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DA456-77A2-4F05-8F53-B1015A42F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65B20-DB7A-4E51-BDDD-F1E3661198C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0FC19-7CD1-4C5E-9D12-7101DE1BF60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510C-4C19-4FE0-8DA9-7229F499F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198EF-FD8E-41F1-8392-0092717B8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43A2F-A458-4BF9-9A6B-ECA5398A5F8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6712C-7A8C-4850-ABB7-72B0976171E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FA4E-C023-4087-9D88-B5D2B11A9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BBE51-BF9B-479E-837F-C1249B400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6BFA5-E349-4AA9-A828-67F3F8EE719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61213-466E-4A18-9A2D-FA531E3AF8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682A3-93C9-4E65-AD95-C099AA89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94EA7-F60A-43F7-883F-D4D838C2F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68976-4F83-40FF-B880-217C31AF55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FA47A-3F46-4786-AB1F-69D4DC3B166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A0069-3F99-43D6-A8C8-D5412265F62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C5CB-D2D4-43E7-8C65-71785342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0BA59-5BCC-428F-85D9-EAC3988BA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967BE-A7E4-47CC-A22E-05E18BE43C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E56DE-BEB5-40F3-A275-6B0B062CB99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E93E0D-26AC-4B95-AB48-AB5E4CB6D44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CDD95-9DE6-4D95-A298-A3A2D7B8B31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89A6D4-1FA9-42F1-A8EA-A0F3881D0D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F2ED-1876-4366-8432-BE90789CF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0D750-AF6A-405F-A48C-702E6589942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67AD3-2BE6-4B01-9DF0-11AFE1511D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CF8CDE-FB10-4D61-AC43-F0D39D27CA9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D842A-DC9C-4997-969A-2B90CFD1A6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0A6BB-F0EC-4011-AEB3-B100E6E56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2BBF9-06F3-4FE5-ACBD-3D0510292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EAFEE-0F58-4084-961F-355B90BA393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FEEC3-5CA8-46D5-8CCB-0BB120EF82D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525AA-7A6F-4DA1-BC06-C7838B4FF8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FF091-C265-404D-826D-A64539B6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A89DF-DC8E-4EA7-9690-78284340D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95CD0-D070-4047-AB37-E4A116E8439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DC239-BE29-4FC5-8613-9827BC3231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C7963-707A-4635-8E8A-F13F66E560B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6AA3D-92F6-4927-BD04-0D4F73419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BCCB1-1071-4616-A735-701F5247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2D037324-548F-406E-8248-03A5F342A1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4872762"/>
            <a:ext cx="9144000" cy="285750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2295B599-9CD4-44A6-AC58-C6CEE5B70248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18865" t="17198"/>
          <a:stretch/>
        </p:blipFill>
        <p:spPr>
          <a:xfrm>
            <a:off x="6631259" y="4936272"/>
            <a:ext cx="1801682" cy="1580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dt="0"/>
  <p:txStyles>
    <p:titleStyle>
      <a:lvl1pPr algn="l" defTabSz="457200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10D82-12E8-413F-B22E-5B2F140E3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6726" y="1752600"/>
            <a:ext cx="5953125" cy="533400"/>
          </a:xfrm>
        </p:spPr>
        <p:txBody>
          <a:bodyPr wrap="square" lIns="0" tIns="0" rIns="0" bIns="0" anchor="ctr">
            <a:noAutofit/>
          </a:bodyPr>
          <a:lstStyle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50000"/>
              </a:lnSpc>
              <a:spcBef>
                <a:spcPts val="1800"/>
              </a:spcBef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Latent + Action-Aware</a:t>
            </a:r>
            <a:endParaRPr sz="3200" b="1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72C7A-310D-4A9C-8F84-4CD18CA03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6726" y="3758279"/>
            <a:ext cx="5953125" cy="857250"/>
          </a:xfrm>
        </p:spPr>
        <p:txBody>
          <a:bodyPr lIns="0" tIns="0" rIns="0" bIns="0">
            <a:noAutofit/>
          </a:bodyPr>
          <a:lstStyle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Guo Yichen</a:t>
            </a:r>
          </a:p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College of Computing and Data Science (CCDS)</a:t>
            </a:r>
          </a:p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21 October 2026</a:t>
            </a:r>
          </a:p>
        </p:txBody>
      </p:sp>
      <p:sp>
        <p:nvSpPr>
          <p:cNvPr id="4" name="Meeting subtitle">
            <a:extLst>
              <a:ext uri="{FF2B5EF4-FFF2-40B4-BE49-F238E27FC236}">
                <a16:creationId xmlns:a16="http://schemas.microsoft.com/office/drawing/2014/main" id="{A5069BB0-258F-4D92-A186-44EB7B636F6E}"/>
              </a:ext>
            </a:extLst>
          </p:cNvPr>
          <p:cNvSpPr>
            <a:spLocks noGrp="1"/>
          </p:cNvSpPr>
          <p:nvPr/>
        </p:nvSpPr>
        <p:spPr>
          <a:xfrm>
            <a:off x="2756726" y="3038475"/>
            <a:ext cx="5953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Microscaling</a:t>
            </a:r>
            <a:r>
              <a:rPr sz="17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VQ, activation refinement &amp; relational KL</a:t>
            </a:r>
          </a:p>
        </p:txBody>
      </p:sp>
      <p:sp>
        <p:nvSpPr>
          <p:cNvPr id="5" name="WAM Quantization">
            <a:extLst>
              <a:ext uri="{FF2B5EF4-FFF2-40B4-BE49-F238E27FC236}">
                <a16:creationId xmlns:a16="http://schemas.microsoft.com/office/drawing/2014/main" id="{FB70EFC3-DFCC-4984-9F41-A109206989EF}"/>
              </a:ext>
            </a:extLst>
          </p:cNvPr>
          <p:cNvSpPr>
            <a:spLocks noGrp="1"/>
          </p:cNvSpPr>
          <p:nvPr/>
        </p:nvSpPr>
        <p:spPr>
          <a:xfrm>
            <a:off x="2756726" y="2295525"/>
            <a:ext cx="595312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WAM Quantization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diagram block">
            <a:extLst>
              <a:ext uri="{FF2B5EF4-FFF2-40B4-BE49-F238E27FC236}">
                <a16:creationId xmlns:a16="http://schemas.microsoft.com/office/drawing/2014/main" id="{E571C2F1-2757-43E3-9203-6C0DC83C87EA}"/>
              </a:ext>
            </a:extLst>
          </p:cNvPr>
          <p:cNvSpPr>
            <a:spLocks noGrp="1"/>
          </p:cNvSpPr>
          <p:nvPr/>
        </p:nvSpPr>
        <p:spPr>
          <a:xfrm>
            <a:off x="277820" y="20645"/>
            <a:ext cx="3643859" cy="3452892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 w="8774">
            <a:solidFill>
              <a:srgbClr val="061A3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" name="diagram block">
            <a:extLst>
              <a:ext uri="{FF2B5EF4-FFF2-40B4-BE49-F238E27FC236}">
                <a16:creationId xmlns:a16="http://schemas.microsoft.com/office/drawing/2014/main" id="{45CB4CA1-B59B-470C-A24D-BDE794C5FBD7}"/>
              </a:ext>
            </a:extLst>
          </p:cNvPr>
          <p:cNvSpPr>
            <a:spLocks noGrp="1"/>
          </p:cNvSpPr>
          <p:nvPr/>
        </p:nvSpPr>
        <p:spPr>
          <a:xfrm>
            <a:off x="3962970" y="20645"/>
            <a:ext cx="2467089" cy="3452892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8774">
            <a:solidFill>
              <a:srgbClr val="061A3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" name="diagram block">
            <a:extLst>
              <a:ext uri="{FF2B5EF4-FFF2-40B4-BE49-F238E27FC236}">
                <a16:creationId xmlns:a16="http://schemas.microsoft.com/office/drawing/2014/main" id="{80AAA7B3-5953-4862-B7B7-B8677830D394}"/>
              </a:ext>
            </a:extLst>
          </p:cNvPr>
          <p:cNvSpPr>
            <a:spLocks noGrp="1"/>
          </p:cNvSpPr>
          <p:nvPr/>
        </p:nvSpPr>
        <p:spPr>
          <a:xfrm>
            <a:off x="6466188" y="20645"/>
            <a:ext cx="2399992" cy="3452892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8774">
            <a:solidFill>
              <a:srgbClr val="061A3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" name="(a) Latent + action supervision">
            <a:extLst>
              <a:ext uri="{FF2B5EF4-FFF2-40B4-BE49-F238E27FC236}">
                <a16:creationId xmlns:a16="http://schemas.microsoft.com/office/drawing/2014/main" id="{75C02293-0AB1-4AF6-B098-4837DB7B4EAE}"/>
              </a:ext>
            </a:extLst>
          </p:cNvPr>
          <p:cNvSpPr>
            <a:spLocks noGrp="1"/>
          </p:cNvSpPr>
          <p:nvPr/>
        </p:nvSpPr>
        <p:spPr>
          <a:xfrm>
            <a:off x="344917" y="72258"/>
            <a:ext cx="3499344" cy="19096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(a) Latent + action supervision</a:t>
            </a:r>
          </a:p>
        </p:txBody>
      </p:sp>
      <p:sp>
        <p:nvSpPr>
          <p:cNvPr id="5" name="(b) Microscaling additive VQ weights">
            <a:extLst>
              <a:ext uri="{FF2B5EF4-FFF2-40B4-BE49-F238E27FC236}">
                <a16:creationId xmlns:a16="http://schemas.microsoft.com/office/drawing/2014/main" id="{85FE1446-AA53-4EC8-8185-1EA6128E884E}"/>
              </a:ext>
            </a:extLst>
          </p:cNvPr>
          <p:cNvSpPr>
            <a:spLocks noGrp="1"/>
          </p:cNvSpPr>
          <p:nvPr/>
        </p:nvSpPr>
        <p:spPr>
          <a:xfrm>
            <a:off x="4030066" y="72258"/>
            <a:ext cx="2343218" cy="19096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(b) Microscaling additive VQ weights</a:t>
            </a:r>
          </a:p>
        </p:txBody>
      </p:sp>
      <p:sp>
        <p:nvSpPr>
          <p:cNvPr id="6" name="(c) Per-channel activation scaling + clipping">
            <a:extLst>
              <a:ext uri="{FF2B5EF4-FFF2-40B4-BE49-F238E27FC236}">
                <a16:creationId xmlns:a16="http://schemas.microsoft.com/office/drawing/2014/main" id="{66B4D71F-B4F6-4533-9A30-174D9B65FA14}"/>
              </a:ext>
            </a:extLst>
          </p:cNvPr>
          <p:cNvSpPr>
            <a:spLocks noGrp="1"/>
          </p:cNvSpPr>
          <p:nvPr/>
        </p:nvSpPr>
        <p:spPr>
          <a:xfrm>
            <a:off x="6517800" y="82580"/>
            <a:ext cx="2307089" cy="17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(c) Per-channel activation scaling + clipping</a:t>
            </a:r>
          </a:p>
        </p:txBody>
      </p:sp>
      <p:sp>
        <p:nvSpPr>
          <p:cNvPr id="7" name="diagram block">
            <a:extLst>
              <a:ext uri="{FF2B5EF4-FFF2-40B4-BE49-F238E27FC236}">
                <a16:creationId xmlns:a16="http://schemas.microsoft.com/office/drawing/2014/main" id="{59DF82B1-A8F7-4CC1-BF62-B8B521AE9368}"/>
              </a:ext>
            </a:extLst>
          </p:cNvPr>
          <p:cNvSpPr>
            <a:spLocks noGrp="1"/>
          </p:cNvSpPr>
          <p:nvPr/>
        </p:nvSpPr>
        <p:spPr>
          <a:xfrm>
            <a:off x="1067495" y="294193"/>
            <a:ext cx="2028381" cy="1357415"/>
          </a:xfrm>
          <a:prstGeom prst="roundRect">
            <a:avLst>
              <a:gd name="adj" fmla="val 2662"/>
            </a:avLst>
          </a:prstGeom>
          <a:gradFill>
            <a:gsLst>
              <a:gs pos="0">
                <a:srgbClr val="D9EFFF"/>
              </a:gs>
              <a:gs pos="100000">
                <a:srgbClr val="EEF8FF"/>
              </a:gs>
            </a:gsLst>
            <a:lin ang="5400000"/>
          </a:gradFill>
          <a:ln w="5161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" name="diagram block">
            <a:extLst>
              <a:ext uri="{FF2B5EF4-FFF2-40B4-BE49-F238E27FC236}">
                <a16:creationId xmlns:a16="http://schemas.microsoft.com/office/drawing/2014/main" id="{72CF882A-B2E3-4880-815D-1D785EFD268E}"/>
              </a:ext>
            </a:extLst>
          </p:cNvPr>
          <p:cNvSpPr>
            <a:spLocks noGrp="1"/>
          </p:cNvSpPr>
          <p:nvPr/>
        </p:nvSpPr>
        <p:spPr>
          <a:xfrm>
            <a:off x="1067495" y="1677413"/>
            <a:ext cx="2028381" cy="1527735"/>
          </a:xfrm>
          <a:prstGeom prst="roundRect">
            <a:avLst>
              <a:gd name="adj" fmla="val 2448"/>
            </a:avLst>
          </a:prstGeom>
          <a:gradFill>
            <a:gsLst>
              <a:gs pos="0">
                <a:srgbClr val="FFE2DC"/>
              </a:gs>
              <a:gs pos="100000">
                <a:srgbClr val="FFF0EA"/>
              </a:gs>
            </a:gsLst>
            <a:lin ang="5400000"/>
          </a:gradFill>
          <a:ln w="5161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9" name="native PowerPoint connector">
            <a:extLst>
              <a:ext uri="{FF2B5EF4-FFF2-40B4-BE49-F238E27FC236}">
                <a16:creationId xmlns:a16="http://schemas.microsoft.com/office/drawing/2014/main" id="{504F51EA-B5C4-4364-B80C-D1E4D8C89F14}"/>
              </a:ext>
            </a:extLst>
          </p:cNvPr>
          <p:cNvCxnSpPr/>
          <p:nvPr/>
        </p:nvCxnSpPr>
        <p:spPr>
          <a:xfrm>
            <a:off x="1129430" y="397418"/>
            <a:ext cx="113548" cy="0"/>
          </a:xfrm>
          <a:prstGeom prst="straightConnector1">
            <a:avLst/>
          </a:prstGeom>
          <a:ln w="10323">
            <a:solidFill>
              <a:srgbClr val="0785D0"/>
            </a:solidFill>
            <a:prstDash val="solid"/>
          </a:ln>
        </p:spPr>
      </p:cxnSp>
      <p:cxnSp>
        <p:nvCxnSpPr>
          <p:cNvPr id="10" name="native PowerPoint connector">
            <a:extLst>
              <a:ext uri="{FF2B5EF4-FFF2-40B4-BE49-F238E27FC236}">
                <a16:creationId xmlns:a16="http://schemas.microsoft.com/office/drawing/2014/main" id="{F189BB9D-BD9C-4C4E-9274-6A01D38D7A8E}"/>
              </a:ext>
            </a:extLst>
          </p:cNvPr>
          <p:cNvCxnSpPr/>
          <p:nvPr/>
        </p:nvCxnSpPr>
        <p:spPr>
          <a:xfrm>
            <a:off x="1157817" y="348250"/>
            <a:ext cx="56774" cy="98335"/>
          </a:xfrm>
          <a:prstGeom prst="straightConnector1">
            <a:avLst/>
          </a:prstGeom>
          <a:ln w="10323">
            <a:solidFill>
              <a:srgbClr val="0785D0"/>
            </a:solidFill>
            <a:prstDash val="solid"/>
          </a:ln>
        </p:spPr>
      </p:cxnSp>
      <p:cxnSp>
        <p:nvCxnSpPr>
          <p:cNvPr id="11" name="native PowerPoint connector">
            <a:extLst>
              <a:ext uri="{FF2B5EF4-FFF2-40B4-BE49-F238E27FC236}">
                <a16:creationId xmlns:a16="http://schemas.microsoft.com/office/drawing/2014/main" id="{33775FA5-CF5D-4D68-81A2-B1E103B4B246}"/>
              </a:ext>
            </a:extLst>
          </p:cNvPr>
          <p:cNvCxnSpPr/>
          <p:nvPr/>
        </p:nvCxnSpPr>
        <p:spPr>
          <a:xfrm flipH="1">
            <a:off x="1157817" y="348250"/>
            <a:ext cx="56774" cy="98335"/>
          </a:xfrm>
          <a:prstGeom prst="straightConnector1">
            <a:avLst/>
          </a:prstGeom>
          <a:ln w="10323">
            <a:solidFill>
              <a:srgbClr val="0785D0"/>
            </a:solidFill>
            <a:prstDash val="solid"/>
          </a:ln>
        </p:spPr>
      </p:cxnSp>
      <p:sp>
        <p:nvSpPr>
          <p:cNvPr id="12" name="BF16 teacher (frozen)">
            <a:extLst>
              <a:ext uri="{FF2B5EF4-FFF2-40B4-BE49-F238E27FC236}">
                <a16:creationId xmlns:a16="http://schemas.microsoft.com/office/drawing/2014/main" id="{29A94DF5-65CB-4B79-8BA3-7E02CF45BD9C}"/>
              </a:ext>
            </a:extLst>
          </p:cNvPr>
          <p:cNvSpPr>
            <a:spLocks noGrp="1"/>
          </p:cNvSpPr>
          <p:nvPr/>
        </p:nvSpPr>
        <p:spPr>
          <a:xfrm>
            <a:off x="1284269" y="340644"/>
            <a:ext cx="1729027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174"/>
          </a:bodyPr>
          <a:lstStyle>
            <a:def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BF16 teacher (frozen)</a:t>
            </a:r>
          </a:p>
        </p:txBody>
      </p:sp>
      <p:sp>
        <p:nvSpPr>
          <p:cNvPr id="13" name="native vector shape">
            <a:extLst>
              <a:ext uri="{FF2B5EF4-FFF2-40B4-BE49-F238E27FC236}">
                <a16:creationId xmlns:a16="http://schemas.microsoft.com/office/drawing/2014/main" id="{F49DFFD3-9BEA-455A-BC36-28EA5DF8A5FB}"/>
              </a:ext>
            </a:extLst>
          </p:cNvPr>
          <p:cNvSpPr>
            <a:spLocks noGrp="1"/>
          </p:cNvSpPr>
          <p:nvPr/>
        </p:nvSpPr>
        <p:spPr>
          <a:xfrm>
            <a:off x="1119108" y="1703220"/>
            <a:ext cx="144516" cy="185806"/>
          </a:xfrm>
          <a:custGeom>
            <a:avLst/>
            <a:gdLst/>
            <a:ahLst/>
            <a:cxnLst/>
            <a:rect l="0" t="0" r="0" b="0"/>
            <a:pathLst>
              <a:path w="266700" h="342900">
                <a:moveTo>
                  <a:pt x="114300" y="0"/>
                </a:moveTo>
                <a:lnTo>
                  <a:pt x="171450" y="123825"/>
                </a:lnTo>
                <a:lnTo>
                  <a:pt x="247650" y="200025"/>
                </a:lnTo>
                <a:lnTo>
                  <a:pt x="228600" y="276225"/>
                </a:lnTo>
                <a:lnTo>
                  <a:pt x="180975" y="333375"/>
                </a:lnTo>
                <a:lnTo>
                  <a:pt x="85725" y="333375"/>
                </a:lnTo>
                <a:lnTo>
                  <a:pt x="19050" y="266700"/>
                </a:lnTo>
                <a:lnTo>
                  <a:pt x="19050" y="180975"/>
                </a:lnTo>
                <a:lnTo>
                  <a:pt x="66675" y="95250"/>
                </a:lnTo>
                <a:lnTo>
                  <a:pt x="76200" y="228600"/>
                </a:lnTo>
                <a:lnTo>
                  <a:pt x="123825" y="161925"/>
                </a:lnTo>
                <a:close/>
              </a:path>
            </a:pathLst>
          </a:custGeom>
          <a:solidFill>
            <a:srgbClr val="FF9C23"/>
          </a:solidFill>
          <a:ln w="6194">
            <a:solidFill>
              <a:srgbClr val="EF711C"/>
            </a:solidFill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4" name="native vector shape">
            <a:extLst>
              <a:ext uri="{FF2B5EF4-FFF2-40B4-BE49-F238E27FC236}">
                <a16:creationId xmlns:a16="http://schemas.microsoft.com/office/drawing/2014/main" id="{97F485FD-C505-4612-B75C-82665F2F9922}"/>
              </a:ext>
            </a:extLst>
          </p:cNvPr>
          <p:cNvSpPr>
            <a:spLocks noGrp="1"/>
          </p:cNvSpPr>
          <p:nvPr/>
        </p:nvSpPr>
        <p:spPr>
          <a:xfrm>
            <a:off x="1150075" y="1759994"/>
            <a:ext cx="98064" cy="129032"/>
          </a:xfrm>
          <a:custGeom>
            <a:avLst/>
            <a:gdLst/>
            <a:ahLst/>
            <a:cxnLst/>
            <a:rect l="0" t="0" r="0" b="0"/>
            <a:pathLst>
              <a:path w="180975" h="238125">
                <a:moveTo>
                  <a:pt x="85725" y="0"/>
                </a:moveTo>
                <a:lnTo>
                  <a:pt x="114300" y="95250"/>
                </a:lnTo>
                <a:lnTo>
                  <a:pt x="171450" y="133350"/>
                </a:lnTo>
                <a:lnTo>
                  <a:pt x="142875" y="209550"/>
                </a:lnTo>
                <a:lnTo>
                  <a:pt x="76200" y="228600"/>
                </a:lnTo>
                <a:lnTo>
                  <a:pt x="28575" y="180975"/>
                </a:lnTo>
                <a:lnTo>
                  <a:pt x="38100" y="114300"/>
                </a:lnTo>
                <a:close/>
              </a:path>
            </a:pathLst>
          </a:custGeom>
          <a:solidFill>
            <a:srgbClr val="FFD785"/>
          </a:solidFill>
          <a:ln w="6194">
            <a:noFill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5" name="Quantized WAM (student)">
            <a:extLst>
              <a:ext uri="{FF2B5EF4-FFF2-40B4-BE49-F238E27FC236}">
                <a16:creationId xmlns:a16="http://schemas.microsoft.com/office/drawing/2014/main" id="{865B876E-B32C-4EE2-930B-B69F169E0D9E}"/>
              </a:ext>
            </a:extLst>
          </p:cNvPr>
          <p:cNvSpPr>
            <a:spLocks noGrp="1"/>
          </p:cNvSpPr>
          <p:nvPr/>
        </p:nvSpPr>
        <p:spPr>
          <a:xfrm>
            <a:off x="1284269" y="1734188"/>
            <a:ext cx="1780640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174"/>
          </a:bodyPr>
          <a:lstStyle>
            <a:def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Quantized WAM (student)</a:t>
            </a:r>
          </a:p>
        </p:txBody>
      </p:sp>
      <p:sp>
        <p:nvSpPr>
          <p:cNvPr id="16" name="614 target Linear layers">
            <a:extLst>
              <a:ext uri="{FF2B5EF4-FFF2-40B4-BE49-F238E27FC236}">
                <a16:creationId xmlns:a16="http://schemas.microsoft.com/office/drawing/2014/main" id="{1A43B9D5-5EF0-43A5-B02F-799405AAF5AE}"/>
              </a:ext>
            </a:extLst>
          </p:cNvPr>
          <p:cNvSpPr>
            <a:spLocks noGrp="1"/>
          </p:cNvSpPr>
          <p:nvPr/>
        </p:nvSpPr>
        <p:spPr>
          <a:xfrm>
            <a:off x="2027492" y="1852897"/>
            <a:ext cx="1027094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282"/>
          </a:bodyPr>
          <a:lstStyle>
            <a:def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rPr>
              <a:t>614 target Linear layers</a:t>
            </a:r>
          </a:p>
        </p:txBody>
      </p:sp>
      <p:cxnSp>
        <p:nvCxnSpPr>
          <p:cNvPr id="17" name="native PowerPoint connector">
            <a:extLst>
              <a:ext uri="{FF2B5EF4-FFF2-40B4-BE49-F238E27FC236}">
                <a16:creationId xmlns:a16="http://schemas.microsoft.com/office/drawing/2014/main" id="{9713AD79-3E8B-4299-BA2B-53FD256AEFA3}"/>
              </a:ext>
            </a:extLst>
          </p:cNvPr>
          <p:cNvCxnSpPr/>
          <p:nvPr/>
        </p:nvCxnSpPr>
        <p:spPr>
          <a:xfrm>
            <a:off x="2027492" y="1971607"/>
            <a:ext cx="1027094" cy="0"/>
          </a:xfrm>
          <a:prstGeom prst="straightConnector1">
            <a:avLst/>
          </a:prstGeom>
          <a:ln w="6710">
            <a:solidFill>
              <a:srgbClr val="C11B14"/>
            </a:solidFill>
            <a:prstDash val="solid"/>
          </a:ln>
        </p:spPr>
      </p:cxnSp>
      <p:sp>
        <p:nvSpPr>
          <p:cNvPr id="18" name="native vector shape">
            <a:extLst>
              <a:ext uri="{FF2B5EF4-FFF2-40B4-BE49-F238E27FC236}">
                <a16:creationId xmlns:a16="http://schemas.microsoft.com/office/drawing/2014/main" id="{D0258F67-D878-415A-8BD0-A2339FF1C777}"/>
              </a:ext>
            </a:extLst>
          </p:cNvPr>
          <p:cNvSpPr>
            <a:spLocks noGrp="1"/>
          </p:cNvSpPr>
          <p:nvPr/>
        </p:nvSpPr>
        <p:spPr>
          <a:xfrm>
            <a:off x="1315236" y="531611"/>
            <a:ext cx="712256" cy="485160"/>
          </a:xfrm>
          <a:custGeom>
            <a:avLst/>
            <a:gdLst/>
            <a:ahLst/>
            <a:cxnLst/>
            <a:rect l="0" t="0" r="0" b="0"/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6710">
            <a:solidFill>
              <a:srgbClr val="0B579E"/>
            </a:solidFill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" name="Video DiT&#10;(BF16)">
            <a:extLst>
              <a:ext uri="{FF2B5EF4-FFF2-40B4-BE49-F238E27FC236}">
                <a16:creationId xmlns:a16="http://schemas.microsoft.com/office/drawing/2014/main" id="{F002576C-B31A-4410-A211-E5628241777C}"/>
              </a:ext>
            </a:extLst>
          </p:cNvPr>
          <p:cNvSpPr>
            <a:spLocks noGrp="1"/>
          </p:cNvSpPr>
          <p:nvPr/>
        </p:nvSpPr>
        <p:spPr>
          <a:xfrm>
            <a:off x="1397817" y="660643"/>
            <a:ext cx="562579" cy="27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Video DiT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(BF16)</a:t>
            </a:r>
          </a:p>
        </p:txBody>
      </p:sp>
      <p:sp>
        <p:nvSpPr>
          <p:cNvPr id="20" name="native vector shape">
            <a:extLst>
              <a:ext uri="{FF2B5EF4-FFF2-40B4-BE49-F238E27FC236}">
                <a16:creationId xmlns:a16="http://schemas.microsoft.com/office/drawing/2014/main" id="{E051F021-9C64-4F9E-A19D-7650CAC47AC8}"/>
              </a:ext>
            </a:extLst>
          </p:cNvPr>
          <p:cNvSpPr>
            <a:spLocks noGrp="1"/>
          </p:cNvSpPr>
          <p:nvPr/>
        </p:nvSpPr>
        <p:spPr>
          <a:xfrm>
            <a:off x="2306201" y="547095"/>
            <a:ext cx="712256" cy="485160"/>
          </a:xfrm>
          <a:custGeom>
            <a:avLst/>
            <a:gdLst/>
            <a:ahLst/>
            <a:cxnLst/>
            <a:rect l="0" t="0" r="0" b="0"/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6710">
            <a:solidFill>
              <a:srgbClr val="0B579E"/>
            </a:solidFill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1" name="Action DiT&#10;(BF16)">
            <a:extLst>
              <a:ext uri="{FF2B5EF4-FFF2-40B4-BE49-F238E27FC236}">
                <a16:creationId xmlns:a16="http://schemas.microsoft.com/office/drawing/2014/main" id="{27F4B570-D2CD-4B3C-A14F-24FCEDDFB877}"/>
              </a:ext>
            </a:extLst>
          </p:cNvPr>
          <p:cNvSpPr>
            <a:spLocks noGrp="1"/>
          </p:cNvSpPr>
          <p:nvPr/>
        </p:nvSpPr>
        <p:spPr>
          <a:xfrm>
            <a:off x="2388781" y="676127"/>
            <a:ext cx="562579" cy="27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Action DiT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(BF16)</a:t>
            </a:r>
          </a:p>
        </p:txBody>
      </p:sp>
      <p:sp>
        <p:nvSpPr>
          <p:cNvPr id="22" name="native vector shape">
            <a:extLst>
              <a:ext uri="{FF2B5EF4-FFF2-40B4-BE49-F238E27FC236}">
                <a16:creationId xmlns:a16="http://schemas.microsoft.com/office/drawing/2014/main" id="{B7F23763-874B-4C0C-AA38-88D1E451A5D9}"/>
              </a:ext>
            </a:extLst>
          </p:cNvPr>
          <p:cNvSpPr>
            <a:spLocks noGrp="1"/>
          </p:cNvSpPr>
          <p:nvPr/>
        </p:nvSpPr>
        <p:spPr>
          <a:xfrm>
            <a:off x="1315236" y="1950962"/>
            <a:ext cx="712256" cy="485160"/>
          </a:xfrm>
          <a:custGeom>
            <a:avLst/>
            <a:gdLst/>
            <a:ahLst/>
            <a:cxnLst/>
            <a:rect l="0" t="0" r="0" b="0"/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6710">
            <a:solidFill>
              <a:srgbClr val="A92024"/>
            </a:solidFill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3" name="Video DiT&#10;(quantized)">
            <a:extLst>
              <a:ext uri="{FF2B5EF4-FFF2-40B4-BE49-F238E27FC236}">
                <a16:creationId xmlns:a16="http://schemas.microsoft.com/office/drawing/2014/main" id="{85326C21-309B-4E5F-A4D6-CA4163256FB9}"/>
              </a:ext>
            </a:extLst>
          </p:cNvPr>
          <p:cNvSpPr>
            <a:spLocks noGrp="1"/>
          </p:cNvSpPr>
          <p:nvPr/>
        </p:nvSpPr>
        <p:spPr>
          <a:xfrm>
            <a:off x="1397817" y="2079993"/>
            <a:ext cx="562579" cy="27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Video DiT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(quantized)</a:t>
            </a:r>
          </a:p>
        </p:txBody>
      </p:sp>
      <p:sp>
        <p:nvSpPr>
          <p:cNvPr id="24" name="native vector shape">
            <a:extLst>
              <a:ext uri="{FF2B5EF4-FFF2-40B4-BE49-F238E27FC236}">
                <a16:creationId xmlns:a16="http://schemas.microsoft.com/office/drawing/2014/main" id="{05E22AAB-D9C1-4B58-82C1-D66829322ED2}"/>
              </a:ext>
            </a:extLst>
          </p:cNvPr>
          <p:cNvSpPr>
            <a:spLocks noGrp="1"/>
          </p:cNvSpPr>
          <p:nvPr/>
        </p:nvSpPr>
        <p:spPr>
          <a:xfrm>
            <a:off x="2306201" y="1971607"/>
            <a:ext cx="712256" cy="485160"/>
          </a:xfrm>
          <a:custGeom>
            <a:avLst/>
            <a:gdLst/>
            <a:ahLst/>
            <a:cxnLst/>
            <a:rect l="0" t="0" r="0" b="0"/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6710">
            <a:solidFill>
              <a:srgbClr val="A92024"/>
            </a:solidFill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5" name="Action DiT&#10;(quantized)">
            <a:extLst>
              <a:ext uri="{FF2B5EF4-FFF2-40B4-BE49-F238E27FC236}">
                <a16:creationId xmlns:a16="http://schemas.microsoft.com/office/drawing/2014/main" id="{158DA459-77D5-43E2-BC82-638CCBAA610E}"/>
              </a:ext>
            </a:extLst>
          </p:cNvPr>
          <p:cNvSpPr>
            <a:spLocks noGrp="1"/>
          </p:cNvSpPr>
          <p:nvPr/>
        </p:nvSpPr>
        <p:spPr>
          <a:xfrm>
            <a:off x="2388781" y="2100638"/>
            <a:ext cx="562579" cy="27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Action DiT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(quantized)</a:t>
            </a:r>
          </a:p>
        </p:txBody>
      </p:sp>
      <p:cxnSp>
        <p:nvCxnSpPr>
          <p:cNvPr id="26" name="native PowerPoint connector">
            <a:extLst>
              <a:ext uri="{FF2B5EF4-FFF2-40B4-BE49-F238E27FC236}">
                <a16:creationId xmlns:a16="http://schemas.microsoft.com/office/drawing/2014/main" id="{462A181A-BD6A-4AA7-B02F-58E708C532E4}"/>
              </a:ext>
            </a:extLst>
          </p:cNvPr>
          <p:cNvCxnSpPr/>
          <p:nvPr/>
        </p:nvCxnSpPr>
        <p:spPr>
          <a:xfrm>
            <a:off x="2027492" y="769030"/>
            <a:ext cx="278709" cy="0"/>
          </a:xfrm>
          <a:prstGeom prst="straightConnector1">
            <a:avLst/>
          </a:prstGeom>
          <a:ln w="9806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7" name="native PowerPoint connector">
            <a:extLst>
              <a:ext uri="{FF2B5EF4-FFF2-40B4-BE49-F238E27FC236}">
                <a16:creationId xmlns:a16="http://schemas.microsoft.com/office/drawing/2014/main" id="{79ED24B5-CB8F-41C0-85A0-7B5F5241BA16}"/>
              </a:ext>
            </a:extLst>
          </p:cNvPr>
          <p:cNvCxnSpPr/>
          <p:nvPr/>
        </p:nvCxnSpPr>
        <p:spPr>
          <a:xfrm>
            <a:off x="2027492" y="2193541"/>
            <a:ext cx="278709" cy="0"/>
          </a:xfrm>
          <a:prstGeom prst="straightConnector1">
            <a:avLst/>
          </a:prstGeom>
          <a:ln w="9806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8" name="diagram block">
            <a:extLst>
              <a:ext uri="{FF2B5EF4-FFF2-40B4-BE49-F238E27FC236}">
                <a16:creationId xmlns:a16="http://schemas.microsoft.com/office/drawing/2014/main" id="{4FC1CCDD-41A3-4982-B0C0-7333FF3E019D}"/>
              </a:ext>
            </a:extLst>
          </p:cNvPr>
          <p:cNvSpPr>
            <a:spLocks noGrp="1"/>
          </p:cNvSpPr>
          <p:nvPr/>
        </p:nvSpPr>
        <p:spPr>
          <a:xfrm>
            <a:off x="319110" y="887739"/>
            <a:ext cx="660643" cy="1274835"/>
          </a:xfrm>
          <a:prstGeom prst="roundRect">
            <a:avLst>
              <a:gd name="adj" fmla="val 3906"/>
            </a:avLst>
          </a:prstGeom>
          <a:gradFill>
            <a:gsLst>
              <a:gs pos="0">
                <a:srgbClr val="F0F2F5"/>
              </a:gs>
              <a:gs pos="100000">
                <a:srgbClr val="E8EBEF"/>
              </a:gs>
            </a:gsLst>
            <a:lin ang="5400000"/>
          </a:gradFill>
          <a:ln w="5161">
            <a:solidFill>
              <a:srgbClr val="63849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9" name="Observation&#10;+ language&#10;+ proprioception">
            <a:extLst>
              <a:ext uri="{FF2B5EF4-FFF2-40B4-BE49-F238E27FC236}">
                <a16:creationId xmlns:a16="http://schemas.microsoft.com/office/drawing/2014/main" id="{F33A666B-6B17-4920-AE49-46665BB00DD3}"/>
              </a:ext>
            </a:extLst>
          </p:cNvPr>
          <p:cNvSpPr>
            <a:spLocks noGrp="1"/>
          </p:cNvSpPr>
          <p:nvPr/>
        </p:nvSpPr>
        <p:spPr>
          <a:xfrm>
            <a:off x="375884" y="1073545"/>
            <a:ext cx="557418" cy="3458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9309"/>
          </a:bodyPr>
          <a:lstStyle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+ language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+ proprioception</a:t>
            </a:r>
          </a:p>
        </p:txBody>
      </p:sp>
      <p:sp>
        <p:nvSpPr>
          <p:cNvPr id="30" name="o_t, l, p_t">
            <a:extLst>
              <a:ext uri="{FF2B5EF4-FFF2-40B4-BE49-F238E27FC236}">
                <a16:creationId xmlns:a16="http://schemas.microsoft.com/office/drawing/2014/main" id="{93D7CF78-1CCF-481B-9C99-65190F6FE68C}"/>
              </a:ext>
            </a:extLst>
          </p:cNvPr>
          <p:cNvSpPr>
            <a:spLocks noGrp="1"/>
          </p:cNvSpPr>
          <p:nvPr/>
        </p:nvSpPr>
        <p:spPr>
          <a:xfrm>
            <a:off x="375884" y="1455479"/>
            <a:ext cx="588385" cy="17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, l, p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31" name="Current images&#10;Instruction&#10;Robot state">
            <a:extLst>
              <a:ext uri="{FF2B5EF4-FFF2-40B4-BE49-F238E27FC236}">
                <a16:creationId xmlns:a16="http://schemas.microsoft.com/office/drawing/2014/main" id="{297213F1-FC52-4033-B52E-BBED8AD3FFCA}"/>
              </a:ext>
            </a:extLst>
          </p:cNvPr>
          <p:cNvSpPr>
            <a:spLocks noGrp="1"/>
          </p:cNvSpPr>
          <p:nvPr/>
        </p:nvSpPr>
        <p:spPr>
          <a:xfrm>
            <a:off x="360400" y="1692898"/>
            <a:ext cx="588385" cy="3767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809"/>
          </a:bodyPr>
          <a:lstStyle>
            <a:def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Current images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Instruction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Robot state</a:t>
            </a:r>
          </a:p>
        </p:txBody>
      </p:sp>
      <p:cxnSp>
        <p:nvCxnSpPr>
          <p:cNvPr id="32" name="native PowerPoint connector">
            <a:extLst>
              <a:ext uri="{FF2B5EF4-FFF2-40B4-BE49-F238E27FC236}">
                <a16:creationId xmlns:a16="http://schemas.microsoft.com/office/drawing/2014/main" id="{5DD40D90-85AE-4B29-98D7-5686190A53EE}"/>
              </a:ext>
            </a:extLst>
          </p:cNvPr>
          <p:cNvCxnSpPr/>
          <p:nvPr/>
        </p:nvCxnSpPr>
        <p:spPr>
          <a:xfrm>
            <a:off x="979753" y="1187093"/>
            <a:ext cx="149677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</a:ln>
        </p:spPr>
      </p:cxnSp>
      <p:cxnSp>
        <p:nvCxnSpPr>
          <p:cNvPr id="33" name="native PowerPoint connector">
            <a:extLst>
              <a:ext uri="{FF2B5EF4-FFF2-40B4-BE49-F238E27FC236}">
                <a16:creationId xmlns:a16="http://schemas.microsoft.com/office/drawing/2014/main" id="{2757921D-ACC5-4676-BB0B-6C1CA07296A6}"/>
              </a:ext>
            </a:extLst>
          </p:cNvPr>
          <p:cNvCxnSpPr/>
          <p:nvPr/>
        </p:nvCxnSpPr>
        <p:spPr>
          <a:xfrm flipV="1">
            <a:off x="1129430" y="769030"/>
            <a:ext cx="0" cy="418063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</a:ln>
        </p:spPr>
      </p:cxnSp>
      <p:cxnSp>
        <p:nvCxnSpPr>
          <p:cNvPr id="34" name="native PowerPoint connector">
            <a:extLst>
              <a:ext uri="{FF2B5EF4-FFF2-40B4-BE49-F238E27FC236}">
                <a16:creationId xmlns:a16="http://schemas.microsoft.com/office/drawing/2014/main" id="{467F9278-5DED-4C6A-9B94-AB9003044EFB}"/>
              </a:ext>
            </a:extLst>
          </p:cNvPr>
          <p:cNvCxnSpPr/>
          <p:nvPr/>
        </p:nvCxnSpPr>
        <p:spPr>
          <a:xfrm>
            <a:off x="1129430" y="769030"/>
            <a:ext cx="185806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5" name="native PowerPoint connector">
            <a:extLst>
              <a:ext uri="{FF2B5EF4-FFF2-40B4-BE49-F238E27FC236}">
                <a16:creationId xmlns:a16="http://schemas.microsoft.com/office/drawing/2014/main" id="{D171601C-3715-4780-8E36-0728D98F4E8A}"/>
              </a:ext>
            </a:extLst>
          </p:cNvPr>
          <p:cNvCxnSpPr/>
          <p:nvPr/>
        </p:nvCxnSpPr>
        <p:spPr>
          <a:xfrm>
            <a:off x="979753" y="2079993"/>
            <a:ext cx="149677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</a:ln>
        </p:spPr>
      </p:cxnSp>
      <p:cxnSp>
        <p:nvCxnSpPr>
          <p:cNvPr id="36" name="native PowerPoint connector">
            <a:extLst>
              <a:ext uri="{FF2B5EF4-FFF2-40B4-BE49-F238E27FC236}">
                <a16:creationId xmlns:a16="http://schemas.microsoft.com/office/drawing/2014/main" id="{1189B610-A54F-4B4A-8994-633810C1C79A}"/>
              </a:ext>
            </a:extLst>
          </p:cNvPr>
          <p:cNvCxnSpPr/>
          <p:nvPr/>
        </p:nvCxnSpPr>
        <p:spPr>
          <a:xfrm>
            <a:off x="1129430" y="2079993"/>
            <a:ext cx="0" cy="139354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</a:ln>
        </p:spPr>
      </p:cxnSp>
      <p:cxnSp>
        <p:nvCxnSpPr>
          <p:cNvPr id="37" name="native PowerPoint connector">
            <a:extLst>
              <a:ext uri="{FF2B5EF4-FFF2-40B4-BE49-F238E27FC236}">
                <a16:creationId xmlns:a16="http://schemas.microsoft.com/office/drawing/2014/main" id="{3323F495-800D-47B9-BFF2-57ED28D414DA}"/>
              </a:ext>
            </a:extLst>
          </p:cNvPr>
          <p:cNvCxnSpPr/>
          <p:nvPr/>
        </p:nvCxnSpPr>
        <p:spPr>
          <a:xfrm>
            <a:off x="1129430" y="2219348"/>
            <a:ext cx="185806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38" name="diagram block">
            <a:extLst>
              <a:ext uri="{FF2B5EF4-FFF2-40B4-BE49-F238E27FC236}">
                <a16:creationId xmlns:a16="http://schemas.microsoft.com/office/drawing/2014/main" id="{FE1F33E8-B79A-40CD-8399-2F563E649A61}"/>
              </a:ext>
            </a:extLst>
          </p:cNvPr>
          <p:cNvSpPr>
            <a:spLocks noGrp="1"/>
          </p:cNvSpPr>
          <p:nvPr/>
        </p:nvSpPr>
        <p:spPr>
          <a:xfrm>
            <a:off x="1480397" y="1011610"/>
            <a:ext cx="46451" cy="201290"/>
          </a:xfrm>
          <a:prstGeom prst="rect">
            <a:avLst/>
          </a:prstGeom>
          <a:solidFill>
            <a:srgbClr val="EFB956"/>
          </a:solidFill>
          <a:ln w="5161">
            <a:solidFill>
              <a:srgbClr val="C58823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9" name="diagram block">
            <a:extLst>
              <a:ext uri="{FF2B5EF4-FFF2-40B4-BE49-F238E27FC236}">
                <a16:creationId xmlns:a16="http://schemas.microsoft.com/office/drawing/2014/main" id="{9DD553C1-3A1A-44C5-9BD7-D290759538C1}"/>
              </a:ext>
            </a:extLst>
          </p:cNvPr>
          <p:cNvSpPr>
            <a:spLocks noGrp="1"/>
          </p:cNvSpPr>
          <p:nvPr/>
        </p:nvSpPr>
        <p:spPr>
          <a:xfrm>
            <a:off x="1562977" y="1011610"/>
            <a:ext cx="46451" cy="201290"/>
          </a:xfrm>
          <a:prstGeom prst="rect">
            <a:avLst/>
          </a:prstGeom>
          <a:solidFill>
            <a:srgbClr val="EFB956"/>
          </a:solidFill>
          <a:ln w="5161">
            <a:solidFill>
              <a:srgbClr val="C58823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0" name="diagram block">
            <a:extLst>
              <a:ext uri="{FF2B5EF4-FFF2-40B4-BE49-F238E27FC236}">
                <a16:creationId xmlns:a16="http://schemas.microsoft.com/office/drawing/2014/main" id="{718BF98C-916F-4169-86E5-7BB9CB91B4A7}"/>
              </a:ext>
            </a:extLst>
          </p:cNvPr>
          <p:cNvSpPr>
            <a:spLocks noGrp="1"/>
          </p:cNvSpPr>
          <p:nvPr/>
        </p:nvSpPr>
        <p:spPr>
          <a:xfrm>
            <a:off x="1645558" y="1011610"/>
            <a:ext cx="46451" cy="201290"/>
          </a:xfrm>
          <a:prstGeom prst="rect">
            <a:avLst/>
          </a:prstGeom>
          <a:solidFill>
            <a:srgbClr val="EFB956"/>
          </a:solidFill>
          <a:ln w="5161">
            <a:solidFill>
              <a:srgbClr val="C58823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1" name="diagram block">
            <a:extLst>
              <a:ext uri="{FF2B5EF4-FFF2-40B4-BE49-F238E27FC236}">
                <a16:creationId xmlns:a16="http://schemas.microsoft.com/office/drawing/2014/main" id="{54E8CE54-1985-434A-9342-B0784059CB95}"/>
              </a:ext>
            </a:extLst>
          </p:cNvPr>
          <p:cNvSpPr>
            <a:spLocks noGrp="1"/>
          </p:cNvSpPr>
          <p:nvPr/>
        </p:nvSpPr>
        <p:spPr>
          <a:xfrm>
            <a:off x="1728138" y="1011610"/>
            <a:ext cx="46451" cy="201290"/>
          </a:xfrm>
          <a:prstGeom prst="rect">
            <a:avLst/>
          </a:prstGeom>
          <a:solidFill>
            <a:srgbClr val="EFB956"/>
          </a:solidFill>
          <a:ln w="5161">
            <a:solidFill>
              <a:srgbClr val="C58823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2" name="diagram block">
            <a:extLst>
              <a:ext uri="{FF2B5EF4-FFF2-40B4-BE49-F238E27FC236}">
                <a16:creationId xmlns:a16="http://schemas.microsoft.com/office/drawing/2014/main" id="{A7ACC246-AC99-45F8-89F9-C43EE7312FC8}"/>
              </a:ext>
            </a:extLst>
          </p:cNvPr>
          <p:cNvSpPr>
            <a:spLocks noGrp="1"/>
          </p:cNvSpPr>
          <p:nvPr/>
        </p:nvSpPr>
        <p:spPr>
          <a:xfrm>
            <a:off x="2476523" y="1011610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" name="diagram block">
            <a:extLst>
              <a:ext uri="{FF2B5EF4-FFF2-40B4-BE49-F238E27FC236}">
                <a16:creationId xmlns:a16="http://schemas.microsoft.com/office/drawing/2014/main" id="{A650AA7C-EC77-4261-AF2B-560156B04312}"/>
              </a:ext>
            </a:extLst>
          </p:cNvPr>
          <p:cNvSpPr>
            <a:spLocks noGrp="1"/>
          </p:cNvSpPr>
          <p:nvPr/>
        </p:nvSpPr>
        <p:spPr>
          <a:xfrm>
            <a:off x="2559103" y="1011610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4" name="diagram block">
            <a:extLst>
              <a:ext uri="{FF2B5EF4-FFF2-40B4-BE49-F238E27FC236}">
                <a16:creationId xmlns:a16="http://schemas.microsoft.com/office/drawing/2014/main" id="{CEDBE8B5-FF15-47FF-839A-287D673914BC}"/>
              </a:ext>
            </a:extLst>
          </p:cNvPr>
          <p:cNvSpPr>
            <a:spLocks noGrp="1"/>
          </p:cNvSpPr>
          <p:nvPr/>
        </p:nvSpPr>
        <p:spPr>
          <a:xfrm>
            <a:off x="2641684" y="1011610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" name="diagram block">
            <a:extLst>
              <a:ext uri="{FF2B5EF4-FFF2-40B4-BE49-F238E27FC236}">
                <a16:creationId xmlns:a16="http://schemas.microsoft.com/office/drawing/2014/main" id="{0B417BE9-94E9-4DA2-818F-5CD175DB3372}"/>
              </a:ext>
            </a:extLst>
          </p:cNvPr>
          <p:cNvSpPr>
            <a:spLocks noGrp="1"/>
          </p:cNvSpPr>
          <p:nvPr/>
        </p:nvSpPr>
        <p:spPr>
          <a:xfrm>
            <a:off x="2724264" y="1011610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6" name="diagram block">
            <a:extLst>
              <a:ext uri="{FF2B5EF4-FFF2-40B4-BE49-F238E27FC236}">
                <a16:creationId xmlns:a16="http://schemas.microsoft.com/office/drawing/2014/main" id="{CAF17E00-4002-4F16-8E57-C891C805DBE7}"/>
              </a:ext>
            </a:extLst>
          </p:cNvPr>
          <p:cNvSpPr>
            <a:spLocks noGrp="1"/>
          </p:cNvSpPr>
          <p:nvPr/>
        </p:nvSpPr>
        <p:spPr>
          <a:xfrm>
            <a:off x="1480397" y="2451605"/>
            <a:ext cx="46451" cy="201290"/>
          </a:xfrm>
          <a:prstGeom prst="rect">
            <a:avLst/>
          </a:prstGeom>
          <a:solidFill>
            <a:srgbClr val="F6BC54"/>
          </a:solidFill>
          <a:ln w="5161">
            <a:solidFill>
              <a:srgbClr val="C58823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7" name="diagram block">
            <a:extLst>
              <a:ext uri="{FF2B5EF4-FFF2-40B4-BE49-F238E27FC236}">
                <a16:creationId xmlns:a16="http://schemas.microsoft.com/office/drawing/2014/main" id="{74A2B20F-12D6-43B9-83EA-4EE4223BA657}"/>
              </a:ext>
            </a:extLst>
          </p:cNvPr>
          <p:cNvSpPr>
            <a:spLocks noGrp="1"/>
          </p:cNvSpPr>
          <p:nvPr/>
        </p:nvSpPr>
        <p:spPr>
          <a:xfrm>
            <a:off x="1562977" y="2451605"/>
            <a:ext cx="46451" cy="201290"/>
          </a:xfrm>
          <a:prstGeom prst="rect">
            <a:avLst/>
          </a:prstGeom>
          <a:solidFill>
            <a:srgbClr val="F6BC54"/>
          </a:solidFill>
          <a:ln w="5161">
            <a:solidFill>
              <a:srgbClr val="C58823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8" name="diagram block">
            <a:extLst>
              <a:ext uri="{FF2B5EF4-FFF2-40B4-BE49-F238E27FC236}">
                <a16:creationId xmlns:a16="http://schemas.microsoft.com/office/drawing/2014/main" id="{A6AA42E8-E647-4748-8BC3-1EB3B81579F9}"/>
              </a:ext>
            </a:extLst>
          </p:cNvPr>
          <p:cNvSpPr>
            <a:spLocks noGrp="1"/>
          </p:cNvSpPr>
          <p:nvPr/>
        </p:nvSpPr>
        <p:spPr>
          <a:xfrm>
            <a:off x="1645558" y="2451605"/>
            <a:ext cx="46451" cy="201290"/>
          </a:xfrm>
          <a:prstGeom prst="rect">
            <a:avLst/>
          </a:prstGeom>
          <a:solidFill>
            <a:srgbClr val="F6BC54"/>
          </a:solidFill>
          <a:ln w="5161">
            <a:solidFill>
              <a:srgbClr val="C58823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9" name="diagram block">
            <a:extLst>
              <a:ext uri="{FF2B5EF4-FFF2-40B4-BE49-F238E27FC236}">
                <a16:creationId xmlns:a16="http://schemas.microsoft.com/office/drawing/2014/main" id="{73294550-F5DC-4796-BFAD-F8D3F8B47B50}"/>
              </a:ext>
            </a:extLst>
          </p:cNvPr>
          <p:cNvSpPr>
            <a:spLocks noGrp="1"/>
          </p:cNvSpPr>
          <p:nvPr/>
        </p:nvSpPr>
        <p:spPr>
          <a:xfrm>
            <a:off x="1728138" y="2451605"/>
            <a:ext cx="46451" cy="201290"/>
          </a:xfrm>
          <a:prstGeom prst="rect">
            <a:avLst/>
          </a:prstGeom>
          <a:solidFill>
            <a:srgbClr val="F6BC54"/>
          </a:solidFill>
          <a:ln w="5161">
            <a:solidFill>
              <a:srgbClr val="C58823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0" name="diagram block">
            <a:extLst>
              <a:ext uri="{FF2B5EF4-FFF2-40B4-BE49-F238E27FC236}">
                <a16:creationId xmlns:a16="http://schemas.microsoft.com/office/drawing/2014/main" id="{63178131-8371-4439-A743-D3BDDDA22A6D}"/>
              </a:ext>
            </a:extLst>
          </p:cNvPr>
          <p:cNvSpPr>
            <a:spLocks noGrp="1"/>
          </p:cNvSpPr>
          <p:nvPr/>
        </p:nvSpPr>
        <p:spPr>
          <a:xfrm>
            <a:off x="2476523" y="2451605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1" name="diagram block">
            <a:extLst>
              <a:ext uri="{FF2B5EF4-FFF2-40B4-BE49-F238E27FC236}">
                <a16:creationId xmlns:a16="http://schemas.microsoft.com/office/drawing/2014/main" id="{D85A9EE5-8305-46FF-AEBA-611F00FBEBD7}"/>
              </a:ext>
            </a:extLst>
          </p:cNvPr>
          <p:cNvSpPr>
            <a:spLocks noGrp="1"/>
          </p:cNvSpPr>
          <p:nvPr/>
        </p:nvSpPr>
        <p:spPr>
          <a:xfrm>
            <a:off x="2559103" y="2451605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2" name="diagram block">
            <a:extLst>
              <a:ext uri="{FF2B5EF4-FFF2-40B4-BE49-F238E27FC236}">
                <a16:creationId xmlns:a16="http://schemas.microsoft.com/office/drawing/2014/main" id="{856878D8-3AA3-4395-ABAF-74B5E148D744}"/>
              </a:ext>
            </a:extLst>
          </p:cNvPr>
          <p:cNvSpPr>
            <a:spLocks noGrp="1"/>
          </p:cNvSpPr>
          <p:nvPr/>
        </p:nvSpPr>
        <p:spPr>
          <a:xfrm>
            <a:off x="2641684" y="2451605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3" name="diagram block">
            <a:extLst>
              <a:ext uri="{FF2B5EF4-FFF2-40B4-BE49-F238E27FC236}">
                <a16:creationId xmlns:a16="http://schemas.microsoft.com/office/drawing/2014/main" id="{EA7B06EE-F8F1-40DB-98C2-D884E9048589}"/>
              </a:ext>
            </a:extLst>
          </p:cNvPr>
          <p:cNvSpPr>
            <a:spLocks noGrp="1"/>
          </p:cNvSpPr>
          <p:nvPr/>
        </p:nvSpPr>
        <p:spPr>
          <a:xfrm>
            <a:off x="2724264" y="2451605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4" name="Future latent tokens Zᵀ">
            <a:extLst>
              <a:ext uri="{FF2B5EF4-FFF2-40B4-BE49-F238E27FC236}">
                <a16:creationId xmlns:a16="http://schemas.microsoft.com/office/drawing/2014/main" id="{2DCABF17-AEA3-4BC0-BBA1-47D0C5DFC9E7}"/>
              </a:ext>
            </a:extLst>
          </p:cNvPr>
          <p:cNvSpPr>
            <a:spLocks noGrp="1"/>
          </p:cNvSpPr>
          <p:nvPr/>
        </p:nvSpPr>
        <p:spPr>
          <a:xfrm>
            <a:off x="1222333" y="1249028"/>
            <a:ext cx="1140642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Future latent tokens Zᵀ</a:t>
            </a:r>
          </a:p>
        </p:txBody>
      </p:sp>
      <p:sp>
        <p:nvSpPr>
          <p:cNvPr id="55" name="(teacher-generated future)">
            <a:extLst>
              <a:ext uri="{FF2B5EF4-FFF2-40B4-BE49-F238E27FC236}">
                <a16:creationId xmlns:a16="http://schemas.microsoft.com/office/drawing/2014/main" id="{72712D57-1E62-4E13-8223-F3B29A133A56}"/>
              </a:ext>
            </a:extLst>
          </p:cNvPr>
          <p:cNvSpPr>
            <a:spLocks noGrp="1"/>
          </p:cNvSpPr>
          <p:nvPr/>
        </p:nvSpPr>
        <p:spPr>
          <a:xfrm>
            <a:off x="1227494" y="1367738"/>
            <a:ext cx="1021932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(teacher-generated future)</a:t>
            </a:r>
          </a:p>
        </p:txBody>
      </p:sp>
      <p:sp>
        <p:nvSpPr>
          <p:cNvPr id="56" name="Action chunk aᵀ">
            <a:extLst>
              <a:ext uri="{FF2B5EF4-FFF2-40B4-BE49-F238E27FC236}">
                <a16:creationId xmlns:a16="http://schemas.microsoft.com/office/drawing/2014/main" id="{72355920-D1F3-45F6-8007-809C2A07FEDC}"/>
              </a:ext>
            </a:extLst>
          </p:cNvPr>
          <p:cNvSpPr>
            <a:spLocks noGrp="1"/>
          </p:cNvSpPr>
          <p:nvPr/>
        </p:nvSpPr>
        <p:spPr>
          <a:xfrm>
            <a:off x="2368136" y="1249028"/>
            <a:ext cx="717417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809"/>
          </a:bodyPr>
          <a:lstStyle>
            <a:def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Action chunk aᵀ</a:t>
            </a:r>
          </a:p>
        </p:txBody>
      </p:sp>
      <p:sp>
        <p:nvSpPr>
          <p:cNvPr id="57" name="(6 motor dimensions)">
            <a:extLst>
              <a:ext uri="{FF2B5EF4-FFF2-40B4-BE49-F238E27FC236}">
                <a16:creationId xmlns:a16="http://schemas.microsoft.com/office/drawing/2014/main" id="{04C081E6-DB64-48AD-8CFA-4C05BD0A613C}"/>
              </a:ext>
            </a:extLst>
          </p:cNvPr>
          <p:cNvSpPr>
            <a:spLocks noGrp="1"/>
          </p:cNvSpPr>
          <p:nvPr/>
        </p:nvSpPr>
        <p:spPr>
          <a:xfrm>
            <a:off x="2357813" y="1367738"/>
            <a:ext cx="717417" cy="877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748"/>
          </a:bodyPr>
          <a:lstStyle>
            <a:def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(6 motor dimensions)</a:t>
            </a:r>
          </a:p>
        </p:txBody>
      </p:sp>
      <p:sp>
        <p:nvSpPr>
          <p:cNvPr id="58" name="Future latent tokens Zˢ">
            <a:extLst>
              <a:ext uri="{FF2B5EF4-FFF2-40B4-BE49-F238E27FC236}">
                <a16:creationId xmlns:a16="http://schemas.microsoft.com/office/drawing/2014/main" id="{190718B0-B61D-4D07-9981-D44507752AB1}"/>
              </a:ext>
            </a:extLst>
          </p:cNvPr>
          <p:cNvSpPr>
            <a:spLocks noGrp="1"/>
          </p:cNvSpPr>
          <p:nvPr/>
        </p:nvSpPr>
        <p:spPr>
          <a:xfrm>
            <a:off x="1227494" y="2714830"/>
            <a:ext cx="1109674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Future latent tokens Zˢ</a:t>
            </a:r>
          </a:p>
        </p:txBody>
      </p:sp>
      <p:sp>
        <p:nvSpPr>
          <p:cNvPr id="59" name="(student-generated future)">
            <a:extLst>
              <a:ext uri="{FF2B5EF4-FFF2-40B4-BE49-F238E27FC236}">
                <a16:creationId xmlns:a16="http://schemas.microsoft.com/office/drawing/2014/main" id="{5A4A1672-2BEF-4C2E-8F1B-9B2201421C9C}"/>
              </a:ext>
            </a:extLst>
          </p:cNvPr>
          <p:cNvSpPr>
            <a:spLocks noGrp="1"/>
          </p:cNvSpPr>
          <p:nvPr/>
        </p:nvSpPr>
        <p:spPr>
          <a:xfrm>
            <a:off x="1227494" y="2833539"/>
            <a:ext cx="1021932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(student-generated future)</a:t>
            </a:r>
          </a:p>
        </p:txBody>
      </p:sp>
      <p:sp>
        <p:nvSpPr>
          <p:cNvPr id="60" name="Action chunk aˢ">
            <a:extLst>
              <a:ext uri="{FF2B5EF4-FFF2-40B4-BE49-F238E27FC236}">
                <a16:creationId xmlns:a16="http://schemas.microsoft.com/office/drawing/2014/main" id="{93DBEB2B-66F0-46D9-9228-C35A3229A52E}"/>
              </a:ext>
            </a:extLst>
          </p:cNvPr>
          <p:cNvSpPr>
            <a:spLocks noGrp="1"/>
          </p:cNvSpPr>
          <p:nvPr/>
        </p:nvSpPr>
        <p:spPr>
          <a:xfrm>
            <a:off x="2368136" y="2714830"/>
            <a:ext cx="717417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Action chunk aˢ</a:t>
            </a:r>
          </a:p>
        </p:txBody>
      </p:sp>
      <p:sp>
        <p:nvSpPr>
          <p:cNvPr id="61" name="(6 motor dimensions)">
            <a:extLst>
              <a:ext uri="{FF2B5EF4-FFF2-40B4-BE49-F238E27FC236}">
                <a16:creationId xmlns:a16="http://schemas.microsoft.com/office/drawing/2014/main" id="{605D01CC-50AF-4549-A108-B4EE59C5BACB}"/>
              </a:ext>
            </a:extLst>
          </p:cNvPr>
          <p:cNvSpPr>
            <a:spLocks noGrp="1"/>
          </p:cNvSpPr>
          <p:nvPr/>
        </p:nvSpPr>
        <p:spPr>
          <a:xfrm>
            <a:off x="2357813" y="2833539"/>
            <a:ext cx="717417" cy="877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748"/>
          </a:bodyPr>
          <a:lstStyle>
            <a:def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(6 motor dimensions)</a:t>
            </a:r>
          </a:p>
        </p:txBody>
      </p:sp>
      <p:cxnSp>
        <p:nvCxnSpPr>
          <p:cNvPr id="62" name="native PowerPoint connector">
            <a:extLst>
              <a:ext uri="{FF2B5EF4-FFF2-40B4-BE49-F238E27FC236}">
                <a16:creationId xmlns:a16="http://schemas.microsoft.com/office/drawing/2014/main" id="{B8C9F60A-B4DE-4576-9751-6EC882D64A4E}"/>
              </a:ext>
            </a:extLst>
          </p:cNvPr>
          <p:cNvCxnSpPr/>
          <p:nvPr/>
        </p:nvCxnSpPr>
        <p:spPr>
          <a:xfrm>
            <a:off x="1227494" y="1470963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63" name="native PowerPoint connector">
            <a:extLst>
              <a:ext uri="{FF2B5EF4-FFF2-40B4-BE49-F238E27FC236}">
                <a16:creationId xmlns:a16="http://schemas.microsoft.com/office/drawing/2014/main" id="{F5F1B2FB-8C2D-4F48-9DDA-F28CE5561096}"/>
              </a:ext>
            </a:extLst>
          </p:cNvPr>
          <p:cNvCxnSpPr/>
          <p:nvPr/>
        </p:nvCxnSpPr>
        <p:spPr>
          <a:xfrm>
            <a:off x="1227494" y="1507092"/>
            <a:ext cx="1021932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64" name="native PowerPoint connector">
            <a:extLst>
              <a:ext uri="{FF2B5EF4-FFF2-40B4-BE49-F238E27FC236}">
                <a16:creationId xmlns:a16="http://schemas.microsoft.com/office/drawing/2014/main" id="{D145083A-B939-47FF-A518-8B14B8419C43}"/>
              </a:ext>
            </a:extLst>
          </p:cNvPr>
          <p:cNvCxnSpPr/>
          <p:nvPr/>
        </p:nvCxnSpPr>
        <p:spPr>
          <a:xfrm flipV="1">
            <a:off x="2249427" y="1470963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65" name="T tokens (exclude frame 0)">
            <a:extLst>
              <a:ext uri="{FF2B5EF4-FFF2-40B4-BE49-F238E27FC236}">
                <a16:creationId xmlns:a16="http://schemas.microsoft.com/office/drawing/2014/main" id="{12C82D48-B9FD-4F37-8B1D-54DA669238D8}"/>
              </a:ext>
            </a:extLst>
          </p:cNvPr>
          <p:cNvSpPr>
            <a:spLocks noGrp="1"/>
          </p:cNvSpPr>
          <p:nvPr/>
        </p:nvSpPr>
        <p:spPr>
          <a:xfrm>
            <a:off x="1191366" y="1543221"/>
            <a:ext cx="1099351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 tokens (exclude frame 0)</a:t>
            </a:r>
          </a:p>
        </p:txBody>
      </p:sp>
      <p:cxnSp>
        <p:nvCxnSpPr>
          <p:cNvPr id="66" name="native PowerPoint connector">
            <a:extLst>
              <a:ext uri="{FF2B5EF4-FFF2-40B4-BE49-F238E27FC236}">
                <a16:creationId xmlns:a16="http://schemas.microsoft.com/office/drawing/2014/main" id="{B88A45E6-DF9B-459D-866C-73348D8C4BFD}"/>
              </a:ext>
            </a:extLst>
          </p:cNvPr>
          <p:cNvCxnSpPr/>
          <p:nvPr/>
        </p:nvCxnSpPr>
        <p:spPr>
          <a:xfrm>
            <a:off x="2316523" y="1470963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67" name="native PowerPoint connector">
            <a:extLst>
              <a:ext uri="{FF2B5EF4-FFF2-40B4-BE49-F238E27FC236}">
                <a16:creationId xmlns:a16="http://schemas.microsoft.com/office/drawing/2014/main" id="{B212D362-E2AF-4940-9AD8-E06F0332D45D}"/>
              </a:ext>
            </a:extLst>
          </p:cNvPr>
          <p:cNvCxnSpPr/>
          <p:nvPr/>
        </p:nvCxnSpPr>
        <p:spPr>
          <a:xfrm>
            <a:off x="2316523" y="1507092"/>
            <a:ext cx="624514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68" name="native PowerPoint connector">
            <a:extLst>
              <a:ext uri="{FF2B5EF4-FFF2-40B4-BE49-F238E27FC236}">
                <a16:creationId xmlns:a16="http://schemas.microsoft.com/office/drawing/2014/main" id="{75DC3709-DB45-43CB-9F25-5680CA2A2BCF}"/>
              </a:ext>
            </a:extLst>
          </p:cNvPr>
          <p:cNvCxnSpPr/>
          <p:nvPr/>
        </p:nvCxnSpPr>
        <p:spPr>
          <a:xfrm flipV="1">
            <a:off x="2941037" y="1470963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69" name="H tokens">
            <a:extLst>
              <a:ext uri="{FF2B5EF4-FFF2-40B4-BE49-F238E27FC236}">
                <a16:creationId xmlns:a16="http://schemas.microsoft.com/office/drawing/2014/main" id="{23C4A01D-0128-4074-8383-DE4FFE5B0D14}"/>
              </a:ext>
            </a:extLst>
          </p:cNvPr>
          <p:cNvSpPr>
            <a:spLocks noGrp="1"/>
          </p:cNvSpPr>
          <p:nvPr/>
        </p:nvSpPr>
        <p:spPr>
          <a:xfrm>
            <a:off x="2280394" y="1543221"/>
            <a:ext cx="701933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H tokens</a:t>
            </a:r>
          </a:p>
        </p:txBody>
      </p:sp>
      <p:cxnSp>
        <p:nvCxnSpPr>
          <p:cNvPr id="70" name="native PowerPoint connector">
            <a:extLst>
              <a:ext uri="{FF2B5EF4-FFF2-40B4-BE49-F238E27FC236}">
                <a16:creationId xmlns:a16="http://schemas.microsoft.com/office/drawing/2014/main" id="{F4EC0CFC-38B0-49FC-875C-54CFC4E3C18D}"/>
              </a:ext>
            </a:extLst>
          </p:cNvPr>
          <p:cNvCxnSpPr/>
          <p:nvPr/>
        </p:nvCxnSpPr>
        <p:spPr>
          <a:xfrm>
            <a:off x="1227494" y="2931604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71" name="native PowerPoint connector">
            <a:extLst>
              <a:ext uri="{FF2B5EF4-FFF2-40B4-BE49-F238E27FC236}">
                <a16:creationId xmlns:a16="http://schemas.microsoft.com/office/drawing/2014/main" id="{D5D3E9A3-1B50-4B25-B94F-A8715F569AF0}"/>
              </a:ext>
            </a:extLst>
          </p:cNvPr>
          <p:cNvCxnSpPr/>
          <p:nvPr/>
        </p:nvCxnSpPr>
        <p:spPr>
          <a:xfrm>
            <a:off x="1227494" y="2967733"/>
            <a:ext cx="1021932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72" name="native PowerPoint connector">
            <a:extLst>
              <a:ext uri="{FF2B5EF4-FFF2-40B4-BE49-F238E27FC236}">
                <a16:creationId xmlns:a16="http://schemas.microsoft.com/office/drawing/2014/main" id="{B65631D9-AB8F-4B6B-8B5A-C7FD3B696DCD}"/>
              </a:ext>
            </a:extLst>
          </p:cNvPr>
          <p:cNvCxnSpPr/>
          <p:nvPr/>
        </p:nvCxnSpPr>
        <p:spPr>
          <a:xfrm flipV="1">
            <a:off x="2249427" y="2931604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73" name="T tokens (exclude frame 0)">
            <a:extLst>
              <a:ext uri="{FF2B5EF4-FFF2-40B4-BE49-F238E27FC236}">
                <a16:creationId xmlns:a16="http://schemas.microsoft.com/office/drawing/2014/main" id="{46BE16C6-638F-45CE-953D-D0B0705E62BE}"/>
              </a:ext>
            </a:extLst>
          </p:cNvPr>
          <p:cNvSpPr>
            <a:spLocks noGrp="1"/>
          </p:cNvSpPr>
          <p:nvPr/>
        </p:nvSpPr>
        <p:spPr>
          <a:xfrm>
            <a:off x="1191366" y="3003861"/>
            <a:ext cx="1099351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 tokens (exclude frame 0)</a:t>
            </a:r>
          </a:p>
        </p:txBody>
      </p:sp>
      <p:cxnSp>
        <p:nvCxnSpPr>
          <p:cNvPr id="74" name="native PowerPoint connector">
            <a:extLst>
              <a:ext uri="{FF2B5EF4-FFF2-40B4-BE49-F238E27FC236}">
                <a16:creationId xmlns:a16="http://schemas.microsoft.com/office/drawing/2014/main" id="{7EAC82D8-799E-4A63-B3A0-88F3B666C975}"/>
              </a:ext>
            </a:extLst>
          </p:cNvPr>
          <p:cNvCxnSpPr/>
          <p:nvPr/>
        </p:nvCxnSpPr>
        <p:spPr>
          <a:xfrm>
            <a:off x="2316523" y="2931604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75" name="native PowerPoint connector">
            <a:extLst>
              <a:ext uri="{FF2B5EF4-FFF2-40B4-BE49-F238E27FC236}">
                <a16:creationId xmlns:a16="http://schemas.microsoft.com/office/drawing/2014/main" id="{3B7C6C79-7E15-46EF-BFD6-255FB87FA1A1}"/>
              </a:ext>
            </a:extLst>
          </p:cNvPr>
          <p:cNvCxnSpPr/>
          <p:nvPr/>
        </p:nvCxnSpPr>
        <p:spPr>
          <a:xfrm>
            <a:off x="2316523" y="2967733"/>
            <a:ext cx="624514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76" name="native PowerPoint connector">
            <a:extLst>
              <a:ext uri="{FF2B5EF4-FFF2-40B4-BE49-F238E27FC236}">
                <a16:creationId xmlns:a16="http://schemas.microsoft.com/office/drawing/2014/main" id="{1BDD476C-5594-4228-B1ED-7C9D1684F939}"/>
              </a:ext>
            </a:extLst>
          </p:cNvPr>
          <p:cNvCxnSpPr/>
          <p:nvPr/>
        </p:nvCxnSpPr>
        <p:spPr>
          <a:xfrm flipV="1">
            <a:off x="2941037" y="2931604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77" name="H tokens">
            <a:extLst>
              <a:ext uri="{FF2B5EF4-FFF2-40B4-BE49-F238E27FC236}">
                <a16:creationId xmlns:a16="http://schemas.microsoft.com/office/drawing/2014/main" id="{83BF3D93-49C7-45A8-9E18-0648F1DE154E}"/>
              </a:ext>
            </a:extLst>
          </p:cNvPr>
          <p:cNvSpPr>
            <a:spLocks noGrp="1"/>
          </p:cNvSpPr>
          <p:nvPr/>
        </p:nvSpPr>
        <p:spPr>
          <a:xfrm>
            <a:off x="2280394" y="3003861"/>
            <a:ext cx="701933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H tokens</a:t>
            </a:r>
          </a:p>
        </p:txBody>
      </p:sp>
      <p:cxnSp>
        <p:nvCxnSpPr>
          <p:cNvPr id="78" name="native PowerPoint connector">
            <a:extLst>
              <a:ext uri="{FF2B5EF4-FFF2-40B4-BE49-F238E27FC236}">
                <a16:creationId xmlns:a16="http://schemas.microsoft.com/office/drawing/2014/main" id="{F1495EEF-9ADE-4B5F-8716-505DC66A161C}"/>
              </a:ext>
            </a:extLst>
          </p:cNvPr>
          <p:cNvCxnSpPr/>
          <p:nvPr/>
        </p:nvCxnSpPr>
        <p:spPr>
          <a:xfrm>
            <a:off x="1821041" y="1114835"/>
            <a:ext cx="41290" cy="0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</a:ln>
        </p:spPr>
      </p:cxnSp>
      <p:cxnSp>
        <p:nvCxnSpPr>
          <p:cNvPr id="79" name="native PowerPoint connector">
            <a:extLst>
              <a:ext uri="{FF2B5EF4-FFF2-40B4-BE49-F238E27FC236}">
                <a16:creationId xmlns:a16="http://schemas.microsoft.com/office/drawing/2014/main" id="{84FDDF86-DE64-486C-9927-5607ACAA3F2E}"/>
              </a:ext>
            </a:extLst>
          </p:cNvPr>
          <p:cNvCxnSpPr/>
          <p:nvPr/>
        </p:nvCxnSpPr>
        <p:spPr>
          <a:xfrm flipV="1">
            <a:off x="1862331" y="954836"/>
            <a:ext cx="0" cy="159999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</a:ln>
        </p:spPr>
      </p:cxnSp>
      <p:cxnSp>
        <p:nvCxnSpPr>
          <p:cNvPr id="80" name="native PowerPoint connector">
            <a:extLst>
              <a:ext uri="{FF2B5EF4-FFF2-40B4-BE49-F238E27FC236}">
                <a16:creationId xmlns:a16="http://schemas.microsoft.com/office/drawing/2014/main" id="{021A8FF5-6B4D-46C5-974A-9BED215BE672}"/>
              </a:ext>
            </a:extLst>
          </p:cNvPr>
          <p:cNvCxnSpPr/>
          <p:nvPr/>
        </p:nvCxnSpPr>
        <p:spPr>
          <a:xfrm>
            <a:off x="1862331" y="954836"/>
            <a:ext cx="438708" cy="0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81" name="Video K/V">
            <a:extLst>
              <a:ext uri="{FF2B5EF4-FFF2-40B4-BE49-F238E27FC236}">
                <a16:creationId xmlns:a16="http://schemas.microsoft.com/office/drawing/2014/main" id="{F54911E5-C998-44B4-B1D0-AA2288C832B6}"/>
              </a:ext>
            </a:extLst>
          </p:cNvPr>
          <p:cNvSpPr>
            <a:spLocks noGrp="1"/>
          </p:cNvSpPr>
          <p:nvPr/>
        </p:nvSpPr>
        <p:spPr>
          <a:xfrm>
            <a:off x="1877815" y="1037416"/>
            <a:ext cx="562579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Video K/V</a:t>
            </a:r>
          </a:p>
        </p:txBody>
      </p:sp>
      <p:sp>
        <p:nvSpPr>
          <p:cNvPr id="82" name="(teacher future)">
            <a:extLst>
              <a:ext uri="{FF2B5EF4-FFF2-40B4-BE49-F238E27FC236}">
                <a16:creationId xmlns:a16="http://schemas.microsoft.com/office/drawing/2014/main" id="{4EA939A3-36E9-453A-8675-36CF54E11CC3}"/>
              </a:ext>
            </a:extLst>
          </p:cNvPr>
          <p:cNvSpPr>
            <a:spLocks noGrp="1"/>
          </p:cNvSpPr>
          <p:nvPr/>
        </p:nvSpPr>
        <p:spPr>
          <a:xfrm>
            <a:off x="1877815" y="1145803"/>
            <a:ext cx="562579" cy="877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383"/>
          </a:bodyPr>
          <a:lstStyle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(teacher future)</a:t>
            </a:r>
          </a:p>
        </p:txBody>
      </p:sp>
      <p:cxnSp>
        <p:nvCxnSpPr>
          <p:cNvPr id="83" name="native PowerPoint connector">
            <a:extLst>
              <a:ext uri="{FF2B5EF4-FFF2-40B4-BE49-F238E27FC236}">
                <a16:creationId xmlns:a16="http://schemas.microsoft.com/office/drawing/2014/main" id="{596BC328-806D-4484-BB65-7949FD459D7B}"/>
              </a:ext>
            </a:extLst>
          </p:cNvPr>
          <p:cNvCxnSpPr/>
          <p:nvPr/>
        </p:nvCxnSpPr>
        <p:spPr>
          <a:xfrm>
            <a:off x="1821041" y="2565153"/>
            <a:ext cx="41290" cy="0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</a:ln>
        </p:spPr>
      </p:cxnSp>
      <p:cxnSp>
        <p:nvCxnSpPr>
          <p:cNvPr id="84" name="native PowerPoint connector">
            <a:extLst>
              <a:ext uri="{FF2B5EF4-FFF2-40B4-BE49-F238E27FC236}">
                <a16:creationId xmlns:a16="http://schemas.microsoft.com/office/drawing/2014/main" id="{27D2D875-B390-4B5D-ADCD-E49F93DC9135}"/>
              </a:ext>
            </a:extLst>
          </p:cNvPr>
          <p:cNvCxnSpPr/>
          <p:nvPr/>
        </p:nvCxnSpPr>
        <p:spPr>
          <a:xfrm flipV="1">
            <a:off x="1862331" y="2394831"/>
            <a:ext cx="0" cy="170322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</a:ln>
        </p:spPr>
      </p:cxnSp>
      <p:cxnSp>
        <p:nvCxnSpPr>
          <p:cNvPr id="85" name="native PowerPoint connector">
            <a:extLst>
              <a:ext uri="{FF2B5EF4-FFF2-40B4-BE49-F238E27FC236}">
                <a16:creationId xmlns:a16="http://schemas.microsoft.com/office/drawing/2014/main" id="{6EA33C81-AE80-4A47-B2F2-47723289043B}"/>
              </a:ext>
            </a:extLst>
          </p:cNvPr>
          <p:cNvCxnSpPr/>
          <p:nvPr/>
        </p:nvCxnSpPr>
        <p:spPr>
          <a:xfrm>
            <a:off x="1862331" y="2394831"/>
            <a:ext cx="438708" cy="0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86" name="Video K/V">
            <a:extLst>
              <a:ext uri="{FF2B5EF4-FFF2-40B4-BE49-F238E27FC236}">
                <a16:creationId xmlns:a16="http://schemas.microsoft.com/office/drawing/2014/main" id="{0CB1089A-D8FF-4430-B73E-DAC21EB954A8}"/>
              </a:ext>
            </a:extLst>
          </p:cNvPr>
          <p:cNvSpPr>
            <a:spLocks noGrp="1"/>
          </p:cNvSpPr>
          <p:nvPr/>
        </p:nvSpPr>
        <p:spPr>
          <a:xfrm>
            <a:off x="1877815" y="2477411"/>
            <a:ext cx="562579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Video K/V</a:t>
            </a:r>
          </a:p>
        </p:txBody>
      </p:sp>
      <p:sp>
        <p:nvSpPr>
          <p:cNvPr id="87" name="(student future)">
            <a:extLst>
              <a:ext uri="{FF2B5EF4-FFF2-40B4-BE49-F238E27FC236}">
                <a16:creationId xmlns:a16="http://schemas.microsoft.com/office/drawing/2014/main" id="{FEAC24EB-2D5F-49EB-AF2E-B1E848B195FD}"/>
              </a:ext>
            </a:extLst>
          </p:cNvPr>
          <p:cNvSpPr>
            <a:spLocks noGrp="1"/>
          </p:cNvSpPr>
          <p:nvPr/>
        </p:nvSpPr>
        <p:spPr>
          <a:xfrm>
            <a:off x="1877815" y="2585798"/>
            <a:ext cx="562579" cy="877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383"/>
          </a:bodyPr>
          <a:lstStyle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(student future)</a:t>
            </a:r>
          </a:p>
        </p:txBody>
      </p:sp>
      <p:cxnSp>
        <p:nvCxnSpPr>
          <p:cNvPr id="88" name="native PowerPoint connector">
            <a:extLst>
              <a:ext uri="{FF2B5EF4-FFF2-40B4-BE49-F238E27FC236}">
                <a16:creationId xmlns:a16="http://schemas.microsoft.com/office/drawing/2014/main" id="{B26A9D6F-D07E-42A5-BC9F-D4473D579920}"/>
              </a:ext>
            </a:extLst>
          </p:cNvPr>
          <p:cNvCxnSpPr/>
          <p:nvPr/>
        </p:nvCxnSpPr>
        <p:spPr>
          <a:xfrm>
            <a:off x="2946199" y="769030"/>
            <a:ext cx="201290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89" name="native PowerPoint connector">
            <a:extLst>
              <a:ext uri="{FF2B5EF4-FFF2-40B4-BE49-F238E27FC236}">
                <a16:creationId xmlns:a16="http://schemas.microsoft.com/office/drawing/2014/main" id="{0E2E4A67-C6DB-4B2D-9F0F-6B117C194A32}"/>
              </a:ext>
            </a:extLst>
          </p:cNvPr>
          <p:cNvCxnSpPr/>
          <p:nvPr/>
        </p:nvCxnSpPr>
        <p:spPr>
          <a:xfrm flipV="1">
            <a:off x="3147488" y="645159"/>
            <a:ext cx="0" cy="123871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90" name="native PowerPoint connector">
            <a:extLst>
              <a:ext uri="{FF2B5EF4-FFF2-40B4-BE49-F238E27FC236}">
                <a16:creationId xmlns:a16="http://schemas.microsoft.com/office/drawing/2014/main" id="{7CA3F5B0-2730-4308-B703-7BED1CB669A9}"/>
              </a:ext>
            </a:extLst>
          </p:cNvPr>
          <p:cNvCxnSpPr/>
          <p:nvPr/>
        </p:nvCxnSpPr>
        <p:spPr>
          <a:xfrm>
            <a:off x="3147488" y="645159"/>
            <a:ext cx="113548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  <a:tailEnd type="triangle" w="sm" len="sm"/>
          </a:ln>
        </p:spPr>
      </p:cxnSp>
      <p:cxnSp>
        <p:nvCxnSpPr>
          <p:cNvPr id="91" name="native PowerPoint connector">
            <a:extLst>
              <a:ext uri="{FF2B5EF4-FFF2-40B4-BE49-F238E27FC236}">
                <a16:creationId xmlns:a16="http://schemas.microsoft.com/office/drawing/2014/main" id="{C95D6475-5FD2-4059-8592-57D38BC86A09}"/>
              </a:ext>
            </a:extLst>
          </p:cNvPr>
          <p:cNvCxnSpPr/>
          <p:nvPr/>
        </p:nvCxnSpPr>
        <p:spPr>
          <a:xfrm>
            <a:off x="2946199" y="2193541"/>
            <a:ext cx="201290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92" name="native PowerPoint connector">
            <a:extLst>
              <a:ext uri="{FF2B5EF4-FFF2-40B4-BE49-F238E27FC236}">
                <a16:creationId xmlns:a16="http://schemas.microsoft.com/office/drawing/2014/main" id="{5837948C-7DDB-41D4-8F83-0C254FFEDE74}"/>
              </a:ext>
            </a:extLst>
          </p:cNvPr>
          <p:cNvCxnSpPr/>
          <p:nvPr/>
        </p:nvCxnSpPr>
        <p:spPr>
          <a:xfrm>
            <a:off x="3147488" y="2193541"/>
            <a:ext cx="0" cy="8258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93" name="native PowerPoint connector">
            <a:extLst>
              <a:ext uri="{FF2B5EF4-FFF2-40B4-BE49-F238E27FC236}">
                <a16:creationId xmlns:a16="http://schemas.microsoft.com/office/drawing/2014/main" id="{053B7A31-675E-437F-B469-FDABAD9093CA}"/>
              </a:ext>
            </a:extLst>
          </p:cNvPr>
          <p:cNvCxnSpPr/>
          <p:nvPr/>
        </p:nvCxnSpPr>
        <p:spPr>
          <a:xfrm>
            <a:off x="3147488" y="2276122"/>
            <a:ext cx="113548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  <a:tailEnd type="triangle" w="sm" len="sm"/>
          </a:ln>
        </p:spPr>
      </p:cxnSp>
      <p:cxnSp>
        <p:nvCxnSpPr>
          <p:cNvPr id="94" name="native PowerPoint connector">
            <a:extLst>
              <a:ext uri="{FF2B5EF4-FFF2-40B4-BE49-F238E27FC236}">
                <a16:creationId xmlns:a16="http://schemas.microsoft.com/office/drawing/2014/main" id="{DAC43F5C-9049-409D-9FA9-E8C839A37ED8}"/>
              </a:ext>
            </a:extLst>
          </p:cNvPr>
          <p:cNvCxnSpPr/>
          <p:nvPr/>
        </p:nvCxnSpPr>
        <p:spPr>
          <a:xfrm>
            <a:off x="3147488" y="645159"/>
            <a:ext cx="0" cy="1630963"/>
          </a:xfrm>
          <a:prstGeom prst="straightConnector1">
            <a:avLst/>
          </a:prstGeom>
          <a:ln w="6194">
            <a:solidFill>
              <a:srgbClr val="071B3C"/>
            </a:solidFill>
            <a:prstDash val="dash"/>
          </a:ln>
        </p:spPr>
      </p:cxnSp>
      <p:sp>
        <p:nvSpPr>
          <p:cNvPr id="95" name="diagram block">
            <a:extLst>
              <a:ext uri="{FF2B5EF4-FFF2-40B4-BE49-F238E27FC236}">
                <a16:creationId xmlns:a16="http://schemas.microsoft.com/office/drawing/2014/main" id="{9932272C-9617-42E2-A123-8A01B867941D}"/>
              </a:ext>
            </a:extLst>
          </p:cNvPr>
          <p:cNvSpPr>
            <a:spLocks noGrp="1"/>
          </p:cNvSpPr>
          <p:nvPr/>
        </p:nvSpPr>
        <p:spPr>
          <a:xfrm>
            <a:off x="3261036" y="485160"/>
            <a:ext cx="629675" cy="903223"/>
          </a:xfrm>
          <a:prstGeom prst="roundRect">
            <a:avLst>
              <a:gd name="adj" fmla="val 4098"/>
            </a:avLst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5161">
            <a:solidFill>
              <a:srgbClr val="F0D29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96" name="Future&#10;latent loss">
            <a:extLst>
              <a:ext uri="{FF2B5EF4-FFF2-40B4-BE49-F238E27FC236}">
                <a16:creationId xmlns:a16="http://schemas.microsoft.com/office/drawing/2014/main" id="{64205DEC-BB54-44EF-B0F9-446676F260F3}"/>
              </a:ext>
            </a:extLst>
          </p:cNvPr>
          <p:cNvSpPr>
            <a:spLocks noGrp="1"/>
          </p:cNvSpPr>
          <p:nvPr/>
        </p:nvSpPr>
        <p:spPr>
          <a:xfrm>
            <a:off x="3312649" y="526450"/>
            <a:ext cx="526450" cy="24774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5"/>
          </a:bodyPr>
          <a:lstStyle>
            <a:def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rPr>
              <a:t>Future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rPr>
              <a:t>latent loss</a:t>
            </a:r>
          </a:p>
        </p:txBody>
      </p:sp>
      <p:sp>
        <p:nvSpPr>
          <p:cNvPr id="97" name="L_z = NMSE">
            <a:extLst>
              <a:ext uri="{FF2B5EF4-FFF2-40B4-BE49-F238E27FC236}">
                <a16:creationId xmlns:a16="http://schemas.microsoft.com/office/drawing/2014/main" id="{7E81FF55-350F-44D2-A180-AA1A1778876A}"/>
              </a:ext>
            </a:extLst>
          </p:cNvPr>
          <p:cNvSpPr>
            <a:spLocks noGrp="1"/>
          </p:cNvSpPr>
          <p:nvPr/>
        </p:nvSpPr>
        <p:spPr>
          <a:xfrm>
            <a:off x="3302327" y="846449"/>
            <a:ext cx="557418" cy="1496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763"/>
          </a:bodyPr>
          <a:lstStyle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653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894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NMSE</a:t>
            </a:r>
          </a:p>
        </p:txBody>
      </p:sp>
      <p:sp>
        <p:nvSpPr>
          <p:cNvPr id="98" name="(Z^S, Z^T)">
            <a:extLst>
              <a:ext uri="{FF2B5EF4-FFF2-40B4-BE49-F238E27FC236}">
                <a16:creationId xmlns:a16="http://schemas.microsoft.com/office/drawing/2014/main" id="{92AB4801-224D-44E8-9F98-20EECA91F2A1}"/>
              </a:ext>
            </a:extLst>
          </p:cNvPr>
          <p:cNvSpPr>
            <a:spLocks noGrp="1"/>
          </p:cNvSpPr>
          <p:nvPr/>
        </p:nvSpPr>
        <p:spPr>
          <a:xfrm>
            <a:off x="3302327" y="1001287"/>
            <a:ext cx="557418" cy="1445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(Z</a:t>
            </a:r>
            <a:r>
              <a:rPr sz="712" b="0" i="1" baseline="27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, Z</a:t>
            </a:r>
            <a:r>
              <a:rPr sz="712" b="0" i="1" baseline="27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99" name="(future only,&#10;frame 0 excluded)">
            <a:extLst>
              <a:ext uri="{FF2B5EF4-FFF2-40B4-BE49-F238E27FC236}">
                <a16:creationId xmlns:a16="http://schemas.microsoft.com/office/drawing/2014/main" id="{CF32BE93-A4F4-4123-ABC3-4225BA9FAED6}"/>
              </a:ext>
            </a:extLst>
          </p:cNvPr>
          <p:cNvSpPr>
            <a:spLocks noGrp="1"/>
          </p:cNvSpPr>
          <p:nvPr/>
        </p:nvSpPr>
        <p:spPr>
          <a:xfrm>
            <a:off x="3297165" y="1197416"/>
            <a:ext cx="557418" cy="17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5969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(future only,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frame 0 excluded)</a:t>
            </a:r>
          </a:p>
        </p:txBody>
      </p:sp>
      <p:sp>
        <p:nvSpPr>
          <p:cNvPr id="100" name="diagram block">
            <a:extLst>
              <a:ext uri="{FF2B5EF4-FFF2-40B4-BE49-F238E27FC236}">
                <a16:creationId xmlns:a16="http://schemas.microsoft.com/office/drawing/2014/main" id="{98F31485-87E7-479F-83AC-8E237050FA1F}"/>
              </a:ext>
            </a:extLst>
          </p:cNvPr>
          <p:cNvSpPr>
            <a:spLocks noGrp="1"/>
          </p:cNvSpPr>
          <p:nvPr/>
        </p:nvSpPr>
        <p:spPr>
          <a:xfrm>
            <a:off x="3261036" y="1723865"/>
            <a:ext cx="629675" cy="1068384"/>
          </a:xfrm>
          <a:prstGeom prst="roundRect">
            <a:avLst>
              <a:gd name="adj" fmla="val 4098"/>
            </a:avLst>
          </a:prstGeom>
          <a:gradFill>
            <a:gsLst>
              <a:gs pos="0">
                <a:srgbClr val="D9F2F4"/>
              </a:gs>
              <a:gs pos="100000">
                <a:srgbClr val="EDF9FA"/>
              </a:gs>
            </a:gsLst>
            <a:lin ang="5400000"/>
          </a:gradFill>
          <a:ln w="5161">
            <a:solidFill>
              <a:srgbClr val="98D7D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01" name="First-10&#10;motor action&#10;loss">
            <a:extLst>
              <a:ext uri="{FF2B5EF4-FFF2-40B4-BE49-F238E27FC236}">
                <a16:creationId xmlns:a16="http://schemas.microsoft.com/office/drawing/2014/main" id="{150DDA0C-EEC0-4AF6-A8F2-FE24558A3C6E}"/>
              </a:ext>
            </a:extLst>
          </p:cNvPr>
          <p:cNvSpPr>
            <a:spLocks noGrp="1"/>
          </p:cNvSpPr>
          <p:nvPr/>
        </p:nvSpPr>
        <p:spPr>
          <a:xfrm>
            <a:off x="3307488" y="1790962"/>
            <a:ext cx="541934" cy="33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867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First-10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motor action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loss</a:t>
            </a:r>
          </a:p>
        </p:txBody>
      </p:sp>
      <p:sp>
        <p:nvSpPr>
          <p:cNvPr id="102" name="L_a = MSE">
            <a:extLst>
              <a:ext uri="{FF2B5EF4-FFF2-40B4-BE49-F238E27FC236}">
                <a16:creationId xmlns:a16="http://schemas.microsoft.com/office/drawing/2014/main" id="{B547E166-2EB9-4CF0-A921-6ECB37D33937}"/>
              </a:ext>
            </a:extLst>
          </p:cNvPr>
          <p:cNvSpPr>
            <a:spLocks noGrp="1"/>
          </p:cNvSpPr>
          <p:nvPr/>
        </p:nvSpPr>
        <p:spPr>
          <a:xfrm>
            <a:off x="3302327" y="2167735"/>
            <a:ext cx="557418" cy="1496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683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93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MSE</a:t>
            </a:r>
          </a:p>
        </p:txBody>
      </p:sp>
      <p:sp>
        <p:nvSpPr>
          <p:cNvPr id="103" name="(a^S, a^T)">
            <a:extLst>
              <a:ext uri="{FF2B5EF4-FFF2-40B4-BE49-F238E27FC236}">
                <a16:creationId xmlns:a16="http://schemas.microsoft.com/office/drawing/2014/main" id="{66D5B86D-9345-4F99-ACD6-9CF1F7E1676A}"/>
              </a:ext>
            </a:extLst>
          </p:cNvPr>
          <p:cNvSpPr>
            <a:spLocks noGrp="1"/>
          </p:cNvSpPr>
          <p:nvPr/>
        </p:nvSpPr>
        <p:spPr>
          <a:xfrm>
            <a:off x="3302327" y="2327735"/>
            <a:ext cx="557418" cy="1445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</a:t>
            </a:r>
            <a:r>
              <a:rPr sz="712" b="0" i="1" baseline="27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, a</a:t>
            </a:r>
            <a:r>
              <a:rPr sz="712" b="0" i="1" baseline="27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04" name="(6 motor dims&#10;only, gripper&#10;excluded)">
            <a:extLst>
              <a:ext uri="{FF2B5EF4-FFF2-40B4-BE49-F238E27FC236}">
                <a16:creationId xmlns:a16="http://schemas.microsoft.com/office/drawing/2014/main" id="{EBB7271C-964E-4625-816E-8004071DE334}"/>
              </a:ext>
            </a:extLst>
          </p:cNvPr>
          <p:cNvSpPr>
            <a:spLocks noGrp="1"/>
          </p:cNvSpPr>
          <p:nvPr/>
        </p:nvSpPr>
        <p:spPr>
          <a:xfrm>
            <a:off x="3302327" y="2503218"/>
            <a:ext cx="536772" cy="2683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0194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(6 motor dims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only, gripper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excluded)</a:t>
            </a:r>
          </a:p>
        </p:txBody>
      </p:sp>
      <p:sp>
        <p:nvSpPr>
          <p:cNvPr id="105" name="Transform weight rows into groups of 32 scalars">
            <a:extLst>
              <a:ext uri="{FF2B5EF4-FFF2-40B4-BE49-F238E27FC236}">
                <a16:creationId xmlns:a16="http://schemas.microsoft.com/office/drawing/2014/main" id="{5F22959F-E953-490F-9B55-E2FD575D6D09}"/>
              </a:ext>
            </a:extLst>
          </p:cNvPr>
          <p:cNvSpPr>
            <a:spLocks noGrp="1"/>
          </p:cNvSpPr>
          <p:nvPr/>
        </p:nvSpPr>
        <p:spPr>
          <a:xfrm>
            <a:off x="4066195" y="273548"/>
            <a:ext cx="2296767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Transform weight rows into groups of 32 scalars</a:t>
            </a:r>
          </a:p>
        </p:txBody>
      </p:sp>
      <p:sp>
        <p:nvSpPr>
          <p:cNvPr id="106" name="(each vector has d = 4)">
            <a:extLst>
              <a:ext uri="{FF2B5EF4-FFF2-40B4-BE49-F238E27FC236}">
                <a16:creationId xmlns:a16="http://schemas.microsoft.com/office/drawing/2014/main" id="{388AA04E-223C-487E-8105-559891765968}"/>
              </a:ext>
            </a:extLst>
          </p:cNvPr>
          <p:cNvSpPr>
            <a:spLocks noGrp="1"/>
          </p:cNvSpPr>
          <p:nvPr/>
        </p:nvSpPr>
        <p:spPr>
          <a:xfrm>
            <a:off x="4122969" y="387096"/>
            <a:ext cx="2198703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(each vector has d = 4)</a:t>
            </a:r>
          </a:p>
        </p:txBody>
      </p:sp>
      <p:sp>
        <p:nvSpPr>
          <p:cNvPr id="107" name="Transformed weight row  w">
            <a:extLst>
              <a:ext uri="{FF2B5EF4-FFF2-40B4-BE49-F238E27FC236}">
                <a16:creationId xmlns:a16="http://schemas.microsoft.com/office/drawing/2014/main" id="{AB540DC8-2ED2-48C4-AEDA-D6EAB09255EF}"/>
              </a:ext>
            </a:extLst>
          </p:cNvPr>
          <p:cNvSpPr>
            <a:spLocks noGrp="1"/>
          </p:cNvSpPr>
          <p:nvPr/>
        </p:nvSpPr>
        <p:spPr>
          <a:xfrm>
            <a:off x="4210711" y="521289"/>
            <a:ext cx="1971607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809"/>
          </a:bodyPr>
          <a:lstStyle>
            <a:def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Transformed weight row  w</a:t>
            </a:r>
          </a:p>
        </p:txBody>
      </p:sp>
      <p:sp>
        <p:nvSpPr>
          <p:cNvPr id="108" name="diagram block">
            <a:extLst>
              <a:ext uri="{FF2B5EF4-FFF2-40B4-BE49-F238E27FC236}">
                <a16:creationId xmlns:a16="http://schemas.microsoft.com/office/drawing/2014/main" id="{829C8DBF-0F22-49A9-9512-9F1D4FF72B96}"/>
              </a:ext>
            </a:extLst>
          </p:cNvPr>
          <p:cNvSpPr>
            <a:spLocks noGrp="1"/>
          </p:cNvSpPr>
          <p:nvPr/>
        </p:nvSpPr>
        <p:spPr>
          <a:xfrm>
            <a:off x="4257162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09" name="diagram block">
            <a:extLst>
              <a:ext uri="{FF2B5EF4-FFF2-40B4-BE49-F238E27FC236}">
                <a16:creationId xmlns:a16="http://schemas.microsoft.com/office/drawing/2014/main" id="{C75B57AC-879E-4FCA-9A30-3CD6176D4A91}"/>
              </a:ext>
            </a:extLst>
          </p:cNvPr>
          <p:cNvSpPr>
            <a:spLocks noGrp="1"/>
          </p:cNvSpPr>
          <p:nvPr/>
        </p:nvSpPr>
        <p:spPr>
          <a:xfrm>
            <a:off x="4375549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10" name="diagram block">
            <a:extLst>
              <a:ext uri="{FF2B5EF4-FFF2-40B4-BE49-F238E27FC236}">
                <a16:creationId xmlns:a16="http://schemas.microsoft.com/office/drawing/2014/main" id="{7B13A627-5455-4D89-8D85-5D283322D86A}"/>
              </a:ext>
            </a:extLst>
          </p:cNvPr>
          <p:cNvSpPr>
            <a:spLocks noGrp="1"/>
          </p:cNvSpPr>
          <p:nvPr/>
        </p:nvSpPr>
        <p:spPr>
          <a:xfrm>
            <a:off x="4493936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11" name="diagram block">
            <a:extLst>
              <a:ext uri="{FF2B5EF4-FFF2-40B4-BE49-F238E27FC236}">
                <a16:creationId xmlns:a16="http://schemas.microsoft.com/office/drawing/2014/main" id="{88C03362-3069-4ABC-9BBA-1B460A2CD057}"/>
              </a:ext>
            </a:extLst>
          </p:cNvPr>
          <p:cNvSpPr>
            <a:spLocks noGrp="1"/>
          </p:cNvSpPr>
          <p:nvPr/>
        </p:nvSpPr>
        <p:spPr>
          <a:xfrm>
            <a:off x="4612322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12" name="diagram block">
            <a:extLst>
              <a:ext uri="{FF2B5EF4-FFF2-40B4-BE49-F238E27FC236}">
                <a16:creationId xmlns:a16="http://schemas.microsoft.com/office/drawing/2014/main" id="{215A4646-D512-4277-8C7B-6C9FB3D83957}"/>
              </a:ext>
            </a:extLst>
          </p:cNvPr>
          <p:cNvSpPr>
            <a:spLocks noGrp="1"/>
          </p:cNvSpPr>
          <p:nvPr/>
        </p:nvSpPr>
        <p:spPr>
          <a:xfrm>
            <a:off x="4730709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13" name="diagram block">
            <a:extLst>
              <a:ext uri="{FF2B5EF4-FFF2-40B4-BE49-F238E27FC236}">
                <a16:creationId xmlns:a16="http://schemas.microsoft.com/office/drawing/2014/main" id="{A521B99D-5520-4178-A552-483A589B1EB8}"/>
              </a:ext>
            </a:extLst>
          </p:cNvPr>
          <p:cNvSpPr>
            <a:spLocks noGrp="1"/>
          </p:cNvSpPr>
          <p:nvPr/>
        </p:nvSpPr>
        <p:spPr>
          <a:xfrm>
            <a:off x="4849096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14" name="diagram block">
            <a:extLst>
              <a:ext uri="{FF2B5EF4-FFF2-40B4-BE49-F238E27FC236}">
                <a16:creationId xmlns:a16="http://schemas.microsoft.com/office/drawing/2014/main" id="{B903AA7E-1637-43B5-B813-4B25F6989F01}"/>
              </a:ext>
            </a:extLst>
          </p:cNvPr>
          <p:cNvSpPr>
            <a:spLocks noGrp="1"/>
          </p:cNvSpPr>
          <p:nvPr/>
        </p:nvSpPr>
        <p:spPr>
          <a:xfrm>
            <a:off x="4967483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15" name="diagram block">
            <a:extLst>
              <a:ext uri="{FF2B5EF4-FFF2-40B4-BE49-F238E27FC236}">
                <a16:creationId xmlns:a16="http://schemas.microsoft.com/office/drawing/2014/main" id="{3F7D791E-3801-46FB-8EBA-7E395D4E6D35}"/>
              </a:ext>
            </a:extLst>
          </p:cNvPr>
          <p:cNvSpPr>
            <a:spLocks noGrp="1"/>
          </p:cNvSpPr>
          <p:nvPr/>
        </p:nvSpPr>
        <p:spPr>
          <a:xfrm>
            <a:off x="5085869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16" name="diagram block">
            <a:extLst>
              <a:ext uri="{FF2B5EF4-FFF2-40B4-BE49-F238E27FC236}">
                <a16:creationId xmlns:a16="http://schemas.microsoft.com/office/drawing/2014/main" id="{BFF71563-535A-4774-9904-B283AEF936CC}"/>
              </a:ext>
            </a:extLst>
          </p:cNvPr>
          <p:cNvSpPr>
            <a:spLocks noGrp="1"/>
          </p:cNvSpPr>
          <p:nvPr/>
        </p:nvSpPr>
        <p:spPr>
          <a:xfrm>
            <a:off x="5204256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17" name="diagram block">
            <a:extLst>
              <a:ext uri="{FF2B5EF4-FFF2-40B4-BE49-F238E27FC236}">
                <a16:creationId xmlns:a16="http://schemas.microsoft.com/office/drawing/2014/main" id="{901204F1-62F3-4778-8C96-32AAFC24EA64}"/>
              </a:ext>
            </a:extLst>
          </p:cNvPr>
          <p:cNvSpPr>
            <a:spLocks noGrp="1"/>
          </p:cNvSpPr>
          <p:nvPr/>
        </p:nvSpPr>
        <p:spPr>
          <a:xfrm>
            <a:off x="5322643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18" name="diagram block">
            <a:extLst>
              <a:ext uri="{FF2B5EF4-FFF2-40B4-BE49-F238E27FC236}">
                <a16:creationId xmlns:a16="http://schemas.microsoft.com/office/drawing/2014/main" id="{4D483890-BDFA-4A04-8337-F5C2888B4B3A}"/>
              </a:ext>
            </a:extLst>
          </p:cNvPr>
          <p:cNvSpPr>
            <a:spLocks noGrp="1"/>
          </p:cNvSpPr>
          <p:nvPr/>
        </p:nvSpPr>
        <p:spPr>
          <a:xfrm>
            <a:off x="5441029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19" name="diagram block">
            <a:extLst>
              <a:ext uri="{FF2B5EF4-FFF2-40B4-BE49-F238E27FC236}">
                <a16:creationId xmlns:a16="http://schemas.microsoft.com/office/drawing/2014/main" id="{ACCB9247-126B-41BD-81F6-1627BC345A58}"/>
              </a:ext>
            </a:extLst>
          </p:cNvPr>
          <p:cNvSpPr>
            <a:spLocks noGrp="1"/>
          </p:cNvSpPr>
          <p:nvPr/>
        </p:nvSpPr>
        <p:spPr>
          <a:xfrm>
            <a:off x="5559416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20" name="diagram block">
            <a:extLst>
              <a:ext uri="{FF2B5EF4-FFF2-40B4-BE49-F238E27FC236}">
                <a16:creationId xmlns:a16="http://schemas.microsoft.com/office/drawing/2014/main" id="{8C619438-A25D-4C26-B270-BA5E4AA79A7F}"/>
              </a:ext>
            </a:extLst>
          </p:cNvPr>
          <p:cNvSpPr>
            <a:spLocks noGrp="1"/>
          </p:cNvSpPr>
          <p:nvPr/>
        </p:nvSpPr>
        <p:spPr>
          <a:xfrm>
            <a:off x="5677803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21" name="diagram block">
            <a:extLst>
              <a:ext uri="{FF2B5EF4-FFF2-40B4-BE49-F238E27FC236}">
                <a16:creationId xmlns:a16="http://schemas.microsoft.com/office/drawing/2014/main" id="{85D5C479-A6BF-4D98-A2FA-D64A6B752FBD}"/>
              </a:ext>
            </a:extLst>
          </p:cNvPr>
          <p:cNvSpPr>
            <a:spLocks noGrp="1"/>
          </p:cNvSpPr>
          <p:nvPr/>
        </p:nvSpPr>
        <p:spPr>
          <a:xfrm>
            <a:off x="5796190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22" name="diagram block">
            <a:extLst>
              <a:ext uri="{FF2B5EF4-FFF2-40B4-BE49-F238E27FC236}">
                <a16:creationId xmlns:a16="http://schemas.microsoft.com/office/drawing/2014/main" id="{2DA0A653-D3CF-4F95-B4C8-4671481050AC}"/>
              </a:ext>
            </a:extLst>
          </p:cNvPr>
          <p:cNvSpPr>
            <a:spLocks noGrp="1"/>
          </p:cNvSpPr>
          <p:nvPr/>
        </p:nvSpPr>
        <p:spPr>
          <a:xfrm>
            <a:off x="5914576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23" name="diagram block">
            <a:extLst>
              <a:ext uri="{FF2B5EF4-FFF2-40B4-BE49-F238E27FC236}">
                <a16:creationId xmlns:a16="http://schemas.microsoft.com/office/drawing/2014/main" id="{80BD6747-CE80-45BC-AD51-9EDABA6C2F32}"/>
              </a:ext>
            </a:extLst>
          </p:cNvPr>
          <p:cNvSpPr>
            <a:spLocks noGrp="1"/>
          </p:cNvSpPr>
          <p:nvPr/>
        </p:nvSpPr>
        <p:spPr>
          <a:xfrm>
            <a:off x="6032963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24" name="diagram block">
            <a:extLst>
              <a:ext uri="{FF2B5EF4-FFF2-40B4-BE49-F238E27FC236}">
                <a16:creationId xmlns:a16="http://schemas.microsoft.com/office/drawing/2014/main" id="{EC53A9AF-B46D-46BE-803D-959CCC396D3D}"/>
              </a:ext>
            </a:extLst>
          </p:cNvPr>
          <p:cNvSpPr>
            <a:spLocks noGrp="1"/>
          </p:cNvSpPr>
          <p:nvPr/>
        </p:nvSpPr>
        <p:spPr>
          <a:xfrm>
            <a:off x="425716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25" name="diagram block">
            <a:extLst>
              <a:ext uri="{FF2B5EF4-FFF2-40B4-BE49-F238E27FC236}">
                <a16:creationId xmlns:a16="http://schemas.microsoft.com/office/drawing/2014/main" id="{A244E0EE-53D9-44FF-9CCA-2DB433ACBAD4}"/>
              </a:ext>
            </a:extLst>
          </p:cNvPr>
          <p:cNvSpPr>
            <a:spLocks noGrp="1"/>
          </p:cNvSpPr>
          <p:nvPr/>
        </p:nvSpPr>
        <p:spPr>
          <a:xfrm>
            <a:off x="435845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26" name="diagram block">
            <a:extLst>
              <a:ext uri="{FF2B5EF4-FFF2-40B4-BE49-F238E27FC236}">
                <a16:creationId xmlns:a16="http://schemas.microsoft.com/office/drawing/2014/main" id="{A2BAC573-D520-418D-AB64-A2B101A63557}"/>
              </a:ext>
            </a:extLst>
          </p:cNvPr>
          <p:cNvSpPr>
            <a:spLocks noGrp="1"/>
          </p:cNvSpPr>
          <p:nvPr/>
        </p:nvSpPr>
        <p:spPr>
          <a:xfrm>
            <a:off x="445974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27" name="diagram block">
            <a:extLst>
              <a:ext uri="{FF2B5EF4-FFF2-40B4-BE49-F238E27FC236}">
                <a16:creationId xmlns:a16="http://schemas.microsoft.com/office/drawing/2014/main" id="{633EDC8B-4CFD-481C-B1E5-0FD9549F03AC}"/>
              </a:ext>
            </a:extLst>
          </p:cNvPr>
          <p:cNvSpPr>
            <a:spLocks noGrp="1"/>
          </p:cNvSpPr>
          <p:nvPr/>
        </p:nvSpPr>
        <p:spPr>
          <a:xfrm>
            <a:off x="456103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28" name="diagram block">
            <a:extLst>
              <a:ext uri="{FF2B5EF4-FFF2-40B4-BE49-F238E27FC236}">
                <a16:creationId xmlns:a16="http://schemas.microsoft.com/office/drawing/2014/main" id="{0991FA5C-1384-4E49-9387-EA5BD020B009}"/>
              </a:ext>
            </a:extLst>
          </p:cNvPr>
          <p:cNvSpPr>
            <a:spLocks noGrp="1"/>
          </p:cNvSpPr>
          <p:nvPr/>
        </p:nvSpPr>
        <p:spPr>
          <a:xfrm>
            <a:off x="466232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29" name="diagram block">
            <a:extLst>
              <a:ext uri="{FF2B5EF4-FFF2-40B4-BE49-F238E27FC236}">
                <a16:creationId xmlns:a16="http://schemas.microsoft.com/office/drawing/2014/main" id="{1E876D3B-3897-41C1-BF1F-6380D3FF5CB5}"/>
              </a:ext>
            </a:extLst>
          </p:cNvPr>
          <p:cNvSpPr>
            <a:spLocks noGrp="1"/>
          </p:cNvSpPr>
          <p:nvPr/>
        </p:nvSpPr>
        <p:spPr>
          <a:xfrm>
            <a:off x="476361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30" name="diagram block">
            <a:extLst>
              <a:ext uri="{FF2B5EF4-FFF2-40B4-BE49-F238E27FC236}">
                <a16:creationId xmlns:a16="http://schemas.microsoft.com/office/drawing/2014/main" id="{664EB4CD-DB5E-4FEC-A227-7354E9C6707D}"/>
              </a:ext>
            </a:extLst>
          </p:cNvPr>
          <p:cNvSpPr>
            <a:spLocks noGrp="1"/>
          </p:cNvSpPr>
          <p:nvPr/>
        </p:nvSpPr>
        <p:spPr>
          <a:xfrm>
            <a:off x="486490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31" name="diagram block">
            <a:extLst>
              <a:ext uri="{FF2B5EF4-FFF2-40B4-BE49-F238E27FC236}">
                <a16:creationId xmlns:a16="http://schemas.microsoft.com/office/drawing/2014/main" id="{B7D2926A-E218-404E-B463-A0607B81F2B0}"/>
              </a:ext>
            </a:extLst>
          </p:cNvPr>
          <p:cNvSpPr>
            <a:spLocks noGrp="1"/>
          </p:cNvSpPr>
          <p:nvPr/>
        </p:nvSpPr>
        <p:spPr>
          <a:xfrm>
            <a:off x="496619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32" name="diagram block">
            <a:extLst>
              <a:ext uri="{FF2B5EF4-FFF2-40B4-BE49-F238E27FC236}">
                <a16:creationId xmlns:a16="http://schemas.microsoft.com/office/drawing/2014/main" id="{74BAC2B0-2640-4C77-952F-2061448E5E7C}"/>
              </a:ext>
            </a:extLst>
          </p:cNvPr>
          <p:cNvSpPr>
            <a:spLocks noGrp="1"/>
          </p:cNvSpPr>
          <p:nvPr/>
        </p:nvSpPr>
        <p:spPr>
          <a:xfrm>
            <a:off x="5103611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33" name="diagram block">
            <a:extLst>
              <a:ext uri="{FF2B5EF4-FFF2-40B4-BE49-F238E27FC236}">
                <a16:creationId xmlns:a16="http://schemas.microsoft.com/office/drawing/2014/main" id="{338DC949-9880-4B4D-ABA6-F7F177971131}"/>
              </a:ext>
            </a:extLst>
          </p:cNvPr>
          <p:cNvSpPr>
            <a:spLocks noGrp="1"/>
          </p:cNvSpPr>
          <p:nvPr/>
        </p:nvSpPr>
        <p:spPr>
          <a:xfrm>
            <a:off x="5199095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34" name="diagram block">
            <a:extLst>
              <a:ext uri="{FF2B5EF4-FFF2-40B4-BE49-F238E27FC236}">
                <a16:creationId xmlns:a16="http://schemas.microsoft.com/office/drawing/2014/main" id="{ED5E6B57-5708-441F-A221-DD917ABF43B0}"/>
              </a:ext>
            </a:extLst>
          </p:cNvPr>
          <p:cNvSpPr>
            <a:spLocks noGrp="1"/>
          </p:cNvSpPr>
          <p:nvPr/>
        </p:nvSpPr>
        <p:spPr>
          <a:xfrm>
            <a:off x="5294578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35" name="diagram block">
            <a:extLst>
              <a:ext uri="{FF2B5EF4-FFF2-40B4-BE49-F238E27FC236}">
                <a16:creationId xmlns:a16="http://schemas.microsoft.com/office/drawing/2014/main" id="{DD112826-0764-4CC9-831B-F9A123DF4437}"/>
              </a:ext>
            </a:extLst>
          </p:cNvPr>
          <p:cNvSpPr>
            <a:spLocks noGrp="1"/>
          </p:cNvSpPr>
          <p:nvPr/>
        </p:nvSpPr>
        <p:spPr>
          <a:xfrm>
            <a:off x="5390062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36" name="diagram block">
            <a:extLst>
              <a:ext uri="{FF2B5EF4-FFF2-40B4-BE49-F238E27FC236}">
                <a16:creationId xmlns:a16="http://schemas.microsoft.com/office/drawing/2014/main" id="{E53155F0-5B64-4A37-A98F-08A10E8CF3CC}"/>
              </a:ext>
            </a:extLst>
          </p:cNvPr>
          <p:cNvSpPr>
            <a:spLocks noGrp="1"/>
          </p:cNvSpPr>
          <p:nvPr/>
        </p:nvSpPr>
        <p:spPr>
          <a:xfrm>
            <a:off x="5485545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37" name="diagram block">
            <a:extLst>
              <a:ext uri="{FF2B5EF4-FFF2-40B4-BE49-F238E27FC236}">
                <a16:creationId xmlns:a16="http://schemas.microsoft.com/office/drawing/2014/main" id="{3FE076F7-8789-4CDB-8048-F0032EFA6E77}"/>
              </a:ext>
            </a:extLst>
          </p:cNvPr>
          <p:cNvSpPr>
            <a:spLocks noGrp="1"/>
          </p:cNvSpPr>
          <p:nvPr/>
        </p:nvSpPr>
        <p:spPr>
          <a:xfrm>
            <a:off x="5581029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38" name="diagram block">
            <a:extLst>
              <a:ext uri="{FF2B5EF4-FFF2-40B4-BE49-F238E27FC236}">
                <a16:creationId xmlns:a16="http://schemas.microsoft.com/office/drawing/2014/main" id="{2510A421-75BE-4F1A-B995-661E5F063041}"/>
              </a:ext>
            </a:extLst>
          </p:cNvPr>
          <p:cNvSpPr>
            <a:spLocks noGrp="1"/>
          </p:cNvSpPr>
          <p:nvPr/>
        </p:nvSpPr>
        <p:spPr>
          <a:xfrm>
            <a:off x="5676513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39" name="diagram block">
            <a:extLst>
              <a:ext uri="{FF2B5EF4-FFF2-40B4-BE49-F238E27FC236}">
                <a16:creationId xmlns:a16="http://schemas.microsoft.com/office/drawing/2014/main" id="{D3032DBD-FCDE-47E4-AA2E-57DDE81B24B7}"/>
              </a:ext>
            </a:extLst>
          </p:cNvPr>
          <p:cNvSpPr>
            <a:spLocks noGrp="1"/>
          </p:cNvSpPr>
          <p:nvPr/>
        </p:nvSpPr>
        <p:spPr>
          <a:xfrm>
            <a:off x="5771996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40" name="…">
            <a:extLst>
              <a:ext uri="{FF2B5EF4-FFF2-40B4-BE49-F238E27FC236}">
                <a16:creationId xmlns:a16="http://schemas.microsoft.com/office/drawing/2014/main" id="{9AA1DA2E-CC48-4A03-B338-C27F57E08399}"/>
              </a:ext>
            </a:extLst>
          </p:cNvPr>
          <p:cNvSpPr>
            <a:spLocks noGrp="1"/>
          </p:cNvSpPr>
          <p:nvPr/>
        </p:nvSpPr>
        <p:spPr>
          <a:xfrm>
            <a:off x="6027479" y="738062"/>
            <a:ext cx="247741" cy="1651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231"/>
          </a:bodyPr>
          <a:lstStyle>
            <a:def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cxnSp>
        <p:nvCxnSpPr>
          <p:cNvPr id="141" name="native PowerPoint connector">
            <a:extLst>
              <a:ext uri="{FF2B5EF4-FFF2-40B4-BE49-F238E27FC236}">
                <a16:creationId xmlns:a16="http://schemas.microsoft.com/office/drawing/2014/main" id="{BCC5425B-68B0-408B-AC36-238D1C3B68A7}"/>
              </a:ext>
            </a:extLst>
          </p:cNvPr>
          <p:cNvCxnSpPr/>
          <p:nvPr/>
        </p:nvCxnSpPr>
        <p:spPr>
          <a:xfrm>
            <a:off x="4257162" y="918707"/>
            <a:ext cx="0" cy="30968"/>
          </a:xfrm>
          <a:prstGeom prst="straightConnector1">
            <a:avLst/>
          </a:prstGeom>
          <a:ln w="5677">
            <a:solidFill>
              <a:srgbClr val="074A8B"/>
            </a:solidFill>
            <a:prstDash val="solid"/>
          </a:ln>
        </p:spPr>
      </p:cxnSp>
      <p:cxnSp>
        <p:nvCxnSpPr>
          <p:cNvPr id="142" name="native PowerPoint connector">
            <a:extLst>
              <a:ext uri="{FF2B5EF4-FFF2-40B4-BE49-F238E27FC236}">
                <a16:creationId xmlns:a16="http://schemas.microsoft.com/office/drawing/2014/main" id="{CD09A0D1-A842-4FEB-A47E-0E031ABEEDA7}"/>
              </a:ext>
            </a:extLst>
          </p:cNvPr>
          <p:cNvCxnSpPr/>
          <p:nvPr/>
        </p:nvCxnSpPr>
        <p:spPr>
          <a:xfrm>
            <a:off x="4257162" y="949674"/>
            <a:ext cx="799997" cy="0"/>
          </a:xfrm>
          <a:prstGeom prst="straightConnector1">
            <a:avLst/>
          </a:prstGeom>
          <a:ln w="5677">
            <a:solidFill>
              <a:srgbClr val="074A8B"/>
            </a:solidFill>
            <a:prstDash val="solid"/>
          </a:ln>
        </p:spPr>
      </p:cxnSp>
      <p:cxnSp>
        <p:nvCxnSpPr>
          <p:cNvPr id="143" name="native PowerPoint connector">
            <a:extLst>
              <a:ext uri="{FF2B5EF4-FFF2-40B4-BE49-F238E27FC236}">
                <a16:creationId xmlns:a16="http://schemas.microsoft.com/office/drawing/2014/main" id="{1D46F9B2-89C5-43C7-B55B-9B9E6E53EC4D}"/>
              </a:ext>
            </a:extLst>
          </p:cNvPr>
          <p:cNvCxnSpPr/>
          <p:nvPr/>
        </p:nvCxnSpPr>
        <p:spPr>
          <a:xfrm flipV="1">
            <a:off x="5057160" y="918707"/>
            <a:ext cx="0" cy="30968"/>
          </a:xfrm>
          <a:prstGeom prst="straightConnector1">
            <a:avLst/>
          </a:prstGeom>
          <a:ln w="5677">
            <a:solidFill>
              <a:srgbClr val="074A8B"/>
            </a:solidFill>
            <a:prstDash val="solid"/>
          </a:ln>
        </p:spPr>
      </p:cxnSp>
      <p:sp>
        <p:nvSpPr>
          <p:cNvPr id="144" name="Group g (32 scalars)">
            <a:extLst>
              <a:ext uri="{FF2B5EF4-FFF2-40B4-BE49-F238E27FC236}">
                <a16:creationId xmlns:a16="http://schemas.microsoft.com/office/drawing/2014/main" id="{F149F501-2129-4F33-98A2-42E636E7A67B}"/>
              </a:ext>
            </a:extLst>
          </p:cNvPr>
          <p:cNvSpPr>
            <a:spLocks noGrp="1"/>
          </p:cNvSpPr>
          <p:nvPr/>
        </p:nvSpPr>
        <p:spPr>
          <a:xfrm>
            <a:off x="4257162" y="970319"/>
            <a:ext cx="856771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Group g (32 scalars)</a:t>
            </a:r>
          </a:p>
        </p:txBody>
      </p:sp>
      <p:sp>
        <p:nvSpPr>
          <p:cNvPr id="145" name="Group g + 1">
            <a:extLst>
              <a:ext uri="{FF2B5EF4-FFF2-40B4-BE49-F238E27FC236}">
                <a16:creationId xmlns:a16="http://schemas.microsoft.com/office/drawing/2014/main" id="{E38ACD43-C7D4-4179-A60F-F57427A17969}"/>
              </a:ext>
            </a:extLst>
          </p:cNvPr>
          <p:cNvSpPr>
            <a:spLocks noGrp="1"/>
          </p:cNvSpPr>
          <p:nvPr/>
        </p:nvSpPr>
        <p:spPr>
          <a:xfrm>
            <a:off x="5289417" y="970319"/>
            <a:ext cx="614192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Group g + 1</a:t>
            </a:r>
          </a:p>
        </p:txBody>
      </p:sp>
      <p:sp>
        <p:nvSpPr>
          <p:cNvPr id="146" name="diagram block">
            <a:extLst>
              <a:ext uri="{FF2B5EF4-FFF2-40B4-BE49-F238E27FC236}">
                <a16:creationId xmlns:a16="http://schemas.microsoft.com/office/drawing/2014/main" id="{2F443D1F-899C-4711-AE5B-3C57F1F18D70}"/>
              </a:ext>
            </a:extLst>
          </p:cNvPr>
          <p:cNvSpPr>
            <a:spLocks noGrp="1"/>
          </p:cNvSpPr>
          <p:nvPr/>
        </p:nvSpPr>
        <p:spPr>
          <a:xfrm>
            <a:off x="4061034" y="1145803"/>
            <a:ext cx="2178058" cy="319999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5161">
            <a:solidFill>
              <a:srgbClr val="5C6D82"/>
            </a:solidFill>
            <a:prstDash val="dash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47" name="32 scalars = 8 vectors (d = 4)">
            <a:extLst>
              <a:ext uri="{FF2B5EF4-FFF2-40B4-BE49-F238E27FC236}">
                <a16:creationId xmlns:a16="http://schemas.microsoft.com/office/drawing/2014/main" id="{4A31113A-DA3D-443E-99FC-6FDECE23A060}"/>
              </a:ext>
            </a:extLst>
          </p:cNvPr>
          <p:cNvSpPr>
            <a:spLocks noGrp="1"/>
          </p:cNvSpPr>
          <p:nvPr/>
        </p:nvSpPr>
        <p:spPr>
          <a:xfrm>
            <a:off x="4128130" y="1171609"/>
            <a:ext cx="2043864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32 scalars = 8 vectors (d = 4)</a:t>
            </a:r>
          </a:p>
        </p:txBody>
      </p:sp>
      <p:sp>
        <p:nvSpPr>
          <p:cNvPr id="148" name="diagram block">
            <a:extLst>
              <a:ext uri="{FF2B5EF4-FFF2-40B4-BE49-F238E27FC236}">
                <a16:creationId xmlns:a16="http://schemas.microsoft.com/office/drawing/2014/main" id="{8E3A0213-CD65-4E2F-93DF-2E132D018C30}"/>
              </a:ext>
            </a:extLst>
          </p:cNvPr>
          <p:cNvSpPr>
            <a:spLocks noGrp="1"/>
          </p:cNvSpPr>
          <p:nvPr/>
        </p:nvSpPr>
        <p:spPr>
          <a:xfrm>
            <a:off x="4205550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49" name="diagram block">
            <a:extLst>
              <a:ext uri="{FF2B5EF4-FFF2-40B4-BE49-F238E27FC236}">
                <a16:creationId xmlns:a16="http://schemas.microsoft.com/office/drawing/2014/main" id="{639BE09F-15F1-4F4F-85DF-846C6A6F9FFA}"/>
              </a:ext>
            </a:extLst>
          </p:cNvPr>
          <p:cNvSpPr>
            <a:spLocks noGrp="1"/>
          </p:cNvSpPr>
          <p:nvPr/>
        </p:nvSpPr>
        <p:spPr>
          <a:xfrm>
            <a:off x="4310065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50" name="diagram block">
            <a:extLst>
              <a:ext uri="{FF2B5EF4-FFF2-40B4-BE49-F238E27FC236}">
                <a16:creationId xmlns:a16="http://schemas.microsoft.com/office/drawing/2014/main" id="{91C85303-7462-4B5A-8D21-0BE448108F0A}"/>
              </a:ext>
            </a:extLst>
          </p:cNvPr>
          <p:cNvSpPr>
            <a:spLocks noGrp="1"/>
          </p:cNvSpPr>
          <p:nvPr/>
        </p:nvSpPr>
        <p:spPr>
          <a:xfrm>
            <a:off x="4414581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51" name="diagram block">
            <a:extLst>
              <a:ext uri="{FF2B5EF4-FFF2-40B4-BE49-F238E27FC236}">
                <a16:creationId xmlns:a16="http://schemas.microsoft.com/office/drawing/2014/main" id="{2DA02289-0DBB-42E7-906C-DF7E4DBD1505}"/>
              </a:ext>
            </a:extLst>
          </p:cNvPr>
          <p:cNvSpPr>
            <a:spLocks noGrp="1"/>
          </p:cNvSpPr>
          <p:nvPr/>
        </p:nvSpPr>
        <p:spPr>
          <a:xfrm>
            <a:off x="4519097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52" name="diagram block">
            <a:extLst>
              <a:ext uri="{FF2B5EF4-FFF2-40B4-BE49-F238E27FC236}">
                <a16:creationId xmlns:a16="http://schemas.microsoft.com/office/drawing/2014/main" id="{F4C76DA7-4C77-438F-B64F-97EB25BC3880}"/>
              </a:ext>
            </a:extLst>
          </p:cNvPr>
          <p:cNvSpPr>
            <a:spLocks noGrp="1"/>
          </p:cNvSpPr>
          <p:nvPr/>
        </p:nvSpPr>
        <p:spPr>
          <a:xfrm>
            <a:off x="4695871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53" name="diagram block">
            <a:extLst>
              <a:ext uri="{FF2B5EF4-FFF2-40B4-BE49-F238E27FC236}">
                <a16:creationId xmlns:a16="http://schemas.microsoft.com/office/drawing/2014/main" id="{60307727-5387-4250-B5DE-3DC41EBB9C5F}"/>
              </a:ext>
            </a:extLst>
          </p:cNvPr>
          <p:cNvSpPr>
            <a:spLocks noGrp="1"/>
          </p:cNvSpPr>
          <p:nvPr/>
        </p:nvSpPr>
        <p:spPr>
          <a:xfrm>
            <a:off x="4800386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54" name="diagram block">
            <a:extLst>
              <a:ext uri="{FF2B5EF4-FFF2-40B4-BE49-F238E27FC236}">
                <a16:creationId xmlns:a16="http://schemas.microsoft.com/office/drawing/2014/main" id="{EA65BE6B-E22F-4B01-8C76-EE2D7016DBDD}"/>
              </a:ext>
            </a:extLst>
          </p:cNvPr>
          <p:cNvSpPr>
            <a:spLocks noGrp="1"/>
          </p:cNvSpPr>
          <p:nvPr/>
        </p:nvSpPr>
        <p:spPr>
          <a:xfrm>
            <a:off x="4904902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55" name="diagram block">
            <a:extLst>
              <a:ext uri="{FF2B5EF4-FFF2-40B4-BE49-F238E27FC236}">
                <a16:creationId xmlns:a16="http://schemas.microsoft.com/office/drawing/2014/main" id="{523104AC-3DFC-4748-AA22-E9E85CBEA144}"/>
              </a:ext>
            </a:extLst>
          </p:cNvPr>
          <p:cNvSpPr>
            <a:spLocks noGrp="1"/>
          </p:cNvSpPr>
          <p:nvPr/>
        </p:nvSpPr>
        <p:spPr>
          <a:xfrm>
            <a:off x="5009418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56" name="diagram block">
            <a:extLst>
              <a:ext uri="{FF2B5EF4-FFF2-40B4-BE49-F238E27FC236}">
                <a16:creationId xmlns:a16="http://schemas.microsoft.com/office/drawing/2014/main" id="{B3DF6CF3-BE96-480B-A677-D197AFF82058}"/>
              </a:ext>
            </a:extLst>
          </p:cNvPr>
          <p:cNvSpPr>
            <a:spLocks noGrp="1"/>
          </p:cNvSpPr>
          <p:nvPr/>
        </p:nvSpPr>
        <p:spPr>
          <a:xfrm>
            <a:off x="5284256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57" name="diagram block">
            <a:extLst>
              <a:ext uri="{FF2B5EF4-FFF2-40B4-BE49-F238E27FC236}">
                <a16:creationId xmlns:a16="http://schemas.microsoft.com/office/drawing/2014/main" id="{37161BFE-77ED-4F6E-98B1-F24BD9D3CA31}"/>
              </a:ext>
            </a:extLst>
          </p:cNvPr>
          <p:cNvSpPr>
            <a:spLocks noGrp="1"/>
          </p:cNvSpPr>
          <p:nvPr/>
        </p:nvSpPr>
        <p:spPr>
          <a:xfrm>
            <a:off x="5388772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58" name="diagram block">
            <a:extLst>
              <a:ext uri="{FF2B5EF4-FFF2-40B4-BE49-F238E27FC236}">
                <a16:creationId xmlns:a16="http://schemas.microsoft.com/office/drawing/2014/main" id="{737768D1-CA02-4813-A9AE-0A0D1F8EB02A}"/>
              </a:ext>
            </a:extLst>
          </p:cNvPr>
          <p:cNvSpPr>
            <a:spLocks noGrp="1"/>
          </p:cNvSpPr>
          <p:nvPr/>
        </p:nvSpPr>
        <p:spPr>
          <a:xfrm>
            <a:off x="5493287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59" name="diagram block">
            <a:extLst>
              <a:ext uri="{FF2B5EF4-FFF2-40B4-BE49-F238E27FC236}">
                <a16:creationId xmlns:a16="http://schemas.microsoft.com/office/drawing/2014/main" id="{AA1FD1AE-50D1-4BF0-B054-0F952F623DD4}"/>
              </a:ext>
            </a:extLst>
          </p:cNvPr>
          <p:cNvSpPr>
            <a:spLocks noGrp="1"/>
          </p:cNvSpPr>
          <p:nvPr/>
        </p:nvSpPr>
        <p:spPr>
          <a:xfrm>
            <a:off x="5597803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60" name="…">
            <a:extLst>
              <a:ext uri="{FF2B5EF4-FFF2-40B4-BE49-F238E27FC236}">
                <a16:creationId xmlns:a16="http://schemas.microsoft.com/office/drawing/2014/main" id="{2581F584-E63F-4063-A067-5CD7ED275D13}"/>
              </a:ext>
            </a:extLst>
          </p:cNvPr>
          <p:cNvSpPr>
            <a:spLocks noGrp="1"/>
          </p:cNvSpPr>
          <p:nvPr/>
        </p:nvSpPr>
        <p:spPr>
          <a:xfrm>
            <a:off x="5129418" y="1300641"/>
            <a:ext cx="123871" cy="1393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784"/>
          </a:bodyPr>
          <a:lstStyle>
            <a:def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61" name="…">
            <a:extLst>
              <a:ext uri="{FF2B5EF4-FFF2-40B4-BE49-F238E27FC236}">
                <a16:creationId xmlns:a16="http://schemas.microsoft.com/office/drawing/2014/main" id="{88919944-D22F-4D8A-8C4F-17C86EB5BF8C}"/>
              </a:ext>
            </a:extLst>
          </p:cNvPr>
          <p:cNvSpPr>
            <a:spLocks noGrp="1"/>
          </p:cNvSpPr>
          <p:nvPr/>
        </p:nvSpPr>
        <p:spPr>
          <a:xfrm>
            <a:off x="5944899" y="1300641"/>
            <a:ext cx="134193" cy="1393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784"/>
          </a:bodyPr>
          <a:lstStyle>
            <a:def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cxnSp>
        <p:nvCxnSpPr>
          <p:cNvPr id="162" name="native PowerPoint connector">
            <a:extLst>
              <a:ext uri="{FF2B5EF4-FFF2-40B4-BE49-F238E27FC236}">
                <a16:creationId xmlns:a16="http://schemas.microsoft.com/office/drawing/2014/main" id="{73B03500-E0D7-4AC8-AA70-78BBE81907E8}"/>
              </a:ext>
            </a:extLst>
          </p:cNvPr>
          <p:cNvCxnSpPr/>
          <p:nvPr/>
        </p:nvCxnSpPr>
        <p:spPr>
          <a:xfrm flipH="1">
            <a:off x="4169421" y="799997"/>
            <a:ext cx="92903" cy="0"/>
          </a:xfrm>
          <a:prstGeom prst="straightConnector1">
            <a:avLst/>
          </a:prstGeom>
          <a:ln w="6194">
            <a:solidFill>
              <a:srgbClr val="246EAF"/>
            </a:solidFill>
            <a:prstDash val="dash"/>
          </a:ln>
        </p:spPr>
      </p:cxnSp>
      <p:cxnSp>
        <p:nvCxnSpPr>
          <p:cNvPr id="163" name="native PowerPoint connector">
            <a:extLst>
              <a:ext uri="{FF2B5EF4-FFF2-40B4-BE49-F238E27FC236}">
                <a16:creationId xmlns:a16="http://schemas.microsoft.com/office/drawing/2014/main" id="{1D6B7CD8-368D-4AB3-BCB4-6FEBF1FC0606}"/>
              </a:ext>
            </a:extLst>
          </p:cNvPr>
          <p:cNvCxnSpPr/>
          <p:nvPr/>
        </p:nvCxnSpPr>
        <p:spPr>
          <a:xfrm flipH="1">
            <a:off x="4076518" y="799997"/>
            <a:ext cx="92903" cy="345805"/>
          </a:xfrm>
          <a:prstGeom prst="straightConnector1">
            <a:avLst/>
          </a:prstGeom>
          <a:ln w="6194">
            <a:solidFill>
              <a:srgbClr val="246EAF"/>
            </a:solidFill>
            <a:prstDash val="dash"/>
            <a:tailEnd type="triangle" w="sm" len="sm"/>
          </a:ln>
        </p:spPr>
      </p:cxnSp>
      <p:cxnSp>
        <p:nvCxnSpPr>
          <p:cNvPr id="164" name="native PowerPoint connector">
            <a:extLst>
              <a:ext uri="{FF2B5EF4-FFF2-40B4-BE49-F238E27FC236}">
                <a16:creationId xmlns:a16="http://schemas.microsoft.com/office/drawing/2014/main" id="{82C1F370-EEF9-4435-B55F-8B07447E5573}"/>
              </a:ext>
            </a:extLst>
          </p:cNvPr>
          <p:cNvCxnSpPr/>
          <p:nvPr/>
        </p:nvCxnSpPr>
        <p:spPr>
          <a:xfrm>
            <a:off x="5862318" y="908384"/>
            <a:ext cx="211612" cy="82580"/>
          </a:xfrm>
          <a:prstGeom prst="straightConnector1">
            <a:avLst/>
          </a:prstGeom>
          <a:ln w="5677">
            <a:solidFill>
              <a:srgbClr val="69748A"/>
            </a:solidFill>
            <a:prstDash val="dash"/>
          </a:ln>
        </p:spPr>
      </p:cxnSp>
      <p:cxnSp>
        <p:nvCxnSpPr>
          <p:cNvPr id="165" name="native PowerPoint connector">
            <a:extLst>
              <a:ext uri="{FF2B5EF4-FFF2-40B4-BE49-F238E27FC236}">
                <a16:creationId xmlns:a16="http://schemas.microsoft.com/office/drawing/2014/main" id="{31908671-0D9A-4389-BBB7-05EF25FB6D0C}"/>
              </a:ext>
            </a:extLst>
          </p:cNvPr>
          <p:cNvCxnSpPr/>
          <p:nvPr/>
        </p:nvCxnSpPr>
        <p:spPr>
          <a:xfrm>
            <a:off x="6073931" y="990965"/>
            <a:ext cx="118709" cy="149677"/>
          </a:xfrm>
          <a:prstGeom prst="straightConnector1">
            <a:avLst/>
          </a:prstGeom>
          <a:ln w="5677">
            <a:solidFill>
              <a:srgbClr val="69748A"/>
            </a:solidFill>
            <a:prstDash val="dash"/>
          </a:ln>
        </p:spPr>
      </p:cxnSp>
      <p:sp>
        <p:nvSpPr>
          <p:cNvPr id="166" name="diagram block">
            <a:extLst>
              <a:ext uri="{FF2B5EF4-FFF2-40B4-BE49-F238E27FC236}">
                <a16:creationId xmlns:a16="http://schemas.microsoft.com/office/drawing/2014/main" id="{6D249520-EEFA-4D88-BBB0-CE39E6BFA683}"/>
              </a:ext>
            </a:extLst>
          </p:cNvPr>
          <p:cNvSpPr>
            <a:spLocks noGrp="1"/>
          </p:cNvSpPr>
          <p:nvPr/>
        </p:nvSpPr>
        <p:spPr>
          <a:xfrm>
            <a:off x="4035228" y="1517415"/>
            <a:ext cx="1109674" cy="954836"/>
          </a:xfrm>
          <a:prstGeom prst="roundRect">
            <a:avLst>
              <a:gd name="adj" fmla="val 2162"/>
            </a:avLst>
          </a:prstGeom>
          <a:solidFill>
            <a:srgbClr val="F3F9FF"/>
          </a:solidFill>
          <a:ln w="5161">
            <a:solidFill>
              <a:srgbClr val="6BB7E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67" name="Codebook 1">
            <a:extLst>
              <a:ext uri="{FF2B5EF4-FFF2-40B4-BE49-F238E27FC236}">
                <a16:creationId xmlns:a16="http://schemas.microsoft.com/office/drawing/2014/main" id="{4A019DC4-4AEE-4C37-B7A6-AF37786CAFF6}"/>
              </a:ext>
            </a:extLst>
          </p:cNvPr>
          <p:cNvSpPr>
            <a:spLocks noGrp="1"/>
          </p:cNvSpPr>
          <p:nvPr/>
        </p:nvSpPr>
        <p:spPr>
          <a:xfrm>
            <a:off x="4086840" y="1543221"/>
            <a:ext cx="1006448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257"/>
          </a:bodyPr>
          <a:lstStyle>
            <a:def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Codebook 1</a:t>
            </a:r>
          </a:p>
        </p:txBody>
      </p:sp>
      <p:sp>
        <p:nvSpPr>
          <p:cNvPr id="168" name="C₁ ∈ ℝ²⁵⁶×⁴, BF16">
            <a:extLst>
              <a:ext uri="{FF2B5EF4-FFF2-40B4-BE49-F238E27FC236}">
                <a16:creationId xmlns:a16="http://schemas.microsoft.com/office/drawing/2014/main" id="{EDD7295F-1B55-4E03-92B6-73A4284CD4E8}"/>
              </a:ext>
            </a:extLst>
          </p:cNvPr>
          <p:cNvSpPr>
            <a:spLocks noGrp="1"/>
          </p:cNvSpPr>
          <p:nvPr/>
        </p:nvSpPr>
        <p:spPr>
          <a:xfrm>
            <a:off x="4092002" y="1667091"/>
            <a:ext cx="990965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493"/>
          </a:bodyPr>
          <a:lstStyle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C₁ ∈ ℝ²⁵⁶×⁴, BF16</a:t>
            </a:r>
          </a:p>
        </p:txBody>
      </p:sp>
      <p:sp>
        <p:nvSpPr>
          <p:cNvPr id="169" name="8 indices">
            <a:extLst>
              <a:ext uri="{FF2B5EF4-FFF2-40B4-BE49-F238E27FC236}">
                <a16:creationId xmlns:a16="http://schemas.microsoft.com/office/drawing/2014/main" id="{CD46A9C1-EEAD-43C9-86EB-895F3AF795D1}"/>
              </a:ext>
            </a:extLst>
          </p:cNvPr>
          <p:cNvSpPr>
            <a:spLocks noGrp="1"/>
          </p:cNvSpPr>
          <p:nvPr/>
        </p:nvSpPr>
        <p:spPr>
          <a:xfrm>
            <a:off x="4076518" y="1796123"/>
            <a:ext cx="428386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indices</a:t>
            </a:r>
          </a:p>
        </p:txBody>
      </p:sp>
      <p:sp>
        <p:nvSpPr>
          <p:cNvPr id="170" name="i₁ (8-bit)">
            <a:extLst>
              <a:ext uri="{FF2B5EF4-FFF2-40B4-BE49-F238E27FC236}">
                <a16:creationId xmlns:a16="http://schemas.microsoft.com/office/drawing/2014/main" id="{2DA0BB4A-376A-4705-AE06-2780FE07FB11}"/>
              </a:ext>
            </a:extLst>
          </p:cNvPr>
          <p:cNvSpPr>
            <a:spLocks noGrp="1"/>
          </p:cNvSpPr>
          <p:nvPr/>
        </p:nvSpPr>
        <p:spPr>
          <a:xfrm>
            <a:off x="4107485" y="1909671"/>
            <a:ext cx="412902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 (8-bit)</a:t>
            </a:r>
          </a:p>
        </p:txBody>
      </p:sp>
      <p:sp>
        <p:nvSpPr>
          <p:cNvPr id="171" name="diagram block">
            <a:extLst>
              <a:ext uri="{FF2B5EF4-FFF2-40B4-BE49-F238E27FC236}">
                <a16:creationId xmlns:a16="http://schemas.microsoft.com/office/drawing/2014/main" id="{54D343E8-C812-4F35-8E97-3F51FC8A2BD1}"/>
              </a:ext>
            </a:extLst>
          </p:cNvPr>
          <p:cNvSpPr>
            <a:spLocks noGrp="1"/>
          </p:cNvSpPr>
          <p:nvPr/>
        </p:nvSpPr>
        <p:spPr>
          <a:xfrm>
            <a:off x="4128130" y="2049026"/>
            <a:ext cx="211612" cy="108387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72" name="i₁,1">
            <a:extLst>
              <a:ext uri="{FF2B5EF4-FFF2-40B4-BE49-F238E27FC236}">
                <a16:creationId xmlns:a16="http://schemas.microsoft.com/office/drawing/2014/main" id="{107B9AD8-F083-467B-86BC-57AD8BF361D9}"/>
              </a:ext>
            </a:extLst>
          </p:cNvPr>
          <p:cNvSpPr>
            <a:spLocks noGrp="1"/>
          </p:cNvSpPr>
          <p:nvPr/>
        </p:nvSpPr>
        <p:spPr>
          <a:xfrm>
            <a:off x="4153937" y="2074832"/>
            <a:ext cx="159999" cy="56774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5731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i₁,1</a:t>
            </a:r>
          </a:p>
        </p:txBody>
      </p:sp>
      <p:sp>
        <p:nvSpPr>
          <p:cNvPr id="173" name="diagram block">
            <a:extLst>
              <a:ext uri="{FF2B5EF4-FFF2-40B4-BE49-F238E27FC236}">
                <a16:creationId xmlns:a16="http://schemas.microsoft.com/office/drawing/2014/main" id="{49573A7C-14DC-4DE2-A70E-BAB431EB5B10}"/>
              </a:ext>
            </a:extLst>
          </p:cNvPr>
          <p:cNvSpPr>
            <a:spLocks noGrp="1"/>
          </p:cNvSpPr>
          <p:nvPr/>
        </p:nvSpPr>
        <p:spPr>
          <a:xfrm>
            <a:off x="4128130" y="2172896"/>
            <a:ext cx="211612" cy="108387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74" name="i₁,2">
            <a:extLst>
              <a:ext uri="{FF2B5EF4-FFF2-40B4-BE49-F238E27FC236}">
                <a16:creationId xmlns:a16="http://schemas.microsoft.com/office/drawing/2014/main" id="{D640CC97-C18B-45F1-84A1-4A497E6BE229}"/>
              </a:ext>
            </a:extLst>
          </p:cNvPr>
          <p:cNvSpPr>
            <a:spLocks noGrp="1"/>
          </p:cNvSpPr>
          <p:nvPr/>
        </p:nvSpPr>
        <p:spPr>
          <a:xfrm>
            <a:off x="4153937" y="2198703"/>
            <a:ext cx="159999" cy="56774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5731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i₁,2</a:t>
            </a:r>
          </a:p>
        </p:txBody>
      </p:sp>
      <p:sp>
        <p:nvSpPr>
          <p:cNvPr id="175" name="diagram block">
            <a:extLst>
              <a:ext uri="{FF2B5EF4-FFF2-40B4-BE49-F238E27FC236}">
                <a16:creationId xmlns:a16="http://schemas.microsoft.com/office/drawing/2014/main" id="{3FF7EC1D-A30C-4941-861D-DA300175E2FD}"/>
              </a:ext>
            </a:extLst>
          </p:cNvPr>
          <p:cNvSpPr>
            <a:spLocks noGrp="1"/>
          </p:cNvSpPr>
          <p:nvPr/>
        </p:nvSpPr>
        <p:spPr>
          <a:xfrm>
            <a:off x="4128130" y="2343218"/>
            <a:ext cx="211612" cy="108387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76" name="i₁,8">
            <a:extLst>
              <a:ext uri="{FF2B5EF4-FFF2-40B4-BE49-F238E27FC236}">
                <a16:creationId xmlns:a16="http://schemas.microsoft.com/office/drawing/2014/main" id="{6D58A342-5581-4113-9CC8-1AA204520C5D}"/>
              </a:ext>
            </a:extLst>
          </p:cNvPr>
          <p:cNvSpPr>
            <a:spLocks noGrp="1"/>
          </p:cNvSpPr>
          <p:nvPr/>
        </p:nvSpPr>
        <p:spPr>
          <a:xfrm>
            <a:off x="4153937" y="2369025"/>
            <a:ext cx="159999" cy="56774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5731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i₁,8</a:t>
            </a:r>
          </a:p>
        </p:txBody>
      </p:sp>
      <p:sp>
        <p:nvSpPr>
          <p:cNvPr id="177" name="⋮">
            <a:extLst>
              <a:ext uri="{FF2B5EF4-FFF2-40B4-BE49-F238E27FC236}">
                <a16:creationId xmlns:a16="http://schemas.microsoft.com/office/drawing/2014/main" id="{8698E463-19FD-4906-B031-E8622CB0FED2}"/>
              </a:ext>
            </a:extLst>
          </p:cNvPr>
          <p:cNvSpPr>
            <a:spLocks noGrp="1"/>
          </p:cNvSpPr>
          <p:nvPr/>
        </p:nvSpPr>
        <p:spPr>
          <a:xfrm>
            <a:off x="4174582" y="2260638"/>
            <a:ext cx="129032" cy="877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8652"/>
          </a:bodyPr>
          <a:lstStyle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⋮</a:t>
            </a:r>
          </a:p>
        </p:txBody>
      </p:sp>
      <p:sp>
        <p:nvSpPr>
          <p:cNvPr id="178" name="8 codewords">
            <a:extLst>
              <a:ext uri="{FF2B5EF4-FFF2-40B4-BE49-F238E27FC236}">
                <a16:creationId xmlns:a16="http://schemas.microsoft.com/office/drawing/2014/main" id="{3ACB0A48-BD8F-4B6F-847C-441E46B22D95}"/>
              </a:ext>
            </a:extLst>
          </p:cNvPr>
          <p:cNvSpPr>
            <a:spLocks noGrp="1"/>
          </p:cNvSpPr>
          <p:nvPr/>
        </p:nvSpPr>
        <p:spPr>
          <a:xfrm>
            <a:off x="4572000" y="1796123"/>
            <a:ext cx="531611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codewords</a:t>
            </a:r>
          </a:p>
        </p:txBody>
      </p:sp>
      <p:sp>
        <p:nvSpPr>
          <p:cNvPr id="179" name="(4 scalars each)">
            <a:extLst>
              <a:ext uri="{FF2B5EF4-FFF2-40B4-BE49-F238E27FC236}">
                <a16:creationId xmlns:a16="http://schemas.microsoft.com/office/drawing/2014/main" id="{6CBBCB61-1CB1-45C8-8911-4326EE3A46B1}"/>
              </a:ext>
            </a:extLst>
          </p:cNvPr>
          <p:cNvSpPr>
            <a:spLocks noGrp="1"/>
          </p:cNvSpPr>
          <p:nvPr/>
        </p:nvSpPr>
        <p:spPr>
          <a:xfrm>
            <a:off x="4551355" y="1919994"/>
            <a:ext cx="567740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(4 scalars each)</a:t>
            </a:r>
          </a:p>
        </p:txBody>
      </p:sp>
      <p:sp>
        <p:nvSpPr>
          <p:cNvPr id="180" name="Lookup">
            <a:extLst>
              <a:ext uri="{FF2B5EF4-FFF2-40B4-BE49-F238E27FC236}">
                <a16:creationId xmlns:a16="http://schemas.microsoft.com/office/drawing/2014/main" id="{E2BE4AF7-96E7-4860-8A5C-56A4665DB21E}"/>
              </a:ext>
            </a:extLst>
          </p:cNvPr>
          <p:cNvSpPr>
            <a:spLocks noGrp="1"/>
          </p:cNvSpPr>
          <p:nvPr/>
        </p:nvSpPr>
        <p:spPr>
          <a:xfrm>
            <a:off x="4386194" y="2059348"/>
            <a:ext cx="309676" cy="980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Lookup</a:t>
            </a:r>
          </a:p>
        </p:txBody>
      </p:sp>
      <p:cxnSp>
        <p:nvCxnSpPr>
          <p:cNvPr id="181" name="native PowerPoint connector">
            <a:extLst>
              <a:ext uri="{FF2B5EF4-FFF2-40B4-BE49-F238E27FC236}">
                <a16:creationId xmlns:a16="http://schemas.microsoft.com/office/drawing/2014/main" id="{9688460B-6283-4037-9FDA-DF0EB1FCCB20}"/>
              </a:ext>
            </a:extLst>
          </p:cNvPr>
          <p:cNvCxnSpPr/>
          <p:nvPr/>
        </p:nvCxnSpPr>
        <p:spPr>
          <a:xfrm>
            <a:off x="4396517" y="2239993"/>
            <a:ext cx="299354" cy="0"/>
          </a:xfrm>
          <a:prstGeom prst="straightConnector1">
            <a:avLst/>
          </a:prstGeom>
          <a:ln w="7226">
            <a:solidFill>
              <a:srgbClr val="074A8B"/>
            </a:solidFill>
            <a:prstDash val="solid"/>
            <a:tailEnd type="triangle" w="sm" len="sm"/>
          </a:ln>
        </p:spPr>
      </p:cxnSp>
      <p:sp>
        <p:nvSpPr>
          <p:cNvPr id="182" name="diagram block">
            <a:extLst>
              <a:ext uri="{FF2B5EF4-FFF2-40B4-BE49-F238E27FC236}">
                <a16:creationId xmlns:a16="http://schemas.microsoft.com/office/drawing/2014/main" id="{613648BF-4D3F-40EB-AAD7-7783A8EF1633}"/>
              </a:ext>
            </a:extLst>
          </p:cNvPr>
          <p:cNvSpPr>
            <a:spLocks noGrp="1"/>
          </p:cNvSpPr>
          <p:nvPr/>
        </p:nvSpPr>
        <p:spPr>
          <a:xfrm>
            <a:off x="4747483" y="2054187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83" name="diagram block">
            <a:extLst>
              <a:ext uri="{FF2B5EF4-FFF2-40B4-BE49-F238E27FC236}">
                <a16:creationId xmlns:a16="http://schemas.microsoft.com/office/drawing/2014/main" id="{444B7955-0C2A-4F0F-BE13-183227ED446A}"/>
              </a:ext>
            </a:extLst>
          </p:cNvPr>
          <p:cNvSpPr>
            <a:spLocks noGrp="1"/>
          </p:cNvSpPr>
          <p:nvPr/>
        </p:nvSpPr>
        <p:spPr>
          <a:xfrm>
            <a:off x="4815870" y="2054187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84" name="diagram block">
            <a:extLst>
              <a:ext uri="{FF2B5EF4-FFF2-40B4-BE49-F238E27FC236}">
                <a16:creationId xmlns:a16="http://schemas.microsoft.com/office/drawing/2014/main" id="{9E0B9C75-7919-4678-95A9-34DAA56D5C9E}"/>
              </a:ext>
            </a:extLst>
          </p:cNvPr>
          <p:cNvSpPr>
            <a:spLocks noGrp="1"/>
          </p:cNvSpPr>
          <p:nvPr/>
        </p:nvSpPr>
        <p:spPr>
          <a:xfrm>
            <a:off x="4884257" y="2054187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85" name="diagram block">
            <a:extLst>
              <a:ext uri="{FF2B5EF4-FFF2-40B4-BE49-F238E27FC236}">
                <a16:creationId xmlns:a16="http://schemas.microsoft.com/office/drawing/2014/main" id="{22907D69-A24B-485C-9F3B-44733F9D3C75}"/>
              </a:ext>
            </a:extLst>
          </p:cNvPr>
          <p:cNvSpPr>
            <a:spLocks noGrp="1"/>
          </p:cNvSpPr>
          <p:nvPr/>
        </p:nvSpPr>
        <p:spPr>
          <a:xfrm>
            <a:off x="4952644" y="2054187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86" name="diagram block">
            <a:extLst>
              <a:ext uri="{FF2B5EF4-FFF2-40B4-BE49-F238E27FC236}">
                <a16:creationId xmlns:a16="http://schemas.microsoft.com/office/drawing/2014/main" id="{52D5AEF2-66E4-4AB9-A4F8-30D7291C3EB0}"/>
              </a:ext>
            </a:extLst>
          </p:cNvPr>
          <p:cNvSpPr>
            <a:spLocks noGrp="1"/>
          </p:cNvSpPr>
          <p:nvPr/>
        </p:nvSpPr>
        <p:spPr>
          <a:xfrm>
            <a:off x="4747483" y="217289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87" name="diagram block">
            <a:extLst>
              <a:ext uri="{FF2B5EF4-FFF2-40B4-BE49-F238E27FC236}">
                <a16:creationId xmlns:a16="http://schemas.microsoft.com/office/drawing/2014/main" id="{A0A427BC-956B-4C49-A4F4-E30DFE1E865E}"/>
              </a:ext>
            </a:extLst>
          </p:cNvPr>
          <p:cNvSpPr>
            <a:spLocks noGrp="1"/>
          </p:cNvSpPr>
          <p:nvPr/>
        </p:nvSpPr>
        <p:spPr>
          <a:xfrm>
            <a:off x="4815870" y="217289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88" name="diagram block">
            <a:extLst>
              <a:ext uri="{FF2B5EF4-FFF2-40B4-BE49-F238E27FC236}">
                <a16:creationId xmlns:a16="http://schemas.microsoft.com/office/drawing/2014/main" id="{2399162D-F41A-4C0D-BA2B-84A957896BDE}"/>
              </a:ext>
            </a:extLst>
          </p:cNvPr>
          <p:cNvSpPr>
            <a:spLocks noGrp="1"/>
          </p:cNvSpPr>
          <p:nvPr/>
        </p:nvSpPr>
        <p:spPr>
          <a:xfrm>
            <a:off x="4884257" y="217289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89" name="diagram block">
            <a:extLst>
              <a:ext uri="{FF2B5EF4-FFF2-40B4-BE49-F238E27FC236}">
                <a16:creationId xmlns:a16="http://schemas.microsoft.com/office/drawing/2014/main" id="{09B3C170-5275-4A34-A6F5-1DAEB5B8C6A2}"/>
              </a:ext>
            </a:extLst>
          </p:cNvPr>
          <p:cNvSpPr>
            <a:spLocks noGrp="1"/>
          </p:cNvSpPr>
          <p:nvPr/>
        </p:nvSpPr>
        <p:spPr>
          <a:xfrm>
            <a:off x="4952644" y="217289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0" name="diagram block">
            <a:extLst>
              <a:ext uri="{FF2B5EF4-FFF2-40B4-BE49-F238E27FC236}">
                <a16:creationId xmlns:a16="http://schemas.microsoft.com/office/drawing/2014/main" id="{228B56CD-3D24-44DA-8992-C8CC207898F6}"/>
              </a:ext>
            </a:extLst>
          </p:cNvPr>
          <p:cNvSpPr>
            <a:spLocks noGrp="1"/>
          </p:cNvSpPr>
          <p:nvPr/>
        </p:nvSpPr>
        <p:spPr>
          <a:xfrm>
            <a:off x="4747483" y="229160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1" name="diagram block">
            <a:extLst>
              <a:ext uri="{FF2B5EF4-FFF2-40B4-BE49-F238E27FC236}">
                <a16:creationId xmlns:a16="http://schemas.microsoft.com/office/drawing/2014/main" id="{70DE56FB-1A56-4C46-820F-F9C79C400838}"/>
              </a:ext>
            </a:extLst>
          </p:cNvPr>
          <p:cNvSpPr>
            <a:spLocks noGrp="1"/>
          </p:cNvSpPr>
          <p:nvPr/>
        </p:nvSpPr>
        <p:spPr>
          <a:xfrm>
            <a:off x="4815870" y="229160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2" name="diagram block">
            <a:extLst>
              <a:ext uri="{FF2B5EF4-FFF2-40B4-BE49-F238E27FC236}">
                <a16:creationId xmlns:a16="http://schemas.microsoft.com/office/drawing/2014/main" id="{579DCD27-C1E3-43E9-A342-C73638380DA4}"/>
              </a:ext>
            </a:extLst>
          </p:cNvPr>
          <p:cNvSpPr>
            <a:spLocks noGrp="1"/>
          </p:cNvSpPr>
          <p:nvPr/>
        </p:nvSpPr>
        <p:spPr>
          <a:xfrm>
            <a:off x="4884257" y="229160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3" name="diagram block">
            <a:extLst>
              <a:ext uri="{FF2B5EF4-FFF2-40B4-BE49-F238E27FC236}">
                <a16:creationId xmlns:a16="http://schemas.microsoft.com/office/drawing/2014/main" id="{39EA40BB-ECC9-43C4-BF55-2D9535A6D35F}"/>
              </a:ext>
            </a:extLst>
          </p:cNvPr>
          <p:cNvSpPr>
            <a:spLocks noGrp="1"/>
          </p:cNvSpPr>
          <p:nvPr/>
        </p:nvSpPr>
        <p:spPr>
          <a:xfrm>
            <a:off x="4952644" y="229160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4" name="diagram block">
            <a:extLst>
              <a:ext uri="{FF2B5EF4-FFF2-40B4-BE49-F238E27FC236}">
                <a16:creationId xmlns:a16="http://schemas.microsoft.com/office/drawing/2014/main" id="{4B3F0912-2FAA-4B47-8025-2C8AF7FBDC25}"/>
              </a:ext>
            </a:extLst>
          </p:cNvPr>
          <p:cNvSpPr>
            <a:spLocks noGrp="1"/>
          </p:cNvSpPr>
          <p:nvPr/>
        </p:nvSpPr>
        <p:spPr>
          <a:xfrm>
            <a:off x="4747483" y="2399992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5" name="diagram block">
            <a:extLst>
              <a:ext uri="{FF2B5EF4-FFF2-40B4-BE49-F238E27FC236}">
                <a16:creationId xmlns:a16="http://schemas.microsoft.com/office/drawing/2014/main" id="{AE6BE8C2-6BF4-4905-A0AE-8132FF7B7F03}"/>
              </a:ext>
            </a:extLst>
          </p:cNvPr>
          <p:cNvSpPr>
            <a:spLocks noGrp="1"/>
          </p:cNvSpPr>
          <p:nvPr/>
        </p:nvSpPr>
        <p:spPr>
          <a:xfrm>
            <a:off x="4815870" y="2399992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6" name="diagram block">
            <a:extLst>
              <a:ext uri="{FF2B5EF4-FFF2-40B4-BE49-F238E27FC236}">
                <a16:creationId xmlns:a16="http://schemas.microsoft.com/office/drawing/2014/main" id="{59154EC1-F171-4F09-BFEB-CC0805858F79}"/>
              </a:ext>
            </a:extLst>
          </p:cNvPr>
          <p:cNvSpPr>
            <a:spLocks noGrp="1"/>
          </p:cNvSpPr>
          <p:nvPr/>
        </p:nvSpPr>
        <p:spPr>
          <a:xfrm>
            <a:off x="4884257" y="2399992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7" name="diagram block">
            <a:extLst>
              <a:ext uri="{FF2B5EF4-FFF2-40B4-BE49-F238E27FC236}">
                <a16:creationId xmlns:a16="http://schemas.microsoft.com/office/drawing/2014/main" id="{D459E1E1-B1A6-49AA-98CE-805D12B7000F}"/>
              </a:ext>
            </a:extLst>
          </p:cNvPr>
          <p:cNvSpPr>
            <a:spLocks noGrp="1"/>
          </p:cNvSpPr>
          <p:nvPr/>
        </p:nvSpPr>
        <p:spPr>
          <a:xfrm>
            <a:off x="4952644" y="2399992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8" name="diagram block">
            <a:extLst>
              <a:ext uri="{FF2B5EF4-FFF2-40B4-BE49-F238E27FC236}">
                <a16:creationId xmlns:a16="http://schemas.microsoft.com/office/drawing/2014/main" id="{15D3A3D4-647E-439E-A113-373E521F4365}"/>
              </a:ext>
            </a:extLst>
          </p:cNvPr>
          <p:cNvSpPr>
            <a:spLocks noGrp="1"/>
          </p:cNvSpPr>
          <p:nvPr/>
        </p:nvSpPr>
        <p:spPr>
          <a:xfrm>
            <a:off x="5289417" y="1517415"/>
            <a:ext cx="1109674" cy="954836"/>
          </a:xfrm>
          <a:prstGeom prst="roundRect">
            <a:avLst>
              <a:gd name="adj" fmla="val 2162"/>
            </a:avLst>
          </a:prstGeom>
          <a:solidFill>
            <a:srgbClr val="EFFAF8"/>
          </a:solidFill>
          <a:ln w="5161">
            <a:solidFill>
              <a:srgbClr val="41A0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9" name="Codebook 2">
            <a:extLst>
              <a:ext uri="{FF2B5EF4-FFF2-40B4-BE49-F238E27FC236}">
                <a16:creationId xmlns:a16="http://schemas.microsoft.com/office/drawing/2014/main" id="{687E0AD1-388E-4B92-9A1B-408F5BBBB1DB}"/>
              </a:ext>
            </a:extLst>
          </p:cNvPr>
          <p:cNvSpPr>
            <a:spLocks noGrp="1"/>
          </p:cNvSpPr>
          <p:nvPr/>
        </p:nvSpPr>
        <p:spPr>
          <a:xfrm>
            <a:off x="5341030" y="1543221"/>
            <a:ext cx="1006448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257"/>
          </a:bodyPr>
          <a:lstStyle>
            <a:def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rPr>
              <a:t>Codebook 2</a:t>
            </a:r>
          </a:p>
        </p:txBody>
      </p:sp>
      <p:sp>
        <p:nvSpPr>
          <p:cNvPr id="200" name="C₂ ∈ ℝ²⁵⁶×⁴, BF16">
            <a:extLst>
              <a:ext uri="{FF2B5EF4-FFF2-40B4-BE49-F238E27FC236}">
                <a16:creationId xmlns:a16="http://schemas.microsoft.com/office/drawing/2014/main" id="{679BAA11-F9AE-423E-B5F3-8A202F5792A3}"/>
              </a:ext>
            </a:extLst>
          </p:cNvPr>
          <p:cNvSpPr>
            <a:spLocks noGrp="1"/>
          </p:cNvSpPr>
          <p:nvPr/>
        </p:nvSpPr>
        <p:spPr>
          <a:xfrm>
            <a:off x="5346191" y="1667091"/>
            <a:ext cx="990965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493"/>
          </a:bodyPr>
          <a:lstStyle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C₂ ∈ ℝ²⁵⁶×⁴, BF16</a:t>
            </a:r>
          </a:p>
        </p:txBody>
      </p:sp>
      <p:sp>
        <p:nvSpPr>
          <p:cNvPr id="201" name="8 indices">
            <a:extLst>
              <a:ext uri="{FF2B5EF4-FFF2-40B4-BE49-F238E27FC236}">
                <a16:creationId xmlns:a16="http://schemas.microsoft.com/office/drawing/2014/main" id="{9933E522-F963-43B8-BCEF-AAC27DBD3169}"/>
              </a:ext>
            </a:extLst>
          </p:cNvPr>
          <p:cNvSpPr>
            <a:spLocks noGrp="1"/>
          </p:cNvSpPr>
          <p:nvPr/>
        </p:nvSpPr>
        <p:spPr>
          <a:xfrm>
            <a:off x="5330707" y="1796123"/>
            <a:ext cx="428386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indices</a:t>
            </a:r>
          </a:p>
        </p:txBody>
      </p:sp>
      <p:sp>
        <p:nvSpPr>
          <p:cNvPr id="202" name="i₂ (8-bit)">
            <a:extLst>
              <a:ext uri="{FF2B5EF4-FFF2-40B4-BE49-F238E27FC236}">
                <a16:creationId xmlns:a16="http://schemas.microsoft.com/office/drawing/2014/main" id="{DDAD04AB-9841-4F8E-9211-6A325AB9672F}"/>
              </a:ext>
            </a:extLst>
          </p:cNvPr>
          <p:cNvSpPr>
            <a:spLocks noGrp="1"/>
          </p:cNvSpPr>
          <p:nvPr/>
        </p:nvSpPr>
        <p:spPr>
          <a:xfrm>
            <a:off x="5361675" y="1909671"/>
            <a:ext cx="412902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 (8-bit)</a:t>
            </a:r>
          </a:p>
        </p:txBody>
      </p:sp>
      <p:sp>
        <p:nvSpPr>
          <p:cNvPr id="203" name="diagram block">
            <a:extLst>
              <a:ext uri="{FF2B5EF4-FFF2-40B4-BE49-F238E27FC236}">
                <a16:creationId xmlns:a16="http://schemas.microsoft.com/office/drawing/2014/main" id="{35FAFC39-4673-4784-9259-D9951BE960DF}"/>
              </a:ext>
            </a:extLst>
          </p:cNvPr>
          <p:cNvSpPr>
            <a:spLocks noGrp="1"/>
          </p:cNvSpPr>
          <p:nvPr/>
        </p:nvSpPr>
        <p:spPr>
          <a:xfrm>
            <a:off x="5382320" y="2049026"/>
            <a:ext cx="211612" cy="108387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04" name="i₂,1">
            <a:extLst>
              <a:ext uri="{FF2B5EF4-FFF2-40B4-BE49-F238E27FC236}">
                <a16:creationId xmlns:a16="http://schemas.microsoft.com/office/drawing/2014/main" id="{2D2971D8-DC1C-4D07-B81A-56ABA7BED223}"/>
              </a:ext>
            </a:extLst>
          </p:cNvPr>
          <p:cNvSpPr>
            <a:spLocks noGrp="1"/>
          </p:cNvSpPr>
          <p:nvPr/>
        </p:nvSpPr>
        <p:spPr>
          <a:xfrm>
            <a:off x="5408126" y="2074832"/>
            <a:ext cx="159999" cy="56774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5731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i₂,1</a:t>
            </a:r>
          </a:p>
        </p:txBody>
      </p:sp>
      <p:sp>
        <p:nvSpPr>
          <p:cNvPr id="205" name="diagram block">
            <a:extLst>
              <a:ext uri="{FF2B5EF4-FFF2-40B4-BE49-F238E27FC236}">
                <a16:creationId xmlns:a16="http://schemas.microsoft.com/office/drawing/2014/main" id="{11746571-D06A-4104-A3C8-D75C9C4C10F0}"/>
              </a:ext>
            </a:extLst>
          </p:cNvPr>
          <p:cNvSpPr>
            <a:spLocks noGrp="1"/>
          </p:cNvSpPr>
          <p:nvPr/>
        </p:nvSpPr>
        <p:spPr>
          <a:xfrm>
            <a:off x="5382320" y="2172896"/>
            <a:ext cx="211612" cy="108387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06" name="i₂,2">
            <a:extLst>
              <a:ext uri="{FF2B5EF4-FFF2-40B4-BE49-F238E27FC236}">
                <a16:creationId xmlns:a16="http://schemas.microsoft.com/office/drawing/2014/main" id="{96DB4C1C-3C2D-4F76-A75D-A8CB62617DA9}"/>
              </a:ext>
            </a:extLst>
          </p:cNvPr>
          <p:cNvSpPr>
            <a:spLocks noGrp="1"/>
          </p:cNvSpPr>
          <p:nvPr/>
        </p:nvSpPr>
        <p:spPr>
          <a:xfrm>
            <a:off x="5408126" y="2198703"/>
            <a:ext cx="159999" cy="56774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5731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i₂,2</a:t>
            </a:r>
          </a:p>
        </p:txBody>
      </p:sp>
      <p:sp>
        <p:nvSpPr>
          <p:cNvPr id="207" name="diagram block">
            <a:extLst>
              <a:ext uri="{FF2B5EF4-FFF2-40B4-BE49-F238E27FC236}">
                <a16:creationId xmlns:a16="http://schemas.microsoft.com/office/drawing/2014/main" id="{0AF6643B-1911-41B8-A38E-682119176A29}"/>
              </a:ext>
            </a:extLst>
          </p:cNvPr>
          <p:cNvSpPr>
            <a:spLocks noGrp="1"/>
          </p:cNvSpPr>
          <p:nvPr/>
        </p:nvSpPr>
        <p:spPr>
          <a:xfrm>
            <a:off x="5382320" y="2343218"/>
            <a:ext cx="211612" cy="108387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08" name="i₂,8">
            <a:extLst>
              <a:ext uri="{FF2B5EF4-FFF2-40B4-BE49-F238E27FC236}">
                <a16:creationId xmlns:a16="http://schemas.microsoft.com/office/drawing/2014/main" id="{6651453A-0E7C-4637-9633-F57686C51019}"/>
              </a:ext>
            </a:extLst>
          </p:cNvPr>
          <p:cNvSpPr>
            <a:spLocks noGrp="1"/>
          </p:cNvSpPr>
          <p:nvPr/>
        </p:nvSpPr>
        <p:spPr>
          <a:xfrm>
            <a:off x="5408126" y="2369025"/>
            <a:ext cx="159999" cy="56774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5731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i₂,8</a:t>
            </a:r>
          </a:p>
        </p:txBody>
      </p:sp>
      <p:sp>
        <p:nvSpPr>
          <p:cNvPr id="209" name="⋮">
            <a:extLst>
              <a:ext uri="{FF2B5EF4-FFF2-40B4-BE49-F238E27FC236}">
                <a16:creationId xmlns:a16="http://schemas.microsoft.com/office/drawing/2014/main" id="{BDF319F3-25E4-4609-B58F-C94D12CCDF39}"/>
              </a:ext>
            </a:extLst>
          </p:cNvPr>
          <p:cNvSpPr>
            <a:spLocks noGrp="1"/>
          </p:cNvSpPr>
          <p:nvPr/>
        </p:nvSpPr>
        <p:spPr>
          <a:xfrm>
            <a:off x="5428771" y="2260638"/>
            <a:ext cx="129032" cy="877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8652"/>
          </a:bodyPr>
          <a:lstStyle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⋮</a:t>
            </a:r>
          </a:p>
        </p:txBody>
      </p:sp>
      <p:sp>
        <p:nvSpPr>
          <p:cNvPr id="210" name="8 codewords">
            <a:extLst>
              <a:ext uri="{FF2B5EF4-FFF2-40B4-BE49-F238E27FC236}">
                <a16:creationId xmlns:a16="http://schemas.microsoft.com/office/drawing/2014/main" id="{51CD32A8-D781-46A1-959D-EDC53072685C}"/>
              </a:ext>
            </a:extLst>
          </p:cNvPr>
          <p:cNvSpPr>
            <a:spLocks noGrp="1"/>
          </p:cNvSpPr>
          <p:nvPr/>
        </p:nvSpPr>
        <p:spPr>
          <a:xfrm>
            <a:off x="5826190" y="1796123"/>
            <a:ext cx="531611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codewords</a:t>
            </a:r>
          </a:p>
        </p:txBody>
      </p:sp>
      <p:sp>
        <p:nvSpPr>
          <p:cNvPr id="211" name="(4 scalars each)">
            <a:extLst>
              <a:ext uri="{FF2B5EF4-FFF2-40B4-BE49-F238E27FC236}">
                <a16:creationId xmlns:a16="http://schemas.microsoft.com/office/drawing/2014/main" id="{5174246E-31C6-4196-BCBB-1DDD31FF2FDF}"/>
              </a:ext>
            </a:extLst>
          </p:cNvPr>
          <p:cNvSpPr>
            <a:spLocks noGrp="1"/>
          </p:cNvSpPr>
          <p:nvPr/>
        </p:nvSpPr>
        <p:spPr>
          <a:xfrm>
            <a:off x="5805544" y="1919994"/>
            <a:ext cx="567740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(4 scalars each)</a:t>
            </a:r>
          </a:p>
        </p:txBody>
      </p:sp>
      <p:sp>
        <p:nvSpPr>
          <p:cNvPr id="212" name="Lookup">
            <a:extLst>
              <a:ext uri="{FF2B5EF4-FFF2-40B4-BE49-F238E27FC236}">
                <a16:creationId xmlns:a16="http://schemas.microsoft.com/office/drawing/2014/main" id="{97AD3F5A-DBFC-47AF-9D7F-0296C0C2908A}"/>
              </a:ext>
            </a:extLst>
          </p:cNvPr>
          <p:cNvSpPr>
            <a:spLocks noGrp="1"/>
          </p:cNvSpPr>
          <p:nvPr/>
        </p:nvSpPr>
        <p:spPr>
          <a:xfrm>
            <a:off x="5640384" y="2059348"/>
            <a:ext cx="309676" cy="980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Lookup</a:t>
            </a:r>
          </a:p>
        </p:txBody>
      </p:sp>
      <p:cxnSp>
        <p:nvCxnSpPr>
          <p:cNvPr id="213" name="native PowerPoint connector">
            <a:extLst>
              <a:ext uri="{FF2B5EF4-FFF2-40B4-BE49-F238E27FC236}">
                <a16:creationId xmlns:a16="http://schemas.microsoft.com/office/drawing/2014/main" id="{1CB53D38-65A9-4E33-9D78-0EB470C9AD7C}"/>
              </a:ext>
            </a:extLst>
          </p:cNvPr>
          <p:cNvCxnSpPr/>
          <p:nvPr/>
        </p:nvCxnSpPr>
        <p:spPr>
          <a:xfrm>
            <a:off x="5650706" y="2239993"/>
            <a:ext cx="299354" cy="0"/>
          </a:xfrm>
          <a:prstGeom prst="straightConnector1">
            <a:avLst/>
          </a:prstGeom>
          <a:ln w="7226">
            <a:solidFill>
              <a:srgbClr val="00696D"/>
            </a:solidFill>
            <a:prstDash val="solid"/>
            <a:tailEnd type="triangle" w="sm" len="sm"/>
          </a:ln>
        </p:spPr>
      </p:cxnSp>
      <p:sp>
        <p:nvSpPr>
          <p:cNvPr id="214" name="diagram block">
            <a:extLst>
              <a:ext uri="{FF2B5EF4-FFF2-40B4-BE49-F238E27FC236}">
                <a16:creationId xmlns:a16="http://schemas.microsoft.com/office/drawing/2014/main" id="{54127185-3164-40B1-854B-773E81D21A9C}"/>
              </a:ext>
            </a:extLst>
          </p:cNvPr>
          <p:cNvSpPr>
            <a:spLocks noGrp="1"/>
          </p:cNvSpPr>
          <p:nvPr/>
        </p:nvSpPr>
        <p:spPr>
          <a:xfrm>
            <a:off x="6001673" y="2054187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15" name="diagram block">
            <a:extLst>
              <a:ext uri="{FF2B5EF4-FFF2-40B4-BE49-F238E27FC236}">
                <a16:creationId xmlns:a16="http://schemas.microsoft.com/office/drawing/2014/main" id="{389BBC44-F7F2-4B2A-A8C5-7C213256B51D}"/>
              </a:ext>
            </a:extLst>
          </p:cNvPr>
          <p:cNvSpPr>
            <a:spLocks noGrp="1"/>
          </p:cNvSpPr>
          <p:nvPr/>
        </p:nvSpPr>
        <p:spPr>
          <a:xfrm>
            <a:off x="6070060" y="2054187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16" name="diagram block">
            <a:extLst>
              <a:ext uri="{FF2B5EF4-FFF2-40B4-BE49-F238E27FC236}">
                <a16:creationId xmlns:a16="http://schemas.microsoft.com/office/drawing/2014/main" id="{13897A69-10F1-4651-B41F-499ADA8A945E}"/>
              </a:ext>
            </a:extLst>
          </p:cNvPr>
          <p:cNvSpPr>
            <a:spLocks noGrp="1"/>
          </p:cNvSpPr>
          <p:nvPr/>
        </p:nvSpPr>
        <p:spPr>
          <a:xfrm>
            <a:off x="6138447" y="2054187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17" name="diagram block">
            <a:extLst>
              <a:ext uri="{FF2B5EF4-FFF2-40B4-BE49-F238E27FC236}">
                <a16:creationId xmlns:a16="http://schemas.microsoft.com/office/drawing/2014/main" id="{CD118F27-0235-450B-9380-373DA2A2227D}"/>
              </a:ext>
            </a:extLst>
          </p:cNvPr>
          <p:cNvSpPr>
            <a:spLocks noGrp="1"/>
          </p:cNvSpPr>
          <p:nvPr/>
        </p:nvSpPr>
        <p:spPr>
          <a:xfrm>
            <a:off x="6206834" y="2054187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18" name="diagram block">
            <a:extLst>
              <a:ext uri="{FF2B5EF4-FFF2-40B4-BE49-F238E27FC236}">
                <a16:creationId xmlns:a16="http://schemas.microsoft.com/office/drawing/2014/main" id="{166BC462-32FE-4AE5-BBDA-2DE052EA0F76}"/>
              </a:ext>
            </a:extLst>
          </p:cNvPr>
          <p:cNvSpPr>
            <a:spLocks noGrp="1"/>
          </p:cNvSpPr>
          <p:nvPr/>
        </p:nvSpPr>
        <p:spPr>
          <a:xfrm>
            <a:off x="6001673" y="217289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19" name="diagram block">
            <a:extLst>
              <a:ext uri="{FF2B5EF4-FFF2-40B4-BE49-F238E27FC236}">
                <a16:creationId xmlns:a16="http://schemas.microsoft.com/office/drawing/2014/main" id="{07D6B31F-C033-4289-9F05-07D1F3BE0525}"/>
              </a:ext>
            </a:extLst>
          </p:cNvPr>
          <p:cNvSpPr>
            <a:spLocks noGrp="1"/>
          </p:cNvSpPr>
          <p:nvPr/>
        </p:nvSpPr>
        <p:spPr>
          <a:xfrm>
            <a:off x="6070060" y="217289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0" name="diagram block">
            <a:extLst>
              <a:ext uri="{FF2B5EF4-FFF2-40B4-BE49-F238E27FC236}">
                <a16:creationId xmlns:a16="http://schemas.microsoft.com/office/drawing/2014/main" id="{D11CCF83-4EAA-467F-836A-0A065531321A}"/>
              </a:ext>
            </a:extLst>
          </p:cNvPr>
          <p:cNvSpPr>
            <a:spLocks noGrp="1"/>
          </p:cNvSpPr>
          <p:nvPr/>
        </p:nvSpPr>
        <p:spPr>
          <a:xfrm>
            <a:off x="6138447" y="217289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1" name="diagram block">
            <a:extLst>
              <a:ext uri="{FF2B5EF4-FFF2-40B4-BE49-F238E27FC236}">
                <a16:creationId xmlns:a16="http://schemas.microsoft.com/office/drawing/2014/main" id="{FC838525-23E8-442F-A971-64978E541D71}"/>
              </a:ext>
            </a:extLst>
          </p:cNvPr>
          <p:cNvSpPr>
            <a:spLocks noGrp="1"/>
          </p:cNvSpPr>
          <p:nvPr/>
        </p:nvSpPr>
        <p:spPr>
          <a:xfrm>
            <a:off x="6206834" y="217289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2" name="diagram block">
            <a:extLst>
              <a:ext uri="{FF2B5EF4-FFF2-40B4-BE49-F238E27FC236}">
                <a16:creationId xmlns:a16="http://schemas.microsoft.com/office/drawing/2014/main" id="{DE9125F7-37B6-48D2-A712-BE28CAADB38C}"/>
              </a:ext>
            </a:extLst>
          </p:cNvPr>
          <p:cNvSpPr>
            <a:spLocks noGrp="1"/>
          </p:cNvSpPr>
          <p:nvPr/>
        </p:nvSpPr>
        <p:spPr>
          <a:xfrm>
            <a:off x="6001673" y="229160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3" name="diagram block">
            <a:extLst>
              <a:ext uri="{FF2B5EF4-FFF2-40B4-BE49-F238E27FC236}">
                <a16:creationId xmlns:a16="http://schemas.microsoft.com/office/drawing/2014/main" id="{7F886CFD-9133-4325-892F-1DA129980510}"/>
              </a:ext>
            </a:extLst>
          </p:cNvPr>
          <p:cNvSpPr>
            <a:spLocks noGrp="1"/>
          </p:cNvSpPr>
          <p:nvPr/>
        </p:nvSpPr>
        <p:spPr>
          <a:xfrm>
            <a:off x="6070060" y="229160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4" name="diagram block">
            <a:extLst>
              <a:ext uri="{FF2B5EF4-FFF2-40B4-BE49-F238E27FC236}">
                <a16:creationId xmlns:a16="http://schemas.microsoft.com/office/drawing/2014/main" id="{8521886C-DA25-47D8-BF76-0A79CA1FEB0A}"/>
              </a:ext>
            </a:extLst>
          </p:cNvPr>
          <p:cNvSpPr>
            <a:spLocks noGrp="1"/>
          </p:cNvSpPr>
          <p:nvPr/>
        </p:nvSpPr>
        <p:spPr>
          <a:xfrm>
            <a:off x="6138447" y="229160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5" name="diagram block">
            <a:extLst>
              <a:ext uri="{FF2B5EF4-FFF2-40B4-BE49-F238E27FC236}">
                <a16:creationId xmlns:a16="http://schemas.microsoft.com/office/drawing/2014/main" id="{FC0DC6D7-F886-4C29-8244-2BA72DF992DC}"/>
              </a:ext>
            </a:extLst>
          </p:cNvPr>
          <p:cNvSpPr>
            <a:spLocks noGrp="1"/>
          </p:cNvSpPr>
          <p:nvPr/>
        </p:nvSpPr>
        <p:spPr>
          <a:xfrm>
            <a:off x="6206834" y="229160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6" name="diagram block">
            <a:extLst>
              <a:ext uri="{FF2B5EF4-FFF2-40B4-BE49-F238E27FC236}">
                <a16:creationId xmlns:a16="http://schemas.microsoft.com/office/drawing/2014/main" id="{2819C4F6-7FAF-44FC-AC36-7EFCF7AF10C8}"/>
              </a:ext>
            </a:extLst>
          </p:cNvPr>
          <p:cNvSpPr>
            <a:spLocks noGrp="1"/>
          </p:cNvSpPr>
          <p:nvPr/>
        </p:nvSpPr>
        <p:spPr>
          <a:xfrm>
            <a:off x="6001673" y="2399992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7" name="diagram block">
            <a:extLst>
              <a:ext uri="{FF2B5EF4-FFF2-40B4-BE49-F238E27FC236}">
                <a16:creationId xmlns:a16="http://schemas.microsoft.com/office/drawing/2014/main" id="{64E9F49D-7A3D-44A2-B020-D2F3841C3185}"/>
              </a:ext>
            </a:extLst>
          </p:cNvPr>
          <p:cNvSpPr>
            <a:spLocks noGrp="1"/>
          </p:cNvSpPr>
          <p:nvPr/>
        </p:nvSpPr>
        <p:spPr>
          <a:xfrm>
            <a:off x="6070060" y="2399992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8" name="diagram block">
            <a:extLst>
              <a:ext uri="{FF2B5EF4-FFF2-40B4-BE49-F238E27FC236}">
                <a16:creationId xmlns:a16="http://schemas.microsoft.com/office/drawing/2014/main" id="{36AD708A-D277-4750-B0EF-940AA3635DD2}"/>
              </a:ext>
            </a:extLst>
          </p:cNvPr>
          <p:cNvSpPr>
            <a:spLocks noGrp="1"/>
          </p:cNvSpPr>
          <p:nvPr/>
        </p:nvSpPr>
        <p:spPr>
          <a:xfrm>
            <a:off x="6138447" y="2399992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9" name="diagram block">
            <a:extLst>
              <a:ext uri="{FF2B5EF4-FFF2-40B4-BE49-F238E27FC236}">
                <a16:creationId xmlns:a16="http://schemas.microsoft.com/office/drawing/2014/main" id="{491D79EC-9E7C-49CF-A056-960BE420FBC2}"/>
              </a:ext>
            </a:extLst>
          </p:cNvPr>
          <p:cNvSpPr>
            <a:spLocks noGrp="1"/>
          </p:cNvSpPr>
          <p:nvPr/>
        </p:nvSpPr>
        <p:spPr>
          <a:xfrm>
            <a:off x="6206834" y="2399992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30" name="+">
            <a:extLst>
              <a:ext uri="{FF2B5EF4-FFF2-40B4-BE49-F238E27FC236}">
                <a16:creationId xmlns:a16="http://schemas.microsoft.com/office/drawing/2014/main" id="{5D266510-0ECE-4A3A-8DFA-0B8493831283}"/>
              </a:ext>
            </a:extLst>
          </p:cNvPr>
          <p:cNvSpPr>
            <a:spLocks noGrp="1"/>
          </p:cNvSpPr>
          <p:nvPr/>
        </p:nvSpPr>
        <p:spPr>
          <a:xfrm>
            <a:off x="5150063" y="2033542"/>
            <a:ext cx="129032" cy="20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31" name="diagram block">
            <a:extLst>
              <a:ext uri="{FF2B5EF4-FFF2-40B4-BE49-F238E27FC236}">
                <a16:creationId xmlns:a16="http://schemas.microsoft.com/office/drawing/2014/main" id="{64CD8485-CF95-48D9-A056-ABD681C439D5}"/>
              </a:ext>
            </a:extLst>
          </p:cNvPr>
          <p:cNvSpPr>
            <a:spLocks noGrp="1"/>
          </p:cNvSpPr>
          <p:nvPr/>
        </p:nvSpPr>
        <p:spPr>
          <a:xfrm>
            <a:off x="4040389" y="2529024"/>
            <a:ext cx="2307089" cy="221935"/>
          </a:xfrm>
          <a:prstGeom prst="roundRect">
            <a:avLst>
              <a:gd name="adj" fmla="val 9302"/>
            </a:avLst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5161">
            <a:solidFill>
              <a:srgbClr val="F3DCA8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32" name="Ŵ[g] = r_row × 2^{e(g)} × (C₁[i₁] + C₂[i₂])">
            <a:extLst>
              <a:ext uri="{FF2B5EF4-FFF2-40B4-BE49-F238E27FC236}">
                <a16:creationId xmlns:a16="http://schemas.microsoft.com/office/drawing/2014/main" id="{40D5916E-8DD2-4178-B51A-8BEFBBAEB688}"/>
              </a:ext>
            </a:extLst>
          </p:cNvPr>
          <p:cNvSpPr>
            <a:spLocks noGrp="1"/>
          </p:cNvSpPr>
          <p:nvPr/>
        </p:nvSpPr>
        <p:spPr>
          <a:xfrm>
            <a:off x="4086840" y="2570314"/>
            <a:ext cx="2214187" cy="1651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Ŵ[g] = r</a:t>
            </a:r>
            <a:r>
              <a:rPr sz="71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row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× 2</a:t>
            </a:r>
            <a:r>
              <a:rPr sz="712" b="0" i="1" baseline="27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e(g)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× (C₁[i₁] + C₂[i₂])</a:t>
            </a:r>
          </a:p>
        </p:txBody>
      </p:sp>
      <p:cxnSp>
        <p:nvCxnSpPr>
          <p:cNvPr id="233" name="native PowerPoint connector">
            <a:extLst>
              <a:ext uri="{FF2B5EF4-FFF2-40B4-BE49-F238E27FC236}">
                <a16:creationId xmlns:a16="http://schemas.microsoft.com/office/drawing/2014/main" id="{F7D2D00A-E300-4EF7-BC6F-BD347A597FCF}"/>
              </a:ext>
            </a:extLst>
          </p:cNvPr>
          <p:cNvCxnSpPr/>
          <p:nvPr/>
        </p:nvCxnSpPr>
        <p:spPr>
          <a:xfrm flipV="1">
            <a:off x="4298452" y="2756120"/>
            <a:ext cx="87742" cy="123871"/>
          </a:xfrm>
          <a:prstGeom prst="straightConnector1">
            <a:avLst/>
          </a:prstGeom>
          <a:ln w="6194">
            <a:solidFill>
              <a:srgbClr val="074A8B"/>
            </a:solidFill>
            <a:prstDash val="solid"/>
            <a:tailEnd type="triangle" w="sm" len="sm"/>
          </a:ln>
        </p:spPr>
      </p:cxnSp>
      <p:cxnSp>
        <p:nvCxnSpPr>
          <p:cNvPr id="234" name="native PowerPoint connector">
            <a:extLst>
              <a:ext uri="{FF2B5EF4-FFF2-40B4-BE49-F238E27FC236}">
                <a16:creationId xmlns:a16="http://schemas.microsoft.com/office/drawing/2014/main" id="{CF16E665-42FE-4616-AB94-39C642B32970}"/>
              </a:ext>
            </a:extLst>
          </p:cNvPr>
          <p:cNvCxnSpPr/>
          <p:nvPr/>
        </p:nvCxnSpPr>
        <p:spPr>
          <a:xfrm flipV="1">
            <a:off x="4886838" y="2756120"/>
            <a:ext cx="82580" cy="118709"/>
          </a:xfrm>
          <a:prstGeom prst="straightConnector1">
            <a:avLst/>
          </a:prstGeom>
          <a:ln w="6194">
            <a:solidFill>
              <a:srgbClr val="0776A5"/>
            </a:solidFill>
            <a:prstDash val="solid"/>
            <a:tailEnd type="triangle" w="sm" len="sm"/>
          </a:ln>
        </p:spPr>
      </p:cxnSp>
      <p:cxnSp>
        <p:nvCxnSpPr>
          <p:cNvPr id="235" name="native PowerPoint connector">
            <a:extLst>
              <a:ext uri="{FF2B5EF4-FFF2-40B4-BE49-F238E27FC236}">
                <a16:creationId xmlns:a16="http://schemas.microsoft.com/office/drawing/2014/main" id="{23C0EE8E-15B9-4F6D-9D52-08E7A67694A3}"/>
              </a:ext>
            </a:extLst>
          </p:cNvPr>
          <p:cNvCxnSpPr/>
          <p:nvPr/>
        </p:nvCxnSpPr>
        <p:spPr>
          <a:xfrm flipV="1">
            <a:off x="5521674" y="2756120"/>
            <a:ext cx="0" cy="123871"/>
          </a:xfrm>
          <a:prstGeom prst="straightConnector1">
            <a:avLst/>
          </a:prstGeom>
          <a:ln w="6194">
            <a:solidFill>
              <a:srgbClr val="00696D"/>
            </a:solidFill>
            <a:prstDash val="solid"/>
            <a:tailEnd type="triangle" w="sm" len="sm"/>
          </a:ln>
        </p:spPr>
      </p:cxnSp>
      <p:cxnSp>
        <p:nvCxnSpPr>
          <p:cNvPr id="236" name="native PowerPoint connector">
            <a:extLst>
              <a:ext uri="{FF2B5EF4-FFF2-40B4-BE49-F238E27FC236}">
                <a16:creationId xmlns:a16="http://schemas.microsoft.com/office/drawing/2014/main" id="{09D6DCE4-3C45-45BD-BDC2-556A56A6043E}"/>
              </a:ext>
            </a:extLst>
          </p:cNvPr>
          <p:cNvCxnSpPr/>
          <p:nvPr/>
        </p:nvCxnSpPr>
        <p:spPr>
          <a:xfrm flipV="1">
            <a:off x="6130705" y="2668378"/>
            <a:ext cx="0" cy="123871"/>
          </a:xfrm>
          <a:prstGeom prst="straightConnector1">
            <a:avLst/>
          </a:prstGeom>
          <a:ln w="6194">
            <a:solidFill>
              <a:srgbClr val="061A3C"/>
            </a:solidFill>
            <a:prstDash val="solid"/>
            <a:tailEnd type="triangle" w="sm" len="sm"/>
          </a:ln>
        </p:spPr>
      </p:cxnSp>
      <p:sp>
        <p:nvSpPr>
          <p:cNvPr id="237" name="BF16 row gain">
            <a:extLst>
              <a:ext uri="{FF2B5EF4-FFF2-40B4-BE49-F238E27FC236}">
                <a16:creationId xmlns:a16="http://schemas.microsoft.com/office/drawing/2014/main" id="{1240CE53-463C-46C9-A88B-3453CB441606}"/>
              </a:ext>
            </a:extLst>
          </p:cNvPr>
          <p:cNvSpPr>
            <a:spLocks noGrp="1"/>
          </p:cNvSpPr>
          <p:nvPr/>
        </p:nvSpPr>
        <p:spPr>
          <a:xfrm>
            <a:off x="4040389" y="2869668"/>
            <a:ext cx="516127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869"/>
          </a:bodyPr>
          <a:lstStyle>
            <a:def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 dirty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BF16 row gain</a:t>
            </a:r>
          </a:p>
        </p:txBody>
      </p:sp>
      <p:sp>
        <p:nvSpPr>
          <p:cNvPr id="238" name="r_row">
            <a:extLst>
              <a:ext uri="{FF2B5EF4-FFF2-40B4-BE49-F238E27FC236}">
                <a16:creationId xmlns:a16="http://schemas.microsoft.com/office/drawing/2014/main" id="{1A6C641E-5C4E-4602-81D3-8C7DA916F5BC}"/>
              </a:ext>
            </a:extLst>
          </p:cNvPr>
          <p:cNvSpPr>
            <a:spLocks noGrp="1"/>
          </p:cNvSpPr>
          <p:nvPr/>
        </p:nvSpPr>
        <p:spPr>
          <a:xfrm>
            <a:off x="4159098" y="2988378"/>
            <a:ext cx="294193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124"/>
          </a:bodyPr>
          <a:lstStyle>
            <a:def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0" b="0" i="1" dirty="0" err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600" b="0" i="1" baseline="-23000" dirty="0" err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row</a:t>
            </a:r>
            <a:endParaRPr sz="600" b="0" i="1" baseline="-23000" dirty="0">
              <a:solidFill>
                <a:srgbClr val="074A8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9" name="B32 power-of-two&#10;scales">
            <a:extLst>
              <a:ext uri="{FF2B5EF4-FFF2-40B4-BE49-F238E27FC236}">
                <a16:creationId xmlns:a16="http://schemas.microsoft.com/office/drawing/2014/main" id="{C1B4B160-0B47-43A0-9AB1-B754CC8C7046}"/>
              </a:ext>
            </a:extLst>
          </p:cNvPr>
          <p:cNvSpPr>
            <a:spLocks noGrp="1"/>
          </p:cNvSpPr>
          <p:nvPr/>
        </p:nvSpPr>
        <p:spPr>
          <a:xfrm>
            <a:off x="4597806" y="2864507"/>
            <a:ext cx="655482" cy="2219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992"/>
          </a:bodyPr>
          <a:lstStyle>
            <a:def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rPr>
              <a:t>B32 power-of-two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rPr>
              <a:t>scales</a:t>
            </a:r>
          </a:p>
        </p:txBody>
      </p:sp>
      <p:sp>
        <p:nvSpPr>
          <p:cNvPr id="240" name="2 × 8-bit indices /&#10;4 weights = 4 core bpw">
            <a:extLst>
              <a:ext uri="{FF2B5EF4-FFF2-40B4-BE49-F238E27FC236}">
                <a16:creationId xmlns:a16="http://schemas.microsoft.com/office/drawing/2014/main" id="{ED283786-F027-48B6-9D0B-6D4C0CFB3CD9}"/>
              </a:ext>
            </a:extLst>
          </p:cNvPr>
          <p:cNvSpPr>
            <a:spLocks noGrp="1"/>
          </p:cNvSpPr>
          <p:nvPr/>
        </p:nvSpPr>
        <p:spPr>
          <a:xfrm>
            <a:off x="5284256" y="2885152"/>
            <a:ext cx="650321" cy="2219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851"/>
          </a:bodyPr>
          <a:lstStyle>
            <a:def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 dirty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rPr>
              <a:t>2 × 8-bit indices 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 dirty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rPr>
              <a:t>4 weights = 4 core </a:t>
            </a:r>
            <a:r>
              <a:rPr sz="691" b="1" i="0" dirty="0" err="1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rPr>
              <a:t>bpw</a:t>
            </a:r>
            <a:endParaRPr sz="691" b="1" i="0" dirty="0">
              <a:solidFill>
                <a:srgbClr val="00696D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1" name="~4.27 bpw&#10;including&#10;metadata">
            <a:extLst>
              <a:ext uri="{FF2B5EF4-FFF2-40B4-BE49-F238E27FC236}">
                <a16:creationId xmlns:a16="http://schemas.microsoft.com/office/drawing/2014/main" id="{B20E8BE3-978C-464B-B81B-C6206DEEA5B9}"/>
              </a:ext>
            </a:extLst>
          </p:cNvPr>
          <p:cNvSpPr>
            <a:spLocks noGrp="1"/>
          </p:cNvSpPr>
          <p:nvPr/>
        </p:nvSpPr>
        <p:spPr>
          <a:xfrm>
            <a:off x="6032640" y="2818646"/>
            <a:ext cx="392257" cy="2838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321" lnSpcReduction="20000"/>
          </a:bodyPr>
          <a:lstStyle>
            <a:def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1" i="0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~4.27 </a:t>
            </a:r>
            <a:r>
              <a:rPr sz="732" b="1" i="0" dirty="0" err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bpw</a:t>
            </a:r>
            <a:endParaRPr sz="732" b="1" i="0" dirty="0">
              <a:solidFill>
                <a:srgbClr val="061A3C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1" i="0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including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1" i="0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metadata</a:t>
            </a:r>
          </a:p>
        </p:txBody>
      </p:sp>
      <p:sp>
        <p:nvSpPr>
          <p:cNvPr id="242" name="diagram block">
            <a:extLst>
              <a:ext uri="{FF2B5EF4-FFF2-40B4-BE49-F238E27FC236}">
                <a16:creationId xmlns:a16="http://schemas.microsoft.com/office/drawing/2014/main" id="{76E4AD9A-C6C3-4F6E-8902-E8D1535CB5BC}"/>
              </a:ext>
            </a:extLst>
          </p:cNvPr>
          <p:cNvSpPr>
            <a:spLocks noGrp="1"/>
          </p:cNvSpPr>
          <p:nvPr/>
        </p:nvSpPr>
        <p:spPr>
          <a:xfrm>
            <a:off x="4040389" y="3163860"/>
            <a:ext cx="2307089" cy="247741"/>
          </a:xfrm>
          <a:prstGeom prst="roundRect">
            <a:avLst>
              <a:gd name="adj" fmla="val 10638"/>
            </a:avLst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5161">
            <a:solidFill>
              <a:srgbClr val="F49BA3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43" name="Indices and B32 exponents are frozen">
            <a:extLst>
              <a:ext uri="{FF2B5EF4-FFF2-40B4-BE49-F238E27FC236}">
                <a16:creationId xmlns:a16="http://schemas.microsoft.com/office/drawing/2014/main" id="{FAEF2A94-2E03-44B5-9C38-74DE852B7B02}"/>
              </a:ext>
            </a:extLst>
          </p:cNvPr>
          <p:cNvSpPr>
            <a:spLocks noGrp="1"/>
          </p:cNvSpPr>
          <p:nvPr/>
        </p:nvSpPr>
        <p:spPr>
          <a:xfrm>
            <a:off x="4101038" y="3184506"/>
            <a:ext cx="2193541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144" lnSpcReduction="10000"/>
          </a:bodyPr>
          <a:lstStyle>
            <a:def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 dirty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Indices and B32 exponents are frozen</a:t>
            </a:r>
          </a:p>
        </p:txBody>
      </p:sp>
      <p:sp>
        <p:nvSpPr>
          <p:cNvPr id="244" name="Codebooks and row gains calibrated with action + latent supervision">
            <a:extLst>
              <a:ext uri="{FF2B5EF4-FFF2-40B4-BE49-F238E27FC236}">
                <a16:creationId xmlns:a16="http://schemas.microsoft.com/office/drawing/2014/main" id="{EFB8CFBF-6045-42E1-B778-5D1277E4E29F}"/>
              </a:ext>
            </a:extLst>
          </p:cNvPr>
          <p:cNvSpPr>
            <a:spLocks noGrp="1"/>
          </p:cNvSpPr>
          <p:nvPr/>
        </p:nvSpPr>
        <p:spPr>
          <a:xfrm>
            <a:off x="4095877" y="3298054"/>
            <a:ext cx="2209025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785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Codebooks and row gains calibrated with action + latent supervision</a:t>
            </a:r>
          </a:p>
        </p:txBody>
      </p:sp>
      <p:sp>
        <p:nvSpPr>
          <p:cNvPr id="245" name="diagram block">
            <a:extLst>
              <a:ext uri="{FF2B5EF4-FFF2-40B4-BE49-F238E27FC236}">
                <a16:creationId xmlns:a16="http://schemas.microsoft.com/office/drawing/2014/main" id="{A3F55612-A76C-4FA3-A87B-F555B87DE349}"/>
              </a:ext>
            </a:extLst>
          </p:cNvPr>
          <p:cNvSpPr>
            <a:spLocks noGrp="1"/>
          </p:cNvSpPr>
          <p:nvPr/>
        </p:nvSpPr>
        <p:spPr>
          <a:xfrm>
            <a:off x="6538445" y="309676"/>
            <a:ext cx="1223222" cy="190967"/>
          </a:xfrm>
          <a:prstGeom prst="roundRect">
            <a:avLst>
              <a:gd name="adj" fmla="val 8108"/>
            </a:avLst>
          </a:prstGeom>
          <a:solidFill>
            <a:srgbClr val="DDEFFF"/>
          </a:solidFill>
          <a:ln w="5161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46" name="Activation path (input X)">
            <a:extLst>
              <a:ext uri="{FF2B5EF4-FFF2-40B4-BE49-F238E27FC236}">
                <a16:creationId xmlns:a16="http://schemas.microsoft.com/office/drawing/2014/main" id="{A6B7812D-ACCD-4130-ADE7-5453590C098B}"/>
              </a:ext>
            </a:extLst>
          </p:cNvPr>
          <p:cNvSpPr>
            <a:spLocks noGrp="1"/>
          </p:cNvSpPr>
          <p:nvPr/>
        </p:nvSpPr>
        <p:spPr>
          <a:xfrm>
            <a:off x="6564252" y="335483"/>
            <a:ext cx="1171609" cy="139354"/>
          </a:xfrm>
          <a:prstGeom prst="rect">
            <a:avLst/>
          </a:prstGeom>
          <a:solidFill>
            <a:srgbClr val="DDEFFF"/>
          </a:soli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rPr>
              <a:t>Activation path (input X)</a:t>
            </a:r>
          </a:p>
        </p:txBody>
      </p:sp>
      <p:sp>
        <p:nvSpPr>
          <p:cNvPr id="247" name="X">
            <a:extLst>
              <a:ext uri="{FF2B5EF4-FFF2-40B4-BE49-F238E27FC236}">
                <a16:creationId xmlns:a16="http://schemas.microsoft.com/office/drawing/2014/main" id="{6239F267-3D67-43CF-B330-47A51410478F}"/>
              </a:ext>
            </a:extLst>
          </p:cNvPr>
          <p:cNvSpPr>
            <a:spLocks noGrp="1"/>
          </p:cNvSpPr>
          <p:nvPr/>
        </p:nvSpPr>
        <p:spPr>
          <a:xfrm>
            <a:off x="6548768" y="815481"/>
            <a:ext cx="134193" cy="159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047"/>
          </a:bodyPr>
          <a:lstStyle>
            <a:def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248" name="diagram block">
            <a:extLst>
              <a:ext uri="{FF2B5EF4-FFF2-40B4-BE49-F238E27FC236}">
                <a16:creationId xmlns:a16="http://schemas.microsoft.com/office/drawing/2014/main" id="{FCD3D5E8-F4C3-49F7-AEA1-166EE0590F67}"/>
              </a:ext>
            </a:extLst>
          </p:cNvPr>
          <p:cNvSpPr>
            <a:spLocks noGrp="1"/>
          </p:cNvSpPr>
          <p:nvPr/>
        </p:nvSpPr>
        <p:spPr>
          <a:xfrm>
            <a:off x="6806832" y="650321"/>
            <a:ext cx="469676" cy="464515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5161">
            <a:solidFill>
              <a:srgbClr val="1269A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49" name="Smooth&#10;(α = 0.5)&#10;+ H128">
            <a:extLst>
              <a:ext uri="{FF2B5EF4-FFF2-40B4-BE49-F238E27FC236}">
                <a16:creationId xmlns:a16="http://schemas.microsoft.com/office/drawing/2014/main" id="{DDB14A24-F8E5-425E-B97B-454971B358D2}"/>
              </a:ext>
            </a:extLst>
          </p:cNvPr>
          <p:cNvSpPr>
            <a:spLocks noGrp="1"/>
          </p:cNvSpPr>
          <p:nvPr/>
        </p:nvSpPr>
        <p:spPr>
          <a:xfrm>
            <a:off x="6832638" y="676127"/>
            <a:ext cx="418063" cy="412902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Smooth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(α = 0.5)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+ H128</a:t>
            </a:r>
          </a:p>
        </p:txBody>
      </p:sp>
      <p:sp>
        <p:nvSpPr>
          <p:cNvPr id="250" name="diagram block">
            <a:extLst>
              <a:ext uri="{FF2B5EF4-FFF2-40B4-BE49-F238E27FC236}">
                <a16:creationId xmlns:a16="http://schemas.microsoft.com/office/drawing/2014/main" id="{58053B87-91EC-463B-9EE1-6AD1A03DA51D}"/>
              </a:ext>
            </a:extLst>
          </p:cNvPr>
          <p:cNvSpPr>
            <a:spLocks noGrp="1"/>
          </p:cNvSpPr>
          <p:nvPr/>
        </p:nvSpPr>
        <p:spPr>
          <a:xfrm>
            <a:off x="7488120" y="738062"/>
            <a:ext cx="263225" cy="283870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5161">
            <a:solidFill>
              <a:srgbClr val="4088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51" name="÷ D">
            <a:extLst>
              <a:ext uri="{FF2B5EF4-FFF2-40B4-BE49-F238E27FC236}">
                <a16:creationId xmlns:a16="http://schemas.microsoft.com/office/drawing/2014/main" id="{D958FA15-8F74-4B6A-B039-63679F9AB437}"/>
              </a:ext>
            </a:extLst>
          </p:cNvPr>
          <p:cNvSpPr>
            <a:spLocks noGrp="1"/>
          </p:cNvSpPr>
          <p:nvPr/>
        </p:nvSpPr>
        <p:spPr>
          <a:xfrm>
            <a:off x="7513926" y="763869"/>
            <a:ext cx="211612" cy="232257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÷ D</a:t>
            </a:r>
          </a:p>
        </p:txBody>
      </p:sp>
      <p:sp>
        <p:nvSpPr>
          <p:cNvPr id="252" name="diagram block">
            <a:extLst>
              <a:ext uri="{FF2B5EF4-FFF2-40B4-BE49-F238E27FC236}">
                <a16:creationId xmlns:a16="http://schemas.microsoft.com/office/drawing/2014/main" id="{A52AFA23-DC19-49C5-811D-25C446309DC1}"/>
              </a:ext>
            </a:extLst>
          </p:cNvPr>
          <p:cNvSpPr>
            <a:spLocks noGrp="1"/>
          </p:cNvSpPr>
          <p:nvPr/>
        </p:nvSpPr>
        <p:spPr>
          <a:xfrm>
            <a:off x="7859731" y="655482"/>
            <a:ext cx="449031" cy="459353"/>
          </a:xfrm>
          <a:prstGeom prst="rect">
            <a:avLst/>
          </a:prstGeom>
          <a:gradFill>
            <a:gsLst>
              <a:gs pos="0">
                <a:srgbClr val="76D1D5"/>
              </a:gs>
              <a:gs pos="100000">
                <a:srgbClr val="B4E4E3"/>
              </a:gs>
            </a:gsLst>
            <a:lin ang="5400000"/>
          </a:gradFill>
          <a:ln w="5161">
            <a:solidFill>
              <a:srgbClr val="106C7A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53" name="Dynamic&#10;signed A4">
            <a:extLst>
              <a:ext uri="{FF2B5EF4-FFF2-40B4-BE49-F238E27FC236}">
                <a16:creationId xmlns:a16="http://schemas.microsoft.com/office/drawing/2014/main" id="{7DAD8669-4AF8-4595-A550-F3D4B6341016}"/>
              </a:ext>
            </a:extLst>
          </p:cNvPr>
          <p:cNvSpPr>
            <a:spLocks noGrp="1"/>
          </p:cNvSpPr>
          <p:nvPr/>
        </p:nvSpPr>
        <p:spPr>
          <a:xfrm>
            <a:off x="7885538" y="681288"/>
            <a:ext cx="397418" cy="407741"/>
          </a:xfrm>
          <a:prstGeom prst="rect">
            <a:avLst/>
          </a:prstGeom>
          <a:gradFill>
            <a:gsLst>
              <a:gs pos="0">
                <a:srgbClr val="76D1D5"/>
              </a:gs>
              <a:gs pos="100000">
                <a:srgbClr val="B4E4E3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96630"/>
          </a:bodyPr>
          <a:lstStyle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Dynamic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signed A4</a:t>
            </a:r>
          </a:p>
        </p:txBody>
      </p:sp>
      <p:sp>
        <p:nvSpPr>
          <p:cNvPr id="254" name="diagram block">
            <a:extLst>
              <a:ext uri="{FF2B5EF4-FFF2-40B4-BE49-F238E27FC236}">
                <a16:creationId xmlns:a16="http://schemas.microsoft.com/office/drawing/2014/main" id="{D94DBB7A-2426-4ED9-8883-71C4EC860999}"/>
              </a:ext>
            </a:extLst>
          </p:cNvPr>
          <p:cNvSpPr>
            <a:spLocks noGrp="1"/>
          </p:cNvSpPr>
          <p:nvPr/>
        </p:nvSpPr>
        <p:spPr>
          <a:xfrm>
            <a:off x="8411988" y="650321"/>
            <a:ext cx="381934" cy="464515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5161">
            <a:solidFill>
              <a:srgbClr val="1666A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55" name="BF16&#10;dense&#10;Linear">
            <a:extLst>
              <a:ext uri="{FF2B5EF4-FFF2-40B4-BE49-F238E27FC236}">
                <a16:creationId xmlns:a16="http://schemas.microsoft.com/office/drawing/2014/main" id="{A23220B0-FDE5-4A62-B00F-06E2EC9AE815}"/>
              </a:ext>
            </a:extLst>
          </p:cNvPr>
          <p:cNvSpPr>
            <a:spLocks noGrp="1"/>
          </p:cNvSpPr>
          <p:nvPr/>
        </p:nvSpPr>
        <p:spPr>
          <a:xfrm>
            <a:off x="8437794" y="676127"/>
            <a:ext cx="330322" cy="412902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BF16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dense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cxnSp>
        <p:nvCxnSpPr>
          <p:cNvPr id="256" name="native PowerPoint connector">
            <a:extLst>
              <a:ext uri="{FF2B5EF4-FFF2-40B4-BE49-F238E27FC236}">
                <a16:creationId xmlns:a16="http://schemas.microsoft.com/office/drawing/2014/main" id="{28320A35-BE6D-4909-BB4D-09B549046FE6}"/>
              </a:ext>
            </a:extLst>
          </p:cNvPr>
          <p:cNvCxnSpPr/>
          <p:nvPr/>
        </p:nvCxnSpPr>
        <p:spPr>
          <a:xfrm>
            <a:off x="6677800" y="882578"/>
            <a:ext cx="123871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57" name="native PowerPoint connector">
            <a:extLst>
              <a:ext uri="{FF2B5EF4-FFF2-40B4-BE49-F238E27FC236}">
                <a16:creationId xmlns:a16="http://schemas.microsoft.com/office/drawing/2014/main" id="{A3F5DFDC-FBBF-4972-BAB2-6EE4E04114A8}"/>
              </a:ext>
            </a:extLst>
          </p:cNvPr>
          <p:cNvCxnSpPr/>
          <p:nvPr/>
        </p:nvCxnSpPr>
        <p:spPr>
          <a:xfrm>
            <a:off x="7281669" y="877417"/>
            <a:ext cx="196128" cy="0"/>
          </a:xfrm>
          <a:prstGeom prst="straightConnector1">
            <a:avLst/>
          </a:prstGeom>
          <a:ln w="7226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58" name="Z">
            <a:extLst>
              <a:ext uri="{FF2B5EF4-FFF2-40B4-BE49-F238E27FC236}">
                <a16:creationId xmlns:a16="http://schemas.microsoft.com/office/drawing/2014/main" id="{9A75FE93-0B41-4E58-920E-9A6A2E1874B4}"/>
              </a:ext>
            </a:extLst>
          </p:cNvPr>
          <p:cNvSpPr>
            <a:spLocks noGrp="1"/>
          </p:cNvSpPr>
          <p:nvPr/>
        </p:nvSpPr>
        <p:spPr>
          <a:xfrm>
            <a:off x="7333282" y="743223"/>
            <a:ext cx="123871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6931"/>
          </a:bodyPr>
          <a:lstStyle>
            <a:def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cxnSp>
        <p:nvCxnSpPr>
          <p:cNvPr id="259" name="native PowerPoint connector">
            <a:extLst>
              <a:ext uri="{FF2B5EF4-FFF2-40B4-BE49-F238E27FC236}">
                <a16:creationId xmlns:a16="http://schemas.microsoft.com/office/drawing/2014/main" id="{7F5F82F9-B317-4971-8CF5-4F018528615C}"/>
              </a:ext>
            </a:extLst>
          </p:cNvPr>
          <p:cNvCxnSpPr/>
          <p:nvPr/>
        </p:nvCxnSpPr>
        <p:spPr>
          <a:xfrm>
            <a:off x="7756506" y="877417"/>
            <a:ext cx="98064" cy="0"/>
          </a:xfrm>
          <a:prstGeom prst="straightConnector1">
            <a:avLst/>
          </a:prstGeom>
          <a:ln w="7226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60" name="native PowerPoint connector">
            <a:extLst>
              <a:ext uri="{FF2B5EF4-FFF2-40B4-BE49-F238E27FC236}">
                <a16:creationId xmlns:a16="http://schemas.microsoft.com/office/drawing/2014/main" id="{93B4B03E-0B62-480D-9A04-CDB6B065AE6F}"/>
              </a:ext>
            </a:extLst>
          </p:cNvPr>
          <p:cNvCxnSpPr/>
          <p:nvPr/>
        </p:nvCxnSpPr>
        <p:spPr>
          <a:xfrm>
            <a:off x="8313924" y="877417"/>
            <a:ext cx="92903" cy="0"/>
          </a:xfrm>
          <a:prstGeom prst="straightConnector1">
            <a:avLst/>
          </a:prstGeom>
          <a:ln w="7226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61" name="D: one positive scale per physical input channel">
            <a:extLst>
              <a:ext uri="{FF2B5EF4-FFF2-40B4-BE49-F238E27FC236}">
                <a16:creationId xmlns:a16="http://schemas.microsoft.com/office/drawing/2014/main" id="{1CB75A5D-99DC-4683-8365-299B4060D9B3}"/>
              </a:ext>
            </a:extLst>
          </p:cNvPr>
          <p:cNvSpPr>
            <a:spLocks noGrp="1"/>
          </p:cNvSpPr>
          <p:nvPr/>
        </p:nvSpPr>
        <p:spPr>
          <a:xfrm>
            <a:off x="6590058" y="1187093"/>
            <a:ext cx="2193541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D: one positive scale per physical input channel</a:t>
            </a:r>
          </a:p>
        </p:txBody>
      </p:sp>
      <p:sp>
        <p:nvSpPr>
          <p:cNvPr id="262" name="v = Z / D">
            <a:extLst>
              <a:ext uri="{FF2B5EF4-FFF2-40B4-BE49-F238E27FC236}">
                <a16:creationId xmlns:a16="http://schemas.microsoft.com/office/drawing/2014/main" id="{F47627DF-F248-40B3-A4E5-52B71D1324B3}"/>
              </a:ext>
            </a:extLst>
          </p:cNvPr>
          <p:cNvSpPr>
            <a:spLocks noGrp="1"/>
          </p:cNvSpPr>
          <p:nvPr/>
        </p:nvSpPr>
        <p:spPr>
          <a:xfrm>
            <a:off x="6605542" y="1460641"/>
            <a:ext cx="629675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 = Z / D</a:t>
            </a:r>
          </a:p>
        </p:txBody>
      </p:sp>
      <p:sp>
        <p:nvSpPr>
          <p:cNvPr id="263" name="diagram block">
            <a:extLst>
              <a:ext uri="{FF2B5EF4-FFF2-40B4-BE49-F238E27FC236}">
                <a16:creationId xmlns:a16="http://schemas.microsoft.com/office/drawing/2014/main" id="{47B3F91E-4BBE-4ED5-84A2-D4A33F662258}"/>
              </a:ext>
            </a:extLst>
          </p:cNvPr>
          <p:cNvSpPr>
            <a:spLocks noGrp="1"/>
          </p:cNvSpPr>
          <p:nvPr/>
        </p:nvSpPr>
        <p:spPr>
          <a:xfrm>
            <a:off x="7240379" y="1321286"/>
            <a:ext cx="1548382" cy="541934"/>
          </a:xfrm>
          <a:prstGeom prst="roundRect">
            <a:avLst>
              <a:gd name="adj" fmla="val 4762"/>
            </a:avLst>
          </a:prstGeom>
          <a:gradFill>
            <a:gsLst>
              <a:gs pos="0">
                <a:srgbClr val="E1F5FC"/>
              </a:gs>
              <a:gs pos="100000">
                <a:srgbClr val="F1FBFE"/>
              </a:gs>
            </a:gsLst>
            <a:lin ang="5400000"/>
          </a:gradFill>
          <a:ln w="5161">
            <a:solidFill>
              <a:srgbClr val="B6E0E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64" name="Per-token dynamic signed A4 (per Linear)">
            <a:extLst>
              <a:ext uri="{FF2B5EF4-FFF2-40B4-BE49-F238E27FC236}">
                <a16:creationId xmlns:a16="http://schemas.microsoft.com/office/drawing/2014/main" id="{291A7404-B30C-4126-BEE6-6787F78D65B7}"/>
              </a:ext>
            </a:extLst>
          </p:cNvPr>
          <p:cNvSpPr>
            <a:spLocks noGrp="1"/>
          </p:cNvSpPr>
          <p:nvPr/>
        </p:nvSpPr>
        <p:spPr>
          <a:xfrm>
            <a:off x="7291991" y="1372899"/>
            <a:ext cx="1445157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0794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Per-token dynamic signed A4 (per Linear)</a:t>
            </a:r>
          </a:p>
        </p:txBody>
      </p:sp>
      <p:sp>
        <p:nvSpPr>
          <p:cNvPr id="265" name="sₜ = r_{ℓ} × max |vₜ| / 7">
            <a:extLst>
              <a:ext uri="{FF2B5EF4-FFF2-40B4-BE49-F238E27FC236}">
                <a16:creationId xmlns:a16="http://schemas.microsoft.com/office/drawing/2014/main" id="{35E8F642-58C9-4D24-9B41-C7D9FB32F40E}"/>
              </a:ext>
            </a:extLst>
          </p:cNvPr>
          <p:cNvSpPr>
            <a:spLocks noGrp="1"/>
          </p:cNvSpPr>
          <p:nvPr/>
        </p:nvSpPr>
        <p:spPr>
          <a:xfrm>
            <a:off x="7395217" y="1527737"/>
            <a:ext cx="1269673" cy="1496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sₜ = r</a:t>
            </a:r>
            <a:r>
              <a:rPr sz="71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ℓ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× </a:t>
            </a:r>
            <a:r>
              <a: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max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|vₜ| / 7</a:t>
            </a:r>
          </a:p>
        </p:txBody>
      </p:sp>
      <p:sp>
        <p:nvSpPr>
          <p:cNvPr id="266" name="q = clamp(round(v / sₜ), −7, 7)">
            <a:extLst>
              <a:ext uri="{FF2B5EF4-FFF2-40B4-BE49-F238E27FC236}">
                <a16:creationId xmlns:a16="http://schemas.microsoft.com/office/drawing/2014/main" id="{3564BC83-0301-4C6E-AD3B-F2D4BE8BEF75}"/>
              </a:ext>
            </a:extLst>
          </p:cNvPr>
          <p:cNvSpPr>
            <a:spLocks noGrp="1"/>
          </p:cNvSpPr>
          <p:nvPr/>
        </p:nvSpPr>
        <p:spPr>
          <a:xfrm>
            <a:off x="7317798" y="1687737"/>
            <a:ext cx="1383221" cy="1445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199"/>
          </a:bodyPr>
          <a:lstStyle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q = </a:t>
            </a:r>
            <a:r>
              <a:rPr sz="894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clamp</a:t>
            </a: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894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round</a:t>
            </a: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(v / sₜ), −7, 7)</a:t>
            </a:r>
          </a:p>
        </p:txBody>
      </p:sp>
      <p:sp>
        <p:nvSpPr>
          <p:cNvPr id="267" name="r_{ℓ}: one clipping ratio per Linear">
            <a:extLst>
              <a:ext uri="{FF2B5EF4-FFF2-40B4-BE49-F238E27FC236}">
                <a16:creationId xmlns:a16="http://schemas.microsoft.com/office/drawing/2014/main" id="{C511066A-E9A7-463D-A821-3E025CF763A7}"/>
              </a:ext>
            </a:extLst>
          </p:cNvPr>
          <p:cNvSpPr>
            <a:spLocks noGrp="1"/>
          </p:cNvSpPr>
          <p:nvPr/>
        </p:nvSpPr>
        <p:spPr>
          <a:xfrm>
            <a:off x="7276508" y="1914833"/>
            <a:ext cx="1512253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564" b="0" i="0" baseline="-2300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ℓ</a:t>
            </a:r>
            <a:r>
              <a: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: one clipping ratio per Linear</a:t>
            </a:r>
          </a:p>
        </p:txBody>
      </p:sp>
      <p:sp>
        <p:nvSpPr>
          <p:cNvPr id="268" name="(distinct from per-channel D)">
            <a:extLst>
              <a:ext uri="{FF2B5EF4-FFF2-40B4-BE49-F238E27FC236}">
                <a16:creationId xmlns:a16="http://schemas.microsoft.com/office/drawing/2014/main" id="{220E95B6-D1F0-404E-B28A-555AF690377F}"/>
              </a:ext>
            </a:extLst>
          </p:cNvPr>
          <p:cNvSpPr>
            <a:spLocks noGrp="1"/>
          </p:cNvSpPr>
          <p:nvPr/>
        </p:nvSpPr>
        <p:spPr>
          <a:xfrm>
            <a:off x="7415862" y="2033542"/>
            <a:ext cx="1341931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6511"/>
          </a:bodyPr>
          <a:lstStyle>
            <a:def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(distinct from per-channel D)</a:t>
            </a:r>
          </a:p>
        </p:txBody>
      </p:sp>
      <p:sp>
        <p:nvSpPr>
          <p:cNvPr id="269" name="diagram block">
            <a:extLst>
              <a:ext uri="{FF2B5EF4-FFF2-40B4-BE49-F238E27FC236}">
                <a16:creationId xmlns:a16="http://schemas.microsoft.com/office/drawing/2014/main" id="{863DAB91-DE07-449F-A632-FE602C72F5A5}"/>
              </a:ext>
            </a:extLst>
          </p:cNvPr>
          <p:cNvSpPr>
            <a:spLocks noGrp="1"/>
          </p:cNvSpPr>
          <p:nvPr/>
        </p:nvSpPr>
        <p:spPr>
          <a:xfrm>
            <a:off x="6538445" y="2193541"/>
            <a:ext cx="753546" cy="206451"/>
          </a:xfrm>
          <a:prstGeom prst="roundRect">
            <a:avLst>
              <a:gd name="adj" fmla="val 10000"/>
            </a:avLst>
          </a:prstGeom>
          <a:solidFill>
            <a:srgbClr val="FDE7E5"/>
          </a:solidFill>
          <a:ln w="5161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70" name="Weight path">
            <a:extLst>
              <a:ext uri="{FF2B5EF4-FFF2-40B4-BE49-F238E27FC236}">
                <a16:creationId xmlns:a16="http://schemas.microsoft.com/office/drawing/2014/main" id="{466BDDDA-4E4B-41B7-80DA-842356AA9AAD}"/>
              </a:ext>
            </a:extLst>
          </p:cNvPr>
          <p:cNvSpPr>
            <a:spLocks noGrp="1"/>
          </p:cNvSpPr>
          <p:nvPr/>
        </p:nvSpPr>
        <p:spPr>
          <a:xfrm>
            <a:off x="6564252" y="2219348"/>
            <a:ext cx="701933" cy="154838"/>
          </a:xfrm>
          <a:prstGeom prst="rect">
            <a:avLst/>
          </a:prstGeom>
          <a:solidFill>
            <a:srgbClr val="FDE7E5"/>
          </a:soli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Weight path</a:t>
            </a:r>
          </a:p>
        </p:txBody>
      </p:sp>
      <p:sp>
        <p:nvSpPr>
          <p:cNvPr id="271" name="diagram block">
            <a:extLst>
              <a:ext uri="{FF2B5EF4-FFF2-40B4-BE49-F238E27FC236}">
                <a16:creationId xmlns:a16="http://schemas.microsoft.com/office/drawing/2014/main" id="{8D7E3B27-E68F-40A1-81E0-18DA34C13153}"/>
              </a:ext>
            </a:extLst>
          </p:cNvPr>
          <p:cNvSpPr>
            <a:spLocks noGrp="1"/>
          </p:cNvSpPr>
          <p:nvPr/>
        </p:nvSpPr>
        <p:spPr>
          <a:xfrm>
            <a:off x="6538445" y="2461928"/>
            <a:ext cx="660643" cy="361289"/>
          </a:xfrm>
          <a:prstGeom prst="rect">
            <a:avLst/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5161">
            <a:solidFill>
              <a:srgbClr val="C94E64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72" name="Decode VQ&#10;(frozen)">
            <a:extLst>
              <a:ext uri="{FF2B5EF4-FFF2-40B4-BE49-F238E27FC236}">
                <a16:creationId xmlns:a16="http://schemas.microsoft.com/office/drawing/2014/main" id="{FB346F94-AA56-4053-B5DB-14556EAD9E76}"/>
              </a:ext>
            </a:extLst>
          </p:cNvPr>
          <p:cNvSpPr>
            <a:spLocks noGrp="1"/>
          </p:cNvSpPr>
          <p:nvPr/>
        </p:nvSpPr>
        <p:spPr>
          <a:xfrm>
            <a:off x="6564252" y="2487734"/>
            <a:ext cx="609030" cy="309676"/>
          </a:xfrm>
          <a:prstGeom prst="rect">
            <a:avLst/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Decode VQ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(frozen)</a:t>
            </a:r>
          </a:p>
        </p:txBody>
      </p:sp>
      <p:sp>
        <p:nvSpPr>
          <p:cNvPr id="273" name="Ŵ">
            <a:extLst>
              <a:ext uri="{FF2B5EF4-FFF2-40B4-BE49-F238E27FC236}">
                <a16:creationId xmlns:a16="http://schemas.microsoft.com/office/drawing/2014/main" id="{AA93082A-AEBA-4C8F-B14A-611FB88B95C3}"/>
              </a:ext>
            </a:extLst>
          </p:cNvPr>
          <p:cNvSpPr>
            <a:spLocks noGrp="1"/>
          </p:cNvSpPr>
          <p:nvPr/>
        </p:nvSpPr>
        <p:spPr>
          <a:xfrm>
            <a:off x="7286830" y="2472250"/>
            <a:ext cx="185806" cy="1393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0351"/>
          </a:bodyPr>
          <a:lstStyle>
            <a:def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Ŵ</a:t>
            </a:r>
          </a:p>
        </p:txBody>
      </p:sp>
      <p:sp>
        <p:nvSpPr>
          <p:cNvPr id="274" name="diagram block">
            <a:extLst>
              <a:ext uri="{FF2B5EF4-FFF2-40B4-BE49-F238E27FC236}">
                <a16:creationId xmlns:a16="http://schemas.microsoft.com/office/drawing/2014/main" id="{C0A3B58F-E81F-4848-95AB-9050B985F359}"/>
              </a:ext>
            </a:extLst>
          </p:cNvPr>
          <p:cNvSpPr>
            <a:spLocks noGrp="1"/>
          </p:cNvSpPr>
          <p:nvPr/>
        </p:nvSpPr>
        <p:spPr>
          <a:xfrm>
            <a:off x="7519087" y="2498057"/>
            <a:ext cx="588385" cy="294193"/>
          </a:xfrm>
          <a:prstGeom prst="rect">
            <a:avLst/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5161">
            <a:solidFill>
              <a:srgbClr val="EBC778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75" name="Ŵ × D">
            <a:extLst>
              <a:ext uri="{FF2B5EF4-FFF2-40B4-BE49-F238E27FC236}">
                <a16:creationId xmlns:a16="http://schemas.microsoft.com/office/drawing/2014/main" id="{073F9BC6-5269-401E-8C86-CD9B20175C80}"/>
              </a:ext>
            </a:extLst>
          </p:cNvPr>
          <p:cNvSpPr>
            <a:spLocks noGrp="1"/>
          </p:cNvSpPr>
          <p:nvPr/>
        </p:nvSpPr>
        <p:spPr>
          <a:xfrm>
            <a:off x="7544894" y="2523863"/>
            <a:ext cx="536772" cy="242580"/>
          </a:xfrm>
          <a:prstGeom prst="rect">
            <a:avLst/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Ŵ × D</a:t>
            </a:r>
          </a:p>
        </p:txBody>
      </p:sp>
      <p:sp>
        <p:nvSpPr>
          <p:cNvPr id="276" name="diagram block">
            <a:extLst>
              <a:ext uri="{FF2B5EF4-FFF2-40B4-BE49-F238E27FC236}">
                <a16:creationId xmlns:a16="http://schemas.microsoft.com/office/drawing/2014/main" id="{55A12A8F-BA28-4709-AF07-EEE9F281218C}"/>
              </a:ext>
            </a:extLst>
          </p:cNvPr>
          <p:cNvSpPr>
            <a:spLocks noGrp="1"/>
          </p:cNvSpPr>
          <p:nvPr/>
        </p:nvSpPr>
        <p:spPr>
          <a:xfrm>
            <a:off x="8313924" y="2420637"/>
            <a:ext cx="474837" cy="454192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5161">
            <a:solidFill>
              <a:srgbClr val="156CB0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77" name="BF16&#10;dense&#10;Linear">
            <a:extLst>
              <a:ext uri="{FF2B5EF4-FFF2-40B4-BE49-F238E27FC236}">
                <a16:creationId xmlns:a16="http://schemas.microsoft.com/office/drawing/2014/main" id="{568F3CAC-8113-46F3-BEB8-735B309A52ED}"/>
              </a:ext>
            </a:extLst>
          </p:cNvPr>
          <p:cNvSpPr>
            <a:spLocks noGrp="1"/>
          </p:cNvSpPr>
          <p:nvPr/>
        </p:nvSpPr>
        <p:spPr>
          <a:xfrm>
            <a:off x="8339730" y="2446444"/>
            <a:ext cx="423224" cy="402579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BF16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dense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cxnSp>
        <p:nvCxnSpPr>
          <p:cNvPr id="278" name="native PowerPoint connector">
            <a:extLst>
              <a:ext uri="{FF2B5EF4-FFF2-40B4-BE49-F238E27FC236}">
                <a16:creationId xmlns:a16="http://schemas.microsoft.com/office/drawing/2014/main" id="{0D1E93E7-91B9-45F2-B36D-7A8F213FB27C}"/>
              </a:ext>
            </a:extLst>
          </p:cNvPr>
          <p:cNvCxnSpPr/>
          <p:nvPr/>
        </p:nvCxnSpPr>
        <p:spPr>
          <a:xfrm>
            <a:off x="7204250" y="2642572"/>
            <a:ext cx="309676" cy="0"/>
          </a:xfrm>
          <a:prstGeom prst="straightConnector1">
            <a:avLst/>
          </a:prstGeom>
          <a:ln w="8258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79" name="native PowerPoint connector">
            <a:extLst>
              <a:ext uri="{FF2B5EF4-FFF2-40B4-BE49-F238E27FC236}">
                <a16:creationId xmlns:a16="http://schemas.microsoft.com/office/drawing/2014/main" id="{6F3318F8-8480-48D5-884A-C51DE0633AC8}"/>
              </a:ext>
            </a:extLst>
          </p:cNvPr>
          <p:cNvCxnSpPr/>
          <p:nvPr/>
        </p:nvCxnSpPr>
        <p:spPr>
          <a:xfrm>
            <a:off x="8112634" y="2642572"/>
            <a:ext cx="196128" cy="0"/>
          </a:xfrm>
          <a:prstGeom prst="straightConnector1">
            <a:avLst/>
          </a:prstGeom>
          <a:ln w="8258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80" name="diagram block">
            <a:extLst>
              <a:ext uri="{FF2B5EF4-FFF2-40B4-BE49-F238E27FC236}">
                <a16:creationId xmlns:a16="http://schemas.microsoft.com/office/drawing/2014/main" id="{F6F77B05-5BB9-4672-BC08-ED8580997F3A}"/>
              </a:ext>
            </a:extLst>
          </p:cNvPr>
          <p:cNvSpPr>
            <a:spLocks noGrp="1"/>
          </p:cNvSpPr>
          <p:nvPr/>
        </p:nvSpPr>
        <p:spPr>
          <a:xfrm>
            <a:off x="6538445" y="2947087"/>
            <a:ext cx="2250315" cy="459353"/>
          </a:xfrm>
          <a:prstGeom prst="roundRect">
            <a:avLst>
              <a:gd name="adj" fmla="val 6742"/>
            </a:avLst>
          </a:prstGeom>
          <a:gradFill>
            <a:gsLst>
              <a:gs pos="0">
                <a:srgbClr val="DBF0F0"/>
              </a:gs>
              <a:gs pos="100000">
                <a:srgbClr val="F4FCFC"/>
              </a:gs>
            </a:gsLst>
            <a:lin ang="5400000"/>
          </a:gradFill>
          <a:ln w="5161">
            <a:solidFill>
              <a:srgbClr val="95D0D1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81" name="Training refinement (activation only)">
            <a:extLst>
              <a:ext uri="{FF2B5EF4-FFF2-40B4-BE49-F238E27FC236}">
                <a16:creationId xmlns:a16="http://schemas.microsoft.com/office/drawing/2014/main" id="{79AC0606-5A38-41AC-902B-4BF5C257DB45}"/>
              </a:ext>
            </a:extLst>
          </p:cNvPr>
          <p:cNvSpPr>
            <a:spLocks noGrp="1"/>
          </p:cNvSpPr>
          <p:nvPr/>
        </p:nvSpPr>
        <p:spPr>
          <a:xfrm>
            <a:off x="6584897" y="2983216"/>
            <a:ext cx="2147090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287"/>
          </a:bodyPr>
          <a:lstStyle>
            <a:def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rPr>
              <a:t>Training refinement (activation only)</a:t>
            </a:r>
          </a:p>
        </p:txBody>
      </p:sp>
      <p:sp>
        <p:nvSpPr>
          <p:cNvPr id="282" name="• Freeze indices, B32 exponents,&#10;  codebooks and row gains">
            <a:extLst>
              <a:ext uri="{FF2B5EF4-FFF2-40B4-BE49-F238E27FC236}">
                <a16:creationId xmlns:a16="http://schemas.microsoft.com/office/drawing/2014/main" id="{D4D6C71A-DC0C-4DD5-BB7F-A81DD020F7FB}"/>
              </a:ext>
            </a:extLst>
          </p:cNvPr>
          <p:cNvSpPr>
            <a:spLocks noGrp="1"/>
          </p:cNvSpPr>
          <p:nvPr/>
        </p:nvSpPr>
        <p:spPr>
          <a:xfrm>
            <a:off x="6595219" y="3117409"/>
            <a:ext cx="2141929" cy="1754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574"/>
          </a:bodyPr>
          <a:lstStyle>
            <a:def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• Freeze indices, B32 exponents,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 codebooks and row gains</a:t>
            </a:r>
          </a:p>
        </p:txBody>
      </p:sp>
      <p:sp>
        <p:nvSpPr>
          <p:cNvPr id="283" name="• Learn per-channel D and per-Linear r_{ℓ}">
            <a:extLst>
              <a:ext uri="{FF2B5EF4-FFF2-40B4-BE49-F238E27FC236}">
                <a16:creationId xmlns:a16="http://schemas.microsoft.com/office/drawing/2014/main" id="{234191D3-E668-475A-A188-796929769792}"/>
              </a:ext>
            </a:extLst>
          </p:cNvPr>
          <p:cNvSpPr>
            <a:spLocks noGrp="1"/>
          </p:cNvSpPr>
          <p:nvPr/>
        </p:nvSpPr>
        <p:spPr>
          <a:xfrm>
            <a:off x="6595219" y="3298054"/>
            <a:ext cx="2136767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• Learn per-channel D and per-Linear r</a:t>
            </a:r>
            <a:r>
              <a:rPr sz="474" b="0" i="0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284" name="diagram block">
            <a:extLst>
              <a:ext uri="{FF2B5EF4-FFF2-40B4-BE49-F238E27FC236}">
                <a16:creationId xmlns:a16="http://schemas.microsoft.com/office/drawing/2014/main" id="{8500F351-AD6B-43B3-AA48-2425E976B957}"/>
              </a:ext>
            </a:extLst>
          </p:cNvPr>
          <p:cNvSpPr>
            <a:spLocks noGrp="1"/>
          </p:cNvSpPr>
          <p:nvPr/>
        </p:nvSpPr>
        <p:spPr>
          <a:xfrm>
            <a:off x="277820" y="3530311"/>
            <a:ext cx="8588360" cy="1300641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8258">
            <a:solidFill>
              <a:srgbClr val="061A3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85" name="Offline training loop (action + latent supervision)">
            <a:extLst>
              <a:ext uri="{FF2B5EF4-FFF2-40B4-BE49-F238E27FC236}">
                <a16:creationId xmlns:a16="http://schemas.microsoft.com/office/drawing/2014/main" id="{FC9F7EBC-8829-4E03-A1A5-5B9C30C85B23}"/>
              </a:ext>
            </a:extLst>
          </p:cNvPr>
          <p:cNvSpPr>
            <a:spLocks noGrp="1"/>
          </p:cNvSpPr>
          <p:nvPr/>
        </p:nvSpPr>
        <p:spPr>
          <a:xfrm>
            <a:off x="350078" y="3587085"/>
            <a:ext cx="3829665" cy="18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Offline training loop (action + latent supervision)</a:t>
            </a:r>
          </a:p>
        </p:txBody>
      </p:sp>
      <p:sp>
        <p:nvSpPr>
          <p:cNvPr id="286" name="Offline gradients (no gradient to frozen components)">
            <a:extLst>
              <a:ext uri="{FF2B5EF4-FFF2-40B4-BE49-F238E27FC236}">
                <a16:creationId xmlns:a16="http://schemas.microsoft.com/office/drawing/2014/main" id="{CE0F5E5B-CB2B-4EC3-A010-2F9BEF19D250}"/>
              </a:ext>
            </a:extLst>
          </p:cNvPr>
          <p:cNvSpPr>
            <a:spLocks noGrp="1"/>
          </p:cNvSpPr>
          <p:nvPr/>
        </p:nvSpPr>
        <p:spPr>
          <a:xfrm>
            <a:off x="4417162" y="3654182"/>
            <a:ext cx="2787088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Offline gradients (no gradient to frozen components)</a:t>
            </a:r>
          </a:p>
        </p:txBody>
      </p:sp>
      <p:cxnSp>
        <p:nvCxnSpPr>
          <p:cNvPr id="287" name="native PowerPoint connector">
            <a:extLst>
              <a:ext uri="{FF2B5EF4-FFF2-40B4-BE49-F238E27FC236}">
                <a16:creationId xmlns:a16="http://schemas.microsoft.com/office/drawing/2014/main" id="{8330FA8B-F4C2-4E2F-AC10-D3BB2AC16F75}"/>
              </a:ext>
            </a:extLst>
          </p:cNvPr>
          <p:cNvCxnSpPr/>
          <p:nvPr/>
        </p:nvCxnSpPr>
        <p:spPr>
          <a:xfrm>
            <a:off x="7436507" y="3654182"/>
            <a:ext cx="325160" cy="0"/>
          </a:xfrm>
          <a:prstGeom prst="straightConnector1">
            <a:avLst/>
          </a:prstGeom>
          <a:ln w="11355">
            <a:solidFill>
              <a:srgbClr val="003C82"/>
            </a:solidFill>
            <a:prstDash val="solid"/>
            <a:tailEnd type="triangle" w="sm" len="sm"/>
          </a:ln>
        </p:spPr>
      </p:cxnSp>
      <p:sp>
        <p:nvSpPr>
          <p:cNvPr id="288" name="Forward data">
            <a:extLst>
              <a:ext uri="{FF2B5EF4-FFF2-40B4-BE49-F238E27FC236}">
                <a16:creationId xmlns:a16="http://schemas.microsoft.com/office/drawing/2014/main" id="{FB9E9794-B624-471F-BA90-804169F28DFF}"/>
              </a:ext>
            </a:extLst>
          </p:cNvPr>
          <p:cNvSpPr>
            <a:spLocks noGrp="1"/>
          </p:cNvSpPr>
          <p:nvPr/>
        </p:nvSpPr>
        <p:spPr>
          <a:xfrm>
            <a:off x="7802957" y="3602569"/>
            <a:ext cx="934191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Forward data</a:t>
            </a:r>
          </a:p>
        </p:txBody>
      </p:sp>
      <p:cxnSp>
        <p:nvCxnSpPr>
          <p:cNvPr id="289" name="native PowerPoint connector">
            <a:extLst>
              <a:ext uri="{FF2B5EF4-FFF2-40B4-BE49-F238E27FC236}">
                <a16:creationId xmlns:a16="http://schemas.microsoft.com/office/drawing/2014/main" id="{FAE1D648-3F51-419F-A193-900E981ADDA3}"/>
              </a:ext>
            </a:extLst>
          </p:cNvPr>
          <p:cNvCxnSpPr/>
          <p:nvPr/>
        </p:nvCxnSpPr>
        <p:spPr>
          <a:xfrm>
            <a:off x="7436507" y="3767730"/>
            <a:ext cx="325160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  <a:tailEnd type="triangle" w="sm" len="sm"/>
          </a:ln>
        </p:spPr>
      </p:cxnSp>
      <p:sp>
        <p:nvSpPr>
          <p:cNvPr id="290" name="Offline gradient /&#10;parameter update">
            <a:extLst>
              <a:ext uri="{FF2B5EF4-FFF2-40B4-BE49-F238E27FC236}">
                <a16:creationId xmlns:a16="http://schemas.microsoft.com/office/drawing/2014/main" id="{C5D3FACE-9E0D-44CA-9DDF-B74B86453B07}"/>
              </a:ext>
            </a:extLst>
          </p:cNvPr>
          <p:cNvSpPr>
            <a:spLocks noGrp="1"/>
          </p:cNvSpPr>
          <p:nvPr/>
        </p:nvSpPr>
        <p:spPr>
          <a:xfrm>
            <a:off x="7802957" y="3721278"/>
            <a:ext cx="934191" cy="18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6762"/>
          </a:bodyPr>
          <a:lstStyle>
            <a:def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Offline gradient 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parameter update</a:t>
            </a:r>
          </a:p>
        </p:txBody>
      </p:sp>
      <p:sp>
        <p:nvSpPr>
          <p:cNvPr id="291" name="diagram block">
            <a:extLst>
              <a:ext uri="{FF2B5EF4-FFF2-40B4-BE49-F238E27FC236}">
                <a16:creationId xmlns:a16="http://schemas.microsoft.com/office/drawing/2014/main" id="{9401BAFA-E19D-4270-A56D-8725FFE97CA4}"/>
              </a:ext>
            </a:extLst>
          </p:cNvPr>
          <p:cNvSpPr>
            <a:spLocks noGrp="1"/>
          </p:cNvSpPr>
          <p:nvPr/>
        </p:nvSpPr>
        <p:spPr>
          <a:xfrm>
            <a:off x="350078" y="3974181"/>
            <a:ext cx="794836" cy="273548"/>
          </a:xfrm>
          <a:prstGeom prst="roundRect">
            <a:avLst>
              <a:gd name="adj" fmla="val 7547"/>
            </a:avLst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5161">
            <a:solidFill>
              <a:srgbClr val="4C9ED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92" name="BF16 teacher&#10;(frozen)">
            <a:extLst>
              <a:ext uri="{FF2B5EF4-FFF2-40B4-BE49-F238E27FC236}">
                <a16:creationId xmlns:a16="http://schemas.microsoft.com/office/drawing/2014/main" id="{F3D9AF0F-BC79-4C05-B0A3-A4C9AA6D9A38}"/>
              </a:ext>
            </a:extLst>
          </p:cNvPr>
          <p:cNvSpPr>
            <a:spLocks noGrp="1"/>
          </p:cNvSpPr>
          <p:nvPr/>
        </p:nvSpPr>
        <p:spPr>
          <a:xfrm>
            <a:off x="375884" y="3999987"/>
            <a:ext cx="743223" cy="221935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9561"/>
          </a:bodyPr>
          <a:lstStyle>
            <a:def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BF16 teacher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(frozen)</a:t>
            </a:r>
          </a:p>
        </p:txBody>
      </p:sp>
      <p:sp>
        <p:nvSpPr>
          <p:cNvPr id="293" name="diagram block">
            <a:extLst>
              <a:ext uri="{FF2B5EF4-FFF2-40B4-BE49-F238E27FC236}">
                <a16:creationId xmlns:a16="http://schemas.microsoft.com/office/drawing/2014/main" id="{08209677-E5C6-47BA-BE35-D5A1990330D1}"/>
              </a:ext>
            </a:extLst>
          </p:cNvPr>
          <p:cNvSpPr>
            <a:spLocks noGrp="1"/>
          </p:cNvSpPr>
          <p:nvPr/>
        </p:nvSpPr>
        <p:spPr>
          <a:xfrm>
            <a:off x="350078" y="4335470"/>
            <a:ext cx="794836" cy="268386"/>
          </a:xfrm>
          <a:prstGeom prst="roundRect">
            <a:avLst>
              <a:gd name="adj" fmla="val 7692"/>
            </a:avLst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5161">
            <a:solidFill>
              <a:srgbClr val="F06F80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94" name="Quantized WAM&#10;(student)">
            <a:extLst>
              <a:ext uri="{FF2B5EF4-FFF2-40B4-BE49-F238E27FC236}">
                <a16:creationId xmlns:a16="http://schemas.microsoft.com/office/drawing/2014/main" id="{232B3CF0-B9A6-4FA4-9DF6-C7C329576205}"/>
              </a:ext>
            </a:extLst>
          </p:cNvPr>
          <p:cNvSpPr>
            <a:spLocks noGrp="1"/>
          </p:cNvSpPr>
          <p:nvPr/>
        </p:nvSpPr>
        <p:spPr>
          <a:xfrm>
            <a:off x="375884" y="4361276"/>
            <a:ext cx="743223" cy="216774"/>
          </a:xfrm>
          <a:prstGeom prst="rect">
            <a:avLst/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7479"/>
          </a:bodyPr>
          <a:lstStyle>
            <a:def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Quantized WAM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(student)</a:t>
            </a:r>
          </a:p>
        </p:txBody>
      </p:sp>
      <p:sp>
        <p:nvSpPr>
          <p:cNvPr id="295" name="diagram block">
            <a:extLst>
              <a:ext uri="{FF2B5EF4-FFF2-40B4-BE49-F238E27FC236}">
                <a16:creationId xmlns:a16="http://schemas.microsoft.com/office/drawing/2014/main" id="{54343F94-FEED-4BDA-853F-84F7744D7C32}"/>
              </a:ext>
            </a:extLst>
          </p:cNvPr>
          <p:cNvSpPr>
            <a:spLocks noGrp="1"/>
          </p:cNvSpPr>
          <p:nvPr/>
        </p:nvSpPr>
        <p:spPr>
          <a:xfrm>
            <a:off x="1320397" y="4046439"/>
            <a:ext cx="1114835" cy="500644"/>
          </a:xfrm>
          <a:prstGeom prst="roundRect">
            <a:avLst>
              <a:gd name="adj" fmla="val 4124"/>
            </a:avLst>
          </a:prstGeom>
          <a:solidFill>
            <a:srgbClr val="F8FBFF"/>
          </a:solidFill>
          <a:ln w="5161">
            <a:solidFill>
              <a:srgbClr val="17619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96" name="Forward pass&#10;on training data&#10;(action + latent supervision)">
            <a:extLst>
              <a:ext uri="{FF2B5EF4-FFF2-40B4-BE49-F238E27FC236}">
                <a16:creationId xmlns:a16="http://schemas.microsoft.com/office/drawing/2014/main" id="{A50B205C-A195-4FF3-9DE9-04D2BB90C4E1}"/>
              </a:ext>
            </a:extLst>
          </p:cNvPr>
          <p:cNvSpPr>
            <a:spLocks noGrp="1"/>
          </p:cNvSpPr>
          <p:nvPr/>
        </p:nvSpPr>
        <p:spPr>
          <a:xfrm>
            <a:off x="1346204" y="4072245"/>
            <a:ext cx="1063222" cy="449031"/>
          </a:xfrm>
          <a:prstGeom prst="rect">
            <a:avLst/>
          </a:prstGeom>
          <a:solidFill>
            <a:srgbClr val="F8FBFF"/>
          </a:solidFill>
          <a:ln w="0">
            <a:noFill/>
          </a:ln>
        </p:spPr>
        <p:txBody>
          <a:bodyPr wrap="none" lIns="0" tIns="0" rIns="0" bIns="0" anchor="ctr">
            <a:normAutofit fontScale="86865"/>
          </a:bodyPr>
          <a:lstStyle>
            <a:def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Forward pass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on training data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(action + latent supervision)</a:t>
            </a:r>
          </a:p>
        </p:txBody>
      </p:sp>
      <p:cxnSp>
        <p:nvCxnSpPr>
          <p:cNvPr id="297" name="native PowerPoint connector">
            <a:extLst>
              <a:ext uri="{FF2B5EF4-FFF2-40B4-BE49-F238E27FC236}">
                <a16:creationId xmlns:a16="http://schemas.microsoft.com/office/drawing/2014/main" id="{73F7907D-7D74-42A0-ACFC-DFD48A0C016D}"/>
              </a:ext>
            </a:extLst>
          </p:cNvPr>
          <p:cNvCxnSpPr/>
          <p:nvPr/>
        </p:nvCxnSpPr>
        <p:spPr>
          <a:xfrm>
            <a:off x="1150075" y="4113535"/>
            <a:ext cx="165161" cy="0"/>
          </a:xfrm>
          <a:prstGeom prst="straightConnector1">
            <a:avLst/>
          </a:prstGeom>
          <a:ln w="9290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98" name="native PowerPoint connector">
            <a:extLst>
              <a:ext uri="{FF2B5EF4-FFF2-40B4-BE49-F238E27FC236}">
                <a16:creationId xmlns:a16="http://schemas.microsoft.com/office/drawing/2014/main" id="{7BF97097-7ED6-4DF5-91CB-C09E28D61A3C}"/>
              </a:ext>
            </a:extLst>
          </p:cNvPr>
          <p:cNvCxnSpPr/>
          <p:nvPr/>
        </p:nvCxnSpPr>
        <p:spPr>
          <a:xfrm>
            <a:off x="1150075" y="4464502"/>
            <a:ext cx="165161" cy="0"/>
          </a:xfrm>
          <a:prstGeom prst="straightConnector1">
            <a:avLst/>
          </a:prstGeom>
          <a:ln w="9290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99" name="diagram block">
            <a:extLst>
              <a:ext uri="{FF2B5EF4-FFF2-40B4-BE49-F238E27FC236}">
                <a16:creationId xmlns:a16="http://schemas.microsoft.com/office/drawing/2014/main" id="{7525B424-06BD-439B-A344-4D5AFEC5EF21}"/>
              </a:ext>
            </a:extLst>
          </p:cNvPr>
          <p:cNvSpPr>
            <a:spLocks noGrp="1"/>
          </p:cNvSpPr>
          <p:nvPr/>
        </p:nvSpPr>
        <p:spPr>
          <a:xfrm>
            <a:off x="2584910" y="4010310"/>
            <a:ext cx="1228383" cy="221935"/>
          </a:xfrm>
          <a:prstGeom prst="roundRect">
            <a:avLst>
              <a:gd name="adj" fmla="val 9302"/>
            </a:avLst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5161">
            <a:solidFill>
              <a:srgbClr val="EDBE6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00" name="Future latent loss  L_z">
            <a:extLst>
              <a:ext uri="{FF2B5EF4-FFF2-40B4-BE49-F238E27FC236}">
                <a16:creationId xmlns:a16="http://schemas.microsoft.com/office/drawing/2014/main" id="{A97939F5-3907-49F2-8776-2DAE3299D37F}"/>
              </a:ext>
            </a:extLst>
          </p:cNvPr>
          <p:cNvSpPr>
            <a:spLocks noGrp="1"/>
          </p:cNvSpPr>
          <p:nvPr/>
        </p:nvSpPr>
        <p:spPr>
          <a:xfrm>
            <a:off x="2610716" y="4036116"/>
            <a:ext cx="1176770" cy="170322"/>
          </a:xfrm>
          <a:prstGeom prst="rect">
            <a:avLst/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rPr>
              <a:t>Future latent loss  L</a:t>
            </a:r>
            <a:r>
              <a:rPr sz="623" b="0" i="0" baseline="-2300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301" name="diagram block">
            <a:extLst>
              <a:ext uri="{FF2B5EF4-FFF2-40B4-BE49-F238E27FC236}">
                <a16:creationId xmlns:a16="http://schemas.microsoft.com/office/drawing/2014/main" id="{190D72AC-9D87-4699-A567-8353EE9DA467}"/>
              </a:ext>
            </a:extLst>
          </p:cNvPr>
          <p:cNvSpPr>
            <a:spLocks noGrp="1"/>
          </p:cNvSpPr>
          <p:nvPr/>
        </p:nvSpPr>
        <p:spPr>
          <a:xfrm>
            <a:off x="2584910" y="4330309"/>
            <a:ext cx="1228383" cy="227096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D7EFF1"/>
              </a:gs>
              <a:gs pos="100000">
                <a:srgbClr val="F0FAFA"/>
              </a:gs>
            </a:gsLst>
            <a:lin ang="5400000"/>
          </a:gradFill>
          <a:ln w="5161">
            <a:solidFill>
              <a:srgbClr val="72BFCA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02" name="First-10 motor action loss  L_a">
            <a:extLst>
              <a:ext uri="{FF2B5EF4-FFF2-40B4-BE49-F238E27FC236}">
                <a16:creationId xmlns:a16="http://schemas.microsoft.com/office/drawing/2014/main" id="{A8A4DE17-3626-4091-8C9E-47D8763334C8}"/>
              </a:ext>
            </a:extLst>
          </p:cNvPr>
          <p:cNvSpPr>
            <a:spLocks noGrp="1"/>
          </p:cNvSpPr>
          <p:nvPr/>
        </p:nvSpPr>
        <p:spPr>
          <a:xfrm>
            <a:off x="2610716" y="4356115"/>
            <a:ext cx="1176770" cy="175483"/>
          </a:xfrm>
          <a:prstGeom prst="rect">
            <a:avLst/>
          </a:prstGeom>
          <a:gradFill>
            <a:gsLst>
              <a:gs pos="0">
                <a:srgbClr val="D7EFF1"/>
              </a:gs>
              <a:gs pos="100000">
                <a:srgbClr val="F0FAFA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7523"/>
          </a:bodyPr>
          <a:lstStyle>
            <a:def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rPr>
              <a:t>First-10 motor action loss  L</a:t>
            </a:r>
            <a:r>
              <a:rPr sz="593" b="1" i="0" baseline="-2300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cxnSp>
        <p:nvCxnSpPr>
          <p:cNvPr id="303" name="native PowerPoint connector">
            <a:extLst>
              <a:ext uri="{FF2B5EF4-FFF2-40B4-BE49-F238E27FC236}">
                <a16:creationId xmlns:a16="http://schemas.microsoft.com/office/drawing/2014/main" id="{725F7E2C-DA97-4CDB-A029-9581B81E535F}"/>
              </a:ext>
            </a:extLst>
          </p:cNvPr>
          <p:cNvCxnSpPr/>
          <p:nvPr/>
        </p:nvCxnSpPr>
        <p:spPr>
          <a:xfrm>
            <a:off x="2440394" y="4118697"/>
            <a:ext cx="139354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04" name="native PowerPoint connector">
            <a:extLst>
              <a:ext uri="{FF2B5EF4-FFF2-40B4-BE49-F238E27FC236}">
                <a16:creationId xmlns:a16="http://schemas.microsoft.com/office/drawing/2014/main" id="{66A9D2D5-3235-4EAF-B5AB-9966CD23EC25}"/>
              </a:ext>
            </a:extLst>
          </p:cNvPr>
          <p:cNvCxnSpPr/>
          <p:nvPr/>
        </p:nvCxnSpPr>
        <p:spPr>
          <a:xfrm>
            <a:off x="2440394" y="4443857"/>
            <a:ext cx="139354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05" name="native PowerPoint connector">
            <a:extLst>
              <a:ext uri="{FF2B5EF4-FFF2-40B4-BE49-F238E27FC236}">
                <a16:creationId xmlns:a16="http://schemas.microsoft.com/office/drawing/2014/main" id="{BCB887F1-0720-43A9-B9C4-985488F11978}"/>
              </a:ext>
            </a:extLst>
          </p:cNvPr>
          <p:cNvCxnSpPr/>
          <p:nvPr/>
        </p:nvCxnSpPr>
        <p:spPr>
          <a:xfrm>
            <a:off x="3818454" y="4123858"/>
            <a:ext cx="103225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</a:ln>
        </p:spPr>
      </p:cxnSp>
      <p:cxnSp>
        <p:nvCxnSpPr>
          <p:cNvPr id="306" name="native PowerPoint connector">
            <a:extLst>
              <a:ext uri="{FF2B5EF4-FFF2-40B4-BE49-F238E27FC236}">
                <a16:creationId xmlns:a16="http://schemas.microsoft.com/office/drawing/2014/main" id="{2DEABB53-30A0-454C-9252-E132888820CD}"/>
              </a:ext>
            </a:extLst>
          </p:cNvPr>
          <p:cNvCxnSpPr/>
          <p:nvPr/>
        </p:nvCxnSpPr>
        <p:spPr>
          <a:xfrm>
            <a:off x="3921679" y="4123858"/>
            <a:ext cx="0" cy="139354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</a:ln>
        </p:spPr>
      </p:cxnSp>
      <p:cxnSp>
        <p:nvCxnSpPr>
          <p:cNvPr id="307" name="native PowerPoint connector">
            <a:extLst>
              <a:ext uri="{FF2B5EF4-FFF2-40B4-BE49-F238E27FC236}">
                <a16:creationId xmlns:a16="http://schemas.microsoft.com/office/drawing/2014/main" id="{4E028FAB-9DCD-46F7-887D-458489EB65B1}"/>
              </a:ext>
            </a:extLst>
          </p:cNvPr>
          <p:cNvCxnSpPr/>
          <p:nvPr/>
        </p:nvCxnSpPr>
        <p:spPr>
          <a:xfrm>
            <a:off x="3921679" y="4263212"/>
            <a:ext cx="113548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08" name="native PowerPoint connector">
            <a:extLst>
              <a:ext uri="{FF2B5EF4-FFF2-40B4-BE49-F238E27FC236}">
                <a16:creationId xmlns:a16="http://schemas.microsoft.com/office/drawing/2014/main" id="{0F9289D6-F9A6-4368-89C8-3E34F2428214}"/>
              </a:ext>
            </a:extLst>
          </p:cNvPr>
          <p:cNvCxnSpPr/>
          <p:nvPr/>
        </p:nvCxnSpPr>
        <p:spPr>
          <a:xfrm>
            <a:off x="3818454" y="4443857"/>
            <a:ext cx="103225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</a:ln>
        </p:spPr>
      </p:cxnSp>
      <p:cxnSp>
        <p:nvCxnSpPr>
          <p:cNvPr id="309" name="native PowerPoint connector">
            <a:extLst>
              <a:ext uri="{FF2B5EF4-FFF2-40B4-BE49-F238E27FC236}">
                <a16:creationId xmlns:a16="http://schemas.microsoft.com/office/drawing/2014/main" id="{60CC64E4-8BA9-47E5-91BA-D181F88B51F4}"/>
              </a:ext>
            </a:extLst>
          </p:cNvPr>
          <p:cNvCxnSpPr/>
          <p:nvPr/>
        </p:nvCxnSpPr>
        <p:spPr>
          <a:xfrm flipV="1">
            <a:off x="3921679" y="4263212"/>
            <a:ext cx="0" cy="180645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</a:ln>
        </p:spPr>
      </p:cxnSp>
      <p:cxnSp>
        <p:nvCxnSpPr>
          <p:cNvPr id="310" name="native PowerPoint connector">
            <a:extLst>
              <a:ext uri="{FF2B5EF4-FFF2-40B4-BE49-F238E27FC236}">
                <a16:creationId xmlns:a16="http://schemas.microsoft.com/office/drawing/2014/main" id="{0D9CA541-A905-4430-B2F7-06B80839B1CD}"/>
              </a:ext>
            </a:extLst>
          </p:cNvPr>
          <p:cNvCxnSpPr/>
          <p:nvPr/>
        </p:nvCxnSpPr>
        <p:spPr>
          <a:xfrm>
            <a:off x="3921679" y="4263212"/>
            <a:ext cx="113548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311" name="Total loss">
            <a:extLst>
              <a:ext uri="{FF2B5EF4-FFF2-40B4-BE49-F238E27FC236}">
                <a16:creationId xmlns:a16="http://schemas.microsoft.com/office/drawing/2014/main" id="{47591E72-977B-43E7-820C-2A50D6E28746}"/>
              </a:ext>
            </a:extLst>
          </p:cNvPr>
          <p:cNvSpPr>
            <a:spLocks noGrp="1"/>
          </p:cNvSpPr>
          <p:nvPr/>
        </p:nvSpPr>
        <p:spPr>
          <a:xfrm>
            <a:off x="4153937" y="4103213"/>
            <a:ext cx="660643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0553"/>
          </a:bodyPr>
          <a:lstStyle>
            <a:def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Total loss</a:t>
            </a:r>
          </a:p>
        </p:txBody>
      </p:sp>
      <p:sp>
        <p:nvSpPr>
          <p:cNvPr id="312" name="L = L_a + λL_z">
            <a:extLst>
              <a:ext uri="{FF2B5EF4-FFF2-40B4-BE49-F238E27FC236}">
                <a16:creationId xmlns:a16="http://schemas.microsoft.com/office/drawing/2014/main" id="{0899E449-8B6C-4009-92C9-15D12D71B707}"/>
              </a:ext>
            </a:extLst>
          </p:cNvPr>
          <p:cNvSpPr>
            <a:spLocks noGrp="1"/>
          </p:cNvSpPr>
          <p:nvPr/>
        </p:nvSpPr>
        <p:spPr>
          <a:xfrm>
            <a:off x="4081679" y="4258051"/>
            <a:ext cx="825804" cy="18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388"/>
          </a:bodyPr>
          <a:lstStyle>
            <a:def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 = L</a:t>
            </a:r>
            <a:r>
              <a:rPr sz="801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+ λL</a:t>
            </a:r>
            <a:r>
              <a:rPr sz="801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313" name="λ = ρc (frozen)">
            <a:extLst>
              <a:ext uri="{FF2B5EF4-FFF2-40B4-BE49-F238E27FC236}">
                <a16:creationId xmlns:a16="http://schemas.microsoft.com/office/drawing/2014/main" id="{3EBB3A75-DA7C-4CDE-814C-E568972ACF75}"/>
              </a:ext>
            </a:extLst>
          </p:cNvPr>
          <p:cNvSpPr>
            <a:spLocks noGrp="1"/>
          </p:cNvSpPr>
          <p:nvPr/>
        </p:nvSpPr>
        <p:spPr>
          <a:xfrm>
            <a:off x="4076518" y="4469663"/>
            <a:ext cx="825804" cy="1393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λ = </a:t>
            </a:r>
            <a:r>
              <a:rPr sz="732" b="0" i="1" dirty="0" err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ρc</a:t>
            </a:r>
            <a:r>
              <a:rPr sz="732" b="0" i="1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(frozen)</a:t>
            </a:r>
          </a:p>
        </p:txBody>
      </p:sp>
      <p:sp>
        <p:nvSpPr>
          <p:cNvPr id="314" name="diagram block">
            <a:extLst>
              <a:ext uri="{FF2B5EF4-FFF2-40B4-BE49-F238E27FC236}">
                <a16:creationId xmlns:a16="http://schemas.microsoft.com/office/drawing/2014/main" id="{19959B29-10C0-4ED0-A26A-88065178A719}"/>
              </a:ext>
            </a:extLst>
          </p:cNvPr>
          <p:cNvSpPr>
            <a:spLocks noGrp="1"/>
          </p:cNvSpPr>
          <p:nvPr/>
        </p:nvSpPr>
        <p:spPr>
          <a:xfrm>
            <a:off x="5124256" y="3943213"/>
            <a:ext cx="1109674" cy="356128"/>
          </a:xfrm>
          <a:prstGeom prst="roundRect">
            <a:avLst>
              <a:gd name="adj" fmla="val 7246"/>
            </a:avLst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5161">
            <a:solidFill>
              <a:srgbClr val="F18591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15" name="Calibrate codebooks /&#10;row gains&#10;(section b)">
            <a:extLst>
              <a:ext uri="{FF2B5EF4-FFF2-40B4-BE49-F238E27FC236}">
                <a16:creationId xmlns:a16="http://schemas.microsoft.com/office/drawing/2014/main" id="{7A1F01F2-CF92-458E-B699-43A3EBFEC916}"/>
              </a:ext>
            </a:extLst>
          </p:cNvPr>
          <p:cNvSpPr>
            <a:spLocks noGrp="1"/>
          </p:cNvSpPr>
          <p:nvPr/>
        </p:nvSpPr>
        <p:spPr>
          <a:xfrm>
            <a:off x="5150063" y="3969020"/>
            <a:ext cx="1058061" cy="304515"/>
          </a:xfrm>
          <a:prstGeom prst="rect">
            <a:avLst/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74501"/>
          </a:bodyPr>
          <a:lstStyle>
            <a:def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Calibrate codebooks 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row gains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(section b)</a:t>
            </a:r>
          </a:p>
        </p:txBody>
      </p:sp>
      <p:sp>
        <p:nvSpPr>
          <p:cNvPr id="316" name="diagram block">
            <a:extLst>
              <a:ext uri="{FF2B5EF4-FFF2-40B4-BE49-F238E27FC236}">
                <a16:creationId xmlns:a16="http://schemas.microsoft.com/office/drawing/2014/main" id="{B26D2BD0-B86B-4544-9808-29A64D22D4C4}"/>
              </a:ext>
            </a:extLst>
          </p:cNvPr>
          <p:cNvSpPr>
            <a:spLocks noGrp="1"/>
          </p:cNvSpPr>
          <p:nvPr/>
        </p:nvSpPr>
        <p:spPr>
          <a:xfrm>
            <a:off x="6388768" y="3943213"/>
            <a:ext cx="1094190" cy="356128"/>
          </a:xfrm>
          <a:prstGeom prst="roundRect">
            <a:avLst>
              <a:gd name="adj" fmla="val 7246"/>
            </a:avLst>
          </a:prstGeom>
          <a:gradFill>
            <a:gsLst>
              <a:gs pos="0">
                <a:srgbClr val="ACE3E4"/>
              </a:gs>
              <a:gs pos="100000">
                <a:srgbClr val="D9F1F1"/>
              </a:gs>
            </a:gsLst>
            <a:lin ang="5400000"/>
          </a:gradFill>
          <a:ln w="5161">
            <a:solidFill>
              <a:srgbClr val="84CDD1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17" name="Refine per-channel D /&#10;clipping ratio&#10;(section c)">
            <a:extLst>
              <a:ext uri="{FF2B5EF4-FFF2-40B4-BE49-F238E27FC236}">
                <a16:creationId xmlns:a16="http://schemas.microsoft.com/office/drawing/2014/main" id="{C62B36AC-1F07-489C-AE8D-F7DD1FAFE1C0}"/>
              </a:ext>
            </a:extLst>
          </p:cNvPr>
          <p:cNvSpPr>
            <a:spLocks noGrp="1"/>
          </p:cNvSpPr>
          <p:nvPr/>
        </p:nvSpPr>
        <p:spPr>
          <a:xfrm>
            <a:off x="6414575" y="3969020"/>
            <a:ext cx="1042577" cy="304515"/>
          </a:xfrm>
          <a:prstGeom prst="rect">
            <a:avLst/>
          </a:prstGeom>
          <a:gradFill>
            <a:gsLst>
              <a:gs pos="0">
                <a:srgbClr val="ACE3E4"/>
              </a:gs>
              <a:gs pos="100000">
                <a:srgbClr val="D9F1F1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74501"/>
          </a:bodyPr>
          <a:lstStyle>
            <a:def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rPr>
              <a:t>Refine per-channel D 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rPr>
              <a:t>clipping ratio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rPr>
              <a:t>(section c)</a:t>
            </a:r>
          </a:p>
        </p:txBody>
      </p:sp>
      <p:cxnSp>
        <p:nvCxnSpPr>
          <p:cNvPr id="318" name="native PowerPoint connector">
            <a:extLst>
              <a:ext uri="{FF2B5EF4-FFF2-40B4-BE49-F238E27FC236}">
                <a16:creationId xmlns:a16="http://schemas.microsoft.com/office/drawing/2014/main" id="{3CF96537-B893-449C-9A80-765A9E3F5137}"/>
              </a:ext>
            </a:extLst>
          </p:cNvPr>
          <p:cNvCxnSpPr/>
          <p:nvPr/>
        </p:nvCxnSpPr>
        <p:spPr>
          <a:xfrm>
            <a:off x="4830064" y="4263212"/>
            <a:ext cx="149677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319" name="native PowerPoint connector">
            <a:extLst>
              <a:ext uri="{FF2B5EF4-FFF2-40B4-BE49-F238E27FC236}">
                <a16:creationId xmlns:a16="http://schemas.microsoft.com/office/drawing/2014/main" id="{ADA448E1-73F5-4A05-93CD-F0A4FC6A83E3}"/>
              </a:ext>
            </a:extLst>
          </p:cNvPr>
          <p:cNvCxnSpPr/>
          <p:nvPr/>
        </p:nvCxnSpPr>
        <p:spPr>
          <a:xfrm flipV="1">
            <a:off x="4979741" y="4082568"/>
            <a:ext cx="0" cy="180645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320" name="native PowerPoint connector">
            <a:extLst>
              <a:ext uri="{FF2B5EF4-FFF2-40B4-BE49-F238E27FC236}">
                <a16:creationId xmlns:a16="http://schemas.microsoft.com/office/drawing/2014/main" id="{F3AE288F-3D2E-4117-ACB7-1A9455A3E711}"/>
              </a:ext>
            </a:extLst>
          </p:cNvPr>
          <p:cNvCxnSpPr/>
          <p:nvPr/>
        </p:nvCxnSpPr>
        <p:spPr>
          <a:xfrm>
            <a:off x="4979741" y="4082568"/>
            <a:ext cx="139354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  <a:tailEnd type="triangle" w="sm" len="sm"/>
          </a:ln>
        </p:spPr>
      </p:cxnSp>
      <p:sp>
        <p:nvSpPr>
          <p:cNvPr id="321" name="Update: codebooks C₁, C₂&#10;and row gains r_row">
            <a:extLst>
              <a:ext uri="{FF2B5EF4-FFF2-40B4-BE49-F238E27FC236}">
                <a16:creationId xmlns:a16="http://schemas.microsoft.com/office/drawing/2014/main" id="{9C0D8CD9-A3C0-4B10-874A-E9FA063F3AB5}"/>
              </a:ext>
            </a:extLst>
          </p:cNvPr>
          <p:cNvSpPr>
            <a:spLocks noGrp="1"/>
          </p:cNvSpPr>
          <p:nvPr/>
        </p:nvSpPr>
        <p:spPr>
          <a:xfrm>
            <a:off x="5211998" y="4345793"/>
            <a:ext cx="970319" cy="20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0219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Update: codebooks C₁, C₂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and row gains r</a:t>
            </a:r>
            <a:r>
              <a:rPr sz="534" b="0" i="0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row</a:t>
            </a:r>
          </a:p>
        </p:txBody>
      </p:sp>
      <p:sp>
        <p:nvSpPr>
          <p:cNvPr id="322" name="(indices and B32 exponents remain frozen)">
            <a:extLst>
              <a:ext uri="{FF2B5EF4-FFF2-40B4-BE49-F238E27FC236}">
                <a16:creationId xmlns:a16="http://schemas.microsoft.com/office/drawing/2014/main" id="{82B1BD37-80B3-464B-9A5E-565F97A34309}"/>
              </a:ext>
            </a:extLst>
          </p:cNvPr>
          <p:cNvSpPr>
            <a:spLocks noGrp="1"/>
          </p:cNvSpPr>
          <p:nvPr/>
        </p:nvSpPr>
        <p:spPr>
          <a:xfrm>
            <a:off x="5113934" y="4557405"/>
            <a:ext cx="1130319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4723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(indices and B32 exponents remain frozen)</a:t>
            </a:r>
          </a:p>
        </p:txBody>
      </p:sp>
      <p:sp>
        <p:nvSpPr>
          <p:cNvPr id="323" name="Update: per-channel scales D&#10;and per-Linear clipping ratio r_{ℓ}">
            <a:extLst>
              <a:ext uri="{FF2B5EF4-FFF2-40B4-BE49-F238E27FC236}">
                <a16:creationId xmlns:a16="http://schemas.microsoft.com/office/drawing/2014/main" id="{6A4AFF5F-8CF9-428D-8A4A-2036AC26E432}"/>
              </a:ext>
            </a:extLst>
          </p:cNvPr>
          <p:cNvSpPr>
            <a:spLocks noGrp="1"/>
          </p:cNvSpPr>
          <p:nvPr/>
        </p:nvSpPr>
        <p:spPr>
          <a:xfrm>
            <a:off x="6424897" y="4345793"/>
            <a:ext cx="1042577" cy="2064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Update: per-channel scales 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and per-Linear clipping ratio r</a:t>
            </a:r>
            <a:r>
              <a:rPr sz="534" b="0" i="0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324" name="(VQ weights remain frozen)">
            <a:extLst>
              <a:ext uri="{FF2B5EF4-FFF2-40B4-BE49-F238E27FC236}">
                <a16:creationId xmlns:a16="http://schemas.microsoft.com/office/drawing/2014/main" id="{3F4E5C0A-25F4-4A2C-9A72-51CF7F9E8B78}"/>
              </a:ext>
            </a:extLst>
          </p:cNvPr>
          <p:cNvSpPr>
            <a:spLocks noGrp="1"/>
          </p:cNvSpPr>
          <p:nvPr/>
        </p:nvSpPr>
        <p:spPr>
          <a:xfrm>
            <a:off x="6512639" y="4562566"/>
            <a:ext cx="913545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644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(VQ weights remain frozen)</a:t>
            </a:r>
          </a:p>
        </p:txBody>
      </p:sp>
      <p:cxnSp>
        <p:nvCxnSpPr>
          <p:cNvPr id="325" name="native PowerPoint connector">
            <a:extLst>
              <a:ext uri="{FF2B5EF4-FFF2-40B4-BE49-F238E27FC236}">
                <a16:creationId xmlns:a16="http://schemas.microsoft.com/office/drawing/2014/main" id="{77C3D522-2B54-418F-92AA-BF6DD7C36C3A}"/>
              </a:ext>
            </a:extLst>
          </p:cNvPr>
          <p:cNvCxnSpPr/>
          <p:nvPr/>
        </p:nvCxnSpPr>
        <p:spPr>
          <a:xfrm flipV="1">
            <a:off x="5691996" y="3850310"/>
            <a:ext cx="0" cy="87742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</a:ln>
        </p:spPr>
      </p:cxnSp>
      <p:cxnSp>
        <p:nvCxnSpPr>
          <p:cNvPr id="326" name="native PowerPoint connector">
            <a:extLst>
              <a:ext uri="{FF2B5EF4-FFF2-40B4-BE49-F238E27FC236}">
                <a16:creationId xmlns:a16="http://schemas.microsoft.com/office/drawing/2014/main" id="{F8F662D7-ACC6-4FA4-99D3-25F0BC10534F}"/>
              </a:ext>
            </a:extLst>
          </p:cNvPr>
          <p:cNvCxnSpPr/>
          <p:nvPr/>
        </p:nvCxnSpPr>
        <p:spPr>
          <a:xfrm flipH="1">
            <a:off x="3333294" y="3850310"/>
            <a:ext cx="2358702" cy="0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</a:ln>
        </p:spPr>
      </p:cxnSp>
      <p:cxnSp>
        <p:nvCxnSpPr>
          <p:cNvPr id="327" name="native PowerPoint connector">
            <a:extLst>
              <a:ext uri="{FF2B5EF4-FFF2-40B4-BE49-F238E27FC236}">
                <a16:creationId xmlns:a16="http://schemas.microsoft.com/office/drawing/2014/main" id="{34D739DE-4441-4E55-AB4F-795FC21E0872}"/>
              </a:ext>
            </a:extLst>
          </p:cNvPr>
          <p:cNvCxnSpPr/>
          <p:nvPr/>
        </p:nvCxnSpPr>
        <p:spPr>
          <a:xfrm>
            <a:off x="3333294" y="3850310"/>
            <a:ext cx="0" cy="154838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  <a:tailEnd type="triangle" w="sm" len="sm"/>
          </a:ln>
        </p:spPr>
      </p:cxnSp>
      <p:cxnSp>
        <p:nvCxnSpPr>
          <p:cNvPr id="328" name="native PowerPoint connector">
            <a:extLst>
              <a:ext uri="{FF2B5EF4-FFF2-40B4-BE49-F238E27FC236}">
                <a16:creationId xmlns:a16="http://schemas.microsoft.com/office/drawing/2014/main" id="{2430C10E-442F-4574-A144-477F2D028262}"/>
              </a:ext>
            </a:extLst>
          </p:cNvPr>
          <p:cNvCxnSpPr/>
          <p:nvPr/>
        </p:nvCxnSpPr>
        <p:spPr>
          <a:xfrm flipV="1">
            <a:off x="6930702" y="3798698"/>
            <a:ext cx="0" cy="139354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</a:ln>
        </p:spPr>
      </p:cxnSp>
      <p:cxnSp>
        <p:nvCxnSpPr>
          <p:cNvPr id="329" name="native PowerPoint connector">
            <a:extLst>
              <a:ext uri="{FF2B5EF4-FFF2-40B4-BE49-F238E27FC236}">
                <a16:creationId xmlns:a16="http://schemas.microsoft.com/office/drawing/2014/main" id="{0376CB29-2945-401C-9C42-00A2C17F2EFA}"/>
              </a:ext>
            </a:extLst>
          </p:cNvPr>
          <p:cNvCxnSpPr/>
          <p:nvPr/>
        </p:nvCxnSpPr>
        <p:spPr>
          <a:xfrm flipH="1">
            <a:off x="1609429" y="3798698"/>
            <a:ext cx="5321273" cy="0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</a:ln>
        </p:spPr>
      </p:cxnSp>
      <p:cxnSp>
        <p:nvCxnSpPr>
          <p:cNvPr id="330" name="native PowerPoint connector">
            <a:extLst>
              <a:ext uri="{FF2B5EF4-FFF2-40B4-BE49-F238E27FC236}">
                <a16:creationId xmlns:a16="http://schemas.microsoft.com/office/drawing/2014/main" id="{319561E4-8F63-42F1-8B2F-4A6B70396978}"/>
              </a:ext>
            </a:extLst>
          </p:cNvPr>
          <p:cNvCxnSpPr/>
          <p:nvPr/>
        </p:nvCxnSpPr>
        <p:spPr>
          <a:xfrm>
            <a:off x="1609429" y="3798698"/>
            <a:ext cx="0" cy="242580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  <a:tailEnd type="triangle" w="sm" len="sm"/>
          </a:ln>
        </p:spPr>
      </p:cxnSp>
      <p:sp>
        <p:nvSpPr>
          <p:cNvPr id="331" name="Decoded BF16 weights + fake A4 + BF16 KV. Native kernel: future work.">
            <a:extLst>
              <a:ext uri="{FF2B5EF4-FFF2-40B4-BE49-F238E27FC236}">
                <a16:creationId xmlns:a16="http://schemas.microsoft.com/office/drawing/2014/main" id="{F98F255A-C393-415F-899A-056EC1FFAF8E}"/>
              </a:ext>
            </a:extLst>
          </p:cNvPr>
          <p:cNvSpPr>
            <a:spLocks noGrp="1"/>
          </p:cNvSpPr>
          <p:nvPr/>
        </p:nvSpPr>
        <p:spPr>
          <a:xfrm>
            <a:off x="5697158" y="4717404"/>
            <a:ext cx="3086442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rPr>
              <a:t>Decoded BF16 weights + fake A4 + BF16 KV. Native kernel: future work.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Fast-WAM: LIBERO+ local baselines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5">
            <a:extLst>
              <a:ext uri="{FF2B5EF4-FFF2-40B4-BE49-F238E27FC236}">
                <a16:creationId xmlns:a16="http://schemas.microsoft.com/office/drawing/2014/main" id="{8FF2626E-B834-4843-92F8-96499DAA199A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Frozen paired cohort: 4 suites × 7 perturbations × 10 v">
            <a:extLst>
              <a:ext uri="{FF2B5EF4-FFF2-40B4-BE49-F238E27FC236}">
                <a16:creationId xmlns:a16="http://schemas.microsoft.com/office/drawing/2014/main" id="{670D6530-E84C-438E-9E68-8968D9AD51D8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7924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Frozen paired cohort: 4 suites × 7 perturbations × 10 variants = 280 episodes / arm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DC3A00E-CF8B-46BA-9993-62C11D5A9140}"/>
              </a:ext>
            </a:extLst>
          </p:cNvPr>
          <p:cNvGraphicFramePr/>
          <p:nvPr/>
        </p:nvGraphicFramePr>
        <p:xfrm>
          <a:off x="609600" y="1352550"/>
          <a:ext cx="7924800" cy="2743746"/>
        </p:xfrm>
        <a:graphic>
          <a:graphicData uri="http://schemas.openxmlformats.org/drawingml/2006/table">
            <a:tbl>
              <a:tblPr/>
              <a:tblGrid>
                <a:gridCol w="234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Eq. bpw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Long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16.00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216 (77.14%)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QuaRot adapted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≈4.13†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195 (69.64%)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SpinQuant adapted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dirty="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≈4.13†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203 (72.50%)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Smooth + H128 Scalar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4.14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200 (71.43%)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Row-scale VQ + 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dirty="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4.02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 (72.14%)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B32 Micro VQ + 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 dirty="0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 dirty="0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204 (72.86%)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Microscaling VQ: 204/280 vs local SpinQuant 203/280">
            <a:extLst>
              <a:ext uri="{FF2B5EF4-FFF2-40B4-BE49-F238E27FC236}">
                <a16:creationId xmlns:a16="http://schemas.microsoft.com/office/drawing/2014/main" id="{DEEAAEF1-56E9-4219-87E7-0AF037F9B694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7924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Microscaling VQ: 204/280 vs local SpinQuant 203/280</a:t>
            </a:r>
          </a:p>
        </p:txBody>
      </p:sp>
      <p:sp>
        <p:nvSpPr>
          <p:cNvPr id="8" name="Overall denominator: 280; suite cells: /70. Low-bit arm">
            <a:extLst>
              <a:ext uri="{FF2B5EF4-FFF2-40B4-BE49-F238E27FC236}">
                <a16:creationId xmlns:a16="http://schemas.microsoft.com/office/drawing/2014/main" id="{1D3A956E-4519-4AB1-B8DE-65BE1BCA6A8D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73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Overall denominator: 280; suite cells: /70. Low-bit arms: W4A4. † bpw estimates exclude rotation/tail overhead.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Fast-WAM: supervision and refinement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6">
            <a:extLst>
              <a:ext uri="{FF2B5EF4-FFF2-40B4-BE49-F238E27FC236}">
                <a16:creationId xmlns:a16="http://schemas.microsoft.com/office/drawing/2014/main" id="{F97E9971-8CB9-4E18-A99A-DC1748396EA4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A+Z: action+latent · C8 weight calibration / C80 activa">
            <a:extLst>
              <a:ext uri="{FF2B5EF4-FFF2-40B4-BE49-F238E27FC236}">
                <a16:creationId xmlns:a16="http://schemas.microsoft.com/office/drawing/2014/main" id="{2090CFD7-1982-44B9-97A0-E2B60C218DD9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792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A+Z: action+latent · C8 weight calibration / C80 activation refinement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5FB2FE-E83B-4E83-87D2-D353EA6C6DF7}"/>
              </a:ext>
            </a:extLst>
          </p:cNvPr>
          <p:cNvGraphicFramePr/>
          <p:nvPr/>
        </p:nvGraphicFramePr>
        <p:xfrm>
          <a:off x="609600" y="1276350"/>
          <a:ext cx="7924800" cy="3007046"/>
        </p:xfrm>
        <a:graphic>
          <a:graphicData uri="http://schemas.openxmlformats.org/drawingml/2006/table">
            <a:tbl>
              <a:tblPr/>
              <a:tblGrid>
                <a:gridCol w="234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Eq. bpw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Long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16.00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216 (77.14%)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B32 Micro VQ + 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204 (72.86%)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 A+Z, ρ0.1 · 2 epochs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201 (71.79%)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 A+Z, ρ1.5 · 1 epoch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dirty="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dirty="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206 (73.57%)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C80 clip-only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207 (73.93%)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C80 joint VQ + clip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 (72.14%)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C80 channel scales + clip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dirty="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203 (72.50%)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Best completed low-bit result here: clip-only 207/280 (">
            <a:extLst>
              <a:ext uri="{FF2B5EF4-FFF2-40B4-BE49-F238E27FC236}">
                <a16:creationId xmlns:a16="http://schemas.microsoft.com/office/drawing/2014/main" id="{5D0AB6E1-7573-4C49-9FF5-75551C005485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7924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Best completed low-bit result here: clip-only 207/280 (73.93%)</a:t>
            </a:r>
          </a:p>
        </p:txBody>
      </p:sp>
      <p:sp>
        <p:nvSpPr>
          <p:cNvPr id="8" name="Overall: /280; suite: /70. Target-weight bpw includes m">
            <a:extLst>
              <a:ext uri="{FF2B5EF4-FFF2-40B4-BE49-F238E27FC236}">
                <a16:creationId xmlns:a16="http://schemas.microsoft.com/office/drawing/2014/main" id="{E20005B5-4A10-4ABD-A3EB-DFD7DA82DE73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Overall: /280; suite: /70. Target-weight bpw includes metadata; VQ uses decoded BF16 + fake A4.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Cosmos Policy: LIBERO+ transfer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7">
            <a:extLst>
              <a:ext uri="{FF2B5EF4-FFF2-40B4-BE49-F238E27FC236}">
                <a16:creationId xmlns:a16="http://schemas.microsoft.com/office/drawing/2014/main" id="{BF23D87F-8729-46D6-857A-9737977CC8AF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Direct policy · C8 calibration · same 280 paired varian">
            <a:extLst>
              <a:ext uri="{FF2B5EF4-FFF2-40B4-BE49-F238E27FC236}">
                <a16:creationId xmlns:a16="http://schemas.microsoft.com/office/drawing/2014/main" id="{3FD9FEC3-13F8-4791-B5C5-04B89C38583E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792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Direct policy · C8 calibration · same 280 paired variants per arm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289CF9A-BBC1-4EC0-80F0-EDE77016FB08}"/>
              </a:ext>
            </a:extLst>
          </p:cNvPr>
          <p:cNvGraphicFramePr/>
          <p:nvPr/>
        </p:nvGraphicFramePr>
        <p:xfrm>
          <a:off x="609600" y="1333500"/>
          <a:ext cx="7924800" cy="1835469"/>
        </p:xfrm>
        <a:graphic>
          <a:graphicData uri="http://schemas.openxmlformats.org/drawingml/2006/table">
            <a:tbl>
              <a:tblPr/>
              <a:tblGrid>
                <a:gridCol w="234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Eq. bpw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Long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16.00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233 (83.21%)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SpinQuant adapted W4A4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4.13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221 (78.93%)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Action+latent Micro VQ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4.29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62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226 (80.71%)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+5 successes vs SpinQuant; −7 vs BF16">
            <a:extLst>
              <a:ext uri="{FF2B5EF4-FFF2-40B4-BE49-F238E27FC236}">
                <a16:creationId xmlns:a16="http://schemas.microsoft.com/office/drawing/2014/main" id="{D924FAD7-33A8-4EC8-859B-CC3AC0EF4225}"/>
              </a:ext>
            </a:extLst>
          </p:cNvPr>
          <p:cNvSpPr>
            <a:spLocks noGrp="1"/>
          </p:cNvSpPr>
          <p:nvPr/>
        </p:nvSpPr>
        <p:spPr>
          <a:xfrm>
            <a:off x="609600" y="3362325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+5 successes vs </a:t>
            </a:r>
            <a:r>
              <a:rPr sz="1950" b="1" dirty="0" err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SpinQuant</a:t>
            </a:r>
            <a:r>
              <a:rPr sz="195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; −7 vs BF16</a:t>
            </a:r>
          </a:p>
        </p:txBody>
      </p:sp>
      <p:sp>
        <p:nvSpPr>
          <p:cNvPr id="8" name="VQ uses 3.92% more target-weight bits than SpinQuant.&#10;W">
            <a:extLst>
              <a:ext uri="{FF2B5EF4-FFF2-40B4-BE49-F238E27FC236}">
                <a16:creationId xmlns:a16="http://schemas.microsoft.com/office/drawing/2014/main" id="{5551FDCF-00DE-44BF-B6A8-44F652783FAB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VQ uses 3.92% more target-weight bits than </a:t>
            </a:r>
            <a:r>
              <a:rPr sz="1575" b="0" dirty="0" err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SpinQuant</a:t>
            </a: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Whole-</a:t>
            </a:r>
            <a:r>
              <a:rPr sz="1575" b="0" dirty="0" err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DiT</a:t>
            </a: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92C45"/>
                </a:solidFill>
                <a:latin typeface="Arial"/>
                <a:ea typeface="Arial"/>
                <a:cs typeface="Arial"/>
              </a:rPr>
              <a:t>bpw</a:t>
            </a: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: 5.45 vs 5.31; transferability of the current recipe is demonstrated.</a:t>
            </a:r>
          </a:p>
        </p:txBody>
      </p:sp>
      <p:sp>
        <p:nvSpPr>
          <p:cNvPr id="9" name="Overall: /280; suite: /70. bpw covers target weights. D">
            <a:extLst>
              <a:ext uri="{FF2B5EF4-FFF2-40B4-BE49-F238E27FC236}">
                <a16:creationId xmlns:a16="http://schemas.microsoft.com/office/drawing/2014/main" id="{359A938C-0F83-48C2-8E74-F6CD607564DF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Overall: /280; suite: /70. bpw covers target weights. Decoded BF16 / fake A4; native speedup remains untested.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Does protecting the future help downstream actions?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8">
            <a:extLst>
              <a:ext uri="{FF2B5EF4-FFF2-40B4-BE49-F238E27FC236}">
                <a16:creationId xmlns:a16="http://schemas.microsoft.com/office/drawing/2014/main" id="{7884B4B0-1758-4E36-B0F5-8F54374BB9F4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Future donor&#10;Parent / action-only / +latent">
            <a:extLst>
              <a:ext uri="{FF2B5EF4-FFF2-40B4-BE49-F238E27FC236}">
                <a16:creationId xmlns:a16="http://schemas.microsoft.com/office/drawing/2014/main" id="{F9B97089-A337-4A08-A9E6-E0A63C490327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3028950" cy="695325"/>
          </a:xfrm>
          <a:prstGeom prst="rect">
            <a:avLst/>
          </a:prstGeom>
          <a:solidFill>
            <a:srgbClr val="FFF2D6"/>
          </a:solidFill>
          <a:ln w="11430">
            <a:solidFill>
              <a:srgbClr val="D9B466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dirty="0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Future donor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dirty="0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Parent / action-only / +latent</a:t>
            </a:r>
          </a:p>
        </p:txBody>
      </p:sp>
      <p:sp>
        <p:nvSpPr>
          <p:cNvPr id="6" name="Fixed BF16 reader&#10;video K/V → Action DiT">
            <a:extLst>
              <a:ext uri="{FF2B5EF4-FFF2-40B4-BE49-F238E27FC236}">
                <a16:creationId xmlns:a16="http://schemas.microsoft.com/office/drawing/2014/main" id="{6FB435E4-819F-4D88-B27F-8C1F3B0ACDE5}"/>
              </a:ext>
            </a:extLst>
          </p:cNvPr>
          <p:cNvSpPr>
            <a:spLocks noGrp="1"/>
          </p:cNvSpPr>
          <p:nvPr/>
        </p:nvSpPr>
        <p:spPr>
          <a:xfrm>
            <a:off x="4276725" y="971550"/>
            <a:ext cx="3028950" cy="695325"/>
          </a:xfrm>
          <a:prstGeom prst="rect">
            <a:avLst/>
          </a:prstGeom>
          <a:solidFill>
            <a:srgbClr val="E8F1FC"/>
          </a:solidFill>
          <a:ln w="11430">
            <a:solidFill>
              <a:srgbClr val="7EACDC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dirty="0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Fixed BF16 </a:t>
            </a:r>
            <a:r>
              <a:rPr lang="en-US" sz="1650" b="1" dirty="0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action </a:t>
            </a:r>
            <a:r>
              <a:rPr lang="en-US" sz="1650" b="1" dirty="0" err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DiT</a:t>
            </a:r>
            <a:endParaRPr sz="1650" b="1" dirty="0">
              <a:solidFill>
                <a:srgbClr val="192C45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dirty="0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video K/V → Action </a:t>
            </a:r>
            <a:r>
              <a:rPr sz="1650" b="1" dirty="0" err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DiT</a:t>
            </a:r>
            <a:endParaRPr sz="1650" b="1" dirty="0">
              <a:solidFill>
                <a:srgbClr val="192C45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7" name="diagram connector">
            <a:extLst>
              <a:ext uri="{FF2B5EF4-FFF2-40B4-BE49-F238E27FC236}">
                <a16:creationId xmlns:a16="http://schemas.microsoft.com/office/drawing/2014/main" id="{CB7059DB-E522-4E50-A0A3-67E6F625C6DD}"/>
              </a:ext>
            </a:extLst>
          </p:cNvPr>
          <p:cNvCxnSpPr/>
          <p:nvPr/>
        </p:nvCxnSpPr>
        <p:spPr>
          <a:xfrm>
            <a:off x="3638550" y="1323975"/>
            <a:ext cx="6381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8" name="diagram connector">
            <a:extLst>
              <a:ext uri="{FF2B5EF4-FFF2-40B4-BE49-F238E27FC236}">
                <a16:creationId xmlns:a16="http://schemas.microsoft.com/office/drawing/2014/main" id="{EE924E2E-0E85-4B2D-AD35-D3DB71759F0A}"/>
              </a:ext>
            </a:extLst>
          </p:cNvPr>
          <p:cNvCxnSpPr/>
          <p:nvPr/>
        </p:nvCxnSpPr>
        <p:spPr>
          <a:xfrm>
            <a:off x="7305675" y="1323975"/>
            <a:ext cx="4857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9" name="a">
            <a:extLst>
              <a:ext uri="{FF2B5EF4-FFF2-40B4-BE49-F238E27FC236}">
                <a16:creationId xmlns:a16="http://schemas.microsoft.com/office/drawing/2014/main" id="{F73FBE39-AA9D-4862-81F0-B5FF7E8084DE}"/>
              </a:ext>
            </a:extLst>
          </p:cNvPr>
          <p:cNvSpPr>
            <a:spLocks noGrp="1"/>
          </p:cNvSpPr>
          <p:nvPr/>
        </p:nvSpPr>
        <p:spPr>
          <a:xfrm>
            <a:off x="7791450" y="1057275"/>
            <a:ext cx="666750" cy="52387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1BD3457-06AE-4476-80DB-6E89D658BA66}"/>
              </a:ext>
            </a:extLst>
          </p:cNvPr>
          <p:cNvGraphicFramePr/>
          <p:nvPr/>
        </p:nvGraphicFramePr>
        <p:xfrm>
          <a:off x="609600" y="2009775"/>
          <a:ext cx="7924800" cy="1695452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donor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First-10 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Vs action-only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Parent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dirty="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0.036145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−12.36%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Action-only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0.041243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Action+latent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0.035084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 dirty="0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−14.93%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Protecting future latents improves mean downstream moto">
            <a:extLst>
              <a:ext uri="{FF2B5EF4-FFF2-40B4-BE49-F238E27FC236}">
                <a16:creationId xmlns:a16="http://schemas.microsoft.com/office/drawing/2014/main" id="{5EDAC540-6F62-4A82-8B73-B5FE086E2FD1}"/>
              </a:ext>
            </a:extLst>
          </p:cNvPr>
          <p:cNvSpPr>
            <a:spLocks noGrp="1"/>
          </p:cNvSpPr>
          <p:nvPr/>
        </p:nvSpPr>
        <p:spPr>
          <a:xfrm>
            <a:off x="609600" y="3933825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Protecting future </a:t>
            </a:r>
            <a:r>
              <a:rPr sz="1725" b="1" dirty="0" err="1">
                <a:solidFill>
                  <a:srgbClr val="087F8C"/>
                </a:solidFill>
                <a:latin typeface="Arial"/>
                <a:ea typeface="Arial"/>
                <a:cs typeface="Arial"/>
              </a:rPr>
              <a:t>latents</a:t>
            </a:r>
            <a:r>
              <a:rPr sz="1725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 improves mean downstream motor fidelity</a:t>
            </a:r>
          </a:p>
        </p:txBody>
      </p:sp>
      <p:sp>
        <p:nvSpPr>
          <p:cNvPr id="12" name="Earlier row-scale VQ family: 22 cases × 2 seeds; 13/22 ">
            <a:extLst>
              <a:ext uri="{FF2B5EF4-FFF2-40B4-BE49-F238E27FC236}">
                <a16:creationId xmlns:a16="http://schemas.microsoft.com/office/drawing/2014/main" id="{1FF4ECC2-F372-43AD-A818-124E15B3BA90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Earlier row-scale VQ family: 22 cases × 2 seeds; 13/22 improve. Fixed-input teacher fidelity; no closed-loop claim.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Future protection across readers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9">
            <a:extLst>
              <a:ext uri="{FF2B5EF4-FFF2-40B4-BE49-F238E27FC236}">
                <a16:creationId xmlns:a16="http://schemas.microsoft.com/office/drawing/2014/main" id="{37328851-47E3-4E70-915E-C62CC3220821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The mean gain transfers across readers">
            <a:extLst>
              <a:ext uri="{FF2B5EF4-FFF2-40B4-BE49-F238E27FC236}">
                <a16:creationId xmlns:a16="http://schemas.microsoft.com/office/drawing/2014/main" id="{F8C8A040-475B-4974-8FD5-DCF7A592C921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The mean gain transfers across readers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B3C8D2E-3244-4E64-8660-7F94C9F3BBBD}"/>
              </a:ext>
            </a:extLst>
          </p:cNvPr>
          <p:cNvGraphicFramePr/>
          <p:nvPr/>
        </p:nvGraphicFramePr>
        <p:xfrm>
          <a:off x="609600" y="1333500"/>
          <a:ext cx="7924800" cy="118110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Fixed student reader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A-only future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A+latent future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Action-only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0.058110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0.053481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Action+latent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0.058677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0.052951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Most of the gain can be reproduced by reducing future e">
            <a:extLst>
              <a:ext uri="{FF2B5EF4-FFF2-40B4-BE49-F238E27FC236}">
                <a16:creationId xmlns:a16="http://schemas.microsoft.com/office/drawing/2014/main" id="{4FE23CBF-8C0C-4F1A-B029-912576AC128B}"/>
              </a:ext>
            </a:extLst>
          </p:cNvPr>
          <p:cNvSpPr>
            <a:spLocks noGrp="1"/>
          </p:cNvSpPr>
          <p:nvPr/>
        </p:nvSpPr>
        <p:spPr>
          <a:xfrm>
            <a:off x="609600" y="2771775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Most of the gain can be reproduced by reducing future error energy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EF8CB40-0318-4AE1-9C95-F63720886A99}"/>
              </a:ext>
            </a:extLst>
          </p:cNvPr>
          <p:cNvGraphicFramePr/>
          <p:nvPr/>
        </p:nvGraphicFramePr>
        <p:xfrm>
          <a:off x="609600" y="3181350"/>
          <a:ext cx="7924800" cy="1304924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donor · fixed BF16 reader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NMSE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A: action-only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0.093011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0.041243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C: A, NMSE matched to B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0.071786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0.036074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B: action+latent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0.071787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0.035084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B vs C improves 11/22 cases; no robust extra benefit at">
            <a:extLst>
              <a:ext uri="{FF2B5EF4-FFF2-40B4-BE49-F238E27FC236}">
                <a16:creationId xmlns:a16="http://schemas.microsoft.com/office/drawing/2014/main" id="{D004A614-A6C7-4815-A0A2-FAE1B2C914B6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B vs C improves 11/22 cases; no robust extra benefit at matched NMSE. This supports latent fidelity, not a unique mechanism.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MSE fidelity and closed-loop success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350992AB-5D5D-4644-B5B3-F4BA68EA356A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Original objective:  L = MSE_action + ρc · NMSE_future">
            <a:extLst>
              <a:ext uri="{FF2B5EF4-FFF2-40B4-BE49-F238E27FC236}">
                <a16:creationId xmlns:a16="http://schemas.microsoft.com/office/drawing/2014/main" id="{D751AF47-60DE-4E26-B4E2-AA672542BA30}"/>
              </a:ext>
            </a:extLst>
          </p:cNvPr>
          <p:cNvSpPr>
            <a:spLocks noGrp="1"/>
          </p:cNvSpPr>
          <p:nvPr/>
        </p:nvSpPr>
        <p:spPr>
          <a:xfrm>
            <a:off x="609600" y="828675"/>
            <a:ext cx="79248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Original objective:  L = MSE</a:t>
            </a:r>
            <a:r>
              <a:rPr sz="1424" b="1" baseline="-23000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 + ρc · NMSE</a:t>
            </a:r>
            <a:r>
              <a:rPr sz="1424" b="1" baseline="-23000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future</a:t>
            </a:r>
          </a:p>
        </p:txBody>
      </p:sp>
      <p:sp>
        <p:nvSpPr>
          <p:cNvPr id="6" name="c is frozen from initial calibration loss values; ρ = 1">
            <a:extLst>
              <a:ext uri="{FF2B5EF4-FFF2-40B4-BE49-F238E27FC236}">
                <a16:creationId xmlns:a16="http://schemas.microsoft.com/office/drawing/2014/main" id="{0B9524AA-DB39-4CC7-AE02-935EF4CFE690}"/>
              </a:ext>
            </a:extLst>
          </p:cNvPr>
          <p:cNvSpPr>
            <a:spLocks noGrp="1"/>
          </p:cNvSpPr>
          <p:nvPr/>
        </p:nvSpPr>
        <p:spPr>
          <a:xfrm>
            <a:off x="609600" y="1247775"/>
            <a:ext cx="7924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c is frozen from initial calibration loss values; ρ = 1.5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3F79D55-57AB-4DB5-9CF3-C8C7EED935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5021751"/>
              </p:ext>
            </p:extLst>
          </p:nvPr>
        </p:nvGraphicFramePr>
        <p:xfrm>
          <a:off x="609600" y="1857375"/>
          <a:ext cx="7924800" cy="1423036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C80 refinement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NMSE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LIBERO+</a:t>
                      </a:r>
                      <a:br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success ↑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Clip-only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0.043848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0.054848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207/280 · 73.93%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Per-channel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0.031641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0.055378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 dirty="0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203/280 · 72.50%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−27.84% motor RMSE, but −4 closed-loop successes vs cli">
            <a:extLst>
              <a:ext uri="{FF2B5EF4-FFF2-40B4-BE49-F238E27FC236}">
                <a16:creationId xmlns:a16="http://schemas.microsoft.com/office/drawing/2014/main" id="{D7B7B3B3-7EA6-4088-A6E5-75F1A0B1C27A}"/>
              </a:ext>
            </a:extLst>
          </p:cNvPr>
          <p:cNvSpPr>
            <a:spLocks noGrp="1"/>
          </p:cNvSpPr>
          <p:nvPr/>
        </p:nvSpPr>
        <p:spPr>
          <a:xfrm>
            <a:off x="609600" y="3838575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B5444F"/>
                </a:solidFill>
                <a:latin typeface="Arial"/>
                <a:ea typeface="Arial"/>
                <a:cs typeface="Arial"/>
              </a:rPr>
              <a:t>−27.84% motor RMSE, but −4 </a:t>
            </a:r>
            <a:r>
              <a:rPr lang="en-US" sz="1725" b="1" dirty="0">
                <a:solidFill>
                  <a:srgbClr val="B5444F"/>
                </a:solidFill>
                <a:latin typeface="Arial"/>
                <a:ea typeface="Arial"/>
                <a:cs typeface="Arial"/>
              </a:rPr>
              <a:t>LIBERO+</a:t>
            </a:r>
            <a:r>
              <a:rPr sz="1725" b="1" dirty="0">
                <a:solidFill>
                  <a:srgbClr val="B5444F"/>
                </a:solidFill>
                <a:latin typeface="Arial"/>
                <a:ea typeface="Arial"/>
                <a:cs typeface="Arial"/>
              </a:rPr>
              <a:t> successes vs clip-only</a:t>
            </a:r>
          </a:p>
        </p:txBody>
      </p:sp>
      <p:sp>
        <p:nvSpPr>
          <p:cNvPr id="9" name="Motivation: preserve the structure of action sequences ">
            <a:extLst>
              <a:ext uri="{FF2B5EF4-FFF2-40B4-BE49-F238E27FC236}">
                <a16:creationId xmlns:a16="http://schemas.microsoft.com/office/drawing/2014/main" id="{F5F1C212-E5F1-4345-84D8-ACB1E0D14057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7924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Motivation: preserve the structure of action sequences and future latents,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then test whether the objective better tracks rollout failures.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diagram block">
            <a:extLst>
              <a:ext uri="{FF2B5EF4-FFF2-40B4-BE49-F238E27FC236}">
                <a16:creationId xmlns:a16="http://schemas.microsoft.com/office/drawing/2014/main" id="{9F132B06-F211-4EB5-9B2A-70B991B95C87}"/>
              </a:ext>
            </a:extLst>
          </p:cNvPr>
          <p:cNvSpPr>
            <a:spLocks noGrp="1"/>
          </p:cNvSpPr>
          <p:nvPr/>
        </p:nvSpPr>
        <p:spPr>
          <a:xfrm>
            <a:off x="288143" y="20645"/>
            <a:ext cx="2854184" cy="4113535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6710">
            <a:solidFill>
              <a:srgbClr val="0B2B5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" name="diagram block">
            <a:extLst>
              <a:ext uri="{FF2B5EF4-FFF2-40B4-BE49-F238E27FC236}">
                <a16:creationId xmlns:a16="http://schemas.microsoft.com/office/drawing/2014/main" id="{C7A8E50B-BE0A-4B1E-8D9F-52F926C5E27A}"/>
              </a:ext>
            </a:extLst>
          </p:cNvPr>
          <p:cNvSpPr>
            <a:spLocks noGrp="1"/>
          </p:cNvSpPr>
          <p:nvPr/>
        </p:nvSpPr>
        <p:spPr>
          <a:xfrm>
            <a:off x="3183617" y="20645"/>
            <a:ext cx="2776765" cy="4113535"/>
          </a:xfrm>
          <a:prstGeom prst="roundRect">
            <a:avLst>
              <a:gd name="adj" fmla="val 1301"/>
            </a:avLst>
          </a:prstGeom>
          <a:solidFill>
            <a:srgbClr val="FFFFFF"/>
          </a:solidFill>
          <a:ln w="6710">
            <a:solidFill>
              <a:srgbClr val="0B2B5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" name="diagram block">
            <a:extLst>
              <a:ext uri="{FF2B5EF4-FFF2-40B4-BE49-F238E27FC236}">
                <a16:creationId xmlns:a16="http://schemas.microsoft.com/office/drawing/2014/main" id="{279BA262-C23A-49B2-8821-BE25AA48B3EA}"/>
              </a:ext>
            </a:extLst>
          </p:cNvPr>
          <p:cNvSpPr>
            <a:spLocks noGrp="1"/>
          </p:cNvSpPr>
          <p:nvPr/>
        </p:nvSpPr>
        <p:spPr>
          <a:xfrm>
            <a:off x="6001673" y="20645"/>
            <a:ext cx="2864507" cy="4113535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6710">
            <a:solidFill>
              <a:srgbClr val="0B2B5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" name="(a) Soft-bin: preserve absolute values">
            <a:extLst>
              <a:ext uri="{FF2B5EF4-FFF2-40B4-BE49-F238E27FC236}">
                <a16:creationId xmlns:a16="http://schemas.microsoft.com/office/drawing/2014/main" id="{6324B013-0412-432E-BFBA-542F1827A53B}"/>
              </a:ext>
            </a:extLst>
          </p:cNvPr>
          <p:cNvSpPr>
            <a:spLocks noGrp="1"/>
          </p:cNvSpPr>
          <p:nvPr/>
        </p:nvSpPr>
        <p:spPr>
          <a:xfrm>
            <a:off x="344917" y="77419"/>
            <a:ext cx="2740636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(a) Soft-bin: preserve absolute values</a:t>
            </a:r>
          </a:p>
        </p:txBody>
      </p:sp>
      <p:sp>
        <p:nvSpPr>
          <p:cNvPr id="5" name="(b) Action: temporal relations">
            <a:extLst>
              <a:ext uri="{FF2B5EF4-FFF2-40B4-BE49-F238E27FC236}">
                <a16:creationId xmlns:a16="http://schemas.microsoft.com/office/drawing/2014/main" id="{EBBEAD1F-72EA-4711-81B1-5F75DE30C4EF}"/>
              </a:ext>
            </a:extLst>
          </p:cNvPr>
          <p:cNvSpPr>
            <a:spLocks noGrp="1"/>
          </p:cNvSpPr>
          <p:nvPr/>
        </p:nvSpPr>
        <p:spPr>
          <a:xfrm>
            <a:off x="3245553" y="77419"/>
            <a:ext cx="2658056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(b) Action: temporal relations</a:t>
            </a:r>
          </a:p>
        </p:txBody>
      </p:sp>
      <p:sp>
        <p:nvSpPr>
          <p:cNvPr id="6" name="(c) Latent: spatial + temporal relations">
            <a:extLst>
              <a:ext uri="{FF2B5EF4-FFF2-40B4-BE49-F238E27FC236}">
                <a16:creationId xmlns:a16="http://schemas.microsoft.com/office/drawing/2014/main" id="{5511DB54-EE58-4B2D-9BEF-5D64A63F8A22}"/>
              </a:ext>
            </a:extLst>
          </p:cNvPr>
          <p:cNvSpPr>
            <a:spLocks noGrp="1"/>
          </p:cNvSpPr>
          <p:nvPr/>
        </p:nvSpPr>
        <p:spPr>
          <a:xfrm>
            <a:off x="6073931" y="77419"/>
            <a:ext cx="2735475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(c) Latent: spatial + temporal relations</a:t>
            </a:r>
          </a:p>
        </p:txBody>
      </p:sp>
      <p:sp>
        <p:nvSpPr>
          <p:cNvPr id="7" name="diagram block">
            <a:extLst>
              <a:ext uri="{FF2B5EF4-FFF2-40B4-BE49-F238E27FC236}">
                <a16:creationId xmlns:a16="http://schemas.microsoft.com/office/drawing/2014/main" id="{3C0D5589-0CF9-47AC-98E7-A3E034AC19DF}"/>
              </a:ext>
            </a:extLst>
          </p:cNvPr>
          <p:cNvSpPr>
            <a:spLocks noGrp="1"/>
          </p:cNvSpPr>
          <p:nvPr/>
        </p:nvSpPr>
        <p:spPr>
          <a:xfrm>
            <a:off x="355239" y="278709"/>
            <a:ext cx="2725153" cy="345805"/>
          </a:xfrm>
          <a:prstGeom prst="roundRect">
            <a:avLst>
              <a:gd name="adj" fmla="val 7463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0E0F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" name="Per-scalar distribution: each value is mapped to a 16-bin&#10;probability distr">
            <a:extLst>
              <a:ext uri="{FF2B5EF4-FFF2-40B4-BE49-F238E27FC236}">
                <a16:creationId xmlns:a16="http://schemas.microsoft.com/office/drawing/2014/main" id="{0BA68C7C-B236-4ADF-B979-58571619C19F}"/>
              </a:ext>
            </a:extLst>
          </p:cNvPr>
          <p:cNvSpPr>
            <a:spLocks noGrp="1"/>
          </p:cNvSpPr>
          <p:nvPr/>
        </p:nvSpPr>
        <p:spPr>
          <a:xfrm>
            <a:off x="381046" y="304515"/>
            <a:ext cx="2673540" cy="294193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0" b="0" i="0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Per-scalar distribution: each value is mapped to a 16-bin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0" b="0" i="0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probability distribution using a Gaussian and shared teacher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0" b="0" i="0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normalization statistics.</a:t>
            </a:r>
          </a:p>
        </p:txBody>
      </p:sp>
      <p:sp>
        <p:nvSpPr>
          <p:cNvPr id="9" name="diagram block">
            <a:extLst>
              <a:ext uri="{FF2B5EF4-FFF2-40B4-BE49-F238E27FC236}">
                <a16:creationId xmlns:a16="http://schemas.microsoft.com/office/drawing/2014/main" id="{09A4CEF5-52AB-4D12-9D12-5D02914DC34B}"/>
              </a:ext>
            </a:extLst>
          </p:cNvPr>
          <p:cNvSpPr>
            <a:spLocks noGrp="1"/>
          </p:cNvSpPr>
          <p:nvPr/>
        </p:nvSpPr>
        <p:spPr>
          <a:xfrm>
            <a:off x="3255875" y="278709"/>
            <a:ext cx="2632250" cy="314838"/>
          </a:xfrm>
          <a:prstGeom prst="roundRect">
            <a:avLst>
              <a:gd name="adj" fmla="val 8197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0E0F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0" name="Match neighbor distributions over 3-step action windows&#10;to preserve tempora">
            <a:extLst>
              <a:ext uri="{FF2B5EF4-FFF2-40B4-BE49-F238E27FC236}">
                <a16:creationId xmlns:a16="http://schemas.microsoft.com/office/drawing/2014/main" id="{BC68CFC1-28A6-4305-9B0D-3DB282E21878}"/>
              </a:ext>
            </a:extLst>
          </p:cNvPr>
          <p:cNvSpPr>
            <a:spLocks noGrp="1"/>
          </p:cNvSpPr>
          <p:nvPr/>
        </p:nvSpPr>
        <p:spPr>
          <a:xfrm>
            <a:off x="3281682" y="304515"/>
            <a:ext cx="2580637" cy="263225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0" b="0" i="0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Match neighbor distributions over 3-step action windows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0" b="0" i="0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to preserve temporal structure in the action sequence.</a:t>
            </a:r>
          </a:p>
        </p:txBody>
      </p:sp>
      <p:sp>
        <p:nvSpPr>
          <p:cNvPr id="11" name="diagram block">
            <a:extLst>
              <a:ext uri="{FF2B5EF4-FFF2-40B4-BE49-F238E27FC236}">
                <a16:creationId xmlns:a16="http://schemas.microsoft.com/office/drawing/2014/main" id="{6E8C742E-4189-41AE-B304-900CFA656241}"/>
              </a:ext>
            </a:extLst>
          </p:cNvPr>
          <p:cNvSpPr>
            <a:spLocks noGrp="1"/>
          </p:cNvSpPr>
          <p:nvPr/>
        </p:nvSpPr>
        <p:spPr>
          <a:xfrm>
            <a:off x="6073931" y="278709"/>
            <a:ext cx="2725153" cy="309676"/>
          </a:xfrm>
          <a:prstGeom prst="roundRect">
            <a:avLst>
              <a:gd name="adj" fmla="val 8333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0E0F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2" name="Match neighbor distributions over spatial and temporal neighbors&#10;in the lat">
            <a:extLst>
              <a:ext uri="{FF2B5EF4-FFF2-40B4-BE49-F238E27FC236}">
                <a16:creationId xmlns:a16="http://schemas.microsoft.com/office/drawing/2014/main" id="{8A7B29B1-7A30-4748-8812-5EF41B892670}"/>
              </a:ext>
            </a:extLst>
          </p:cNvPr>
          <p:cNvSpPr>
            <a:spLocks noGrp="1"/>
          </p:cNvSpPr>
          <p:nvPr/>
        </p:nvSpPr>
        <p:spPr>
          <a:xfrm>
            <a:off x="6099737" y="304515"/>
            <a:ext cx="2673540" cy="258064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0" b="0" i="0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Match neighbor distributions over spatial and temporal neighbors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0" b="0" i="0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in the latent maps to preserve spatiotemporal structure.</a:t>
            </a:r>
          </a:p>
        </p:txBody>
      </p:sp>
      <p:sp>
        <p:nvSpPr>
          <p:cNvPr id="13" name="diagram block">
            <a:extLst>
              <a:ext uri="{FF2B5EF4-FFF2-40B4-BE49-F238E27FC236}">
                <a16:creationId xmlns:a16="http://schemas.microsoft.com/office/drawing/2014/main" id="{8FD5DCA4-2AEF-4A40-ACA1-82863C73C74E}"/>
              </a:ext>
            </a:extLst>
          </p:cNvPr>
          <p:cNvSpPr>
            <a:spLocks noGrp="1"/>
          </p:cNvSpPr>
          <p:nvPr/>
        </p:nvSpPr>
        <p:spPr>
          <a:xfrm>
            <a:off x="391368" y="686449"/>
            <a:ext cx="1326447" cy="165161"/>
          </a:xfrm>
          <a:prstGeom prst="roundRect">
            <a:avLst>
              <a:gd name="adj" fmla="val 15625"/>
            </a:avLst>
          </a:prstGeom>
          <a:gradFill>
            <a:gsLst>
              <a:gs pos="0">
                <a:srgbClr val="D8F7EC"/>
              </a:gs>
              <a:gs pos="100000">
                <a:srgbClr val="EDFCF6"/>
              </a:gs>
            </a:gsLst>
            <a:lin ang="5400000"/>
          </a:gradFill>
          <a:ln w="5161">
            <a:solidFill>
              <a:srgbClr val="7FCAB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4" name="BF16 teacher scalar x">
            <a:extLst>
              <a:ext uri="{FF2B5EF4-FFF2-40B4-BE49-F238E27FC236}">
                <a16:creationId xmlns:a16="http://schemas.microsoft.com/office/drawing/2014/main" id="{5BA729CA-FF82-4B24-9A80-5291704D7150}"/>
              </a:ext>
            </a:extLst>
          </p:cNvPr>
          <p:cNvSpPr>
            <a:spLocks noGrp="1"/>
          </p:cNvSpPr>
          <p:nvPr/>
        </p:nvSpPr>
        <p:spPr>
          <a:xfrm>
            <a:off x="417174" y="712256"/>
            <a:ext cx="1274835" cy="113548"/>
          </a:xfrm>
          <a:prstGeom prst="rect">
            <a:avLst/>
          </a:prstGeom>
          <a:gradFill>
            <a:gsLst>
              <a:gs pos="0">
                <a:srgbClr val="D8F7EC"/>
              </a:gs>
              <a:gs pos="100000">
                <a:srgbClr val="EDFCF6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7346"/>
          </a:bodyPr>
          <a:lstStyle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BF16 teacher scalar x</a:t>
            </a:r>
          </a:p>
        </p:txBody>
      </p:sp>
      <p:sp>
        <p:nvSpPr>
          <p:cNvPr id="15" name="diagram block">
            <a:extLst>
              <a:ext uri="{FF2B5EF4-FFF2-40B4-BE49-F238E27FC236}">
                <a16:creationId xmlns:a16="http://schemas.microsoft.com/office/drawing/2014/main" id="{CCF249E6-3342-4EDF-8C75-6B63D931C8F6}"/>
              </a:ext>
            </a:extLst>
          </p:cNvPr>
          <p:cNvSpPr>
            <a:spLocks noGrp="1"/>
          </p:cNvSpPr>
          <p:nvPr/>
        </p:nvSpPr>
        <p:spPr>
          <a:xfrm>
            <a:off x="1815880" y="686449"/>
            <a:ext cx="1264512" cy="165161"/>
          </a:xfrm>
          <a:prstGeom prst="roundRect">
            <a:avLst>
              <a:gd name="adj" fmla="val 15625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8ABFF4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6" name="Quantized student scalar x̂">
            <a:extLst>
              <a:ext uri="{FF2B5EF4-FFF2-40B4-BE49-F238E27FC236}">
                <a16:creationId xmlns:a16="http://schemas.microsoft.com/office/drawing/2014/main" id="{DF2E92C2-450E-4AA5-AAD8-CB8AEC1C61AB}"/>
              </a:ext>
            </a:extLst>
          </p:cNvPr>
          <p:cNvSpPr>
            <a:spLocks noGrp="1"/>
          </p:cNvSpPr>
          <p:nvPr/>
        </p:nvSpPr>
        <p:spPr>
          <a:xfrm>
            <a:off x="1841686" y="712256"/>
            <a:ext cx="1212899" cy="113548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7346"/>
          </a:bodyPr>
          <a:lstStyle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Quantized student scalar x̂</a:t>
            </a:r>
          </a:p>
        </p:txBody>
      </p:sp>
      <p:sp>
        <p:nvSpPr>
          <p:cNvPr id="17" name="e.g., x = 1.24 (BF16)">
            <a:extLst>
              <a:ext uri="{FF2B5EF4-FFF2-40B4-BE49-F238E27FC236}">
                <a16:creationId xmlns:a16="http://schemas.microsoft.com/office/drawing/2014/main" id="{CA6F58A0-05BB-4EAD-B188-5E391CF33BB4}"/>
              </a:ext>
            </a:extLst>
          </p:cNvPr>
          <p:cNvSpPr>
            <a:spLocks noGrp="1"/>
          </p:cNvSpPr>
          <p:nvPr/>
        </p:nvSpPr>
        <p:spPr>
          <a:xfrm>
            <a:off x="535884" y="898062"/>
            <a:ext cx="1135480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e.g., x = 1.24 (BF16)</a:t>
            </a:r>
          </a:p>
        </p:txBody>
      </p:sp>
      <p:sp>
        <p:nvSpPr>
          <p:cNvPr id="18" name="e.g., x̂ = 1.08 (quantized)">
            <a:extLst>
              <a:ext uri="{FF2B5EF4-FFF2-40B4-BE49-F238E27FC236}">
                <a16:creationId xmlns:a16="http://schemas.microsoft.com/office/drawing/2014/main" id="{783CA72F-0756-47FF-BDA6-70E4FB300DBF}"/>
              </a:ext>
            </a:extLst>
          </p:cNvPr>
          <p:cNvSpPr>
            <a:spLocks noGrp="1"/>
          </p:cNvSpPr>
          <p:nvPr/>
        </p:nvSpPr>
        <p:spPr>
          <a:xfrm>
            <a:off x="1939750" y="898062"/>
            <a:ext cx="1140642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e.g., x̂ = 1.08 (quantized)</a:t>
            </a:r>
          </a:p>
        </p:txBody>
      </p:sp>
      <p:cxnSp>
        <p:nvCxnSpPr>
          <p:cNvPr id="19" name="native PowerPoint connector">
            <a:extLst>
              <a:ext uri="{FF2B5EF4-FFF2-40B4-BE49-F238E27FC236}">
                <a16:creationId xmlns:a16="http://schemas.microsoft.com/office/drawing/2014/main" id="{F06DD86C-519A-4D0C-8916-513F6B45C038}"/>
              </a:ext>
            </a:extLst>
          </p:cNvPr>
          <p:cNvCxnSpPr/>
          <p:nvPr/>
        </p:nvCxnSpPr>
        <p:spPr>
          <a:xfrm>
            <a:off x="1036527" y="1032255"/>
            <a:ext cx="0" cy="36129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0" name="native PowerPoint connector">
            <a:extLst>
              <a:ext uri="{FF2B5EF4-FFF2-40B4-BE49-F238E27FC236}">
                <a16:creationId xmlns:a16="http://schemas.microsoft.com/office/drawing/2014/main" id="{718E89C4-D6AD-4D32-AA5E-1D1BB44CEB0E}"/>
              </a:ext>
            </a:extLst>
          </p:cNvPr>
          <p:cNvCxnSpPr/>
          <p:nvPr/>
        </p:nvCxnSpPr>
        <p:spPr>
          <a:xfrm>
            <a:off x="2430071" y="1032255"/>
            <a:ext cx="0" cy="36129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1" name="diagram block">
            <a:extLst>
              <a:ext uri="{FF2B5EF4-FFF2-40B4-BE49-F238E27FC236}">
                <a16:creationId xmlns:a16="http://schemas.microsoft.com/office/drawing/2014/main" id="{66F8351D-9717-4CB6-8439-06450FB09190}"/>
              </a:ext>
            </a:extLst>
          </p:cNvPr>
          <p:cNvSpPr>
            <a:spLocks noGrp="1"/>
          </p:cNvSpPr>
          <p:nvPr/>
        </p:nvSpPr>
        <p:spPr>
          <a:xfrm>
            <a:off x="499755" y="1068384"/>
            <a:ext cx="2461928" cy="232257"/>
          </a:xfrm>
          <a:prstGeom prst="roundRect">
            <a:avLst>
              <a:gd name="adj" fmla="val 11111"/>
            </a:avLst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5161">
            <a:solidFill>
              <a:srgbClr val="FFABB9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" name="Shared frozen teacher statistics&#10;mean μ_c, scale s_c = max(σ_c, 0.02)">
            <a:extLst>
              <a:ext uri="{FF2B5EF4-FFF2-40B4-BE49-F238E27FC236}">
                <a16:creationId xmlns:a16="http://schemas.microsoft.com/office/drawing/2014/main" id="{108386D3-6F9D-4C9A-A382-97CF29545329}"/>
              </a:ext>
            </a:extLst>
          </p:cNvPr>
          <p:cNvSpPr>
            <a:spLocks noGrp="1"/>
          </p:cNvSpPr>
          <p:nvPr/>
        </p:nvSpPr>
        <p:spPr>
          <a:xfrm>
            <a:off x="525561" y="1094190"/>
            <a:ext cx="2410315" cy="180645"/>
          </a:xfrm>
          <a:prstGeom prst="rect">
            <a:avLst/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72899"/>
          </a:bodyPr>
          <a:lstStyle>
            <a:def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Shared frozen teacher statistics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mean μ</a:t>
            </a:r>
            <a:r>
              <a:rPr sz="593" b="0" i="0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, scale s</a:t>
            </a:r>
            <a:r>
              <a:rPr sz="593" b="0" i="0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= max(σ</a:t>
            </a:r>
            <a:r>
              <a:rPr sz="593" b="0" i="0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, 0.02)</a:t>
            </a:r>
          </a:p>
        </p:txBody>
      </p:sp>
      <p:cxnSp>
        <p:nvCxnSpPr>
          <p:cNvPr id="23" name="native PowerPoint connector">
            <a:extLst>
              <a:ext uri="{FF2B5EF4-FFF2-40B4-BE49-F238E27FC236}">
                <a16:creationId xmlns:a16="http://schemas.microsoft.com/office/drawing/2014/main" id="{308FC462-07ED-4801-A38E-1E5EBC4F4086}"/>
              </a:ext>
            </a:extLst>
          </p:cNvPr>
          <p:cNvCxnSpPr/>
          <p:nvPr/>
        </p:nvCxnSpPr>
        <p:spPr>
          <a:xfrm>
            <a:off x="1036527" y="1300641"/>
            <a:ext cx="0" cy="8258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4" name="native PowerPoint connector">
            <a:extLst>
              <a:ext uri="{FF2B5EF4-FFF2-40B4-BE49-F238E27FC236}">
                <a16:creationId xmlns:a16="http://schemas.microsoft.com/office/drawing/2014/main" id="{A297776A-9B8E-4D41-B6F1-C90570493E43}"/>
              </a:ext>
            </a:extLst>
          </p:cNvPr>
          <p:cNvCxnSpPr/>
          <p:nvPr/>
        </p:nvCxnSpPr>
        <p:spPr>
          <a:xfrm>
            <a:off x="2430071" y="1300641"/>
            <a:ext cx="0" cy="8258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5" name="z =">
            <a:extLst>
              <a:ext uri="{FF2B5EF4-FFF2-40B4-BE49-F238E27FC236}">
                <a16:creationId xmlns:a16="http://schemas.microsoft.com/office/drawing/2014/main" id="{D5E8A02B-FC4C-4F82-A41A-B4D97960FFE4}"/>
              </a:ext>
            </a:extLst>
          </p:cNvPr>
          <p:cNvSpPr>
            <a:spLocks noGrp="1"/>
          </p:cNvSpPr>
          <p:nvPr/>
        </p:nvSpPr>
        <p:spPr>
          <a:xfrm>
            <a:off x="742335" y="1429673"/>
            <a:ext cx="237419" cy="1651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791"/>
          </a:bodyPr>
          <a:lstStyle>
            <a:def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 =</a:t>
            </a:r>
          </a:p>
        </p:txBody>
      </p:sp>
      <p:sp>
        <p:nvSpPr>
          <p:cNvPr id="26" name="x − μ_c">
            <a:extLst>
              <a:ext uri="{FF2B5EF4-FFF2-40B4-BE49-F238E27FC236}">
                <a16:creationId xmlns:a16="http://schemas.microsoft.com/office/drawing/2014/main" id="{8A24D38A-E63B-4CF4-9DA5-A41DE1904D9A}"/>
              </a:ext>
            </a:extLst>
          </p:cNvPr>
          <p:cNvSpPr>
            <a:spLocks noGrp="1"/>
          </p:cNvSpPr>
          <p:nvPr/>
        </p:nvSpPr>
        <p:spPr>
          <a:xfrm>
            <a:off x="974592" y="1378060"/>
            <a:ext cx="381934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0000"/>
          </a:bodyPr>
          <a:lstStyle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x − μ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cxnSp>
        <p:nvCxnSpPr>
          <p:cNvPr id="27" name="native PowerPoint connector">
            <a:extLst>
              <a:ext uri="{FF2B5EF4-FFF2-40B4-BE49-F238E27FC236}">
                <a16:creationId xmlns:a16="http://schemas.microsoft.com/office/drawing/2014/main" id="{44402F4B-F6C4-4D1A-842B-97F85A00B941}"/>
              </a:ext>
            </a:extLst>
          </p:cNvPr>
          <p:cNvCxnSpPr/>
          <p:nvPr/>
        </p:nvCxnSpPr>
        <p:spPr>
          <a:xfrm>
            <a:off x="990076" y="1504511"/>
            <a:ext cx="350967" cy="0"/>
          </a:xfrm>
          <a:prstGeom prst="straightConnector1">
            <a:avLst/>
          </a:prstGeom>
          <a:ln w="5677">
            <a:solidFill>
              <a:srgbClr val="061A3C"/>
            </a:solidFill>
            <a:prstDash val="solid"/>
          </a:ln>
        </p:spPr>
      </p:cxnSp>
      <p:sp>
        <p:nvSpPr>
          <p:cNvPr id="28" name="s_c">
            <a:extLst>
              <a:ext uri="{FF2B5EF4-FFF2-40B4-BE49-F238E27FC236}">
                <a16:creationId xmlns:a16="http://schemas.microsoft.com/office/drawing/2014/main" id="{5D278703-91A7-4852-B22E-9932A475D12A}"/>
              </a:ext>
            </a:extLst>
          </p:cNvPr>
          <p:cNvSpPr>
            <a:spLocks noGrp="1"/>
          </p:cNvSpPr>
          <p:nvPr/>
        </p:nvSpPr>
        <p:spPr>
          <a:xfrm>
            <a:off x="974592" y="1512253"/>
            <a:ext cx="381934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0000"/>
          </a:bodyPr>
          <a:lstStyle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9" name="ẑ =">
            <a:extLst>
              <a:ext uri="{FF2B5EF4-FFF2-40B4-BE49-F238E27FC236}">
                <a16:creationId xmlns:a16="http://schemas.microsoft.com/office/drawing/2014/main" id="{57513BBE-1E74-4614-B98E-E1FF9E561E33}"/>
              </a:ext>
            </a:extLst>
          </p:cNvPr>
          <p:cNvSpPr>
            <a:spLocks noGrp="1"/>
          </p:cNvSpPr>
          <p:nvPr/>
        </p:nvSpPr>
        <p:spPr>
          <a:xfrm>
            <a:off x="2089427" y="1429673"/>
            <a:ext cx="242580" cy="1651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791"/>
          </a:bodyPr>
          <a:lstStyle>
            <a:def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ẑ =</a:t>
            </a:r>
          </a:p>
        </p:txBody>
      </p:sp>
      <p:sp>
        <p:nvSpPr>
          <p:cNvPr id="30" name="x̂ − μ_c">
            <a:extLst>
              <a:ext uri="{FF2B5EF4-FFF2-40B4-BE49-F238E27FC236}">
                <a16:creationId xmlns:a16="http://schemas.microsoft.com/office/drawing/2014/main" id="{3AA110B3-3F29-4D53-ADEF-235568F25371}"/>
              </a:ext>
            </a:extLst>
          </p:cNvPr>
          <p:cNvSpPr>
            <a:spLocks noGrp="1"/>
          </p:cNvSpPr>
          <p:nvPr/>
        </p:nvSpPr>
        <p:spPr>
          <a:xfrm>
            <a:off x="2332007" y="1378060"/>
            <a:ext cx="39741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0000"/>
          </a:bodyPr>
          <a:lstStyle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x̂ − μ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cxnSp>
        <p:nvCxnSpPr>
          <p:cNvPr id="31" name="native PowerPoint connector">
            <a:extLst>
              <a:ext uri="{FF2B5EF4-FFF2-40B4-BE49-F238E27FC236}">
                <a16:creationId xmlns:a16="http://schemas.microsoft.com/office/drawing/2014/main" id="{AE28A46F-E6EC-4F7C-990D-851097E0D391}"/>
              </a:ext>
            </a:extLst>
          </p:cNvPr>
          <p:cNvCxnSpPr/>
          <p:nvPr/>
        </p:nvCxnSpPr>
        <p:spPr>
          <a:xfrm>
            <a:off x="2347491" y="1504511"/>
            <a:ext cx="366450" cy="0"/>
          </a:xfrm>
          <a:prstGeom prst="straightConnector1">
            <a:avLst/>
          </a:prstGeom>
          <a:ln w="5677">
            <a:solidFill>
              <a:srgbClr val="061A3C"/>
            </a:solidFill>
            <a:prstDash val="solid"/>
          </a:ln>
        </p:spPr>
      </p:cxnSp>
      <p:sp>
        <p:nvSpPr>
          <p:cNvPr id="32" name="s_c">
            <a:extLst>
              <a:ext uri="{FF2B5EF4-FFF2-40B4-BE49-F238E27FC236}">
                <a16:creationId xmlns:a16="http://schemas.microsoft.com/office/drawing/2014/main" id="{A2CBEAD9-9F0D-44B4-A673-36DC10721240}"/>
              </a:ext>
            </a:extLst>
          </p:cNvPr>
          <p:cNvSpPr>
            <a:spLocks noGrp="1"/>
          </p:cNvSpPr>
          <p:nvPr/>
        </p:nvSpPr>
        <p:spPr>
          <a:xfrm>
            <a:off x="2332007" y="1512253"/>
            <a:ext cx="39741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0000"/>
          </a:bodyPr>
          <a:lstStyle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3" name="diagram block">
            <a:extLst>
              <a:ext uri="{FF2B5EF4-FFF2-40B4-BE49-F238E27FC236}">
                <a16:creationId xmlns:a16="http://schemas.microsoft.com/office/drawing/2014/main" id="{FA5F145C-EA26-4275-96FF-BEF76C175053}"/>
              </a:ext>
            </a:extLst>
          </p:cNvPr>
          <p:cNvSpPr>
            <a:spLocks noGrp="1"/>
          </p:cNvSpPr>
          <p:nvPr/>
        </p:nvSpPr>
        <p:spPr>
          <a:xfrm>
            <a:off x="391368" y="1641285"/>
            <a:ext cx="2621927" cy="810320"/>
          </a:xfrm>
          <a:prstGeom prst="roundRect">
            <a:avLst>
              <a:gd name="adj" fmla="val 3822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3DDF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4" name="Map each standardized scalar to 16 bins&#10;using a Gaussian with σ = 0.375 and">
            <a:extLst>
              <a:ext uri="{FF2B5EF4-FFF2-40B4-BE49-F238E27FC236}">
                <a16:creationId xmlns:a16="http://schemas.microsoft.com/office/drawing/2014/main" id="{1B951442-B460-4C26-AA95-EE3D0AB8D7A6}"/>
              </a:ext>
            </a:extLst>
          </p:cNvPr>
          <p:cNvSpPr>
            <a:spLocks noGrp="1"/>
          </p:cNvSpPr>
          <p:nvPr/>
        </p:nvSpPr>
        <p:spPr>
          <a:xfrm>
            <a:off x="442981" y="1698059"/>
            <a:ext cx="2518702" cy="21161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931"/>
          </a:bodyPr>
          <a:lstStyle>
            <a:def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Map each standardized scalar to 16 bins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using a Gaussian with σ = 0.375 and fixed edges.</a:t>
            </a:r>
          </a:p>
        </p:txBody>
      </p:sp>
      <p:sp>
        <p:nvSpPr>
          <p:cNvPr id="35" name="p_b(z) =">
            <a:extLst>
              <a:ext uri="{FF2B5EF4-FFF2-40B4-BE49-F238E27FC236}">
                <a16:creationId xmlns:a16="http://schemas.microsoft.com/office/drawing/2014/main" id="{E530E6C7-9C13-4CE9-9764-2B9A342E7FBC}"/>
              </a:ext>
            </a:extLst>
          </p:cNvPr>
          <p:cNvSpPr>
            <a:spLocks noGrp="1"/>
          </p:cNvSpPr>
          <p:nvPr/>
        </p:nvSpPr>
        <p:spPr>
          <a:xfrm>
            <a:off x="566851" y="1976768"/>
            <a:ext cx="541934" cy="159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325"/>
          </a:bodyPr>
          <a:lstStyle>
            <a:def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</a:t>
            </a:r>
            <a:r>
              <a:rPr sz="77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(z) =</a:t>
            </a:r>
          </a:p>
        </p:txBody>
      </p:sp>
      <p:sp>
        <p:nvSpPr>
          <p:cNvPr id="36" name="∫">
            <a:extLst>
              <a:ext uri="{FF2B5EF4-FFF2-40B4-BE49-F238E27FC236}">
                <a16:creationId xmlns:a16="http://schemas.microsoft.com/office/drawing/2014/main" id="{48B6A452-AE0B-4253-82BD-F2CB99C969C4}"/>
              </a:ext>
            </a:extLst>
          </p:cNvPr>
          <p:cNvSpPr>
            <a:spLocks noGrp="1"/>
          </p:cNvSpPr>
          <p:nvPr/>
        </p:nvSpPr>
        <p:spPr>
          <a:xfrm>
            <a:off x="1144914" y="1914833"/>
            <a:ext cx="159999" cy="26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∫</a:t>
            </a:r>
          </a:p>
        </p:txBody>
      </p:sp>
      <p:sp>
        <p:nvSpPr>
          <p:cNvPr id="37" name="e_{b+1}">
            <a:extLst>
              <a:ext uri="{FF2B5EF4-FFF2-40B4-BE49-F238E27FC236}">
                <a16:creationId xmlns:a16="http://schemas.microsoft.com/office/drawing/2014/main" id="{49FD5888-9E21-4320-A5F2-F946B7CFF366}"/>
              </a:ext>
            </a:extLst>
          </p:cNvPr>
          <p:cNvSpPr>
            <a:spLocks noGrp="1"/>
          </p:cNvSpPr>
          <p:nvPr/>
        </p:nvSpPr>
        <p:spPr>
          <a:xfrm>
            <a:off x="1299752" y="1904510"/>
            <a:ext cx="27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534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b+1</a:t>
            </a:r>
          </a:p>
        </p:txBody>
      </p:sp>
      <p:sp>
        <p:nvSpPr>
          <p:cNvPr id="38" name="e_b">
            <a:extLst>
              <a:ext uri="{FF2B5EF4-FFF2-40B4-BE49-F238E27FC236}">
                <a16:creationId xmlns:a16="http://schemas.microsoft.com/office/drawing/2014/main" id="{4DBD1B95-1B11-4D94-AC18-994739234B21}"/>
              </a:ext>
            </a:extLst>
          </p:cNvPr>
          <p:cNvSpPr>
            <a:spLocks noGrp="1"/>
          </p:cNvSpPr>
          <p:nvPr/>
        </p:nvSpPr>
        <p:spPr>
          <a:xfrm>
            <a:off x="1299752" y="2121284"/>
            <a:ext cx="232257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531"/>
          </a:bodyPr>
          <a:lstStyle>
            <a:def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534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9" name="N(t; z, 0.375²) dt">
            <a:extLst>
              <a:ext uri="{FF2B5EF4-FFF2-40B4-BE49-F238E27FC236}">
                <a16:creationId xmlns:a16="http://schemas.microsoft.com/office/drawing/2014/main" id="{5F0310C9-48ED-4930-9146-DF71E58C0C44}"/>
              </a:ext>
            </a:extLst>
          </p:cNvPr>
          <p:cNvSpPr>
            <a:spLocks noGrp="1"/>
          </p:cNvSpPr>
          <p:nvPr/>
        </p:nvSpPr>
        <p:spPr>
          <a:xfrm>
            <a:off x="1568139" y="1976768"/>
            <a:ext cx="1347092" cy="17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1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N(t; z, 0.375²) dt</a:t>
            </a:r>
          </a:p>
        </p:txBody>
      </p:sp>
      <p:sp>
        <p:nvSpPr>
          <p:cNvPr id="40" name="15 interior edges from −3.5 to 3.5, plus two infinite tails">
            <a:extLst>
              <a:ext uri="{FF2B5EF4-FFF2-40B4-BE49-F238E27FC236}">
                <a16:creationId xmlns:a16="http://schemas.microsoft.com/office/drawing/2014/main" id="{4003E1FB-BE66-43AD-9DB6-A6B1CFBD633A}"/>
              </a:ext>
            </a:extLst>
          </p:cNvPr>
          <p:cNvSpPr>
            <a:spLocks noGrp="1"/>
          </p:cNvSpPr>
          <p:nvPr/>
        </p:nvSpPr>
        <p:spPr>
          <a:xfrm>
            <a:off x="442981" y="2245154"/>
            <a:ext cx="2518702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15 interior edges from −3.5 to 3.5, plus two infinite tails</a:t>
            </a:r>
          </a:p>
        </p:txBody>
      </p:sp>
      <p:sp>
        <p:nvSpPr>
          <p:cNvPr id="41" name="e = [−∞, −3.5, −3.0, …, 3.0, 3.5, +∞]">
            <a:extLst>
              <a:ext uri="{FF2B5EF4-FFF2-40B4-BE49-F238E27FC236}">
                <a16:creationId xmlns:a16="http://schemas.microsoft.com/office/drawing/2014/main" id="{94D2A3ED-AE6D-47C7-B40B-AF7BA7C4C1FF}"/>
              </a:ext>
            </a:extLst>
          </p:cNvPr>
          <p:cNvSpPr>
            <a:spLocks noGrp="1"/>
          </p:cNvSpPr>
          <p:nvPr/>
        </p:nvSpPr>
        <p:spPr>
          <a:xfrm>
            <a:off x="437820" y="2348380"/>
            <a:ext cx="2534185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531"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 = [−∞, −3.5, −3.0, …, 3.0, 3.5, +∞]</a:t>
            </a:r>
          </a:p>
        </p:txBody>
      </p:sp>
      <p:sp>
        <p:nvSpPr>
          <p:cNvPr id="42" name="diagram block">
            <a:extLst>
              <a:ext uri="{FF2B5EF4-FFF2-40B4-BE49-F238E27FC236}">
                <a16:creationId xmlns:a16="http://schemas.microsoft.com/office/drawing/2014/main" id="{835FC11F-DC8B-444C-8B4D-0A2853479EC4}"/>
              </a:ext>
            </a:extLst>
          </p:cNvPr>
          <p:cNvSpPr>
            <a:spLocks noGrp="1"/>
          </p:cNvSpPr>
          <p:nvPr/>
        </p:nvSpPr>
        <p:spPr>
          <a:xfrm>
            <a:off x="499755" y="2487734"/>
            <a:ext cx="1176770" cy="154838"/>
          </a:xfrm>
          <a:prstGeom prst="roundRect">
            <a:avLst>
              <a:gd name="adj" fmla="val 13333"/>
            </a:avLst>
          </a:prstGeom>
          <a:gradFill>
            <a:gsLst>
              <a:gs pos="0">
                <a:srgbClr val="D8F7EC"/>
              </a:gs>
              <a:gs pos="100000">
                <a:srgbClr val="F4FCF8"/>
              </a:gs>
            </a:gsLst>
            <a:lin ang="5400000"/>
          </a:gradFill>
          <a:ln w="5161">
            <a:solidFill>
              <a:srgbClr val="87CFBA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" name="Teacher scalar distribution">
            <a:extLst>
              <a:ext uri="{FF2B5EF4-FFF2-40B4-BE49-F238E27FC236}">
                <a16:creationId xmlns:a16="http://schemas.microsoft.com/office/drawing/2014/main" id="{6724CEF0-5D69-4125-96B6-BB004C45EB64}"/>
              </a:ext>
            </a:extLst>
          </p:cNvPr>
          <p:cNvSpPr>
            <a:spLocks noGrp="1"/>
          </p:cNvSpPr>
          <p:nvPr/>
        </p:nvSpPr>
        <p:spPr>
          <a:xfrm>
            <a:off x="525561" y="2513540"/>
            <a:ext cx="1125158" cy="103225"/>
          </a:xfrm>
          <a:prstGeom prst="rect">
            <a:avLst/>
          </a:prstGeom>
          <a:gradFill>
            <a:gsLst>
              <a:gs pos="0">
                <a:srgbClr val="D8F7EC"/>
              </a:gs>
              <a:gs pos="100000">
                <a:srgbClr val="F4FCF8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3312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Teacher scalar distribution</a:t>
            </a:r>
          </a:p>
        </p:txBody>
      </p:sp>
      <p:sp>
        <p:nvSpPr>
          <p:cNvPr id="44" name="diagram block">
            <a:extLst>
              <a:ext uri="{FF2B5EF4-FFF2-40B4-BE49-F238E27FC236}">
                <a16:creationId xmlns:a16="http://schemas.microsoft.com/office/drawing/2014/main" id="{0F22A642-4B9C-47DE-B271-BA5913738603}"/>
              </a:ext>
            </a:extLst>
          </p:cNvPr>
          <p:cNvSpPr>
            <a:spLocks noGrp="1"/>
          </p:cNvSpPr>
          <p:nvPr/>
        </p:nvSpPr>
        <p:spPr>
          <a:xfrm>
            <a:off x="1908783" y="2487734"/>
            <a:ext cx="1176770" cy="154838"/>
          </a:xfrm>
          <a:prstGeom prst="roundRect">
            <a:avLst>
              <a:gd name="adj" fmla="val 13333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8ABFF4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" name="Student scalar distribution">
            <a:extLst>
              <a:ext uri="{FF2B5EF4-FFF2-40B4-BE49-F238E27FC236}">
                <a16:creationId xmlns:a16="http://schemas.microsoft.com/office/drawing/2014/main" id="{38B55C40-DDF3-41F3-8B95-D52F30FFF387}"/>
              </a:ext>
            </a:extLst>
          </p:cNvPr>
          <p:cNvSpPr>
            <a:spLocks noGrp="1"/>
          </p:cNvSpPr>
          <p:nvPr/>
        </p:nvSpPr>
        <p:spPr>
          <a:xfrm>
            <a:off x="1934589" y="2513540"/>
            <a:ext cx="1125158" cy="103225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3312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Student scalar distribution</a:t>
            </a:r>
          </a:p>
        </p:txBody>
      </p:sp>
      <p:sp>
        <p:nvSpPr>
          <p:cNvPr id="46" name="diagram block">
            <a:extLst>
              <a:ext uri="{FF2B5EF4-FFF2-40B4-BE49-F238E27FC236}">
                <a16:creationId xmlns:a16="http://schemas.microsoft.com/office/drawing/2014/main" id="{52E62871-AFF6-4AAB-822F-D9B8E181EDB8}"/>
              </a:ext>
            </a:extLst>
          </p:cNvPr>
          <p:cNvSpPr>
            <a:spLocks noGrp="1"/>
          </p:cNvSpPr>
          <p:nvPr/>
        </p:nvSpPr>
        <p:spPr>
          <a:xfrm>
            <a:off x="602980" y="2725153"/>
            <a:ext cx="1042577" cy="438708"/>
          </a:xfrm>
          <a:prstGeom prst="rect">
            <a:avLst/>
          </a:prstGeom>
          <a:solidFill>
            <a:srgbClr val="FFFFFF"/>
          </a:solidFill>
          <a:ln w="4129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47" name="native PowerPoint connector">
            <a:extLst>
              <a:ext uri="{FF2B5EF4-FFF2-40B4-BE49-F238E27FC236}">
                <a16:creationId xmlns:a16="http://schemas.microsoft.com/office/drawing/2014/main" id="{ADD07C51-BEEE-4FF2-9493-813579704D18}"/>
              </a:ext>
            </a:extLst>
          </p:cNvPr>
          <p:cNvCxnSpPr/>
          <p:nvPr/>
        </p:nvCxnSpPr>
        <p:spPr>
          <a:xfrm>
            <a:off x="602980" y="3017625"/>
            <a:ext cx="1042577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48" name="0.1">
            <a:extLst>
              <a:ext uri="{FF2B5EF4-FFF2-40B4-BE49-F238E27FC236}">
                <a16:creationId xmlns:a16="http://schemas.microsoft.com/office/drawing/2014/main" id="{293A8C9E-0EE8-45EE-8215-6E798C30A60F}"/>
              </a:ext>
            </a:extLst>
          </p:cNvPr>
          <p:cNvSpPr>
            <a:spLocks noGrp="1"/>
          </p:cNvSpPr>
          <p:nvPr/>
        </p:nvSpPr>
        <p:spPr>
          <a:xfrm>
            <a:off x="427497" y="2971173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0.1</a:t>
            </a:r>
          </a:p>
        </p:txBody>
      </p:sp>
      <p:cxnSp>
        <p:nvCxnSpPr>
          <p:cNvPr id="49" name="native PowerPoint connector">
            <a:extLst>
              <a:ext uri="{FF2B5EF4-FFF2-40B4-BE49-F238E27FC236}">
                <a16:creationId xmlns:a16="http://schemas.microsoft.com/office/drawing/2014/main" id="{D4584FC0-7DBC-4F0C-9D10-87BF1239F5C9}"/>
              </a:ext>
            </a:extLst>
          </p:cNvPr>
          <p:cNvCxnSpPr/>
          <p:nvPr/>
        </p:nvCxnSpPr>
        <p:spPr>
          <a:xfrm>
            <a:off x="602980" y="2871389"/>
            <a:ext cx="1042577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50" name="0.2">
            <a:extLst>
              <a:ext uri="{FF2B5EF4-FFF2-40B4-BE49-F238E27FC236}">
                <a16:creationId xmlns:a16="http://schemas.microsoft.com/office/drawing/2014/main" id="{1C55B5F0-CEDB-47CD-B44B-DBBB086D47ED}"/>
              </a:ext>
            </a:extLst>
          </p:cNvPr>
          <p:cNvSpPr>
            <a:spLocks noGrp="1"/>
          </p:cNvSpPr>
          <p:nvPr/>
        </p:nvSpPr>
        <p:spPr>
          <a:xfrm>
            <a:off x="427497" y="2824937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0.2</a:t>
            </a:r>
          </a:p>
        </p:txBody>
      </p:sp>
      <p:cxnSp>
        <p:nvCxnSpPr>
          <p:cNvPr id="51" name="native PowerPoint connector">
            <a:extLst>
              <a:ext uri="{FF2B5EF4-FFF2-40B4-BE49-F238E27FC236}">
                <a16:creationId xmlns:a16="http://schemas.microsoft.com/office/drawing/2014/main" id="{65E33AD5-AD65-427E-814A-89B78E5139BE}"/>
              </a:ext>
            </a:extLst>
          </p:cNvPr>
          <p:cNvCxnSpPr/>
          <p:nvPr/>
        </p:nvCxnSpPr>
        <p:spPr>
          <a:xfrm>
            <a:off x="602980" y="2725153"/>
            <a:ext cx="1042577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52" name="0.3">
            <a:extLst>
              <a:ext uri="{FF2B5EF4-FFF2-40B4-BE49-F238E27FC236}">
                <a16:creationId xmlns:a16="http://schemas.microsoft.com/office/drawing/2014/main" id="{D508401C-7133-479F-BA07-3EE7CC47EA25}"/>
              </a:ext>
            </a:extLst>
          </p:cNvPr>
          <p:cNvSpPr>
            <a:spLocks noGrp="1"/>
          </p:cNvSpPr>
          <p:nvPr/>
        </p:nvSpPr>
        <p:spPr>
          <a:xfrm>
            <a:off x="427497" y="2678701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cxnSp>
        <p:nvCxnSpPr>
          <p:cNvPr id="53" name="native PowerPoint connector">
            <a:extLst>
              <a:ext uri="{FF2B5EF4-FFF2-40B4-BE49-F238E27FC236}">
                <a16:creationId xmlns:a16="http://schemas.microsoft.com/office/drawing/2014/main" id="{8F032BF3-1275-43EB-B3EC-742EBF81BF18}"/>
              </a:ext>
            </a:extLst>
          </p:cNvPr>
          <p:cNvCxnSpPr/>
          <p:nvPr/>
        </p:nvCxnSpPr>
        <p:spPr>
          <a:xfrm>
            <a:off x="602980" y="2725153"/>
            <a:ext cx="0" cy="438708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54" name="native PowerPoint connector">
            <a:extLst>
              <a:ext uri="{FF2B5EF4-FFF2-40B4-BE49-F238E27FC236}">
                <a16:creationId xmlns:a16="http://schemas.microsoft.com/office/drawing/2014/main" id="{A98689B9-90F5-4E89-9A82-C5143F8A6E96}"/>
              </a:ext>
            </a:extLst>
          </p:cNvPr>
          <p:cNvCxnSpPr/>
          <p:nvPr/>
        </p:nvCxnSpPr>
        <p:spPr>
          <a:xfrm>
            <a:off x="602980" y="3163861"/>
            <a:ext cx="1042577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55" name="0.0">
            <a:extLst>
              <a:ext uri="{FF2B5EF4-FFF2-40B4-BE49-F238E27FC236}">
                <a16:creationId xmlns:a16="http://schemas.microsoft.com/office/drawing/2014/main" id="{931EA1FF-634E-4EB0-B960-E6A995F28A05}"/>
              </a:ext>
            </a:extLst>
          </p:cNvPr>
          <p:cNvSpPr>
            <a:spLocks noGrp="1"/>
          </p:cNvSpPr>
          <p:nvPr/>
        </p:nvSpPr>
        <p:spPr>
          <a:xfrm>
            <a:off x="427497" y="3117409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0.0</a:t>
            </a:r>
          </a:p>
        </p:txBody>
      </p:sp>
      <p:sp>
        <p:nvSpPr>
          <p:cNvPr id="56" name="diagram block">
            <a:extLst>
              <a:ext uri="{FF2B5EF4-FFF2-40B4-BE49-F238E27FC236}">
                <a16:creationId xmlns:a16="http://schemas.microsoft.com/office/drawing/2014/main" id="{D1782DCB-DFCE-4A39-8A05-5887D79567AE}"/>
              </a:ext>
            </a:extLst>
          </p:cNvPr>
          <p:cNvSpPr>
            <a:spLocks noGrp="1"/>
          </p:cNvSpPr>
          <p:nvPr/>
        </p:nvSpPr>
        <p:spPr>
          <a:xfrm>
            <a:off x="610722" y="3161229"/>
            <a:ext cx="49677" cy="2632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57" name="native PowerPoint connector">
            <a:extLst>
              <a:ext uri="{FF2B5EF4-FFF2-40B4-BE49-F238E27FC236}">
                <a16:creationId xmlns:a16="http://schemas.microsoft.com/office/drawing/2014/main" id="{B7208CCF-CC52-44A6-B379-5C9586502995}"/>
              </a:ext>
            </a:extLst>
          </p:cNvPr>
          <p:cNvCxnSpPr/>
          <p:nvPr/>
        </p:nvCxnSpPr>
        <p:spPr>
          <a:xfrm>
            <a:off x="635561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58" name="diagram block">
            <a:extLst>
              <a:ext uri="{FF2B5EF4-FFF2-40B4-BE49-F238E27FC236}">
                <a16:creationId xmlns:a16="http://schemas.microsoft.com/office/drawing/2014/main" id="{02415AD1-A584-4814-97EF-462B130CA1DE}"/>
              </a:ext>
            </a:extLst>
          </p:cNvPr>
          <p:cNvSpPr>
            <a:spLocks noGrp="1"/>
          </p:cNvSpPr>
          <p:nvPr/>
        </p:nvSpPr>
        <p:spPr>
          <a:xfrm>
            <a:off x="675883" y="3158158"/>
            <a:ext cx="49677" cy="570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59" name="native PowerPoint connector">
            <a:extLst>
              <a:ext uri="{FF2B5EF4-FFF2-40B4-BE49-F238E27FC236}">
                <a16:creationId xmlns:a16="http://schemas.microsoft.com/office/drawing/2014/main" id="{CC523B8F-ED77-49D9-815C-72CF560BB853}"/>
              </a:ext>
            </a:extLst>
          </p:cNvPr>
          <p:cNvCxnSpPr/>
          <p:nvPr/>
        </p:nvCxnSpPr>
        <p:spPr>
          <a:xfrm>
            <a:off x="700722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60" name="diagram block">
            <a:extLst>
              <a:ext uri="{FF2B5EF4-FFF2-40B4-BE49-F238E27FC236}">
                <a16:creationId xmlns:a16="http://schemas.microsoft.com/office/drawing/2014/main" id="{8BBCB1D0-937D-478B-89B1-6EB95DF097CF}"/>
              </a:ext>
            </a:extLst>
          </p:cNvPr>
          <p:cNvSpPr>
            <a:spLocks noGrp="1"/>
          </p:cNvSpPr>
          <p:nvPr/>
        </p:nvSpPr>
        <p:spPr>
          <a:xfrm>
            <a:off x="741044" y="3151577"/>
            <a:ext cx="49677" cy="12284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61" name="native PowerPoint connector">
            <a:extLst>
              <a:ext uri="{FF2B5EF4-FFF2-40B4-BE49-F238E27FC236}">
                <a16:creationId xmlns:a16="http://schemas.microsoft.com/office/drawing/2014/main" id="{23C84CC5-3CE1-40A9-B5B3-C3C1140080B7}"/>
              </a:ext>
            </a:extLst>
          </p:cNvPr>
          <p:cNvCxnSpPr/>
          <p:nvPr/>
        </p:nvCxnSpPr>
        <p:spPr>
          <a:xfrm>
            <a:off x="765883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62" name="diagram block">
            <a:extLst>
              <a:ext uri="{FF2B5EF4-FFF2-40B4-BE49-F238E27FC236}">
                <a16:creationId xmlns:a16="http://schemas.microsoft.com/office/drawing/2014/main" id="{57E67A68-127F-464B-9D80-78AA339B0C21}"/>
              </a:ext>
            </a:extLst>
          </p:cNvPr>
          <p:cNvSpPr>
            <a:spLocks noGrp="1"/>
          </p:cNvSpPr>
          <p:nvPr/>
        </p:nvSpPr>
        <p:spPr>
          <a:xfrm>
            <a:off x="806206" y="3139732"/>
            <a:ext cx="49677" cy="24129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63" name="native PowerPoint connector">
            <a:extLst>
              <a:ext uri="{FF2B5EF4-FFF2-40B4-BE49-F238E27FC236}">
                <a16:creationId xmlns:a16="http://schemas.microsoft.com/office/drawing/2014/main" id="{9ACD3FED-9E7A-4B3C-869A-CF8376174B90}"/>
              </a:ext>
            </a:extLst>
          </p:cNvPr>
          <p:cNvCxnSpPr/>
          <p:nvPr/>
        </p:nvCxnSpPr>
        <p:spPr>
          <a:xfrm>
            <a:off x="831044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64" name="diagram block">
            <a:extLst>
              <a:ext uri="{FF2B5EF4-FFF2-40B4-BE49-F238E27FC236}">
                <a16:creationId xmlns:a16="http://schemas.microsoft.com/office/drawing/2014/main" id="{C9F7D3E5-D9B4-401E-9F9C-56DF5AC1B491}"/>
              </a:ext>
            </a:extLst>
          </p:cNvPr>
          <p:cNvSpPr>
            <a:spLocks noGrp="1"/>
          </p:cNvSpPr>
          <p:nvPr/>
        </p:nvSpPr>
        <p:spPr>
          <a:xfrm>
            <a:off x="871367" y="3119990"/>
            <a:ext cx="49677" cy="43871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65" name="native PowerPoint connector">
            <a:extLst>
              <a:ext uri="{FF2B5EF4-FFF2-40B4-BE49-F238E27FC236}">
                <a16:creationId xmlns:a16="http://schemas.microsoft.com/office/drawing/2014/main" id="{4AD13234-D4A5-48CE-9C49-770F8EF17525}"/>
              </a:ext>
            </a:extLst>
          </p:cNvPr>
          <p:cNvCxnSpPr/>
          <p:nvPr/>
        </p:nvCxnSpPr>
        <p:spPr>
          <a:xfrm>
            <a:off x="896205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66" name="diagram block">
            <a:extLst>
              <a:ext uri="{FF2B5EF4-FFF2-40B4-BE49-F238E27FC236}">
                <a16:creationId xmlns:a16="http://schemas.microsoft.com/office/drawing/2014/main" id="{7BE6B2BB-355F-46D5-904D-8C617337E37A}"/>
              </a:ext>
            </a:extLst>
          </p:cNvPr>
          <p:cNvSpPr>
            <a:spLocks noGrp="1"/>
          </p:cNvSpPr>
          <p:nvPr/>
        </p:nvSpPr>
        <p:spPr>
          <a:xfrm>
            <a:off x="936528" y="3093668"/>
            <a:ext cx="49677" cy="7019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67" name="native PowerPoint connector">
            <a:extLst>
              <a:ext uri="{FF2B5EF4-FFF2-40B4-BE49-F238E27FC236}">
                <a16:creationId xmlns:a16="http://schemas.microsoft.com/office/drawing/2014/main" id="{1613A1A3-BDD8-42E1-AC85-1C3615EDF451}"/>
              </a:ext>
            </a:extLst>
          </p:cNvPr>
          <p:cNvCxnSpPr/>
          <p:nvPr/>
        </p:nvCxnSpPr>
        <p:spPr>
          <a:xfrm>
            <a:off x="961366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68" name="diagram block">
            <a:extLst>
              <a:ext uri="{FF2B5EF4-FFF2-40B4-BE49-F238E27FC236}">
                <a16:creationId xmlns:a16="http://schemas.microsoft.com/office/drawing/2014/main" id="{0D3BFAA6-26E6-4DA9-9EAF-34FEA436CD8F}"/>
              </a:ext>
            </a:extLst>
          </p:cNvPr>
          <p:cNvSpPr>
            <a:spLocks noGrp="1"/>
          </p:cNvSpPr>
          <p:nvPr/>
        </p:nvSpPr>
        <p:spPr>
          <a:xfrm>
            <a:off x="1001689" y="3041023"/>
            <a:ext cx="49677" cy="122838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69" name="native PowerPoint connector">
            <a:extLst>
              <a:ext uri="{FF2B5EF4-FFF2-40B4-BE49-F238E27FC236}">
                <a16:creationId xmlns:a16="http://schemas.microsoft.com/office/drawing/2014/main" id="{EA6F19F7-CE3F-4C6B-AB23-CFC16A6A05F2}"/>
              </a:ext>
            </a:extLst>
          </p:cNvPr>
          <p:cNvCxnSpPr/>
          <p:nvPr/>
        </p:nvCxnSpPr>
        <p:spPr>
          <a:xfrm>
            <a:off x="1026527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70" name="diagram block">
            <a:extLst>
              <a:ext uri="{FF2B5EF4-FFF2-40B4-BE49-F238E27FC236}">
                <a16:creationId xmlns:a16="http://schemas.microsoft.com/office/drawing/2014/main" id="{A01C1AA7-EFC3-4805-9DB6-2241DEB168FF}"/>
              </a:ext>
            </a:extLst>
          </p:cNvPr>
          <p:cNvSpPr>
            <a:spLocks noGrp="1"/>
          </p:cNvSpPr>
          <p:nvPr/>
        </p:nvSpPr>
        <p:spPr>
          <a:xfrm>
            <a:off x="1066850" y="2957668"/>
            <a:ext cx="49677" cy="20619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71" name="native PowerPoint connector">
            <a:extLst>
              <a:ext uri="{FF2B5EF4-FFF2-40B4-BE49-F238E27FC236}">
                <a16:creationId xmlns:a16="http://schemas.microsoft.com/office/drawing/2014/main" id="{A9E64A70-4CB4-4B53-B6EF-B684AEC960F5}"/>
              </a:ext>
            </a:extLst>
          </p:cNvPr>
          <p:cNvCxnSpPr/>
          <p:nvPr/>
        </p:nvCxnSpPr>
        <p:spPr>
          <a:xfrm>
            <a:off x="1091688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72" name="diagram block">
            <a:extLst>
              <a:ext uri="{FF2B5EF4-FFF2-40B4-BE49-F238E27FC236}">
                <a16:creationId xmlns:a16="http://schemas.microsoft.com/office/drawing/2014/main" id="{1D05F244-92A3-4B3B-A7DB-226049462045}"/>
              </a:ext>
            </a:extLst>
          </p:cNvPr>
          <p:cNvSpPr>
            <a:spLocks noGrp="1"/>
          </p:cNvSpPr>
          <p:nvPr/>
        </p:nvSpPr>
        <p:spPr>
          <a:xfrm>
            <a:off x="1132011" y="2856765"/>
            <a:ext cx="49677" cy="307096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73" name="native PowerPoint connector">
            <a:extLst>
              <a:ext uri="{FF2B5EF4-FFF2-40B4-BE49-F238E27FC236}">
                <a16:creationId xmlns:a16="http://schemas.microsoft.com/office/drawing/2014/main" id="{81E82338-7632-4987-B95E-FE4415554681}"/>
              </a:ext>
            </a:extLst>
          </p:cNvPr>
          <p:cNvCxnSpPr/>
          <p:nvPr/>
        </p:nvCxnSpPr>
        <p:spPr>
          <a:xfrm>
            <a:off x="1156850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74" name="diagram block">
            <a:extLst>
              <a:ext uri="{FF2B5EF4-FFF2-40B4-BE49-F238E27FC236}">
                <a16:creationId xmlns:a16="http://schemas.microsoft.com/office/drawing/2014/main" id="{A89FBEBF-9DF1-422B-9B90-1AEB459EBFF0}"/>
              </a:ext>
            </a:extLst>
          </p:cNvPr>
          <p:cNvSpPr>
            <a:spLocks noGrp="1"/>
          </p:cNvSpPr>
          <p:nvPr/>
        </p:nvSpPr>
        <p:spPr>
          <a:xfrm>
            <a:off x="1197172" y="2773411"/>
            <a:ext cx="49677" cy="390450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75" name="native PowerPoint connector">
            <a:extLst>
              <a:ext uri="{FF2B5EF4-FFF2-40B4-BE49-F238E27FC236}">
                <a16:creationId xmlns:a16="http://schemas.microsoft.com/office/drawing/2014/main" id="{2BC65C08-26C7-4267-8EB8-77C851B45985}"/>
              </a:ext>
            </a:extLst>
          </p:cNvPr>
          <p:cNvCxnSpPr/>
          <p:nvPr/>
        </p:nvCxnSpPr>
        <p:spPr>
          <a:xfrm>
            <a:off x="1222011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76" name="diagram block">
            <a:extLst>
              <a:ext uri="{FF2B5EF4-FFF2-40B4-BE49-F238E27FC236}">
                <a16:creationId xmlns:a16="http://schemas.microsoft.com/office/drawing/2014/main" id="{BB64617C-4540-4130-A06B-308C5F44115E}"/>
              </a:ext>
            </a:extLst>
          </p:cNvPr>
          <p:cNvSpPr>
            <a:spLocks noGrp="1"/>
          </p:cNvSpPr>
          <p:nvPr/>
        </p:nvSpPr>
        <p:spPr>
          <a:xfrm>
            <a:off x="1262333" y="2826056"/>
            <a:ext cx="49677" cy="337805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77" name="native PowerPoint connector">
            <a:extLst>
              <a:ext uri="{FF2B5EF4-FFF2-40B4-BE49-F238E27FC236}">
                <a16:creationId xmlns:a16="http://schemas.microsoft.com/office/drawing/2014/main" id="{03359042-DFE6-4A83-AC4B-93A3138AD330}"/>
              </a:ext>
            </a:extLst>
          </p:cNvPr>
          <p:cNvCxnSpPr/>
          <p:nvPr/>
        </p:nvCxnSpPr>
        <p:spPr>
          <a:xfrm>
            <a:off x="1287172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78" name="diagram block">
            <a:extLst>
              <a:ext uri="{FF2B5EF4-FFF2-40B4-BE49-F238E27FC236}">
                <a16:creationId xmlns:a16="http://schemas.microsoft.com/office/drawing/2014/main" id="{C555442A-3EFA-4890-BE13-D3ADBB00994A}"/>
              </a:ext>
            </a:extLst>
          </p:cNvPr>
          <p:cNvSpPr>
            <a:spLocks noGrp="1"/>
          </p:cNvSpPr>
          <p:nvPr/>
        </p:nvSpPr>
        <p:spPr>
          <a:xfrm>
            <a:off x="1327494" y="2957668"/>
            <a:ext cx="49677" cy="20619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79" name="native PowerPoint connector">
            <a:extLst>
              <a:ext uri="{FF2B5EF4-FFF2-40B4-BE49-F238E27FC236}">
                <a16:creationId xmlns:a16="http://schemas.microsoft.com/office/drawing/2014/main" id="{0AE2A7F1-A010-47A2-A910-5CFE5C5AD11A}"/>
              </a:ext>
            </a:extLst>
          </p:cNvPr>
          <p:cNvCxnSpPr/>
          <p:nvPr/>
        </p:nvCxnSpPr>
        <p:spPr>
          <a:xfrm>
            <a:off x="1352333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80" name="diagram block">
            <a:extLst>
              <a:ext uri="{FF2B5EF4-FFF2-40B4-BE49-F238E27FC236}">
                <a16:creationId xmlns:a16="http://schemas.microsoft.com/office/drawing/2014/main" id="{62A279DE-416E-4DC7-9DBD-1D665634D3D3}"/>
              </a:ext>
            </a:extLst>
          </p:cNvPr>
          <p:cNvSpPr>
            <a:spLocks noGrp="1"/>
          </p:cNvSpPr>
          <p:nvPr/>
        </p:nvSpPr>
        <p:spPr>
          <a:xfrm>
            <a:off x="1392655" y="3067345"/>
            <a:ext cx="49677" cy="96516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81" name="native PowerPoint connector">
            <a:extLst>
              <a:ext uri="{FF2B5EF4-FFF2-40B4-BE49-F238E27FC236}">
                <a16:creationId xmlns:a16="http://schemas.microsoft.com/office/drawing/2014/main" id="{080C5805-1BEB-49E6-ACC3-FA6559870CAE}"/>
              </a:ext>
            </a:extLst>
          </p:cNvPr>
          <p:cNvCxnSpPr/>
          <p:nvPr/>
        </p:nvCxnSpPr>
        <p:spPr>
          <a:xfrm>
            <a:off x="1417494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82" name="diagram block">
            <a:extLst>
              <a:ext uri="{FF2B5EF4-FFF2-40B4-BE49-F238E27FC236}">
                <a16:creationId xmlns:a16="http://schemas.microsoft.com/office/drawing/2014/main" id="{C950697A-10AC-458C-BD8E-8AE6BC746121}"/>
              </a:ext>
            </a:extLst>
          </p:cNvPr>
          <p:cNvSpPr>
            <a:spLocks noGrp="1"/>
          </p:cNvSpPr>
          <p:nvPr/>
        </p:nvSpPr>
        <p:spPr>
          <a:xfrm>
            <a:off x="1457816" y="3124377"/>
            <a:ext cx="49677" cy="39484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83" name="native PowerPoint connector">
            <a:extLst>
              <a:ext uri="{FF2B5EF4-FFF2-40B4-BE49-F238E27FC236}">
                <a16:creationId xmlns:a16="http://schemas.microsoft.com/office/drawing/2014/main" id="{4EA0EC9C-FE5A-4A32-B7F8-651199DB3FDF}"/>
              </a:ext>
            </a:extLst>
          </p:cNvPr>
          <p:cNvCxnSpPr/>
          <p:nvPr/>
        </p:nvCxnSpPr>
        <p:spPr>
          <a:xfrm>
            <a:off x="1482655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84" name="diagram block">
            <a:extLst>
              <a:ext uri="{FF2B5EF4-FFF2-40B4-BE49-F238E27FC236}">
                <a16:creationId xmlns:a16="http://schemas.microsoft.com/office/drawing/2014/main" id="{059DB505-35BC-4D90-BC3E-951726379F74}"/>
              </a:ext>
            </a:extLst>
          </p:cNvPr>
          <p:cNvSpPr>
            <a:spLocks noGrp="1"/>
          </p:cNvSpPr>
          <p:nvPr/>
        </p:nvSpPr>
        <p:spPr>
          <a:xfrm>
            <a:off x="1522977" y="3148067"/>
            <a:ext cx="49677" cy="1579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85" name="native PowerPoint connector">
            <a:extLst>
              <a:ext uri="{FF2B5EF4-FFF2-40B4-BE49-F238E27FC236}">
                <a16:creationId xmlns:a16="http://schemas.microsoft.com/office/drawing/2014/main" id="{E8388D6D-01EB-405D-9A1E-3F56FD416F24}"/>
              </a:ext>
            </a:extLst>
          </p:cNvPr>
          <p:cNvCxnSpPr/>
          <p:nvPr/>
        </p:nvCxnSpPr>
        <p:spPr>
          <a:xfrm>
            <a:off x="1547816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86" name="diagram block">
            <a:extLst>
              <a:ext uri="{FF2B5EF4-FFF2-40B4-BE49-F238E27FC236}">
                <a16:creationId xmlns:a16="http://schemas.microsoft.com/office/drawing/2014/main" id="{6416230D-0D0B-4C64-9A69-96E47EDA2A66}"/>
              </a:ext>
            </a:extLst>
          </p:cNvPr>
          <p:cNvSpPr>
            <a:spLocks noGrp="1"/>
          </p:cNvSpPr>
          <p:nvPr/>
        </p:nvSpPr>
        <p:spPr>
          <a:xfrm>
            <a:off x="1588139" y="3158158"/>
            <a:ext cx="49677" cy="570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87" name="native PowerPoint connector">
            <a:extLst>
              <a:ext uri="{FF2B5EF4-FFF2-40B4-BE49-F238E27FC236}">
                <a16:creationId xmlns:a16="http://schemas.microsoft.com/office/drawing/2014/main" id="{CAF3751E-20BB-4C6C-8DFA-D548ACC2B5B6}"/>
              </a:ext>
            </a:extLst>
          </p:cNvPr>
          <p:cNvCxnSpPr/>
          <p:nvPr/>
        </p:nvCxnSpPr>
        <p:spPr>
          <a:xfrm>
            <a:off x="1612977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88" name="1">
            <a:extLst>
              <a:ext uri="{FF2B5EF4-FFF2-40B4-BE49-F238E27FC236}">
                <a16:creationId xmlns:a16="http://schemas.microsoft.com/office/drawing/2014/main" id="{F59CDB0D-B78A-4B6F-AA2F-45E78489B5CF}"/>
              </a:ext>
            </a:extLst>
          </p:cNvPr>
          <p:cNvSpPr>
            <a:spLocks noGrp="1"/>
          </p:cNvSpPr>
          <p:nvPr/>
        </p:nvSpPr>
        <p:spPr>
          <a:xfrm>
            <a:off x="577174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9" name="4">
            <a:extLst>
              <a:ext uri="{FF2B5EF4-FFF2-40B4-BE49-F238E27FC236}">
                <a16:creationId xmlns:a16="http://schemas.microsoft.com/office/drawing/2014/main" id="{CEC47E62-58BF-4A4A-8BA2-19EEB7D9E19D}"/>
              </a:ext>
            </a:extLst>
          </p:cNvPr>
          <p:cNvSpPr>
            <a:spLocks noGrp="1"/>
          </p:cNvSpPr>
          <p:nvPr/>
        </p:nvSpPr>
        <p:spPr>
          <a:xfrm>
            <a:off x="772657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0" name="8">
            <a:extLst>
              <a:ext uri="{FF2B5EF4-FFF2-40B4-BE49-F238E27FC236}">
                <a16:creationId xmlns:a16="http://schemas.microsoft.com/office/drawing/2014/main" id="{35125D92-7057-43F6-9196-803A9EBE421C}"/>
              </a:ext>
            </a:extLst>
          </p:cNvPr>
          <p:cNvSpPr>
            <a:spLocks noGrp="1"/>
          </p:cNvSpPr>
          <p:nvPr/>
        </p:nvSpPr>
        <p:spPr>
          <a:xfrm>
            <a:off x="1033302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91" name="12">
            <a:extLst>
              <a:ext uri="{FF2B5EF4-FFF2-40B4-BE49-F238E27FC236}">
                <a16:creationId xmlns:a16="http://schemas.microsoft.com/office/drawing/2014/main" id="{3EDDB9EF-D0AE-44ED-96DC-3E0105E413C2}"/>
              </a:ext>
            </a:extLst>
          </p:cNvPr>
          <p:cNvSpPr>
            <a:spLocks noGrp="1"/>
          </p:cNvSpPr>
          <p:nvPr/>
        </p:nvSpPr>
        <p:spPr>
          <a:xfrm>
            <a:off x="1293946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92" name="16">
            <a:extLst>
              <a:ext uri="{FF2B5EF4-FFF2-40B4-BE49-F238E27FC236}">
                <a16:creationId xmlns:a16="http://schemas.microsoft.com/office/drawing/2014/main" id="{3FDAFD5B-A0C5-4D42-978E-9AF1AD61A68E}"/>
              </a:ext>
            </a:extLst>
          </p:cNvPr>
          <p:cNvSpPr>
            <a:spLocks noGrp="1"/>
          </p:cNvSpPr>
          <p:nvPr/>
        </p:nvSpPr>
        <p:spPr>
          <a:xfrm>
            <a:off x="1554590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93" name="Bin index">
            <a:extLst>
              <a:ext uri="{FF2B5EF4-FFF2-40B4-BE49-F238E27FC236}">
                <a16:creationId xmlns:a16="http://schemas.microsoft.com/office/drawing/2014/main" id="{D565563D-DB10-481A-8E6D-8642A0806B54}"/>
              </a:ext>
            </a:extLst>
          </p:cNvPr>
          <p:cNvSpPr>
            <a:spLocks noGrp="1"/>
          </p:cNvSpPr>
          <p:nvPr/>
        </p:nvSpPr>
        <p:spPr>
          <a:xfrm>
            <a:off x="835238" y="3323860"/>
            <a:ext cx="603869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Bin index</a:t>
            </a:r>
          </a:p>
        </p:txBody>
      </p:sp>
      <p:sp>
        <p:nvSpPr>
          <p:cNvPr id="94" name="Probability">
            <a:extLst>
              <a:ext uri="{FF2B5EF4-FFF2-40B4-BE49-F238E27FC236}">
                <a16:creationId xmlns:a16="http://schemas.microsoft.com/office/drawing/2014/main" id="{B29A8C57-44C5-421D-BA9C-73A06ED67FEB}"/>
              </a:ext>
            </a:extLst>
          </p:cNvPr>
          <p:cNvSpPr>
            <a:spLocks noGrp="1"/>
          </p:cNvSpPr>
          <p:nvPr/>
        </p:nvSpPr>
        <p:spPr>
          <a:xfrm rot="16200000">
            <a:off x="102337" y="2895475"/>
            <a:ext cx="598708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Probability</a:t>
            </a:r>
          </a:p>
        </p:txBody>
      </p:sp>
      <p:sp>
        <p:nvSpPr>
          <p:cNvPr id="95" name="diagram block">
            <a:extLst>
              <a:ext uri="{FF2B5EF4-FFF2-40B4-BE49-F238E27FC236}">
                <a16:creationId xmlns:a16="http://schemas.microsoft.com/office/drawing/2014/main" id="{7E05041E-3433-4AB0-8637-8E005845351F}"/>
              </a:ext>
            </a:extLst>
          </p:cNvPr>
          <p:cNvSpPr>
            <a:spLocks noGrp="1"/>
          </p:cNvSpPr>
          <p:nvPr/>
        </p:nvSpPr>
        <p:spPr>
          <a:xfrm>
            <a:off x="2001686" y="2725153"/>
            <a:ext cx="1037416" cy="438708"/>
          </a:xfrm>
          <a:prstGeom prst="rect">
            <a:avLst/>
          </a:prstGeom>
          <a:solidFill>
            <a:srgbClr val="FFFFFF"/>
          </a:solidFill>
          <a:ln w="4129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96" name="native PowerPoint connector">
            <a:extLst>
              <a:ext uri="{FF2B5EF4-FFF2-40B4-BE49-F238E27FC236}">
                <a16:creationId xmlns:a16="http://schemas.microsoft.com/office/drawing/2014/main" id="{D0E9F986-A0DF-45BE-8F16-2DF36CF4171E}"/>
              </a:ext>
            </a:extLst>
          </p:cNvPr>
          <p:cNvCxnSpPr/>
          <p:nvPr/>
        </p:nvCxnSpPr>
        <p:spPr>
          <a:xfrm>
            <a:off x="2001686" y="3017625"/>
            <a:ext cx="1037416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97" name="0.1">
            <a:extLst>
              <a:ext uri="{FF2B5EF4-FFF2-40B4-BE49-F238E27FC236}">
                <a16:creationId xmlns:a16="http://schemas.microsoft.com/office/drawing/2014/main" id="{D11B13B1-AC92-41E6-8790-5F2EE7288B53}"/>
              </a:ext>
            </a:extLst>
          </p:cNvPr>
          <p:cNvSpPr>
            <a:spLocks noGrp="1"/>
          </p:cNvSpPr>
          <p:nvPr/>
        </p:nvSpPr>
        <p:spPr>
          <a:xfrm>
            <a:off x="1826202" y="2971173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0.1</a:t>
            </a:r>
          </a:p>
        </p:txBody>
      </p:sp>
      <p:cxnSp>
        <p:nvCxnSpPr>
          <p:cNvPr id="98" name="native PowerPoint connector">
            <a:extLst>
              <a:ext uri="{FF2B5EF4-FFF2-40B4-BE49-F238E27FC236}">
                <a16:creationId xmlns:a16="http://schemas.microsoft.com/office/drawing/2014/main" id="{00F99049-9B2F-4C45-AB30-8F5BA59181E1}"/>
              </a:ext>
            </a:extLst>
          </p:cNvPr>
          <p:cNvCxnSpPr/>
          <p:nvPr/>
        </p:nvCxnSpPr>
        <p:spPr>
          <a:xfrm>
            <a:off x="2001686" y="2871389"/>
            <a:ext cx="1037416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99" name="0.2">
            <a:extLst>
              <a:ext uri="{FF2B5EF4-FFF2-40B4-BE49-F238E27FC236}">
                <a16:creationId xmlns:a16="http://schemas.microsoft.com/office/drawing/2014/main" id="{0018FEAC-F170-4245-A951-9DC6F8E260DC}"/>
              </a:ext>
            </a:extLst>
          </p:cNvPr>
          <p:cNvSpPr>
            <a:spLocks noGrp="1"/>
          </p:cNvSpPr>
          <p:nvPr/>
        </p:nvSpPr>
        <p:spPr>
          <a:xfrm>
            <a:off x="1826202" y="2824937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0.2</a:t>
            </a:r>
          </a:p>
        </p:txBody>
      </p:sp>
      <p:cxnSp>
        <p:nvCxnSpPr>
          <p:cNvPr id="100" name="native PowerPoint connector">
            <a:extLst>
              <a:ext uri="{FF2B5EF4-FFF2-40B4-BE49-F238E27FC236}">
                <a16:creationId xmlns:a16="http://schemas.microsoft.com/office/drawing/2014/main" id="{CC8AF886-2362-453D-ABE3-39A6BC162125}"/>
              </a:ext>
            </a:extLst>
          </p:cNvPr>
          <p:cNvCxnSpPr/>
          <p:nvPr/>
        </p:nvCxnSpPr>
        <p:spPr>
          <a:xfrm>
            <a:off x="2001686" y="2725153"/>
            <a:ext cx="1037416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101" name="0.3">
            <a:extLst>
              <a:ext uri="{FF2B5EF4-FFF2-40B4-BE49-F238E27FC236}">
                <a16:creationId xmlns:a16="http://schemas.microsoft.com/office/drawing/2014/main" id="{4E6773FB-5AA8-4F3F-AC9E-CDD6C94F7C7E}"/>
              </a:ext>
            </a:extLst>
          </p:cNvPr>
          <p:cNvSpPr>
            <a:spLocks noGrp="1"/>
          </p:cNvSpPr>
          <p:nvPr/>
        </p:nvSpPr>
        <p:spPr>
          <a:xfrm>
            <a:off x="1826202" y="2678701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cxnSp>
        <p:nvCxnSpPr>
          <p:cNvPr id="102" name="native PowerPoint connector">
            <a:extLst>
              <a:ext uri="{FF2B5EF4-FFF2-40B4-BE49-F238E27FC236}">
                <a16:creationId xmlns:a16="http://schemas.microsoft.com/office/drawing/2014/main" id="{234E6DDB-2341-4AC1-912D-653DA5C83B98}"/>
              </a:ext>
            </a:extLst>
          </p:cNvPr>
          <p:cNvCxnSpPr/>
          <p:nvPr/>
        </p:nvCxnSpPr>
        <p:spPr>
          <a:xfrm>
            <a:off x="2001686" y="2725153"/>
            <a:ext cx="0" cy="438708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103" name="native PowerPoint connector">
            <a:extLst>
              <a:ext uri="{FF2B5EF4-FFF2-40B4-BE49-F238E27FC236}">
                <a16:creationId xmlns:a16="http://schemas.microsoft.com/office/drawing/2014/main" id="{0FCF8F40-A44D-40C3-A35A-1C3040D3B986}"/>
              </a:ext>
            </a:extLst>
          </p:cNvPr>
          <p:cNvCxnSpPr/>
          <p:nvPr/>
        </p:nvCxnSpPr>
        <p:spPr>
          <a:xfrm>
            <a:off x="2001686" y="3163861"/>
            <a:ext cx="1037416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104" name="0.0">
            <a:extLst>
              <a:ext uri="{FF2B5EF4-FFF2-40B4-BE49-F238E27FC236}">
                <a16:creationId xmlns:a16="http://schemas.microsoft.com/office/drawing/2014/main" id="{6E03F014-C94A-4E38-AB1D-628EE6508548}"/>
              </a:ext>
            </a:extLst>
          </p:cNvPr>
          <p:cNvSpPr>
            <a:spLocks noGrp="1"/>
          </p:cNvSpPr>
          <p:nvPr/>
        </p:nvSpPr>
        <p:spPr>
          <a:xfrm>
            <a:off x="1826202" y="3117409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0.0</a:t>
            </a:r>
          </a:p>
        </p:txBody>
      </p:sp>
      <p:sp>
        <p:nvSpPr>
          <p:cNvPr id="105" name="diagram block">
            <a:extLst>
              <a:ext uri="{FF2B5EF4-FFF2-40B4-BE49-F238E27FC236}">
                <a16:creationId xmlns:a16="http://schemas.microsoft.com/office/drawing/2014/main" id="{0F6ECA74-B0EA-4715-A49C-DE0BBDBD9197}"/>
              </a:ext>
            </a:extLst>
          </p:cNvPr>
          <p:cNvSpPr>
            <a:spLocks noGrp="1"/>
          </p:cNvSpPr>
          <p:nvPr/>
        </p:nvSpPr>
        <p:spPr>
          <a:xfrm>
            <a:off x="2009427" y="3160790"/>
            <a:ext cx="49355" cy="3071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106" name="native PowerPoint connector">
            <a:extLst>
              <a:ext uri="{FF2B5EF4-FFF2-40B4-BE49-F238E27FC236}">
                <a16:creationId xmlns:a16="http://schemas.microsoft.com/office/drawing/2014/main" id="{5F6EE8F2-8585-4828-A327-CF60C610B06B}"/>
              </a:ext>
            </a:extLst>
          </p:cNvPr>
          <p:cNvCxnSpPr/>
          <p:nvPr/>
        </p:nvCxnSpPr>
        <p:spPr>
          <a:xfrm>
            <a:off x="2034105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07" name="diagram block">
            <a:extLst>
              <a:ext uri="{FF2B5EF4-FFF2-40B4-BE49-F238E27FC236}">
                <a16:creationId xmlns:a16="http://schemas.microsoft.com/office/drawing/2014/main" id="{5C4F21F4-2DC2-42A3-A65A-827BA1F2981F}"/>
              </a:ext>
            </a:extLst>
          </p:cNvPr>
          <p:cNvSpPr>
            <a:spLocks noGrp="1"/>
          </p:cNvSpPr>
          <p:nvPr/>
        </p:nvSpPr>
        <p:spPr>
          <a:xfrm>
            <a:off x="2074266" y="3155964"/>
            <a:ext cx="49355" cy="7897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108" name="native PowerPoint connector">
            <a:extLst>
              <a:ext uri="{FF2B5EF4-FFF2-40B4-BE49-F238E27FC236}">
                <a16:creationId xmlns:a16="http://schemas.microsoft.com/office/drawing/2014/main" id="{DA46FB90-DEC9-4211-801D-21280D929712}"/>
              </a:ext>
            </a:extLst>
          </p:cNvPr>
          <p:cNvCxnSpPr/>
          <p:nvPr/>
        </p:nvCxnSpPr>
        <p:spPr>
          <a:xfrm>
            <a:off x="2098943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09" name="diagram block">
            <a:extLst>
              <a:ext uri="{FF2B5EF4-FFF2-40B4-BE49-F238E27FC236}">
                <a16:creationId xmlns:a16="http://schemas.microsoft.com/office/drawing/2014/main" id="{9358551B-60F8-497A-9FE9-45BA22DB79C6}"/>
              </a:ext>
            </a:extLst>
          </p:cNvPr>
          <p:cNvSpPr>
            <a:spLocks noGrp="1"/>
          </p:cNvSpPr>
          <p:nvPr/>
        </p:nvSpPr>
        <p:spPr>
          <a:xfrm>
            <a:off x="2139105" y="3145435"/>
            <a:ext cx="49355" cy="18426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110" name="native PowerPoint connector">
            <a:extLst>
              <a:ext uri="{FF2B5EF4-FFF2-40B4-BE49-F238E27FC236}">
                <a16:creationId xmlns:a16="http://schemas.microsoft.com/office/drawing/2014/main" id="{94EAE91B-71CB-4747-BDB4-8860A3E91429}"/>
              </a:ext>
            </a:extLst>
          </p:cNvPr>
          <p:cNvCxnSpPr/>
          <p:nvPr/>
        </p:nvCxnSpPr>
        <p:spPr>
          <a:xfrm>
            <a:off x="2163782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11" name="diagram block">
            <a:extLst>
              <a:ext uri="{FF2B5EF4-FFF2-40B4-BE49-F238E27FC236}">
                <a16:creationId xmlns:a16="http://schemas.microsoft.com/office/drawing/2014/main" id="{D7698F18-FDBC-4B9D-8898-76DA495CEDD7}"/>
              </a:ext>
            </a:extLst>
          </p:cNvPr>
          <p:cNvSpPr>
            <a:spLocks noGrp="1"/>
          </p:cNvSpPr>
          <p:nvPr/>
        </p:nvSpPr>
        <p:spPr>
          <a:xfrm>
            <a:off x="2203943" y="3124377"/>
            <a:ext cx="49355" cy="39484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112" name="native PowerPoint connector">
            <a:extLst>
              <a:ext uri="{FF2B5EF4-FFF2-40B4-BE49-F238E27FC236}">
                <a16:creationId xmlns:a16="http://schemas.microsoft.com/office/drawing/2014/main" id="{A5A99672-14DB-4080-AAD6-29E1727D73B8}"/>
              </a:ext>
            </a:extLst>
          </p:cNvPr>
          <p:cNvCxnSpPr/>
          <p:nvPr/>
        </p:nvCxnSpPr>
        <p:spPr>
          <a:xfrm>
            <a:off x="2228620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13" name="diagram block">
            <a:extLst>
              <a:ext uri="{FF2B5EF4-FFF2-40B4-BE49-F238E27FC236}">
                <a16:creationId xmlns:a16="http://schemas.microsoft.com/office/drawing/2014/main" id="{64A6A7AF-FF0D-490C-9DE7-C2FF6ABDA32B}"/>
              </a:ext>
            </a:extLst>
          </p:cNvPr>
          <p:cNvSpPr>
            <a:spLocks noGrp="1"/>
          </p:cNvSpPr>
          <p:nvPr/>
        </p:nvSpPr>
        <p:spPr>
          <a:xfrm>
            <a:off x="2268782" y="3084893"/>
            <a:ext cx="49355" cy="78967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114" name="native PowerPoint connector">
            <a:extLst>
              <a:ext uri="{FF2B5EF4-FFF2-40B4-BE49-F238E27FC236}">
                <a16:creationId xmlns:a16="http://schemas.microsoft.com/office/drawing/2014/main" id="{35C4E0C3-9954-41F8-B021-4AD59881B69B}"/>
              </a:ext>
            </a:extLst>
          </p:cNvPr>
          <p:cNvCxnSpPr/>
          <p:nvPr/>
        </p:nvCxnSpPr>
        <p:spPr>
          <a:xfrm>
            <a:off x="2293459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15" name="diagram block">
            <a:extLst>
              <a:ext uri="{FF2B5EF4-FFF2-40B4-BE49-F238E27FC236}">
                <a16:creationId xmlns:a16="http://schemas.microsoft.com/office/drawing/2014/main" id="{4B356993-1051-4948-A1C5-348287F35B3F}"/>
              </a:ext>
            </a:extLst>
          </p:cNvPr>
          <p:cNvSpPr>
            <a:spLocks noGrp="1"/>
          </p:cNvSpPr>
          <p:nvPr/>
        </p:nvSpPr>
        <p:spPr>
          <a:xfrm>
            <a:off x="2333620" y="3010313"/>
            <a:ext cx="49355" cy="153548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116" name="native PowerPoint connector">
            <a:extLst>
              <a:ext uri="{FF2B5EF4-FFF2-40B4-BE49-F238E27FC236}">
                <a16:creationId xmlns:a16="http://schemas.microsoft.com/office/drawing/2014/main" id="{4FB4BEE1-DE2C-4664-BCDF-0FF9EB09D28E}"/>
              </a:ext>
            </a:extLst>
          </p:cNvPr>
          <p:cNvCxnSpPr/>
          <p:nvPr/>
        </p:nvCxnSpPr>
        <p:spPr>
          <a:xfrm>
            <a:off x="2358297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17" name="diagram block">
            <a:extLst>
              <a:ext uri="{FF2B5EF4-FFF2-40B4-BE49-F238E27FC236}">
                <a16:creationId xmlns:a16="http://schemas.microsoft.com/office/drawing/2014/main" id="{481FAA51-6F84-4C90-997E-10FF2539C019}"/>
              </a:ext>
            </a:extLst>
          </p:cNvPr>
          <p:cNvSpPr>
            <a:spLocks noGrp="1"/>
          </p:cNvSpPr>
          <p:nvPr/>
        </p:nvSpPr>
        <p:spPr>
          <a:xfrm>
            <a:off x="2398459" y="2900636"/>
            <a:ext cx="49355" cy="263225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118" name="native PowerPoint connector">
            <a:extLst>
              <a:ext uri="{FF2B5EF4-FFF2-40B4-BE49-F238E27FC236}">
                <a16:creationId xmlns:a16="http://schemas.microsoft.com/office/drawing/2014/main" id="{C45A5D43-2B65-48BA-862E-6C1844A3F6EC}"/>
              </a:ext>
            </a:extLst>
          </p:cNvPr>
          <p:cNvCxnSpPr/>
          <p:nvPr/>
        </p:nvCxnSpPr>
        <p:spPr>
          <a:xfrm>
            <a:off x="2423136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19" name="diagram block">
            <a:extLst>
              <a:ext uri="{FF2B5EF4-FFF2-40B4-BE49-F238E27FC236}">
                <a16:creationId xmlns:a16="http://schemas.microsoft.com/office/drawing/2014/main" id="{90E1023D-DF4E-4B92-B560-F7D0C68E051E}"/>
              </a:ext>
            </a:extLst>
          </p:cNvPr>
          <p:cNvSpPr>
            <a:spLocks noGrp="1"/>
          </p:cNvSpPr>
          <p:nvPr/>
        </p:nvSpPr>
        <p:spPr>
          <a:xfrm>
            <a:off x="2463297" y="2804120"/>
            <a:ext cx="49355" cy="359741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120" name="native PowerPoint connector">
            <a:extLst>
              <a:ext uri="{FF2B5EF4-FFF2-40B4-BE49-F238E27FC236}">
                <a16:creationId xmlns:a16="http://schemas.microsoft.com/office/drawing/2014/main" id="{A137E755-BFC7-4594-9E1B-A271DF1DDC8F}"/>
              </a:ext>
            </a:extLst>
          </p:cNvPr>
          <p:cNvCxnSpPr/>
          <p:nvPr/>
        </p:nvCxnSpPr>
        <p:spPr>
          <a:xfrm>
            <a:off x="2487974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21" name="diagram block">
            <a:extLst>
              <a:ext uri="{FF2B5EF4-FFF2-40B4-BE49-F238E27FC236}">
                <a16:creationId xmlns:a16="http://schemas.microsoft.com/office/drawing/2014/main" id="{85BC5E09-A7AD-4824-93CC-B971BA6A712A}"/>
              </a:ext>
            </a:extLst>
          </p:cNvPr>
          <p:cNvSpPr>
            <a:spLocks noGrp="1"/>
          </p:cNvSpPr>
          <p:nvPr/>
        </p:nvSpPr>
        <p:spPr>
          <a:xfrm>
            <a:off x="2528136" y="2777798"/>
            <a:ext cx="49355" cy="386063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122" name="native PowerPoint connector">
            <a:extLst>
              <a:ext uri="{FF2B5EF4-FFF2-40B4-BE49-F238E27FC236}">
                <a16:creationId xmlns:a16="http://schemas.microsoft.com/office/drawing/2014/main" id="{EDC89302-D016-4BFC-AD7E-8044A483A216}"/>
              </a:ext>
            </a:extLst>
          </p:cNvPr>
          <p:cNvCxnSpPr/>
          <p:nvPr/>
        </p:nvCxnSpPr>
        <p:spPr>
          <a:xfrm>
            <a:off x="2552813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23" name="diagram block">
            <a:extLst>
              <a:ext uri="{FF2B5EF4-FFF2-40B4-BE49-F238E27FC236}">
                <a16:creationId xmlns:a16="http://schemas.microsoft.com/office/drawing/2014/main" id="{8E0C7553-04C1-4EC8-8740-73A5BC37DF62}"/>
              </a:ext>
            </a:extLst>
          </p:cNvPr>
          <p:cNvSpPr>
            <a:spLocks noGrp="1"/>
          </p:cNvSpPr>
          <p:nvPr/>
        </p:nvSpPr>
        <p:spPr>
          <a:xfrm>
            <a:off x="2592974" y="2878701"/>
            <a:ext cx="49355" cy="285160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124" name="native PowerPoint connector">
            <a:extLst>
              <a:ext uri="{FF2B5EF4-FFF2-40B4-BE49-F238E27FC236}">
                <a16:creationId xmlns:a16="http://schemas.microsoft.com/office/drawing/2014/main" id="{C509827E-84AE-4563-A922-A4EB36BE8356}"/>
              </a:ext>
            </a:extLst>
          </p:cNvPr>
          <p:cNvCxnSpPr/>
          <p:nvPr/>
        </p:nvCxnSpPr>
        <p:spPr>
          <a:xfrm>
            <a:off x="2617651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25" name="diagram block">
            <a:extLst>
              <a:ext uri="{FF2B5EF4-FFF2-40B4-BE49-F238E27FC236}">
                <a16:creationId xmlns:a16="http://schemas.microsoft.com/office/drawing/2014/main" id="{6E76134F-B449-4BE7-8019-DA64347BD370}"/>
              </a:ext>
            </a:extLst>
          </p:cNvPr>
          <p:cNvSpPr>
            <a:spLocks noGrp="1"/>
          </p:cNvSpPr>
          <p:nvPr/>
        </p:nvSpPr>
        <p:spPr>
          <a:xfrm>
            <a:off x="2657813" y="3001539"/>
            <a:ext cx="49355" cy="162322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126" name="native PowerPoint connector">
            <a:extLst>
              <a:ext uri="{FF2B5EF4-FFF2-40B4-BE49-F238E27FC236}">
                <a16:creationId xmlns:a16="http://schemas.microsoft.com/office/drawing/2014/main" id="{3B08BEC6-25ED-4205-82F6-26E2A1632A0F}"/>
              </a:ext>
            </a:extLst>
          </p:cNvPr>
          <p:cNvCxnSpPr/>
          <p:nvPr/>
        </p:nvCxnSpPr>
        <p:spPr>
          <a:xfrm>
            <a:off x="2682490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27" name="diagram block">
            <a:extLst>
              <a:ext uri="{FF2B5EF4-FFF2-40B4-BE49-F238E27FC236}">
                <a16:creationId xmlns:a16="http://schemas.microsoft.com/office/drawing/2014/main" id="{6B92C906-D457-43AB-942C-4B58FD573D4B}"/>
              </a:ext>
            </a:extLst>
          </p:cNvPr>
          <p:cNvSpPr>
            <a:spLocks noGrp="1"/>
          </p:cNvSpPr>
          <p:nvPr/>
        </p:nvSpPr>
        <p:spPr>
          <a:xfrm>
            <a:off x="2722651" y="3089281"/>
            <a:ext cx="49355" cy="74580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128" name="native PowerPoint connector">
            <a:extLst>
              <a:ext uri="{FF2B5EF4-FFF2-40B4-BE49-F238E27FC236}">
                <a16:creationId xmlns:a16="http://schemas.microsoft.com/office/drawing/2014/main" id="{55A95700-C744-4884-8E38-2B6B1FA10857}"/>
              </a:ext>
            </a:extLst>
          </p:cNvPr>
          <p:cNvCxnSpPr/>
          <p:nvPr/>
        </p:nvCxnSpPr>
        <p:spPr>
          <a:xfrm>
            <a:off x="2747328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29" name="diagram block">
            <a:extLst>
              <a:ext uri="{FF2B5EF4-FFF2-40B4-BE49-F238E27FC236}">
                <a16:creationId xmlns:a16="http://schemas.microsoft.com/office/drawing/2014/main" id="{3E2F3BC2-642A-4EDB-B267-7D04018566E2}"/>
              </a:ext>
            </a:extLst>
          </p:cNvPr>
          <p:cNvSpPr>
            <a:spLocks noGrp="1"/>
          </p:cNvSpPr>
          <p:nvPr/>
        </p:nvSpPr>
        <p:spPr>
          <a:xfrm>
            <a:off x="2787490" y="3128764"/>
            <a:ext cx="49355" cy="35097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130" name="native PowerPoint connector">
            <a:extLst>
              <a:ext uri="{FF2B5EF4-FFF2-40B4-BE49-F238E27FC236}">
                <a16:creationId xmlns:a16="http://schemas.microsoft.com/office/drawing/2014/main" id="{6F7182E7-AA0D-4845-81D5-1CE0B5F64F07}"/>
              </a:ext>
            </a:extLst>
          </p:cNvPr>
          <p:cNvCxnSpPr/>
          <p:nvPr/>
        </p:nvCxnSpPr>
        <p:spPr>
          <a:xfrm>
            <a:off x="2812167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31" name="diagram block">
            <a:extLst>
              <a:ext uri="{FF2B5EF4-FFF2-40B4-BE49-F238E27FC236}">
                <a16:creationId xmlns:a16="http://schemas.microsoft.com/office/drawing/2014/main" id="{DA0B832D-CF61-484B-A41E-C525B9049EAC}"/>
              </a:ext>
            </a:extLst>
          </p:cNvPr>
          <p:cNvSpPr>
            <a:spLocks noGrp="1"/>
          </p:cNvSpPr>
          <p:nvPr/>
        </p:nvSpPr>
        <p:spPr>
          <a:xfrm>
            <a:off x="2852328" y="3149384"/>
            <a:ext cx="49355" cy="14477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132" name="native PowerPoint connector">
            <a:extLst>
              <a:ext uri="{FF2B5EF4-FFF2-40B4-BE49-F238E27FC236}">
                <a16:creationId xmlns:a16="http://schemas.microsoft.com/office/drawing/2014/main" id="{3384E811-5B23-4E7D-821C-5F3DE9BB0885}"/>
              </a:ext>
            </a:extLst>
          </p:cNvPr>
          <p:cNvCxnSpPr/>
          <p:nvPr/>
        </p:nvCxnSpPr>
        <p:spPr>
          <a:xfrm>
            <a:off x="2877005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33" name="diagram block">
            <a:extLst>
              <a:ext uri="{FF2B5EF4-FFF2-40B4-BE49-F238E27FC236}">
                <a16:creationId xmlns:a16="http://schemas.microsoft.com/office/drawing/2014/main" id="{AA51F79A-3540-4512-9B4F-D9E96B66992D}"/>
              </a:ext>
            </a:extLst>
          </p:cNvPr>
          <p:cNvSpPr>
            <a:spLocks noGrp="1"/>
          </p:cNvSpPr>
          <p:nvPr/>
        </p:nvSpPr>
        <p:spPr>
          <a:xfrm>
            <a:off x="2917167" y="3157719"/>
            <a:ext cx="49355" cy="6142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134" name="native PowerPoint connector">
            <a:extLst>
              <a:ext uri="{FF2B5EF4-FFF2-40B4-BE49-F238E27FC236}">
                <a16:creationId xmlns:a16="http://schemas.microsoft.com/office/drawing/2014/main" id="{54B8DB65-56F7-4AEE-9F3E-57FF950A4397}"/>
              </a:ext>
            </a:extLst>
          </p:cNvPr>
          <p:cNvCxnSpPr/>
          <p:nvPr/>
        </p:nvCxnSpPr>
        <p:spPr>
          <a:xfrm>
            <a:off x="2941844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35" name="diagram block">
            <a:extLst>
              <a:ext uri="{FF2B5EF4-FFF2-40B4-BE49-F238E27FC236}">
                <a16:creationId xmlns:a16="http://schemas.microsoft.com/office/drawing/2014/main" id="{33FDD111-996F-4163-A4C2-93AEC0B5FB78}"/>
              </a:ext>
            </a:extLst>
          </p:cNvPr>
          <p:cNvSpPr>
            <a:spLocks noGrp="1"/>
          </p:cNvSpPr>
          <p:nvPr/>
        </p:nvSpPr>
        <p:spPr>
          <a:xfrm>
            <a:off x="2982005" y="3161229"/>
            <a:ext cx="49355" cy="2632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136" name="native PowerPoint connector">
            <a:extLst>
              <a:ext uri="{FF2B5EF4-FFF2-40B4-BE49-F238E27FC236}">
                <a16:creationId xmlns:a16="http://schemas.microsoft.com/office/drawing/2014/main" id="{3E746A04-2FFF-446B-960E-8167238B7A9C}"/>
              </a:ext>
            </a:extLst>
          </p:cNvPr>
          <p:cNvCxnSpPr/>
          <p:nvPr/>
        </p:nvCxnSpPr>
        <p:spPr>
          <a:xfrm>
            <a:off x="3006682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37" name="1">
            <a:extLst>
              <a:ext uri="{FF2B5EF4-FFF2-40B4-BE49-F238E27FC236}">
                <a16:creationId xmlns:a16="http://schemas.microsoft.com/office/drawing/2014/main" id="{737835CE-3483-4685-845E-D17E05205D30}"/>
              </a:ext>
            </a:extLst>
          </p:cNvPr>
          <p:cNvSpPr>
            <a:spLocks noGrp="1"/>
          </p:cNvSpPr>
          <p:nvPr/>
        </p:nvSpPr>
        <p:spPr>
          <a:xfrm>
            <a:off x="1975879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8" name="4">
            <a:extLst>
              <a:ext uri="{FF2B5EF4-FFF2-40B4-BE49-F238E27FC236}">
                <a16:creationId xmlns:a16="http://schemas.microsoft.com/office/drawing/2014/main" id="{9124C1FF-CB4F-4001-A39F-DE6CD2423BCB}"/>
              </a:ext>
            </a:extLst>
          </p:cNvPr>
          <p:cNvSpPr>
            <a:spLocks noGrp="1"/>
          </p:cNvSpPr>
          <p:nvPr/>
        </p:nvSpPr>
        <p:spPr>
          <a:xfrm>
            <a:off x="2170395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39" name="8">
            <a:extLst>
              <a:ext uri="{FF2B5EF4-FFF2-40B4-BE49-F238E27FC236}">
                <a16:creationId xmlns:a16="http://schemas.microsoft.com/office/drawing/2014/main" id="{D0B616AA-2360-4331-A86C-EB915583E881}"/>
              </a:ext>
            </a:extLst>
          </p:cNvPr>
          <p:cNvSpPr>
            <a:spLocks noGrp="1"/>
          </p:cNvSpPr>
          <p:nvPr/>
        </p:nvSpPr>
        <p:spPr>
          <a:xfrm>
            <a:off x="2429749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140" name="12">
            <a:extLst>
              <a:ext uri="{FF2B5EF4-FFF2-40B4-BE49-F238E27FC236}">
                <a16:creationId xmlns:a16="http://schemas.microsoft.com/office/drawing/2014/main" id="{F5DDDCBA-CC0F-4882-96D0-1EB8CA1F854B}"/>
              </a:ext>
            </a:extLst>
          </p:cNvPr>
          <p:cNvSpPr>
            <a:spLocks noGrp="1"/>
          </p:cNvSpPr>
          <p:nvPr/>
        </p:nvSpPr>
        <p:spPr>
          <a:xfrm>
            <a:off x="2689103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141" name="16">
            <a:extLst>
              <a:ext uri="{FF2B5EF4-FFF2-40B4-BE49-F238E27FC236}">
                <a16:creationId xmlns:a16="http://schemas.microsoft.com/office/drawing/2014/main" id="{3FF1954E-A8CE-412F-99B9-670CA67F2D18}"/>
              </a:ext>
            </a:extLst>
          </p:cNvPr>
          <p:cNvSpPr>
            <a:spLocks noGrp="1"/>
          </p:cNvSpPr>
          <p:nvPr/>
        </p:nvSpPr>
        <p:spPr>
          <a:xfrm>
            <a:off x="2948457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142" name="Bin index">
            <a:extLst>
              <a:ext uri="{FF2B5EF4-FFF2-40B4-BE49-F238E27FC236}">
                <a16:creationId xmlns:a16="http://schemas.microsoft.com/office/drawing/2014/main" id="{9ECB6D40-2ADC-4E1A-B19F-0566B333CE81}"/>
              </a:ext>
            </a:extLst>
          </p:cNvPr>
          <p:cNvSpPr>
            <a:spLocks noGrp="1"/>
          </p:cNvSpPr>
          <p:nvPr/>
        </p:nvSpPr>
        <p:spPr>
          <a:xfrm>
            <a:off x="2233943" y="3323860"/>
            <a:ext cx="598708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Bin index</a:t>
            </a:r>
          </a:p>
        </p:txBody>
      </p:sp>
      <p:sp>
        <p:nvSpPr>
          <p:cNvPr id="143" name="Probability">
            <a:extLst>
              <a:ext uri="{FF2B5EF4-FFF2-40B4-BE49-F238E27FC236}">
                <a16:creationId xmlns:a16="http://schemas.microsoft.com/office/drawing/2014/main" id="{F12C4EE1-27EF-4CAF-97FA-FA641FE4A035}"/>
              </a:ext>
            </a:extLst>
          </p:cNvPr>
          <p:cNvSpPr>
            <a:spLocks noGrp="1"/>
          </p:cNvSpPr>
          <p:nvPr/>
        </p:nvSpPr>
        <p:spPr>
          <a:xfrm rot="16200000">
            <a:off x="1501042" y="2895475"/>
            <a:ext cx="598708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Probability</a:t>
            </a:r>
          </a:p>
        </p:txBody>
      </p:sp>
      <p:sp>
        <p:nvSpPr>
          <p:cNvPr id="144" name="diagram block">
            <a:extLst>
              <a:ext uri="{FF2B5EF4-FFF2-40B4-BE49-F238E27FC236}">
                <a16:creationId xmlns:a16="http://schemas.microsoft.com/office/drawing/2014/main" id="{EFE7E1A7-9899-49B0-8490-4BD5D8B5C8E0}"/>
              </a:ext>
            </a:extLst>
          </p:cNvPr>
          <p:cNvSpPr>
            <a:spLocks noGrp="1"/>
          </p:cNvSpPr>
          <p:nvPr/>
        </p:nvSpPr>
        <p:spPr>
          <a:xfrm>
            <a:off x="499755" y="3458054"/>
            <a:ext cx="2461928" cy="216774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5161">
            <a:solidFill>
              <a:srgbClr val="FA8098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45" name="L_bin = mean KL(p(z) || p(ẑ))">
            <a:extLst>
              <a:ext uri="{FF2B5EF4-FFF2-40B4-BE49-F238E27FC236}">
                <a16:creationId xmlns:a16="http://schemas.microsoft.com/office/drawing/2014/main" id="{86A9A396-A304-4BBE-A5AB-9B3051CBC060}"/>
              </a:ext>
            </a:extLst>
          </p:cNvPr>
          <p:cNvSpPr>
            <a:spLocks noGrp="1"/>
          </p:cNvSpPr>
          <p:nvPr/>
        </p:nvSpPr>
        <p:spPr>
          <a:xfrm>
            <a:off x="613303" y="3504505"/>
            <a:ext cx="2245154" cy="1548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6121"/>
          </a:bodyPr>
          <a:lstStyle>
            <a:def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77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bin</a:t>
            </a:r>
            <a:r>
              <a: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1057" b="0" i="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mean</a:t>
            </a:r>
            <a:r>
              <a: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7" b="0" i="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KL</a:t>
            </a:r>
            <a:r>
              <a: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(p(z) || p(ẑ))</a:t>
            </a:r>
          </a:p>
        </p:txBody>
      </p:sp>
      <p:sp>
        <p:nvSpPr>
          <p:cNvPr id="146" name="diagram block">
            <a:extLst>
              <a:ext uri="{FF2B5EF4-FFF2-40B4-BE49-F238E27FC236}">
                <a16:creationId xmlns:a16="http://schemas.microsoft.com/office/drawing/2014/main" id="{085FB660-9682-4AE4-B404-47062EF24E4C}"/>
              </a:ext>
            </a:extLst>
          </p:cNvPr>
          <p:cNvSpPr>
            <a:spLocks noGrp="1"/>
          </p:cNvSpPr>
          <p:nvPr/>
        </p:nvSpPr>
        <p:spPr>
          <a:xfrm>
            <a:off x="355239" y="3731601"/>
            <a:ext cx="2725153" cy="159999"/>
          </a:xfrm>
          <a:prstGeom prst="roundRect">
            <a:avLst>
              <a:gd name="adj" fmla="val 12903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2DDF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47" name="Motor actions: 10 × 6   |   Future latents: t &gt; 0">
            <a:extLst>
              <a:ext uri="{FF2B5EF4-FFF2-40B4-BE49-F238E27FC236}">
                <a16:creationId xmlns:a16="http://schemas.microsoft.com/office/drawing/2014/main" id="{128F5AAE-10EE-415B-A693-72C4FB00F0A9}"/>
              </a:ext>
            </a:extLst>
          </p:cNvPr>
          <p:cNvSpPr>
            <a:spLocks noGrp="1"/>
          </p:cNvSpPr>
          <p:nvPr/>
        </p:nvSpPr>
        <p:spPr>
          <a:xfrm>
            <a:off x="381046" y="3757407"/>
            <a:ext cx="2673540" cy="108387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94575"/>
          </a:bodyPr>
          <a:lstStyle>
            <a:def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Motor actions: 10 × 6   |   Future latents: t &gt; 0</a:t>
            </a:r>
          </a:p>
        </p:txBody>
      </p:sp>
      <p:sp>
        <p:nvSpPr>
          <p:cNvPr id="148" name="Compute a 16-bin distribution for each scalar independently&#10;and average the">
            <a:extLst>
              <a:ext uri="{FF2B5EF4-FFF2-40B4-BE49-F238E27FC236}">
                <a16:creationId xmlns:a16="http://schemas.microsoft.com/office/drawing/2014/main" id="{A6FFCFDC-3233-4D5D-A391-65776FC9E944}"/>
              </a:ext>
            </a:extLst>
          </p:cNvPr>
          <p:cNvSpPr>
            <a:spLocks noGrp="1"/>
          </p:cNvSpPr>
          <p:nvPr/>
        </p:nvSpPr>
        <p:spPr>
          <a:xfrm>
            <a:off x="432658" y="3907084"/>
            <a:ext cx="2580637" cy="20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0219" lnSpcReduction="10000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Compute a 16-bin distribution for each scalar independently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and average the KL over all scalars.</a:t>
            </a:r>
          </a:p>
        </p:txBody>
      </p:sp>
      <p:sp>
        <p:nvSpPr>
          <p:cNvPr id="149" name="diagram block">
            <a:extLst>
              <a:ext uri="{FF2B5EF4-FFF2-40B4-BE49-F238E27FC236}">
                <a16:creationId xmlns:a16="http://schemas.microsoft.com/office/drawing/2014/main" id="{21B94405-F634-4D50-9273-4F3436A4D765}"/>
              </a:ext>
            </a:extLst>
          </p:cNvPr>
          <p:cNvSpPr>
            <a:spLocks noGrp="1"/>
          </p:cNvSpPr>
          <p:nvPr/>
        </p:nvSpPr>
        <p:spPr>
          <a:xfrm>
            <a:off x="3261036" y="686449"/>
            <a:ext cx="2621927" cy="149677"/>
          </a:xfrm>
          <a:prstGeom prst="rect">
            <a:avLst/>
          </a:prstGeom>
          <a:solidFill>
            <a:srgbClr val="E6F2FF"/>
          </a:solidFill>
          <a:ln w="5161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50" name="Ten ordered 6-D action vectors (first 10 actions)">
            <a:extLst>
              <a:ext uri="{FF2B5EF4-FFF2-40B4-BE49-F238E27FC236}">
                <a16:creationId xmlns:a16="http://schemas.microsoft.com/office/drawing/2014/main" id="{20200BDC-EC1E-4D90-B351-D7BCA3AA65D9}"/>
              </a:ext>
            </a:extLst>
          </p:cNvPr>
          <p:cNvSpPr>
            <a:spLocks noGrp="1"/>
          </p:cNvSpPr>
          <p:nvPr/>
        </p:nvSpPr>
        <p:spPr>
          <a:xfrm>
            <a:off x="3286843" y="712256"/>
            <a:ext cx="2570314" cy="98064"/>
          </a:xfrm>
          <a:prstGeom prst="rect">
            <a:avLst/>
          </a:prstGeom>
          <a:solidFill>
            <a:srgbClr val="E6F2FF"/>
          </a:solidFill>
          <a:ln w="0">
            <a:noFill/>
          </a:ln>
        </p:spPr>
        <p:txBody>
          <a:bodyPr wrap="none" lIns="0" tIns="0" rIns="0" bIns="0" anchor="ctr">
            <a:normAutofit fontScale="79147"/>
          </a:bodyPr>
          <a:lstStyle>
            <a:def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Ten ordered 6-D action vectors (first 10 actions)</a:t>
            </a:r>
          </a:p>
        </p:txBody>
      </p:sp>
      <p:sp>
        <p:nvSpPr>
          <p:cNvPr id="151" name="diagram block">
            <a:extLst>
              <a:ext uri="{FF2B5EF4-FFF2-40B4-BE49-F238E27FC236}">
                <a16:creationId xmlns:a16="http://schemas.microsoft.com/office/drawing/2014/main" id="{165E32A1-6986-448B-B150-08D3F3B411C0}"/>
              </a:ext>
            </a:extLst>
          </p:cNvPr>
          <p:cNvSpPr>
            <a:spLocks noGrp="1"/>
          </p:cNvSpPr>
          <p:nvPr/>
        </p:nvSpPr>
        <p:spPr>
          <a:xfrm>
            <a:off x="3322972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52" name="a₁">
            <a:extLst>
              <a:ext uri="{FF2B5EF4-FFF2-40B4-BE49-F238E27FC236}">
                <a16:creationId xmlns:a16="http://schemas.microsoft.com/office/drawing/2014/main" id="{76381CC2-EEA3-4458-BF89-5BBCDFF343CA}"/>
              </a:ext>
            </a:extLst>
          </p:cNvPr>
          <p:cNvSpPr>
            <a:spLocks noGrp="1"/>
          </p:cNvSpPr>
          <p:nvPr/>
        </p:nvSpPr>
        <p:spPr>
          <a:xfrm>
            <a:off x="3348778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a₁</a:t>
            </a:r>
          </a:p>
        </p:txBody>
      </p:sp>
      <p:sp>
        <p:nvSpPr>
          <p:cNvPr id="153" name="diagram block">
            <a:extLst>
              <a:ext uri="{FF2B5EF4-FFF2-40B4-BE49-F238E27FC236}">
                <a16:creationId xmlns:a16="http://schemas.microsoft.com/office/drawing/2014/main" id="{AADB4820-2A4F-474A-970C-19DC538E39C9}"/>
              </a:ext>
            </a:extLst>
          </p:cNvPr>
          <p:cNvSpPr>
            <a:spLocks noGrp="1"/>
          </p:cNvSpPr>
          <p:nvPr/>
        </p:nvSpPr>
        <p:spPr>
          <a:xfrm>
            <a:off x="3529423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54" name="a₂">
            <a:extLst>
              <a:ext uri="{FF2B5EF4-FFF2-40B4-BE49-F238E27FC236}">
                <a16:creationId xmlns:a16="http://schemas.microsoft.com/office/drawing/2014/main" id="{2AE4C76A-ACFE-469D-8885-3BE60D3AE6F2}"/>
              </a:ext>
            </a:extLst>
          </p:cNvPr>
          <p:cNvSpPr>
            <a:spLocks noGrp="1"/>
          </p:cNvSpPr>
          <p:nvPr/>
        </p:nvSpPr>
        <p:spPr>
          <a:xfrm>
            <a:off x="3555229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a₂</a:t>
            </a:r>
          </a:p>
        </p:txBody>
      </p:sp>
      <p:sp>
        <p:nvSpPr>
          <p:cNvPr id="155" name="diagram block">
            <a:extLst>
              <a:ext uri="{FF2B5EF4-FFF2-40B4-BE49-F238E27FC236}">
                <a16:creationId xmlns:a16="http://schemas.microsoft.com/office/drawing/2014/main" id="{FC016F91-48A1-4347-91A5-983A9714B7AF}"/>
              </a:ext>
            </a:extLst>
          </p:cNvPr>
          <p:cNvSpPr>
            <a:spLocks noGrp="1"/>
          </p:cNvSpPr>
          <p:nvPr/>
        </p:nvSpPr>
        <p:spPr>
          <a:xfrm>
            <a:off x="3735874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56" name="a₃">
            <a:extLst>
              <a:ext uri="{FF2B5EF4-FFF2-40B4-BE49-F238E27FC236}">
                <a16:creationId xmlns:a16="http://schemas.microsoft.com/office/drawing/2014/main" id="{CEECC82A-0211-408E-B9B1-D7941DB8E6AA}"/>
              </a:ext>
            </a:extLst>
          </p:cNvPr>
          <p:cNvSpPr>
            <a:spLocks noGrp="1"/>
          </p:cNvSpPr>
          <p:nvPr/>
        </p:nvSpPr>
        <p:spPr>
          <a:xfrm>
            <a:off x="3761680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a₃</a:t>
            </a:r>
          </a:p>
        </p:txBody>
      </p:sp>
      <p:sp>
        <p:nvSpPr>
          <p:cNvPr id="157" name="diagram block">
            <a:extLst>
              <a:ext uri="{FF2B5EF4-FFF2-40B4-BE49-F238E27FC236}">
                <a16:creationId xmlns:a16="http://schemas.microsoft.com/office/drawing/2014/main" id="{814AE635-3285-4F2C-8CD3-68A799EE99FD}"/>
              </a:ext>
            </a:extLst>
          </p:cNvPr>
          <p:cNvSpPr>
            <a:spLocks noGrp="1"/>
          </p:cNvSpPr>
          <p:nvPr/>
        </p:nvSpPr>
        <p:spPr>
          <a:xfrm>
            <a:off x="3942325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58" name="a₄">
            <a:extLst>
              <a:ext uri="{FF2B5EF4-FFF2-40B4-BE49-F238E27FC236}">
                <a16:creationId xmlns:a16="http://schemas.microsoft.com/office/drawing/2014/main" id="{A42FFA54-F74D-4835-A706-D06E0E2F07FB}"/>
              </a:ext>
            </a:extLst>
          </p:cNvPr>
          <p:cNvSpPr>
            <a:spLocks noGrp="1"/>
          </p:cNvSpPr>
          <p:nvPr/>
        </p:nvSpPr>
        <p:spPr>
          <a:xfrm>
            <a:off x="3968131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a₄</a:t>
            </a:r>
          </a:p>
        </p:txBody>
      </p:sp>
      <p:sp>
        <p:nvSpPr>
          <p:cNvPr id="159" name="diagram block">
            <a:extLst>
              <a:ext uri="{FF2B5EF4-FFF2-40B4-BE49-F238E27FC236}">
                <a16:creationId xmlns:a16="http://schemas.microsoft.com/office/drawing/2014/main" id="{715B5191-11E9-415A-BABD-7A8258EFF147}"/>
              </a:ext>
            </a:extLst>
          </p:cNvPr>
          <p:cNvSpPr>
            <a:spLocks noGrp="1"/>
          </p:cNvSpPr>
          <p:nvPr/>
        </p:nvSpPr>
        <p:spPr>
          <a:xfrm>
            <a:off x="4148776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60" name="a₅">
            <a:extLst>
              <a:ext uri="{FF2B5EF4-FFF2-40B4-BE49-F238E27FC236}">
                <a16:creationId xmlns:a16="http://schemas.microsoft.com/office/drawing/2014/main" id="{E8E4136F-47B3-456E-8AD6-C2977B6DEBFD}"/>
              </a:ext>
            </a:extLst>
          </p:cNvPr>
          <p:cNvSpPr>
            <a:spLocks noGrp="1"/>
          </p:cNvSpPr>
          <p:nvPr/>
        </p:nvSpPr>
        <p:spPr>
          <a:xfrm>
            <a:off x="4174582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a₅</a:t>
            </a:r>
          </a:p>
        </p:txBody>
      </p:sp>
      <p:sp>
        <p:nvSpPr>
          <p:cNvPr id="161" name="diagram block">
            <a:extLst>
              <a:ext uri="{FF2B5EF4-FFF2-40B4-BE49-F238E27FC236}">
                <a16:creationId xmlns:a16="http://schemas.microsoft.com/office/drawing/2014/main" id="{05F2CE88-393D-42BA-ACF5-E71A6B2F2F09}"/>
              </a:ext>
            </a:extLst>
          </p:cNvPr>
          <p:cNvSpPr>
            <a:spLocks noGrp="1"/>
          </p:cNvSpPr>
          <p:nvPr/>
        </p:nvSpPr>
        <p:spPr>
          <a:xfrm>
            <a:off x="4355226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62" name="a₆">
            <a:extLst>
              <a:ext uri="{FF2B5EF4-FFF2-40B4-BE49-F238E27FC236}">
                <a16:creationId xmlns:a16="http://schemas.microsoft.com/office/drawing/2014/main" id="{A9227245-1E2C-4951-82CD-2976693B1E15}"/>
              </a:ext>
            </a:extLst>
          </p:cNvPr>
          <p:cNvSpPr>
            <a:spLocks noGrp="1"/>
          </p:cNvSpPr>
          <p:nvPr/>
        </p:nvSpPr>
        <p:spPr>
          <a:xfrm>
            <a:off x="4381033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a₆</a:t>
            </a:r>
          </a:p>
        </p:txBody>
      </p:sp>
      <p:sp>
        <p:nvSpPr>
          <p:cNvPr id="163" name="diagram block">
            <a:extLst>
              <a:ext uri="{FF2B5EF4-FFF2-40B4-BE49-F238E27FC236}">
                <a16:creationId xmlns:a16="http://schemas.microsoft.com/office/drawing/2014/main" id="{111E91A8-413D-410A-ABFA-0D1EEA18F425}"/>
              </a:ext>
            </a:extLst>
          </p:cNvPr>
          <p:cNvSpPr>
            <a:spLocks noGrp="1"/>
          </p:cNvSpPr>
          <p:nvPr/>
        </p:nvSpPr>
        <p:spPr>
          <a:xfrm>
            <a:off x="4561677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64" name="a₇">
            <a:extLst>
              <a:ext uri="{FF2B5EF4-FFF2-40B4-BE49-F238E27FC236}">
                <a16:creationId xmlns:a16="http://schemas.microsoft.com/office/drawing/2014/main" id="{8D42339D-F16E-4071-AAE5-F608B88A4AC9}"/>
              </a:ext>
            </a:extLst>
          </p:cNvPr>
          <p:cNvSpPr>
            <a:spLocks noGrp="1"/>
          </p:cNvSpPr>
          <p:nvPr/>
        </p:nvSpPr>
        <p:spPr>
          <a:xfrm>
            <a:off x="4587484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a₇</a:t>
            </a:r>
          </a:p>
        </p:txBody>
      </p:sp>
      <p:sp>
        <p:nvSpPr>
          <p:cNvPr id="165" name="diagram block">
            <a:extLst>
              <a:ext uri="{FF2B5EF4-FFF2-40B4-BE49-F238E27FC236}">
                <a16:creationId xmlns:a16="http://schemas.microsoft.com/office/drawing/2014/main" id="{C93DE111-F8C7-47D6-88BE-800AB7AB9BEE}"/>
              </a:ext>
            </a:extLst>
          </p:cNvPr>
          <p:cNvSpPr>
            <a:spLocks noGrp="1"/>
          </p:cNvSpPr>
          <p:nvPr/>
        </p:nvSpPr>
        <p:spPr>
          <a:xfrm>
            <a:off x="4768128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66" name="a₈">
            <a:extLst>
              <a:ext uri="{FF2B5EF4-FFF2-40B4-BE49-F238E27FC236}">
                <a16:creationId xmlns:a16="http://schemas.microsoft.com/office/drawing/2014/main" id="{7A620301-4458-4D63-968C-86B47AB24B87}"/>
              </a:ext>
            </a:extLst>
          </p:cNvPr>
          <p:cNvSpPr>
            <a:spLocks noGrp="1"/>
          </p:cNvSpPr>
          <p:nvPr/>
        </p:nvSpPr>
        <p:spPr>
          <a:xfrm>
            <a:off x="4793935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a₈</a:t>
            </a:r>
          </a:p>
        </p:txBody>
      </p:sp>
      <p:sp>
        <p:nvSpPr>
          <p:cNvPr id="167" name="diagram block">
            <a:extLst>
              <a:ext uri="{FF2B5EF4-FFF2-40B4-BE49-F238E27FC236}">
                <a16:creationId xmlns:a16="http://schemas.microsoft.com/office/drawing/2014/main" id="{D05FACEF-10D4-418A-942E-E6CE6AA9A8F6}"/>
              </a:ext>
            </a:extLst>
          </p:cNvPr>
          <p:cNvSpPr>
            <a:spLocks noGrp="1"/>
          </p:cNvSpPr>
          <p:nvPr/>
        </p:nvSpPr>
        <p:spPr>
          <a:xfrm>
            <a:off x="4974579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68" name="a₉">
            <a:extLst>
              <a:ext uri="{FF2B5EF4-FFF2-40B4-BE49-F238E27FC236}">
                <a16:creationId xmlns:a16="http://schemas.microsoft.com/office/drawing/2014/main" id="{6100E11C-D2E6-48A7-8A1D-DD1CEF1F76E2}"/>
              </a:ext>
            </a:extLst>
          </p:cNvPr>
          <p:cNvSpPr>
            <a:spLocks noGrp="1"/>
          </p:cNvSpPr>
          <p:nvPr/>
        </p:nvSpPr>
        <p:spPr>
          <a:xfrm>
            <a:off x="5000386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a₉</a:t>
            </a:r>
          </a:p>
        </p:txBody>
      </p:sp>
      <p:sp>
        <p:nvSpPr>
          <p:cNvPr id="169" name="diagram block">
            <a:extLst>
              <a:ext uri="{FF2B5EF4-FFF2-40B4-BE49-F238E27FC236}">
                <a16:creationId xmlns:a16="http://schemas.microsoft.com/office/drawing/2014/main" id="{F5F58BE7-AC72-4B37-9B67-95A264BE5602}"/>
              </a:ext>
            </a:extLst>
          </p:cNvPr>
          <p:cNvSpPr>
            <a:spLocks noGrp="1"/>
          </p:cNvSpPr>
          <p:nvPr/>
        </p:nvSpPr>
        <p:spPr>
          <a:xfrm>
            <a:off x="5181030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70" name="a₁₀">
            <a:extLst>
              <a:ext uri="{FF2B5EF4-FFF2-40B4-BE49-F238E27FC236}">
                <a16:creationId xmlns:a16="http://schemas.microsoft.com/office/drawing/2014/main" id="{0596D6BD-0C0A-4900-BA3C-3BFA5F06F1F9}"/>
              </a:ext>
            </a:extLst>
          </p:cNvPr>
          <p:cNvSpPr>
            <a:spLocks noGrp="1"/>
          </p:cNvSpPr>
          <p:nvPr/>
        </p:nvSpPr>
        <p:spPr>
          <a:xfrm>
            <a:off x="5206837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a₁₀</a:t>
            </a:r>
          </a:p>
        </p:txBody>
      </p:sp>
      <p:sp>
        <p:nvSpPr>
          <p:cNvPr id="171" name="Each aₜ ∈ ℝ⁶">
            <a:extLst>
              <a:ext uri="{FF2B5EF4-FFF2-40B4-BE49-F238E27FC236}">
                <a16:creationId xmlns:a16="http://schemas.microsoft.com/office/drawing/2014/main" id="{F491B7C6-C164-40F1-92E3-DABBA4984213}"/>
              </a:ext>
            </a:extLst>
          </p:cNvPr>
          <p:cNvSpPr>
            <a:spLocks noGrp="1"/>
          </p:cNvSpPr>
          <p:nvPr/>
        </p:nvSpPr>
        <p:spPr>
          <a:xfrm>
            <a:off x="5423610" y="939352"/>
            <a:ext cx="474837" cy="1548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082"/>
          </a:bodyPr>
          <a:lstStyle>
            <a:def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Each aₜ ∈ ℝ⁶</a:t>
            </a:r>
          </a:p>
        </p:txBody>
      </p:sp>
      <p:cxnSp>
        <p:nvCxnSpPr>
          <p:cNvPr id="172" name="native PowerPoint connector">
            <a:extLst>
              <a:ext uri="{FF2B5EF4-FFF2-40B4-BE49-F238E27FC236}">
                <a16:creationId xmlns:a16="http://schemas.microsoft.com/office/drawing/2014/main" id="{1F6C40D0-A553-4F9E-B527-4516399E29F9}"/>
              </a:ext>
            </a:extLst>
          </p:cNvPr>
          <p:cNvCxnSpPr/>
          <p:nvPr/>
        </p:nvCxnSpPr>
        <p:spPr>
          <a:xfrm>
            <a:off x="4515226" y="1109674"/>
            <a:ext cx="0" cy="144516"/>
          </a:xfrm>
          <a:prstGeom prst="straightConnector1">
            <a:avLst/>
          </a:prstGeom>
          <a:ln w="10323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173" name="diagram block">
            <a:extLst>
              <a:ext uri="{FF2B5EF4-FFF2-40B4-BE49-F238E27FC236}">
                <a16:creationId xmlns:a16="http://schemas.microsoft.com/office/drawing/2014/main" id="{DB5FA2BA-0CF8-4FC3-9D02-8F3F8863D644}"/>
              </a:ext>
            </a:extLst>
          </p:cNvPr>
          <p:cNvSpPr>
            <a:spLocks noGrp="1"/>
          </p:cNvSpPr>
          <p:nvPr/>
        </p:nvSpPr>
        <p:spPr>
          <a:xfrm>
            <a:off x="3266198" y="1274835"/>
            <a:ext cx="2621927" cy="159999"/>
          </a:xfrm>
          <a:prstGeom prst="roundRect">
            <a:avLst>
              <a:gd name="adj" fmla="val 9677"/>
            </a:avLst>
          </a:prstGeom>
          <a:solidFill>
            <a:srgbClr val="DEEEFF"/>
          </a:solidFill>
          <a:ln w="5161">
            <a:solidFill>
              <a:srgbClr val="BCD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74" name="Overlapping 3-step ordered windows → 8 tokens (18-D)">
            <a:extLst>
              <a:ext uri="{FF2B5EF4-FFF2-40B4-BE49-F238E27FC236}">
                <a16:creationId xmlns:a16="http://schemas.microsoft.com/office/drawing/2014/main" id="{F35F4E0C-103E-4991-8E73-12C90AA9B591}"/>
              </a:ext>
            </a:extLst>
          </p:cNvPr>
          <p:cNvSpPr>
            <a:spLocks noGrp="1"/>
          </p:cNvSpPr>
          <p:nvPr/>
        </p:nvSpPr>
        <p:spPr>
          <a:xfrm>
            <a:off x="3292004" y="1300641"/>
            <a:ext cx="2570314" cy="108387"/>
          </a:xfrm>
          <a:prstGeom prst="rect">
            <a:avLst/>
          </a:prstGeom>
          <a:solidFill>
            <a:srgbClr val="DEEEFF"/>
          </a:solidFill>
          <a:ln w="0">
            <a:noFill/>
          </a:ln>
        </p:spPr>
        <p:txBody>
          <a:bodyPr wrap="none" lIns="0" tIns="0" rIns="0" bIns="0" anchor="ctr">
            <a:normAutofit fontScale="87479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Overlapping 3-step ordered windows → 8 tokens (18-D)</a:t>
            </a:r>
          </a:p>
        </p:txBody>
      </p:sp>
      <p:sp>
        <p:nvSpPr>
          <p:cNvPr id="175" name="diagram block">
            <a:extLst>
              <a:ext uri="{FF2B5EF4-FFF2-40B4-BE49-F238E27FC236}">
                <a16:creationId xmlns:a16="http://schemas.microsoft.com/office/drawing/2014/main" id="{13A20140-BE88-482F-919E-D23900C8ABE5}"/>
              </a:ext>
            </a:extLst>
          </p:cNvPr>
          <p:cNvSpPr>
            <a:spLocks noGrp="1"/>
          </p:cNvSpPr>
          <p:nvPr/>
        </p:nvSpPr>
        <p:spPr>
          <a:xfrm>
            <a:off x="3312649" y="1496769"/>
            <a:ext cx="526450" cy="314838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4488C8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76" name="w₁">
            <a:extLst>
              <a:ext uri="{FF2B5EF4-FFF2-40B4-BE49-F238E27FC236}">
                <a16:creationId xmlns:a16="http://schemas.microsoft.com/office/drawing/2014/main" id="{18A150ED-4F8A-41C1-B71F-3D20918C10DF}"/>
              </a:ext>
            </a:extLst>
          </p:cNvPr>
          <p:cNvSpPr>
            <a:spLocks noGrp="1"/>
          </p:cNvSpPr>
          <p:nvPr/>
        </p:nvSpPr>
        <p:spPr>
          <a:xfrm>
            <a:off x="3353939" y="1538060"/>
            <a:ext cx="438708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317"/>
          </a:bodyPr>
          <a:lstStyle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w₁</a:t>
            </a:r>
          </a:p>
        </p:txBody>
      </p:sp>
      <p:sp>
        <p:nvSpPr>
          <p:cNvPr id="177" name="(a₁, a₂, a₃)">
            <a:extLst>
              <a:ext uri="{FF2B5EF4-FFF2-40B4-BE49-F238E27FC236}">
                <a16:creationId xmlns:a16="http://schemas.microsoft.com/office/drawing/2014/main" id="{65E18DA0-F900-49E0-B03D-E9020D49920B}"/>
              </a:ext>
            </a:extLst>
          </p:cNvPr>
          <p:cNvSpPr>
            <a:spLocks noGrp="1"/>
          </p:cNvSpPr>
          <p:nvPr/>
        </p:nvSpPr>
        <p:spPr>
          <a:xfrm>
            <a:off x="3322972" y="1667091"/>
            <a:ext cx="505805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(a₁, a₂, a₃)</a:t>
            </a:r>
          </a:p>
        </p:txBody>
      </p:sp>
      <p:sp>
        <p:nvSpPr>
          <p:cNvPr id="178" name="diagram block">
            <a:extLst>
              <a:ext uri="{FF2B5EF4-FFF2-40B4-BE49-F238E27FC236}">
                <a16:creationId xmlns:a16="http://schemas.microsoft.com/office/drawing/2014/main" id="{1F49F442-6C3F-4BC5-B00E-892A9414AC7C}"/>
              </a:ext>
            </a:extLst>
          </p:cNvPr>
          <p:cNvSpPr>
            <a:spLocks noGrp="1"/>
          </p:cNvSpPr>
          <p:nvPr/>
        </p:nvSpPr>
        <p:spPr>
          <a:xfrm>
            <a:off x="3870067" y="1496769"/>
            <a:ext cx="526450" cy="314838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4488C8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79" name="w₂">
            <a:extLst>
              <a:ext uri="{FF2B5EF4-FFF2-40B4-BE49-F238E27FC236}">
                <a16:creationId xmlns:a16="http://schemas.microsoft.com/office/drawing/2014/main" id="{4CCC0068-D49B-4638-B1DF-C44C46A95919}"/>
              </a:ext>
            </a:extLst>
          </p:cNvPr>
          <p:cNvSpPr>
            <a:spLocks noGrp="1"/>
          </p:cNvSpPr>
          <p:nvPr/>
        </p:nvSpPr>
        <p:spPr>
          <a:xfrm>
            <a:off x="3911357" y="1538060"/>
            <a:ext cx="438708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317"/>
          </a:bodyPr>
          <a:lstStyle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w₂</a:t>
            </a:r>
          </a:p>
        </p:txBody>
      </p:sp>
      <p:sp>
        <p:nvSpPr>
          <p:cNvPr id="180" name="(a₂, a₃, a₄)">
            <a:extLst>
              <a:ext uri="{FF2B5EF4-FFF2-40B4-BE49-F238E27FC236}">
                <a16:creationId xmlns:a16="http://schemas.microsoft.com/office/drawing/2014/main" id="{CFE8B76D-8FA0-414D-81C5-FD82950DBFF3}"/>
              </a:ext>
            </a:extLst>
          </p:cNvPr>
          <p:cNvSpPr>
            <a:spLocks noGrp="1"/>
          </p:cNvSpPr>
          <p:nvPr/>
        </p:nvSpPr>
        <p:spPr>
          <a:xfrm>
            <a:off x="3880389" y="1667091"/>
            <a:ext cx="505805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(a₂, a₃, a₄)</a:t>
            </a:r>
          </a:p>
        </p:txBody>
      </p:sp>
      <p:sp>
        <p:nvSpPr>
          <p:cNvPr id="181" name="diagram block">
            <a:extLst>
              <a:ext uri="{FF2B5EF4-FFF2-40B4-BE49-F238E27FC236}">
                <a16:creationId xmlns:a16="http://schemas.microsoft.com/office/drawing/2014/main" id="{B7A49B76-64AB-46B6-8F35-B56650E1BBDD}"/>
              </a:ext>
            </a:extLst>
          </p:cNvPr>
          <p:cNvSpPr>
            <a:spLocks noGrp="1"/>
          </p:cNvSpPr>
          <p:nvPr/>
        </p:nvSpPr>
        <p:spPr>
          <a:xfrm>
            <a:off x="4427484" y="1496769"/>
            <a:ext cx="526450" cy="314838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4488C8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82" name="w₃">
            <a:extLst>
              <a:ext uri="{FF2B5EF4-FFF2-40B4-BE49-F238E27FC236}">
                <a16:creationId xmlns:a16="http://schemas.microsoft.com/office/drawing/2014/main" id="{053DB0D5-9E93-42DA-976A-178903E9DC7B}"/>
              </a:ext>
            </a:extLst>
          </p:cNvPr>
          <p:cNvSpPr>
            <a:spLocks noGrp="1"/>
          </p:cNvSpPr>
          <p:nvPr/>
        </p:nvSpPr>
        <p:spPr>
          <a:xfrm>
            <a:off x="4468775" y="1538060"/>
            <a:ext cx="438708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317"/>
          </a:bodyPr>
          <a:lstStyle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w₃</a:t>
            </a:r>
          </a:p>
        </p:txBody>
      </p:sp>
      <p:sp>
        <p:nvSpPr>
          <p:cNvPr id="183" name="(a₃, a₄, a₅)">
            <a:extLst>
              <a:ext uri="{FF2B5EF4-FFF2-40B4-BE49-F238E27FC236}">
                <a16:creationId xmlns:a16="http://schemas.microsoft.com/office/drawing/2014/main" id="{295F2879-1BEA-4087-AF6C-A4EB8EB1BC84}"/>
              </a:ext>
            </a:extLst>
          </p:cNvPr>
          <p:cNvSpPr>
            <a:spLocks noGrp="1"/>
          </p:cNvSpPr>
          <p:nvPr/>
        </p:nvSpPr>
        <p:spPr>
          <a:xfrm>
            <a:off x="4437807" y="1667091"/>
            <a:ext cx="505805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(a₃, a₄, a₅)</a:t>
            </a:r>
          </a:p>
        </p:txBody>
      </p:sp>
      <p:sp>
        <p:nvSpPr>
          <p:cNvPr id="184" name="diagram block">
            <a:extLst>
              <a:ext uri="{FF2B5EF4-FFF2-40B4-BE49-F238E27FC236}">
                <a16:creationId xmlns:a16="http://schemas.microsoft.com/office/drawing/2014/main" id="{0CBF7AC7-A8DA-4B86-BC02-E331EB33DB35}"/>
              </a:ext>
            </a:extLst>
          </p:cNvPr>
          <p:cNvSpPr>
            <a:spLocks noGrp="1"/>
          </p:cNvSpPr>
          <p:nvPr/>
        </p:nvSpPr>
        <p:spPr>
          <a:xfrm>
            <a:off x="5320385" y="1496769"/>
            <a:ext cx="526450" cy="314838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4488C8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85" name="w₈">
            <a:extLst>
              <a:ext uri="{FF2B5EF4-FFF2-40B4-BE49-F238E27FC236}">
                <a16:creationId xmlns:a16="http://schemas.microsoft.com/office/drawing/2014/main" id="{5D8BF2F2-B8EC-491C-8F3C-81786BE3AADC}"/>
              </a:ext>
            </a:extLst>
          </p:cNvPr>
          <p:cNvSpPr>
            <a:spLocks noGrp="1"/>
          </p:cNvSpPr>
          <p:nvPr/>
        </p:nvSpPr>
        <p:spPr>
          <a:xfrm>
            <a:off x="5361675" y="1538060"/>
            <a:ext cx="438708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317"/>
          </a:bodyPr>
          <a:lstStyle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w₈</a:t>
            </a:r>
          </a:p>
        </p:txBody>
      </p:sp>
      <p:sp>
        <p:nvSpPr>
          <p:cNvPr id="186" name="(a₈, a₉, a₁₀)">
            <a:extLst>
              <a:ext uri="{FF2B5EF4-FFF2-40B4-BE49-F238E27FC236}">
                <a16:creationId xmlns:a16="http://schemas.microsoft.com/office/drawing/2014/main" id="{FCFEE7CB-39A0-47D3-93EC-40A77AC16632}"/>
              </a:ext>
            </a:extLst>
          </p:cNvPr>
          <p:cNvSpPr>
            <a:spLocks noGrp="1"/>
          </p:cNvSpPr>
          <p:nvPr/>
        </p:nvSpPr>
        <p:spPr>
          <a:xfrm>
            <a:off x="5330707" y="1667091"/>
            <a:ext cx="505805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(a₈, a₉, a₁₀)</a:t>
            </a:r>
          </a:p>
        </p:txBody>
      </p:sp>
      <p:sp>
        <p:nvSpPr>
          <p:cNvPr id="187" name="…">
            <a:extLst>
              <a:ext uri="{FF2B5EF4-FFF2-40B4-BE49-F238E27FC236}">
                <a16:creationId xmlns:a16="http://schemas.microsoft.com/office/drawing/2014/main" id="{26ED4FCA-61CC-4A84-829E-902F553D122F}"/>
              </a:ext>
            </a:extLst>
          </p:cNvPr>
          <p:cNvSpPr>
            <a:spLocks noGrp="1"/>
          </p:cNvSpPr>
          <p:nvPr/>
        </p:nvSpPr>
        <p:spPr>
          <a:xfrm>
            <a:off x="5026192" y="1548382"/>
            <a:ext cx="216774" cy="1548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279"/>
          </a:bodyPr>
          <a:lstStyle>
            <a:def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88" name="Each token uᵢ ∈ ℝ¹⁸ (concatenate 3 actions)">
            <a:extLst>
              <a:ext uri="{FF2B5EF4-FFF2-40B4-BE49-F238E27FC236}">
                <a16:creationId xmlns:a16="http://schemas.microsoft.com/office/drawing/2014/main" id="{C9316363-CEBF-489F-8923-88BBC0BDBE82}"/>
              </a:ext>
            </a:extLst>
          </p:cNvPr>
          <p:cNvSpPr>
            <a:spLocks noGrp="1"/>
          </p:cNvSpPr>
          <p:nvPr/>
        </p:nvSpPr>
        <p:spPr>
          <a:xfrm>
            <a:off x="3390068" y="1863220"/>
            <a:ext cx="2425799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Each token uᵢ ∈ ℝ¹⁸ (concatenate 3 actions)</a:t>
            </a:r>
          </a:p>
        </p:txBody>
      </p:sp>
      <p:sp>
        <p:nvSpPr>
          <p:cNvPr id="189" name="diagram block">
            <a:extLst>
              <a:ext uri="{FF2B5EF4-FFF2-40B4-BE49-F238E27FC236}">
                <a16:creationId xmlns:a16="http://schemas.microsoft.com/office/drawing/2014/main" id="{EEDACDF3-B9A5-462C-A546-A3113EAD1476}"/>
              </a:ext>
            </a:extLst>
          </p:cNvPr>
          <p:cNvSpPr>
            <a:spLocks noGrp="1"/>
          </p:cNvSpPr>
          <p:nvPr/>
        </p:nvSpPr>
        <p:spPr>
          <a:xfrm>
            <a:off x="3266198" y="2038703"/>
            <a:ext cx="1383221" cy="159999"/>
          </a:xfrm>
          <a:prstGeom prst="roundRect">
            <a:avLst>
              <a:gd name="adj" fmla="val 9677"/>
            </a:avLst>
          </a:prstGeom>
          <a:solidFill>
            <a:srgbClr val="DFEEFF"/>
          </a:solidFill>
          <a:ln w="5161">
            <a:solidFill>
              <a:srgbClr val="C0D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0" name="Relation matrix (8 tokens)">
            <a:extLst>
              <a:ext uri="{FF2B5EF4-FFF2-40B4-BE49-F238E27FC236}">
                <a16:creationId xmlns:a16="http://schemas.microsoft.com/office/drawing/2014/main" id="{0D09EF51-EA31-4531-9C63-89C3D0D61EC4}"/>
              </a:ext>
            </a:extLst>
          </p:cNvPr>
          <p:cNvSpPr>
            <a:spLocks noGrp="1"/>
          </p:cNvSpPr>
          <p:nvPr/>
        </p:nvSpPr>
        <p:spPr>
          <a:xfrm>
            <a:off x="3292004" y="2064510"/>
            <a:ext cx="1331609" cy="108387"/>
          </a:xfrm>
          <a:prstGeom prst="rect">
            <a:avLst/>
          </a:prstGeom>
          <a:solidFill>
            <a:srgbClr val="DFEEFF"/>
          </a:solidFill>
          <a:ln w="0">
            <a:noFill/>
          </a:ln>
        </p:spPr>
        <p:txBody>
          <a:bodyPr wrap="none" lIns="0" tIns="0" rIns="0" bIns="0" anchor="ctr">
            <a:normAutofit fontScale="87479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Relation matrix (8 tokens)</a:t>
            </a:r>
          </a:p>
        </p:txBody>
      </p:sp>
      <p:sp>
        <p:nvSpPr>
          <p:cNvPr id="191" name="diagram block">
            <a:extLst>
              <a:ext uri="{FF2B5EF4-FFF2-40B4-BE49-F238E27FC236}">
                <a16:creationId xmlns:a16="http://schemas.microsoft.com/office/drawing/2014/main" id="{C0553CDF-077B-469D-98E5-E320D81C285B}"/>
              </a:ext>
            </a:extLst>
          </p:cNvPr>
          <p:cNvSpPr>
            <a:spLocks noGrp="1"/>
          </p:cNvSpPr>
          <p:nvPr/>
        </p:nvSpPr>
        <p:spPr>
          <a:xfrm>
            <a:off x="4721677" y="2038703"/>
            <a:ext cx="1176770" cy="159999"/>
          </a:xfrm>
          <a:prstGeom prst="roundRect">
            <a:avLst>
              <a:gd name="adj" fmla="val 9677"/>
            </a:avLst>
          </a:prstGeom>
          <a:solidFill>
            <a:srgbClr val="DFEEFF"/>
          </a:solidFill>
          <a:ln w="5161">
            <a:solidFill>
              <a:srgbClr val="C0DFFF"/>
            </a:solidFill>
            <a:prstDash val="solid"/>
          </a:ln>
        </p:spPr>
        <p:txBody>
          <a:bodyPr/>
          <a:lstStyle/>
          <a:p>
            <a:endParaRPr lang="zh-SG" altLang="en-US" dirty="0"/>
          </a:p>
        </p:txBody>
      </p:sp>
      <p:sp>
        <p:nvSpPr>
          <p:cNvPr id="192" name="Neighbor probabilities">
            <a:extLst>
              <a:ext uri="{FF2B5EF4-FFF2-40B4-BE49-F238E27FC236}">
                <a16:creationId xmlns:a16="http://schemas.microsoft.com/office/drawing/2014/main" id="{BDA9F134-43E6-48CB-B448-656638BAF6C2}"/>
              </a:ext>
            </a:extLst>
          </p:cNvPr>
          <p:cNvSpPr>
            <a:spLocks noGrp="1"/>
          </p:cNvSpPr>
          <p:nvPr/>
        </p:nvSpPr>
        <p:spPr>
          <a:xfrm>
            <a:off x="4747483" y="2064510"/>
            <a:ext cx="1125158" cy="108387"/>
          </a:xfrm>
          <a:prstGeom prst="rect">
            <a:avLst/>
          </a:prstGeom>
          <a:solidFill>
            <a:srgbClr val="DFEEFF"/>
          </a:solidFill>
          <a:ln w="0">
            <a:noFill/>
          </a:ln>
        </p:spPr>
        <p:txBody>
          <a:bodyPr wrap="none" lIns="0" tIns="0" rIns="0" bIns="0" anchor="ctr">
            <a:normAutofit fontScale="87479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Neighbor probabilities</a:t>
            </a:r>
          </a:p>
        </p:txBody>
      </p:sp>
      <p:sp>
        <p:nvSpPr>
          <p:cNvPr id="193" name="1">
            <a:extLst>
              <a:ext uri="{FF2B5EF4-FFF2-40B4-BE49-F238E27FC236}">
                <a16:creationId xmlns:a16="http://schemas.microsoft.com/office/drawing/2014/main" id="{DD017404-20D7-45DD-8A1F-C7BFCF701F95}"/>
              </a:ext>
            </a:extLst>
          </p:cNvPr>
          <p:cNvSpPr>
            <a:spLocks noGrp="1"/>
          </p:cNvSpPr>
          <p:nvPr/>
        </p:nvSpPr>
        <p:spPr>
          <a:xfrm>
            <a:off x="3446842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94" name="1">
            <a:extLst>
              <a:ext uri="{FF2B5EF4-FFF2-40B4-BE49-F238E27FC236}">
                <a16:creationId xmlns:a16="http://schemas.microsoft.com/office/drawing/2014/main" id="{3EAC0823-676D-414D-B0E0-57E64128FD0D}"/>
              </a:ext>
            </a:extLst>
          </p:cNvPr>
          <p:cNvSpPr>
            <a:spLocks noGrp="1"/>
          </p:cNvSpPr>
          <p:nvPr/>
        </p:nvSpPr>
        <p:spPr>
          <a:xfrm>
            <a:off x="3307488" y="2348380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95" name="diagram block">
            <a:extLst>
              <a:ext uri="{FF2B5EF4-FFF2-40B4-BE49-F238E27FC236}">
                <a16:creationId xmlns:a16="http://schemas.microsoft.com/office/drawing/2014/main" id="{D4AE4D46-5D80-4BE7-BD3B-E99D377828CB}"/>
              </a:ext>
            </a:extLst>
          </p:cNvPr>
          <p:cNvSpPr>
            <a:spLocks noGrp="1"/>
          </p:cNvSpPr>
          <p:nvPr/>
        </p:nvSpPr>
        <p:spPr>
          <a:xfrm>
            <a:off x="3446842" y="2343218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6" name="×">
            <a:extLst>
              <a:ext uri="{FF2B5EF4-FFF2-40B4-BE49-F238E27FC236}">
                <a16:creationId xmlns:a16="http://schemas.microsoft.com/office/drawing/2014/main" id="{EAA57379-8BFC-4857-8478-E33FBF608886}"/>
              </a:ext>
            </a:extLst>
          </p:cNvPr>
          <p:cNvSpPr>
            <a:spLocks noGrp="1"/>
          </p:cNvSpPr>
          <p:nvPr/>
        </p:nvSpPr>
        <p:spPr>
          <a:xfrm>
            <a:off x="3446842" y="2338057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197" name="diagram block">
            <a:extLst>
              <a:ext uri="{FF2B5EF4-FFF2-40B4-BE49-F238E27FC236}">
                <a16:creationId xmlns:a16="http://schemas.microsoft.com/office/drawing/2014/main" id="{0FED87AC-0052-4B7D-8BCC-A8C4EEE53DA1}"/>
              </a:ext>
            </a:extLst>
          </p:cNvPr>
          <p:cNvSpPr>
            <a:spLocks noGrp="1"/>
          </p:cNvSpPr>
          <p:nvPr/>
        </p:nvSpPr>
        <p:spPr>
          <a:xfrm>
            <a:off x="3555229" y="2343218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8" name="diagram block">
            <a:extLst>
              <a:ext uri="{FF2B5EF4-FFF2-40B4-BE49-F238E27FC236}">
                <a16:creationId xmlns:a16="http://schemas.microsoft.com/office/drawing/2014/main" id="{432B5AB6-5164-4766-9AC2-D92EDBACB9F3}"/>
              </a:ext>
            </a:extLst>
          </p:cNvPr>
          <p:cNvSpPr>
            <a:spLocks noGrp="1"/>
          </p:cNvSpPr>
          <p:nvPr/>
        </p:nvSpPr>
        <p:spPr>
          <a:xfrm>
            <a:off x="3663616" y="2343218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9" name="diagram block">
            <a:extLst>
              <a:ext uri="{FF2B5EF4-FFF2-40B4-BE49-F238E27FC236}">
                <a16:creationId xmlns:a16="http://schemas.microsoft.com/office/drawing/2014/main" id="{731483BB-D403-4515-8F95-FAB891FFD6B4}"/>
              </a:ext>
            </a:extLst>
          </p:cNvPr>
          <p:cNvSpPr>
            <a:spLocks noGrp="1"/>
          </p:cNvSpPr>
          <p:nvPr/>
        </p:nvSpPr>
        <p:spPr>
          <a:xfrm>
            <a:off x="3772003" y="2343218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00" name="diagram block">
            <a:extLst>
              <a:ext uri="{FF2B5EF4-FFF2-40B4-BE49-F238E27FC236}">
                <a16:creationId xmlns:a16="http://schemas.microsoft.com/office/drawing/2014/main" id="{B545A6C7-EC94-4246-85DA-FBCABCDB8538}"/>
              </a:ext>
            </a:extLst>
          </p:cNvPr>
          <p:cNvSpPr>
            <a:spLocks noGrp="1"/>
          </p:cNvSpPr>
          <p:nvPr/>
        </p:nvSpPr>
        <p:spPr>
          <a:xfrm>
            <a:off x="3880389" y="2343218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01" name="diagram block">
            <a:extLst>
              <a:ext uri="{FF2B5EF4-FFF2-40B4-BE49-F238E27FC236}">
                <a16:creationId xmlns:a16="http://schemas.microsoft.com/office/drawing/2014/main" id="{B1B05EC0-77FB-41E7-89B3-B9CBCE477B13}"/>
              </a:ext>
            </a:extLst>
          </p:cNvPr>
          <p:cNvSpPr>
            <a:spLocks noGrp="1"/>
          </p:cNvSpPr>
          <p:nvPr/>
        </p:nvSpPr>
        <p:spPr>
          <a:xfrm>
            <a:off x="3988776" y="2343218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02" name="diagram block">
            <a:extLst>
              <a:ext uri="{FF2B5EF4-FFF2-40B4-BE49-F238E27FC236}">
                <a16:creationId xmlns:a16="http://schemas.microsoft.com/office/drawing/2014/main" id="{EA8A60E2-231C-4FC9-92AF-3838CD9AB965}"/>
              </a:ext>
            </a:extLst>
          </p:cNvPr>
          <p:cNvSpPr>
            <a:spLocks noGrp="1"/>
          </p:cNvSpPr>
          <p:nvPr/>
        </p:nvSpPr>
        <p:spPr>
          <a:xfrm>
            <a:off x="4097163" y="2343218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03" name="diagram block">
            <a:extLst>
              <a:ext uri="{FF2B5EF4-FFF2-40B4-BE49-F238E27FC236}">
                <a16:creationId xmlns:a16="http://schemas.microsoft.com/office/drawing/2014/main" id="{DC7828AD-ECE1-4D57-9367-4859F2BC6319}"/>
              </a:ext>
            </a:extLst>
          </p:cNvPr>
          <p:cNvSpPr>
            <a:spLocks noGrp="1"/>
          </p:cNvSpPr>
          <p:nvPr/>
        </p:nvSpPr>
        <p:spPr>
          <a:xfrm>
            <a:off x="4205550" y="2343218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04" name="2">
            <a:extLst>
              <a:ext uri="{FF2B5EF4-FFF2-40B4-BE49-F238E27FC236}">
                <a16:creationId xmlns:a16="http://schemas.microsoft.com/office/drawing/2014/main" id="{3250A984-2A2F-4F61-B20E-9D3162905130}"/>
              </a:ext>
            </a:extLst>
          </p:cNvPr>
          <p:cNvSpPr>
            <a:spLocks noGrp="1"/>
          </p:cNvSpPr>
          <p:nvPr/>
        </p:nvSpPr>
        <p:spPr>
          <a:xfrm>
            <a:off x="3555229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05" name="2">
            <a:extLst>
              <a:ext uri="{FF2B5EF4-FFF2-40B4-BE49-F238E27FC236}">
                <a16:creationId xmlns:a16="http://schemas.microsoft.com/office/drawing/2014/main" id="{394D3188-B12F-43E2-AD19-1149259A5849}"/>
              </a:ext>
            </a:extLst>
          </p:cNvPr>
          <p:cNvSpPr>
            <a:spLocks noGrp="1"/>
          </p:cNvSpPr>
          <p:nvPr/>
        </p:nvSpPr>
        <p:spPr>
          <a:xfrm>
            <a:off x="3307488" y="2454186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06" name="diagram block">
            <a:extLst>
              <a:ext uri="{FF2B5EF4-FFF2-40B4-BE49-F238E27FC236}">
                <a16:creationId xmlns:a16="http://schemas.microsoft.com/office/drawing/2014/main" id="{C35AFBE3-A2BC-4FD0-9038-99A9A0F1B681}"/>
              </a:ext>
            </a:extLst>
          </p:cNvPr>
          <p:cNvSpPr>
            <a:spLocks noGrp="1"/>
          </p:cNvSpPr>
          <p:nvPr/>
        </p:nvSpPr>
        <p:spPr>
          <a:xfrm>
            <a:off x="3446842" y="2449024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07" name="diagram block">
            <a:extLst>
              <a:ext uri="{FF2B5EF4-FFF2-40B4-BE49-F238E27FC236}">
                <a16:creationId xmlns:a16="http://schemas.microsoft.com/office/drawing/2014/main" id="{9E5EB554-DF01-48A6-A34B-CBB15F436B38}"/>
              </a:ext>
            </a:extLst>
          </p:cNvPr>
          <p:cNvSpPr>
            <a:spLocks noGrp="1"/>
          </p:cNvSpPr>
          <p:nvPr/>
        </p:nvSpPr>
        <p:spPr>
          <a:xfrm>
            <a:off x="3555229" y="2449024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08" name="×">
            <a:extLst>
              <a:ext uri="{FF2B5EF4-FFF2-40B4-BE49-F238E27FC236}">
                <a16:creationId xmlns:a16="http://schemas.microsoft.com/office/drawing/2014/main" id="{73635287-741A-4261-AD14-4DD15717F275}"/>
              </a:ext>
            </a:extLst>
          </p:cNvPr>
          <p:cNvSpPr>
            <a:spLocks noGrp="1"/>
          </p:cNvSpPr>
          <p:nvPr/>
        </p:nvSpPr>
        <p:spPr>
          <a:xfrm>
            <a:off x="3555229" y="2443863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09" name="diagram block">
            <a:extLst>
              <a:ext uri="{FF2B5EF4-FFF2-40B4-BE49-F238E27FC236}">
                <a16:creationId xmlns:a16="http://schemas.microsoft.com/office/drawing/2014/main" id="{A195E8DD-03C3-4FD7-8F19-D21247C9A698}"/>
              </a:ext>
            </a:extLst>
          </p:cNvPr>
          <p:cNvSpPr>
            <a:spLocks noGrp="1"/>
          </p:cNvSpPr>
          <p:nvPr/>
        </p:nvSpPr>
        <p:spPr>
          <a:xfrm>
            <a:off x="3663616" y="2449024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10" name="diagram block">
            <a:extLst>
              <a:ext uri="{FF2B5EF4-FFF2-40B4-BE49-F238E27FC236}">
                <a16:creationId xmlns:a16="http://schemas.microsoft.com/office/drawing/2014/main" id="{D46B65AF-8B76-45FF-ACCF-D594620ED740}"/>
              </a:ext>
            </a:extLst>
          </p:cNvPr>
          <p:cNvSpPr>
            <a:spLocks noGrp="1"/>
          </p:cNvSpPr>
          <p:nvPr/>
        </p:nvSpPr>
        <p:spPr>
          <a:xfrm>
            <a:off x="3772003" y="2449024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11" name="diagram block">
            <a:extLst>
              <a:ext uri="{FF2B5EF4-FFF2-40B4-BE49-F238E27FC236}">
                <a16:creationId xmlns:a16="http://schemas.microsoft.com/office/drawing/2014/main" id="{01342627-C6DD-4A74-BA05-DA48CA5EE12D}"/>
              </a:ext>
            </a:extLst>
          </p:cNvPr>
          <p:cNvSpPr>
            <a:spLocks noGrp="1"/>
          </p:cNvSpPr>
          <p:nvPr/>
        </p:nvSpPr>
        <p:spPr>
          <a:xfrm>
            <a:off x="3880389" y="2449024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12" name="diagram block">
            <a:extLst>
              <a:ext uri="{FF2B5EF4-FFF2-40B4-BE49-F238E27FC236}">
                <a16:creationId xmlns:a16="http://schemas.microsoft.com/office/drawing/2014/main" id="{1A5BBE19-DC33-4218-9AA9-01BB689099B0}"/>
              </a:ext>
            </a:extLst>
          </p:cNvPr>
          <p:cNvSpPr>
            <a:spLocks noGrp="1"/>
          </p:cNvSpPr>
          <p:nvPr/>
        </p:nvSpPr>
        <p:spPr>
          <a:xfrm>
            <a:off x="3988776" y="2449024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13" name="diagram block">
            <a:extLst>
              <a:ext uri="{FF2B5EF4-FFF2-40B4-BE49-F238E27FC236}">
                <a16:creationId xmlns:a16="http://schemas.microsoft.com/office/drawing/2014/main" id="{76F941E3-32A6-4B21-A0EA-09A93F2ED53A}"/>
              </a:ext>
            </a:extLst>
          </p:cNvPr>
          <p:cNvSpPr>
            <a:spLocks noGrp="1"/>
          </p:cNvSpPr>
          <p:nvPr/>
        </p:nvSpPr>
        <p:spPr>
          <a:xfrm>
            <a:off x="4097163" y="2449024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14" name="diagram block">
            <a:extLst>
              <a:ext uri="{FF2B5EF4-FFF2-40B4-BE49-F238E27FC236}">
                <a16:creationId xmlns:a16="http://schemas.microsoft.com/office/drawing/2014/main" id="{690BF409-B604-4170-9A78-B5416245B8ED}"/>
              </a:ext>
            </a:extLst>
          </p:cNvPr>
          <p:cNvSpPr>
            <a:spLocks noGrp="1"/>
          </p:cNvSpPr>
          <p:nvPr/>
        </p:nvSpPr>
        <p:spPr>
          <a:xfrm>
            <a:off x="4205550" y="2449024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15" name="3">
            <a:extLst>
              <a:ext uri="{FF2B5EF4-FFF2-40B4-BE49-F238E27FC236}">
                <a16:creationId xmlns:a16="http://schemas.microsoft.com/office/drawing/2014/main" id="{E36FB345-3D3E-4293-B01E-EAFCF5C4E91A}"/>
              </a:ext>
            </a:extLst>
          </p:cNvPr>
          <p:cNvSpPr>
            <a:spLocks noGrp="1"/>
          </p:cNvSpPr>
          <p:nvPr/>
        </p:nvSpPr>
        <p:spPr>
          <a:xfrm>
            <a:off x="3663616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16" name="3">
            <a:extLst>
              <a:ext uri="{FF2B5EF4-FFF2-40B4-BE49-F238E27FC236}">
                <a16:creationId xmlns:a16="http://schemas.microsoft.com/office/drawing/2014/main" id="{8F19A73D-D14E-44FA-92FD-73E6A2583FD9}"/>
              </a:ext>
            </a:extLst>
          </p:cNvPr>
          <p:cNvSpPr>
            <a:spLocks noGrp="1"/>
          </p:cNvSpPr>
          <p:nvPr/>
        </p:nvSpPr>
        <p:spPr>
          <a:xfrm>
            <a:off x="3307488" y="2559992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17" name="diagram block">
            <a:extLst>
              <a:ext uri="{FF2B5EF4-FFF2-40B4-BE49-F238E27FC236}">
                <a16:creationId xmlns:a16="http://schemas.microsoft.com/office/drawing/2014/main" id="{6B4ADE51-ED82-46B5-B213-0E1C80816299}"/>
              </a:ext>
            </a:extLst>
          </p:cNvPr>
          <p:cNvSpPr>
            <a:spLocks noGrp="1"/>
          </p:cNvSpPr>
          <p:nvPr/>
        </p:nvSpPr>
        <p:spPr>
          <a:xfrm>
            <a:off x="3446842" y="2554831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18" name="diagram block">
            <a:extLst>
              <a:ext uri="{FF2B5EF4-FFF2-40B4-BE49-F238E27FC236}">
                <a16:creationId xmlns:a16="http://schemas.microsoft.com/office/drawing/2014/main" id="{7C247C51-6C59-4B5F-B002-6B37BDA8150B}"/>
              </a:ext>
            </a:extLst>
          </p:cNvPr>
          <p:cNvSpPr>
            <a:spLocks noGrp="1"/>
          </p:cNvSpPr>
          <p:nvPr/>
        </p:nvSpPr>
        <p:spPr>
          <a:xfrm>
            <a:off x="3555229" y="2554831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19" name="diagram block">
            <a:extLst>
              <a:ext uri="{FF2B5EF4-FFF2-40B4-BE49-F238E27FC236}">
                <a16:creationId xmlns:a16="http://schemas.microsoft.com/office/drawing/2014/main" id="{55C3BDCA-A5CE-40C0-AEE2-D49924BDA5F2}"/>
              </a:ext>
            </a:extLst>
          </p:cNvPr>
          <p:cNvSpPr>
            <a:spLocks noGrp="1"/>
          </p:cNvSpPr>
          <p:nvPr/>
        </p:nvSpPr>
        <p:spPr>
          <a:xfrm>
            <a:off x="3663616" y="2554831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0" name="×">
            <a:extLst>
              <a:ext uri="{FF2B5EF4-FFF2-40B4-BE49-F238E27FC236}">
                <a16:creationId xmlns:a16="http://schemas.microsoft.com/office/drawing/2014/main" id="{F12DA199-144C-4097-BE34-76D59A7218B9}"/>
              </a:ext>
            </a:extLst>
          </p:cNvPr>
          <p:cNvSpPr>
            <a:spLocks noGrp="1"/>
          </p:cNvSpPr>
          <p:nvPr/>
        </p:nvSpPr>
        <p:spPr>
          <a:xfrm>
            <a:off x="3663616" y="2549669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21" name="diagram block">
            <a:extLst>
              <a:ext uri="{FF2B5EF4-FFF2-40B4-BE49-F238E27FC236}">
                <a16:creationId xmlns:a16="http://schemas.microsoft.com/office/drawing/2014/main" id="{EC13939E-B647-4728-9009-90A9AE12494D}"/>
              </a:ext>
            </a:extLst>
          </p:cNvPr>
          <p:cNvSpPr>
            <a:spLocks noGrp="1"/>
          </p:cNvSpPr>
          <p:nvPr/>
        </p:nvSpPr>
        <p:spPr>
          <a:xfrm>
            <a:off x="3772003" y="2554831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2" name="diagram block">
            <a:extLst>
              <a:ext uri="{FF2B5EF4-FFF2-40B4-BE49-F238E27FC236}">
                <a16:creationId xmlns:a16="http://schemas.microsoft.com/office/drawing/2014/main" id="{04329114-5D56-46BE-BBC7-6FF38FB8B1C6}"/>
              </a:ext>
            </a:extLst>
          </p:cNvPr>
          <p:cNvSpPr>
            <a:spLocks noGrp="1"/>
          </p:cNvSpPr>
          <p:nvPr/>
        </p:nvSpPr>
        <p:spPr>
          <a:xfrm>
            <a:off x="3880389" y="2554831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3" name="diagram block">
            <a:extLst>
              <a:ext uri="{FF2B5EF4-FFF2-40B4-BE49-F238E27FC236}">
                <a16:creationId xmlns:a16="http://schemas.microsoft.com/office/drawing/2014/main" id="{9DA8284D-AF4B-428B-BA89-27E812F679A3}"/>
              </a:ext>
            </a:extLst>
          </p:cNvPr>
          <p:cNvSpPr>
            <a:spLocks noGrp="1"/>
          </p:cNvSpPr>
          <p:nvPr/>
        </p:nvSpPr>
        <p:spPr>
          <a:xfrm>
            <a:off x="3988776" y="2554831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4" name="diagram block">
            <a:extLst>
              <a:ext uri="{FF2B5EF4-FFF2-40B4-BE49-F238E27FC236}">
                <a16:creationId xmlns:a16="http://schemas.microsoft.com/office/drawing/2014/main" id="{F51153EE-2A13-4BBD-A29D-1872916CFDA2}"/>
              </a:ext>
            </a:extLst>
          </p:cNvPr>
          <p:cNvSpPr>
            <a:spLocks noGrp="1"/>
          </p:cNvSpPr>
          <p:nvPr/>
        </p:nvSpPr>
        <p:spPr>
          <a:xfrm>
            <a:off x="4097163" y="2554831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5" name="diagram block">
            <a:extLst>
              <a:ext uri="{FF2B5EF4-FFF2-40B4-BE49-F238E27FC236}">
                <a16:creationId xmlns:a16="http://schemas.microsoft.com/office/drawing/2014/main" id="{2CDA99F4-7A5D-4C5E-8656-1496BAB93E16}"/>
              </a:ext>
            </a:extLst>
          </p:cNvPr>
          <p:cNvSpPr>
            <a:spLocks noGrp="1"/>
          </p:cNvSpPr>
          <p:nvPr/>
        </p:nvSpPr>
        <p:spPr>
          <a:xfrm>
            <a:off x="4205550" y="2554831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6" name="4">
            <a:extLst>
              <a:ext uri="{FF2B5EF4-FFF2-40B4-BE49-F238E27FC236}">
                <a16:creationId xmlns:a16="http://schemas.microsoft.com/office/drawing/2014/main" id="{271781AA-7FE4-41F4-920F-F0705A9A7855}"/>
              </a:ext>
            </a:extLst>
          </p:cNvPr>
          <p:cNvSpPr>
            <a:spLocks noGrp="1"/>
          </p:cNvSpPr>
          <p:nvPr/>
        </p:nvSpPr>
        <p:spPr>
          <a:xfrm>
            <a:off x="3772003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27" name="4">
            <a:extLst>
              <a:ext uri="{FF2B5EF4-FFF2-40B4-BE49-F238E27FC236}">
                <a16:creationId xmlns:a16="http://schemas.microsoft.com/office/drawing/2014/main" id="{FDD66F61-F8EE-46A0-B363-0F589DA0A096}"/>
              </a:ext>
            </a:extLst>
          </p:cNvPr>
          <p:cNvSpPr>
            <a:spLocks noGrp="1"/>
          </p:cNvSpPr>
          <p:nvPr/>
        </p:nvSpPr>
        <p:spPr>
          <a:xfrm>
            <a:off x="3307488" y="2665798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28" name="diagram block">
            <a:extLst>
              <a:ext uri="{FF2B5EF4-FFF2-40B4-BE49-F238E27FC236}">
                <a16:creationId xmlns:a16="http://schemas.microsoft.com/office/drawing/2014/main" id="{97F5DBBB-112A-47DF-A1C7-8247E86C8295}"/>
              </a:ext>
            </a:extLst>
          </p:cNvPr>
          <p:cNvSpPr>
            <a:spLocks noGrp="1"/>
          </p:cNvSpPr>
          <p:nvPr/>
        </p:nvSpPr>
        <p:spPr>
          <a:xfrm>
            <a:off x="3446842" y="2660637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9" name="diagram block">
            <a:extLst>
              <a:ext uri="{FF2B5EF4-FFF2-40B4-BE49-F238E27FC236}">
                <a16:creationId xmlns:a16="http://schemas.microsoft.com/office/drawing/2014/main" id="{2464A174-C029-4201-89FE-0DE06C90FC1D}"/>
              </a:ext>
            </a:extLst>
          </p:cNvPr>
          <p:cNvSpPr>
            <a:spLocks noGrp="1"/>
          </p:cNvSpPr>
          <p:nvPr/>
        </p:nvSpPr>
        <p:spPr>
          <a:xfrm>
            <a:off x="3555229" y="2660637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30" name="diagram block">
            <a:extLst>
              <a:ext uri="{FF2B5EF4-FFF2-40B4-BE49-F238E27FC236}">
                <a16:creationId xmlns:a16="http://schemas.microsoft.com/office/drawing/2014/main" id="{F7389914-74E2-4A58-8927-4A56D016EDDC}"/>
              </a:ext>
            </a:extLst>
          </p:cNvPr>
          <p:cNvSpPr>
            <a:spLocks noGrp="1"/>
          </p:cNvSpPr>
          <p:nvPr/>
        </p:nvSpPr>
        <p:spPr>
          <a:xfrm>
            <a:off x="3663616" y="2660637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31" name="diagram block">
            <a:extLst>
              <a:ext uri="{FF2B5EF4-FFF2-40B4-BE49-F238E27FC236}">
                <a16:creationId xmlns:a16="http://schemas.microsoft.com/office/drawing/2014/main" id="{DC2640B7-6194-414C-A3A7-3908119555B6}"/>
              </a:ext>
            </a:extLst>
          </p:cNvPr>
          <p:cNvSpPr>
            <a:spLocks noGrp="1"/>
          </p:cNvSpPr>
          <p:nvPr/>
        </p:nvSpPr>
        <p:spPr>
          <a:xfrm>
            <a:off x="3772003" y="2660637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32" name="×">
            <a:extLst>
              <a:ext uri="{FF2B5EF4-FFF2-40B4-BE49-F238E27FC236}">
                <a16:creationId xmlns:a16="http://schemas.microsoft.com/office/drawing/2014/main" id="{B9BE3170-709D-4ED9-BDCA-0CA0410692D7}"/>
              </a:ext>
            </a:extLst>
          </p:cNvPr>
          <p:cNvSpPr>
            <a:spLocks noGrp="1"/>
          </p:cNvSpPr>
          <p:nvPr/>
        </p:nvSpPr>
        <p:spPr>
          <a:xfrm>
            <a:off x="3772003" y="2655475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33" name="diagram block">
            <a:extLst>
              <a:ext uri="{FF2B5EF4-FFF2-40B4-BE49-F238E27FC236}">
                <a16:creationId xmlns:a16="http://schemas.microsoft.com/office/drawing/2014/main" id="{C45FF630-97AE-424A-95A2-956D13B3BF6B}"/>
              </a:ext>
            </a:extLst>
          </p:cNvPr>
          <p:cNvSpPr>
            <a:spLocks noGrp="1"/>
          </p:cNvSpPr>
          <p:nvPr/>
        </p:nvSpPr>
        <p:spPr>
          <a:xfrm>
            <a:off x="3880389" y="2660637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34" name="diagram block">
            <a:extLst>
              <a:ext uri="{FF2B5EF4-FFF2-40B4-BE49-F238E27FC236}">
                <a16:creationId xmlns:a16="http://schemas.microsoft.com/office/drawing/2014/main" id="{460B3CB8-BCAB-43A8-9F4E-69C34F4BB93F}"/>
              </a:ext>
            </a:extLst>
          </p:cNvPr>
          <p:cNvSpPr>
            <a:spLocks noGrp="1"/>
          </p:cNvSpPr>
          <p:nvPr/>
        </p:nvSpPr>
        <p:spPr>
          <a:xfrm>
            <a:off x="3988776" y="2660637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35" name="diagram block">
            <a:extLst>
              <a:ext uri="{FF2B5EF4-FFF2-40B4-BE49-F238E27FC236}">
                <a16:creationId xmlns:a16="http://schemas.microsoft.com/office/drawing/2014/main" id="{A1924554-BF33-48E1-8575-A46FF2DA12E1}"/>
              </a:ext>
            </a:extLst>
          </p:cNvPr>
          <p:cNvSpPr>
            <a:spLocks noGrp="1"/>
          </p:cNvSpPr>
          <p:nvPr/>
        </p:nvSpPr>
        <p:spPr>
          <a:xfrm>
            <a:off x="4097163" y="2660637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36" name="diagram block">
            <a:extLst>
              <a:ext uri="{FF2B5EF4-FFF2-40B4-BE49-F238E27FC236}">
                <a16:creationId xmlns:a16="http://schemas.microsoft.com/office/drawing/2014/main" id="{48C4941D-0779-4221-BBE7-7F413C42525A}"/>
              </a:ext>
            </a:extLst>
          </p:cNvPr>
          <p:cNvSpPr>
            <a:spLocks noGrp="1"/>
          </p:cNvSpPr>
          <p:nvPr/>
        </p:nvSpPr>
        <p:spPr>
          <a:xfrm>
            <a:off x="4205550" y="2660637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37" name="5">
            <a:extLst>
              <a:ext uri="{FF2B5EF4-FFF2-40B4-BE49-F238E27FC236}">
                <a16:creationId xmlns:a16="http://schemas.microsoft.com/office/drawing/2014/main" id="{311D8324-FD10-4B5F-9F49-0740E7717E45}"/>
              </a:ext>
            </a:extLst>
          </p:cNvPr>
          <p:cNvSpPr>
            <a:spLocks noGrp="1"/>
          </p:cNvSpPr>
          <p:nvPr/>
        </p:nvSpPr>
        <p:spPr>
          <a:xfrm>
            <a:off x="3880389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38" name="5">
            <a:extLst>
              <a:ext uri="{FF2B5EF4-FFF2-40B4-BE49-F238E27FC236}">
                <a16:creationId xmlns:a16="http://schemas.microsoft.com/office/drawing/2014/main" id="{8FE51466-A443-4857-8357-A66CA307E8A9}"/>
              </a:ext>
            </a:extLst>
          </p:cNvPr>
          <p:cNvSpPr>
            <a:spLocks noGrp="1"/>
          </p:cNvSpPr>
          <p:nvPr/>
        </p:nvSpPr>
        <p:spPr>
          <a:xfrm>
            <a:off x="3307488" y="2771604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39" name="diagram block">
            <a:extLst>
              <a:ext uri="{FF2B5EF4-FFF2-40B4-BE49-F238E27FC236}">
                <a16:creationId xmlns:a16="http://schemas.microsoft.com/office/drawing/2014/main" id="{DFB17C76-C946-4C65-B6F2-CBC821F7AF70}"/>
              </a:ext>
            </a:extLst>
          </p:cNvPr>
          <p:cNvSpPr>
            <a:spLocks noGrp="1"/>
          </p:cNvSpPr>
          <p:nvPr/>
        </p:nvSpPr>
        <p:spPr>
          <a:xfrm>
            <a:off x="3446842" y="2766443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40" name="diagram block">
            <a:extLst>
              <a:ext uri="{FF2B5EF4-FFF2-40B4-BE49-F238E27FC236}">
                <a16:creationId xmlns:a16="http://schemas.microsoft.com/office/drawing/2014/main" id="{DE729B86-77AB-400E-9D3E-30559932396B}"/>
              </a:ext>
            </a:extLst>
          </p:cNvPr>
          <p:cNvSpPr>
            <a:spLocks noGrp="1"/>
          </p:cNvSpPr>
          <p:nvPr/>
        </p:nvSpPr>
        <p:spPr>
          <a:xfrm>
            <a:off x="3555229" y="2766443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41" name="diagram block">
            <a:extLst>
              <a:ext uri="{FF2B5EF4-FFF2-40B4-BE49-F238E27FC236}">
                <a16:creationId xmlns:a16="http://schemas.microsoft.com/office/drawing/2014/main" id="{2E7B7A27-85D0-44AD-9148-A1847C8A6F45}"/>
              </a:ext>
            </a:extLst>
          </p:cNvPr>
          <p:cNvSpPr>
            <a:spLocks noGrp="1"/>
          </p:cNvSpPr>
          <p:nvPr/>
        </p:nvSpPr>
        <p:spPr>
          <a:xfrm>
            <a:off x="3663616" y="2766443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42" name="diagram block">
            <a:extLst>
              <a:ext uri="{FF2B5EF4-FFF2-40B4-BE49-F238E27FC236}">
                <a16:creationId xmlns:a16="http://schemas.microsoft.com/office/drawing/2014/main" id="{A2B0B439-CD39-4D17-A48C-A96BD4BE0F61}"/>
              </a:ext>
            </a:extLst>
          </p:cNvPr>
          <p:cNvSpPr>
            <a:spLocks noGrp="1"/>
          </p:cNvSpPr>
          <p:nvPr/>
        </p:nvSpPr>
        <p:spPr>
          <a:xfrm>
            <a:off x="3772003" y="2766443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43" name="diagram block">
            <a:extLst>
              <a:ext uri="{FF2B5EF4-FFF2-40B4-BE49-F238E27FC236}">
                <a16:creationId xmlns:a16="http://schemas.microsoft.com/office/drawing/2014/main" id="{62C54D95-DB16-4D63-B2B2-011CE38952C1}"/>
              </a:ext>
            </a:extLst>
          </p:cNvPr>
          <p:cNvSpPr>
            <a:spLocks noGrp="1"/>
          </p:cNvSpPr>
          <p:nvPr/>
        </p:nvSpPr>
        <p:spPr>
          <a:xfrm>
            <a:off x="3880389" y="2766443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44" name="×">
            <a:extLst>
              <a:ext uri="{FF2B5EF4-FFF2-40B4-BE49-F238E27FC236}">
                <a16:creationId xmlns:a16="http://schemas.microsoft.com/office/drawing/2014/main" id="{ECD6EB84-2638-4988-BF53-534B6A1B3E79}"/>
              </a:ext>
            </a:extLst>
          </p:cNvPr>
          <p:cNvSpPr>
            <a:spLocks noGrp="1"/>
          </p:cNvSpPr>
          <p:nvPr/>
        </p:nvSpPr>
        <p:spPr>
          <a:xfrm>
            <a:off x="3880389" y="2761282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45" name="diagram block">
            <a:extLst>
              <a:ext uri="{FF2B5EF4-FFF2-40B4-BE49-F238E27FC236}">
                <a16:creationId xmlns:a16="http://schemas.microsoft.com/office/drawing/2014/main" id="{BAE8EF10-AC96-427B-8EEC-C118E6585F0E}"/>
              </a:ext>
            </a:extLst>
          </p:cNvPr>
          <p:cNvSpPr>
            <a:spLocks noGrp="1"/>
          </p:cNvSpPr>
          <p:nvPr/>
        </p:nvSpPr>
        <p:spPr>
          <a:xfrm>
            <a:off x="3988776" y="2766443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46" name="diagram block">
            <a:extLst>
              <a:ext uri="{FF2B5EF4-FFF2-40B4-BE49-F238E27FC236}">
                <a16:creationId xmlns:a16="http://schemas.microsoft.com/office/drawing/2014/main" id="{8922C7F3-6A57-4276-B977-50C19DD3B790}"/>
              </a:ext>
            </a:extLst>
          </p:cNvPr>
          <p:cNvSpPr>
            <a:spLocks noGrp="1"/>
          </p:cNvSpPr>
          <p:nvPr/>
        </p:nvSpPr>
        <p:spPr>
          <a:xfrm>
            <a:off x="4097163" y="2766443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47" name="diagram block">
            <a:extLst>
              <a:ext uri="{FF2B5EF4-FFF2-40B4-BE49-F238E27FC236}">
                <a16:creationId xmlns:a16="http://schemas.microsoft.com/office/drawing/2014/main" id="{D1311D8E-B809-4E22-8CBF-BCB558F4C0D5}"/>
              </a:ext>
            </a:extLst>
          </p:cNvPr>
          <p:cNvSpPr>
            <a:spLocks noGrp="1"/>
          </p:cNvSpPr>
          <p:nvPr/>
        </p:nvSpPr>
        <p:spPr>
          <a:xfrm>
            <a:off x="4205550" y="2766443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48" name="6">
            <a:extLst>
              <a:ext uri="{FF2B5EF4-FFF2-40B4-BE49-F238E27FC236}">
                <a16:creationId xmlns:a16="http://schemas.microsoft.com/office/drawing/2014/main" id="{7D152973-2A2F-4F6C-A346-48F18F7F6EAE}"/>
              </a:ext>
            </a:extLst>
          </p:cNvPr>
          <p:cNvSpPr>
            <a:spLocks noGrp="1"/>
          </p:cNvSpPr>
          <p:nvPr/>
        </p:nvSpPr>
        <p:spPr>
          <a:xfrm>
            <a:off x="3988776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249" name="6">
            <a:extLst>
              <a:ext uri="{FF2B5EF4-FFF2-40B4-BE49-F238E27FC236}">
                <a16:creationId xmlns:a16="http://schemas.microsoft.com/office/drawing/2014/main" id="{628EF0C0-E209-4814-B894-B273FED5BD42}"/>
              </a:ext>
            </a:extLst>
          </p:cNvPr>
          <p:cNvSpPr>
            <a:spLocks noGrp="1"/>
          </p:cNvSpPr>
          <p:nvPr/>
        </p:nvSpPr>
        <p:spPr>
          <a:xfrm>
            <a:off x="3307488" y="2877410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250" name="diagram block">
            <a:extLst>
              <a:ext uri="{FF2B5EF4-FFF2-40B4-BE49-F238E27FC236}">
                <a16:creationId xmlns:a16="http://schemas.microsoft.com/office/drawing/2014/main" id="{442BB66C-7843-4D0C-A65A-B20F318CDF1B}"/>
              </a:ext>
            </a:extLst>
          </p:cNvPr>
          <p:cNvSpPr>
            <a:spLocks noGrp="1"/>
          </p:cNvSpPr>
          <p:nvPr/>
        </p:nvSpPr>
        <p:spPr>
          <a:xfrm>
            <a:off x="3446842" y="2872249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51" name="diagram block">
            <a:extLst>
              <a:ext uri="{FF2B5EF4-FFF2-40B4-BE49-F238E27FC236}">
                <a16:creationId xmlns:a16="http://schemas.microsoft.com/office/drawing/2014/main" id="{59DF6D83-6EBA-4091-9830-6B45A53BC985}"/>
              </a:ext>
            </a:extLst>
          </p:cNvPr>
          <p:cNvSpPr>
            <a:spLocks noGrp="1"/>
          </p:cNvSpPr>
          <p:nvPr/>
        </p:nvSpPr>
        <p:spPr>
          <a:xfrm>
            <a:off x="3555229" y="2872249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52" name="diagram block">
            <a:extLst>
              <a:ext uri="{FF2B5EF4-FFF2-40B4-BE49-F238E27FC236}">
                <a16:creationId xmlns:a16="http://schemas.microsoft.com/office/drawing/2014/main" id="{FBE5F464-D2F3-4B37-978E-605F28B842E7}"/>
              </a:ext>
            </a:extLst>
          </p:cNvPr>
          <p:cNvSpPr>
            <a:spLocks noGrp="1"/>
          </p:cNvSpPr>
          <p:nvPr/>
        </p:nvSpPr>
        <p:spPr>
          <a:xfrm>
            <a:off x="3663616" y="2872249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53" name="diagram block">
            <a:extLst>
              <a:ext uri="{FF2B5EF4-FFF2-40B4-BE49-F238E27FC236}">
                <a16:creationId xmlns:a16="http://schemas.microsoft.com/office/drawing/2014/main" id="{25665FE3-EED5-4A94-B8E3-8771A590AEBD}"/>
              </a:ext>
            </a:extLst>
          </p:cNvPr>
          <p:cNvSpPr>
            <a:spLocks noGrp="1"/>
          </p:cNvSpPr>
          <p:nvPr/>
        </p:nvSpPr>
        <p:spPr>
          <a:xfrm>
            <a:off x="3772003" y="2872249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54" name="diagram block">
            <a:extLst>
              <a:ext uri="{FF2B5EF4-FFF2-40B4-BE49-F238E27FC236}">
                <a16:creationId xmlns:a16="http://schemas.microsoft.com/office/drawing/2014/main" id="{50D7CACB-B9BE-469B-8475-46D978353358}"/>
              </a:ext>
            </a:extLst>
          </p:cNvPr>
          <p:cNvSpPr>
            <a:spLocks noGrp="1"/>
          </p:cNvSpPr>
          <p:nvPr/>
        </p:nvSpPr>
        <p:spPr>
          <a:xfrm>
            <a:off x="3880389" y="2872249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55" name="diagram block">
            <a:extLst>
              <a:ext uri="{FF2B5EF4-FFF2-40B4-BE49-F238E27FC236}">
                <a16:creationId xmlns:a16="http://schemas.microsoft.com/office/drawing/2014/main" id="{495CA37E-2E61-4413-9021-9C272E38A623}"/>
              </a:ext>
            </a:extLst>
          </p:cNvPr>
          <p:cNvSpPr>
            <a:spLocks noGrp="1"/>
          </p:cNvSpPr>
          <p:nvPr/>
        </p:nvSpPr>
        <p:spPr>
          <a:xfrm>
            <a:off x="3988776" y="2872249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56" name="×">
            <a:extLst>
              <a:ext uri="{FF2B5EF4-FFF2-40B4-BE49-F238E27FC236}">
                <a16:creationId xmlns:a16="http://schemas.microsoft.com/office/drawing/2014/main" id="{D9D46BAE-4C48-4EA1-8D13-F128B714673E}"/>
              </a:ext>
            </a:extLst>
          </p:cNvPr>
          <p:cNvSpPr>
            <a:spLocks noGrp="1"/>
          </p:cNvSpPr>
          <p:nvPr/>
        </p:nvSpPr>
        <p:spPr>
          <a:xfrm>
            <a:off x="3988776" y="2867088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57" name="diagram block">
            <a:extLst>
              <a:ext uri="{FF2B5EF4-FFF2-40B4-BE49-F238E27FC236}">
                <a16:creationId xmlns:a16="http://schemas.microsoft.com/office/drawing/2014/main" id="{1921F444-4FD0-4BEB-ABBE-E3E9C50F04DE}"/>
              </a:ext>
            </a:extLst>
          </p:cNvPr>
          <p:cNvSpPr>
            <a:spLocks noGrp="1"/>
          </p:cNvSpPr>
          <p:nvPr/>
        </p:nvSpPr>
        <p:spPr>
          <a:xfrm>
            <a:off x="4097163" y="2872249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58" name="diagram block">
            <a:extLst>
              <a:ext uri="{FF2B5EF4-FFF2-40B4-BE49-F238E27FC236}">
                <a16:creationId xmlns:a16="http://schemas.microsoft.com/office/drawing/2014/main" id="{213FF080-0D4A-41BD-9BE2-72E73B8350F8}"/>
              </a:ext>
            </a:extLst>
          </p:cNvPr>
          <p:cNvSpPr>
            <a:spLocks noGrp="1"/>
          </p:cNvSpPr>
          <p:nvPr/>
        </p:nvSpPr>
        <p:spPr>
          <a:xfrm>
            <a:off x="4205550" y="2872249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59" name="7">
            <a:extLst>
              <a:ext uri="{FF2B5EF4-FFF2-40B4-BE49-F238E27FC236}">
                <a16:creationId xmlns:a16="http://schemas.microsoft.com/office/drawing/2014/main" id="{6023A482-7A52-47F3-A4AC-8940503E05B1}"/>
              </a:ext>
            </a:extLst>
          </p:cNvPr>
          <p:cNvSpPr>
            <a:spLocks noGrp="1"/>
          </p:cNvSpPr>
          <p:nvPr/>
        </p:nvSpPr>
        <p:spPr>
          <a:xfrm>
            <a:off x="4097163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260" name="7">
            <a:extLst>
              <a:ext uri="{FF2B5EF4-FFF2-40B4-BE49-F238E27FC236}">
                <a16:creationId xmlns:a16="http://schemas.microsoft.com/office/drawing/2014/main" id="{9562954B-D28B-4400-8C48-25C9A4A22EC3}"/>
              </a:ext>
            </a:extLst>
          </p:cNvPr>
          <p:cNvSpPr>
            <a:spLocks noGrp="1"/>
          </p:cNvSpPr>
          <p:nvPr/>
        </p:nvSpPr>
        <p:spPr>
          <a:xfrm>
            <a:off x="3307488" y="2983216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261" name="diagram block">
            <a:extLst>
              <a:ext uri="{FF2B5EF4-FFF2-40B4-BE49-F238E27FC236}">
                <a16:creationId xmlns:a16="http://schemas.microsoft.com/office/drawing/2014/main" id="{00EDCF3B-0B0C-48EA-85FB-D427BF7D9D90}"/>
              </a:ext>
            </a:extLst>
          </p:cNvPr>
          <p:cNvSpPr>
            <a:spLocks noGrp="1"/>
          </p:cNvSpPr>
          <p:nvPr/>
        </p:nvSpPr>
        <p:spPr>
          <a:xfrm>
            <a:off x="3446842" y="2978055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62" name="diagram block">
            <a:extLst>
              <a:ext uri="{FF2B5EF4-FFF2-40B4-BE49-F238E27FC236}">
                <a16:creationId xmlns:a16="http://schemas.microsoft.com/office/drawing/2014/main" id="{FC029931-E283-4AFD-8FBF-004C144124CC}"/>
              </a:ext>
            </a:extLst>
          </p:cNvPr>
          <p:cNvSpPr>
            <a:spLocks noGrp="1"/>
          </p:cNvSpPr>
          <p:nvPr/>
        </p:nvSpPr>
        <p:spPr>
          <a:xfrm>
            <a:off x="3555229" y="2978055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63" name="diagram block">
            <a:extLst>
              <a:ext uri="{FF2B5EF4-FFF2-40B4-BE49-F238E27FC236}">
                <a16:creationId xmlns:a16="http://schemas.microsoft.com/office/drawing/2014/main" id="{819DAF18-8C18-4E84-805B-2B3C24111661}"/>
              </a:ext>
            </a:extLst>
          </p:cNvPr>
          <p:cNvSpPr>
            <a:spLocks noGrp="1"/>
          </p:cNvSpPr>
          <p:nvPr/>
        </p:nvSpPr>
        <p:spPr>
          <a:xfrm>
            <a:off x="3663616" y="2978055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64" name="diagram block">
            <a:extLst>
              <a:ext uri="{FF2B5EF4-FFF2-40B4-BE49-F238E27FC236}">
                <a16:creationId xmlns:a16="http://schemas.microsoft.com/office/drawing/2014/main" id="{5A99A18E-4E2E-4E09-B2DB-731D984EF509}"/>
              </a:ext>
            </a:extLst>
          </p:cNvPr>
          <p:cNvSpPr>
            <a:spLocks noGrp="1"/>
          </p:cNvSpPr>
          <p:nvPr/>
        </p:nvSpPr>
        <p:spPr>
          <a:xfrm>
            <a:off x="3772003" y="2978055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65" name="diagram block">
            <a:extLst>
              <a:ext uri="{FF2B5EF4-FFF2-40B4-BE49-F238E27FC236}">
                <a16:creationId xmlns:a16="http://schemas.microsoft.com/office/drawing/2014/main" id="{F149DEB8-65E4-4BFE-A6AB-74705F3C78BE}"/>
              </a:ext>
            </a:extLst>
          </p:cNvPr>
          <p:cNvSpPr>
            <a:spLocks noGrp="1"/>
          </p:cNvSpPr>
          <p:nvPr/>
        </p:nvSpPr>
        <p:spPr>
          <a:xfrm>
            <a:off x="3880389" y="2978055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66" name="diagram block">
            <a:extLst>
              <a:ext uri="{FF2B5EF4-FFF2-40B4-BE49-F238E27FC236}">
                <a16:creationId xmlns:a16="http://schemas.microsoft.com/office/drawing/2014/main" id="{B1D72E2B-C192-4CBC-89F4-900533AC61F4}"/>
              </a:ext>
            </a:extLst>
          </p:cNvPr>
          <p:cNvSpPr>
            <a:spLocks noGrp="1"/>
          </p:cNvSpPr>
          <p:nvPr/>
        </p:nvSpPr>
        <p:spPr>
          <a:xfrm>
            <a:off x="3988776" y="2978055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67" name="diagram block">
            <a:extLst>
              <a:ext uri="{FF2B5EF4-FFF2-40B4-BE49-F238E27FC236}">
                <a16:creationId xmlns:a16="http://schemas.microsoft.com/office/drawing/2014/main" id="{1B541F39-A17B-4339-BB18-92C2CC2095DD}"/>
              </a:ext>
            </a:extLst>
          </p:cNvPr>
          <p:cNvSpPr>
            <a:spLocks noGrp="1"/>
          </p:cNvSpPr>
          <p:nvPr/>
        </p:nvSpPr>
        <p:spPr>
          <a:xfrm>
            <a:off x="4097163" y="2978055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68" name="×">
            <a:extLst>
              <a:ext uri="{FF2B5EF4-FFF2-40B4-BE49-F238E27FC236}">
                <a16:creationId xmlns:a16="http://schemas.microsoft.com/office/drawing/2014/main" id="{C3457DE9-FF04-4A4E-85F6-83DFB2CA7DCD}"/>
              </a:ext>
            </a:extLst>
          </p:cNvPr>
          <p:cNvSpPr>
            <a:spLocks noGrp="1"/>
          </p:cNvSpPr>
          <p:nvPr/>
        </p:nvSpPr>
        <p:spPr>
          <a:xfrm>
            <a:off x="4097163" y="2972894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69" name="diagram block">
            <a:extLst>
              <a:ext uri="{FF2B5EF4-FFF2-40B4-BE49-F238E27FC236}">
                <a16:creationId xmlns:a16="http://schemas.microsoft.com/office/drawing/2014/main" id="{8C29811B-D62E-4898-8C8E-F41AF9BB1477}"/>
              </a:ext>
            </a:extLst>
          </p:cNvPr>
          <p:cNvSpPr>
            <a:spLocks noGrp="1"/>
          </p:cNvSpPr>
          <p:nvPr/>
        </p:nvSpPr>
        <p:spPr>
          <a:xfrm>
            <a:off x="4205550" y="2978055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70" name="8">
            <a:extLst>
              <a:ext uri="{FF2B5EF4-FFF2-40B4-BE49-F238E27FC236}">
                <a16:creationId xmlns:a16="http://schemas.microsoft.com/office/drawing/2014/main" id="{861A3C7A-0852-454D-985C-2F7132BBAFF7}"/>
              </a:ext>
            </a:extLst>
          </p:cNvPr>
          <p:cNvSpPr>
            <a:spLocks noGrp="1"/>
          </p:cNvSpPr>
          <p:nvPr/>
        </p:nvSpPr>
        <p:spPr>
          <a:xfrm>
            <a:off x="4205550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271" name="8">
            <a:extLst>
              <a:ext uri="{FF2B5EF4-FFF2-40B4-BE49-F238E27FC236}">
                <a16:creationId xmlns:a16="http://schemas.microsoft.com/office/drawing/2014/main" id="{991373B9-2643-42C5-8DD1-6BFCABAAB3F3}"/>
              </a:ext>
            </a:extLst>
          </p:cNvPr>
          <p:cNvSpPr>
            <a:spLocks noGrp="1"/>
          </p:cNvSpPr>
          <p:nvPr/>
        </p:nvSpPr>
        <p:spPr>
          <a:xfrm>
            <a:off x="3307488" y="3089022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272" name="diagram block">
            <a:extLst>
              <a:ext uri="{FF2B5EF4-FFF2-40B4-BE49-F238E27FC236}">
                <a16:creationId xmlns:a16="http://schemas.microsoft.com/office/drawing/2014/main" id="{BB5F62FA-905A-48FC-B423-630018492B41}"/>
              </a:ext>
            </a:extLst>
          </p:cNvPr>
          <p:cNvSpPr>
            <a:spLocks noGrp="1"/>
          </p:cNvSpPr>
          <p:nvPr/>
        </p:nvSpPr>
        <p:spPr>
          <a:xfrm>
            <a:off x="3446842" y="3083861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73" name="diagram block">
            <a:extLst>
              <a:ext uri="{FF2B5EF4-FFF2-40B4-BE49-F238E27FC236}">
                <a16:creationId xmlns:a16="http://schemas.microsoft.com/office/drawing/2014/main" id="{846D5835-757B-4DEC-A754-78B7BE494B18}"/>
              </a:ext>
            </a:extLst>
          </p:cNvPr>
          <p:cNvSpPr>
            <a:spLocks noGrp="1"/>
          </p:cNvSpPr>
          <p:nvPr/>
        </p:nvSpPr>
        <p:spPr>
          <a:xfrm>
            <a:off x="3555229" y="3083861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74" name="diagram block">
            <a:extLst>
              <a:ext uri="{FF2B5EF4-FFF2-40B4-BE49-F238E27FC236}">
                <a16:creationId xmlns:a16="http://schemas.microsoft.com/office/drawing/2014/main" id="{1D82B5CE-C7BC-47A6-9B40-BC0D92E41D5F}"/>
              </a:ext>
            </a:extLst>
          </p:cNvPr>
          <p:cNvSpPr>
            <a:spLocks noGrp="1"/>
          </p:cNvSpPr>
          <p:nvPr/>
        </p:nvSpPr>
        <p:spPr>
          <a:xfrm>
            <a:off x="3663616" y="3083861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75" name="diagram block">
            <a:extLst>
              <a:ext uri="{FF2B5EF4-FFF2-40B4-BE49-F238E27FC236}">
                <a16:creationId xmlns:a16="http://schemas.microsoft.com/office/drawing/2014/main" id="{925D7186-1208-4056-8A9B-C21FA7F74438}"/>
              </a:ext>
            </a:extLst>
          </p:cNvPr>
          <p:cNvSpPr>
            <a:spLocks noGrp="1"/>
          </p:cNvSpPr>
          <p:nvPr/>
        </p:nvSpPr>
        <p:spPr>
          <a:xfrm>
            <a:off x="3772003" y="3083861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76" name="diagram block">
            <a:extLst>
              <a:ext uri="{FF2B5EF4-FFF2-40B4-BE49-F238E27FC236}">
                <a16:creationId xmlns:a16="http://schemas.microsoft.com/office/drawing/2014/main" id="{77DDC1F2-3429-43BA-B048-70BA927C149A}"/>
              </a:ext>
            </a:extLst>
          </p:cNvPr>
          <p:cNvSpPr>
            <a:spLocks noGrp="1"/>
          </p:cNvSpPr>
          <p:nvPr/>
        </p:nvSpPr>
        <p:spPr>
          <a:xfrm>
            <a:off x="3880389" y="3083861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77" name="diagram block">
            <a:extLst>
              <a:ext uri="{FF2B5EF4-FFF2-40B4-BE49-F238E27FC236}">
                <a16:creationId xmlns:a16="http://schemas.microsoft.com/office/drawing/2014/main" id="{3B542FC8-9A7D-498F-95E4-4D9BA00C4438}"/>
              </a:ext>
            </a:extLst>
          </p:cNvPr>
          <p:cNvSpPr>
            <a:spLocks noGrp="1"/>
          </p:cNvSpPr>
          <p:nvPr/>
        </p:nvSpPr>
        <p:spPr>
          <a:xfrm>
            <a:off x="3988776" y="3083861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78" name="diagram block">
            <a:extLst>
              <a:ext uri="{FF2B5EF4-FFF2-40B4-BE49-F238E27FC236}">
                <a16:creationId xmlns:a16="http://schemas.microsoft.com/office/drawing/2014/main" id="{D779FC10-E2E9-4E51-8D4A-42C6C7E13220}"/>
              </a:ext>
            </a:extLst>
          </p:cNvPr>
          <p:cNvSpPr>
            <a:spLocks noGrp="1"/>
          </p:cNvSpPr>
          <p:nvPr/>
        </p:nvSpPr>
        <p:spPr>
          <a:xfrm>
            <a:off x="4097163" y="3083861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79" name="diagram block">
            <a:extLst>
              <a:ext uri="{FF2B5EF4-FFF2-40B4-BE49-F238E27FC236}">
                <a16:creationId xmlns:a16="http://schemas.microsoft.com/office/drawing/2014/main" id="{DCA34AF0-36BE-4410-BD56-AA586004BDF2}"/>
              </a:ext>
            </a:extLst>
          </p:cNvPr>
          <p:cNvSpPr>
            <a:spLocks noGrp="1"/>
          </p:cNvSpPr>
          <p:nvPr/>
        </p:nvSpPr>
        <p:spPr>
          <a:xfrm>
            <a:off x="4205550" y="3083861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80" name="×">
            <a:extLst>
              <a:ext uri="{FF2B5EF4-FFF2-40B4-BE49-F238E27FC236}">
                <a16:creationId xmlns:a16="http://schemas.microsoft.com/office/drawing/2014/main" id="{A63B4E3C-D966-4AC3-916B-9C2D24B546AD}"/>
              </a:ext>
            </a:extLst>
          </p:cNvPr>
          <p:cNvSpPr>
            <a:spLocks noGrp="1"/>
          </p:cNvSpPr>
          <p:nvPr/>
        </p:nvSpPr>
        <p:spPr>
          <a:xfrm>
            <a:off x="4205550" y="3078700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81" name="dᵢⱼ">
            <a:extLst>
              <a:ext uri="{FF2B5EF4-FFF2-40B4-BE49-F238E27FC236}">
                <a16:creationId xmlns:a16="http://schemas.microsoft.com/office/drawing/2014/main" id="{545AA2A6-493F-46D5-9E28-1307D91ACAF7}"/>
              </a:ext>
            </a:extLst>
          </p:cNvPr>
          <p:cNvSpPr>
            <a:spLocks noGrp="1"/>
          </p:cNvSpPr>
          <p:nvPr/>
        </p:nvSpPr>
        <p:spPr>
          <a:xfrm>
            <a:off x="4422323" y="2260638"/>
            <a:ext cx="175483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dᵢⱼ</a:t>
            </a:r>
          </a:p>
        </p:txBody>
      </p:sp>
      <p:sp>
        <p:nvSpPr>
          <p:cNvPr id="282" name="diagram block">
            <a:extLst>
              <a:ext uri="{FF2B5EF4-FFF2-40B4-BE49-F238E27FC236}">
                <a16:creationId xmlns:a16="http://schemas.microsoft.com/office/drawing/2014/main" id="{D2FACA13-20BC-4C85-B60D-C655516C042F}"/>
              </a:ext>
            </a:extLst>
          </p:cNvPr>
          <p:cNvSpPr>
            <a:spLocks noGrp="1"/>
          </p:cNvSpPr>
          <p:nvPr/>
        </p:nvSpPr>
        <p:spPr>
          <a:xfrm>
            <a:off x="4386194" y="2394831"/>
            <a:ext cx="77419" cy="707095"/>
          </a:xfrm>
          <a:prstGeom prst="rect">
            <a:avLst/>
          </a:prstGeom>
          <a:gradFill>
            <a:gsLst>
              <a:gs pos="0">
                <a:srgbClr val="1E609E"/>
              </a:gs>
              <a:gs pos="100000">
                <a:srgbClr val="D2E6F4"/>
              </a:gs>
            </a:gsLst>
            <a:lin ang="5400000"/>
          </a:gradFill>
          <a:ln w="3097">
            <a:solidFill>
              <a:srgbClr val="B6CAD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83" name="high">
            <a:extLst>
              <a:ext uri="{FF2B5EF4-FFF2-40B4-BE49-F238E27FC236}">
                <a16:creationId xmlns:a16="http://schemas.microsoft.com/office/drawing/2014/main" id="{14F2445F-4E25-4D39-8CD0-DC0DEAEB3DB4}"/>
              </a:ext>
            </a:extLst>
          </p:cNvPr>
          <p:cNvSpPr>
            <a:spLocks noGrp="1"/>
          </p:cNvSpPr>
          <p:nvPr/>
        </p:nvSpPr>
        <p:spPr>
          <a:xfrm>
            <a:off x="4504903" y="2405154"/>
            <a:ext cx="149677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high</a:t>
            </a:r>
          </a:p>
        </p:txBody>
      </p:sp>
      <p:sp>
        <p:nvSpPr>
          <p:cNvPr id="284" name="low">
            <a:extLst>
              <a:ext uri="{FF2B5EF4-FFF2-40B4-BE49-F238E27FC236}">
                <a16:creationId xmlns:a16="http://schemas.microsoft.com/office/drawing/2014/main" id="{04A9FB9D-F2F5-437F-84D1-81C503C3F0B7}"/>
              </a:ext>
            </a:extLst>
          </p:cNvPr>
          <p:cNvSpPr>
            <a:spLocks noGrp="1"/>
          </p:cNvSpPr>
          <p:nvPr/>
        </p:nvSpPr>
        <p:spPr>
          <a:xfrm>
            <a:off x="4504903" y="3019345"/>
            <a:ext cx="149677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low</a:t>
            </a:r>
          </a:p>
        </p:txBody>
      </p:sp>
      <p:sp>
        <p:nvSpPr>
          <p:cNvPr id="285" name="Diagonal masked (no self-relation)">
            <a:extLst>
              <a:ext uri="{FF2B5EF4-FFF2-40B4-BE49-F238E27FC236}">
                <a16:creationId xmlns:a16="http://schemas.microsoft.com/office/drawing/2014/main" id="{E7E2275A-4C16-4AE5-B8C2-0940C9A51F9C}"/>
              </a:ext>
            </a:extLst>
          </p:cNvPr>
          <p:cNvSpPr>
            <a:spLocks noGrp="1"/>
          </p:cNvSpPr>
          <p:nvPr/>
        </p:nvSpPr>
        <p:spPr>
          <a:xfrm>
            <a:off x="3307488" y="3277409"/>
            <a:ext cx="1378060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Diagonal masked (no self-relation)</a:t>
            </a:r>
          </a:p>
        </p:txBody>
      </p:sp>
      <p:sp>
        <p:nvSpPr>
          <p:cNvPr id="286" name="All other windows are neighbors">
            <a:extLst>
              <a:ext uri="{FF2B5EF4-FFF2-40B4-BE49-F238E27FC236}">
                <a16:creationId xmlns:a16="http://schemas.microsoft.com/office/drawing/2014/main" id="{EE73D0FF-D00D-45B2-90BD-DA6396FA5FAC}"/>
              </a:ext>
            </a:extLst>
          </p:cNvPr>
          <p:cNvSpPr>
            <a:spLocks noGrp="1"/>
          </p:cNvSpPr>
          <p:nvPr/>
        </p:nvSpPr>
        <p:spPr>
          <a:xfrm>
            <a:off x="3307488" y="3401280"/>
            <a:ext cx="1378060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All other windows are neighbors</a:t>
            </a:r>
          </a:p>
        </p:txBody>
      </p:sp>
      <p:sp>
        <p:nvSpPr>
          <p:cNvPr id="287" name="diagram block">
            <a:extLst>
              <a:ext uri="{FF2B5EF4-FFF2-40B4-BE49-F238E27FC236}">
                <a16:creationId xmlns:a16="http://schemas.microsoft.com/office/drawing/2014/main" id="{D97A58A8-2305-4B53-9A47-5BCDE201F64E}"/>
              </a:ext>
            </a:extLst>
          </p:cNvPr>
          <p:cNvSpPr>
            <a:spLocks noGrp="1"/>
          </p:cNvSpPr>
          <p:nvPr/>
        </p:nvSpPr>
        <p:spPr>
          <a:xfrm>
            <a:off x="4721677" y="2229670"/>
            <a:ext cx="1176770" cy="1326447"/>
          </a:xfrm>
          <a:prstGeom prst="roundRect">
            <a:avLst>
              <a:gd name="adj" fmla="val 1754"/>
            </a:avLst>
          </a:prstGeom>
          <a:solidFill>
            <a:srgbClr val="F8FBFF"/>
          </a:solidFill>
          <a:ln w="3871">
            <a:solidFill>
              <a:srgbClr val="C3DDF3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88" name="dᵢⱼ =">
            <a:extLst>
              <a:ext uri="{FF2B5EF4-FFF2-40B4-BE49-F238E27FC236}">
                <a16:creationId xmlns:a16="http://schemas.microsoft.com/office/drawing/2014/main" id="{E952C16D-0443-45E2-BA8F-B2AF72253384}"/>
              </a:ext>
            </a:extLst>
          </p:cNvPr>
          <p:cNvSpPr>
            <a:spLocks noGrp="1"/>
          </p:cNvSpPr>
          <p:nvPr/>
        </p:nvSpPr>
        <p:spPr>
          <a:xfrm>
            <a:off x="4799096" y="2379347"/>
            <a:ext cx="283870" cy="159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dᵢⱼ =</a:t>
            </a:r>
          </a:p>
        </p:txBody>
      </p:sp>
      <p:sp>
        <p:nvSpPr>
          <p:cNvPr id="289" name="1">
            <a:extLst>
              <a:ext uri="{FF2B5EF4-FFF2-40B4-BE49-F238E27FC236}">
                <a16:creationId xmlns:a16="http://schemas.microsoft.com/office/drawing/2014/main" id="{79C1CEBA-88AD-4877-AB6B-6B6ED6E54483}"/>
              </a:ext>
            </a:extLst>
          </p:cNvPr>
          <p:cNvSpPr>
            <a:spLocks noGrp="1"/>
          </p:cNvSpPr>
          <p:nvPr/>
        </p:nvSpPr>
        <p:spPr>
          <a:xfrm>
            <a:off x="5088127" y="2332896"/>
            <a:ext cx="129032" cy="1105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227"/>
          </a:bodyPr>
          <a:lstStyle>
            <a:def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cxnSp>
        <p:nvCxnSpPr>
          <p:cNvPr id="290" name="native PowerPoint connector">
            <a:extLst>
              <a:ext uri="{FF2B5EF4-FFF2-40B4-BE49-F238E27FC236}">
                <a16:creationId xmlns:a16="http://schemas.microsoft.com/office/drawing/2014/main" id="{3D3ACCA3-7F89-4F0E-8EB6-86D831F2B385}"/>
              </a:ext>
            </a:extLst>
          </p:cNvPr>
          <p:cNvCxnSpPr/>
          <p:nvPr/>
        </p:nvCxnSpPr>
        <p:spPr>
          <a:xfrm>
            <a:off x="5103611" y="2461876"/>
            <a:ext cx="98064" cy="0"/>
          </a:xfrm>
          <a:prstGeom prst="straightConnector1">
            <a:avLst/>
          </a:prstGeom>
          <a:ln w="5677">
            <a:solidFill>
              <a:srgbClr val="061A3C"/>
            </a:solidFill>
            <a:prstDash val="solid"/>
          </a:ln>
        </p:spPr>
      </p:cxnSp>
      <p:sp>
        <p:nvSpPr>
          <p:cNvPr id="291" name="18">
            <a:extLst>
              <a:ext uri="{FF2B5EF4-FFF2-40B4-BE49-F238E27FC236}">
                <a16:creationId xmlns:a16="http://schemas.microsoft.com/office/drawing/2014/main" id="{B7EAECAC-D7C0-4B19-82F6-7CEE59C070B9}"/>
              </a:ext>
            </a:extLst>
          </p:cNvPr>
          <p:cNvSpPr>
            <a:spLocks noGrp="1"/>
          </p:cNvSpPr>
          <p:nvPr/>
        </p:nvSpPr>
        <p:spPr>
          <a:xfrm>
            <a:off x="5088127" y="2469773"/>
            <a:ext cx="129032" cy="1105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227"/>
          </a:bodyPr>
          <a:lstStyle>
            <a:def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292" name="∑">
            <a:extLst>
              <a:ext uri="{FF2B5EF4-FFF2-40B4-BE49-F238E27FC236}">
                <a16:creationId xmlns:a16="http://schemas.microsoft.com/office/drawing/2014/main" id="{2C7DA7CF-F5D9-4AFF-AEF9-DB76D35478B1}"/>
              </a:ext>
            </a:extLst>
          </p:cNvPr>
          <p:cNvSpPr>
            <a:spLocks noGrp="1"/>
          </p:cNvSpPr>
          <p:nvPr/>
        </p:nvSpPr>
        <p:spPr>
          <a:xfrm>
            <a:off x="5227482" y="2332896"/>
            <a:ext cx="201290" cy="2322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704"/>
          </a:bodyPr>
          <a:lstStyle>
            <a:def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∑</a:t>
            </a:r>
          </a:p>
        </p:txBody>
      </p:sp>
      <p:sp>
        <p:nvSpPr>
          <p:cNvPr id="293" name="18">
            <a:extLst>
              <a:ext uri="{FF2B5EF4-FFF2-40B4-BE49-F238E27FC236}">
                <a16:creationId xmlns:a16="http://schemas.microsoft.com/office/drawing/2014/main" id="{13B81F44-F733-47E0-9DE9-C6D1B3F818EA}"/>
              </a:ext>
            </a:extLst>
          </p:cNvPr>
          <p:cNvSpPr>
            <a:spLocks noGrp="1"/>
          </p:cNvSpPr>
          <p:nvPr/>
        </p:nvSpPr>
        <p:spPr>
          <a:xfrm>
            <a:off x="5279095" y="2260638"/>
            <a:ext cx="149677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294" name="k=1">
            <a:extLst>
              <a:ext uri="{FF2B5EF4-FFF2-40B4-BE49-F238E27FC236}">
                <a16:creationId xmlns:a16="http://schemas.microsoft.com/office/drawing/2014/main" id="{CE245E2F-3CE1-4A9C-9963-F7C2B0FA9103}"/>
              </a:ext>
            </a:extLst>
          </p:cNvPr>
          <p:cNvSpPr>
            <a:spLocks noGrp="1"/>
          </p:cNvSpPr>
          <p:nvPr/>
        </p:nvSpPr>
        <p:spPr>
          <a:xfrm>
            <a:off x="5211998" y="2559992"/>
            <a:ext cx="221935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k=1</a:t>
            </a:r>
          </a:p>
        </p:txBody>
      </p:sp>
      <p:sp>
        <p:nvSpPr>
          <p:cNvPr id="295" name="(uᵢₖ − uⱼₖ)²">
            <a:extLst>
              <a:ext uri="{FF2B5EF4-FFF2-40B4-BE49-F238E27FC236}">
                <a16:creationId xmlns:a16="http://schemas.microsoft.com/office/drawing/2014/main" id="{0DC79FA8-254B-4BCC-BA61-0FE45233BAEE}"/>
              </a:ext>
            </a:extLst>
          </p:cNvPr>
          <p:cNvSpPr>
            <a:spLocks noGrp="1"/>
          </p:cNvSpPr>
          <p:nvPr/>
        </p:nvSpPr>
        <p:spPr>
          <a:xfrm>
            <a:off x="5402965" y="2394831"/>
            <a:ext cx="469676" cy="1651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09"/>
          </a:bodyPr>
          <a:lstStyle>
            <a:def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(uᵢₖ − uⱼₖ)²</a:t>
            </a:r>
          </a:p>
        </p:txBody>
      </p:sp>
      <p:sp>
        <p:nvSpPr>
          <p:cNvPr id="296" name="p(j | i) =">
            <a:extLst>
              <a:ext uri="{FF2B5EF4-FFF2-40B4-BE49-F238E27FC236}">
                <a16:creationId xmlns:a16="http://schemas.microsoft.com/office/drawing/2014/main" id="{EBDAF7A2-0C2B-451F-A4AC-E58297724EDE}"/>
              </a:ext>
            </a:extLst>
          </p:cNvPr>
          <p:cNvSpPr>
            <a:spLocks noGrp="1"/>
          </p:cNvSpPr>
          <p:nvPr/>
        </p:nvSpPr>
        <p:spPr>
          <a:xfrm>
            <a:off x="4773290" y="2776765"/>
            <a:ext cx="459353" cy="1754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p(j | i) =</a:t>
            </a:r>
          </a:p>
        </p:txBody>
      </p:sp>
      <p:sp>
        <p:nvSpPr>
          <p:cNvPr id="297" name="exp(−dᵢⱼ / τₐ)">
            <a:extLst>
              <a:ext uri="{FF2B5EF4-FFF2-40B4-BE49-F238E27FC236}">
                <a16:creationId xmlns:a16="http://schemas.microsoft.com/office/drawing/2014/main" id="{6A5349B9-A768-4F2B-9CFE-4C8B548A140E}"/>
              </a:ext>
            </a:extLst>
          </p:cNvPr>
          <p:cNvSpPr>
            <a:spLocks noGrp="1"/>
          </p:cNvSpPr>
          <p:nvPr/>
        </p:nvSpPr>
        <p:spPr>
          <a:xfrm>
            <a:off x="5217159" y="2689024"/>
            <a:ext cx="650321" cy="1322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exp</a:t>
            </a: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(−dᵢⱼ / τₐ)</a:t>
            </a:r>
          </a:p>
        </p:txBody>
      </p:sp>
      <p:cxnSp>
        <p:nvCxnSpPr>
          <p:cNvPr id="298" name="native PowerPoint connector">
            <a:extLst>
              <a:ext uri="{FF2B5EF4-FFF2-40B4-BE49-F238E27FC236}">
                <a16:creationId xmlns:a16="http://schemas.microsoft.com/office/drawing/2014/main" id="{64312D20-D465-4197-A349-B23FB3C875CB}"/>
              </a:ext>
            </a:extLst>
          </p:cNvPr>
          <p:cNvCxnSpPr/>
          <p:nvPr/>
        </p:nvCxnSpPr>
        <p:spPr>
          <a:xfrm>
            <a:off x="5232643" y="2843294"/>
            <a:ext cx="619353" cy="0"/>
          </a:xfrm>
          <a:prstGeom prst="straightConnector1">
            <a:avLst/>
          </a:prstGeom>
          <a:ln w="5677">
            <a:solidFill>
              <a:srgbClr val="061A3C"/>
            </a:solidFill>
            <a:prstDash val="solid"/>
          </a:ln>
        </p:spPr>
      </p:cxnSp>
      <p:sp>
        <p:nvSpPr>
          <p:cNvPr id="299" name="∑ₖ≠ᵢ exp(−dᵢₖ / τₐ)">
            <a:extLst>
              <a:ext uri="{FF2B5EF4-FFF2-40B4-BE49-F238E27FC236}">
                <a16:creationId xmlns:a16="http://schemas.microsoft.com/office/drawing/2014/main" id="{D40D89C2-B2C3-400F-AB41-2B10E028F95D}"/>
              </a:ext>
            </a:extLst>
          </p:cNvPr>
          <p:cNvSpPr>
            <a:spLocks noGrp="1"/>
          </p:cNvSpPr>
          <p:nvPr/>
        </p:nvSpPr>
        <p:spPr>
          <a:xfrm>
            <a:off x="5217159" y="2852739"/>
            <a:ext cx="650321" cy="1322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5283"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∑ₖ≠ᵢ </a:t>
            </a:r>
            <a:r>
              <a: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exp</a:t>
            </a: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(−dᵢₖ / τₐ)</a:t>
            </a:r>
          </a:p>
        </p:txBody>
      </p:sp>
      <p:sp>
        <p:nvSpPr>
          <p:cNvPr id="300" name="for j ≠ i">
            <a:extLst>
              <a:ext uri="{FF2B5EF4-FFF2-40B4-BE49-F238E27FC236}">
                <a16:creationId xmlns:a16="http://schemas.microsoft.com/office/drawing/2014/main" id="{1979637F-20D6-42CD-BBE6-E28A9E79D7FB}"/>
              </a:ext>
            </a:extLst>
          </p:cNvPr>
          <p:cNvSpPr>
            <a:spLocks noGrp="1"/>
          </p:cNvSpPr>
          <p:nvPr/>
        </p:nvSpPr>
        <p:spPr>
          <a:xfrm>
            <a:off x="5088127" y="3081281"/>
            <a:ext cx="717417" cy="1393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796"/>
          </a:bodyPr>
          <a:lstStyle>
            <a:def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for j ≠ i</a:t>
            </a:r>
          </a:p>
        </p:txBody>
      </p:sp>
      <p:sp>
        <p:nvSpPr>
          <p:cNvPr id="301" name="τₐ: frozen temperature">
            <a:extLst>
              <a:ext uri="{FF2B5EF4-FFF2-40B4-BE49-F238E27FC236}">
                <a16:creationId xmlns:a16="http://schemas.microsoft.com/office/drawing/2014/main" id="{683370FD-FB9F-439C-A0BB-7F703251670F}"/>
              </a:ext>
            </a:extLst>
          </p:cNvPr>
          <p:cNvSpPr>
            <a:spLocks noGrp="1"/>
          </p:cNvSpPr>
          <p:nvPr/>
        </p:nvSpPr>
        <p:spPr>
          <a:xfrm>
            <a:off x="4799096" y="3215474"/>
            <a:ext cx="1037416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257"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τₐ: frozen temperature</a:t>
            </a:r>
          </a:p>
        </p:txBody>
      </p:sp>
      <p:sp>
        <p:nvSpPr>
          <p:cNvPr id="302" name="(teacher and student share τₐ)">
            <a:extLst>
              <a:ext uri="{FF2B5EF4-FFF2-40B4-BE49-F238E27FC236}">
                <a16:creationId xmlns:a16="http://schemas.microsoft.com/office/drawing/2014/main" id="{1E9094BA-FE7F-4F60-BAF3-1AC36F1838B7}"/>
              </a:ext>
            </a:extLst>
          </p:cNvPr>
          <p:cNvSpPr>
            <a:spLocks noGrp="1"/>
          </p:cNvSpPr>
          <p:nvPr/>
        </p:nvSpPr>
        <p:spPr>
          <a:xfrm>
            <a:off x="4793935" y="3349667"/>
            <a:ext cx="1047739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46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(teacher and student share τₐ)</a:t>
            </a:r>
          </a:p>
        </p:txBody>
      </p:sp>
      <p:sp>
        <p:nvSpPr>
          <p:cNvPr id="303" name="diagram block">
            <a:extLst>
              <a:ext uri="{FF2B5EF4-FFF2-40B4-BE49-F238E27FC236}">
                <a16:creationId xmlns:a16="http://schemas.microsoft.com/office/drawing/2014/main" id="{ED666A9D-FE59-4CA0-87E6-4D52500FD056}"/>
              </a:ext>
            </a:extLst>
          </p:cNvPr>
          <p:cNvSpPr>
            <a:spLocks noGrp="1"/>
          </p:cNvSpPr>
          <p:nvPr/>
        </p:nvSpPr>
        <p:spPr>
          <a:xfrm>
            <a:off x="3292004" y="3623214"/>
            <a:ext cx="2611605" cy="304515"/>
          </a:xfrm>
          <a:prstGeom prst="roundRect">
            <a:avLst>
              <a:gd name="adj" fmla="val 10169"/>
            </a:avLst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5161">
            <a:solidFill>
              <a:srgbClr val="F889A0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04" name="L_temp,a = mean_i KL(p^T(· | i) || p^S(· | i))">
            <a:extLst>
              <a:ext uri="{FF2B5EF4-FFF2-40B4-BE49-F238E27FC236}">
                <a16:creationId xmlns:a16="http://schemas.microsoft.com/office/drawing/2014/main" id="{1C449188-9D64-4FE0-8051-E1EDE56E75A6}"/>
              </a:ext>
            </a:extLst>
          </p:cNvPr>
          <p:cNvSpPr>
            <a:spLocks noGrp="1"/>
          </p:cNvSpPr>
          <p:nvPr/>
        </p:nvSpPr>
        <p:spPr>
          <a:xfrm>
            <a:off x="3348778" y="3710956"/>
            <a:ext cx="2503218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71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temp,a</a:t>
            </a: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975" b="0" i="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mean</a:t>
            </a:r>
            <a:r>
              <a:rPr sz="71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75" b="0" i="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KL</a:t>
            </a: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(p</a:t>
            </a:r>
            <a:r>
              <a:rPr sz="712" b="0" i="1" baseline="27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(· | i) || p</a:t>
            </a:r>
            <a:r>
              <a:rPr sz="712" b="0" i="1" baseline="27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(· | i))</a:t>
            </a:r>
          </a:p>
        </p:txBody>
      </p:sp>
      <p:sp>
        <p:nvSpPr>
          <p:cNvPr id="305" name="All other windows are neighbors (diagonal masked).">
            <a:extLst>
              <a:ext uri="{FF2B5EF4-FFF2-40B4-BE49-F238E27FC236}">
                <a16:creationId xmlns:a16="http://schemas.microsoft.com/office/drawing/2014/main" id="{F7066CF3-25FD-4EDB-AAC5-B6D34E1B4335}"/>
              </a:ext>
            </a:extLst>
          </p:cNvPr>
          <p:cNvSpPr>
            <a:spLocks noGrp="1"/>
          </p:cNvSpPr>
          <p:nvPr/>
        </p:nvSpPr>
        <p:spPr>
          <a:xfrm>
            <a:off x="3322972" y="3999987"/>
            <a:ext cx="2534185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All other windows are neighbors (diagonal masked).</a:t>
            </a:r>
          </a:p>
        </p:txBody>
      </p:sp>
      <p:sp>
        <p:nvSpPr>
          <p:cNvPr id="306" name="diagram block">
            <a:extLst>
              <a:ext uri="{FF2B5EF4-FFF2-40B4-BE49-F238E27FC236}">
                <a16:creationId xmlns:a16="http://schemas.microsoft.com/office/drawing/2014/main" id="{D0EA959D-E50A-499E-BE92-E417EDCCE349}"/>
              </a:ext>
            </a:extLst>
          </p:cNvPr>
          <p:cNvSpPr>
            <a:spLocks noGrp="1"/>
          </p:cNvSpPr>
          <p:nvPr/>
        </p:nvSpPr>
        <p:spPr>
          <a:xfrm>
            <a:off x="6073931" y="650321"/>
            <a:ext cx="1775478" cy="1300641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FFF5DC"/>
              </a:gs>
              <a:gs pos="100000">
                <a:srgbClr val="FFFDF8"/>
              </a:gs>
            </a:gsLst>
            <a:lin ang="5400000"/>
          </a:gradFill>
          <a:ln w="5161">
            <a:solidFill>
              <a:srgbClr val="F3D18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07" name="diagram block">
            <a:extLst>
              <a:ext uri="{FF2B5EF4-FFF2-40B4-BE49-F238E27FC236}">
                <a16:creationId xmlns:a16="http://schemas.microsoft.com/office/drawing/2014/main" id="{12A7A761-18C1-4CE9-9CA9-4970D138E6D2}"/>
              </a:ext>
            </a:extLst>
          </p:cNvPr>
          <p:cNvSpPr>
            <a:spLocks noGrp="1"/>
          </p:cNvSpPr>
          <p:nvPr/>
        </p:nvSpPr>
        <p:spPr>
          <a:xfrm>
            <a:off x="6073931" y="650321"/>
            <a:ext cx="1775478" cy="175483"/>
          </a:xfrm>
          <a:prstGeom prst="roundRect">
            <a:avLst>
              <a:gd name="adj" fmla="val 14706"/>
            </a:avLst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5161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08" name="Camera 1 (view 1)">
            <a:extLst>
              <a:ext uri="{FF2B5EF4-FFF2-40B4-BE49-F238E27FC236}">
                <a16:creationId xmlns:a16="http://schemas.microsoft.com/office/drawing/2014/main" id="{3DC68C9C-1913-4B07-93A6-6E6F05FFDDE7}"/>
              </a:ext>
            </a:extLst>
          </p:cNvPr>
          <p:cNvSpPr>
            <a:spLocks noGrp="1"/>
          </p:cNvSpPr>
          <p:nvPr/>
        </p:nvSpPr>
        <p:spPr>
          <a:xfrm>
            <a:off x="6099737" y="676127"/>
            <a:ext cx="1723865" cy="123871"/>
          </a:xfrm>
          <a:prstGeom prst="rect">
            <a:avLst/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95287"/>
          </a:bodyPr>
          <a:lstStyle>
            <a:def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Camera 1 (view 1)</a:t>
            </a:r>
          </a:p>
        </p:txBody>
      </p:sp>
      <p:sp>
        <p:nvSpPr>
          <p:cNvPr id="309" name="Time 1 (future)">
            <a:extLst>
              <a:ext uri="{FF2B5EF4-FFF2-40B4-BE49-F238E27FC236}">
                <a16:creationId xmlns:a16="http://schemas.microsoft.com/office/drawing/2014/main" id="{84400F71-545B-4B18-BD9C-CD6F50B00ECC}"/>
              </a:ext>
            </a:extLst>
          </p:cNvPr>
          <p:cNvSpPr>
            <a:spLocks noGrp="1"/>
          </p:cNvSpPr>
          <p:nvPr/>
        </p:nvSpPr>
        <p:spPr>
          <a:xfrm>
            <a:off x="6182317" y="877417"/>
            <a:ext cx="748385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Time 1 (future)</a:t>
            </a:r>
          </a:p>
        </p:txBody>
      </p:sp>
      <p:sp>
        <p:nvSpPr>
          <p:cNvPr id="310" name="Time 2 (future)">
            <a:extLst>
              <a:ext uri="{FF2B5EF4-FFF2-40B4-BE49-F238E27FC236}">
                <a16:creationId xmlns:a16="http://schemas.microsoft.com/office/drawing/2014/main" id="{CCB0CE4B-F674-4EF6-B6ED-AE2FCDC121BA}"/>
              </a:ext>
            </a:extLst>
          </p:cNvPr>
          <p:cNvSpPr>
            <a:spLocks noGrp="1"/>
          </p:cNvSpPr>
          <p:nvPr/>
        </p:nvSpPr>
        <p:spPr>
          <a:xfrm>
            <a:off x="7064895" y="877417"/>
            <a:ext cx="748385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Time 2 (future)</a:t>
            </a:r>
          </a:p>
        </p:txBody>
      </p:sp>
      <p:sp>
        <p:nvSpPr>
          <p:cNvPr id="311" name="diagram block">
            <a:extLst>
              <a:ext uri="{FF2B5EF4-FFF2-40B4-BE49-F238E27FC236}">
                <a16:creationId xmlns:a16="http://schemas.microsoft.com/office/drawing/2014/main" id="{20899F4E-191D-40A8-85BE-B2612884F1E4}"/>
              </a:ext>
            </a:extLst>
          </p:cNvPr>
          <p:cNvSpPr>
            <a:spLocks noGrp="1"/>
          </p:cNvSpPr>
          <p:nvPr/>
        </p:nvSpPr>
        <p:spPr>
          <a:xfrm>
            <a:off x="6197801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12" name="diagram block">
            <a:extLst>
              <a:ext uri="{FF2B5EF4-FFF2-40B4-BE49-F238E27FC236}">
                <a16:creationId xmlns:a16="http://schemas.microsoft.com/office/drawing/2014/main" id="{BEAE38F3-91B7-409D-97EB-EFF7C8819D51}"/>
              </a:ext>
            </a:extLst>
          </p:cNvPr>
          <p:cNvSpPr>
            <a:spLocks noGrp="1"/>
          </p:cNvSpPr>
          <p:nvPr/>
        </p:nvSpPr>
        <p:spPr>
          <a:xfrm>
            <a:off x="6303607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13" name="diagram block">
            <a:extLst>
              <a:ext uri="{FF2B5EF4-FFF2-40B4-BE49-F238E27FC236}">
                <a16:creationId xmlns:a16="http://schemas.microsoft.com/office/drawing/2014/main" id="{39046024-043B-4128-9FB0-FD7739582EFE}"/>
              </a:ext>
            </a:extLst>
          </p:cNvPr>
          <p:cNvSpPr>
            <a:spLocks noGrp="1"/>
          </p:cNvSpPr>
          <p:nvPr/>
        </p:nvSpPr>
        <p:spPr>
          <a:xfrm>
            <a:off x="6409414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14" name="diagram block">
            <a:extLst>
              <a:ext uri="{FF2B5EF4-FFF2-40B4-BE49-F238E27FC236}">
                <a16:creationId xmlns:a16="http://schemas.microsoft.com/office/drawing/2014/main" id="{E4D2298F-C293-45AA-AE37-03E00E3BFE8D}"/>
              </a:ext>
            </a:extLst>
          </p:cNvPr>
          <p:cNvSpPr>
            <a:spLocks noGrp="1"/>
          </p:cNvSpPr>
          <p:nvPr/>
        </p:nvSpPr>
        <p:spPr>
          <a:xfrm>
            <a:off x="6515220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15" name="diagram block">
            <a:extLst>
              <a:ext uri="{FF2B5EF4-FFF2-40B4-BE49-F238E27FC236}">
                <a16:creationId xmlns:a16="http://schemas.microsoft.com/office/drawing/2014/main" id="{D3997C13-DBCE-4836-8587-D792DF127AB8}"/>
              </a:ext>
            </a:extLst>
          </p:cNvPr>
          <p:cNvSpPr>
            <a:spLocks noGrp="1"/>
          </p:cNvSpPr>
          <p:nvPr/>
        </p:nvSpPr>
        <p:spPr>
          <a:xfrm>
            <a:off x="6621026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16" name="diagram block">
            <a:extLst>
              <a:ext uri="{FF2B5EF4-FFF2-40B4-BE49-F238E27FC236}">
                <a16:creationId xmlns:a16="http://schemas.microsoft.com/office/drawing/2014/main" id="{900D2935-F595-4D78-8902-FCBAFC49CC0A}"/>
              </a:ext>
            </a:extLst>
          </p:cNvPr>
          <p:cNvSpPr>
            <a:spLocks noGrp="1"/>
          </p:cNvSpPr>
          <p:nvPr/>
        </p:nvSpPr>
        <p:spPr>
          <a:xfrm>
            <a:off x="6726832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17" name="diagram block">
            <a:extLst>
              <a:ext uri="{FF2B5EF4-FFF2-40B4-BE49-F238E27FC236}">
                <a16:creationId xmlns:a16="http://schemas.microsoft.com/office/drawing/2014/main" id="{BD3424D6-DE79-4104-B473-29B98191E2AE}"/>
              </a:ext>
            </a:extLst>
          </p:cNvPr>
          <p:cNvSpPr>
            <a:spLocks noGrp="1"/>
          </p:cNvSpPr>
          <p:nvPr/>
        </p:nvSpPr>
        <p:spPr>
          <a:xfrm>
            <a:off x="6832638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18" name="diagram block">
            <a:extLst>
              <a:ext uri="{FF2B5EF4-FFF2-40B4-BE49-F238E27FC236}">
                <a16:creationId xmlns:a16="http://schemas.microsoft.com/office/drawing/2014/main" id="{E6CC36D5-128F-4195-B55D-C4A532CD388F}"/>
              </a:ext>
            </a:extLst>
          </p:cNvPr>
          <p:cNvSpPr>
            <a:spLocks noGrp="1"/>
          </p:cNvSpPr>
          <p:nvPr/>
        </p:nvSpPr>
        <p:spPr>
          <a:xfrm>
            <a:off x="6197801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19" name="diagram block">
            <a:extLst>
              <a:ext uri="{FF2B5EF4-FFF2-40B4-BE49-F238E27FC236}">
                <a16:creationId xmlns:a16="http://schemas.microsoft.com/office/drawing/2014/main" id="{2D9F8BB9-068E-48C8-A826-0FA23DBA1B19}"/>
              </a:ext>
            </a:extLst>
          </p:cNvPr>
          <p:cNvSpPr>
            <a:spLocks noGrp="1"/>
          </p:cNvSpPr>
          <p:nvPr/>
        </p:nvSpPr>
        <p:spPr>
          <a:xfrm>
            <a:off x="6303607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20" name="diagram block">
            <a:extLst>
              <a:ext uri="{FF2B5EF4-FFF2-40B4-BE49-F238E27FC236}">
                <a16:creationId xmlns:a16="http://schemas.microsoft.com/office/drawing/2014/main" id="{272416C5-53BE-4620-9600-F241720BEBB9}"/>
              </a:ext>
            </a:extLst>
          </p:cNvPr>
          <p:cNvSpPr>
            <a:spLocks noGrp="1"/>
          </p:cNvSpPr>
          <p:nvPr/>
        </p:nvSpPr>
        <p:spPr>
          <a:xfrm>
            <a:off x="6409414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21" name="diagram block">
            <a:extLst>
              <a:ext uri="{FF2B5EF4-FFF2-40B4-BE49-F238E27FC236}">
                <a16:creationId xmlns:a16="http://schemas.microsoft.com/office/drawing/2014/main" id="{AB30C460-9531-406D-B655-90D6E0882932}"/>
              </a:ext>
            </a:extLst>
          </p:cNvPr>
          <p:cNvSpPr>
            <a:spLocks noGrp="1"/>
          </p:cNvSpPr>
          <p:nvPr/>
        </p:nvSpPr>
        <p:spPr>
          <a:xfrm>
            <a:off x="6515220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22" name="diagram block">
            <a:extLst>
              <a:ext uri="{FF2B5EF4-FFF2-40B4-BE49-F238E27FC236}">
                <a16:creationId xmlns:a16="http://schemas.microsoft.com/office/drawing/2014/main" id="{8CBED9F2-3FEB-41E9-AA33-B5E682628773}"/>
              </a:ext>
            </a:extLst>
          </p:cNvPr>
          <p:cNvSpPr>
            <a:spLocks noGrp="1"/>
          </p:cNvSpPr>
          <p:nvPr/>
        </p:nvSpPr>
        <p:spPr>
          <a:xfrm>
            <a:off x="6621026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23" name="diagram block">
            <a:extLst>
              <a:ext uri="{FF2B5EF4-FFF2-40B4-BE49-F238E27FC236}">
                <a16:creationId xmlns:a16="http://schemas.microsoft.com/office/drawing/2014/main" id="{353AD3B6-0CE9-42A2-B6DE-BBFA45FFF6C6}"/>
              </a:ext>
            </a:extLst>
          </p:cNvPr>
          <p:cNvSpPr>
            <a:spLocks noGrp="1"/>
          </p:cNvSpPr>
          <p:nvPr/>
        </p:nvSpPr>
        <p:spPr>
          <a:xfrm>
            <a:off x="6726832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24" name="diagram block">
            <a:extLst>
              <a:ext uri="{FF2B5EF4-FFF2-40B4-BE49-F238E27FC236}">
                <a16:creationId xmlns:a16="http://schemas.microsoft.com/office/drawing/2014/main" id="{B1CF6198-9339-4A5E-810D-FE75EBB8C87E}"/>
              </a:ext>
            </a:extLst>
          </p:cNvPr>
          <p:cNvSpPr>
            <a:spLocks noGrp="1"/>
          </p:cNvSpPr>
          <p:nvPr/>
        </p:nvSpPr>
        <p:spPr>
          <a:xfrm>
            <a:off x="6832638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25" name="diagram block">
            <a:extLst>
              <a:ext uri="{FF2B5EF4-FFF2-40B4-BE49-F238E27FC236}">
                <a16:creationId xmlns:a16="http://schemas.microsoft.com/office/drawing/2014/main" id="{C3BEE39A-7118-4AA9-A9B0-0643FC4F5A42}"/>
              </a:ext>
            </a:extLst>
          </p:cNvPr>
          <p:cNvSpPr>
            <a:spLocks noGrp="1"/>
          </p:cNvSpPr>
          <p:nvPr/>
        </p:nvSpPr>
        <p:spPr>
          <a:xfrm>
            <a:off x="6197801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26" name="diagram block">
            <a:extLst>
              <a:ext uri="{FF2B5EF4-FFF2-40B4-BE49-F238E27FC236}">
                <a16:creationId xmlns:a16="http://schemas.microsoft.com/office/drawing/2014/main" id="{D7314CCC-48F5-4951-BCE7-A1160F7989A9}"/>
              </a:ext>
            </a:extLst>
          </p:cNvPr>
          <p:cNvSpPr>
            <a:spLocks noGrp="1"/>
          </p:cNvSpPr>
          <p:nvPr/>
        </p:nvSpPr>
        <p:spPr>
          <a:xfrm>
            <a:off x="6303607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27" name="diagram block">
            <a:extLst>
              <a:ext uri="{FF2B5EF4-FFF2-40B4-BE49-F238E27FC236}">
                <a16:creationId xmlns:a16="http://schemas.microsoft.com/office/drawing/2014/main" id="{7A3DD1B8-5B25-4CA8-A2FF-2D1CAE14AC7F}"/>
              </a:ext>
            </a:extLst>
          </p:cNvPr>
          <p:cNvSpPr>
            <a:spLocks noGrp="1"/>
          </p:cNvSpPr>
          <p:nvPr/>
        </p:nvSpPr>
        <p:spPr>
          <a:xfrm>
            <a:off x="6409414" y="1202577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28" name="diagram block">
            <a:extLst>
              <a:ext uri="{FF2B5EF4-FFF2-40B4-BE49-F238E27FC236}">
                <a16:creationId xmlns:a16="http://schemas.microsoft.com/office/drawing/2014/main" id="{8754E66D-5324-4E7A-8C3E-01E1805254E6}"/>
              </a:ext>
            </a:extLst>
          </p:cNvPr>
          <p:cNvSpPr>
            <a:spLocks noGrp="1"/>
          </p:cNvSpPr>
          <p:nvPr/>
        </p:nvSpPr>
        <p:spPr>
          <a:xfrm>
            <a:off x="6515220" y="1202577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29" name="diagram block">
            <a:extLst>
              <a:ext uri="{FF2B5EF4-FFF2-40B4-BE49-F238E27FC236}">
                <a16:creationId xmlns:a16="http://schemas.microsoft.com/office/drawing/2014/main" id="{B66BEACF-7EAF-427C-B3A8-6E1D4EDF7D0A}"/>
              </a:ext>
            </a:extLst>
          </p:cNvPr>
          <p:cNvSpPr>
            <a:spLocks noGrp="1"/>
          </p:cNvSpPr>
          <p:nvPr/>
        </p:nvSpPr>
        <p:spPr>
          <a:xfrm>
            <a:off x="6621026" y="1202577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30" name="diagram block">
            <a:extLst>
              <a:ext uri="{FF2B5EF4-FFF2-40B4-BE49-F238E27FC236}">
                <a16:creationId xmlns:a16="http://schemas.microsoft.com/office/drawing/2014/main" id="{484F609A-B1B3-4D93-8794-AC5E7FB82F1A}"/>
              </a:ext>
            </a:extLst>
          </p:cNvPr>
          <p:cNvSpPr>
            <a:spLocks noGrp="1"/>
          </p:cNvSpPr>
          <p:nvPr/>
        </p:nvSpPr>
        <p:spPr>
          <a:xfrm>
            <a:off x="6726832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31" name="diagram block">
            <a:extLst>
              <a:ext uri="{FF2B5EF4-FFF2-40B4-BE49-F238E27FC236}">
                <a16:creationId xmlns:a16="http://schemas.microsoft.com/office/drawing/2014/main" id="{F7299DC5-E429-454F-A436-2434C712AD49}"/>
              </a:ext>
            </a:extLst>
          </p:cNvPr>
          <p:cNvSpPr>
            <a:spLocks noGrp="1"/>
          </p:cNvSpPr>
          <p:nvPr/>
        </p:nvSpPr>
        <p:spPr>
          <a:xfrm>
            <a:off x="6832638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32" name="diagram block">
            <a:extLst>
              <a:ext uri="{FF2B5EF4-FFF2-40B4-BE49-F238E27FC236}">
                <a16:creationId xmlns:a16="http://schemas.microsoft.com/office/drawing/2014/main" id="{9A5D7DF6-4436-456A-AFF7-3E6A3D675FF3}"/>
              </a:ext>
            </a:extLst>
          </p:cNvPr>
          <p:cNvSpPr>
            <a:spLocks noGrp="1"/>
          </p:cNvSpPr>
          <p:nvPr/>
        </p:nvSpPr>
        <p:spPr>
          <a:xfrm>
            <a:off x="6197801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33" name="diagram block">
            <a:extLst>
              <a:ext uri="{FF2B5EF4-FFF2-40B4-BE49-F238E27FC236}">
                <a16:creationId xmlns:a16="http://schemas.microsoft.com/office/drawing/2014/main" id="{CD522E54-DA04-4371-B1C7-F8BA930D4616}"/>
              </a:ext>
            </a:extLst>
          </p:cNvPr>
          <p:cNvSpPr>
            <a:spLocks noGrp="1"/>
          </p:cNvSpPr>
          <p:nvPr/>
        </p:nvSpPr>
        <p:spPr>
          <a:xfrm>
            <a:off x="6303607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34" name="diagram block">
            <a:extLst>
              <a:ext uri="{FF2B5EF4-FFF2-40B4-BE49-F238E27FC236}">
                <a16:creationId xmlns:a16="http://schemas.microsoft.com/office/drawing/2014/main" id="{65ECF492-0B18-49A1-8E8F-6C5991A10912}"/>
              </a:ext>
            </a:extLst>
          </p:cNvPr>
          <p:cNvSpPr>
            <a:spLocks noGrp="1"/>
          </p:cNvSpPr>
          <p:nvPr/>
        </p:nvSpPr>
        <p:spPr>
          <a:xfrm>
            <a:off x="6409414" y="1308383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35" name="diagram block">
            <a:extLst>
              <a:ext uri="{FF2B5EF4-FFF2-40B4-BE49-F238E27FC236}">
                <a16:creationId xmlns:a16="http://schemas.microsoft.com/office/drawing/2014/main" id="{209EAC7A-F0D7-447A-9BB5-22D89647BB4E}"/>
              </a:ext>
            </a:extLst>
          </p:cNvPr>
          <p:cNvSpPr>
            <a:spLocks noGrp="1"/>
          </p:cNvSpPr>
          <p:nvPr/>
        </p:nvSpPr>
        <p:spPr>
          <a:xfrm>
            <a:off x="6515220" y="1308383"/>
            <a:ext cx="99096" cy="99096"/>
          </a:xfrm>
          <a:prstGeom prst="rect">
            <a:avLst/>
          </a:prstGeom>
          <a:solidFill>
            <a:srgbClr val="FF8156"/>
          </a:solidFill>
          <a:ln w="7226">
            <a:solidFill>
              <a:srgbClr val="D7442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36" name="diagram block">
            <a:extLst>
              <a:ext uri="{FF2B5EF4-FFF2-40B4-BE49-F238E27FC236}">
                <a16:creationId xmlns:a16="http://schemas.microsoft.com/office/drawing/2014/main" id="{ADFDF273-E73F-455E-92DF-32F91D23750C}"/>
              </a:ext>
            </a:extLst>
          </p:cNvPr>
          <p:cNvSpPr>
            <a:spLocks noGrp="1"/>
          </p:cNvSpPr>
          <p:nvPr/>
        </p:nvSpPr>
        <p:spPr>
          <a:xfrm>
            <a:off x="6621026" y="1308383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37" name="diagram block">
            <a:extLst>
              <a:ext uri="{FF2B5EF4-FFF2-40B4-BE49-F238E27FC236}">
                <a16:creationId xmlns:a16="http://schemas.microsoft.com/office/drawing/2014/main" id="{72326222-FF00-4F9F-BFBC-7BDF013ED556}"/>
              </a:ext>
            </a:extLst>
          </p:cNvPr>
          <p:cNvSpPr>
            <a:spLocks noGrp="1"/>
          </p:cNvSpPr>
          <p:nvPr/>
        </p:nvSpPr>
        <p:spPr>
          <a:xfrm>
            <a:off x="6726832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38" name="diagram block">
            <a:extLst>
              <a:ext uri="{FF2B5EF4-FFF2-40B4-BE49-F238E27FC236}">
                <a16:creationId xmlns:a16="http://schemas.microsoft.com/office/drawing/2014/main" id="{48EFA103-FE61-452F-A6CB-F13A189EA9D7}"/>
              </a:ext>
            </a:extLst>
          </p:cNvPr>
          <p:cNvSpPr>
            <a:spLocks noGrp="1"/>
          </p:cNvSpPr>
          <p:nvPr/>
        </p:nvSpPr>
        <p:spPr>
          <a:xfrm>
            <a:off x="6832638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39" name="diagram block">
            <a:extLst>
              <a:ext uri="{FF2B5EF4-FFF2-40B4-BE49-F238E27FC236}">
                <a16:creationId xmlns:a16="http://schemas.microsoft.com/office/drawing/2014/main" id="{97DC1158-D0AE-4C50-8F26-995CED9D4A66}"/>
              </a:ext>
            </a:extLst>
          </p:cNvPr>
          <p:cNvSpPr>
            <a:spLocks noGrp="1"/>
          </p:cNvSpPr>
          <p:nvPr/>
        </p:nvSpPr>
        <p:spPr>
          <a:xfrm>
            <a:off x="6197801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40" name="diagram block">
            <a:extLst>
              <a:ext uri="{FF2B5EF4-FFF2-40B4-BE49-F238E27FC236}">
                <a16:creationId xmlns:a16="http://schemas.microsoft.com/office/drawing/2014/main" id="{DEBACAC9-4741-4A01-ABD5-28642711C766}"/>
              </a:ext>
            </a:extLst>
          </p:cNvPr>
          <p:cNvSpPr>
            <a:spLocks noGrp="1"/>
          </p:cNvSpPr>
          <p:nvPr/>
        </p:nvSpPr>
        <p:spPr>
          <a:xfrm>
            <a:off x="6303607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41" name="diagram block">
            <a:extLst>
              <a:ext uri="{FF2B5EF4-FFF2-40B4-BE49-F238E27FC236}">
                <a16:creationId xmlns:a16="http://schemas.microsoft.com/office/drawing/2014/main" id="{640442AE-43F3-4475-A636-AE23B2284792}"/>
              </a:ext>
            </a:extLst>
          </p:cNvPr>
          <p:cNvSpPr>
            <a:spLocks noGrp="1"/>
          </p:cNvSpPr>
          <p:nvPr/>
        </p:nvSpPr>
        <p:spPr>
          <a:xfrm>
            <a:off x="6409414" y="1414189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42" name="diagram block">
            <a:extLst>
              <a:ext uri="{FF2B5EF4-FFF2-40B4-BE49-F238E27FC236}">
                <a16:creationId xmlns:a16="http://schemas.microsoft.com/office/drawing/2014/main" id="{77D0D036-F7B8-44F8-BEFF-B29EEDC3DAE3}"/>
              </a:ext>
            </a:extLst>
          </p:cNvPr>
          <p:cNvSpPr>
            <a:spLocks noGrp="1"/>
          </p:cNvSpPr>
          <p:nvPr/>
        </p:nvSpPr>
        <p:spPr>
          <a:xfrm>
            <a:off x="6515220" y="1414189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43" name="diagram block">
            <a:extLst>
              <a:ext uri="{FF2B5EF4-FFF2-40B4-BE49-F238E27FC236}">
                <a16:creationId xmlns:a16="http://schemas.microsoft.com/office/drawing/2014/main" id="{E9A0DCF8-8065-43F2-A345-FA55BF807F84}"/>
              </a:ext>
            </a:extLst>
          </p:cNvPr>
          <p:cNvSpPr>
            <a:spLocks noGrp="1"/>
          </p:cNvSpPr>
          <p:nvPr/>
        </p:nvSpPr>
        <p:spPr>
          <a:xfrm>
            <a:off x="6621026" y="1414189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44" name="diagram block">
            <a:extLst>
              <a:ext uri="{FF2B5EF4-FFF2-40B4-BE49-F238E27FC236}">
                <a16:creationId xmlns:a16="http://schemas.microsoft.com/office/drawing/2014/main" id="{117886E5-DE93-4F37-AAEE-041F6EFA96AC}"/>
              </a:ext>
            </a:extLst>
          </p:cNvPr>
          <p:cNvSpPr>
            <a:spLocks noGrp="1"/>
          </p:cNvSpPr>
          <p:nvPr/>
        </p:nvSpPr>
        <p:spPr>
          <a:xfrm>
            <a:off x="6726832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45" name="diagram block">
            <a:extLst>
              <a:ext uri="{FF2B5EF4-FFF2-40B4-BE49-F238E27FC236}">
                <a16:creationId xmlns:a16="http://schemas.microsoft.com/office/drawing/2014/main" id="{81B8CA4B-E3B7-493D-831F-8ACED6DD48E1}"/>
              </a:ext>
            </a:extLst>
          </p:cNvPr>
          <p:cNvSpPr>
            <a:spLocks noGrp="1"/>
          </p:cNvSpPr>
          <p:nvPr/>
        </p:nvSpPr>
        <p:spPr>
          <a:xfrm>
            <a:off x="6832638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46" name="diagram block">
            <a:extLst>
              <a:ext uri="{FF2B5EF4-FFF2-40B4-BE49-F238E27FC236}">
                <a16:creationId xmlns:a16="http://schemas.microsoft.com/office/drawing/2014/main" id="{57D98762-C106-4EA3-884D-688AF846190C}"/>
              </a:ext>
            </a:extLst>
          </p:cNvPr>
          <p:cNvSpPr>
            <a:spLocks noGrp="1"/>
          </p:cNvSpPr>
          <p:nvPr/>
        </p:nvSpPr>
        <p:spPr>
          <a:xfrm>
            <a:off x="6197801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47" name="diagram block">
            <a:extLst>
              <a:ext uri="{FF2B5EF4-FFF2-40B4-BE49-F238E27FC236}">
                <a16:creationId xmlns:a16="http://schemas.microsoft.com/office/drawing/2014/main" id="{C00C75AE-BE50-428A-81FC-D51DDC9AE578}"/>
              </a:ext>
            </a:extLst>
          </p:cNvPr>
          <p:cNvSpPr>
            <a:spLocks noGrp="1"/>
          </p:cNvSpPr>
          <p:nvPr/>
        </p:nvSpPr>
        <p:spPr>
          <a:xfrm>
            <a:off x="6303607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48" name="diagram block">
            <a:extLst>
              <a:ext uri="{FF2B5EF4-FFF2-40B4-BE49-F238E27FC236}">
                <a16:creationId xmlns:a16="http://schemas.microsoft.com/office/drawing/2014/main" id="{280F7DDA-576D-4044-A723-E73A2A78E751}"/>
              </a:ext>
            </a:extLst>
          </p:cNvPr>
          <p:cNvSpPr>
            <a:spLocks noGrp="1"/>
          </p:cNvSpPr>
          <p:nvPr/>
        </p:nvSpPr>
        <p:spPr>
          <a:xfrm>
            <a:off x="6409414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49" name="diagram block">
            <a:extLst>
              <a:ext uri="{FF2B5EF4-FFF2-40B4-BE49-F238E27FC236}">
                <a16:creationId xmlns:a16="http://schemas.microsoft.com/office/drawing/2014/main" id="{9137B582-2AD7-4DE0-B5FB-A5302005DFE2}"/>
              </a:ext>
            </a:extLst>
          </p:cNvPr>
          <p:cNvSpPr>
            <a:spLocks noGrp="1"/>
          </p:cNvSpPr>
          <p:nvPr/>
        </p:nvSpPr>
        <p:spPr>
          <a:xfrm>
            <a:off x="6515220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50" name="diagram block">
            <a:extLst>
              <a:ext uri="{FF2B5EF4-FFF2-40B4-BE49-F238E27FC236}">
                <a16:creationId xmlns:a16="http://schemas.microsoft.com/office/drawing/2014/main" id="{B367D77B-EE75-4022-A415-F8C4AA76F475}"/>
              </a:ext>
            </a:extLst>
          </p:cNvPr>
          <p:cNvSpPr>
            <a:spLocks noGrp="1"/>
          </p:cNvSpPr>
          <p:nvPr/>
        </p:nvSpPr>
        <p:spPr>
          <a:xfrm>
            <a:off x="6621026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51" name="diagram block">
            <a:extLst>
              <a:ext uri="{FF2B5EF4-FFF2-40B4-BE49-F238E27FC236}">
                <a16:creationId xmlns:a16="http://schemas.microsoft.com/office/drawing/2014/main" id="{70A02D7E-493F-4F67-8272-64B4922120C9}"/>
              </a:ext>
            </a:extLst>
          </p:cNvPr>
          <p:cNvSpPr>
            <a:spLocks noGrp="1"/>
          </p:cNvSpPr>
          <p:nvPr/>
        </p:nvSpPr>
        <p:spPr>
          <a:xfrm>
            <a:off x="6726832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52" name="diagram block">
            <a:extLst>
              <a:ext uri="{FF2B5EF4-FFF2-40B4-BE49-F238E27FC236}">
                <a16:creationId xmlns:a16="http://schemas.microsoft.com/office/drawing/2014/main" id="{E7DA89C6-15D5-4758-A2F4-4F11D78D89EF}"/>
              </a:ext>
            </a:extLst>
          </p:cNvPr>
          <p:cNvSpPr>
            <a:spLocks noGrp="1"/>
          </p:cNvSpPr>
          <p:nvPr/>
        </p:nvSpPr>
        <p:spPr>
          <a:xfrm>
            <a:off x="6832638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53" name="diagram block">
            <a:extLst>
              <a:ext uri="{FF2B5EF4-FFF2-40B4-BE49-F238E27FC236}">
                <a16:creationId xmlns:a16="http://schemas.microsoft.com/office/drawing/2014/main" id="{029797E2-5EA8-4162-80E3-8083B15DA1BA}"/>
              </a:ext>
            </a:extLst>
          </p:cNvPr>
          <p:cNvSpPr>
            <a:spLocks noGrp="1"/>
          </p:cNvSpPr>
          <p:nvPr/>
        </p:nvSpPr>
        <p:spPr>
          <a:xfrm>
            <a:off x="6197801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54" name="diagram block">
            <a:extLst>
              <a:ext uri="{FF2B5EF4-FFF2-40B4-BE49-F238E27FC236}">
                <a16:creationId xmlns:a16="http://schemas.microsoft.com/office/drawing/2014/main" id="{AD88C4F3-2827-4531-9669-431C8C6A51BC}"/>
              </a:ext>
            </a:extLst>
          </p:cNvPr>
          <p:cNvSpPr>
            <a:spLocks noGrp="1"/>
          </p:cNvSpPr>
          <p:nvPr/>
        </p:nvSpPr>
        <p:spPr>
          <a:xfrm>
            <a:off x="6303607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55" name="diagram block">
            <a:extLst>
              <a:ext uri="{FF2B5EF4-FFF2-40B4-BE49-F238E27FC236}">
                <a16:creationId xmlns:a16="http://schemas.microsoft.com/office/drawing/2014/main" id="{9F04E19F-EA41-4F94-A5D8-B88204151771}"/>
              </a:ext>
            </a:extLst>
          </p:cNvPr>
          <p:cNvSpPr>
            <a:spLocks noGrp="1"/>
          </p:cNvSpPr>
          <p:nvPr/>
        </p:nvSpPr>
        <p:spPr>
          <a:xfrm>
            <a:off x="6409414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56" name="diagram block">
            <a:extLst>
              <a:ext uri="{FF2B5EF4-FFF2-40B4-BE49-F238E27FC236}">
                <a16:creationId xmlns:a16="http://schemas.microsoft.com/office/drawing/2014/main" id="{FDF597D7-CDC5-4C41-9086-6440E5616F04}"/>
              </a:ext>
            </a:extLst>
          </p:cNvPr>
          <p:cNvSpPr>
            <a:spLocks noGrp="1"/>
          </p:cNvSpPr>
          <p:nvPr/>
        </p:nvSpPr>
        <p:spPr>
          <a:xfrm>
            <a:off x="6515220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57" name="diagram block">
            <a:extLst>
              <a:ext uri="{FF2B5EF4-FFF2-40B4-BE49-F238E27FC236}">
                <a16:creationId xmlns:a16="http://schemas.microsoft.com/office/drawing/2014/main" id="{009EFD01-1C79-40DF-B10B-EFE0162B9026}"/>
              </a:ext>
            </a:extLst>
          </p:cNvPr>
          <p:cNvSpPr>
            <a:spLocks noGrp="1"/>
          </p:cNvSpPr>
          <p:nvPr/>
        </p:nvSpPr>
        <p:spPr>
          <a:xfrm>
            <a:off x="6621026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58" name="diagram block">
            <a:extLst>
              <a:ext uri="{FF2B5EF4-FFF2-40B4-BE49-F238E27FC236}">
                <a16:creationId xmlns:a16="http://schemas.microsoft.com/office/drawing/2014/main" id="{61E2DBF1-D9BF-436C-9513-0C58C1E38A73}"/>
              </a:ext>
            </a:extLst>
          </p:cNvPr>
          <p:cNvSpPr>
            <a:spLocks noGrp="1"/>
          </p:cNvSpPr>
          <p:nvPr/>
        </p:nvSpPr>
        <p:spPr>
          <a:xfrm>
            <a:off x="6726832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59" name="diagram block">
            <a:extLst>
              <a:ext uri="{FF2B5EF4-FFF2-40B4-BE49-F238E27FC236}">
                <a16:creationId xmlns:a16="http://schemas.microsoft.com/office/drawing/2014/main" id="{9948D688-2829-467A-99FB-63A3E5BA4696}"/>
              </a:ext>
            </a:extLst>
          </p:cNvPr>
          <p:cNvSpPr>
            <a:spLocks noGrp="1"/>
          </p:cNvSpPr>
          <p:nvPr/>
        </p:nvSpPr>
        <p:spPr>
          <a:xfrm>
            <a:off x="6832638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60" name="diagram block">
            <a:extLst>
              <a:ext uri="{FF2B5EF4-FFF2-40B4-BE49-F238E27FC236}">
                <a16:creationId xmlns:a16="http://schemas.microsoft.com/office/drawing/2014/main" id="{BA844B3E-E747-412F-8B38-6E0F7D7D36FA}"/>
              </a:ext>
            </a:extLst>
          </p:cNvPr>
          <p:cNvSpPr>
            <a:spLocks noGrp="1"/>
          </p:cNvSpPr>
          <p:nvPr/>
        </p:nvSpPr>
        <p:spPr>
          <a:xfrm>
            <a:off x="7080379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61" name="diagram block">
            <a:extLst>
              <a:ext uri="{FF2B5EF4-FFF2-40B4-BE49-F238E27FC236}">
                <a16:creationId xmlns:a16="http://schemas.microsoft.com/office/drawing/2014/main" id="{7FDEAC42-5868-481D-8A88-D5097506FEBF}"/>
              </a:ext>
            </a:extLst>
          </p:cNvPr>
          <p:cNvSpPr>
            <a:spLocks noGrp="1"/>
          </p:cNvSpPr>
          <p:nvPr/>
        </p:nvSpPr>
        <p:spPr>
          <a:xfrm>
            <a:off x="7186185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62" name="diagram block">
            <a:extLst>
              <a:ext uri="{FF2B5EF4-FFF2-40B4-BE49-F238E27FC236}">
                <a16:creationId xmlns:a16="http://schemas.microsoft.com/office/drawing/2014/main" id="{82942969-0648-484C-A099-CC16A5E10467}"/>
              </a:ext>
            </a:extLst>
          </p:cNvPr>
          <p:cNvSpPr>
            <a:spLocks noGrp="1"/>
          </p:cNvSpPr>
          <p:nvPr/>
        </p:nvSpPr>
        <p:spPr>
          <a:xfrm>
            <a:off x="7291991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63" name="diagram block">
            <a:extLst>
              <a:ext uri="{FF2B5EF4-FFF2-40B4-BE49-F238E27FC236}">
                <a16:creationId xmlns:a16="http://schemas.microsoft.com/office/drawing/2014/main" id="{F196AB46-4604-4B06-8A5C-BF5489E15ACD}"/>
              </a:ext>
            </a:extLst>
          </p:cNvPr>
          <p:cNvSpPr>
            <a:spLocks noGrp="1"/>
          </p:cNvSpPr>
          <p:nvPr/>
        </p:nvSpPr>
        <p:spPr>
          <a:xfrm>
            <a:off x="7397797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64" name="diagram block">
            <a:extLst>
              <a:ext uri="{FF2B5EF4-FFF2-40B4-BE49-F238E27FC236}">
                <a16:creationId xmlns:a16="http://schemas.microsoft.com/office/drawing/2014/main" id="{ACE2019E-F25C-4B78-A0E6-A9E4AD8F2306}"/>
              </a:ext>
            </a:extLst>
          </p:cNvPr>
          <p:cNvSpPr>
            <a:spLocks noGrp="1"/>
          </p:cNvSpPr>
          <p:nvPr/>
        </p:nvSpPr>
        <p:spPr>
          <a:xfrm>
            <a:off x="7503604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65" name="diagram block">
            <a:extLst>
              <a:ext uri="{FF2B5EF4-FFF2-40B4-BE49-F238E27FC236}">
                <a16:creationId xmlns:a16="http://schemas.microsoft.com/office/drawing/2014/main" id="{06DA9EE3-714A-450D-87A1-C1CE2CFFD7B9}"/>
              </a:ext>
            </a:extLst>
          </p:cNvPr>
          <p:cNvSpPr>
            <a:spLocks noGrp="1"/>
          </p:cNvSpPr>
          <p:nvPr/>
        </p:nvSpPr>
        <p:spPr>
          <a:xfrm>
            <a:off x="7609410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66" name="diagram block">
            <a:extLst>
              <a:ext uri="{FF2B5EF4-FFF2-40B4-BE49-F238E27FC236}">
                <a16:creationId xmlns:a16="http://schemas.microsoft.com/office/drawing/2014/main" id="{C2AE2621-D8A1-4553-AF3D-A221A1257E90}"/>
              </a:ext>
            </a:extLst>
          </p:cNvPr>
          <p:cNvSpPr>
            <a:spLocks noGrp="1"/>
          </p:cNvSpPr>
          <p:nvPr/>
        </p:nvSpPr>
        <p:spPr>
          <a:xfrm>
            <a:off x="7715216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67" name="diagram block">
            <a:extLst>
              <a:ext uri="{FF2B5EF4-FFF2-40B4-BE49-F238E27FC236}">
                <a16:creationId xmlns:a16="http://schemas.microsoft.com/office/drawing/2014/main" id="{02368D6B-DA92-4988-BE6A-099F328E011E}"/>
              </a:ext>
            </a:extLst>
          </p:cNvPr>
          <p:cNvSpPr>
            <a:spLocks noGrp="1"/>
          </p:cNvSpPr>
          <p:nvPr/>
        </p:nvSpPr>
        <p:spPr>
          <a:xfrm>
            <a:off x="7080379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68" name="diagram block">
            <a:extLst>
              <a:ext uri="{FF2B5EF4-FFF2-40B4-BE49-F238E27FC236}">
                <a16:creationId xmlns:a16="http://schemas.microsoft.com/office/drawing/2014/main" id="{41E193AA-AA7D-4AF6-A00C-F29CDE1B9FDE}"/>
              </a:ext>
            </a:extLst>
          </p:cNvPr>
          <p:cNvSpPr>
            <a:spLocks noGrp="1"/>
          </p:cNvSpPr>
          <p:nvPr/>
        </p:nvSpPr>
        <p:spPr>
          <a:xfrm>
            <a:off x="7186185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69" name="diagram block">
            <a:extLst>
              <a:ext uri="{FF2B5EF4-FFF2-40B4-BE49-F238E27FC236}">
                <a16:creationId xmlns:a16="http://schemas.microsoft.com/office/drawing/2014/main" id="{88027013-9EFB-4F56-BD1E-858F3D9F3045}"/>
              </a:ext>
            </a:extLst>
          </p:cNvPr>
          <p:cNvSpPr>
            <a:spLocks noGrp="1"/>
          </p:cNvSpPr>
          <p:nvPr/>
        </p:nvSpPr>
        <p:spPr>
          <a:xfrm>
            <a:off x="7291991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70" name="diagram block">
            <a:extLst>
              <a:ext uri="{FF2B5EF4-FFF2-40B4-BE49-F238E27FC236}">
                <a16:creationId xmlns:a16="http://schemas.microsoft.com/office/drawing/2014/main" id="{F76E8132-6246-45E2-B4ED-F530A06B02DB}"/>
              </a:ext>
            </a:extLst>
          </p:cNvPr>
          <p:cNvSpPr>
            <a:spLocks noGrp="1"/>
          </p:cNvSpPr>
          <p:nvPr/>
        </p:nvSpPr>
        <p:spPr>
          <a:xfrm>
            <a:off x="7397797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71" name="diagram block">
            <a:extLst>
              <a:ext uri="{FF2B5EF4-FFF2-40B4-BE49-F238E27FC236}">
                <a16:creationId xmlns:a16="http://schemas.microsoft.com/office/drawing/2014/main" id="{B4DC48CE-7182-4FDD-A98D-CFA594B08C0F}"/>
              </a:ext>
            </a:extLst>
          </p:cNvPr>
          <p:cNvSpPr>
            <a:spLocks noGrp="1"/>
          </p:cNvSpPr>
          <p:nvPr/>
        </p:nvSpPr>
        <p:spPr>
          <a:xfrm>
            <a:off x="7503604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72" name="diagram block">
            <a:extLst>
              <a:ext uri="{FF2B5EF4-FFF2-40B4-BE49-F238E27FC236}">
                <a16:creationId xmlns:a16="http://schemas.microsoft.com/office/drawing/2014/main" id="{EC726FFA-0717-4F55-83E1-1693214C099F}"/>
              </a:ext>
            </a:extLst>
          </p:cNvPr>
          <p:cNvSpPr>
            <a:spLocks noGrp="1"/>
          </p:cNvSpPr>
          <p:nvPr/>
        </p:nvSpPr>
        <p:spPr>
          <a:xfrm>
            <a:off x="7609410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73" name="diagram block">
            <a:extLst>
              <a:ext uri="{FF2B5EF4-FFF2-40B4-BE49-F238E27FC236}">
                <a16:creationId xmlns:a16="http://schemas.microsoft.com/office/drawing/2014/main" id="{85645627-75D1-4D5F-B4FD-2E6AE597BC66}"/>
              </a:ext>
            </a:extLst>
          </p:cNvPr>
          <p:cNvSpPr>
            <a:spLocks noGrp="1"/>
          </p:cNvSpPr>
          <p:nvPr/>
        </p:nvSpPr>
        <p:spPr>
          <a:xfrm>
            <a:off x="7715216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74" name="diagram block">
            <a:extLst>
              <a:ext uri="{FF2B5EF4-FFF2-40B4-BE49-F238E27FC236}">
                <a16:creationId xmlns:a16="http://schemas.microsoft.com/office/drawing/2014/main" id="{7DAE0903-1123-44F4-8542-F3127A702422}"/>
              </a:ext>
            </a:extLst>
          </p:cNvPr>
          <p:cNvSpPr>
            <a:spLocks noGrp="1"/>
          </p:cNvSpPr>
          <p:nvPr/>
        </p:nvSpPr>
        <p:spPr>
          <a:xfrm>
            <a:off x="7080379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75" name="diagram block">
            <a:extLst>
              <a:ext uri="{FF2B5EF4-FFF2-40B4-BE49-F238E27FC236}">
                <a16:creationId xmlns:a16="http://schemas.microsoft.com/office/drawing/2014/main" id="{0CBD914A-5553-4408-9B61-71D8D114D663}"/>
              </a:ext>
            </a:extLst>
          </p:cNvPr>
          <p:cNvSpPr>
            <a:spLocks noGrp="1"/>
          </p:cNvSpPr>
          <p:nvPr/>
        </p:nvSpPr>
        <p:spPr>
          <a:xfrm>
            <a:off x="7186185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76" name="diagram block">
            <a:extLst>
              <a:ext uri="{FF2B5EF4-FFF2-40B4-BE49-F238E27FC236}">
                <a16:creationId xmlns:a16="http://schemas.microsoft.com/office/drawing/2014/main" id="{7558D190-63E5-4EB8-A1FA-194DDD116396}"/>
              </a:ext>
            </a:extLst>
          </p:cNvPr>
          <p:cNvSpPr>
            <a:spLocks noGrp="1"/>
          </p:cNvSpPr>
          <p:nvPr/>
        </p:nvSpPr>
        <p:spPr>
          <a:xfrm>
            <a:off x="7291991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77" name="diagram block">
            <a:extLst>
              <a:ext uri="{FF2B5EF4-FFF2-40B4-BE49-F238E27FC236}">
                <a16:creationId xmlns:a16="http://schemas.microsoft.com/office/drawing/2014/main" id="{F3333BA8-0934-43EC-AB29-6E37D5C8B8B9}"/>
              </a:ext>
            </a:extLst>
          </p:cNvPr>
          <p:cNvSpPr>
            <a:spLocks noGrp="1"/>
          </p:cNvSpPr>
          <p:nvPr/>
        </p:nvSpPr>
        <p:spPr>
          <a:xfrm>
            <a:off x="7397797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78" name="diagram block">
            <a:extLst>
              <a:ext uri="{FF2B5EF4-FFF2-40B4-BE49-F238E27FC236}">
                <a16:creationId xmlns:a16="http://schemas.microsoft.com/office/drawing/2014/main" id="{2BBDB7A3-9AC2-4D67-8D64-F48DB9B66D08}"/>
              </a:ext>
            </a:extLst>
          </p:cNvPr>
          <p:cNvSpPr>
            <a:spLocks noGrp="1"/>
          </p:cNvSpPr>
          <p:nvPr/>
        </p:nvSpPr>
        <p:spPr>
          <a:xfrm>
            <a:off x="7503604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79" name="diagram block">
            <a:extLst>
              <a:ext uri="{FF2B5EF4-FFF2-40B4-BE49-F238E27FC236}">
                <a16:creationId xmlns:a16="http://schemas.microsoft.com/office/drawing/2014/main" id="{9E847ED1-92CA-48E9-9501-271253926787}"/>
              </a:ext>
            </a:extLst>
          </p:cNvPr>
          <p:cNvSpPr>
            <a:spLocks noGrp="1"/>
          </p:cNvSpPr>
          <p:nvPr/>
        </p:nvSpPr>
        <p:spPr>
          <a:xfrm>
            <a:off x="7609410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80" name="diagram block">
            <a:extLst>
              <a:ext uri="{FF2B5EF4-FFF2-40B4-BE49-F238E27FC236}">
                <a16:creationId xmlns:a16="http://schemas.microsoft.com/office/drawing/2014/main" id="{2C18941D-D8B6-48C5-A189-871C9B5B25C5}"/>
              </a:ext>
            </a:extLst>
          </p:cNvPr>
          <p:cNvSpPr>
            <a:spLocks noGrp="1"/>
          </p:cNvSpPr>
          <p:nvPr/>
        </p:nvSpPr>
        <p:spPr>
          <a:xfrm>
            <a:off x="7715216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81" name="diagram block">
            <a:extLst>
              <a:ext uri="{FF2B5EF4-FFF2-40B4-BE49-F238E27FC236}">
                <a16:creationId xmlns:a16="http://schemas.microsoft.com/office/drawing/2014/main" id="{2A2FD331-3178-4037-ACBC-78CC8AF1F644}"/>
              </a:ext>
            </a:extLst>
          </p:cNvPr>
          <p:cNvSpPr>
            <a:spLocks noGrp="1"/>
          </p:cNvSpPr>
          <p:nvPr/>
        </p:nvSpPr>
        <p:spPr>
          <a:xfrm>
            <a:off x="7080379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82" name="diagram block">
            <a:extLst>
              <a:ext uri="{FF2B5EF4-FFF2-40B4-BE49-F238E27FC236}">
                <a16:creationId xmlns:a16="http://schemas.microsoft.com/office/drawing/2014/main" id="{14EBB591-726B-47CF-A0D8-7E12C8F61BB1}"/>
              </a:ext>
            </a:extLst>
          </p:cNvPr>
          <p:cNvSpPr>
            <a:spLocks noGrp="1"/>
          </p:cNvSpPr>
          <p:nvPr/>
        </p:nvSpPr>
        <p:spPr>
          <a:xfrm>
            <a:off x="7186185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83" name="diagram block">
            <a:extLst>
              <a:ext uri="{FF2B5EF4-FFF2-40B4-BE49-F238E27FC236}">
                <a16:creationId xmlns:a16="http://schemas.microsoft.com/office/drawing/2014/main" id="{CBC9458F-633D-4407-ACE5-12C788273282}"/>
              </a:ext>
            </a:extLst>
          </p:cNvPr>
          <p:cNvSpPr>
            <a:spLocks noGrp="1"/>
          </p:cNvSpPr>
          <p:nvPr/>
        </p:nvSpPr>
        <p:spPr>
          <a:xfrm>
            <a:off x="7291991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84" name="diagram block">
            <a:extLst>
              <a:ext uri="{FF2B5EF4-FFF2-40B4-BE49-F238E27FC236}">
                <a16:creationId xmlns:a16="http://schemas.microsoft.com/office/drawing/2014/main" id="{7ED900F6-0DD9-47B1-9F24-5B06B4EE87B8}"/>
              </a:ext>
            </a:extLst>
          </p:cNvPr>
          <p:cNvSpPr>
            <a:spLocks noGrp="1"/>
          </p:cNvSpPr>
          <p:nvPr/>
        </p:nvSpPr>
        <p:spPr>
          <a:xfrm>
            <a:off x="7397797" y="1308383"/>
            <a:ext cx="99096" cy="99096"/>
          </a:xfrm>
          <a:prstGeom prst="rect">
            <a:avLst/>
          </a:prstGeom>
          <a:solidFill>
            <a:srgbClr val="FF8156"/>
          </a:solidFill>
          <a:ln w="7226">
            <a:solidFill>
              <a:srgbClr val="D7442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85" name="diagram block">
            <a:extLst>
              <a:ext uri="{FF2B5EF4-FFF2-40B4-BE49-F238E27FC236}">
                <a16:creationId xmlns:a16="http://schemas.microsoft.com/office/drawing/2014/main" id="{9B53DE25-FDA9-473C-98F3-5FD5B0212870}"/>
              </a:ext>
            </a:extLst>
          </p:cNvPr>
          <p:cNvSpPr>
            <a:spLocks noGrp="1"/>
          </p:cNvSpPr>
          <p:nvPr/>
        </p:nvSpPr>
        <p:spPr>
          <a:xfrm>
            <a:off x="7503604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86" name="diagram block">
            <a:extLst>
              <a:ext uri="{FF2B5EF4-FFF2-40B4-BE49-F238E27FC236}">
                <a16:creationId xmlns:a16="http://schemas.microsoft.com/office/drawing/2014/main" id="{0D96F4AD-9994-4537-8F43-4BC4CB4D51A0}"/>
              </a:ext>
            </a:extLst>
          </p:cNvPr>
          <p:cNvSpPr>
            <a:spLocks noGrp="1"/>
          </p:cNvSpPr>
          <p:nvPr/>
        </p:nvSpPr>
        <p:spPr>
          <a:xfrm>
            <a:off x="7609410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87" name="diagram block">
            <a:extLst>
              <a:ext uri="{FF2B5EF4-FFF2-40B4-BE49-F238E27FC236}">
                <a16:creationId xmlns:a16="http://schemas.microsoft.com/office/drawing/2014/main" id="{65472216-417D-44B3-9FE1-E306F62EEF80}"/>
              </a:ext>
            </a:extLst>
          </p:cNvPr>
          <p:cNvSpPr>
            <a:spLocks noGrp="1"/>
          </p:cNvSpPr>
          <p:nvPr/>
        </p:nvSpPr>
        <p:spPr>
          <a:xfrm>
            <a:off x="7715216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88" name="diagram block">
            <a:extLst>
              <a:ext uri="{FF2B5EF4-FFF2-40B4-BE49-F238E27FC236}">
                <a16:creationId xmlns:a16="http://schemas.microsoft.com/office/drawing/2014/main" id="{25E5693C-A4BE-4A25-8786-AEC329A6DB99}"/>
              </a:ext>
            </a:extLst>
          </p:cNvPr>
          <p:cNvSpPr>
            <a:spLocks noGrp="1"/>
          </p:cNvSpPr>
          <p:nvPr/>
        </p:nvSpPr>
        <p:spPr>
          <a:xfrm>
            <a:off x="7080379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89" name="diagram block">
            <a:extLst>
              <a:ext uri="{FF2B5EF4-FFF2-40B4-BE49-F238E27FC236}">
                <a16:creationId xmlns:a16="http://schemas.microsoft.com/office/drawing/2014/main" id="{54000EE2-E074-4320-BB42-6F5D791D120C}"/>
              </a:ext>
            </a:extLst>
          </p:cNvPr>
          <p:cNvSpPr>
            <a:spLocks noGrp="1"/>
          </p:cNvSpPr>
          <p:nvPr/>
        </p:nvSpPr>
        <p:spPr>
          <a:xfrm>
            <a:off x="7186185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90" name="diagram block">
            <a:extLst>
              <a:ext uri="{FF2B5EF4-FFF2-40B4-BE49-F238E27FC236}">
                <a16:creationId xmlns:a16="http://schemas.microsoft.com/office/drawing/2014/main" id="{F940E9A5-70CD-4E36-9F08-18707B4FAAA5}"/>
              </a:ext>
            </a:extLst>
          </p:cNvPr>
          <p:cNvSpPr>
            <a:spLocks noGrp="1"/>
          </p:cNvSpPr>
          <p:nvPr/>
        </p:nvSpPr>
        <p:spPr>
          <a:xfrm>
            <a:off x="7291991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91" name="diagram block">
            <a:extLst>
              <a:ext uri="{FF2B5EF4-FFF2-40B4-BE49-F238E27FC236}">
                <a16:creationId xmlns:a16="http://schemas.microsoft.com/office/drawing/2014/main" id="{4840DAA8-3486-43E3-B831-FF76E248E289}"/>
              </a:ext>
            </a:extLst>
          </p:cNvPr>
          <p:cNvSpPr>
            <a:spLocks noGrp="1"/>
          </p:cNvSpPr>
          <p:nvPr/>
        </p:nvSpPr>
        <p:spPr>
          <a:xfrm>
            <a:off x="7397797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92" name="diagram block">
            <a:extLst>
              <a:ext uri="{FF2B5EF4-FFF2-40B4-BE49-F238E27FC236}">
                <a16:creationId xmlns:a16="http://schemas.microsoft.com/office/drawing/2014/main" id="{C4A3F0A7-59D6-4A12-9365-E869AE135355}"/>
              </a:ext>
            </a:extLst>
          </p:cNvPr>
          <p:cNvSpPr>
            <a:spLocks noGrp="1"/>
          </p:cNvSpPr>
          <p:nvPr/>
        </p:nvSpPr>
        <p:spPr>
          <a:xfrm>
            <a:off x="7503604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93" name="diagram block">
            <a:extLst>
              <a:ext uri="{FF2B5EF4-FFF2-40B4-BE49-F238E27FC236}">
                <a16:creationId xmlns:a16="http://schemas.microsoft.com/office/drawing/2014/main" id="{C28AE9B4-0751-48EC-9829-033773657D53}"/>
              </a:ext>
            </a:extLst>
          </p:cNvPr>
          <p:cNvSpPr>
            <a:spLocks noGrp="1"/>
          </p:cNvSpPr>
          <p:nvPr/>
        </p:nvSpPr>
        <p:spPr>
          <a:xfrm>
            <a:off x="7609410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94" name="diagram block">
            <a:extLst>
              <a:ext uri="{FF2B5EF4-FFF2-40B4-BE49-F238E27FC236}">
                <a16:creationId xmlns:a16="http://schemas.microsoft.com/office/drawing/2014/main" id="{FD588991-FFE5-46EF-91AA-7CCEB10B8F61}"/>
              </a:ext>
            </a:extLst>
          </p:cNvPr>
          <p:cNvSpPr>
            <a:spLocks noGrp="1"/>
          </p:cNvSpPr>
          <p:nvPr/>
        </p:nvSpPr>
        <p:spPr>
          <a:xfrm>
            <a:off x="7715216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95" name="diagram block">
            <a:extLst>
              <a:ext uri="{FF2B5EF4-FFF2-40B4-BE49-F238E27FC236}">
                <a16:creationId xmlns:a16="http://schemas.microsoft.com/office/drawing/2014/main" id="{06938339-B943-4D63-98D9-10BBB07378EB}"/>
              </a:ext>
            </a:extLst>
          </p:cNvPr>
          <p:cNvSpPr>
            <a:spLocks noGrp="1"/>
          </p:cNvSpPr>
          <p:nvPr/>
        </p:nvSpPr>
        <p:spPr>
          <a:xfrm>
            <a:off x="7080379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96" name="diagram block">
            <a:extLst>
              <a:ext uri="{FF2B5EF4-FFF2-40B4-BE49-F238E27FC236}">
                <a16:creationId xmlns:a16="http://schemas.microsoft.com/office/drawing/2014/main" id="{15EFB9C7-08B1-4684-B30C-EF6FB16FF2D6}"/>
              </a:ext>
            </a:extLst>
          </p:cNvPr>
          <p:cNvSpPr>
            <a:spLocks noGrp="1"/>
          </p:cNvSpPr>
          <p:nvPr/>
        </p:nvSpPr>
        <p:spPr>
          <a:xfrm>
            <a:off x="7186185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97" name="diagram block">
            <a:extLst>
              <a:ext uri="{FF2B5EF4-FFF2-40B4-BE49-F238E27FC236}">
                <a16:creationId xmlns:a16="http://schemas.microsoft.com/office/drawing/2014/main" id="{FD79212F-3DAB-467C-ACD6-F42B63555C17}"/>
              </a:ext>
            </a:extLst>
          </p:cNvPr>
          <p:cNvSpPr>
            <a:spLocks noGrp="1"/>
          </p:cNvSpPr>
          <p:nvPr/>
        </p:nvSpPr>
        <p:spPr>
          <a:xfrm>
            <a:off x="7291991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98" name="diagram block">
            <a:extLst>
              <a:ext uri="{FF2B5EF4-FFF2-40B4-BE49-F238E27FC236}">
                <a16:creationId xmlns:a16="http://schemas.microsoft.com/office/drawing/2014/main" id="{7F8F53EF-4E92-4DE5-A12D-18143A94012C}"/>
              </a:ext>
            </a:extLst>
          </p:cNvPr>
          <p:cNvSpPr>
            <a:spLocks noGrp="1"/>
          </p:cNvSpPr>
          <p:nvPr/>
        </p:nvSpPr>
        <p:spPr>
          <a:xfrm>
            <a:off x="7397797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99" name="diagram block">
            <a:extLst>
              <a:ext uri="{FF2B5EF4-FFF2-40B4-BE49-F238E27FC236}">
                <a16:creationId xmlns:a16="http://schemas.microsoft.com/office/drawing/2014/main" id="{AF1C141B-DD0F-40D5-A1C4-5A7285C1033C}"/>
              </a:ext>
            </a:extLst>
          </p:cNvPr>
          <p:cNvSpPr>
            <a:spLocks noGrp="1"/>
          </p:cNvSpPr>
          <p:nvPr/>
        </p:nvSpPr>
        <p:spPr>
          <a:xfrm>
            <a:off x="7503604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00" name="diagram block">
            <a:extLst>
              <a:ext uri="{FF2B5EF4-FFF2-40B4-BE49-F238E27FC236}">
                <a16:creationId xmlns:a16="http://schemas.microsoft.com/office/drawing/2014/main" id="{4A13C742-E501-488D-A20C-EB14914C47DA}"/>
              </a:ext>
            </a:extLst>
          </p:cNvPr>
          <p:cNvSpPr>
            <a:spLocks noGrp="1"/>
          </p:cNvSpPr>
          <p:nvPr/>
        </p:nvSpPr>
        <p:spPr>
          <a:xfrm>
            <a:off x="7609410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01" name="diagram block">
            <a:extLst>
              <a:ext uri="{FF2B5EF4-FFF2-40B4-BE49-F238E27FC236}">
                <a16:creationId xmlns:a16="http://schemas.microsoft.com/office/drawing/2014/main" id="{3EA6B845-D124-4A14-A1AD-91ED600B33F4}"/>
              </a:ext>
            </a:extLst>
          </p:cNvPr>
          <p:cNvSpPr>
            <a:spLocks noGrp="1"/>
          </p:cNvSpPr>
          <p:nvPr/>
        </p:nvSpPr>
        <p:spPr>
          <a:xfrm>
            <a:off x="7715216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02" name="diagram block">
            <a:extLst>
              <a:ext uri="{FF2B5EF4-FFF2-40B4-BE49-F238E27FC236}">
                <a16:creationId xmlns:a16="http://schemas.microsoft.com/office/drawing/2014/main" id="{23C5F7DE-C7E3-402A-ACCA-D54F3BA0D47A}"/>
              </a:ext>
            </a:extLst>
          </p:cNvPr>
          <p:cNvSpPr>
            <a:spLocks noGrp="1"/>
          </p:cNvSpPr>
          <p:nvPr/>
        </p:nvSpPr>
        <p:spPr>
          <a:xfrm>
            <a:off x="7080379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03" name="diagram block">
            <a:extLst>
              <a:ext uri="{FF2B5EF4-FFF2-40B4-BE49-F238E27FC236}">
                <a16:creationId xmlns:a16="http://schemas.microsoft.com/office/drawing/2014/main" id="{3BA6D398-4BA9-4B0A-A9F4-4670617CE0B3}"/>
              </a:ext>
            </a:extLst>
          </p:cNvPr>
          <p:cNvSpPr>
            <a:spLocks noGrp="1"/>
          </p:cNvSpPr>
          <p:nvPr/>
        </p:nvSpPr>
        <p:spPr>
          <a:xfrm>
            <a:off x="7186185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04" name="diagram block">
            <a:extLst>
              <a:ext uri="{FF2B5EF4-FFF2-40B4-BE49-F238E27FC236}">
                <a16:creationId xmlns:a16="http://schemas.microsoft.com/office/drawing/2014/main" id="{31F1FCC4-B5AF-4323-8A3E-F62C98BE5969}"/>
              </a:ext>
            </a:extLst>
          </p:cNvPr>
          <p:cNvSpPr>
            <a:spLocks noGrp="1"/>
          </p:cNvSpPr>
          <p:nvPr/>
        </p:nvSpPr>
        <p:spPr>
          <a:xfrm>
            <a:off x="7291991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05" name="diagram block">
            <a:extLst>
              <a:ext uri="{FF2B5EF4-FFF2-40B4-BE49-F238E27FC236}">
                <a16:creationId xmlns:a16="http://schemas.microsoft.com/office/drawing/2014/main" id="{4503CE82-7D6F-461A-A99A-513FDE42BA40}"/>
              </a:ext>
            </a:extLst>
          </p:cNvPr>
          <p:cNvSpPr>
            <a:spLocks noGrp="1"/>
          </p:cNvSpPr>
          <p:nvPr/>
        </p:nvSpPr>
        <p:spPr>
          <a:xfrm>
            <a:off x="7397797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06" name="diagram block">
            <a:extLst>
              <a:ext uri="{FF2B5EF4-FFF2-40B4-BE49-F238E27FC236}">
                <a16:creationId xmlns:a16="http://schemas.microsoft.com/office/drawing/2014/main" id="{65BFA33C-B196-4BD2-9D2B-AFAD629EA136}"/>
              </a:ext>
            </a:extLst>
          </p:cNvPr>
          <p:cNvSpPr>
            <a:spLocks noGrp="1"/>
          </p:cNvSpPr>
          <p:nvPr/>
        </p:nvSpPr>
        <p:spPr>
          <a:xfrm>
            <a:off x="7503604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07" name="diagram block">
            <a:extLst>
              <a:ext uri="{FF2B5EF4-FFF2-40B4-BE49-F238E27FC236}">
                <a16:creationId xmlns:a16="http://schemas.microsoft.com/office/drawing/2014/main" id="{41F2D99F-2864-4EE7-AF43-7B2EB08CF884}"/>
              </a:ext>
            </a:extLst>
          </p:cNvPr>
          <p:cNvSpPr>
            <a:spLocks noGrp="1"/>
          </p:cNvSpPr>
          <p:nvPr/>
        </p:nvSpPr>
        <p:spPr>
          <a:xfrm>
            <a:off x="7609410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08" name="diagram block">
            <a:extLst>
              <a:ext uri="{FF2B5EF4-FFF2-40B4-BE49-F238E27FC236}">
                <a16:creationId xmlns:a16="http://schemas.microsoft.com/office/drawing/2014/main" id="{13189B3B-832C-41DA-8F89-5CDA99A70594}"/>
              </a:ext>
            </a:extLst>
          </p:cNvPr>
          <p:cNvSpPr>
            <a:spLocks noGrp="1"/>
          </p:cNvSpPr>
          <p:nvPr/>
        </p:nvSpPr>
        <p:spPr>
          <a:xfrm>
            <a:off x="7715216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cxnSp>
        <p:nvCxnSpPr>
          <p:cNvPr id="409" name="native PowerPoint connector">
            <a:extLst>
              <a:ext uri="{FF2B5EF4-FFF2-40B4-BE49-F238E27FC236}">
                <a16:creationId xmlns:a16="http://schemas.microsoft.com/office/drawing/2014/main" id="{5A271294-5BD1-4118-BFD4-F736C4F0269E}"/>
              </a:ext>
            </a:extLst>
          </p:cNvPr>
          <p:cNvCxnSpPr/>
          <p:nvPr/>
        </p:nvCxnSpPr>
        <p:spPr>
          <a:xfrm flipH="1" flipV="1">
            <a:off x="6337156" y="1130319"/>
            <a:ext cx="227096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0" name="native PowerPoint connector">
            <a:extLst>
              <a:ext uri="{FF2B5EF4-FFF2-40B4-BE49-F238E27FC236}">
                <a16:creationId xmlns:a16="http://schemas.microsoft.com/office/drawing/2014/main" id="{48E75AD7-CF40-4DA0-891A-C3427F2A26CC}"/>
              </a:ext>
            </a:extLst>
          </p:cNvPr>
          <p:cNvCxnSpPr/>
          <p:nvPr/>
        </p:nvCxnSpPr>
        <p:spPr>
          <a:xfrm flipV="1">
            <a:off x="6564252" y="1130319"/>
            <a:ext cx="0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1" name="native PowerPoint connector">
            <a:extLst>
              <a:ext uri="{FF2B5EF4-FFF2-40B4-BE49-F238E27FC236}">
                <a16:creationId xmlns:a16="http://schemas.microsoft.com/office/drawing/2014/main" id="{4EF27F3C-61D4-47BE-82D0-A90F7A137F2A}"/>
              </a:ext>
            </a:extLst>
          </p:cNvPr>
          <p:cNvCxnSpPr/>
          <p:nvPr/>
        </p:nvCxnSpPr>
        <p:spPr>
          <a:xfrm flipV="1">
            <a:off x="6564252" y="1130319"/>
            <a:ext cx="227096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2" name="native PowerPoint connector">
            <a:extLst>
              <a:ext uri="{FF2B5EF4-FFF2-40B4-BE49-F238E27FC236}">
                <a16:creationId xmlns:a16="http://schemas.microsoft.com/office/drawing/2014/main" id="{5795934E-5B83-4C45-9918-207CAB0F52DB}"/>
              </a:ext>
            </a:extLst>
          </p:cNvPr>
          <p:cNvCxnSpPr/>
          <p:nvPr/>
        </p:nvCxnSpPr>
        <p:spPr>
          <a:xfrm flipH="1">
            <a:off x="6337156" y="1357415"/>
            <a:ext cx="227096" cy="0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3" name="native PowerPoint connector">
            <a:extLst>
              <a:ext uri="{FF2B5EF4-FFF2-40B4-BE49-F238E27FC236}">
                <a16:creationId xmlns:a16="http://schemas.microsoft.com/office/drawing/2014/main" id="{6887B949-5F58-445B-8BE1-A55E67507C53}"/>
              </a:ext>
            </a:extLst>
          </p:cNvPr>
          <p:cNvCxnSpPr/>
          <p:nvPr/>
        </p:nvCxnSpPr>
        <p:spPr>
          <a:xfrm>
            <a:off x="6564252" y="1357415"/>
            <a:ext cx="227096" cy="0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4" name="native PowerPoint connector">
            <a:extLst>
              <a:ext uri="{FF2B5EF4-FFF2-40B4-BE49-F238E27FC236}">
                <a16:creationId xmlns:a16="http://schemas.microsoft.com/office/drawing/2014/main" id="{DEEB98B7-FDFE-4AFB-96D4-F9C750BC666C}"/>
              </a:ext>
            </a:extLst>
          </p:cNvPr>
          <p:cNvCxnSpPr/>
          <p:nvPr/>
        </p:nvCxnSpPr>
        <p:spPr>
          <a:xfrm flipH="1">
            <a:off x="6337156" y="1357415"/>
            <a:ext cx="227096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5" name="native PowerPoint connector">
            <a:extLst>
              <a:ext uri="{FF2B5EF4-FFF2-40B4-BE49-F238E27FC236}">
                <a16:creationId xmlns:a16="http://schemas.microsoft.com/office/drawing/2014/main" id="{50A12CD0-8DA5-4247-985C-A09421CEDDAD}"/>
              </a:ext>
            </a:extLst>
          </p:cNvPr>
          <p:cNvCxnSpPr/>
          <p:nvPr/>
        </p:nvCxnSpPr>
        <p:spPr>
          <a:xfrm>
            <a:off x="6564252" y="1357415"/>
            <a:ext cx="0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6" name="native PowerPoint connector">
            <a:extLst>
              <a:ext uri="{FF2B5EF4-FFF2-40B4-BE49-F238E27FC236}">
                <a16:creationId xmlns:a16="http://schemas.microsoft.com/office/drawing/2014/main" id="{809DF70E-18CE-41DC-B5E7-2514FB27ABBE}"/>
              </a:ext>
            </a:extLst>
          </p:cNvPr>
          <p:cNvCxnSpPr/>
          <p:nvPr/>
        </p:nvCxnSpPr>
        <p:spPr>
          <a:xfrm>
            <a:off x="6564252" y="1357415"/>
            <a:ext cx="227096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7" name="native PowerPoint connector">
            <a:extLst>
              <a:ext uri="{FF2B5EF4-FFF2-40B4-BE49-F238E27FC236}">
                <a16:creationId xmlns:a16="http://schemas.microsoft.com/office/drawing/2014/main" id="{5A8ABB96-AFCE-42FB-9810-05E5AD6A24A5}"/>
              </a:ext>
            </a:extLst>
          </p:cNvPr>
          <p:cNvCxnSpPr/>
          <p:nvPr/>
        </p:nvCxnSpPr>
        <p:spPr>
          <a:xfrm>
            <a:off x="6631348" y="1357415"/>
            <a:ext cx="753546" cy="0"/>
          </a:xfrm>
          <a:prstGeom prst="straightConnector1">
            <a:avLst/>
          </a:prstGeom>
          <a:ln w="8258">
            <a:solidFill>
              <a:srgbClr val="153B6A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418" name="diagram block">
            <a:extLst>
              <a:ext uri="{FF2B5EF4-FFF2-40B4-BE49-F238E27FC236}">
                <a16:creationId xmlns:a16="http://schemas.microsoft.com/office/drawing/2014/main" id="{CB502914-39ED-4F4A-9E3D-ACABE0ED5DD5}"/>
              </a:ext>
            </a:extLst>
          </p:cNvPr>
          <p:cNvSpPr>
            <a:spLocks noGrp="1"/>
          </p:cNvSpPr>
          <p:nvPr/>
        </p:nvSpPr>
        <p:spPr>
          <a:xfrm>
            <a:off x="6073931" y="2012897"/>
            <a:ext cx="1775478" cy="1300641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FFF5DC"/>
              </a:gs>
              <a:gs pos="100000">
                <a:srgbClr val="FFFDF8"/>
              </a:gs>
            </a:gsLst>
            <a:lin ang="5400000"/>
          </a:gradFill>
          <a:ln w="5161">
            <a:solidFill>
              <a:srgbClr val="F3D18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19" name="diagram block">
            <a:extLst>
              <a:ext uri="{FF2B5EF4-FFF2-40B4-BE49-F238E27FC236}">
                <a16:creationId xmlns:a16="http://schemas.microsoft.com/office/drawing/2014/main" id="{74A8BCFE-22D8-4202-9D60-F13C0D943D53}"/>
              </a:ext>
            </a:extLst>
          </p:cNvPr>
          <p:cNvSpPr>
            <a:spLocks noGrp="1"/>
          </p:cNvSpPr>
          <p:nvPr/>
        </p:nvSpPr>
        <p:spPr>
          <a:xfrm>
            <a:off x="6073931" y="2012897"/>
            <a:ext cx="1775478" cy="175483"/>
          </a:xfrm>
          <a:prstGeom prst="roundRect">
            <a:avLst>
              <a:gd name="adj" fmla="val 14706"/>
            </a:avLst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5161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20" name="Camera 2 (view 2)">
            <a:extLst>
              <a:ext uri="{FF2B5EF4-FFF2-40B4-BE49-F238E27FC236}">
                <a16:creationId xmlns:a16="http://schemas.microsoft.com/office/drawing/2014/main" id="{66006467-6D71-4E8A-9144-6D5AD4453E83}"/>
              </a:ext>
            </a:extLst>
          </p:cNvPr>
          <p:cNvSpPr>
            <a:spLocks noGrp="1"/>
          </p:cNvSpPr>
          <p:nvPr/>
        </p:nvSpPr>
        <p:spPr>
          <a:xfrm>
            <a:off x="6099737" y="2038703"/>
            <a:ext cx="1723865" cy="123871"/>
          </a:xfrm>
          <a:prstGeom prst="rect">
            <a:avLst/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95287"/>
          </a:bodyPr>
          <a:lstStyle>
            <a:def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Camera 2 (view 2)</a:t>
            </a:r>
          </a:p>
        </p:txBody>
      </p:sp>
      <p:sp>
        <p:nvSpPr>
          <p:cNvPr id="421" name="Time 1 (future)">
            <a:extLst>
              <a:ext uri="{FF2B5EF4-FFF2-40B4-BE49-F238E27FC236}">
                <a16:creationId xmlns:a16="http://schemas.microsoft.com/office/drawing/2014/main" id="{3334E8EF-CE2B-47C8-A7B1-B4C26C4D3448}"/>
              </a:ext>
            </a:extLst>
          </p:cNvPr>
          <p:cNvSpPr>
            <a:spLocks noGrp="1"/>
          </p:cNvSpPr>
          <p:nvPr/>
        </p:nvSpPr>
        <p:spPr>
          <a:xfrm>
            <a:off x="6182317" y="2239993"/>
            <a:ext cx="748385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Time 1 (future)</a:t>
            </a:r>
          </a:p>
        </p:txBody>
      </p:sp>
      <p:sp>
        <p:nvSpPr>
          <p:cNvPr id="422" name="Time 2 (future)">
            <a:extLst>
              <a:ext uri="{FF2B5EF4-FFF2-40B4-BE49-F238E27FC236}">
                <a16:creationId xmlns:a16="http://schemas.microsoft.com/office/drawing/2014/main" id="{70457014-075B-4C61-B2F9-4D4113B67131}"/>
              </a:ext>
            </a:extLst>
          </p:cNvPr>
          <p:cNvSpPr>
            <a:spLocks noGrp="1"/>
          </p:cNvSpPr>
          <p:nvPr/>
        </p:nvSpPr>
        <p:spPr>
          <a:xfrm>
            <a:off x="7064895" y="2239993"/>
            <a:ext cx="748385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Time 2 (future)</a:t>
            </a:r>
          </a:p>
        </p:txBody>
      </p:sp>
      <p:sp>
        <p:nvSpPr>
          <p:cNvPr id="423" name="diagram block">
            <a:extLst>
              <a:ext uri="{FF2B5EF4-FFF2-40B4-BE49-F238E27FC236}">
                <a16:creationId xmlns:a16="http://schemas.microsoft.com/office/drawing/2014/main" id="{2CFFF8BF-89AD-4353-AD28-89C52C5FA760}"/>
              </a:ext>
            </a:extLst>
          </p:cNvPr>
          <p:cNvSpPr>
            <a:spLocks noGrp="1"/>
          </p:cNvSpPr>
          <p:nvPr/>
        </p:nvSpPr>
        <p:spPr>
          <a:xfrm>
            <a:off x="6197801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24" name="diagram block">
            <a:extLst>
              <a:ext uri="{FF2B5EF4-FFF2-40B4-BE49-F238E27FC236}">
                <a16:creationId xmlns:a16="http://schemas.microsoft.com/office/drawing/2014/main" id="{247CD45E-6280-458A-9E09-1BD8E46D46FA}"/>
              </a:ext>
            </a:extLst>
          </p:cNvPr>
          <p:cNvSpPr>
            <a:spLocks noGrp="1"/>
          </p:cNvSpPr>
          <p:nvPr/>
        </p:nvSpPr>
        <p:spPr>
          <a:xfrm>
            <a:off x="6303607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25" name="diagram block">
            <a:extLst>
              <a:ext uri="{FF2B5EF4-FFF2-40B4-BE49-F238E27FC236}">
                <a16:creationId xmlns:a16="http://schemas.microsoft.com/office/drawing/2014/main" id="{A10C47B9-FF47-4715-9B22-95701349466E}"/>
              </a:ext>
            </a:extLst>
          </p:cNvPr>
          <p:cNvSpPr>
            <a:spLocks noGrp="1"/>
          </p:cNvSpPr>
          <p:nvPr/>
        </p:nvSpPr>
        <p:spPr>
          <a:xfrm>
            <a:off x="6409414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26" name="diagram block">
            <a:extLst>
              <a:ext uri="{FF2B5EF4-FFF2-40B4-BE49-F238E27FC236}">
                <a16:creationId xmlns:a16="http://schemas.microsoft.com/office/drawing/2014/main" id="{92BF625B-E8D5-4C6D-940E-2156EE50B6A0}"/>
              </a:ext>
            </a:extLst>
          </p:cNvPr>
          <p:cNvSpPr>
            <a:spLocks noGrp="1"/>
          </p:cNvSpPr>
          <p:nvPr/>
        </p:nvSpPr>
        <p:spPr>
          <a:xfrm>
            <a:off x="6515220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27" name="diagram block">
            <a:extLst>
              <a:ext uri="{FF2B5EF4-FFF2-40B4-BE49-F238E27FC236}">
                <a16:creationId xmlns:a16="http://schemas.microsoft.com/office/drawing/2014/main" id="{931D8B0E-C575-4F0F-932A-5464B13A8B69}"/>
              </a:ext>
            </a:extLst>
          </p:cNvPr>
          <p:cNvSpPr>
            <a:spLocks noGrp="1"/>
          </p:cNvSpPr>
          <p:nvPr/>
        </p:nvSpPr>
        <p:spPr>
          <a:xfrm>
            <a:off x="6621026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28" name="diagram block">
            <a:extLst>
              <a:ext uri="{FF2B5EF4-FFF2-40B4-BE49-F238E27FC236}">
                <a16:creationId xmlns:a16="http://schemas.microsoft.com/office/drawing/2014/main" id="{583CC7AD-17E3-4DAC-83D4-343DC2557E75}"/>
              </a:ext>
            </a:extLst>
          </p:cNvPr>
          <p:cNvSpPr>
            <a:spLocks noGrp="1"/>
          </p:cNvSpPr>
          <p:nvPr/>
        </p:nvSpPr>
        <p:spPr>
          <a:xfrm>
            <a:off x="6726832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29" name="diagram block">
            <a:extLst>
              <a:ext uri="{FF2B5EF4-FFF2-40B4-BE49-F238E27FC236}">
                <a16:creationId xmlns:a16="http://schemas.microsoft.com/office/drawing/2014/main" id="{CFAAE51E-5111-413A-9481-3BCD0D770DFB}"/>
              </a:ext>
            </a:extLst>
          </p:cNvPr>
          <p:cNvSpPr>
            <a:spLocks noGrp="1"/>
          </p:cNvSpPr>
          <p:nvPr/>
        </p:nvSpPr>
        <p:spPr>
          <a:xfrm>
            <a:off x="6832638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0" name="diagram block">
            <a:extLst>
              <a:ext uri="{FF2B5EF4-FFF2-40B4-BE49-F238E27FC236}">
                <a16:creationId xmlns:a16="http://schemas.microsoft.com/office/drawing/2014/main" id="{F0E0CAD2-2F43-4328-A7B7-2969B1FFF2CB}"/>
              </a:ext>
            </a:extLst>
          </p:cNvPr>
          <p:cNvSpPr>
            <a:spLocks noGrp="1"/>
          </p:cNvSpPr>
          <p:nvPr/>
        </p:nvSpPr>
        <p:spPr>
          <a:xfrm>
            <a:off x="6197801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1" name="diagram block">
            <a:extLst>
              <a:ext uri="{FF2B5EF4-FFF2-40B4-BE49-F238E27FC236}">
                <a16:creationId xmlns:a16="http://schemas.microsoft.com/office/drawing/2014/main" id="{92CD9E95-02A5-4BCD-81AC-ED49A35F6E98}"/>
              </a:ext>
            </a:extLst>
          </p:cNvPr>
          <p:cNvSpPr>
            <a:spLocks noGrp="1"/>
          </p:cNvSpPr>
          <p:nvPr/>
        </p:nvSpPr>
        <p:spPr>
          <a:xfrm>
            <a:off x="6303607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2" name="diagram block">
            <a:extLst>
              <a:ext uri="{FF2B5EF4-FFF2-40B4-BE49-F238E27FC236}">
                <a16:creationId xmlns:a16="http://schemas.microsoft.com/office/drawing/2014/main" id="{906193DF-573D-4EC7-96C3-37FE2645708F}"/>
              </a:ext>
            </a:extLst>
          </p:cNvPr>
          <p:cNvSpPr>
            <a:spLocks noGrp="1"/>
          </p:cNvSpPr>
          <p:nvPr/>
        </p:nvSpPr>
        <p:spPr>
          <a:xfrm>
            <a:off x="6409414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3" name="diagram block">
            <a:extLst>
              <a:ext uri="{FF2B5EF4-FFF2-40B4-BE49-F238E27FC236}">
                <a16:creationId xmlns:a16="http://schemas.microsoft.com/office/drawing/2014/main" id="{A894B335-FE80-4F9A-B6F9-9B4FE78202CB}"/>
              </a:ext>
            </a:extLst>
          </p:cNvPr>
          <p:cNvSpPr>
            <a:spLocks noGrp="1"/>
          </p:cNvSpPr>
          <p:nvPr/>
        </p:nvSpPr>
        <p:spPr>
          <a:xfrm>
            <a:off x="6515220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4" name="diagram block">
            <a:extLst>
              <a:ext uri="{FF2B5EF4-FFF2-40B4-BE49-F238E27FC236}">
                <a16:creationId xmlns:a16="http://schemas.microsoft.com/office/drawing/2014/main" id="{86A46965-59C0-4278-8A68-F41022055883}"/>
              </a:ext>
            </a:extLst>
          </p:cNvPr>
          <p:cNvSpPr>
            <a:spLocks noGrp="1"/>
          </p:cNvSpPr>
          <p:nvPr/>
        </p:nvSpPr>
        <p:spPr>
          <a:xfrm>
            <a:off x="6621026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5" name="diagram block">
            <a:extLst>
              <a:ext uri="{FF2B5EF4-FFF2-40B4-BE49-F238E27FC236}">
                <a16:creationId xmlns:a16="http://schemas.microsoft.com/office/drawing/2014/main" id="{889AAEBC-CB1B-4775-B920-83A68D5D47ED}"/>
              </a:ext>
            </a:extLst>
          </p:cNvPr>
          <p:cNvSpPr>
            <a:spLocks noGrp="1"/>
          </p:cNvSpPr>
          <p:nvPr/>
        </p:nvSpPr>
        <p:spPr>
          <a:xfrm>
            <a:off x="6726832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6" name="diagram block">
            <a:extLst>
              <a:ext uri="{FF2B5EF4-FFF2-40B4-BE49-F238E27FC236}">
                <a16:creationId xmlns:a16="http://schemas.microsoft.com/office/drawing/2014/main" id="{D641813A-4DC1-442A-A881-386D5233C6BA}"/>
              </a:ext>
            </a:extLst>
          </p:cNvPr>
          <p:cNvSpPr>
            <a:spLocks noGrp="1"/>
          </p:cNvSpPr>
          <p:nvPr/>
        </p:nvSpPr>
        <p:spPr>
          <a:xfrm>
            <a:off x="6832638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7" name="diagram block">
            <a:extLst>
              <a:ext uri="{FF2B5EF4-FFF2-40B4-BE49-F238E27FC236}">
                <a16:creationId xmlns:a16="http://schemas.microsoft.com/office/drawing/2014/main" id="{4D613147-0E72-4FCD-8E30-281EAAC6ED34}"/>
              </a:ext>
            </a:extLst>
          </p:cNvPr>
          <p:cNvSpPr>
            <a:spLocks noGrp="1"/>
          </p:cNvSpPr>
          <p:nvPr/>
        </p:nvSpPr>
        <p:spPr>
          <a:xfrm>
            <a:off x="6197801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8" name="diagram block">
            <a:extLst>
              <a:ext uri="{FF2B5EF4-FFF2-40B4-BE49-F238E27FC236}">
                <a16:creationId xmlns:a16="http://schemas.microsoft.com/office/drawing/2014/main" id="{BA048AED-4FAF-4F07-B203-09DF95529F0B}"/>
              </a:ext>
            </a:extLst>
          </p:cNvPr>
          <p:cNvSpPr>
            <a:spLocks noGrp="1"/>
          </p:cNvSpPr>
          <p:nvPr/>
        </p:nvSpPr>
        <p:spPr>
          <a:xfrm>
            <a:off x="6303607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9" name="diagram block">
            <a:extLst>
              <a:ext uri="{FF2B5EF4-FFF2-40B4-BE49-F238E27FC236}">
                <a16:creationId xmlns:a16="http://schemas.microsoft.com/office/drawing/2014/main" id="{9C83E478-D84A-4ADD-9CB8-CDC06FD70F16}"/>
              </a:ext>
            </a:extLst>
          </p:cNvPr>
          <p:cNvSpPr>
            <a:spLocks noGrp="1"/>
          </p:cNvSpPr>
          <p:nvPr/>
        </p:nvSpPr>
        <p:spPr>
          <a:xfrm>
            <a:off x="6409414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40" name="diagram block">
            <a:extLst>
              <a:ext uri="{FF2B5EF4-FFF2-40B4-BE49-F238E27FC236}">
                <a16:creationId xmlns:a16="http://schemas.microsoft.com/office/drawing/2014/main" id="{D0ACB66B-93C0-4505-A19B-C9891F93E701}"/>
              </a:ext>
            </a:extLst>
          </p:cNvPr>
          <p:cNvSpPr>
            <a:spLocks noGrp="1"/>
          </p:cNvSpPr>
          <p:nvPr/>
        </p:nvSpPr>
        <p:spPr>
          <a:xfrm>
            <a:off x="6515220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41" name="diagram block">
            <a:extLst>
              <a:ext uri="{FF2B5EF4-FFF2-40B4-BE49-F238E27FC236}">
                <a16:creationId xmlns:a16="http://schemas.microsoft.com/office/drawing/2014/main" id="{48B88507-EB1E-4D7E-B627-AF576E111B47}"/>
              </a:ext>
            </a:extLst>
          </p:cNvPr>
          <p:cNvSpPr>
            <a:spLocks noGrp="1"/>
          </p:cNvSpPr>
          <p:nvPr/>
        </p:nvSpPr>
        <p:spPr>
          <a:xfrm>
            <a:off x="6621026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42" name="diagram block">
            <a:extLst>
              <a:ext uri="{FF2B5EF4-FFF2-40B4-BE49-F238E27FC236}">
                <a16:creationId xmlns:a16="http://schemas.microsoft.com/office/drawing/2014/main" id="{B2F2526D-01CA-43BE-8F70-E717C382E81E}"/>
              </a:ext>
            </a:extLst>
          </p:cNvPr>
          <p:cNvSpPr>
            <a:spLocks noGrp="1"/>
          </p:cNvSpPr>
          <p:nvPr/>
        </p:nvSpPr>
        <p:spPr>
          <a:xfrm>
            <a:off x="6726832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43" name="diagram block">
            <a:extLst>
              <a:ext uri="{FF2B5EF4-FFF2-40B4-BE49-F238E27FC236}">
                <a16:creationId xmlns:a16="http://schemas.microsoft.com/office/drawing/2014/main" id="{13EB2513-58D6-4370-A160-4E7882FE354D}"/>
              </a:ext>
            </a:extLst>
          </p:cNvPr>
          <p:cNvSpPr>
            <a:spLocks noGrp="1"/>
          </p:cNvSpPr>
          <p:nvPr/>
        </p:nvSpPr>
        <p:spPr>
          <a:xfrm>
            <a:off x="6832638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44" name="diagram block">
            <a:extLst>
              <a:ext uri="{FF2B5EF4-FFF2-40B4-BE49-F238E27FC236}">
                <a16:creationId xmlns:a16="http://schemas.microsoft.com/office/drawing/2014/main" id="{3A2C8C68-80FC-429F-A606-99B5DCE0C7EF}"/>
              </a:ext>
            </a:extLst>
          </p:cNvPr>
          <p:cNvSpPr>
            <a:spLocks noGrp="1"/>
          </p:cNvSpPr>
          <p:nvPr/>
        </p:nvSpPr>
        <p:spPr>
          <a:xfrm>
            <a:off x="6197801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45" name="diagram block">
            <a:extLst>
              <a:ext uri="{FF2B5EF4-FFF2-40B4-BE49-F238E27FC236}">
                <a16:creationId xmlns:a16="http://schemas.microsoft.com/office/drawing/2014/main" id="{9C7DFC89-E68C-4E06-988D-04ABDD1EA73C}"/>
              </a:ext>
            </a:extLst>
          </p:cNvPr>
          <p:cNvSpPr>
            <a:spLocks noGrp="1"/>
          </p:cNvSpPr>
          <p:nvPr/>
        </p:nvSpPr>
        <p:spPr>
          <a:xfrm>
            <a:off x="6303607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46" name="diagram block">
            <a:extLst>
              <a:ext uri="{FF2B5EF4-FFF2-40B4-BE49-F238E27FC236}">
                <a16:creationId xmlns:a16="http://schemas.microsoft.com/office/drawing/2014/main" id="{D07A76F1-EBB1-4DDC-9939-D0C89B60CE84}"/>
              </a:ext>
            </a:extLst>
          </p:cNvPr>
          <p:cNvSpPr>
            <a:spLocks noGrp="1"/>
          </p:cNvSpPr>
          <p:nvPr/>
        </p:nvSpPr>
        <p:spPr>
          <a:xfrm>
            <a:off x="6409414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47" name="diagram block">
            <a:extLst>
              <a:ext uri="{FF2B5EF4-FFF2-40B4-BE49-F238E27FC236}">
                <a16:creationId xmlns:a16="http://schemas.microsoft.com/office/drawing/2014/main" id="{3E2DAF3D-149F-4625-BF01-88F870B9024A}"/>
              </a:ext>
            </a:extLst>
          </p:cNvPr>
          <p:cNvSpPr>
            <a:spLocks noGrp="1"/>
          </p:cNvSpPr>
          <p:nvPr/>
        </p:nvSpPr>
        <p:spPr>
          <a:xfrm>
            <a:off x="6515220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48" name="diagram block">
            <a:extLst>
              <a:ext uri="{FF2B5EF4-FFF2-40B4-BE49-F238E27FC236}">
                <a16:creationId xmlns:a16="http://schemas.microsoft.com/office/drawing/2014/main" id="{EF2C94F5-CE53-434A-A83B-67C3405708F0}"/>
              </a:ext>
            </a:extLst>
          </p:cNvPr>
          <p:cNvSpPr>
            <a:spLocks noGrp="1"/>
          </p:cNvSpPr>
          <p:nvPr/>
        </p:nvSpPr>
        <p:spPr>
          <a:xfrm>
            <a:off x="6621026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49" name="diagram block">
            <a:extLst>
              <a:ext uri="{FF2B5EF4-FFF2-40B4-BE49-F238E27FC236}">
                <a16:creationId xmlns:a16="http://schemas.microsoft.com/office/drawing/2014/main" id="{A444CA7F-BD00-4636-87E7-E155FB1D20AD}"/>
              </a:ext>
            </a:extLst>
          </p:cNvPr>
          <p:cNvSpPr>
            <a:spLocks noGrp="1"/>
          </p:cNvSpPr>
          <p:nvPr/>
        </p:nvSpPr>
        <p:spPr>
          <a:xfrm>
            <a:off x="6726832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0" name="diagram block">
            <a:extLst>
              <a:ext uri="{FF2B5EF4-FFF2-40B4-BE49-F238E27FC236}">
                <a16:creationId xmlns:a16="http://schemas.microsoft.com/office/drawing/2014/main" id="{B9A57028-049A-4AF1-BC94-B8AC178B6E01}"/>
              </a:ext>
            </a:extLst>
          </p:cNvPr>
          <p:cNvSpPr>
            <a:spLocks noGrp="1"/>
          </p:cNvSpPr>
          <p:nvPr/>
        </p:nvSpPr>
        <p:spPr>
          <a:xfrm>
            <a:off x="6832638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1" name="diagram block">
            <a:extLst>
              <a:ext uri="{FF2B5EF4-FFF2-40B4-BE49-F238E27FC236}">
                <a16:creationId xmlns:a16="http://schemas.microsoft.com/office/drawing/2014/main" id="{BAB128AC-F4EA-4838-ABB7-7C597914D70C}"/>
              </a:ext>
            </a:extLst>
          </p:cNvPr>
          <p:cNvSpPr>
            <a:spLocks noGrp="1"/>
          </p:cNvSpPr>
          <p:nvPr/>
        </p:nvSpPr>
        <p:spPr>
          <a:xfrm>
            <a:off x="6197801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2" name="diagram block">
            <a:extLst>
              <a:ext uri="{FF2B5EF4-FFF2-40B4-BE49-F238E27FC236}">
                <a16:creationId xmlns:a16="http://schemas.microsoft.com/office/drawing/2014/main" id="{D80893E0-0FCB-43DD-BAFB-C2CF16E9BF59}"/>
              </a:ext>
            </a:extLst>
          </p:cNvPr>
          <p:cNvSpPr>
            <a:spLocks noGrp="1"/>
          </p:cNvSpPr>
          <p:nvPr/>
        </p:nvSpPr>
        <p:spPr>
          <a:xfrm>
            <a:off x="6303607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3" name="diagram block">
            <a:extLst>
              <a:ext uri="{FF2B5EF4-FFF2-40B4-BE49-F238E27FC236}">
                <a16:creationId xmlns:a16="http://schemas.microsoft.com/office/drawing/2014/main" id="{1C05DF84-B5EB-47CA-9B22-87366DF46338}"/>
              </a:ext>
            </a:extLst>
          </p:cNvPr>
          <p:cNvSpPr>
            <a:spLocks noGrp="1"/>
          </p:cNvSpPr>
          <p:nvPr/>
        </p:nvSpPr>
        <p:spPr>
          <a:xfrm>
            <a:off x="6409414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4" name="diagram block">
            <a:extLst>
              <a:ext uri="{FF2B5EF4-FFF2-40B4-BE49-F238E27FC236}">
                <a16:creationId xmlns:a16="http://schemas.microsoft.com/office/drawing/2014/main" id="{606BE50C-49F4-4390-B308-85DAFD2916A8}"/>
              </a:ext>
            </a:extLst>
          </p:cNvPr>
          <p:cNvSpPr>
            <a:spLocks noGrp="1"/>
          </p:cNvSpPr>
          <p:nvPr/>
        </p:nvSpPr>
        <p:spPr>
          <a:xfrm>
            <a:off x="6515220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5" name="diagram block">
            <a:extLst>
              <a:ext uri="{FF2B5EF4-FFF2-40B4-BE49-F238E27FC236}">
                <a16:creationId xmlns:a16="http://schemas.microsoft.com/office/drawing/2014/main" id="{4EDCC1F6-82FC-47E1-8B35-754E83FE74D6}"/>
              </a:ext>
            </a:extLst>
          </p:cNvPr>
          <p:cNvSpPr>
            <a:spLocks noGrp="1"/>
          </p:cNvSpPr>
          <p:nvPr/>
        </p:nvSpPr>
        <p:spPr>
          <a:xfrm>
            <a:off x="6621026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6" name="diagram block">
            <a:extLst>
              <a:ext uri="{FF2B5EF4-FFF2-40B4-BE49-F238E27FC236}">
                <a16:creationId xmlns:a16="http://schemas.microsoft.com/office/drawing/2014/main" id="{F08AEDB1-C47F-4B96-950A-E529D1147450}"/>
              </a:ext>
            </a:extLst>
          </p:cNvPr>
          <p:cNvSpPr>
            <a:spLocks noGrp="1"/>
          </p:cNvSpPr>
          <p:nvPr/>
        </p:nvSpPr>
        <p:spPr>
          <a:xfrm>
            <a:off x="6726832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7" name="diagram block">
            <a:extLst>
              <a:ext uri="{FF2B5EF4-FFF2-40B4-BE49-F238E27FC236}">
                <a16:creationId xmlns:a16="http://schemas.microsoft.com/office/drawing/2014/main" id="{45866E65-F263-4341-BCF7-D73214E50252}"/>
              </a:ext>
            </a:extLst>
          </p:cNvPr>
          <p:cNvSpPr>
            <a:spLocks noGrp="1"/>
          </p:cNvSpPr>
          <p:nvPr/>
        </p:nvSpPr>
        <p:spPr>
          <a:xfrm>
            <a:off x="6832638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8" name="diagram block">
            <a:extLst>
              <a:ext uri="{FF2B5EF4-FFF2-40B4-BE49-F238E27FC236}">
                <a16:creationId xmlns:a16="http://schemas.microsoft.com/office/drawing/2014/main" id="{C9572A4F-6B27-4E99-A7FA-E906A8E24C94}"/>
              </a:ext>
            </a:extLst>
          </p:cNvPr>
          <p:cNvSpPr>
            <a:spLocks noGrp="1"/>
          </p:cNvSpPr>
          <p:nvPr/>
        </p:nvSpPr>
        <p:spPr>
          <a:xfrm>
            <a:off x="6197801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9" name="diagram block">
            <a:extLst>
              <a:ext uri="{FF2B5EF4-FFF2-40B4-BE49-F238E27FC236}">
                <a16:creationId xmlns:a16="http://schemas.microsoft.com/office/drawing/2014/main" id="{25AFDFB3-A2D2-408E-96B7-175B5585FE14}"/>
              </a:ext>
            </a:extLst>
          </p:cNvPr>
          <p:cNvSpPr>
            <a:spLocks noGrp="1"/>
          </p:cNvSpPr>
          <p:nvPr/>
        </p:nvSpPr>
        <p:spPr>
          <a:xfrm>
            <a:off x="6303607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60" name="diagram block">
            <a:extLst>
              <a:ext uri="{FF2B5EF4-FFF2-40B4-BE49-F238E27FC236}">
                <a16:creationId xmlns:a16="http://schemas.microsoft.com/office/drawing/2014/main" id="{50D549D4-0CF5-49D1-940D-E1CE07F8D9E9}"/>
              </a:ext>
            </a:extLst>
          </p:cNvPr>
          <p:cNvSpPr>
            <a:spLocks noGrp="1"/>
          </p:cNvSpPr>
          <p:nvPr/>
        </p:nvSpPr>
        <p:spPr>
          <a:xfrm>
            <a:off x="6409414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61" name="diagram block">
            <a:extLst>
              <a:ext uri="{FF2B5EF4-FFF2-40B4-BE49-F238E27FC236}">
                <a16:creationId xmlns:a16="http://schemas.microsoft.com/office/drawing/2014/main" id="{CCA2C165-9708-4B62-A012-908FC3966F0B}"/>
              </a:ext>
            </a:extLst>
          </p:cNvPr>
          <p:cNvSpPr>
            <a:spLocks noGrp="1"/>
          </p:cNvSpPr>
          <p:nvPr/>
        </p:nvSpPr>
        <p:spPr>
          <a:xfrm>
            <a:off x="6515220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62" name="diagram block">
            <a:extLst>
              <a:ext uri="{FF2B5EF4-FFF2-40B4-BE49-F238E27FC236}">
                <a16:creationId xmlns:a16="http://schemas.microsoft.com/office/drawing/2014/main" id="{9FB98602-E23D-43A2-9B18-1A772F625EE0}"/>
              </a:ext>
            </a:extLst>
          </p:cNvPr>
          <p:cNvSpPr>
            <a:spLocks noGrp="1"/>
          </p:cNvSpPr>
          <p:nvPr/>
        </p:nvSpPr>
        <p:spPr>
          <a:xfrm>
            <a:off x="6621026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63" name="diagram block">
            <a:extLst>
              <a:ext uri="{FF2B5EF4-FFF2-40B4-BE49-F238E27FC236}">
                <a16:creationId xmlns:a16="http://schemas.microsoft.com/office/drawing/2014/main" id="{3E5F8458-F7AE-4487-8D4A-24F9656A0000}"/>
              </a:ext>
            </a:extLst>
          </p:cNvPr>
          <p:cNvSpPr>
            <a:spLocks noGrp="1"/>
          </p:cNvSpPr>
          <p:nvPr/>
        </p:nvSpPr>
        <p:spPr>
          <a:xfrm>
            <a:off x="6726832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64" name="diagram block">
            <a:extLst>
              <a:ext uri="{FF2B5EF4-FFF2-40B4-BE49-F238E27FC236}">
                <a16:creationId xmlns:a16="http://schemas.microsoft.com/office/drawing/2014/main" id="{5DEA7119-778A-45A6-941F-8D36A9E826AE}"/>
              </a:ext>
            </a:extLst>
          </p:cNvPr>
          <p:cNvSpPr>
            <a:spLocks noGrp="1"/>
          </p:cNvSpPr>
          <p:nvPr/>
        </p:nvSpPr>
        <p:spPr>
          <a:xfrm>
            <a:off x="6832638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65" name="diagram block">
            <a:extLst>
              <a:ext uri="{FF2B5EF4-FFF2-40B4-BE49-F238E27FC236}">
                <a16:creationId xmlns:a16="http://schemas.microsoft.com/office/drawing/2014/main" id="{BA08385A-8C98-475C-8D77-897D71AC54C6}"/>
              </a:ext>
            </a:extLst>
          </p:cNvPr>
          <p:cNvSpPr>
            <a:spLocks noGrp="1"/>
          </p:cNvSpPr>
          <p:nvPr/>
        </p:nvSpPr>
        <p:spPr>
          <a:xfrm>
            <a:off x="6197801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66" name="diagram block">
            <a:extLst>
              <a:ext uri="{FF2B5EF4-FFF2-40B4-BE49-F238E27FC236}">
                <a16:creationId xmlns:a16="http://schemas.microsoft.com/office/drawing/2014/main" id="{19BA67E8-87D4-46CE-A863-A15CDDFDB279}"/>
              </a:ext>
            </a:extLst>
          </p:cNvPr>
          <p:cNvSpPr>
            <a:spLocks noGrp="1"/>
          </p:cNvSpPr>
          <p:nvPr/>
        </p:nvSpPr>
        <p:spPr>
          <a:xfrm>
            <a:off x="6303607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67" name="diagram block">
            <a:extLst>
              <a:ext uri="{FF2B5EF4-FFF2-40B4-BE49-F238E27FC236}">
                <a16:creationId xmlns:a16="http://schemas.microsoft.com/office/drawing/2014/main" id="{43C07472-7827-46FB-B25D-D5A3E2213F5A}"/>
              </a:ext>
            </a:extLst>
          </p:cNvPr>
          <p:cNvSpPr>
            <a:spLocks noGrp="1"/>
          </p:cNvSpPr>
          <p:nvPr/>
        </p:nvSpPr>
        <p:spPr>
          <a:xfrm>
            <a:off x="6409414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68" name="diagram block">
            <a:extLst>
              <a:ext uri="{FF2B5EF4-FFF2-40B4-BE49-F238E27FC236}">
                <a16:creationId xmlns:a16="http://schemas.microsoft.com/office/drawing/2014/main" id="{15E4D65B-51AC-4F9B-A63F-9E849A1128B7}"/>
              </a:ext>
            </a:extLst>
          </p:cNvPr>
          <p:cNvSpPr>
            <a:spLocks noGrp="1"/>
          </p:cNvSpPr>
          <p:nvPr/>
        </p:nvSpPr>
        <p:spPr>
          <a:xfrm>
            <a:off x="6515220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69" name="diagram block">
            <a:extLst>
              <a:ext uri="{FF2B5EF4-FFF2-40B4-BE49-F238E27FC236}">
                <a16:creationId xmlns:a16="http://schemas.microsoft.com/office/drawing/2014/main" id="{B7EDFE71-602A-45ED-99B0-C056303F575E}"/>
              </a:ext>
            </a:extLst>
          </p:cNvPr>
          <p:cNvSpPr>
            <a:spLocks noGrp="1"/>
          </p:cNvSpPr>
          <p:nvPr/>
        </p:nvSpPr>
        <p:spPr>
          <a:xfrm>
            <a:off x="6621026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70" name="diagram block">
            <a:extLst>
              <a:ext uri="{FF2B5EF4-FFF2-40B4-BE49-F238E27FC236}">
                <a16:creationId xmlns:a16="http://schemas.microsoft.com/office/drawing/2014/main" id="{874AB7FB-B0FE-4A82-BE44-0F2F2B4B402A}"/>
              </a:ext>
            </a:extLst>
          </p:cNvPr>
          <p:cNvSpPr>
            <a:spLocks noGrp="1"/>
          </p:cNvSpPr>
          <p:nvPr/>
        </p:nvSpPr>
        <p:spPr>
          <a:xfrm>
            <a:off x="6726832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71" name="diagram block">
            <a:extLst>
              <a:ext uri="{FF2B5EF4-FFF2-40B4-BE49-F238E27FC236}">
                <a16:creationId xmlns:a16="http://schemas.microsoft.com/office/drawing/2014/main" id="{61102211-E290-4EAD-B78D-3B0C09146C10}"/>
              </a:ext>
            </a:extLst>
          </p:cNvPr>
          <p:cNvSpPr>
            <a:spLocks noGrp="1"/>
          </p:cNvSpPr>
          <p:nvPr/>
        </p:nvSpPr>
        <p:spPr>
          <a:xfrm>
            <a:off x="6832638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72" name="diagram block">
            <a:extLst>
              <a:ext uri="{FF2B5EF4-FFF2-40B4-BE49-F238E27FC236}">
                <a16:creationId xmlns:a16="http://schemas.microsoft.com/office/drawing/2014/main" id="{9F79BFBD-77D9-4A18-9707-243954536FB5}"/>
              </a:ext>
            </a:extLst>
          </p:cNvPr>
          <p:cNvSpPr>
            <a:spLocks noGrp="1"/>
          </p:cNvSpPr>
          <p:nvPr/>
        </p:nvSpPr>
        <p:spPr>
          <a:xfrm>
            <a:off x="7080379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73" name="diagram block">
            <a:extLst>
              <a:ext uri="{FF2B5EF4-FFF2-40B4-BE49-F238E27FC236}">
                <a16:creationId xmlns:a16="http://schemas.microsoft.com/office/drawing/2014/main" id="{46D0C071-63C6-41F3-87A7-691EE65073E3}"/>
              </a:ext>
            </a:extLst>
          </p:cNvPr>
          <p:cNvSpPr>
            <a:spLocks noGrp="1"/>
          </p:cNvSpPr>
          <p:nvPr/>
        </p:nvSpPr>
        <p:spPr>
          <a:xfrm>
            <a:off x="7186185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74" name="diagram block">
            <a:extLst>
              <a:ext uri="{FF2B5EF4-FFF2-40B4-BE49-F238E27FC236}">
                <a16:creationId xmlns:a16="http://schemas.microsoft.com/office/drawing/2014/main" id="{C5F9723A-5CB7-43F1-A869-65D789083DC7}"/>
              </a:ext>
            </a:extLst>
          </p:cNvPr>
          <p:cNvSpPr>
            <a:spLocks noGrp="1"/>
          </p:cNvSpPr>
          <p:nvPr/>
        </p:nvSpPr>
        <p:spPr>
          <a:xfrm>
            <a:off x="7291991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75" name="diagram block">
            <a:extLst>
              <a:ext uri="{FF2B5EF4-FFF2-40B4-BE49-F238E27FC236}">
                <a16:creationId xmlns:a16="http://schemas.microsoft.com/office/drawing/2014/main" id="{8E9727C1-D823-4DA2-BAF5-48E764460770}"/>
              </a:ext>
            </a:extLst>
          </p:cNvPr>
          <p:cNvSpPr>
            <a:spLocks noGrp="1"/>
          </p:cNvSpPr>
          <p:nvPr/>
        </p:nvSpPr>
        <p:spPr>
          <a:xfrm>
            <a:off x="7397797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76" name="diagram block">
            <a:extLst>
              <a:ext uri="{FF2B5EF4-FFF2-40B4-BE49-F238E27FC236}">
                <a16:creationId xmlns:a16="http://schemas.microsoft.com/office/drawing/2014/main" id="{81F565EE-88C1-4DDA-997F-2831193D39AC}"/>
              </a:ext>
            </a:extLst>
          </p:cNvPr>
          <p:cNvSpPr>
            <a:spLocks noGrp="1"/>
          </p:cNvSpPr>
          <p:nvPr/>
        </p:nvSpPr>
        <p:spPr>
          <a:xfrm>
            <a:off x="7503604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77" name="diagram block">
            <a:extLst>
              <a:ext uri="{FF2B5EF4-FFF2-40B4-BE49-F238E27FC236}">
                <a16:creationId xmlns:a16="http://schemas.microsoft.com/office/drawing/2014/main" id="{FE0C5C03-FC71-4E91-B8B2-882A9476B67E}"/>
              </a:ext>
            </a:extLst>
          </p:cNvPr>
          <p:cNvSpPr>
            <a:spLocks noGrp="1"/>
          </p:cNvSpPr>
          <p:nvPr/>
        </p:nvSpPr>
        <p:spPr>
          <a:xfrm>
            <a:off x="7609410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78" name="diagram block">
            <a:extLst>
              <a:ext uri="{FF2B5EF4-FFF2-40B4-BE49-F238E27FC236}">
                <a16:creationId xmlns:a16="http://schemas.microsoft.com/office/drawing/2014/main" id="{F922A88C-23AE-4E1F-A941-9F06CB049E39}"/>
              </a:ext>
            </a:extLst>
          </p:cNvPr>
          <p:cNvSpPr>
            <a:spLocks noGrp="1"/>
          </p:cNvSpPr>
          <p:nvPr/>
        </p:nvSpPr>
        <p:spPr>
          <a:xfrm>
            <a:off x="7715216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79" name="diagram block">
            <a:extLst>
              <a:ext uri="{FF2B5EF4-FFF2-40B4-BE49-F238E27FC236}">
                <a16:creationId xmlns:a16="http://schemas.microsoft.com/office/drawing/2014/main" id="{E0A0A740-85DA-42EC-A107-54093DD146B2}"/>
              </a:ext>
            </a:extLst>
          </p:cNvPr>
          <p:cNvSpPr>
            <a:spLocks noGrp="1"/>
          </p:cNvSpPr>
          <p:nvPr/>
        </p:nvSpPr>
        <p:spPr>
          <a:xfrm>
            <a:off x="7080379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80" name="diagram block">
            <a:extLst>
              <a:ext uri="{FF2B5EF4-FFF2-40B4-BE49-F238E27FC236}">
                <a16:creationId xmlns:a16="http://schemas.microsoft.com/office/drawing/2014/main" id="{CA2E71A0-FF75-4FDF-92A1-07B78A6A97DD}"/>
              </a:ext>
            </a:extLst>
          </p:cNvPr>
          <p:cNvSpPr>
            <a:spLocks noGrp="1"/>
          </p:cNvSpPr>
          <p:nvPr/>
        </p:nvSpPr>
        <p:spPr>
          <a:xfrm>
            <a:off x="7186185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81" name="diagram block">
            <a:extLst>
              <a:ext uri="{FF2B5EF4-FFF2-40B4-BE49-F238E27FC236}">
                <a16:creationId xmlns:a16="http://schemas.microsoft.com/office/drawing/2014/main" id="{127EF142-5E0B-4F96-AC8D-758A8ADBC4C2}"/>
              </a:ext>
            </a:extLst>
          </p:cNvPr>
          <p:cNvSpPr>
            <a:spLocks noGrp="1"/>
          </p:cNvSpPr>
          <p:nvPr/>
        </p:nvSpPr>
        <p:spPr>
          <a:xfrm>
            <a:off x="7291991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82" name="diagram block">
            <a:extLst>
              <a:ext uri="{FF2B5EF4-FFF2-40B4-BE49-F238E27FC236}">
                <a16:creationId xmlns:a16="http://schemas.microsoft.com/office/drawing/2014/main" id="{800884E3-D42A-4420-A072-C3077029788C}"/>
              </a:ext>
            </a:extLst>
          </p:cNvPr>
          <p:cNvSpPr>
            <a:spLocks noGrp="1"/>
          </p:cNvSpPr>
          <p:nvPr/>
        </p:nvSpPr>
        <p:spPr>
          <a:xfrm>
            <a:off x="7397797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83" name="diagram block">
            <a:extLst>
              <a:ext uri="{FF2B5EF4-FFF2-40B4-BE49-F238E27FC236}">
                <a16:creationId xmlns:a16="http://schemas.microsoft.com/office/drawing/2014/main" id="{AD2131B0-FAF2-4F53-873A-BEB87A773C74}"/>
              </a:ext>
            </a:extLst>
          </p:cNvPr>
          <p:cNvSpPr>
            <a:spLocks noGrp="1"/>
          </p:cNvSpPr>
          <p:nvPr/>
        </p:nvSpPr>
        <p:spPr>
          <a:xfrm>
            <a:off x="7503604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84" name="diagram block">
            <a:extLst>
              <a:ext uri="{FF2B5EF4-FFF2-40B4-BE49-F238E27FC236}">
                <a16:creationId xmlns:a16="http://schemas.microsoft.com/office/drawing/2014/main" id="{5106F72E-C645-40AC-B800-DDF7BFC94503}"/>
              </a:ext>
            </a:extLst>
          </p:cNvPr>
          <p:cNvSpPr>
            <a:spLocks noGrp="1"/>
          </p:cNvSpPr>
          <p:nvPr/>
        </p:nvSpPr>
        <p:spPr>
          <a:xfrm>
            <a:off x="7609410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85" name="diagram block">
            <a:extLst>
              <a:ext uri="{FF2B5EF4-FFF2-40B4-BE49-F238E27FC236}">
                <a16:creationId xmlns:a16="http://schemas.microsoft.com/office/drawing/2014/main" id="{0E26DB6D-EFFC-40BE-AF2E-44079436305F}"/>
              </a:ext>
            </a:extLst>
          </p:cNvPr>
          <p:cNvSpPr>
            <a:spLocks noGrp="1"/>
          </p:cNvSpPr>
          <p:nvPr/>
        </p:nvSpPr>
        <p:spPr>
          <a:xfrm>
            <a:off x="7715216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86" name="diagram block">
            <a:extLst>
              <a:ext uri="{FF2B5EF4-FFF2-40B4-BE49-F238E27FC236}">
                <a16:creationId xmlns:a16="http://schemas.microsoft.com/office/drawing/2014/main" id="{960C7CBD-7CD6-47F6-B585-7189868934AC}"/>
              </a:ext>
            </a:extLst>
          </p:cNvPr>
          <p:cNvSpPr>
            <a:spLocks noGrp="1"/>
          </p:cNvSpPr>
          <p:nvPr/>
        </p:nvSpPr>
        <p:spPr>
          <a:xfrm>
            <a:off x="7080379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87" name="diagram block">
            <a:extLst>
              <a:ext uri="{FF2B5EF4-FFF2-40B4-BE49-F238E27FC236}">
                <a16:creationId xmlns:a16="http://schemas.microsoft.com/office/drawing/2014/main" id="{11BF652F-0D95-4AE9-AA23-E554E60DC188}"/>
              </a:ext>
            </a:extLst>
          </p:cNvPr>
          <p:cNvSpPr>
            <a:spLocks noGrp="1"/>
          </p:cNvSpPr>
          <p:nvPr/>
        </p:nvSpPr>
        <p:spPr>
          <a:xfrm>
            <a:off x="7186185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88" name="diagram block">
            <a:extLst>
              <a:ext uri="{FF2B5EF4-FFF2-40B4-BE49-F238E27FC236}">
                <a16:creationId xmlns:a16="http://schemas.microsoft.com/office/drawing/2014/main" id="{ADD61379-E374-467A-BA54-76127117C105}"/>
              </a:ext>
            </a:extLst>
          </p:cNvPr>
          <p:cNvSpPr>
            <a:spLocks noGrp="1"/>
          </p:cNvSpPr>
          <p:nvPr/>
        </p:nvSpPr>
        <p:spPr>
          <a:xfrm>
            <a:off x="7291991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89" name="diagram block">
            <a:extLst>
              <a:ext uri="{FF2B5EF4-FFF2-40B4-BE49-F238E27FC236}">
                <a16:creationId xmlns:a16="http://schemas.microsoft.com/office/drawing/2014/main" id="{3388E030-32B5-4596-87F0-5672FDFFFE44}"/>
              </a:ext>
            </a:extLst>
          </p:cNvPr>
          <p:cNvSpPr>
            <a:spLocks noGrp="1"/>
          </p:cNvSpPr>
          <p:nvPr/>
        </p:nvSpPr>
        <p:spPr>
          <a:xfrm>
            <a:off x="7397797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90" name="diagram block">
            <a:extLst>
              <a:ext uri="{FF2B5EF4-FFF2-40B4-BE49-F238E27FC236}">
                <a16:creationId xmlns:a16="http://schemas.microsoft.com/office/drawing/2014/main" id="{AB52F287-D062-4553-A424-0E8B159C9289}"/>
              </a:ext>
            </a:extLst>
          </p:cNvPr>
          <p:cNvSpPr>
            <a:spLocks noGrp="1"/>
          </p:cNvSpPr>
          <p:nvPr/>
        </p:nvSpPr>
        <p:spPr>
          <a:xfrm>
            <a:off x="7503604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91" name="diagram block">
            <a:extLst>
              <a:ext uri="{FF2B5EF4-FFF2-40B4-BE49-F238E27FC236}">
                <a16:creationId xmlns:a16="http://schemas.microsoft.com/office/drawing/2014/main" id="{154801EC-676F-4711-A0B2-DFFF8CDA436E}"/>
              </a:ext>
            </a:extLst>
          </p:cNvPr>
          <p:cNvSpPr>
            <a:spLocks noGrp="1"/>
          </p:cNvSpPr>
          <p:nvPr/>
        </p:nvSpPr>
        <p:spPr>
          <a:xfrm>
            <a:off x="7609410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92" name="diagram block">
            <a:extLst>
              <a:ext uri="{FF2B5EF4-FFF2-40B4-BE49-F238E27FC236}">
                <a16:creationId xmlns:a16="http://schemas.microsoft.com/office/drawing/2014/main" id="{7ACFF178-8394-4005-96E6-EE5A5A4E49AF}"/>
              </a:ext>
            </a:extLst>
          </p:cNvPr>
          <p:cNvSpPr>
            <a:spLocks noGrp="1"/>
          </p:cNvSpPr>
          <p:nvPr/>
        </p:nvSpPr>
        <p:spPr>
          <a:xfrm>
            <a:off x="7715216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93" name="diagram block">
            <a:extLst>
              <a:ext uri="{FF2B5EF4-FFF2-40B4-BE49-F238E27FC236}">
                <a16:creationId xmlns:a16="http://schemas.microsoft.com/office/drawing/2014/main" id="{70B80746-6A98-4B1B-AA85-DB1BF28F2F7B}"/>
              </a:ext>
            </a:extLst>
          </p:cNvPr>
          <p:cNvSpPr>
            <a:spLocks noGrp="1"/>
          </p:cNvSpPr>
          <p:nvPr/>
        </p:nvSpPr>
        <p:spPr>
          <a:xfrm>
            <a:off x="7080379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94" name="diagram block">
            <a:extLst>
              <a:ext uri="{FF2B5EF4-FFF2-40B4-BE49-F238E27FC236}">
                <a16:creationId xmlns:a16="http://schemas.microsoft.com/office/drawing/2014/main" id="{3589E841-10E9-42C8-B76B-8F0F20FB3D2D}"/>
              </a:ext>
            </a:extLst>
          </p:cNvPr>
          <p:cNvSpPr>
            <a:spLocks noGrp="1"/>
          </p:cNvSpPr>
          <p:nvPr/>
        </p:nvSpPr>
        <p:spPr>
          <a:xfrm>
            <a:off x="7186185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95" name="diagram block">
            <a:extLst>
              <a:ext uri="{FF2B5EF4-FFF2-40B4-BE49-F238E27FC236}">
                <a16:creationId xmlns:a16="http://schemas.microsoft.com/office/drawing/2014/main" id="{D39A9813-1D22-4DDD-849C-BE00CCFF6DC9}"/>
              </a:ext>
            </a:extLst>
          </p:cNvPr>
          <p:cNvSpPr>
            <a:spLocks noGrp="1"/>
          </p:cNvSpPr>
          <p:nvPr/>
        </p:nvSpPr>
        <p:spPr>
          <a:xfrm>
            <a:off x="7291991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96" name="diagram block">
            <a:extLst>
              <a:ext uri="{FF2B5EF4-FFF2-40B4-BE49-F238E27FC236}">
                <a16:creationId xmlns:a16="http://schemas.microsoft.com/office/drawing/2014/main" id="{F9711C13-07C8-45F9-BA88-0C48EDB754C4}"/>
              </a:ext>
            </a:extLst>
          </p:cNvPr>
          <p:cNvSpPr>
            <a:spLocks noGrp="1"/>
          </p:cNvSpPr>
          <p:nvPr/>
        </p:nvSpPr>
        <p:spPr>
          <a:xfrm>
            <a:off x="7397797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97" name="diagram block">
            <a:extLst>
              <a:ext uri="{FF2B5EF4-FFF2-40B4-BE49-F238E27FC236}">
                <a16:creationId xmlns:a16="http://schemas.microsoft.com/office/drawing/2014/main" id="{AF30282D-3BEA-4C51-9D67-60F84CE1BFA0}"/>
              </a:ext>
            </a:extLst>
          </p:cNvPr>
          <p:cNvSpPr>
            <a:spLocks noGrp="1"/>
          </p:cNvSpPr>
          <p:nvPr/>
        </p:nvSpPr>
        <p:spPr>
          <a:xfrm>
            <a:off x="7503604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98" name="diagram block">
            <a:extLst>
              <a:ext uri="{FF2B5EF4-FFF2-40B4-BE49-F238E27FC236}">
                <a16:creationId xmlns:a16="http://schemas.microsoft.com/office/drawing/2014/main" id="{380B5876-12F6-4918-93B9-6C85E7A2F0C3}"/>
              </a:ext>
            </a:extLst>
          </p:cNvPr>
          <p:cNvSpPr>
            <a:spLocks noGrp="1"/>
          </p:cNvSpPr>
          <p:nvPr/>
        </p:nvSpPr>
        <p:spPr>
          <a:xfrm>
            <a:off x="7609410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99" name="diagram block">
            <a:extLst>
              <a:ext uri="{FF2B5EF4-FFF2-40B4-BE49-F238E27FC236}">
                <a16:creationId xmlns:a16="http://schemas.microsoft.com/office/drawing/2014/main" id="{5A8D9701-2064-4088-BAC9-B52E84D2D9E5}"/>
              </a:ext>
            </a:extLst>
          </p:cNvPr>
          <p:cNvSpPr>
            <a:spLocks noGrp="1"/>
          </p:cNvSpPr>
          <p:nvPr/>
        </p:nvSpPr>
        <p:spPr>
          <a:xfrm>
            <a:off x="7715216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00" name="diagram block">
            <a:extLst>
              <a:ext uri="{FF2B5EF4-FFF2-40B4-BE49-F238E27FC236}">
                <a16:creationId xmlns:a16="http://schemas.microsoft.com/office/drawing/2014/main" id="{785BBA2B-3C21-43FD-B107-D9BE293039EE}"/>
              </a:ext>
            </a:extLst>
          </p:cNvPr>
          <p:cNvSpPr>
            <a:spLocks noGrp="1"/>
          </p:cNvSpPr>
          <p:nvPr/>
        </p:nvSpPr>
        <p:spPr>
          <a:xfrm>
            <a:off x="7080379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01" name="diagram block">
            <a:extLst>
              <a:ext uri="{FF2B5EF4-FFF2-40B4-BE49-F238E27FC236}">
                <a16:creationId xmlns:a16="http://schemas.microsoft.com/office/drawing/2014/main" id="{61026E94-5057-41E2-89E5-9AA61515B079}"/>
              </a:ext>
            </a:extLst>
          </p:cNvPr>
          <p:cNvSpPr>
            <a:spLocks noGrp="1"/>
          </p:cNvSpPr>
          <p:nvPr/>
        </p:nvSpPr>
        <p:spPr>
          <a:xfrm>
            <a:off x="7186185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02" name="diagram block">
            <a:extLst>
              <a:ext uri="{FF2B5EF4-FFF2-40B4-BE49-F238E27FC236}">
                <a16:creationId xmlns:a16="http://schemas.microsoft.com/office/drawing/2014/main" id="{746E0AF3-5111-4ECF-BC2B-80AB7ECD6688}"/>
              </a:ext>
            </a:extLst>
          </p:cNvPr>
          <p:cNvSpPr>
            <a:spLocks noGrp="1"/>
          </p:cNvSpPr>
          <p:nvPr/>
        </p:nvSpPr>
        <p:spPr>
          <a:xfrm>
            <a:off x="7291991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03" name="diagram block">
            <a:extLst>
              <a:ext uri="{FF2B5EF4-FFF2-40B4-BE49-F238E27FC236}">
                <a16:creationId xmlns:a16="http://schemas.microsoft.com/office/drawing/2014/main" id="{47F7B0F6-CCE6-4519-A872-D0D48486BC6D}"/>
              </a:ext>
            </a:extLst>
          </p:cNvPr>
          <p:cNvSpPr>
            <a:spLocks noGrp="1"/>
          </p:cNvSpPr>
          <p:nvPr/>
        </p:nvSpPr>
        <p:spPr>
          <a:xfrm>
            <a:off x="7397797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04" name="diagram block">
            <a:extLst>
              <a:ext uri="{FF2B5EF4-FFF2-40B4-BE49-F238E27FC236}">
                <a16:creationId xmlns:a16="http://schemas.microsoft.com/office/drawing/2014/main" id="{9085128B-6074-4ADE-ADF3-1CC7BE19F947}"/>
              </a:ext>
            </a:extLst>
          </p:cNvPr>
          <p:cNvSpPr>
            <a:spLocks noGrp="1"/>
          </p:cNvSpPr>
          <p:nvPr/>
        </p:nvSpPr>
        <p:spPr>
          <a:xfrm>
            <a:off x="7503604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05" name="diagram block">
            <a:extLst>
              <a:ext uri="{FF2B5EF4-FFF2-40B4-BE49-F238E27FC236}">
                <a16:creationId xmlns:a16="http://schemas.microsoft.com/office/drawing/2014/main" id="{872CCB82-D1C3-43DB-B6A8-A1B44E5775D5}"/>
              </a:ext>
            </a:extLst>
          </p:cNvPr>
          <p:cNvSpPr>
            <a:spLocks noGrp="1"/>
          </p:cNvSpPr>
          <p:nvPr/>
        </p:nvSpPr>
        <p:spPr>
          <a:xfrm>
            <a:off x="7609410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06" name="diagram block">
            <a:extLst>
              <a:ext uri="{FF2B5EF4-FFF2-40B4-BE49-F238E27FC236}">
                <a16:creationId xmlns:a16="http://schemas.microsoft.com/office/drawing/2014/main" id="{98B46CEB-2F2C-4C19-868A-BE2B5B003D5E}"/>
              </a:ext>
            </a:extLst>
          </p:cNvPr>
          <p:cNvSpPr>
            <a:spLocks noGrp="1"/>
          </p:cNvSpPr>
          <p:nvPr/>
        </p:nvSpPr>
        <p:spPr>
          <a:xfrm>
            <a:off x="7715216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07" name="diagram block">
            <a:extLst>
              <a:ext uri="{FF2B5EF4-FFF2-40B4-BE49-F238E27FC236}">
                <a16:creationId xmlns:a16="http://schemas.microsoft.com/office/drawing/2014/main" id="{19B4AF12-5CA3-4354-9371-46356859BE4D}"/>
              </a:ext>
            </a:extLst>
          </p:cNvPr>
          <p:cNvSpPr>
            <a:spLocks noGrp="1"/>
          </p:cNvSpPr>
          <p:nvPr/>
        </p:nvSpPr>
        <p:spPr>
          <a:xfrm>
            <a:off x="7080379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08" name="diagram block">
            <a:extLst>
              <a:ext uri="{FF2B5EF4-FFF2-40B4-BE49-F238E27FC236}">
                <a16:creationId xmlns:a16="http://schemas.microsoft.com/office/drawing/2014/main" id="{8CDA5EFD-C239-41FC-B72D-FF10EABBBB2D}"/>
              </a:ext>
            </a:extLst>
          </p:cNvPr>
          <p:cNvSpPr>
            <a:spLocks noGrp="1"/>
          </p:cNvSpPr>
          <p:nvPr/>
        </p:nvSpPr>
        <p:spPr>
          <a:xfrm>
            <a:off x="7186185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09" name="diagram block">
            <a:extLst>
              <a:ext uri="{FF2B5EF4-FFF2-40B4-BE49-F238E27FC236}">
                <a16:creationId xmlns:a16="http://schemas.microsoft.com/office/drawing/2014/main" id="{E68BA51B-9E8B-49EB-BED9-445D1CFF67B9}"/>
              </a:ext>
            </a:extLst>
          </p:cNvPr>
          <p:cNvSpPr>
            <a:spLocks noGrp="1"/>
          </p:cNvSpPr>
          <p:nvPr/>
        </p:nvSpPr>
        <p:spPr>
          <a:xfrm>
            <a:off x="7291991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10" name="diagram block">
            <a:extLst>
              <a:ext uri="{FF2B5EF4-FFF2-40B4-BE49-F238E27FC236}">
                <a16:creationId xmlns:a16="http://schemas.microsoft.com/office/drawing/2014/main" id="{610D472C-32DC-47F1-8009-B19BA6DA81C1}"/>
              </a:ext>
            </a:extLst>
          </p:cNvPr>
          <p:cNvSpPr>
            <a:spLocks noGrp="1"/>
          </p:cNvSpPr>
          <p:nvPr/>
        </p:nvSpPr>
        <p:spPr>
          <a:xfrm>
            <a:off x="7397797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11" name="diagram block">
            <a:extLst>
              <a:ext uri="{FF2B5EF4-FFF2-40B4-BE49-F238E27FC236}">
                <a16:creationId xmlns:a16="http://schemas.microsoft.com/office/drawing/2014/main" id="{7FB29DF8-BB93-4EB4-ADA2-CE1F0AE48B6E}"/>
              </a:ext>
            </a:extLst>
          </p:cNvPr>
          <p:cNvSpPr>
            <a:spLocks noGrp="1"/>
          </p:cNvSpPr>
          <p:nvPr/>
        </p:nvSpPr>
        <p:spPr>
          <a:xfrm>
            <a:off x="7503604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12" name="diagram block">
            <a:extLst>
              <a:ext uri="{FF2B5EF4-FFF2-40B4-BE49-F238E27FC236}">
                <a16:creationId xmlns:a16="http://schemas.microsoft.com/office/drawing/2014/main" id="{6BB13FF8-5653-47A8-96F8-22506F6A1DE8}"/>
              </a:ext>
            </a:extLst>
          </p:cNvPr>
          <p:cNvSpPr>
            <a:spLocks noGrp="1"/>
          </p:cNvSpPr>
          <p:nvPr/>
        </p:nvSpPr>
        <p:spPr>
          <a:xfrm>
            <a:off x="7609410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13" name="diagram block">
            <a:extLst>
              <a:ext uri="{FF2B5EF4-FFF2-40B4-BE49-F238E27FC236}">
                <a16:creationId xmlns:a16="http://schemas.microsoft.com/office/drawing/2014/main" id="{B2F8A087-3C72-4F17-B2E5-AE64CCD3A853}"/>
              </a:ext>
            </a:extLst>
          </p:cNvPr>
          <p:cNvSpPr>
            <a:spLocks noGrp="1"/>
          </p:cNvSpPr>
          <p:nvPr/>
        </p:nvSpPr>
        <p:spPr>
          <a:xfrm>
            <a:off x="7715216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14" name="diagram block">
            <a:extLst>
              <a:ext uri="{FF2B5EF4-FFF2-40B4-BE49-F238E27FC236}">
                <a16:creationId xmlns:a16="http://schemas.microsoft.com/office/drawing/2014/main" id="{4A98B496-1854-4568-8FEA-423C48E6A294}"/>
              </a:ext>
            </a:extLst>
          </p:cNvPr>
          <p:cNvSpPr>
            <a:spLocks noGrp="1"/>
          </p:cNvSpPr>
          <p:nvPr/>
        </p:nvSpPr>
        <p:spPr>
          <a:xfrm>
            <a:off x="7080379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15" name="diagram block">
            <a:extLst>
              <a:ext uri="{FF2B5EF4-FFF2-40B4-BE49-F238E27FC236}">
                <a16:creationId xmlns:a16="http://schemas.microsoft.com/office/drawing/2014/main" id="{2157B6AC-4A57-40F5-B5E4-17D481AE8C9E}"/>
              </a:ext>
            </a:extLst>
          </p:cNvPr>
          <p:cNvSpPr>
            <a:spLocks noGrp="1"/>
          </p:cNvSpPr>
          <p:nvPr/>
        </p:nvSpPr>
        <p:spPr>
          <a:xfrm>
            <a:off x="7186185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16" name="diagram block">
            <a:extLst>
              <a:ext uri="{FF2B5EF4-FFF2-40B4-BE49-F238E27FC236}">
                <a16:creationId xmlns:a16="http://schemas.microsoft.com/office/drawing/2014/main" id="{D17E442B-16BD-4E9D-A6F1-D82FDE7CA580}"/>
              </a:ext>
            </a:extLst>
          </p:cNvPr>
          <p:cNvSpPr>
            <a:spLocks noGrp="1"/>
          </p:cNvSpPr>
          <p:nvPr/>
        </p:nvSpPr>
        <p:spPr>
          <a:xfrm>
            <a:off x="7291991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17" name="diagram block">
            <a:extLst>
              <a:ext uri="{FF2B5EF4-FFF2-40B4-BE49-F238E27FC236}">
                <a16:creationId xmlns:a16="http://schemas.microsoft.com/office/drawing/2014/main" id="{5A496F2B-DB8C-44AC-9F21-34DD0E7265E9}"/>
              </a:ext>
            </a:extLst>
          </p:cNvPr>
          <p:cNvSpPr>
            <a:spLocks noGrp="1"/>
          </p:cNvSpPr>
          <p:nvPr/>
        </p:nvSpPr>
        <p:spPr>
          <a:xfrm>
            <a:off x="7397797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18" name="diagram block">
            <a:extLst>
              <a:ext uri="{FF2B5EF4-FFF2-40B4-BE49-F238E27FC236}">
                <a16:creationId xmlns:a16="http://schemas.microsoft.com/office/drawing/2014/main" id="{9A759D78-A88C-4486-8672-C62F35094EBD}"/>
              </a:ext>
            </a:extLst>
          </p:cNvPr>
          <p:cNvSpPr>
            <a:spLocks noGrp="1"/>
          </p:cNvSpPr>
          <p:nvPr/>
        </p:nvSpPr>
        <p:spPr>
          <a:xfrm>
            <a:off x="7503604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19" name="diagram block">
            <a:extLst>
              <a:ext uri="{FF2B5EF4-FFF2-40B4-BE49-F238E27FC236}">
                <a16:creationId xmlns:a16="http://schemas.microsoft.com/office/drawing/2014/main" id="{746AAC18-122F-48D2-924B-811EEA7FE579}"/>
              </a:ext>
            </a:extLst>
          </p:cNvPr>
          <p:cNvSpPr>
            <a:spLocks noGrp="1"/>
          </p:cNvSpPr>
          <p:nvPr/>
        </p:nvSpPr>
        <p:spPr>
          <a:xfrm>
            <a:off x="7609410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20" name="diagram block">
            <a:extLst>
              <a:ext uri="{FF2B5EF4-FFF2-40B4-BE49-F238E27FC236}">
                <a16:creationId xmlns:a16="http://schemas.microsoft.com/office/drawing/2014/main" id="{BE378AD2-1BE8-4A93-BC03-80B284C4F2AB}"/>
              </a:ext>
            </a:extLst>
          </p:cNvPr>
          <p:cNvSpPr>
            <a:spLocks noGrp="1"/>
          </p:cNvSpPr>
          <p:nvPr/>
        </p:nvSpPr>
        <p:spPr>
          <a:xfrm>
            <a:off x="7715216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21" name="diagram block">
            <a:extLst>
              <a:ext uri="{FF2B5EF4-FFF2-40B4-BE49-F238E27FC236}">
                <a16:creationId xmlns:a16="http://schemas.microsoft.com/office/drawing/2014/main" id="{EBA193B5-E559-4FA7-BE0D-CD3749ECABCD}"/>
              </a:ext>
            </a:extLst>
          </p:cNvPr>
          <p:cNvSpPr>
            <a:spLocks noGrp="1"/>
          </p:cNvSpPr>
          <p:nvPr/>
        </p:nvSpPr>
        <p:spPr>
          <a:xfrm>
            <a:off x="7895860" y="686449"/>
            <a:ext cx="908384" cy="1310964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4129">
            <a:solidFill>
              <a:srgbClr val="CBDFE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22" name="diagram block">
            <a:extLst>
              <a:ext uri="{FF2B5EF4-FFF2-40B4-BE49-F238E27FC236}">
                <a16:creationId xmlns:a16="http://schemas.microsoft.com/office/drawing/2014/main" id="{2136650D-5A73-45EE-9516-395A0E65DE2D}"/>
              </a:ext>
            </a:extLst>
          </p:cNvPr>
          <p:cNvSpPr>
            <a:spLocks noGrp="1"/>
          </p:cNvSpPr>
          <p:nvPr/>
        </p:nvSpPr>
        <p:spPr>
          <a:xfrm>
            <a:off x="7962957" y="758707"/>
            <a:ext cx="129032" cy="129032"/>
          </a:xfrm>
          <a:prstGeom prst="rect">
            <a:avLst/>
          </a:prstGeom>
          <a:solidFill>
            <a:srgbClr val="FFBE39"/>
          </a:solidFill>
          <a:ln w="4645">
            <a:solidFill>
              <a:srgbClr val="E8A321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23" name="Latent token&#10;(48-D)">
            <a:extLst>
              <a:ext uri="{FF2B5EF4-FFF2-40B4-BE49-F238E27FC236}">
                <a16:creationId xmlns:a16="http://schemas.microsoft.com/office/drawing/2014/main" id="{8B30B7D8-5A54-42D5-A8FB-D76271C722A2}"/>
              </a:ext>
            </a:extLst>
          </p:cNvPr>
          <p:cNvSpPr>
            <a:spLocks noGrp="1"/>
          </p:cNvSpPr>
          <p:nvPr/>
        </p:nvSpPr>
        <p:spPr>
          <a:xfrm>
            <a:off x="8138440" y="748385"/>
            <a:ext cx="609030" cy="2270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6511"/>
          </a:bodyPr>
          <a:lstStyle>
            <a:def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Latent token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(48-D)</a:t>
            </a:r>
          </a:p>
        </p:txBody>
      </p:sp>
      <p:sp>
        <p:nvSpPr>
          <p:cNvPr id="524" name="diagram block">
            <a:extLst>
              <a:ext uri="{FF2B5EF4-FFF2-40B4-BE49-F238E27FC236}">
                <a16:creationId xmlns:a16="http://schemas.microsoft.com/office/drawing/2014/main" id="{5DD5B9F1-97D6-40D4-B8CC-568C9CEAD8EA}"/>
              </a:ext>
            </a:extLst>
          </p:cNvPr>
          <p:cNvSpPr>
            <a:spLocks noGrp="1"/>
          </p:cNvSpPr>
          <p:nvPr/>
        </p:nvSpPr>
        <p:spPr>
          <a:xfrm>
            <a:off x="7962957" y="980642"/>
            <a:ext cx="129032" cy="118709"/>
          </a:xfrm>
          <a:prstGeom prst="rect">
            <a:avLst/>
          </a:prstGeom>
          <a:solidFill>
            <a:srgbClr val="FF8156"/>
          </a:solidFill>
          <a:ln w="4645">
            <a:solidFill>
              <a:srgbClr val="F35A3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25" name="Selected location">
            <a:extLst>
              <a:ext uri="{FF2B5EF4-FFF2-40B4-BE49-F238E27FC236}">
                <a16:creationId xmlns:a16="http://schemas.microsoft.com/office/drawing/2014/main" id="{7A47D8E9-0FDA-4176-9A8D-2C3032D081BE}"/>
              </a:ext>
            </a:extLst>
          </p:cNvPr>
          <p:cNvSpPr>
            <a:spLocks noGrp="1"/>
          </p:cNvSpPr>
          <p:nvPr/>
        </p:nvSpPr>
        <p:spPr>
          <a:xfrm>
            <a:off x="8138440" y="985803"/>
            <a:ext cx="614192" cy="1445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323"/>
          </a:bodyPr>
          <a:lstStyle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Selected location</a:t>
            </a:r>
          </a:p>
        </p:txBody>
      </p:sp>
      <p:cxnSp>
        <p:nvCxnSpPr>
          <p:cNvPr id="526" name="native PowerPoint connector">
            <a:extLst>
              <a:ext uri="{FF2B5EF4-FFF2-40B4-BE49-F238E27FC236}">
                <a16:creationId xmlns:a16="http://schemas.microsoft.com/office/drawing/2014/main" id="{A620283E-CD50-4932-BA1D-066300851522}"/>
              </a:ext>
            </a:extLst>
          </p:cNvPr>
          <p:cNvCxnSpPr/>
          <p:nvPr/>
        </p:nvCxnSpPr>
        <p:spPr>
          <a:xfrm>
            <a:off x="7947473" y="1238706"/>
            <a:ext cx="175483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527" name="Temporal edge&#10;(same position,&#10;same camera only)">
            <a:extLst>
              <a:ext uri="{FF2B5EF4-FFF2-40B4-BE49-F238E27FC236}">
                <a16:creationId xmlns:a16="http://schemas.microsoft.com/office/drawing/2014/main" id="{F37AD8C1-2972-421D-8FB3-404FE15B3D4F}"/>
              </a:ext>
            </a:extLst>
          </p:cNvPr>
          <p:cNvSpPr>
            <a:spLocks noGrp="1"/>
          </p:cNvSpPr>
          <p:nvPr/>
        </p:nvSpPr>
        <p:spPr>
          <a:xfrm>
            <a:off x="8153924" y="1176770"/>
            <a:ext cx="609030" cy="33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6450"/>
          </a:bodyPr>
          <a:lstStyle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Temporal edge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(same position,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same camera only)</a:t>
            </a:r>
          </a:p>
        </p:txBody>
      </p:sp>
      <p:cxnSp>
        <p:nvCxnSpPr>
          <p:cNvPr id="528" name="native PowerPoint connector">
            <a:extLst>
              <a:ext uri="{FF2B5EF4-FFF2-40B4-BE49-F238E27FC236}">
                <a16:creationId xmlns:a16="http://schemas.microsoft.com/office/drawing/2014/main" id="{80C5EF56-44D5-41C1-B124-45E1852442A5}"/>
              </a:ext>
            </a:extLst>
          </p:cNvPr>
          <p:cNvCxnSpPr/>
          <p:nvPr/>
        </p:nvCxnSpPr>
        <p:spPr>
          <a:xfrm>
            <a:off x="8035215" y="1486447"/>
            <a:ext cx="0" cy="211612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529" name="native PowerPoint connector">
            <a:extLst>
              <a:ext uri="{FF2B5EF4-FFF2-40B4-BE49-F238E27FC236}">
                <a16:creationId xmlns:a16="http://schemas.microsoft.com/office/drawing/2014/main" id="{7C3AD7F9-2495-440A-9C6D-186B4260B6A4}"/>
              </a:ext>
            </a:extLst>
          </p:cNvPr>
          <p:cNvCxnSpPr/>
          <p:nvPr/>
        </p:nvCxnSpPr>
        <p:spPr>
          <a:xfrm>
            <a:off x="7937151" y="1594834"/>
            <a:ext cx="190967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530" name="8 spatial neighbors&#10;(same time)">
            <a:extLst>
              <a:ext uri="{FF2B5EF4-FFF2-40B4-BE49-F238E27FC236}">
                <a16:creationId xmlns:a16="http://schemas.microsoft.com/office/drawing/2014/main" id="{36F3AB4F-355F-4CE8-A752-AABBC394BA86}"/>
              </a:ext>
            </a:extLst>
          </p:cNvPr>
          <p:cNvSpPr>
            <a:spLocks noGrp="1"/>
          </p:cNvSpPr>
          <p:nvPr/>
        </p:nvSpPr>
        <p:spPr>
          <a:xfrm>
            <a:off x="8153924" y="1548382"/>
            <a:ext cx="614192" cy="2219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6983"/>
          </a:bodyPr>
          <a:lstStyle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spatial neighbors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(same time)</a:t>
            </a:r>
          </a:p>
        </p:txBody>
      </p:sp>
      <p:cxnSp>
        <p:nvCxnSpPr>
          <p:cNvPr id="531" name="native PowerPoint connector">
            <a:extLst>
              <a:ext uri="{FF2B5EF4-FFF2-40B4-BE49-F238E27FC236}">
                <a16:creationId xmlns:a16="http://schemas.microsoft.com/office/drawing/2014/main" id="{B3223F9D-1CE3-411E-A393-19F62B4504D8}"/>
              </a:ext>
            </a:extLst>
          </p:cNvPr>
          <p:cNvCxnSpPr/>
          <p:nvPr/>
        </p:nvCxnSpPr>
        <p:spPr>
          <a:xfrm>
            <a:off x="7968118" y="1811607"/>
            <a:ext cx="98064" cy="98064"/>
          </a:xfrm>
          <a:prstGeom prst="straightConnector1">
            <a:avLst/>
          </a:prstGeom>
          <a:ln w="12387">
            <a:solidFill>
              <a:srgbClr val="F31627"/>
            </a:solidFill>
            <a:prstDash val="solid"/>
          </a:ln>
        </p:spPr>
      </p:cxnSp>
      <p:cxnSp>
        <p:nvCxnSpPr>
          <p:cNvPr id="532" name="native PowerPoint connector">
            <a:extLst>
              <a:ext uri="{FF2B5EF4-FFF2-40B4-BE49-F238E27FC236}">
                <a16:creationId xmlns:a16="http://schemas.microsoft.com/office/drawing/2014/main" id="{0FFF1540-B1C6-4FE3-A51C-35CB99D91ABC}"/>
              </a:ext>
            </a:extLst>
          </p:cNvPr>
          <p:cNvCxnSpPr/>
          <p:nvPr/>
        </p:nvCxnSpPr>
        <p:spPr>
          <a:xfrm flipH="1">
            <a:off x="7968118" y="1811607"/>
            <a:ext cx="98064" cy="98064"/>
          </a:xfrm>
          <a:prstGeom prst="straightConnector1">
            <a:avLst/>
          </a:prstGeom>
          <a:ln w="12387">
            <a:solidFill>
              <a:srgbClr val="F31627"/>
            </a:solidFill>
            <a:prstDash val="solid"/>
          </a:ln>
        </p:spPr>
      </p:cxnSp>
      <p:sp>
        <p:nvSpPr>
          <p:cNvPr id="533" name="No cross-camera&#10;edges">
            <a:extLst>
              <a:ext uri="{FF2B5EF4-FFF2-40B4-BE49-F238E27FC236}">
                <a16:creationId xmlns:a16="http://schemas.microsoft.com/office/drawing/2014/main" id="{25272A60-BEFB-467D-8EAF-51E69B10EDD5}"/>
              </a:ext>
            </a:extLst>
          </p:cNvPr>
          <p:cNvSpPr>
            <a:spLocks noGrp="1"/>
          </p:cNvSpPr>
          <p:nvPr/>
        </p:nvSpPr>
        <p:spPr>
          <a:xfrm>
            <a:off x="8153924" y="1806446"/>
            <a:ext cx="609030" cy="21161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No cross-camera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edges</a:t>
            </a:r>
          </a:p>
        </p:txBody>
      </p:sp>
      <p:sp>
        <p:nvSpPr>
          <p:cNvPr id="534" name="diagram block">
            <a:extLst>
              <a:ext uri="{FF2B5EF4-FFF2-40B4-BE49-F238E27FC236}">
                <a16:creationId xmlns:a16="http://schemas.microsoft.com/office/drawing/2014/main" id="{F57EFFEF-85B9-4CC5-835A-C3464379EA28}"/>
              </a:ext>
            </a:extLst>
          </p:cNvPr>
          <p:cNvSpPr>
            <a:spLocks noGrp="1"/>
          </p:cNvSpPr>
          <p:nvPr/>
        </p:nvSpPr>
        <p:spPr>
          <a:xfrm>
            <a:off x="7901022" y="2250315"/>
            <a:ext cx="903223" cy="55225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5161">
            <a:solidFill>
              <a:srgbClr val="C3DFF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35" name="Each view’s original latent&#10;map is 14 × 14, pooled&#10;with 2 × 2 average pooli">
            <a:extLst>
              <a:ext uri="{FF2B5EF4-FFF2-40B4-BE49-F238E27FC236}">
                <a16:creationId xmlns:a16="http://schemas.microsoft.com/office/drawing/2014/main" id="{6BEEBABC-9E18-4C79-BF1E-DAC736BA7967}"/>
              </a:ext>
            </a:extLst>
          </p:cNvPr>
          <p:cNvSpPr>
            <a:spLocks noGrp="1"/>
          </p:cNvSpPr>
          <p:nvPr/>
        </p:nvSpPr>
        <p:spPr>
          <a:xfrm>
            <a:off x="7926828" y="2276122"/>
            <a:ext cx="851610" cy="500644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none" lIns="0" tIns="0" rIns="0" bIns="0" anchor="ctr">
            <a:normAutofit fontScale="85446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Each view’s original latent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map is 14 × 14, pooled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with 2 × 2 average pooling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to 7 × 7 (separately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for each view).</a:t>
            </a:r>
          </a:p>
        </p:txBody>
      </p:sp>
      <p:sp>
        <p:nvSpPr>
          <p:cNvPr id="536" name="diagram block">
            <a:extLst>
              <a:ext uri="{FF2B5EF4-FFF2-40B4-BE49-F238E27FC236}">
                <a16:creationId xmlns:a16="http://schemas.microsoft.com/office/drawing/2014/main" id="{AE4C262F-C172-4A74-9BF9-8F4EA1FA208D}"/>
              </a:ext>
            </a:extLst>
          </p:cNvPr>
          <p:cNvSpPr>
            <a:spLocks noGrp="1"/>
          </p:cNvSpPr>
          <p:nvPr/>
        </p:nvSpPr>
        <p:spPr>
          <a:xfrm>
            <a:off x="6073931" y="3163861"/>
            <a:ext cx="2719991" cy="190967"/>
          </a:xfrm>
          <a:prstGeom prst="roundRect">
            <a:avLst>
              <a:gd name="adj" fmla="val 13514"/>
            </a:avLst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5161">
            <a:solidFill>
              <a:srgbClr val="EDCD8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37" name="2 future times × 2 views × 7 × 7 = 196 tokens, 48-D">
            <a:extLst>
              <a:ext uri="{FF2B5EF4-FFF2-40B4-BE49-F238E27FC236}">
                <a16:creationId xmlns:a16="http://schemas.microsoft.com/office/drawing/2014/main" id="{E2DEB9D7-A54F-4647-AE5D-F7ADC8C1789B}"/>
              </a:ext>
            </a:extLst>
          </p:cNvPr>
          <p:cNvSpPr>
            <a:spLocks noGrp="1"/>
          </p:cNvSpPr>
          <p:nvPr/>
        </p:nvSpPr>
        <p:spPr>
          <a:xfrm>
            <a:off x="6099737" y="3189667"/>
            <a:ext cx="2668379" cy="139354"/>
          </a:xfrm>
          <a:prstGeom prst="rect">
            <a:avLst/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2 future times × 2 views × 7 × 7 = 196 tokens, 48-D</a:t>
            </a:r>
          </a:p>
        </p:txBody>
      </p:sp>
      <p:sp>
        <p:nvSpPr>
          <p:cNvPr id="538" name="diagram block">
            <a:extLst>
              <a:ext uri="{FF2B5EF4-FFF2-40B4-BE49-F238E27FC236}">
                <a16:creationId xmlns:a16="http://schemas.microsoft.com/office/drawing/2014/main" id="{56714E7B-E8F5-4909-9146-D507F88FDB31}"/>
              </a:ext>
            </a:extLst>
          </p:cNvPr>
          <p:cNvSpPr>
            <a:spLocks noGrp="1"/>
          </p:cNvSpPr>
          <p:nvPr/>
        </p:nvSpPr>
        <p:spPr>
          <a:xfrm>
            <a:off x="6079092" y="3427086"/>
            <a:ext cx="2719991" cy="283870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5161">
            <a:solidFill>
              <a:srgbClr val="F88CA0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39" name="L_st,z = mean_i KL(p^T(· | i) || p^S(· | i))">
            <a:extLst>
              <a:ext uri="{FF2B5EF4-FFF2-40B4-BE49-F238E27FC236}">
                <a16:creationId xmlns:a16="http://schemas.microsoft.com/office/drawing/2014/main" id="{7823E2BE-309D-4D30-B64D-54CEF04E3B3A}"/>
              </a:ext>
            </a:extLst>
          </p:cNvPr>
          <p:cNvSpPr>
            <a:spLocks noGrp="1"/>
          </p:cNvSpPr>
          <p:nvPr/>
        </p:nvSpPr>
        <p:spPr>
          <a:xfrm>
            <a:off x="6135866" y="3494182"/>
            <a:ext cx="2606443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74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st,z</a:t>
            </a: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1016" b="0" i="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mean</a:t>
            </a:r>
            <a:r>
              <a:rPr sz="74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16" b="0" i="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KL</a:t>
            </a: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(p</a:t>
            </a:r>
            <a:r>
              <a:rPr sz="742" b="0" i="1" baseline="27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(· | i) || p</a:t>
            </a:r>
            <a:r>
              <a:rPr sz="742" b="0" i="1" baseline="27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(· | i))</a:t>
            </a:r>
          </a:p>
        </p:txBody>
      </p:sp>
      <p:sp>
        <p:nvSpPr>
          <p:cNvPr id="540" name="8 local spatial neighbors + same-position temporal edge (same camera only).">
            <a:extLst>
              <a:ext uri="{FF2B5EF4-FFF2-40B4-BE49-F238E27FC236}">
                <a16:creationId xmlns:a16="http://schemas.microsoft.com/office/drawing/2014/main" id="{6536528F-9E25-4437-86D5-6662E5D290EF}"/>
              </a:ext>
            </a:extLst>
          </p:cNvPr>
          <p:cNvSpPr>
            <a:spLocks noGrp="1"/>
          </p:cNvSpPr>
          <p:nvPr/>
        </p:nvSpPr>
        <p:spPr>
          <a:xfrm>
            <a:off x="6058447" y="3803859"/>
            <a:ext cx="2745798" cy="2374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323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local spatial neighbors + same-position temporal edge (same camera only).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No cross-camera edges.</a:t>
            </a:r>
          </a:p>
        </p:txBody>
      </p:sp>
      <p:sp>
        <p:nvSpPr>
          <p:cNvPr id="541" name="diagram block">
            <a:extLst>
              <a:ext uri="{FF2B5EF4-FFF2-40B4-BE49-F238E27FC236}">
                <a16:creationId xmlns:a16="http://schemas.microsoft.com/office/drawing/2014/main" id="{41A26A57-EE88-4DCE-8FFD-73BA73C20FCB}"/>
              </a:ext>
            </a:extLst>
          </p:cNvPr>
          <p:cNvSpPr>
            <a:spLocks noGrp="1"/>
          </p:cNvSpPr>
          <p:nvPr/>
        </p:nvSpPr>
        <p:spPr>
          <a:xfrm>
            <a:off x="742335" y="4190954"/>
            <a:ext cx="7814169" cy="289031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5161">
            <a:solidFill>
              <a:srgbClr val="F66E8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42" name="L = αₐ (L_bin,a + βₐ L_temp,a) + λ α_z (L_bin,z + β_z L_st,z)">
            <a:extLst>
              <a:ext uri="{FF2B5EF4-FFF2-40B4-BE49-F238E27FC236}">
                <a16:creationId xmlns:a16="http://schemas.microsoft.com/office/drawing/2014/main" id="{1B2845FF-72FF-4C4C-993F-77CCB24E71FF}"/>
              </a:ext>
            </a:extLst>
          </p:cNvPr>
          <p:cNvSpPr>
            <a:spLocks noGrp="1"/>
          </p:cNvSpPr>
          <p:nvPr/>
        </p:nvSpPr>
        <p:spPr>
          <a:xfrm>
            <a:off x="1568139" y="4252890"/>
            <a:ext cx="6152239" cy="2167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225"/>
          </a:bodyPr>
          <a:lstStyle>
            <a:def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0" i="1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 = αₐ (</a:t>
            </a:r>
            <a:r>
              <a:rPr sz="1463" b="0" i="1" dirty="0" err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068" b="0" i="1" baseline="-23000" dirty="0" err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bin,a</a:t>
            </a:r>
            <a:r>
              <a:rPr sz="1463" b="0" i="1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+ βₐ </a:t>
            </a:r>
            <a:r>
              <a:rPr sz="1463" b="0" i="1" dirty="0" err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068" b="0" i="1" baseline="-23000" dirty="0" err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temp,a</a:t>
            </a:r>
            <a:r>
              <a:rPr sz="1463" b="0" i="1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) + λ α</a:t>
            </a:r>
            <a:r>
              <a:rPr sz="1068" b="0" i="1" baseline="-23000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1463" b="0" i="1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sz="1463" b="0" i="1" dirty="0" err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068" b="0" i="1" baseline="-23000" dirty="0" err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bin,z</a:t>
            </a:r>
            <a:r>
              <a:rPr sz="1463" b="0" i="1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+ β</a:t>
            </a:r>
            <a:r>
              <a:rPr sz="1068" b="0" i="1" baseline="-23000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1463" b="0" i="1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63" b="0" i="1" dirty="0" err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068" b="0" i="1" baseline="-23000" dirty="0" err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st,z</a:t>
            </a:r>
            <a:r>
              <a:rPr sz="1463" b="0" i="1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543" name="diagram block">
            <a:extLst>
              <a:ext uri="{FF2B5EF4-FFF2-40B4-BE49-F238E27FC236}">
                <a16:creationId xmlns:a16="http://schemas.microsoft.com/office/drawing/2014/main" id="{C56830D1-8EDE-4CCE-A670-AB505145D9BE}"/>
              </a:ext>
            </a:extLst>
          </p:cNvPr>
          <p:cNvSpPr>
            <a:spLocks noGrp="1"/>
          </p:cNvSpPr>
          <p:nvPr/>
        </p:nvSpPr>
        <p:spPr>
          <a:xfrm>
            <a:off x="308788" y="4541921"/>
            <a:ext cx="4227083" cy="247741"/>
          </a:xfrm>
          <a:prstGeom prst="roundRect">
            <a:avLst>
              <a:gd name="adj" fmla="val 10417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5DFF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44" name="T: frozen teacher. S: quantized student. Shared frozen statistics and tempe">
            <a:extLst>
              <a:ext uri="{FF2B5EF4-FFF2-40B4-BE49-F238E27FC236}">
                <a16:creationId xmlns:a16="http://schemas.microsoft.com/office/drawing/2014/main" id="{A00AAD90-7589-4D94-892A-11027C10C245}"/>
              </a:ext>
            </a:extLst>
          </p:cNvPr>
          <p:cNvSpPr>
            <a:spLocks noGrp="1"/>
          </p:cNvSpPr>
          <p:nvPr/>
        </p:nvSpPr>
        <p:spPr>
          <a:xfrm>
            <a:off x="344917" y="4578050"/>
            <a:ext cx="4154826" cy="175483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0975"/>
          </a:bodyPr>
          <a:lstStyle>
            <a:def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1" b="0" i="0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T: frozen teacher. S: quantized student. Shared frozen statistics and temperatures.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1" b="0" i="0" dirty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Train D and clipping ratios. Soft-bin anchors values, relation KL constrains structure.</a:t>
            </a:r>
          </a:p>
        </p:txBody>
      </p:sp>
      <p:sp>
        <p:nvSpPr>
          <p:cNvPr id="545" name="diagram block">
            <a:extLst>
              <a:ext uri="{FF2B5EF4-FFF2-40B4-BE49-F238E27FC236}">
                <a16:creationId xmlns:a16="http://schemas.microsoft.com/office/drawing/2014/main" id="{6C172A9F-5591-4C9C-B61B-C9D99E8CB389}"/>
              </a:ext>
            </a:extLst>
          </p:cNvPr>
          <p:cNvSpPr>
            <a:spLocks noGrp="1"/>
          </p:cNvSpPr>
          <p:nvPr/>
        </p:nvSpPr>
        <p:spPr>
          <a:xfrm>
            <a:off x="4737161" y="4541921"/>
            <a:ext cx="4113535" cy="247741"/>
          </a:xfrm>
          <a:prstGeom prst="roundRect">
            <a:avLst>
              <a:gd name="adj" fmla="val 10417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5DFF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46" name="Evidence: fixed-input fidelity. Rollout prediction and closed-loop gains aw">
            <a:extLst>
              <a:ext uri="{FF2B5EF4-FFF2-40B4-BE49-F238E27FC236}">
                <a16:creationId xmlns:a16="http://schemas.microsoft.com/office/drawing/2014/main" id="{4C20B761-9655-41AC-A877-4AC63BB2E1EE}"/>
              </a:ext>
            </a:extLst>
          </p:cNvPr>
          <p:cNvSpPr>
            <a:spLocks noGrp="1"/>
          </p:cNvSpPr>
          <p:nvPr/>
        </p:nvSpPr>
        <p:spPr>
          <a:xfrm>
            <a:off x="4778451" y="4583211"/>
            <a:ext cx="4030955" cy="165161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Evidence: fixed-input fidelity. Rollout prediction and closed-loop gains await validation.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KL refinement: current evidence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4">
            <a:extLst>
              <a:ext uri="{FF2B5EF4-FFF2-40B4-BE49-F238E27FC236}">
                <a16:creationId xmlns:a16="http://schemas.microsoft.com/office/drawing/2014/main" id="{CFEC2950-EA3F-4C2A-B4BC-003C01097588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Same held-out 40 cases × 2 seeds · fixed final80 checkp">
            <a:extLst>
              <a:ext uri="{FF2B5EF4-FFF2-40B4-BE49-F238E27FC236}">
                <a16:creationId xmlns:a16="http://schemas.microsoft.com/office/drawing/2014/main" id="{0821A2BB-E283-4417-9DF1-63F812B313CC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792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Same held-out 40 cases × 2 seeds · fixed final80 checkpoints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9A53C2F-7038-4A81-9837-9CF9D2CB05C0}"/>
              </a:ext>
            </a:extLst>
          </p:cNvPr>
          <p:cNvGraphicFramePr/>
          <p:nvPr/>
        </p:nvGraphicFramePr>
        <p:xfrm>
          <a:off x="609600" y="1362075"/>
          <a:ext cx="7924800" cy="17856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Refinement loss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NMSE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Temporal KL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relation KL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MSE + NMSE (historical)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0.031641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0.055378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Soft-bin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0.032330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0.053033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0.040418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0.006397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Soft-bin + relational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0.031438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0.054296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0.034485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0.006147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Adding relations: temporal KL −14.68%, latent relation ">
            <a:extLst>
              <a:ext uri="{FF2B5EF4-FFF2-40B4-BE49-F238E27FC236}">
                <a16:creationId xmlns:a16="http://schemas.microsoft.com/office/drawing/2014/main" id="{78A2CF9D-8CE6-44F8-B3B0-553F7C35E23D}"/>
              </a:ext>
            </a:extLst>
          </p:cNvPr>
          <p:cNvSpPr>
            <a:spLocks noGrp="1"/>
          </p:cNvSpPr>
          <p:nvPr/>
        </p:nvSpPr>
        <p:spPr>
          <a:xfrm>
            <a:off x="609600" y="3343275"/>
            <a:ext cx="7924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Adding relations: temporal KL −14.68%, latent relation KL −3.91%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Motor RMSE −2.76%, while latent NMSE rises 2.38% vs soft-bin</a:t>
            </a:r>
          </a:p>
        </p:txBody>
      </p:sp>
      <p:sp>
        <p:nvSpPr>
          <p:cNvPr id="8" name="Paired LIBERO+ evaluation is in progress; final success">
            <a:extLst>
              <a:ext uri="{FF2B5EF4-FFF2-40B4-BE49-F238E27FC236}">
                <a16:creationId xmlns:a16="http://schemas.microsoft.com/office/drawing/2014/main" id="{BB949A31-2612-493F-A278-2B1C7EA5FFA7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7924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B5444F"/>
                </a:solidFill>
                <a:latin typeface="Arial"/>
                <a:ea typeface="Arial"/>
                <a:cs typeface="Arial"/>
              </a:rPr>
              <a:t>LIBERO+ evaluation is </a:t>
            </a:r>
            <a:r>
              <a:rPr lang="en-US" sz="1725" b="1" dirty="0">
                <a:solidFill>
                  <a:srgbClr val="B5444F"/>
                </a:solidFill>
                <a:latin typeface="Arial"/>
                <a:ea typeface="Arial"/>
                <a:cs typeface="Arial"/>
              </a:rPr>
              <a:t>less effective</a:t>
            </a:r>
            <a:endParaRPr sz="1725" b="1" dirty="0">
              <a:solidFill>
                <a:srgbClr val="B5444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Potential contributions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5">
            <a:extLst>
              <a:ext uri="{FF2B5EF4-FFF2-40B4-BE49-F238E27FC236}">
                <a16:creationId xmlns:a16="http://schemas.microsoft.com/office/drawing/2014/main" id="{108EA697-04C7-4350-B015-F56168B176BE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01">
            <a:extLst>
              <a:ext uri="{FF2B5EF4-FFF2-40B4-BE49-F238E27FC236}">
                <a16:creationId xmlns:a16="http://schemas.microsoft.com/office/drawing/2014/main" id="{B7D68348-4934-48CE-B2AF-2048ABC5B630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Identify future-latent fidelity as a key quantization t">
            <a:extLst>
              <a:ext uri="{FF2B5EF4-FFF2-40B4-BE49-F238E27FC236}">
                <a16:creationId xmlns:a16="http://schemas.microsoft.com/office/drawing/2014/main" id="{8CF1897E-CC79-4F24-9B9B-1FCCD1C0DA33}"/>
              </a:ext>
            </a:extLst>
          </p:cNvPr>
          <p:cNvSpPr>
            <a:spLocks noGrp="1"/>
          </p:cNvSpPr>
          <p:nvPr/>
        </p:nvSpPr>
        <p:spPr>
          <a:xfrm>
            <a:off x="1219200" y="8763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Identify future-latent fidelity as a key quantization target</a:t>
            </a:r>
          </a:p>
        </p:txBody>
      </p:sp>
      <p:sp>
        <p:nvSpPr>
          <p:cNvPr id="7" name="Evidence: fixed-reader interventions link latent preser">
            <a:extLst>
              <a:ext uri="{FF2B5EF4-FFF2-40B4-BE49-F238E27FC236}">
                <a16:creationId xmlns:a16="http://schemas.microsoft.com/office/drawing/2014/main" id="{6D1A471D-42D7-49C0-BB73-DCBA9A1A1E9F}"/>
              </a:ext>
            </a:extLst>
          </p:cNvPr>
          <p:cNvSpPr>
            <a:spLocks noGrp="1"/>
          </p:cNvSpPr>
          <p:nvPr/>
        </p:nvSpPr>
        <p:spPr>
          <a:xfrm>
            <a:off x="1219200" y="12287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Evidence: fixed-reader interventions link latent preservation to mean action fidelity.</a:t>
            </a:r>
          </a:p>
        </p:txBody>
      </p:sp>
      <p:sp>
        <p:nvSpPr>
          <p:cNvPr id="8" name="02">
            <a:extLst>
              <a:ext uri="{FF2B5EF4-FFF2-40B4-BE49-F238E27FC236}">
                <a16:creationId xmlns:a16="http://schemas.microsoft.com/office/drawing/2014/main" id="{9C4A07F1-9A5B-43D0-9759-BD313EC41EE2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Develop latent + action relational distillation for WAM">
            <a:extLst>
              <a:ext uri="{FF2B5EF4-FFF2-40B4-BE49-F238E27FC236}">
                <a16:creationId xmlns:a16="http://schemas.microsoft.com/office/drawing/2014/main" id="{3AFFE3DE-44BD-400D-9D57-33A31DD5902E}"/>
              </a:ext>
            </a:extLst>
          </p:cNvPr>
          <p:cNvSpPr>
            <a:spLocks noGrp="1"/>
          </p:cNvSpPr>
          <p:nvPr/>
        </p:nvSpPr>
        <p:spPr>
          <a:xfrm>
            <a:off x="1219200" y="17907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Develop latent + action relational </a:t>
            </a:r>
            <a:r>
              <a:rPr lang="en-US"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KL</a:t>
            </a:r>
            <a:r>
              <a:rPr lang="en-US" dirty="0"/>
              <a:t> </a:t>
            </a: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distillation for WAMs</a:t>
            </a:r>
          </a:p>
        </p:txBody>
      </p:sp>
      <p:sp>
        <p:nvSpPr>
          <p:cNvPr id="10" name="Aim: preserve value and structure, and better anticipat">
            <a:extLst>
              <a:ext uri="{FF2B5EF4-FFF2-40B4-BE49-F238E27FC236}">
                <a16:creationId xmlns:a16="http://schemas.microsoft.com/office/drawing/2014/main" id="{EA5A2CFB-6725-4FF8-A0EA-49A026D8048C}"/>
              </a:ext>
            </a:extLst>
          </p:cNvPr>
          <p:cNvSpPr>
            <a:spLocks noGrp="1"/>
          </p:cNvSpPr>
          <p:nvPr/>
        </p:nvSpPr>
        <p:spPr>
          <a:xfrm>
            <a:off x="1219200" y="21431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Aim: preserve value and structure, and better anticipate rollout error.</a:t>
            </a:r>
          </a:p>
        </p:txBody>
      </p:sp>
      <p:sp>
        <p:nvSpPr>
          <p:cNvPr id="11" name="03">
            <a:extLst>
              <a:ext uri="{FF2B5EF4-FFF2-40B4-BE49-F238E27FC236}">
                <a16:creationId xmlns:a16="http://schemas.microsoft.com/office/drawing/2014/main" id="{4E883789-CFA6-428B-A362-71A780191083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Build a VQ framework with competitive performance at si">
            <a:extLst>
              <a:ext uri="{FF2B5EF4-FFF2-40B4-BE49-F238E27FC236}">
                <a16:creationId xmlns:a16="http://schemas.microsoft.com/office/drawing/2014/main" id="{88CB98DB-9DE5-4235-A5CC-05B8D4C203D9}"/>
              </a:ext>
            </a:extLst>
          </p:cNvPr>
          <p:cNvSpPr>
            <a:spLocks noGrp="1"/>
          </p:cNvSpPr>
          <p:nvPr/>
        </p:nvSpPr>
        <p:spPr>
          <a:xfrm>
            <a:off x="1219200" y="2705100"/>
            <a:ext cx="758444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Build a </a:t>
            </a:r>
            <a:r>
              <a:rPr lang="en-US"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WAM </a:t>
            </a: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VQ framework with competitive performance at similar </a:t>
            </a:r>
            <a:r>
              <a:rPr sz="1725" b="1" dirty="0" err="1">
                <a:solidFill>
                  <a:srgbClr val="192C45"/>
                </a:solidFill>
                <a:latin typeface="Arial"/>
                <a:ea typeface="Arial"/>
                <a:cs typeface="Arial"/>
              </a:rPr>
              <a:t>bpw</a:t>
            </a:r>
            <a:endParaRPr sz="1725" b="1" dirty="0">
              <a:solidFill>
                <a:srgbClr val="192C4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Demonstrated on Fast-WAM and Cosmos Policy; “first” req">
            <a:extLst>
              <a:ext uri="{FF2B5EF4-FFF2-40B4-BE49-F238E27FC236}">
                <a16:creationId xmlns:a16="http://schemas.microsoft.com/office/drawing/2014/main" id="{C45C1403-C7AB-434E-911F-C7D4CA3F5BE9}"/>
              </a:ext>
            </a:extLst>
          </p:cNvPr>
          <p:cNvSpPr>
            <a:spLocks noGrp="1"/>
          </p:cNvSpPr>
          <p:nvPr/>
        </p:nvSpPr>
        <p:spPr>
          <a:xfrm>
            <a:off x="1219200" y="30575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Demonstrated on Fast-WAM and Cosmos Policy</a:t>
            </a:r>
            <a:r>
              <a:rPr lang="en-US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expand to </a:t>
            </a:r>
            <a:r>
              <a:rPr lang="en-US" altLang="zh-CN" dirty="0" err="1"/>
              <a:t>Lingbot</a:t>
            </a:r>
            <a:r>
              <a:rPr lang="en-US" altLang="zh-CN" dirty="0"/>
              <a:t> VA</a:t>
            </a:r>
            <a:endParaRPr sz="1500" b="0" dirty="0">
              <a:solidFill>
                <a:srgbClr val="64718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04">
            <a:extLst>
              <a:ext uri="{FF2B5EF4-FFF2-40B4-BE49-F238E27FC236}">
                <a16:creationId xmlns:a16="http://schemas.microsoft.com/office/drawing/2014/main" id="{8C85AD22-7EDA-40D0-B472-0C412634856C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Deliver native kernel acceleration for the VQ framework">
            <a:extLst>
              <a:ext uri="{FF2B5EF4-FFF2-40B4-BE49-F238E27FC236}">
                <a16:creationId xmlns:a16="http://schemas.microsoft.com/office/drawing/2014/main" id="{8EC93EB3-D5B4-4A5B-8CC2-FD7799875B5C}"/>
              </a:ext>
            </a:extLst>
          </p:cNvPr>
          <p:cNvSpPr>
            <a:spLocks noGrp="1"/>
          </p:cNvSpPr>
          <p:nvPr/>
        </p:nvSpPr>
        <p:spPr>
          <a:xfrm>
            <a:off x="1219200" y="36195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Deliver native kernel acceleration for the VQ framework</a:t>
            </a:r>
          </a:p>
        </p:txBody>
      </p:sp>
      <p:sp>
        <p:nvSpPr>
          <p:cNvPr id="16" name="Planned contribution · not implemented yet; no native s">
            <a:extLst>
              <a:ext uri="{FF2B5EF4-FFF2-40B4-BE49-F238E27FC236}">
                <a16:creationId xmlns:a16="http://schemas.microsoft.com/office/drawing/2014/main" id="{27B3DB6B-892C-40B4-A6EB-38A68FB6B20A}"/>
              </a:ext>
            </a:extLst>
          </p:cNvPr>
          <p:cNvSpPr>
            <a:spLocks noGrp="1"/>
          </p:cNvSpPr>
          <p:nvPr/>
        </p:nvSpPr>
        <p:spPr>
          <a:xfrm>
            <a:off x="1219200" y="39719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not implemented yet; 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6">
            <a:extLst>
              <a:ext uri="{FF2B5EF4-FFF2-40B4-BE49-F238E27FC236}">
                <a16:creationId xmlns:a16="http://schemas.microsoft.com/office/drawing/2014/main" id="{CEF0AC16-EF2A-415B-A3E5-8F6732FA1B73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01">
            <a:extLst>
              <a:ext uri="{FF2B5EF4-FFF2-40B4-BE49-F238E27FC236}">
                <a16:creationId xmlns:a16="http://schemas.microsoft.com/office/drawing/2014/main" id="{305A9A48-284B-4983-9357-09DB5B76AC7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fine KL against closed-loop outcomes">
            <a:extLst>
              <a:ext uri="{FF2B5EF4-FFF2-40B4-BE49-F238E27FC236}">
                <a16:creationId xmlns:a16="http://schemas.microsoft.com/office/drawing/2014/main" id="{AEAF0434-A82E-4960-B4C0-5509583ED783}"/>
              </a:ext>
            </a:extLst>
          </p:cNvPr>
          <p:cNvSpPr>
            <a:spLocks noGrp="1"/>
          </p:cNvSpPr>
          <p:nvPr/>
        </p:nvSpPr>
        <p:spPr>
          <a:xfrm>
            <a:off x="1219200" y="81915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Refine KL against closed-loop outcomes</a:t>
            </a:r>
          </a:p>
        </p:txBody>
      </p:sp>
      <p:sp>
        <p:nvSpPr>
          <p:cNvPr id="7" name="Finish the paired run; inspect failure traces and impro">
            <a:extLst>
              <a:ext uri="{FF2B5EF4-FFF2-40B4-BE49-F238E27FC236}">
                <a16:creationId xmlns:a16="http://schemas.microsoft.com/office/drawing/2014/main" id="{8DD053D8-9C33-4327-B94A-C845097B47EE}"/>
              </a:ext>
            </a:extLst>
          </p:cNvPr>
          <p:cNvSpPr>
            <a:spLocks noGrp="1"/>
          </p:cNvSpPr>
          <p:nvPr/>
        </p:nvSpPr>
        <p:spPr>
          <a:xfrm>
            <a:off x="1219200" y="117157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inspect failure traces and improve loss balance.</a:t>
            </a:r>
          </a:p>
        </p:txBody>
      </p:sp>
      <p:sp>
        <p:nvSpPr>
          <p:cNvPr id="8" name="02">
            <a:extLst>
              <a:ext uri="{FF2B5EF4-FFF2-40B4-BE49-F238E27FC236}">
                <a16:creationId xmlns:a16="http://schemas.microsoft.com/office/drawing/2014/main" id="{593C0B44-80C2-45DC-A90A-BE905D1DADFC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un controlled ablations">
            <a:extLst>
              <a:ext uri="{FF2B5EF4-FFF2-40B4-BE49-F238E27FC236}">
                <a16:creationId xmlns:a16="http://schemas.microsoft.com/office/drawing/2014/main" id="{BE4F7C39-5091-47CC-BF67-E7222212992B}"/>
              </a:ext>
            </a:extLst>
          </p:cNvPr>
          <p:cNvSpPr>
            <a:spLocks noGrp="1"/>
          </p:cNvSpPr>
          <p:nvPr/>
        </p:nvSpPr>
        <p:spPr>
          <a:xfrm>
            <a:off x="1219200" y="1609725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Run controlled ablations</a:t>
            </a:r>
          </a:p>
        </p:txBody>
      </p:sp>
      <p:sp>
        <p:nvSpPr>
          <p:cNvPr id="10" name="Soft-bin / temporal / spatial terms; action–latent bala">
            <a:extLst>
              <a:ext uri="{FF2B5EF4-FFF2-40B4-BE49-F238E27FC236}">
                <a16:creationId xmlns:a16="http://schemas.microsoft.com/office/drawing/2014/main" id="{17698A78-DC30-40E2-8305-7E85CB95C311}"/>
              </a:ext>
            </a:extLst>
          </p:cNvPr>
          <p:cNvSpPr>
            <a:spLocks noGrp="1"/>
          </p:cNvSpPr>
          <p:nvPr/>
        </p:nvSpPr>
        <p:spPr>
          <a:xfrm>
            <a:off x="1219200" y="1962150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Soft-bin / temporal / spatial terms; action–latent balance; </a:t>
            </a:r>
            <a:r>
              <a:rPr lang="en-US"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per channel/direct</a:t>
            </a: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 clipping.</a:t>
            </a:r>
          </a:p>
        </p:txBody>
      </p:sp>
      <p:sp>
        <p:nvSpPr>
          <p:cNvPr id="11" name="03">
            <a:extLst>
              <a:ext uri="{FF2B5EF4-FFF2-40B4-BE49-F238E27FC236}">
                <a16:creationId xmlns:a16="http://schemas.microsoft.com/office/drawing/2014/main" id="{F6A145ED-F72E-4811-8B19-7B384A391913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Expand models and benchmarks">
            <a:extLst>
              <a:ext uri="{FF2B5EF4-FFF2-40B4-BE49-F238E27FC236}">
                <a16:creationId xmlns:a16="http://schemas.microsoft.com/office/drawing/2014/main" id="{A6D15AE7-E171-4E42-929E-F7A01F3B78E5}"/>
              </a:ext>
            </a:extLst>
          </p:cNvPr>
          <p:cNvSpPr>
            <a:spLocks noGrp="1"/>
          </p:cNvSpPr>
          <p:nvPr/>
        </p:nvSpPr>
        <p:spPr>
          <a:xfrm>
            <a:off x="1219200" y="24003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Expand models and benchmarks</a:t>
            </a:r>
          </a:p>
        </p:txBody>
      </p:sp>
      <p:sp>
        <p:nvSpPr>
          <p:cNvPr id="13" name="Cosmos Policy on LIBERO / LIBERO+; LingBot-VA2 on RoboT">
            <a:extLst>
              <a:ext uri="{FF2B5EF4-FFF2-40B4-BE49-F238E27FC236}">
                <a16:creationId xmlns:a16="http://schemas.microsoft.com/office/drawing/2014/main" id="{9CFD0449-E907-4C35-A204-FCEAADDAE1DA}"/>
              </a:ext>
            </a:extLst>
          </p:cNvPr>
          <p:cNvSpPr>
            <a:spLocks noGrp="1"/>
          </p:cNvSpPr>
          <p:nvPr/>
        </p:nvSpPr>
        <p:spPr>
          <a:xfrm>
            <a:off x="1219200" y="27527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 err="1">
                <a:solidFill>
                  <a:srgbClr val="647184"/>
                </a:solidFill>
                <a:latin typeface="Arial"/>
                <a:ea typeface="Arial"/>
                <a:cs typeface="Arial"/>
              </a:rPr>
              <a:t>FastWAM</a:t>
            </a:r>
            <a:r>
              <a:rPr lang="en-US"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/</a:t>
            </a: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Cosmos Policy on LIBERO / LIBERO+; LingBot-VA2 on </a:t>
            </a:r>
            <a:r>
              <a:rPr sz="1500" b="0" dirty="0" err="1">
                <a:solidFill>
                  <a:srgbClr val="647184"/>
                </a:solidFill>
                <a:latin typeface="Arial"/>
                <a:ea typeface="Arial"/>
                <a:cs typeface="Arial"/>
              </a:rPr>
              <a:t>RoboTwin</a:t>
            </a: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 2.0.</a:t>
            </a:r>
          </a:p>
        </p:txBody>
      </p:sp>
      <p:sp>
        <p:nvSpPr>
          <p:cNvPr id="14" name="04">
            <a:extLst>
              <a:ext uri="{FF2B5EF4-FFF2-40B4-BE49-F238E27FC236}">
                <a16:creationId xmlns:a16="http://schemas.microsoft.com/office/drawing/2014/main" id="{9D4437E9-FB78-4690-8601-DB7B0E1C793C}"/>
              </a:ext>
            </a:extLst>
          </p:cNvPr>
          <p:cNvSpPr>
            <a:spLocks noGrp="1"/>
          </p:cNvSpPr>
          <p:nvPr/>
        </p:nvSpPr>
        <p:spPr>
          <a:xfrm>
            <a:off x="609600" y="3190875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Validate on a real robot and implement native accelerat">
            <a:extLst>
              <a:ext uri="{FF2B5EF4-FFF2-40B4-BE49-F238E27FC236}">
                <a16:creationId xmlns:a16="http://schemas.microsoft.com/office/drawing/2014/main" id="{C6F0A0FD-D623-48A0-AAAE-EB969088F305}"/>
              </a:ext>
            </a:extLst>
          </p:cNvPr>
          <p:cNvSpPr>
            <a:spLocks noGrp="1"/>
          </p:cNvSpPr>
          <p:nvPr/>
        </p:nvSpPr>
        <p:spPr>
          <a:xfrm>
            <a:off x="1219200" y="3190875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Validate on a real robot and implement native acceleration</a:t>
            </a:r>
          </a:p>
        </p:txBody>
      </p:sp>
      <p:sp>
        <p:nvSpPr>
          <p:cNvPr id="16" name="Measure task success and end-to-end latency; establish ">
            <a:extLst>
              <a:ext uri="{FF2B5EF4-FFF2-40B4-BE49-F238E27FC236}">
                <a16:creationId xmlns:a16="http://schemas.microsoft.com/office/drawing/2014/main" id="{EBF3E6B8-2144-4665-9A32-83C70BBE2CC7}"/>
              </a:ext>
            </a:extLst>
          </p:cNvPr>
          <p:cNvSpPr>
            <a:spLocks noGrp="1"/>
          </p:cNvSpPr>
          <p:nvPr/>
        </p:nvSpPr>
        <p:spPr>
          <a:xfrm>
            <a:off x="1219200" y="3543300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Measure task success and end-to-end latency; establish the actual deployment gain.</a:t>
            </a:r>
          </a:p>
        </p:txBody>
      </p:sp>
      <p:sp>
        <p:nvSpPr>
          <p:cNvPr id="17" name="Hope to catch CVPR :)">
            <a:extLst>
              <a:ext uri="{FF2B5EF4-FFF2-40B4-BE49-F238E27FC236}">
                <a16:creationId xmlns:a16="http://schemas.microsoft.com/office/drawing/2014/main" id="{2CF3078A-33AE-451A-984C-806ADE990C82}"/>
              </a:ext>
            </a:extLst>
          </p:cNvPr>
          <p:cNvSpPr>
            <a:spLocks noGrp="1"/>
          </p:cNvSpPr>
          <p:nvPr/>
        </p:nvSpPr>
        <p:spPr>
          <a:xfrm>
            <a:off x="1219200" y="4333875"/>
            <a:ext cx="7315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Hope to catch CVPR :)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000BB-2B24-4889-8C0B-A42949ECA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2250" y="2219325"/>
            <a:ext cx="5905500" cy="952500"/>
          </a:xfrm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Thankuuu</a:t>
            </a:r>
            <a:endParaRPr sz="30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5989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protocol and bit-budget scope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8">
            <a:extLst>
              <a:ext uri="{FF2B5EF4-FFF2-40B4-BE49-F238E27FC236}">
                <a16:creationId xmlns:a16="http://schemas.microsoft.com/office/drawing/2014/main" id="{E553F4E8-1507-45A2-91E3-975BB0F26FC3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56A2AC1-8433-49C8-818C-C40D39F5ECE0}"/>
              </a:ext>
            </a:extLst>
          </p:cNvPr>
          <p:cNvGraphicFramePr/>
          <p:nvPr/>
        </p:nvGraphicFramePr>
        <p:xfrm>
          <a:off x="609600" y="981075"/>
          <a:ext cx="7924800" cy="274510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Fast-WAM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Cosmos Policy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Closed-loop cohort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 × 7 × 10 = 280 variants / arm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Same 280-variant protocol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Sampler / chunk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10 video + 10 action steps; execute 10/32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 denoising steps; execute 16/16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Target weights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614 Linear layers; 6.016B weights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280 Linear layers; 1.762B weights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VQ encoding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d4, 2 × K256 BF16 books, B32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Same encoding family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Execution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Decoded BF16; fake A4; BF16 KV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Decoded BF16; fake A4; BF16 KV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Equivalent bpw = encoded payload bytes × 8 / target wei">
            <a:extLst>
              <a:ext uri="{FF2B5EF4-FFF2-40B4-BE49-F238E27FC236}">
                <a16:creationId xmlns:a16="http://schemas.microsoft.com/office/drawing/2014/main" id="{7F5AD04A-3985-40A7-BDCE-DCC19722861E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792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Equivalent bpw = encoded payload bytes × 8 / target weight count</a:t>
            </a:r>
          </a:p>
        </p:txBody>
      </p:sp>
      <p:sp>
        <p:nvSpPr>
          <p:cNvPr id="7" name="Includes quantizer metadata where measured; excludes ac">
            <a:extLst>
              <a:ext uri="{FF2B5EF4-FFF2-40B4-BE49-F238E27FC236}">
                <a16:creationId xmlns:a16="http://schemas.microsoft.com/office/drawing/2014/main" id="{7A315053-C4DB-414E-A876-4BFE2F0F7746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79248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Includes quantizer metadata where measured; excludes activations, KV and non-target model weights.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Encoded bpw is not runtime VRAM. Fast-WAM rotation baselines use a different native S4 path.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C80 activation refinements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9">
            <a:extLst>
              <a:ext uri="{FF2B5EF4-FFF2-40B4-BE49-F238E27FC236}">
                <a16:creationId xmlns:a16="http://schemas.microsoft.com/office/drawing/2014/main" id="{9E32FC7B-5329-4C38-A479-C5A9E8CFA84A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BAB3D8E-ED38-4824-8CC3-8F3BDA0833BA}"/>
              </a:ext>
            </a:extLst>
          </p:cNvPr>
          <p:cNvGraphicFramePr/>
          <p:nvPr/>
        </p:nvGraphicFramePr>
        <p:xfrm>
          <a:off x="609600" y="1057275"/>
          <a:ext cx="7924800" cy="2938056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NMSE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Closed-loop successes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 ρ1.5 baseline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0.044297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0.060877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206/280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Clip-only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0.043848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0.054848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207/280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B32 scaling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0.043987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0.054152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Not evaluated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Joint VQ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0.041847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0.048973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202/280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Per-channel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0.031641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0.055378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203/280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Joint VQ + per-channel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0.032668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0.048842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Not evaluated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Per-channel scaling substantially improves motor fideli">
            <a:extLst>
              <a:ext uri="{FF2B5EF4-FFF2-40B4-BE49-F238E27FC236}">
                <a16:creationId xmlns:a16="http://schemas.microsoft.com/office/drawing/2014/main" id="{949242AC-9C0F-45DA-A7B8-503F8BD1F1FF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7924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Per-channel scaling substantially improves motor fidelity.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Joint optimization and latent fidelity trade-offs still need closed-loop explanation.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execution cost and kernel work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20">
            <a:extLst>
              <a:ext uri="{FF2B5EF4-FFF2-40B4-BE49-F238E27FC236}">
                <a16:creationId xmlns:a16="http://schemas.microsoft.com/office/drawing/2014/main" id="{D78FFEF0-8EA2-44EA-9A54-A1E7A532DEA9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1F7C194-B000-43D1-91D5-790E40445C6C}"/>
              </a:ext>
            </a:extLst>
          </p:cNvPr>
          <p:cNvGraphicFramePr/>
          <p:nvPr/>
        </p:nvGraphicFramePr>
        <p:xfrm>
          <a:off x="609600" y="1066800"/>
          <a:ext cx="7924800" cy="220980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 / implementation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Warm full-query mean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Fast-WAM C80 clip / joint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4.99 s / 4.96 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Decoded BF16 + batched H128 + fake A4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Fast-WAM per-channel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4.91 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Cached BF16 compensated weights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Cosmos BF16 / SpinQuant / VQ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0.594 / 1.057 / 10.042 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VQ path still uses block-wise H128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Native VQ speedup is not implemented">
            <a:extLst>
              <a:ext uri="{FF2B5EF4-FFF2-40B4-BE49-F238E27FC236}">
                <a16:creationId xmlns:a16="http://schemas.microsoft.com/office/drawing/2014/main" id="{403AED75-D17F-42AA-8F0A-CC2F339B5213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5444F"/>
                </a:solidFill>
                <a:latin typeface="Arial"/>
                <a:ea typeface="Arial"/>
                <a:cs typeface="Arial"/>
              </a:rPr>
              <a:t>Native VQ speedup is not implemented</a:t>
            </a:r>
          </a:p>
        </p:txBody>
      </p:sp>
      <p:sp>
        <p:nvSpPr>
          <p:cNvPr id="7" name="Profile transform / decoding costs and connect batched ">
            <a:extLst>
              <a:ext uri="{FF2B5EF4-FFF2-40B4-BE49-F238E27FC236}">
                <a16:creationId xmlns:a16="http://schemas.microsoft.com/office/drawing/2014/main" id="{FC369603-515C-4EDD-8B0A-EE6196FD0747}"/>
              </a:ext>
            </a:extLst>
          </p:cNvPr>
          <p:cNvSpPr>
            <a:spLocks noGrp="1"/>
          </p:cNvSpPr>
          <p:nvPr/>
        </p:nvSpPr>
        <p:spPr>
          <a:xfrm>
            <a:off x="609600" y="38862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Profile transform / decoding costs and connect batched transforms.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Develop the native VQ path; measure end-to-end latency and memory.</a:t>
            </a:r>
          </a:p>
        </p:txBody>
      </p:sp>
      <p:sp>
        <p:nvSpPr>
          <p:cNvPr id="8" name="Different rollout trajectories yield different query co">
            <a:extLst>
              <a:ext uri="{FF2B5EF4-FFF2-40B4-BE49-F238E27FC236}">
                <a16:creationId xmlns:a16="http://schemas.microsoft.com/office/drawing/2014/main" id="{A12EA68A-7AA4-4409-8B89-FFB019343171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Different rollout trajectories yield different query counts; these means are not paired latency benchmarks.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method figure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21">
            <a:extLst>
              <a:ext uri="{FF2B5EF4-FFF2-40B4-BE49-F238E27FC236}">
                <a16:creationId xmlns:a16="http://schemas.microsoft.com/office/drawing/2014/main" id="{47D8878E-FE92-4FF6-827D-FC049027EACB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pSp>
        <p:nvGrpSpPr>
          <p:cNvPr id="5" name="Reviewed editable figure, Times New Roman"/>
          <p:cNvGrpSpPr/>
          <p:nvPr/>
        </p:nvGrpSpPr>
        <p:grpSpPr>
          <a:xfrm>
            <a:off x="1254830" y="742950"/>
            <a:ext cx="6634340" cy="3733800"/>
            <a:chOff x="257175" y="0"/>
            <a:chExt cx="8629650" cy="4856759"/>
          </a:xfrm>
        </p:grpSpPr>
        <p:sp>
          <p:nvSpPr>
            <p:cNvPr id="6" name="diagram block">
              <a:extLst>
                <a:ext uri="{FF2B5EF4-FFF2-40B4-BE49-F238E27FC236}">
                  <a16:creationId xmlns:a16="http://schemas.microsoft.com/office/drawing/2014/main" id="{E571C2F1-2757-43E3-9203-6C0DC83C87EA}"/>
                </a:ext>
              </a:extLst>
            </p:cNvPr>
            <p:cNvSpPr>
              <a:spLocks noGrp="1"/>
            </p:cNvSpPr>
            <p:nvPr/>
          </p:nvSpPr>
          <p:spPr>
            <a:xfrm>
              <a:off x="277820" y="20645"/>
              <a:ext cx="3643859" cy="3452892"/>
            </a:xfrm>
            <a:prstGeom prst="roundRect">
              <a:avLst>
                <a:gd name="adj" fmla="val 1196"/>
              </a:avLst>
            </a:prstGeom>
            <a:solidFill>
              <a:srgbClr val="FFFFFF"/>
            </a:solidFill>
            <a:ln w="8774">
              <a:solidFill>
                <a:srgbClr val="061A3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7" name="diagram block">
              <a:extLst>
                <a:ext uri="{FF2B5EF4-FFF2-40B4-BE49-F238E27FC236}">
                  <a16:creationId xmlns:a16="http://schemas.microsoft.com/office/drawing/2014/main" id="{45CB4CA1-B59B-470C-A24D-BDE794C5FBD7}"/>
                </a:ext>
              </a:extLst>
            </p:cNvPr>
            <p:cNvSpPr>
              <a:spLocks noGrp="1"/>
            </p:cNvSpPr>
            <p:nvPr/>
          </p:nvSpPr>
          <p:spPr>
            <a:xfrm>
              <a:off x="3962970" y="20645"/>
              <a:ext cx="2467089" cy="3452892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 w="8774">
              <a:solidFill>
                <a:srgbClr val="061A3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8" name="diagram block">
              <a:extLst>
                <a:ext uri="{FF2B5EF4-FFF2-40B4-BE49-F238E27FC236}">
                  <a16:creationId xmlns:a16="http://schemas.microsoft.com/office/drawing/2014/main" id="{80AAA7B3-5953-4862-B7B7-B8677830D394}"/>
                </a:ext>
              </a:extLst>
            </p:cNvPr>
            <p:cNvSpPr>
              <a:spLocks noGrp="1"/>
            </p:cNvSpPr>
            <p:nvPr/>
          </p:nvSpPr>
          <p:spPr>
            <a:xfrm>
              <a:off x="6466188" y="20645"/>
              <a:ext cx="2399992" cy="3452892"/>
            </a:xfrm>
            <a:prstGeom prst="roundRect">
              <a:avLst>
                <a:gd name="adj" fmla="val 1720"/>
              </a:avLst>
            </a:prstGeom>
            <a:solidFill>
              <a:srgbClr val="FFFFFF"/>
            </a:solidFill>
            <a:ln w="8774">
              <a:solidFill>
                <a:srgbClr val="061A3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9" name="(a) Latent + action supervision">
              <a:extLst>
                <a:ext uri="{FF2B5EF4-FFF2-40B4-BE49-F238E27FC236}">
                  <a16:creationId xmlns:a16="http://schemas.microsoft.com/office/drawing/2014/main" id="{75C02293-0AB1-4AF6-B098-4837DB7B4EAE}"/>
                </a:ext>
              </a:extLst>
            </p:cNvPr>
            <p:cNvSpPr>
              <a:spLocks noGrp="1"/>
            </p:cNvSpPr>
            <p:nvPr/>
          </p:nvSpPr>
          <p:spPr>
            <a:xfrm>
              <a:off x="344917" y="72258"/>
              <a:ext cx="3499344" cy="19096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(a) Latent + action supervision</a:t>
              </a:r>
            </a:p>
          </p:txBody>
        </p:sp>
        <p:sp>
          <p:nvSpPr>
            <p:cNvPr id="10" name="(b) Microscaling additive VQ weights">
              <a:extLst>
                <a:ext uri="{FF2B5EF4-FFF2-40B4-BE49-F238E27FC236}">
                  <a16:creationId xmlns:a16="http://schemas.microsoft.com/office/drawing/2014/main" id="{85FE1446-AA53-4EC8-8185-1EA6128E884E}"/>
                </a:ext>
              </a:extLst>
            </p:cNvPr>
            <p:cNvSpPr>
              <a:spLocks noGrp="1"/>
            </p:cNvSpPr>
            <p:nvPr/>
          </p:nvSpPr>
          <p:spPr>
            <a:xfrm>
              <a:off x="4030066" y="72258"/>
              <a:ext cx="2343218" cy="19096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(b) Microscaling additive VQ weights</a:t>
              </a:r>
            </a:p>
          </p:txBody>
        </p:sp>
        <p:sp>
          <p:nvSpPr>
            <p:cNvPr id="11" name="(c) Per-channel activation scaling + clipping">
              <a:extLst>
                <a:ext uri="{FF2B5EF4-FFF2-40B4-BE49-F238E27FC236}">
                  <a16:creationId xmlns:a16="http://schemas.microsoft.com/office/drawing/2014/main" id="{66B4D71F-B4F6-4533-9A30-174D9B65FA14}"/>
                </a:ext>
              </a:extLst>
            </p:cNvPr>
            <p:cNvSpPr>
              <a:spLocks noGrp="1"/>
            </p:cNvSpPr>
            <p:nvPr/>
          </p:nvSpPr>
          <p:spPr>
            <a:xfrm>
              <a:off x="6517800" y="82580"/>
              <a:ext cx="2307089" cy="170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(c) Per-channel activation scaling + clipping</a:t>
              </a:r>
            </a:p>
          </p:txBody>
        </p:sp>
        <p:sp>
          <p:nvSpPr>
            <p:cNvPr id="12" name="diagram block">
              <a:extLst>
                <a:ext uri="{FF2B5EF4-FFF2-40B4-BE49-F238E27FC236}">
                  <a16:creationId xmlns:a16="http://schemas.microsoft.com/office/drawing/2014/main" id="{59DF82B1-A8F7-4CC1-BF62-B8B521AE9368}"/>
                </a:ext>
              </a:extLst>
            </p:cNvPr>
            <p:cNvSpPr>
              <a:spLocks noGrp="1"/>
            </p:cNvSpPr>
            <p:nvPr/>
          </p:nvSpPr>
          <p:spPr>
            <a:xfrm>
              <a:off x="1067495" y="294193"/>
              <a:ext cx="2028381" cy="1357415"/>
            </a:xfrm>
            <a:prstGeom prst="roundRect">
              <a:avLst>
                <a:gd name="adj" fmla="val 2662"/>
              </a:avLst>
            </a:prstGeom>
            <a:gradFill>
              <a:gsLst>
                <a:gs pos="0">
                  <a:srgbClr val="D9EFFF"/>
                </a:gs>
                <a:gs pos="100000">
                  <a:srgbClr val="EEF8FF"/>
                </a:gs>
              </a:gsLst>
              <a:lin ang="5400000"/>
            </a:gradFill>
            <a:ln w="5161">
              <a:noFill/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3" name="diagram block">
              <a:extLst>
                <a:ext uri="{FF2B5EF4-FFF2-40B4-BE49-F238E27FC236}">
                  <a16:creationId xmlns:a16="http://schemas.microsoft.com/office/drawing/2014/main" id="{72CF882A-B2E3-4880-815D-1D785EFD268E}"/>
                </a:ext>
              </a:extLst>
            </p:cNvPr>
            <p:cNvSpPr>
              <a:spLocks noGrp="1"/>
            </p:cNvSpPr>
            <p:nvPr/>
          </p:nvSpPr>
          <p:spPr>
            <a:xfrm>
              <a:off x="1067495" y="1677414"/>
              <a:ext cx="2028381" cy="1476124"/>
            </a:xfrm>
            <a:prstGeom prst="roundRect">
              <a:avLst>
                <a:gd name="adj" fmla="val 2448"/>
              </a:avLst>
            </a:prstGeom>
            <a:gradFill>
              <a:gsLst>
                <a:gs pos="0">
                  <a:srgbClr val="FFE2DC"/>
                </a:gs>
                <a:gs pos="100000">
                  <a:srgbClr val="FFF0EA"/>
                </a:gs>
              </a:gsLst>
              <a:lin ang="5400000"/>
            </a:gradFill>
            <a:ln w="5161">
              <a:noFill/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14" name="native PowerPoint connector">
              <a:extLst>
                <a:ext uri="{FF2B5EF4-FFF2-40B4-BE49-F238E27FC236}">
                  <a16:creationId xmlns:a16="http://schemas.microsoft.com/office/drawing/2014/main" id="{504F51EA-B5C4-4364-B80C-D1E4D8C89F14}"/>
                </a:ext>
              </a:extLst>
            </p:cNvPr>
            <p:cNvCxnSpPr/>
            <p:nvPr/>
          </p:nvCxnSpPr>
          <p:spPr>
            <a:xfrm>
              <a:off x="1129430" y="397418"/>
              <a:ext cx="113548" cy="0"/>
            </a:xfrm>
            <a:prstGeom prst="straightConnector1">
              <a:avLst/>
            </a:prstGeom>
            <a:ln w="10323">
              <a:solidFill>
                <a:srgbClr val="0785D0"/>
              </a:solidFill>
              <a:prstDash val="solid"/>
            </a:ln>
          </p:spPr>
        </p:cxnSp>
        <p:cxnSp>
          <p:nvCxnSpPr>
            <p:cNvPr id="15" name="native PowerPoint connector">
              <a:extLst>
                <a:ext uri="{FF2B5EF4-FFF2-40B4-BE49-F238E27FC236}">
                  <a16:creationId xmlns:a16="http://schemas.microsoft.com/office/drawing/2014/main" id="{F189BB9D-BD9C-4C4E-9274-6A01D38D7A8E}"/>
                </a:ext>
              </a:extLst>
            </p:cNvPr>
            <p:cNvCxnSpPr/>
            <p:nvPr/>
          </p:nvCxnSpPr>
          <p:spPr>
            <a:xfrm>
              <a:off x="1157817" y="348250"/>
              <a:ext cx="56774" cy="98335"/>
            </a:xfrm>
            <a:prstGeom prst="straightConnector1">
              <a:avLst/>
            </a:prstGeom>
            <a:ln w="10323">
              <a:solidFill>
                <a:srgbClr val="0785D0"/>
              </a:solidFill>
              <a:prstDash val="solid"/>
            </a:ln>
          </p:spPr>
        </p:cxnSp>
        <p:cxnSp>
          <p:nvCxnSpPr>
            <p:cNvPr id="16" name="native PowerPoint connector">
              <a:extLst>
                <a:ext uri="{FF2B5EF4-FFF2-40B4-BE49-F238E27FC236}">
                  <a16:creationId xmlns:a16="http://schemas.microsoft.com/office/drawing/2014/main" id="{33775FA5-CF5D-4D68-81A2-B1E103B4B246}"/>
                </a:ext>
              </a:extLst>
            </p:cNvPr>
            <p:cNvCxnSpPr/>
            <p:nvPr/>
          </p:nvCxnSpPr>
          <p:spPr>
            <a:xfrm flipH="1">
              <a:off x="1157817" y="348250"/>
              <a:ext cx="56774" cy="98335"/>
            </a:xfrm>
            <a:prstGeom prst="straightConnector1">
              <a:avLst/>
            </a:prstGeom>
            <a:ln w="10323">
              <a:solidFill>
                <a:srgbClr val="0785D0"/>
              </a:solidFill>
              <a:prstDash val="solid"/>
            </a:ln>
          </p:spPr>
        </p:cxnSp>
        <p:sp>
          <p:nvSpPr>
            <p:cNvPr id="17" name="BF16 teacher (frozen)">
              <a:extLst>
                <a:ext uri="{FF2B5EF4-FFF2-40B4-BE49-F238E27FC236}">
                  <a16:creationId xmlns:a16="http://schemas.microsoft.com/office/drawing/2014/main" id="{29A94DF5-65CB-4B79-8BA3-7E02CF45BD9C}"/>
                </a:ext>
              </a:extLst>
            </p:cNvPr>
            <p:cNvSpPr>
              <a:spLocks noGrp="1"/>
            </p:cNvSpPr>
            <p:nvPr/>
          </p:nvSpPr>
          <p:spPr>
            <a:xfrm>
              <a:off x="1284269" y="340644"/>
              <a:ext cx="1729027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174"/>
            </a:bodyPr>
            <a:lstStyle>
              <a:def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BF16 teacher (frozen)</a:t>
              </a:r>
            </a:p>
          </p:txBody>
        </p:sp>
        <p:sp>
          <p:nvSpPr>
            <p:cNvPr id="18" name="native vector shape">
              <a:extLst>
                <a:ext uri="{FF2B5EF4-FFF2-40B4-BE49-F238E27FC236}">
                  <a16:creationId xmlns:a16="http://schemas.microsoft.com/office/drawing/2014/main" id="{F49DFFD3-9BEA-455A-BC36-28EA5DF8A5FB}"/>
                </a:ext>
              </a:extLst>
            </p:cNvPr>
            <p:cNvSpPr>
              <a:spLocks noGrp="1"/>
            </p:cNvSpPr>
            <p:nvPr/>
          </p:nvSpPr>
          <p:spPr>
            <a:xfrm>
              <a:off x="1119108" y="1703220"/>
              <a:ext cx="144516" cy="185806"/>
            </a:xfrm>
            <a:custGeom>
              <a:avLst/>
              <a:gdLst/>
              <a:ahLst/>
              <a:cxnLst/>
              <a:rect l="0" t="0" r="0" b="0"/>
              <a:pathLst>
                <a:path w="266700" h="342900">
                  <a:moveTo>
                    <a:pt x="114300" y="0"/>
                  </a:moveTo>
                  <a:lnTo>
                    <a:pt x="171450" y="123825"/>
                  </a:lnTo>
                  <a:lnTo>
                    <a:pt x="247650" y="200025"/>
                  </a:lnTo>
                  <a:lnTo>
                    <a:pt x="228600" y="276225"/>
                  </a:lnTo>
                  <a:lnTo>
                    <a:pt x="180975" y="333375"/>
                  </a:lnTo>
                  <a:lnTo>
                    <a:pt x="85725" y="333375"/>
                  </a:lnTo>
                  <a:lnTo>
                    <a:pt x="19050" y="266700"/>
                  </a:lnTo>
                  <a:lnTo>
                    <a:pt x="19050" y="180975"/>
                  </a:lnTo>
                  <a:lnTo>
                    <a:pt x="66675" y="95250"/>
                  </a:lnTo>
                  <a:lnTo>
                    <a:pt x="76200" y="228600"/>
                  </a:lnTo>
                  <a:lnTo>
                    <a:pt x="123825" y="161925"/>
                  </a:lnTo>
                  <a:close/>
                </a:path>
              </a:pathLst>
            </a:custGeom>
            <a:solidFill>
              <a:srgbClr val="FF9C23"/>
            </a:solidFill>
            <a:ln w="6194">
              <a:solidFill>
                <a:srgbClr val="EF711C"/>
              </a:solidFill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9" name="native vector shape">
              <a:extLst>
                <a:ext uri="{FF2B5EF4-FFF2-40B4-BE49-F238E27FC236}">
                  <a16:creationId xmlns:a16="http://schemas.microsoft.com/office/drawing/2014/main" id="{97F485FD-C505-4612-B75C-82665F2F9922}"/>
                </a:ext>
              </a:extLst>
            </p:cNvPr>
            <p:cNvSpPr>
              <a:spLocks noGrp="1"/>
            </p:cNvSpPr>
            <p:nvPr/>
          </p:nvSpPr>
          <p:spPr>
            <a:xfrm>
              <a:off x="1150075" y="1759994"/>
              <a:ext cx="98064" cy="129032"/>
            </a:xfrm>
            <a:custGeom>
              <a:avLst/>
              <a:gdLst/>
              <a:ahLst/>
              <a:cxnLst/>
              <a:rect l="0" t="0" r="0" b="0"/>
              <a:pathLst>
                <a:path w="180975" h="238125">
                  <a:moveTo>
                    <a:pt x="85725" y="0"/>
                  </a:moveTo>
                  <a:lnTo>
                    <a:pt x="114300" y="95250"/>
                  </a:lnTo>
                  <a:lnTo>
                    <a:pt x="171450" y="133350"/>
                  </a:lnTo>
                  <a:lnTo>
                    <a:pt x="142875" y="209550"/>
                  </a:lnTo>
                  <a:lnTo>
                    <a:pt x="76200" y="228600"/>
                  </a:lnTo>
                  <a:lnTo>
                    <a:pt x="28575" y="180975"/>
                  </a:lnTo>
                  <a:lnTo>
                    <a:pt x="38100" y="114300"/>
                  </a:lnTo>
                  <a:close/>
                </a:path>
              </a:pathLst>
            </a:custGeom>
            <a:solidFill>
              <a:srgbClr val="FFD785"/>
            </a:solidFill>
            <a:ln w="6194">
              <a:noFill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0" name="Quantized WAM (student)">
              <a:extLst>
                <a:ext uri="{FF2B5EF4-FFF2-40B4-BE49-F238E27FC236}">
                  <a16:creationId xmlns:a16="http://schemas.microsoft.com/office/drawing/2014/main" id="{865B876E-B32C-4EE2-930B-B69F169E0D9E}"/>
                </a:ext>
              </a:extLst>
            </p:cNvPr>
            <p:cNvSpPr>
              <a:spLocks noGrp="1"/>
            </p:cNvSpPr>
            <p:nvPr/>
          </p:nvSpPr>
          <p:spPr>
            <a:xfrm>
              <a:off x="1284269" y="1734188"/>
              <a:ext cx="1780640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174"/>
            </a:bodyPr>
            <a:lstStyle>
              <a:def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Quantized WAM (student)</a:t>
              </a:r>
            </a:p>
          </p:txBody>
        </p:sp>
        <p:sp>
          <p:nvSpPr>
            <p:cNvPr id="21" name="614 target Linear layers">
              <a:extLst>
                <a:ext uri="{FF2B5EF4-FFF2-40B4-BE49-F238E27FC236}">
                  <a16:creationId xmlns:a16="http://schemas.microsoft.com/office/drawing/2014/main" id="{1A43B9D5-5EF0-43A5-B02F-799405AAF5AE}"/>
                </a:ext>
              </a:extLst>
            </p:cNvPr>
            <p:cNvSpPr>
              <a:spLocks noGrp="1"/>
            </p:cNvSpPr>
            <p:nvPr/>
          </p:nvSpPr>
          <p:spPr>
            <a:xfrm>
              <a:off x="2027492" y="1852897"/>
              <a:ext cx="1027094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2282"/>
            </a:bodyPr>
            <a:lstStyle>
              <a:def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rPr>
                <a:t>614 target Linear layers</a:t>
              </a:r>
            </a:p>
          </p:txBody>
        </p:sp>
        <p:cxnSp>
          <p:nvCxnSpPr>
            <p:cNvPr id="22" name="native PowerPoint connector">
              <a:extLst>
                <a:ext uri="{FF2B5EF4-FFF2-40B4-BE49-F238E27FC236}">
                  <a16:creationId xmlns:a16="http://schemas.microsoft.com/office/drawing/2014/main" id="{9713AD79-3E8B-4299-BA2B-53FD256AEFA3}"/>
                </a:ext>
              </a:extLst>
            </p:cNvPr>
            <p:cNvCxnSpPr/>
            <p:nvPr/>
          </p:nvCxnSpPr>
          <p:spPr>
            <a:xfrm>
              <a:off x="2027492" y="1971607"/>
              <a:ext cx="1027094" cy="0"/>
            </a:xfrm>
            <a:prstGeom prst="straightConnector1">
              <a:avLst/>
            </a:prstGeom>
            <a:ln w="6710">
              <a:solidFill>
                <a:srgbClr val="C11B14"/>
              </a:solidFill>
              <a:prstDash val="solid"/>
            </a:ln>
          </p:spPr>
        </p:cxnSp>
        <p:sp>
          <p:nvSpPr>
            <p:cNvPr id="23" name="native vector shape">
              <a:extLst>
                <a:ext uri="{FF2B5EF4-FFF2-40B4-BE49-F238E27FC236}">
                  <a16:creationId xmlns:a16="http://schemas.microsoft.com/office/drawing/2014/main" id="{D0258F67-D878-415A-8BD0-A2339FF1C777}"/>
                </a:ext>
              </a:extLst>
            </p:cNvPr>
            <p:cNvSpPr>
              <a:spLocks noGrp="1"/>
            </p:cNvSpPr>
            <p:nvPr/>
          </p:nvSpPr>
          <p:spPr>
            <a:xfrm>
              <a:off x="1315236" y="531611"/>
              <a:ext cx="712256" cy="485160"/>
            </a:xfrm>
            <a:custGeom>
              <a:avLst/>
              <a:gdLst/>
              <a:ahLst/>
              <a:cxnLst/>
              <a:rect l="0" t="0" r="0" b="0"/>
              <a:pathLst>
                <a:path w="1314450" h="895350">
                  <a:moveTo>
                    <a:pt x="0" y="0"/>
                  </a:moveTo>
                  <a:lnTo>
                    <a:pt x="1314450" y="247650"/>
                  </a:lnTo>
                  <a:lnTo>
                    <a:pt x="1314450" y="647700"/>
                  </a:lnTo>
                  <a:lnTo>
                    <a:pt x="0" y="895350"/>
                  </a:lnTo>
                  <a:close/>
                </a:path>
              </a:pathLst>
            </a:cu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6710">
              <a:solidFill>
                <a:srgbClr val="0B579E"/>
              </a:solidFill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4" name="Video DiT&#10;(BF16)">
              <a:extLst>
                <a:ext uri="{FF2B5EF4-FFF2-40B4-BE49-F238E27FC236}">
                  <a16:creationId xmlns:a16="http://schemas.microsoft.com/office/drawing/2014/main" id="{F002576C-B31A-4410-A211-E5628241777C}"/>
                </a:ext>
              </a:extLst>
            </p:cNvPr>
            <p:cNvSpPr>
              <a:spLocks noGrp="1"/>
            </p:cNvSpPr>
            <p:nvPr/>
          </p:nvSpPr>
          <p:spPr>
            <a:xfrm>
              <a:off x="1397817" y="660643"/>
              <a:ext cx="562579" cy="27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Video DiT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(BF16)</a:t>
              </a:r>
            </a:p>
          </p:txBody>
        </p:sp>
        <p:sp>
          <p:nvSpPr>
            <p:cNvPr id="25" name="native vector shape">
              <a:extLst>
                <a:ext uri="{FF2B5EF4-FFF2-40B4-BE49-F238E27FC236}">
                  <a16:creationId xmlns:a16="http://schemas.microsoft.com/office/drawing/2014/main" id="{E051F021-9C64-4F9E-A19D-7650CAC47AC8}"/>
                </a:ext>
              </a:extLst>
            </p:cNvPr>
            <p:cNvSpPr>
              <a:spLocks noGrp="1"/>
            </p:cNvSpPr>
            <p:nvPr/>
          </p:nvSpPr>
          <p:spPr>
            <a:xfrm>
              <a:off x="2306201" y="547095"/>
              <a:ext cx="712256" cy="485160"/>
            </a:xfrm>
            <a:custGeom>
              <a:avLst/>
              <a:gdLst/>
              <a:ahLst/>
              <a:cxnLst/>
              <a:rect l="0" t="0" r="0" b="0"/>
              <a:pathLst>
                <a:path w="1314450" h="895350">
                  <a:moveTo>
                    <a:pt x="0" y="0"/>
                  </a:moveTo>
                  <a:lnTo>
                    <a:pt x="1314450" y="247650"/>
                  </a:lnTo>
                  <a:lnTo>
                    <a:pt x="1314450" y="647700"/>
                  </a:lnTo>
                  <a:lnTo>
                    <a:pt x="0" y="895350"/>
                  </a:lnTo>
                  <a:close/>
                </a:path>
              </a:pathLst>
            </a:cu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6710">
              <a:solidFill>
                <a:srgbClr val="0B579E"/>
              </a:solidFill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6" name="Action DiT&#10;(BF16)">
              <a:extLst>
                <a:ext uri="{FF2B5EF4-FFF2-40B4-BE49-F238E27FC236}">
                  <a16:creationId xmlns:a16="http://schemas.microsoft.com/office/drawing/2014/main" id="{27F4B570-D2CD-4B3C-A14F-24FCEDDFB877}"/>
                </a:ext>
              </a:extLst>
            </p:cNvPr>
            <p:cNvSpPr>
              <a:spLocks noGrp="1"/>
            </p:cNvSpPr>
            <p:nvPr/>
          </p:nvSpPr>
          <p:spPr>
            <a:xfrm>
              <a:off x="2388781" y="676127"/>
              <a:ext cx="562579" cy="27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Action DiT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(BF16)</a:t>
              </a:r>
            </a:p>
          </p:txBody>
        </p:sp>
        <p:sp>
          <p:nvSpPr>
            <p:cNvPr id="27" name="native vector shape">
              <a:extLst>
                <a:ext uri="{FF2B5EF4-FFF2-40B4-BE49-F238E27FC236}">
                  <a16:creationId xmlns:a16="http://schemas.microsoft.com/office/drawing/2014/main" id="{B7F23763-874B-4C0C-AA38-88D1E451A5D9}"/>
                </a:ext>
              </a:extLst>
            </p:cNvPr>
            <p:cNvSpPr>
              <a:spLocks noGrp="1"/>
            </p:cNvSpPr>
            <p:nvPr/>
          </p:nvSpPr>
          <p:spPr>
            <a:xfrm>
              <a:off x="1315236" y="1950962"/>
              <a:ext cx="712256" cy="485160"/>
            </a:xfrm>
            <a:custGeom>
              <a:avLst/>
              <a:gdLst/>
              <a:ahLst/>
              <a:cxnLst/>
              <a:rect l="0" t="0" r="0" b="0"/>
              <a:pathLst>
                <a:path w="1314450" h="895350">
                  <a:moveTo>
                    <a:pt x="0" y="0"/>
                  </a:moveTo>
                  <a:lnTo>
                    <a:pt x="1314450" y="247650"/>
                  </a:lnTo>
                  <a:lnTo>
                    <a:pt x="1314450" y="647700"/>
                  </a:lnTo>
                  <a:lnTo>
                    <a:pt x="0" y="895350"/>
                  </a:lnTo>
                  <a:close/>
                </a:path>
              </a:pathLst>
            </a:cu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6710">
              <a:solidFill>
                <a:srgbClr val="A92024"/>
              </a:solidFill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8" name="Video DiT&#10;(quantized)">
              <a:extLst>
                <a:ext uri="{FF2B5EF4-FFF2-40B4-BE49-F238E27FC236}">
                  <a16:creationId xmlns:a16="http://schemas.microsoft.com/office/drawing/2014/main" id="{85326C21-309B-4E5F-A4D6-CA4163256FB9}"/>
                </a:ext>
              </a:extLst>
            </p:cNvPr>
            <p:cNvSpPr>
              <a:spLocks noGrp="1"/>
            </p:cNvSpPr>
            <p:nvPr/>
          </p:nvSpPr>
          <p:spPr>
            <a:xfrm>
              <a:off x="1397817" y="2079993"/>
              <a:ext cx="562579" cy="27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Video DiT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(quantized)</a:t>
              </a:r>
            </a:p>
          </p:txBody>
        </p:sp>
        <p:sp>
          <p:nvSpPr>
            <p:cNvPr id="29" name="native vector shape">
              <a:extLst>
                <a:ext uri="{FF2B5EF4-FFF2-40B4-BE49-F238E27FC236}">
                  <a16:creationId xmlns:a16="http://schemas.microsoft.com/office/drawing/2014/main" id="{05E22AAB-D9C1-4B58-82C1-D66829322ED2}"/>
                </a:ext>
              </a:extLst>
            </p:cNvPr>
            <p:cNvSpPr>
              <a:spLocks noGrp="1"/>
            </p:cNvSpPr>
            <p:nvPr/>
          </p:nvSpPr>
          <p:spPr>
            <a:xfrm>
              <a:off x="2306201" y="1971607"/>
              <a:ext cx="712256" cy="485160"/>
            </a:xfrm>
            <a:custGeom>
              <a:avLst/>
              <a:gdLst/>
              <a:ahLst/>
              <a:cxnLst/>
              <a:rect l="0" t="0" r="0" b="0"/>
              <a:pathLst>
                <a:path w="1314450" h="895350">
                  <a:moveTo>
                    <a:pt x="0" y="0"/>
                  </a:moveTo>
                  <a:lnTo>
                    <a:pt x="1314450" y="247650"/>
                  </a:lnTo>
                  <a:lnTo>
                    <a:pt x="1314450" y="647700"/>
                  </a:lnTo>
                  <a:lnTo>
                    <a:pt x="0" y="895350"/>
                  </a:lnTo>
                  <a:close/>
                </a:path>
              </a:pathLst>
            </a:cu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6710">
              <a:solidFill>
                <a:srgbClr val="A92024"/>
              </a:solidFill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0" name="Action DiT&#10;(quantized)">
              <a:extLst>
                <a:ext uri="{FF2B5EF4-FFF2-40B4-BE49-F238E27FC236}">
                  <a16:creationId xmlns:a16="http://schemas.microsoft.com/office/drawing/2014/main" id="{158DA459-77D5-43E2-BC82-638CCBAA610E}"/>
                </a:ext>
              </a:extLst>
            </p:cNvPr>
            <p:cNvSpPr>
              <a:spLocks noGrp="1"/>
            </p:cNvSpPr>
            <p:nvPr/>
          </p:nvSpPr>
          <p:spPr>
            <a:xfrm>
              <a:off x="2388781" y="2100638"/>
              <a:ext cx="562579" cy="27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Action DiT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(quantized)</a:t>
              </a:r>
            </a:p>
          </p:txBody>
        </p:sp>
        <p:cxnSp>
          <p:nvCxnSpPr>
            <p:cNvPr id="31" name="native PowerPoint connector">
              <a:extLst>
                <a:ext uri="{FF2B5EF4-FFF2-40B4-BE49-F238E27FC236}">
                  <a16:creationId xmlns:a16="http://schemas.microsoft.com/office/drawing/2014/main" id="{462A181A-BD6A-4AA7-B02F-58E708C532E4}"/>
                </a:ext>
              </a:extLst>
            </p:cNvPr>
            <p:cNvCxnSpPr/>
            <p:nvPr/>
          </p:nvCxnSpPr>
          <p:spPr>
            <a:xfrm>
              <a:off x="2027492" y="769030"/>
              <a:ext cx="278709" cy="0"/>
            </a:xfrm>
            <a:prstGeom prst="straightConnector1">
              <a:avLst/>
            </a:prstGeom>
            <a:ln w="9806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32" name="native PowerPoint connector">
              <a:extLst>
                <a:ext uri="{FF2B5EF4-FFF2-40B4-BE49-F238E27FC236}">
                  <a16:creationId xmlns:a16="http://schemas.microsoft.com/office/drawing/2014/main" id="{79ED24B5-CB8F-41C0-85A0-7B5F5241BA16}"/>
                </a:ext>
              </a:extLst>
            </p:cNvPr>
            <p:cNvCxnSpPr/>
            <p:nvPr/>
          </p:nvCxnSpPr>
          <p:spPr>
            <a:xfrm>
              <a:off x="2027492" y="2193541"/>
              <a:ext cx="278709" cy="0"/>
            </a:xfrm>
            <a:prstGeom prst="straightConnector1">
              <a:avLst/>
            </a:prstGeom>
            <a:ln w="9806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33" name="diagram block">
              <a:extLst>
                <a:ext uri="{FF2B5EF4-FFF2-40B4-BE49-F238E27FC236}">
                  <a16:creationId xmlns:a16="http://schemas.microsoft.com/office/drawing/2014/main" id="{4FC1CCDD-41A3-4982-B0C0-7333FF3E019D}"/>
                </a:ext>
              </a:extLst>
            </p:cNvPr>
            <p:cNvSpPr>
              <a:spLocks noGrp="1"/>
            </p:cNvSpPr>
            <p:nvPr/>
          </p:nvSpPr>
          <p:spPr>
            <a:xfrm>
              <a:off x="319110" y="887739"/>
              <a:ext cx="660643" cy="1274835"/>
            </a:xfrm>
            <a:prstGeom prst="roundRect">
              <a:avLst>
                <a:gd name="adj" fmla="val 3906"/>
              </a:avLst>
            </a:prstGeom>
            <a:gradFill>
              <a:gsLst>
                <a:gs pos="0">
                  <a:srgbClr val="F0F2F5"/>
                </a:gs>
                <a:gs pos="100000">
                  <a:srgbClr val="E8EBEF"/>
                </a:gs>
              </a:gsLst>
              <a:lin ang="5400000"/>
            </a:gradFill>
            <a:ln w="5161">
              <a:solidFill>
                <a:srgbClr val="63849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4" name="Observation&#10;+ language&#10;+ proprioception">
              <a:extLst>
                <a:ext uri="{FF2B5EF4-FFF2-40B4-BE49-F238E27FC236}">
                  <a16:creationId xmlns:a16="http://schemas.microsoft.com/office/drawing/2014/main" id="{F33A666B-6B17-4920-AE49-46665BB00DD3}"/>
                </a:ext>
              </a:extLst>
            </p:cNvPr>
            <p:cNvSpPr>
              <a:spLocks noGrp="1"/>
            </p:cNvSpPr>
            <p:nvPr/>
          </p:nvSpPr>
          <p:spPr>
            <a:xfrm>
              <a:off x="375884" y="1073545"/>
              <a:ext cx="557418" cy="3458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9309"/>
            </a:bodyPr>
            <a:lstStyle>
              <a:def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Observation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+ language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+ proprioception</a:t>
              </a:r>
            </a:p>
          </p:txBody>
        </p:sp>
        <p:sp>
          <p:nvSpPr>
            <p:cNvPr id="35" name="o_t, l, p_t">
              <a:extLst>
                <a:ext uri="{FF2B5EF4-FFF2-40B4-BE49-F238E27FC236}">
                  <a16:creationId xmlns:a16="http://schemas.microsoft.com/office/drawing/2014/main" id="{93D7CF78-1CCF-481B-9C99-65190F6FE68C}"/>
                </a:ext>
              </a:extLst>
            </p:cNvPr>
            <p:cNvSpPr>
              <a:spLocks noGrp="1"/>
            </p:cNvSpPr>
            <p:nvPr/>
          </p:nvSpPr>
          <p:spPr>
            <a:xfrm>
              <a:off x="375884" y="1455479"/>
              <a:ext cx="588385" cy="170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</a:t>
              </a:r>
              <a:r>
                <a:rPr sz="570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, l, p</a:t>
              </a:r>
              <a:r>
                <a:rPr sz="570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36" name="Current images&#10;Instruction&#10;Robot state">
              <a:extLst>
                <a:ext uri="{FF2B5EF4-FFF2-40B4-BE49-F238E27FC236}">
                  <a16:creationId xmlns:a16="http://schemas.microsoft.com/office/drawing/2014/main" id="{297213F1-FC52-4033-B52E-BBED8AD3FFCA}"/>
                </a:ext>
              </a:extLst>
            </p:cNvPr>
            <p:cNvSpPr>
              <a:spLocks noGrp="1"/>
            </p:cNvSpPr>
            <p:nvPr/>
          </p:nvSpPr>
          <p:spPr>
            <a:xfrm>
              <a:off x="360400" y="1692898"/>
              <a:ext cx="588385" cy="37677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2809"/>
            </a:bodyPr>
            <a:lstStyle>
              <a:def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Current images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Instruction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Robot state</a:t>
              </a:r>
            </a:p>
          </p:txBody>
        </p:sp>
        <p:cxnSp>
          <p:nvCxnSpPr>
            <p:cNvPr id="37" name="native PowerPoint connector">
              <a:extLst>
                <a:ext uri="{FF2B5EF4-FFF2-40B4-BE49-F238E27FC236}">
                  <a16:creationId xmlns:a16="http://schemas.microsoft.com/office/drawing/2014/main" id="{5DD40D90-85AE-4B29-98D7-5686190A53EE}"/>
                </a:ext>
              </a:extLst>
            </p:cNvPr>
            <p:cNvCxnSpPr/>
            <p:nvPr/>
          </p:nvCxnSpPr>
          <p:spPr>
            <a:xfrm>
              <a:off x="979753" y="1187093"/>
              <a:ext cx="149677" cy="0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</a:ln>
          </p:spPr>
        </p:cxnSp>
        <p:cxnSp>
          <p:nvCxnSpPr>
            <p:cNvPr id="38" name="native PowerPoint connector">
              <a:extLst>
                <a:ext uri="{FF2B5EF4-FFF2-40B4-BE49-F238E27FC236}">
                  <a16:creationId xmlns:a16="http://schemas.microsoft.com/office/drawing/2014/main" id="{2757921D-ACC5-4676-BB0B-6C1CA07296A6}"/>
                </a:ext>
              </a:extLst>
            </p:cNvPr>
            <p:cNvCxnSpPr/>
            <p:nvPr/>
          </p:nvCxnSpPr>
          <p:spPr>
            <a:xfrm flipV="1">
              <a:off x="1129430" y="769030"/>
              <a:ext cx="0" cy="418063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</a:ln>
          </p:spPr>
        </p:cxnSp>
        <p:cxnSp>
          <p:nvCxnSpPr>
            <p:cNvPr id="39" name="native PowerPoint connector">
              <a:extLst>
                <a:ext uri="{FF2B5EF4-FFF2-40B4-BE49-F238E27FC236}">
                  <a16:creationId xmlns:a16="http://schemas.microsoft.com/office/drawing/2014/main" id="{467F9278-5DED-4C6A-9B94-AB9003044EFB}"/>
                </a:ext>
              </a:extLst>
            </p:cNvPr>
            <p:cNvCxnSpPr/>
            <p:nvPr/>
          </p:nvCxnSpPr>
          <p:spPr>
            <a:xfrm>
              <a:off x="1129430" y="769030"/>
              <a:ext cx="185806" cy="0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40" name="native PowerPoint connector">
              <a:extLst>
                <a:ext uri="{FF2B5EF4-FFF2-40B4-BE49-F238E27FC236}">
                  <a16:creationId xmlns:a16="http://schemas.microsoft.com/office/drawing/2014/main" id="{D171601C-3715-4780-8E36-0728D98F4E8A}"/>
                </a:ext>
              </a:extLst>
            </p:cNvPr>
            <p:cNvCxnSpPr/>
            <p:nvPr/>
          </p:nvCxnSpPr>
          <p:spPr>
            <a:xfrm>
              <a:off x="979753" y="2079993"/>
              <a:ext cx="149677" cy="0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</a:ln>
          </p:spPr>
        </p:cxnSp>
        <p:cxnSp>
          <p:nvCxnSpPr>
            <p:cNvPr id="41" name="native PowerPoint connector">
              <a:extLst>
                <a:ext uri="{FF2B5EF4-FFF2-40B4-BE49-F238E27FC236}">
                  <a16:creationId xmlns:a16="http://schemas.microsoft.com/office/drawing/2014/main" id="{1189B610-A54F-4B4A-8994-633810C1C79A}"/>
                </a:ext>
              </a:extLst>
            </p:cNvPr>
            <p:cNvCxnSpPr/>
            <p:nvPr/>
          </p:nvCxnSpPr>
          <p:spPr>
            <a:xfrm>
              <a:off x="1129430" y="2079993"/>
              <a:ext cx="0" cy="139354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</a:ln>
          </p:spPr>
        </p:cxnSp>
        <p:cxnSp>
          <p:nvCxnSpPr>
            <p:cNvPr id="42" name="native PowerPoint connector">
              <a:extLst>
                <a:ext uri="{FF2B5EF4-FFF2-40B4-BE49-F238E27FC236}">
                  <a16:creationId xmlns:a16="http://schemas.microsoft.com/office/drawing/2014/main" id="{3323F495-800D-47B9-BFF2-57ED28D414DA}"/>
                </a:ext>
              </a:extLst>
            </p:cNvPr>
            <p:cNvCxnSpPr/>
            <p:nvPr/>
          </p:nvCxnSpPr>
          <p:spPr>
            <a:xfrm>
              <a:off x="1129430" y="2219348"/>
              <a:ext cx="185806" cy="0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43" name="diagram block">
              <a:extLst>
                <a:ext uri="{FF2B5EF4-FFF2-40B4-BE49-F238E27FC236}">
                  <a16:creationId xmlns:a16="http://schemas.microsoft.com/office/drawing/2014/main" id="{FE1F33E8-B79A-40CD-8399-2F563E649A61}"/>
                </a:ext>
              </a:extLst>
            </p:cNvPr>
            <p:cNvSpPr>
              <a:spLocks noGrp="1"/>
            </p:cNvSpPr>
            <p:nvPr/>
          </p:nvSpPr>
          <p:spPr>
            <a:xfrm>
              <a:off x="1480397" y="1011610"/>
              <a:ext cx="46451" cy="201290"/>
            </a:xfrm>
            <a:prstGeom prst="rect">
              <a:avLst/>
            </a:prstGeom>
            <a:solidFill>
              <a:srgbClr val="EFB956"/>
            </a:solidFill>
            <a:ln w="5161">
              <a:solidFill>
                <a:srgbClr val="C58823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4" name="diagram block">
              <a:extLst>
                <a:ext uri="{FF2B5EF4-FFF2-40B4-BE49-F238E27FC236}">
                  <a16:creationId xmlns:a16="http://schemas.microsoft.com/office/drawing/2014/main" id="{9DD553C1-3A1A-44C5-9BD7-D290759538C1}"/>
                </a:ext>
              </a:extLst>
            </p:cNvPr>
            <p:cNvSpPr>
              <a:spLocks noGrp="1"/>
            </p:cNvSpPr>
            <p:nvPr/>
          </p:nvSpPr>
          <p:spPr>
            <a:xfrm>
              <a:off x="1562977" y="1011610"/>
              <a:ext cx="46451" cy="201290"/>
            </a:xfrm>
            <a:prstGeom prst="rect">
              <a:avLst/>
            </a:prstGeom>
            <a:solidFill>
              <a:srgbClr val="EFB956"/>
            </a:solidFill>
            <a:ln w="5161">
              <a:solidFill>
                <a:srgbClr val="C58823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5" name="diagram block">
              <a:extLst>
                <a:ext uri="{FF2B5EF4-FFF2-40B4-BE49-F238E27FC236}">
                  <a16:creationId xmlns:a16="http://schemas.microsoft.com/office/drawing/2014/main" id="{718BF98C-916F-4169-86E5-7BB9CB91B4A7}"/>
                </a:ext>
              </a:extLst>
            </p:cNvPr>
            <p:cNvSpPr>
              <a:spLocks noGrp="1"/>
            </p:cNvSpPr>
            <p:nvPr/>
          </p:nvSpPr>
          <p:spPr>
            <a:xfrm>
              <a:off x="1645558" y="1011610"/>
              <a:ext cx="46451" cy="201290"/>
            </a:xfrm>
            <a:prstGeom prst="rect">
              <a:avLst/>
            </a:prstGeom>
            <a:solidFill>
              <a:srgbClr val="EFB956"/>
            </a:solidFill>
            <a:ln w="5161">
              <a:solidFill>
                <a:srgbClr val="C58823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6" name="diagram block">
              <a:extLst>
                <a:ext uri="{FF2B5EF4-FFF2-40B4-BE49-F238E27FC236}">
                  <a16:creationId xmlns:a16="http://schemas.microsoft.com/office/drawing/2014/main" id="{54E8CE54-1985-434A-9342-B0784059CB95}"/>
                </a:ext>
              </a:extLst>
            </p:cNvPr>
            <p:cNvSpPr>
              <a:spLocks noGrp="1"/>
            </p:cNvSpPr>
            <p:nvPr/>
          </p:nvSpPr>
          <p:spPr>
            <a:xfrm>
              <a:off x="1728138" y="1011610"/>
              <a:ext cx="46451" cy="201290"/>
            </a:xfrm>
            <a:prstGeom prst="rect">
              <a:avLst/>
            </a:prstGeom>
            <a:solidFill>
              <a:srgbClr val="EFB956"/>
            </a:solidFill>
            <a:ln w="5161">
              <a:solidFill>
                <a:srgbClr val="C58823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7" name="diagram block">
              <a:extLst>
                <a:ext uri="{FF2B5EF4-FFF2-40B4-BE49-F238E27FC236}">
                  <a16:creationId xmlns:a16="http://schemas.microsoft.com/office/drawing/2014/main" id="{A7ACC246-AC99-45F8-89F9-C43EE7312FC8}"/>
                </a:ext>
              </a:extLst>
            </p:cNvPr>
            <p:cNvSpPr>
              <a:spLocks noGrp="1"/>
            </p:cNvSpPr>
            <p:nvPr/>
          </p:nvSpPr>
          <p:spPr>
            <a:xfrm>
              <a:off x="2476523" y="1011610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8" name="diagram block">
              <a:extLst>
                <a:ext uri="{FF2B5EF4-FFF2-40B4-BE49-F238E27FC236}">
                  <a16:creationId xmlns:a16="http://schemas.microsoft.com/office/drawing/2014/main" id="{A650AA7C-EC77-4261-AF2B-560156B04312}"/>
                </a:ext>
              </a:extLst>
            </p:cNvPr>
            <p:cNvSpPr>
              <a:spLocks noGrp="1"/>
            </p:cNvSpPr>
            <p:nvPr/>
          </p:nvSpPr>
          <p:spPr>
            <a:xfrm>
              <a:off x="2559103" y="1011610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9" name="diagram block">
              <a:extLst>
                <a:ext uri="{FF2B5EF4-FFF2-40B4-BE49-F238E27FC236}">
                  <a16:creationId xmlns:a16="http://schemas.microsoft.com/office/drawing/2014/main" id="{CEDBE8B5-FF15-47FF-839A-287D673914BC}"/>
                </a:ext>
              </a:extLst>
            </p:cNvPr>
            <p:cNvSpPr>
              <a:spLocks noGrp="1"/>
            </p:cNvSpPr>
            <p:nvPr/>
          </p:nvSpPr>
          <p:spPr>
            <a:xfrm>
              <a:off x="2641684" y="1011610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0" name="diagram block">
              <a:extLst>
                <a:ext uri="{FF2B5EF4-FFF2-40B4-BE49-F238E27FC236}">
                  <a16:creationId xmlns:a16="http://schemas.microsoft.com/office/drawing/2014/main" id="{0B417BE9-94E9-4DA2-818F-5CD175DB3372}"/>
                </a:ext>
              </a:extLst>
            </p:cNvPr>
            <p:cNvSpPr>
              <a:spLocks noGrp="1"/>
            </p:cNvSpPr>
            <p:nvPr/>
          </p:nvSpPr>
          <p:spPr>
            <a:xfrm>
              <a:off x="2724264" y="1011610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1" name="diagram block">
              <a:extLst>
                <a:ext uri="{FF2B5EF4-FFF2-40B4-BE49-F238E27FC236}">
                  <a16:creationId xmlns:a16="http://schemas.microsoft.com/office/drawing/2014/main" id="{CAF17E00-4002-4F16-8E57-C891C805DBE7}"/>
                </a:ext>
              </a:extLst>
            </p:cNvPr>
            <p:cNvSpPr>
              <a:spLocks noGrp="1"/>
            </p:cNvSpPr>
            <p:nvPr/>
          </p:nvSpPr>
          <p:spPr>
            <a:xfrm>
              <a:off x="1480397" y="2451605"/>
              <a:ext cx="46451" cy="201290"/>
            </a:xfrm>
            <a:prstGeom prst="rect">
              <a:avLst/>
            </a:prstGeom>
            <a:solidFill>
              <a:srgbClr val="F6BC54"/>
            </a:solidFill>
            <a:ln w="5161">
              <a:solidFill>
                <a:srgbClr val="C58823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2" name="diagram block">
              <a:extLst>
                <a:ext uri="{FF2B5EF4-FFF2-40B4-BE49-F238E27FC236}">
                  <a16:creationId xmlns:a16="http://schemas.microsoft.com/office/drawing/2014/main" id="{74A2B20F-12D6-43B9-83EA-4EE4223BA657}"/>
                </a:ext>
              </a:extLst>
            </p:cNvPr>
            <p:cNvSpPr>
              <a:spLocks noGrp="1"/>
            </p:cNvSpPr>
            <p:nvPr/>
          </p:nvSpPr>
          <p:spPr>
            <a:xfrm>
              <a:off x="1562977" y="2451605"/>
              <a:ext cx="46451" cy="201290"/>
            </a:xfrm>
            <a:prstGeom prst="rect">
              <a:avLst/>
            </a:prstGeom>
            <a:solidFill>
              <a:srgbClr val="F6BC54"/>
            </a:solidFill>
            <a:ln w="5161">
              <a:solidFill>
                <a:srgbClr val="C58823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3" name="diagram block">
              <a:extLst>
                <a:ext uri="{FF2B5EF4-FFF2-40B4-BE49-F238E27FC236}">
                  <a16:creationId xmlns:a16="http://schemas.microsoft.com/office/drawing/2014/main" id="{A6AA42E8-E647-4748-8BC3-1EB3B81579F9}"/>
                </a:ext>
              </a:extLst>
            </p:cNvPr>
            <p:cNvSpPr>
              <a:spLocks noGrp="1"/>
            </p:cNvSpPr>
            <p:nvPr/>
          </p:nvSpPr>
          <p:spPr>
            <a:xfrm>
              <a:off x="1645558" y="2451605"/>
              <a:ext cx="46451" cy="201290"/>
            </a:xfrm>
            <a:prstGeom prst="rect">
              <a:avLst/>
            </a:prstGeom>
            <a:solidFill>
              <a:srgbClr val="F6BC54"/>
            </a:solidFill>
            <a:ln w="5161">
              <a:solidFill>
                <a:srgbClr val="C58823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4" name="diagram block">
              <a:extLst>
                <a:ext uri="{FF2B5EF4-FFF2-40B4-BE49-F238E27FC236}">
                  <a16:creationId xmlns:a16="http://schemas.microsoft.com/office/drawing/2014/main" id="{73294550-F5DC-4796-BFAD-F8D3F8B47B50}"/>
                </a:ext>
              </a:extLst>
            </p:cNvPr>
            <p:cNvSpPr>
              <a:spLocks noGrp="1"/>
            </p:cNvSpPr>
            <p:nvPr/>
          </p:nvSpPr>
          <p:spPr>
            <a:xfrm>
              <a:off x="1728138" y="2451605"/>
              <a:ext cx="46451" cy="201290"/>
            </a:xfrm>
            <a:prstGeom prst="rect">
              <a:avLst/>
            </a:prstGeom>
            <a:solidFill>
              <a:srgbClr val="F6BC54"/>
            </a:solidFill>
            <a:ln w="5161">
              <a:solidFill>
                <a:srgbClr val="C58823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5" name="diagram block">
              <a:extLst>
                <a:ext uri="{FF2B5EF4-FFF2-40B4-BE49-F238E27FC236}">
                  <a16:creationId xmlns:a16="http://schemas.microsoft.com/office/drawing/2014/main" id="{63178131-8371-4439-A743-D3BDDDA22A6D}"/>
                </a:ext>
              </a:extLst>
            </p:cNvPr>
            <p:cNvSpPr>
              <a:spLocks noGrp="1"/>
            </p:cNvSpPr>
            <p:nvPr/>
          </p:nvSpPr>
          <p:spPr>
            <a:xfrm>
              <a:off x="2476523" y="2451605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6" name="diagram block">
              <a:extLst>
                <a:ext uri="{FF2B5EF4-FFF2-40B4-BE49-F238E27FC236}">
                  <a16:creationId xmlns:a16="http://schemas.microsoft.com/office/drawing/2014/main" id="{D85A9EE5-8305-46FF-AEBA-611F00FBEBD7}"/>
                </a:ext>
              </a:extLst>
            </p:cNvPr>
            <p:cNvSpPr>
              <a:spLocks noGrp="1"/>
            </p:cNvSpPr>
            <p:nvPr/>
          </p:nvSpPr>
          <p:spPr>
            <a:xfrm>
              <a:off x="2559103" y="2451605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7" name="diagram block">
              <a:extLst>
                <a:ext uri="{FF2B5EF4-FFF2-40B4-BE49-F238E27FC236}">
                  <a16:creationId xmlns:a16="http://schemas.microsoft.com/office/drawing/2014/main" id="{856878D8-3AA3-4395-ABAF-74B5E148D744}"/>
                </a:ext>
              </a:extLst>
            </p:cNvPr>
            <p:cNvSpPr>
              <a:spLocks noGrp="1"/>
            </p:cNvSpPr>
            <p:nvPr/>
          </p:nvSpPr>
          <p:spPr>
            <a:xfrm>
              <a:off x="2641684" y="2451605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8" name="diagram block">
              <a:extLst>
                <a:ext uri="{FF2B5EF4-FFF2-40B4-BE49-F238E27FC236}">
                  <a16:creationId xmlns:a16="http://schemas.microsoft.com/office/drawing/2014/main" id="{EA7B06EE-F8F1-40DB-98C2-D884E9048589}"/>
                </a:ext>
              </a:extLst>
            </p:cNvPr>
            <p:cNvSpPr>
              <a:spLocks noGrp="1"/>
            </p:cNvSpPr>
            <p:nvPr/>
          </p:nvSpPr>
          <p:spPr>
            <a:xfrm>
              <a:off x="2724264" y="2451605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9" name="Future latent tokens Zᵀ">
              <a:extLst>
                <a:ext uri="{FF2B5EF4-FFF2-40B4-BE49-F238E27FC236}">
                  <a16:creationId xmlns:a16="http://schemas.microsoft.com/office/drawing/2014/main" id="{2DCABF17-AEA3-4BC0-BBA1-47D0C5DFC9E7}"/>
                </a:ext>
              </a:extLst>
            </p:cNvPr>
            <p:cNvSpPr>
              <a:spLocks noGrp="1"/>
            </p:cNvSpPr>
            <p:nvPr/>
          </p:nvSpPr>
          <p:spPr>
            <a:xfrm>
              <a:off x="1222333" y="1249028"/>
              <a:ext cx="1140642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Future latent tokens Zᵀ</a:t>
              </a:r>
            </a:p>
          </p:txBody>
        </p:sp>
        <p:sp>
          <p:nvSpPr>
            <p:cNvPr id="60" name="(teacher-generated future)">
              <a:extLst>
                <a:ext uri="{FF2B5EF4-FFF2-40B4-BE49-F238E27FC236}">
                  <a16:creationId xmlns:a16="http://schemas.microsoft.com/office/drawing/2014/main" id="{72712D57-1E62-4E13-8223-F3B29A133A56}"/>
                </a:ext>
              </a:extLst>
            </p:cNvPr>
            <p:cNvSpPr>
              <a:spLocks noGrp="1"/>
            </p:cNvSpPr>
            <p:nvPr/>
          </p:nvSpPr>
          <p:spPr>
            <a:xfrm>
              <a:off x="1227494" y="1367738"/>
              <a:ext cx="1021932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(teacher-generated future)</a:t>
              </a:r>
            </a:p>
          </p:txBody>
        </p:sp>
        <p:sp>
          <p:nvSpPr>
            <p:cNvPr id="61" name="Action chunk aᵀ">
              <a:extLst>
                <a:ext uri="{FF2B5EF4-FFF2-40B4-BE49-F238E27FC236}">
                  <a16:creationId xmlns:a16="http://schemas.microsoft.com/office/drawing/2014/main" id="{72355920-D1F3-45F6-8007-809C2A07FEDC}"/>
                </a:ext>
              </a:extLst>
            </p:cNvPr>
            <p:cNvSpPr>
              <a:spLocks noGrp="1"/>
            </p:cNvSpPr>
            <p:nvPr/>
          </p:nvSpPr>
          <p:spPr>
            <a:xfrm>
              <a:off x="2368136" y="1249028"/>
              <a:ext cx="717417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5809"/>
            </a:bodyPr>
            <a:lstStyle>
              <a:def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Action chunk aᵀ</a:t>
              </a:r>
            </a:p>
          </p:txBody>
        </p:sp>
        <p:sp>
          <p:nvSpPr>
            <p:cNvPr id="62" name="(6 motor dimensions)">
              <a:extLst>
                <a:ext uri="{FF2B5EF4-FFF2-40B4-BE49-F238E27FC236}">
                  <a16:creationId xmlns:a16="http://schemas.microsoft.com/office/drawing/2014/main" id="{04C081E6-DB64-48AD-8CFA-4C05BD0A613C}"/>
                </a:ext>
              </a:extLst>
            </p:cNvPr>
            <p:cNvSpPr>
              <a:spLocks noGrp="1"/>
            </p:cNvSpPr>
            <p:nvPr/>
          </p:nvSpPr>
          <p:spPr>
            <a:xfrm>
              <a:off x="2357813" y="1367738"/>
              <a:ext cx="717417" cy="877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748"/>
            </a:bodyPr>
            <a:lstStyle>
              <a:def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(6 motor dimensions)</a:t>
              </a:r>
            </a:p>
          </p:txBody>
        </p:sp>
        <p:sp>
          <p:nvSpPr>
            <p:cNvPr id="63" name="Future latent tokens Zˢ">
              <a:extLst>
                <a:ext uri="{FF2B5EF4-FFF2-40B4-BE49-F238E27FC236}">
                  <a16:creationId xmlns:a16="http://schemas.microsoft.com/office/drawing/2014/main" id="{190718B0-B61D-4D07-9981-D44507752AB1}"/>
                </a:ext>
              </a:extLst>
            </p:cNvPr>
            <p:cNvSpPr>
              <a:spLocks noGrp="1"/>
            </p:cNvSpPr>
            <p:nvPr/>
          </p:nvSpPr>
          <p:spPr>
            <a:xfrm>
              <a:off x="1227494" y="2714830"/>
              <a:ext cx="1109674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Future latent tokens Zˢ</a:t>
              </a:r>
            </a:p>
          </p:txBody>
        </p:sp>
        <p:sp>
          <p:nvSpPr>
            <p:cNvPr id="64" name="(student-generated future)">
              <a:extLst>
                <a:ext uri="{FF2B5EF4-FFF2-40B4-BE49-F238E27FC236}">
                  <a16:creationId xmlns:a16="http://schemas.microsoft.com/office/drawing/2014/main" id="{5A4A1672-2BEF-4C2E-8F1B-9B2201421C9C}"/>
                </a:ext>
              </a:extLst>
            </p:cNvPr>
            <p:cNvSpPr>
              <a:spLocks noGrp="1"/>
            </p:cNvSpPr>
            <p:nvPr/>
          </p:nvSpPr>
          <p:spPr>
            <a:xfrm>
              <a:off x="1227494" y="2833539"/>
              <a:ext cx="1021932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(student-generated future)</a:t>
              </a:r>
            </a:p>
          </p:txBody>
        </p:sp>
        <p:sp>
          <p:nvSpPr>
            <p:cNvPr id="65" name="Action chunk aˢ">
              <a:extLst>
                <a:ext uri="{FF2B5EF4-FFF2-40B4-BE49-F238E27FC236}">
                  <a16:creationId xmlns:a16="http://schemas.microsoft.com/office/drawing/2014/main" id="{93DBEB2B-66F0-46D9-9228-C35A3229A52E}"/>
                </a:ext>
              </a:extLst>
            </p:cNvPr>
            <p:cNvSpPr>
              <a:spLocks noGrp="1"/>
            </p:cNvSpPr>
            <p:nvPr/>
          </p:nvSpPr>
          <p:spPr>
            <a:xfrm>
              <a:off x="2368136" y="2714830"/>
              <a:ext cx="717417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6"/>
            </a:bodyPr>
            <a:lstStyle>
              <a:def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Action chunk aˢ</a:t>
              </a:r>
            </a:p>
          </p:txBody>
        </p:sp>
        <p:sp>
          <p:nvSpPr>
            <p:cNvPr id="66" name="(6 motor dimensions)">
              <a:extLst>
                <a:ext uri="{FF2B5EF4-FFF2-40B4-BE49-F238E27FC236}">
                  <a16:creationId xmlns:a16="http://schemas.microsoft.com/office/drawing/2014/main" id="{605D01CC-50AF-4549-A108-B4EE59C5BACB}"/>
                </a:ext>
              </a:extLst>
            </p:cNvPr>
            <p:cNvSpPr>
              <a:spLocks noGrp="1"/>
            </p:cNvSpPr>
            <p:nvPr/>
          </p:nvSpPr>
          <p:spPr>
            <a:xfrm>
              <a:off x="2357813" y="2833539"/>
              <a:ext cx="717417" cy="877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748"/>
            </a:bodyPr>
            <a:lstStyle>
              <a:def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(6 motor dimensions)</a:t>
              </a:r>
            </a:p>
          </p:txBody>
        </p:sp>
        <p:cxnSp>
          <p:nvCxnSpPr>
            <p:cNvPr id="67" name="native PowerPoint connector">
              <a:extLst>
                <a:ext uri="{FF2B5EF4-FFF2-40B4-BE49-F238E27FC236}">
                  <a16:creationId xmlns:a16="http://schemas.microsoft.com/office/drawing/2014/main" id="{B8C9F60A-B4DE-4576-9751-6EC882D64A4E}"/>
                </a:ext>
              </a:extLst>
            </p:cNvPr>
            <p:cNvCxnSpPr/>
            <p:nvPr/>
          </p:nvCxnSpPr>
          <p:spPr>
            <a:xfrm>
              <a:off x="1227494" y="1470963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68" name="native PowerPoint connector">
              <a:extLst>
                <a:ext uri="{FF2B5EF4-FFF2-40B4-BE49-F238E27FC236}">
                  <a16:creationId xmlns:a16="http://schemas.microsoft.com/office/drawing/2014/main" id="{F5F1B2FB-8C2D-4F48-9DDA-F28CE5561096}"/>
                </a:ext>
              </a:extLst>
            </p:cNvPr>
            <p:cNvCxnSpPr/>
            <p:nvPr/>
          </p:nvCxnSpPr>
          <p:spPr>
            <a:xfrm>
              <a:off x="1227494" y="1507092"/>
              <a:ext cx="1021932" cy="0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69" name="native PowerPoint connector">
              <a:extLst>
                <a:ext uri="{FF2B5EF4-FFF2-40B4-BE49-F238E27FC236}">
                  <a16:creationId xmlns:a16="http://schemas.microsoft.com/office/drawing/2014/main" id="{D145083A-B939-47FF-A518-8B14B8419C43}"/>
                </a:ext>
              </a:extLst>
            </p:cNvPr>
            <p:cNvCxnSpPr/>
            <p:nvPr/>
          </p:nvCxnSpPr>
          <p:spPr>
            <a:xfrm flipV="1">
              <a:off x="2249427" y="1470963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sp>
          <p:nvSpPr>
            <p:cNvPr id="70" name="T tokens (exclude frame 0)">
              <a:extLst>
                <a:ext uri="{FF2B5EF4-FFF2-40B4-BE49-F238E27FC236}">
                  <a16:creationId xmlns:a16="http://schemas.microsoft.com/office/drawing/2014/main" id="{12C82D48-B9FD-4F37-8B1D-54DA669238D8}"/>
                </a:ext>
              </a:extLst>
            </p:cNvPr>
            <p:cNvSpPr>
              <a:spLocks noGrp="1"/>
            </p:cNvSpPr>
            <p:nvPr/>
          </p:nvSpPr>
          <p:spPr>
            <a:xfrm>
              <a:off x="1191366" y="1543221"/>
              <a:ext cx="1099351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 tokens (exclude frame 0)</a:t>
              </a:r>
            </a:p>
          </p:txBody>
        </p:sp>
        <p:cxnSp>
          <p:nvCxnSpPr>
            <p:cNvPr id="71" name="native PowerPoint connector">
              <a:extLst>
                <a:ext uri="{FF2B5EF4-FFF2-40B4-BE49-F238E27FC236}">
                  <a16:creationId xmlns:a16="http://schemas.microsoft.com/office/drawing/2014/main" id="{B88A45E6-DF9B-459D-866C-73348D8C4BFD}"/>
                </a:ext>
              </a:extLst>
            </p:cNvPr>
            <p:cNvCxnSpPr/>
            <p:nvPr/>
          </p:nvCxnSpPr>
          <p:spPr>
            <a:xfrm>
              <a:off x="2316523" y="1470963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72" name="native PowerPoint connector">
              <a:extLst>
                <a:ext uri="{FF2B5EF4-FFF2-40B4-BE49-F238E27FC236}">
                  <a16:creationId xmlns:a16="http://schemas.microsoft.com/office/drawing/2014/main" id="{B212D362-E2AF-4940-9AD8-E06F0332D45D}"/>
                </a:ext>
              </a:extLst>
            </p:cNvPr>
            <p:cNvCxnSpPr/>
            <p:nvPr/>
          </p:nvCxnSpPr>
          <p:spPr>
            <a:xfrm>
              <a:off x="2316523" y="1507092"/>
              <a:ext cx="624514" cy="0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73" name="native PowerPoint connector">
              <a:extLst>
                <a:ext uri="{FF2B5EF4-FFF2-40B4-BE49-F238E27FC236}">
                  <a16:creationId xmlns:a16="http://schemas.microsoft.com/office/drawing/2014/main" id="{75DC3709-DB45-43CB-9F25-5680CA2A2BCF}"/>
                </a:ext>
              </a:extLst>
            </p:cNvPr>
            <p:cNvCxnSpPr/>
            <p:nvPr/>
          </p:nvCxnSpPr>
          <p:spPr>
            <a:xfrm flipV="1">
              <a:off x="2941037" y="1470963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sp>
          <p:nvSpPr>
            <p:cNvPr id="74" name="H tokens">
              <a:extLst>
                <a:ext uri="{FF2B5EF4-FFF2-40B4-BE49-F238E27FC236}">
                  <a16:creationId xmlns:a16="http://schemas.microsoft.com/office/drawing/2014/main" id="{23C4A01D-0128-4074-8383-DE4FFE5B0D14}"/>
                </a:ext>
              </a:extLst>
            </p:cNvPr>
            <p:cNvSpPr>
              <a:spLocks noGrp="1"/>
            </p:cNvSpPr>
            <p:nvPr/>
          </p:nvSpPr>
          <p:spPr>
            <a:xfrm>
              <a:off x="2280394" y="1543221"/>
              <a:ext cx="701933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H tokens</a:t>
              </a:r>
            </a:p>
          </p:txBody>
        </p:sp>
        <p:cxnSp>
          <p:nvCxnSpPr>
            <p:cNvPr id="75" name="native PowerPoint connector">
              <a:extLst>
                <a:ext uri="{FF2B5EF4-FFF2-40B4-BE49-F238E27FC236}">
                  <a16:creationId xmlns:a16="http://schemas.microsoft.com/office/drawing/2014/main" id="{F4EC0CFC-38B0-49FC-875C-54CFC4E3C18D}"/>
                </a:ext>
              </a:extLst>
            </p:cNvPr>
            <p:cNvCxnSpPr/>
            <p:nvPr/>
          </p:nvCxnSpPr>
          <p:spPr>
            <a:xfrm>
              <a:off x="1227494" y="2931604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76" name="native PowerPoint connector">
              <a:extLst>
                <a:ext uri="{FF2B5EF4-FFF2-40B4-BE49-F238E27FC236}">
                  <a16:creationId xmlns:a16="http://schemas.microsoft.com/office/drawing/2014/main" id="{D5D3E9A3-1B50-4B25-B94F-A8715F569AF0}"/>
                </a:ext>
              </a:extLst>
            </p:cNvPr>
            <p:cNvCxnSpPr/>
            <p:nvPr/>
          </p:nvCxnSpPr>
          <p:spPr>
            <a:xfrm>
              <a:off x="1227494" y="2967733"/>
              <a:ext cx="1021932" cy="0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77" name="native PowerPoint connector">
              <a:extLst>
                <a:ext uri="{FF2B5EF4-FFF2-40B4-BE49-F238E27FC236}">
                  <a16:creationId xmlns:a16="http://schemas.microsoft.com/office/drawing/2014/main" id="{B65631D9-AB8F-4B6B-8B5A-C7FD3B696DCD}"/>
                </a:ext>
              </a:extLst>
            </p:cNvPr>
            <p:cNvCxnSpPr/>
            <p:nvPr/>
          </p:nvCxnSpPr>
          <p:spPr>
            <a:xfrm flipV="1">
              <a:off x="2249427" y="2931604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sp>
          <p:nvSpPr>
            <p:cNvPr id="78" name="T tokens (exclude frame 0)">
              <a:extLst>
                <a:ext uri="{FF2B5EF4-FFF2-40B4-BE49-F238E27FC236}">
                  <a16:creationId xmlns:a16="http://schemas.microsoft.com/office/drawing/2014/main" id="{46BE16C6-638F-45CE-953D-D0B0705E62BE}"/>
                </a:ext>
              </a:extLst>
            </p:cNvPr>
            <p:cNvSpPr>
              <a:spLocks noGrp="1"/>
            </p:cNvSpPr>
            <p:nvPr/>
          </p:nvSpPr>
          <p:spPr>
            <a:xfrm>
              <a:off x="1191366" y="3003861"/>
              <a:ext cx="1099351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 tokens (exclude frame 0)</a:t>
              </a:r>
            </a:p>
          </p:txBody>
        </p:sp>
        <p:cxnSp>
          <p:nvCxnSpPr>
            <p:cNvPr id="79" name="native PowerPoint connector">
              <a:extLst>
                <a:ext uri="{FF2B5EF4-FFF2-40B4-BE49-F238E27FC236}">
                  <a16:creationId xmlns:a16="http://schemas.microsoft.com/office/drawing/2014/main" id="{7EAC82D8-799E-4A63-B3A0-88F3B666C975}"/>
                </a:ext>
              </a:extLst>
            </p:cNvPr>
            <p:cNvCxnSpPr/>
            <p:nvPr/>
          </p:nvCxnSpPr>
          <p:spPr>
            <a:xfrm>
              <a:off x="2316523" y="2931604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80" name="native PowerPoint connector">
              <a:extLst>
                <a:ext uri="{FF2B5EF4-FFF2-40B4-BE49-F238E27FC236}">
                  <a16:creationId xmlns:a16="http://schemas.microsoft.com/office/drawing/2014/main" id="{3B7C6C79-7E15-46EF-BFD6-255FB87FA1A1}"/>
                </a:ext>
              </a:extLst>
            </p:cNvPr>
            <p:cNvCxnSpPr/>
            <p:nvPr/>
          </p:nvCxnSpPr>
          <p:spPr>
            <a:xfrm>
              <a:off x="2316523" y="2967733"/>
              <a:ext cx="624514" cy="0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81" name="native PowerPoint connector">
              <a:extLst>
                <a:ext uri="{FF2B5EF4-FFF2-40B4-BE49-F238E27FC236}">
                  <a16:creationId xmlns:a16="http://schemas.microsoft.com/office/drawing/2014/main" id="{1BDD476C-5594-4228-B1ED-7C9D1684F939}"/>
                </a:ext>
              </a:extLst>
            </p:cNvPr>
            <p:cNvCxnSpPr/>
            <p:nvPr/>
          </p:nvCxnSpPr>
          <p:spPr>
            <a:xfrm flipV="1">
              <a:off x="2941037" y="2931604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sp>
          <p:nvSpPr>
            <p:cNvPr id="82" name="H tokens">
              <a:extLst>
                <a:ext uri="{FF2B5EF4-FFF2-40B4-BE49-F238E27FC236}">
                  <a16:creationId xmlns:a16="http://schemas.microsoft.com/office/drawing/2014/main" id="{83BF3D93-49C7-45A8-9E18-0648F1DE154E}"/>
                </a:ext>
              </a:extLst>
            </p:cNvPr>
            <p:cNvSpPr>
              <a:spLocks noGrp="1"/>
            </p:cNvSpPr>
            <p:nvPr/>
          </p:nvSpPr>
          <p:spPr>
            <a:xfrm>
              <a:off x="2280394" y="3003861"/>
              <a:ext cx="701933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H tokens</a:t>
              </a:r>
            </a:p>
          </p:txBody>
        </p:sp>
        <p:cxnSp>
          <p:nvCxnSpPr>
            <p:cNvPr id="83" name="native PowerPoint connector">
              <a:extLst>
                <a:ext uri="{FF2B5EF4-FFF2-40B4-BE49-F238E27FC236}">
                  <a16:creationId xmlns:a16="http://schemas.microsoft.com/office/drawing/2014/main" id="{F1495EEF-9ADE-4B5F-8716-505DC66A161C}"/>
                </a:ext>
              </a:extLst>
            </p:cNvPr>
            <p:cNvCxnSpPr/>
            <p:nvPr/>
          </p:nvCxnSpPr>
          <p:spPr>
            <a:xfrm>
              <a:off x="1821041" y="1114835"/>
              <a:ext cx="41290" cy="0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solid"/>
            </a:ln>
          </p:spPr>
        </p:cxnSp>
        <p:cxnSp>
          <p:nvCxnSpPr>
            <p:cNvPr id="84" name="native PowerPoint connector">
              <a:extLst>
                <a:ext uri="{FF2B5EF4-FFF2-40B4-BE49-F238E27FC236}">
                  <a16:creationId xmlns:a16="http://schemas.microsoft.com/office/drawing/2014/main" id="{84FDDF86-DE64-486C-9927-5607ACAA3F2E}"/>
                </a:ext>
              </a:extLst>
            </p:cNvPr>
            <p:cNvCxnSpPr/>
            <p:nvPr/>
          </p:nvCxnSpPr>
          <p:spPr>
            <a:xfrm flipV="1">
              <a:off x="1862331" y="954836"/>
              <a:ext cx="0" cy="159999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solid"/>
            </a:ln>
          </p:spPr>
        </p:cxnSp>
        <p:cxnSp>
          <p:nvCxnSpPr>
            <p:cNvPr id="85" name="native PowerPoint connector">
              <a:extLst>
                <a:ext uri="{FF2B5EF4-FFF2-40B4-BE49-F238E27FC236}">
                  <a16:creationId xmlns:a16="http://schemas.microsoft.com/office/drawing/2014/main" id="{021A8FF5-6B4D-46C5-974A-9BED215BE672}"/>
                </a:ext>
              </a:extLst>
            </p:cNvPr>
            <p:cNvCxnSpPr/>
            <p:nvPr/>
          </p:nvCxnSpPr>
          <p:spPr>
            <a:xfrm>
              <a:off x="1862331" y="954836"/>
              <a:ext cx="438708" cy="0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86" name="Video K/V">
              <a:extLst>
                <a:ext uri="{FF2B5EF4-FFF2-40B4-BE49-F238E27FC236}">
                  <a16:creationId xmlns:a16="http://schemas.microsoft.com/office/drawing/2014/main" id="{F54911E5-C998-44B4-B1D0-AA2288C832B6}"/>
                </a:ext>
              </a:extLst>
            </p:cNvPr>
            <p:cNvSpPr>
              <a:spLocks noGrp="1"/>
            </p:cNvSpPr>
            <p:nvPr/>
          </p:nvSpPr>
          <p:spPr>
            <a:xfrm>
              <a:off x="1877815" y="1037416"/>
              <a:ext cx="562579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Video K/V</a:t>
              </a:r>
            </a:p>
          </p:txBody>
        </p:sp>
        <p:sp>
          <p:nvSpPr>
            <p:cNvPr id="87" name="(teacher future)">
              <a:extLst>
                <a:ext uri="{FF2B5EF4-FFF2-40B4-BE49-F238E27FC236}">
                  <a16:creationId xmlns:a16="http://schemas.microsoft.com/office/drawing/2014/main" id="{4EA939A3-36E9-453A-8675-36CF54E11CC3}"/>
                </a:ext>
              </a:extLst>
            </p:cNvPr>
            <p:cNvSpPr>
              <a:spLocks noGrp="1"/>
            </p:cNvSpPr>
            <p:nvPr/>
          </p:nvSpPr>
          <p:spPr>
            <a:xfrm>
              <a:off x="1877815" y="1145803"/>
              <a:ext cx="562579" cy="877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383"/>
            </a:bodyPr>
            <a:lstStyle>
              <a:def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(teacher future)</a:t>
              </a:r>
            </a:p>
          </p:txBody>
        </p:sp>
        <p:cxnSp>
          <p:nvCxnSpPr>
            <p:cNvPr id="88" name="native PowerPoint connector">
              <a:extLst>
                <a:ext uri="{FF2B5EF4-FFF2-40B4-BE49-F238E27FC236}">
                  <a16:creationId xmlns:a16="http://schemas.microsoft.com/office/drawing/2014/main" id="{596BC328-806D-4484-BB65-7949FD459D7B}"/>
                </a:ext>
              </a:extLst>
            </p:cNvPr>
            <p:cNvCxnSpPr/>
            <p:nvPr/>
          </p:nvCxnSpPr>
          <p:spPr>
            <a:xfrm>
              <a:off x="1821041" y="2565153"/>
              <a:ext cx="41290" cy="0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solid"/>
            </a:ln>
          </p:spPr>
        </p:cxnSp>
        <p:cxnSp>
          <p:nvCxnSpPr>
            <p:cNvPr id="89" name="native PowerPoint connector">
              <a:extLst>
                <a:ext uri="{FF2B5EF4-FFF2-40B4-BE49-F238E27FC236}">
                  <a16:creationId xmlns:a16="http://schemas.microsoft.com/office/drawing/2014/main" id="{27D2D875-B390-4B5D-ADCD-E49F93DC9135}"/>
                </a:ext>
              </a:extLst>
            </p:cNvPr>
            <p:cNvCxnSpPr/>
            <p:nvPr/>
          </p:nvCxnSpPr>
          <p:spPr>
            <a:xfrm flipV="1">
              <a:off x="1862331" y="2394831"/>
              <a:ext cx="0" cy="170322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solid"/>
            </a:ln>
          </p:spPr>
        </p:cxnSp>
        <p:cxnSp>
          <p:nvCxnSpPr>
            <p:cNvPr id="90" name="native PowerPoint connector">
              <a:extLst>
                <a:ext uri="{FF2B5EF4-FFF2-40B4-BE49-F238E27FC236}">
                  <a16:creationId xmlns:a16="http://schemas.microsoft.com/office/drawing/2014/main" id="{6EA33C81-AE80-4A47-B2F2-47723289043B}"/>
                </a:ext>
              </a:extLst>
            </p:cNvPr>
            <p:cNvCxnSpPr/>
            <p:nvPr/>
          </p:nvCxnSpPr>
          <p:spPr>
            <a:xfrm>
              <a:off x="1862331" y="2394831"/>
              <a:ext cx="438708" cy="0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91" name="Video K/V">
              <a:extLst>
                <a:ext uri="{FF2B5EF4-FFF2-40B4-BE49-F238E27FC236}">
                  <a16:creationId xmlns:a16="http://schemas.microsoft.com/office/drawing/2014/main" id="{0CB1089A-D8FF-4430-B73E-DAC21EB954A8}"/>
                </a:ext>
              </a:extLst>
            </p:cNvPr>
            <p:cNvSpPr>
              <a:spLocks noGrp="1"/>
            </p:cNvSpPr>
            <p:nvPr/>
          </p:nvSpPr>
          <p:spPr>
            <a:xfrm>
              <a:off x="1877815" y="2477411"/>
              <a:ext cx="562579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Video K/V</a:t>
              </a:r>
            </a:p>
          </p:txBody>
        </p:sp>
        <p:sp>
          <p:nvSpPr>
            <p:cNvPr id="92" name="(student future)">
              <a:extLst>
                <a:ext uri="{FF2B5EF4-FFF2-40B4-BE49-F238E27FC236}">
                  <a16:creationId xmlns:a16="http://schemas.microsoft.com/office/drawing/2014/main" id="{FEAC24EB-2D5F-49EB-AF2E-B1E848B195FD}"/>
                </a:ext>
              </a:extLst>
            </p:cNvPr>
            <p:cNvSpPr>
              <a:spLocks noGrp="1"/>
            </p:cNvSpPr>
            <p:nvPr/>
          </p:nvSpPr>
          <p:spPr>
            <a:xfrm>
              <a:off x="1877815" y="2585798"/>
              <a:ext cx="562579" cy="877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383"/>
            </a:bodyPr>
            <a:lstStyle>
              <a:def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(student future)</a:t>
              </a:r>
            </a:p>
          </p:txBody>
        </p:sp>
        <p:cxnSp>
          <p:nvCxnSpPr>
            <p:cNvPr id="93" name="native PowerPoint connector">
              <a:extLst>
                <a:ext uri="{FF2B5EF4-FFF2-40B4-BE49-F238E27FC236}">
                  <a16:creationId xmlns:a16="http://schemas.microsoft.com/office/drawing/2014/main" id="{B26A9D6F-D07E-42A5-BC9F-D4473D579920}"/>
                </a:ext>
              </a:extLst>
            </p:cNvPr>
            <p:cNvCxnSpPr/>
            <p:nvPr/>
          </p:nvCxnSpPr>
          <p:spPr>
            <a:xfrm>
              <a:off x="2946199" y="769030"/>
              <a:ext cx="201290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</a:ln>
          </p:spPr>
        </p:cxnSp>
        <p:cxnSp>
          <p:nvCxnSpPr>
            <p:cNvPr id="94" name="native PowerPoint connector">
              <a:extLst>
                <a:ext uri="{FF2B5EF4-FFF2-40B4-BE49-F238E27FC236}">
                  <a16:creationId xmlns:a16="http://schemas.microsoft.com/office/drawing/2014/main" id="{0E2E4A67-C6DB-4B2D-9F0F-6B117C194A32}"/>
                </a:ext>
              </a:extLst>
            </p:cNvPr>
            <p:cNvCxnSpPr/>
            <p:nvPr/>
          </p:nvCxnSpPr>
          <p:spPr>
            <a:xfrm flipV="1">
              <a:off x="3147488" y="645159"/>
              <a:ext cx="0" cy="123871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</a:ln>
          </p:spPr>
        </p:cxnSp>
        <p:cxnSp>
          <p:nvCxnSpPr>
            <p:cNvPr id="95" name="native PowerPoint connector">
              <a:extLst>
                <a:ext uri="{FF2B5EF4-FFF2-40B4-BE49-F238E27FC236}">
                  <a16:creationId xmlns:a16="http://schemas.microsoft.com/office/drawing/2014/main" id="{7CA3F5B0-2730-4308-B703-7BED1CB669A9}"/>
                </a:ext>
              </a:extLst>
            </p:cNvPr>
            <p:cNvCxnSpPr/>
            <p:nvPr/>
          </p:nvCxnSpPr>
          <p:spPr>
            <a:xfrm>
              <a:off x="3147488" y="645159"/>
              <a:ext cx="113548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  <a:tailEnd type="triangle" w="sm" len="sm"/>
            </a:ln>
          </p:spPr>
        </p:cxnSp>
        <p:cxnSp>
          <p:nvCxnSpPr>
            <p:cNvPr id="96" name="native PowerPoint connector">
              <a:extLst>
                <a:ext uri="{FF2B5EF4-FFF2-40B4-BE49-F238E27FC236}">
                  <a16:creationId xmlns:a16="http://schemas.microsoft.com/office/drawing/2014/main" id="{C95D6475-5FD2-4059-8592-57D38BC86A09}"/>
                </a:ext>
              </a:extLst>
            </p:cNvPr>
            <p:cNvCxnSpPr/>
            <p:nvPr/>
          </p:nvCxnSpPr>
          <p:spPr>
            <a:xfrm>
              <a:off x="2946199" y="2193541"/>
              <a:ext cx="201290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</a:ln>
          </p:spPr>
        </p:cxnSp>
        <p:cxnSp>
          <p:nvCxnSpPr>
            <p:cNvPr id="97" name="native PowerPoint connector">
              <a:extLst>
                <a:ext uri="{FF2B5EF4-FFF2-40B4-BE49-F238E27FC236}">
                  <a16:creationId xmlns:a16="http://schemas.microsoft.com/office/drawing/2014/main" id="{5837948C-7DDB-41D4-8F83-0C254FFEDE74}"/>
                </a:ext>
              </a:extLst>
            </p:cNvPr>
            <p:cNvCxnSpPr/>
            <p:nvPr/>
          </p:nvCxnSpPr>
          <p:spPr>
            <a:xfrm>
              <a:off x="3147488" y="2193541"/>
              <a:ext cx="0" cy="8258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</a:ln>
          </p:spPr>
        </p:cxnSp>
        <p:cxnSp>
          <p:nvCxnSpPr>
            <p:cNvPr id="98" name="native PowerPoint connector">
              <a:extLst>
                <a:ext uri="{FF2B5EF4-FFF2-40B4-BE49-F238E27FC236}">
                  <a16:creationId xmlns:a16="http://schemas.microsoft.com/office/drawing/2014/main" id="{053B7A31-675E-437F-B469-FDABAD9093CA}"/>
                </a:ext>
              </a:extLst>
            </p:cNvPr>
            <p:cNvCxnSpPr/>
            <p:nvPr/>
          </p:nvCxnSpPr>
          <p:spPr>
            <a:xfrm>
              <a:off x="3147488" y="2276122"/>
              <a:ext cx="113548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  <a:tailEnd type="triangle" w="sm" len="sm"/>
            </a:ln>
          </p:spPr>
        </p:cxnSp>
        <p:cxnSp>
          <p:nvCxnSpPr>
            <p:cNvPr id="99" name="native PowerPoint connector">
              <a:extLst>
                <a:ext uri="{FF2B5EF4-FFF2-40B4-BE49-F238E27FC236}">
                  <a16:creationId xmlns:a16="http://schemas.microsoft.com/office/drawing/2014/main" id="{DAC43F5C-9049-409D-9FA9-E8C839A37ED8}"/>
                </a:ext>
              </a:extLst>
            </p:cNvPr>
            <p:cNvCxnSpPr/>
            <p:nvPr/>
          </p:nvCxnSpPr>
          <p:spPr>
            <a:xfrm>
              <a:off x="3147488" y="645159"/>
              <a:ext cx="0" cy="1630963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dash"/>
            </a:ln>
          </p:spPr>
        </p:cxnSp>
        <p:sp>
          <p:nvSpPr>
            <p:cNvPr id="100" name="diagram block">
              <a:extLst>
                <a:ext uri="{FF2B5EF4-FFF2-40B4-BE49-F238E27FC236}">
                  <a16:creationId xmlns:a16="http://schemas.microsoft.com/office/drawing/2014/main" id="{9932272C-9617-42E2-A123-8A01B867941D}"/>
                </a:ext>
              </a:extLst>
            </p:cNvPr>
            <p:cNvSpPr>
              <a:spLocks noGrp="1"/>
            </p:cNvSpPr>
            <p:nvPr/>
          </p:nvSpPr>
          <p:spPr>
            <a:xfrm>
              <a:off x="3261036" y="485160"/>
              <a:ext cx="629675" cy="903223"/>
            </a:xfrm>
            <a:prstGeom prst="roundRect">
              <a:avLst>
                <a:gd name="adj" fmla="val 4098"/>
              </a:avLst>
            </a:prstGeom>
            <a:gradFill>
              <a:gsLst>
                <a:gs pos="0">
                  <a:srgbClr val="FFE6B3"/>
                </a:gs>
                <a:gs pos="100000">
                  <a:srgbClr val="FFF3DD"/>
                </a:gs>
              </a:gsLst>
              <a:lin ang="5400000"/>
            </a:gradFill>
            <a:ln w="5161">
              <a:solidFill>
                <a:srgbClr val="F0D297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01" name="Future&#10;latent loss">
              <a:extLst>
                <a:ext uri="{FF2B5EF4-FFF2-40B4-BE49-F238E27FC236}">
                  <a16:creationId xmlns:a16="http://schemas.microsoft.com/office/drawing/2014/main" id="{64205DEC-BB54-44EF-B0F9-446676F260F3}"/>
                </a:ext>
              </a:extLst>
            </p:cNvPr>
            <p:cNvSpPr>
              <a:spLocks noGrp="1"/>
            </p:cNvSpPr>
            <p:nvPr/>
          </p:nvSpPr>
          <p:spPr>
            <a:xfrm>
              <a:off x="3312649" y="526450"/>
              <a:ext cx="526450" cy="24774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5"/>
            </a:bodyPr>
            <a:lstStyle>
              <a:def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rPr>
                <a:t>Future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rPr>
                <a:t>latent loss</a:t>
              </a:r>
            </a:p>
          </p:txBody>
        </p:sp>
        <p:sp>
          <p:nvSpPr>
            <p:cNvPr id="102" name="L_z = NMSE">
              <a:extLst>
                <a:ext uri="{FF2B5EF4-FFF2-40B4-BE49-F238E27FC236}">
                  <a16:creationId xmlns:a16="http://schemas.microsoft.com/office/drawing/2014/main" id="{7E81FF55-350F-44D2-A180-AA1A1778876A}"/>
                </a:ext>
              </a:extLst>
            </p:cNvPr>
            <p:cNvSpPr>
              <a:spLocks noGrp="1"/>
            </p:cNvSpPr>
            <p:nvPr/>
          </p:nvSpPr>
          <p:spPr>
            <a:xfrm>
              <a:off x="3302327" y="846449"/>
              <a:ext cx="557418" cy="14967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3763"/>
            </a:bodyPr>
            <a:lstStyle>
              <a:def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</a:t>
              </a:r>
              <a:r>
                <a:rPr sz="502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z</a:t>
              </a:r>
              <a:r>
                <a: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= </a:t>
              </a:r>
              <a:r>
                <a:rPr sz="68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NMSE</a:t>
              </a:r>
            </a:p>
          </p:txBody>
        </p:sp>
        <p:sp>
          <p:nvSpPr>
            <p:cNvPr id="103" name="(Z^S, Z^T)">
              <a:extLst>
                <a:ext uri="{FF2B5EF4-FFF2-40B4-BE49-F238E27FC236}">
                  <a16:creationId xmlns:a16="http://schemas.microsoft.com/office/drawing/2014/main" id="{92AB4801-224D-44E8-9F98-20EECA91F2A1}"/>
                </a:ext>
              </a:extLst>
            </p:cNvPr>
            <p:cNvSpPr>
              <a:spLocks noGrp="1"/>
            </p:cNvSpPr>
            <p:nvPr/>
          </p:nvSpPr>
          <p:spPr>
            <a:xfrm>
              <a:off x="3302327" y="1001287"/>
              <a:ext cx="557418" cy="14451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(Z</a:t>
              </a:r>
              <a:r>
                <a:rPr sz="547" b="0" i="1" baseline="27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, Z</a:t>
              </a:r>
              <a:r>
                <a:rPr sz="547" b="0" i="1" baseline="27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)</a:t>
              </a:r>
            </a:p>
          </p:txBody>
        </p:sp>
        <p:sp>
          <p:nvSpPr>
            <p:cNvPr id="104" name="(future only,&#10;frame 0 excluded)">
              <a:extLst>
                <a:ext uri="{FF2B5EF4-FFF2-40B4-BE49-F238E27FC236}">
                  <a16:creationId xmlns:a16="http://schemas.microsoft.com/office/drawing/2014/main" id="{CF32BE93-A4F4-4123-ABC3-4225BA9FAED6}"/>
                </a:ext>
              </a:extLst>
            </p:cNvPr>
            <p:cNvSpPr>
              <a:spLocks noGrp="1"/>
            </p:cNvSpPr>
            <p:nvPr/>
          </p:nvSpPr>
          <p:spPr>
            <a:xfrm>
              <a:off x="3297165" y="1197416"/>
              <a:ext cx="557418" cy="170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5969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(future only,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frame 0 excluded)</a:t>
              </a:r>
            </a:p>
          </p:txBody>
        </p:sp>
        <p:sp>
          <p:nvSpPr>
            <p:cNvPr id="105" name="diagram block">
              <a:extLst>
                <a:ext uri="{FF2B5EF4-FFF2-40B4-BE49-F238E27FC236}">
                  <a16:creationId xmlns:a16="http://schemas.microsoft.com/office/drawing/2014/main" id="{98F31485-87E7-479F-83AC-8E237050FA1F}"/>
                </a:ext>
              </a:extLst>
            </p:cNvPr>
            <p:cNvSpPr>
              <a:spLocks noGrp="1"/>
            </p:cNvSpPr>
            <p:nvPr/>
          </p:nvSpPr>
          <p:spPr>
            <a:xfrm>
              <a:off x="3261036" y="1723865"/>
              <a:ext cx="629675" cy="1068384"/>
            </a:xfrm>
            <a:prstGeom prst="roundRect">
              <a:avLst>
                <a:gd name="adj" fmla="val 4098"/>
              </a:avLst>
            </a:prstGeom>
            <a:gradFill>
              <a:gsLst>
                <a:gs pos="0">
                  <a:srgbClr val="D9F2F4"/>
                </a:gs>
                <a:gs pos="100000">
                  <a:srgbClr val="EDF9FA"/>
                </a:gs>
              </a:gsLst>
              <a:lin ang="5400000"/>
            </a:gradFill>
            <a:ln w="5161">
              <a:solidFill>
                <a:srgbClr val="98D7D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06" name="First-10&#10;motor action&#10;loss">
              <a:extLst>
                <a:ext uri="{FF2B5EF4-FFF2-40B4-BE49-F238E27FC236}">
                  <a16:creationId xmlns:a16="http://schemas.microsoft.com/office/drawing/2014/main" id="{150DDA0C-EEC0-4AF6-A8F2-FE24558A3C6E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1790962"/>
              <a:ext cx="541934" cy="330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867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First-10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motor action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loss</a:t>
              </a:r>
            </a:p>
          </p:txBody>
        </p:sp>
        <p:sp>
          <p:nvSpPr>
            <p:cNvPr id="107" name="L_a = MSE">
              <a:extLst>
                <a:ext uri="{FF2B5EF4-FFF2-40B4-BE49-F238E27FC236}">
                  <a16:creationId xmlns:a16="http://schemas.microsoft.com/office/drawing/2014/main" id="{B547E166-2EB9-4CF0-A921-6ECB37D33937}"/>
                </a:ext>
              </a:extLst>
            </p:cNvPr>
            <p:cNvSpPr>
              <a:spLocks noGrp="1"/>
            </p:cNvSpPr>
            <p:nvPr/>
          </p:nvSpPr>
          <p:spPr>
            <a:xfrm>
              <a:off x="3302327" y="2167735"/>
              <a:ext cx="557418" cy="14967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</a:t>
              </a:r>
              <a:r>
                <a:rPr sz="525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  <a:r>
                <a: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= </a:t>
              </a:r>
              <a:r>
                <a:rPr sz="71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MSE</a:t>
              </a:r>
            </a:p>
          </p:txBody>
        </p:sp>
        <p:sp>
          <p:nvSpPr>
            <p:cNvPr id="108" name="(a^S, a^T)">
              <a:extLst>
                <a:ext uri="{FF2B5EF4-FFF2-40B4-BE49-F238E27FC236}">
                  <a16:creationId xmlns:a16="http://schemas.microsoft.com/office/drawing/2014/main" id="{66D5B86D-9345-4F99-ACD6-9CF1F7E1676A}"/>
                </a:ext>
              </a:extLst>
            </p:cNvPr>
            <p:cNvSpPr>
              <a:spLocks noGrp="1"/>
            </p:cNvSpPr>
            <p:nvPr/>
          </p:nvSpPr>
          <p:spPr>
            <a:xfrm>
              <a:off x="3302327" y="2327735"/>
              <a:ext cx="557418" cy="14451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</a:t>
              </a:r>
              <a:r>
                <a:rPr sz="547" b="0" i="1" baseline="27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, a</a:t>
              </a:r>
              <a:r>
                <a:rPr sz="547" b="0" i="1" baseline="27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)</a:t>
              </a:r>
            </a:p>
          </p:txBody>
        </p:sp>
        <p:sp>
          <p:nvSpPr>
            <p:cNvPr id="109" name="(6 motor dims&#10;only, gripper&#10;excluded)">
              <a:extLst>
                <a:ext uri="{FF2B5EF4-FFF2-40B4-BE49-F238E27FC236}">
                  <a16:creationId xmlns:a16="http://schemas.microsoft.com/office/drawing/2014/main" id="{EBB7271C-964E-4625-816E-8004071DE334}"/>
                </a:ext>
              </a:extLst>
            </p:cNvPr>
            <p:cNvSpPr>
              <a:spLocks noGrp="1"/>
            </p:cNvSpPr>
            <p:nvPr/>
          </p:nvSpPr>
          <p:spPr>
            <a:xfrm>
              <a:off x="3302327" y="2503218"/>
              <a:ext cx="536772" cy="26838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0194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(6 motor dims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only, gripper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excluded)</a:t>
              </a:r>
            </a:p>
          </p:txBody>
        </p:sp>
        <p:sp>
          <p:nvSpPr>
            <p:cNvPr id="110" name="Transform weight rows into groups of 32 scalars">
              <a:extLst>
                <a:ext uri="{FF2B5EF4-FFF2-40B4-BE49-F238E27FC236}">
                  <a16:creationId xmlns:a16="http://schemas.microsoft.com/office/drawing/2014/main" id="{5F22959F-E953-490F-9B55-E2FD575D6D09}"/>
                </a:ext>
              </a:extLst>
            </p:cNvPr>
            <p:cNvSpPr>
              <a:spLocks noGrp="1"/>
            </p:cNvSpPr>
            <p:nvPr/>
          </p:nvSpPr>
          <p:spPr>
            <a:xfrm>
              <a:off x="4066195" y="273548"/>
              <a:ext cx="2296767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6"/>
            </a:bodyPr>
            <a:lstStyle>
              <a:def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Transform weight rows into groups of 32 scalars</a:t>
              </a:r>
            </a:p>
          </p:txBody>
        </p:sp>
        <p:sp>
          <p:nvSpPr>
            <p:cNvPr id="111" name="(each vector has d = 4)">
              <a:extLst>
                <a:ext uri="{FF2B5EF4-FFF2-40B4-BE49-F238E27FC236}">
                  <a16:creationId xmlns:a16="http://schemas.microsoft.com/office/drawing/2014/main" id="{388AA04E-223C-487E-8105-559891765968}"/>
                </a:ext>
              </a:extLst>
            </p:cNvPr>
            <p:cNvSpPr>
              <a:spLocks noGrp="1"/>
            </p:cNvSpPr>
            <p:nvPr/>
          </p:nvSpPr>
          <p:spPr>
            <a:xfrm>
              <a:off x="4122969" y="387096"/>
              <a:ext cx="2198703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6"/>
            </a:bodyPr>
            <a:lstStyle>
              <a:def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(each vector has d = 4)</a:t>
              </a:r>
            </a:p>
          </p:txBody>
        </p:sp>
        <p:sp>
          <p:nvSpPr>
            <p:cNvPr id="112" name="Transformed weight row  w">
              <a:extLst>
                <a:ext uri="{FF2B5EF4-FFF2-40B4-BE49-F238E27FC236}">
                  <a16:creationId xmlns:a16="http://schemas.microsoft.com/office/drawing/2014/main" id="{AB540DC8-2ED2-48C4-AEDA-D6EAB09255EF}"/>
                </a:ext>
              </a:extLst>
            </p:cNvPr>
            <p:cNvSpPr>
              <a:spLocks noGrp="1"/>
            </p:cNvSpPr>
            <p:nvPr/>
          </p:nvSpPr>
          <p:spPr>
            <a:xfrm>
              <a:off x="4210711" y="521289"/>
              <a:ext cx="1971607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5809"/>
            </a:bodyPr>
            <a:lstStyle>
              <a:def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Transformed weight row  w</a:t>
              </a:r>
            </a:p>
          </p:txBody>
        </p:sp>
        <p:sp>
          <p:nvSpPr>
            <p:cNvPr id="113" name="diagram block">
              <a:extLst>
                <a:ext uri="{FF2B5EF4-FFF2-40B4-BE49-F238E27FC236}">
                  <a16:creationId xmlns:a16="http://schemas.microsoft.com/office/drawing/2014/main" id="{829C8DBF-0F22-49A9-9512-9F1D4FF72B96}"/>
                </a:ext>
              </a:extLst>
            </p:cNvPr>
            <p:cNvSpPr>
              <a:spLocks noGrp="1"/>
            </p:cNvSpPr>
            <p:nvPr/>
          </p:nvSpPr>
          <p:spPr>
            <a:xfrm>
              <a:off x="4257162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14" name="diagram block">
              <a:extLst>
                <a:ext uri="{FF2B5EF4-FFF2-40B4-BE49-F238E27FC236}">
                  <a16:creationId xmlns:a16="http://schemas.microsoft.com/office/drawing/2014/main" id="{C75B57AC-879E-4FCA-9A30-3CD6176D4A91}"/>
                </a:ext>
              </a:extLst>
            </p:cNvPr>
            <p:cNvSpPr>
              <a:spLocks noGrp="1"/>
            </p:cNvSpPr>
            <p:nvPr/>
          </p:nvSpPr>
          <p:spPr>
            <a:xfrm>
              <a:off x="4375549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15" name="diagram block">
              <a:extLst>
                <a:ext uri="{FF2B5EF4-FFF2-40B4-BE49-F238E27FC236}">
                  <a16:creationId xmlns:a16="http://schemas.microsoft.com/office/drawing/2014/main" id="{7B13A627-5455-4D89-8D85-5D283322D86A}"/>
                </a:ext>
              </a:extLst>
            </p:cNvPr>
            <p:cNvSpPr>
              <a:spLocks noGrp="1"/>
            </p:cNvSpPr>
            <p:nvPr/>
          </p:nvSpPr>
          <p:spPr>
            <a:xfrm>
              <a:off x="4493936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16" name="diagram block">
              <a:extLst>
                <a:ext uri="{FF2B5EF4-FFF2-40B4-BE49-F238E27FC236}">
                  <a16:creationId xmlns:a16="http://schemas.microsoft.com/office/drawing/2014/main" id="{88C03362-3069-4ABC-9BBA-1B460A2CD057}"/>
                </a:ext>
              </a:extLst>
            </p:cNvPr>
            <p:cNvSpPr>
              <a:spLocks noGrp="1"/>
            </p:cNvSpPr>
            <p:nvPr/>
          </p:nvSpPr>
          <p:spPr>
            <a:xfrm>
              <a:off x="4612322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17" name="diagram block">
              <a:extLst>
                <a:ext uri="{FF2B5EF4-FFF2-40B4-BE49-F238E27FC236}">
                  <a16:creationId xmlns:a16="http://schemas.microsoft.com/office/drawing/2014/main" id="{215A4646-D512-4277-8C7B-6C9FB3D83957}"/>
                </a:ext>
              </a:extLst>
            </p:cNvPr>
            <p:cNvSpPr>
              <a:spLocks noGrp="1"/>
            </p:cNvSpPr>
            <p:nvPr/>
          </p:nvSpPr>
          <p:spPr>
            <a:xfrm>
              <a:off x="4730709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18" name="diagram block">
              <a:extLst>
                <a:ext uri="{FF2B5EF4-FFF2-40B4-BE49-F238E27FC236}">
                  <a16:creationId xmlns:a16="http://schemas.microsoft.com/office/drawing/2014/main" id="{A521B99D-5520-4178-A552-483A589B1EB8}"/>
                </a:ext>
              </a:extLst>
            </p:cNvPr>
            <p:cNvSpPr>
              <a:spLocks noGrp="1"/>
            </p:cNvSpPr>
            <p:nvPr/>
          </p:nvSpPr>
          <p:spPr>
            <a:xfrm>
              <a:off x="4849096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19" name="diagram block">
              <a:extLst>
                <a:ext uri="{FF2B5EF4-FFF2-40B4-BE49-F238E27FC236}">
                  <a16:creationId xmlns:a16="http://schemas.microsoft.com/office/drawing/2014/main" id="{B903AA7E-1637-43B5-B813-4B25F6989F01}"/>
                </a:ext>
              </a:extLst>
            </p:cNvPr>
            <p:cNvSpPr>
              <a:spLocks noGrp="1"/>
            </p:cNvSpPr>
            <p:nvPr/>
          </p:nvSpPr>
          <p:spPr>
            <a:xfrm>
              <a:off x="4967483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20" name="diagram block">
              <a:extLst>
                <a:ext uri="{FF2B5EF4-FFF2-40B4-BE49-F238E27FC236}">
                  <a16:creationId xmlns:a16="http://schemas.microsoft.com/office/drawing/2014/main" id="{3F7D791E-3801-46FB-8EBA-7E395D4E6D35}"/>
                </a:ext>
              </a:extLst>
            </p:cNvPr>
            <p:cNvSpPr>
              <a:spLocks noGrp="1"/>
            </p:cNvSpPr>
            <p:nvPr/>
          </p:nvSpPr>
          <p:spPr>
            <a:xfrm>
              <a:off x="5085869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21" name="diagram block">
              <a:extLst>
                <a:ext uri="{FF2B5EF4-FFF2-40B4-BE49-F238E27FC236}">
                  <a16:creationId xmlns:a16="http://schemas.microsoft.com/office/drawing/2014/main" id="{BFF71563-535A-4774-9904-B283AEF936CC}"/>
                </a:ext>
              </a:extLst>
            </p:cNvPr>
            <p:cNvSpPr>
              <a:spLocks noGrp="1"/>
            </p:cNvSpPr>
            <p:nvPr/>
          </p:nvSpPr>
          <p:spPr>
            <a:xfrm>
              <a:off x="5204256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22" name="diagram block">
              <a:extLst>
                <a:ext uri="{FF2B5EF4-FFF2-40B4-BE49-F238E27FC236}">
                  <a16:creationId xmlns:a16="http://schemas.microsoft.com/office/drawing/2014/main" id="{901204F1-62F3-4778-8C96-32AAFC24EA64}"/>
                </a:ext>
              </a:extLst>
            </p:cNvPr>
            <p:cNvSpPr>
              <a:spLocks noGrp="1"/>
            </p:cNvSpPr>
            <p:nvPr/>
          </p:nvSpPr>
          <p:spPr>
            <a:xfrm>
              <a:off x="5322643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23" name="diagram block">
              <a:extLst>
                <a:ext uri="{FF2B5EF4-FFF2-40B4-BE49-F238E27FC236}">
                  <a16:creationId xmlns:a16="http://schemas.microsoft.com/office/drawing/2014/main" id="{4D483890-BDFA-4A04-8337-F5C2888B4B3A}"/>
                </a:ext>
              </a:extLst>
            </p:cNvPr>
            <p:cNvSpPr>
              <a:spLocks noGrp="1"/>
            </p:cNvSpPr>
            <p:nvPr/>
          </p:nvSpPr>
          <p:spPr>
            <a:xfrm>
              <a:off x="5441029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24" name="diagram block">
              <a:extLst>
                <a:ext uri="{FF2B5EF4-FFF2-40B4-BE49-F238E27FC236}">
                  <a16:creationId xmlns:a16="http://schemas.microsoft.com/office/drawing/2014/main" id="{ACCB9247-126B-41BD-81F6-1627BC345A58}"/>
                </a:ext>
              </a:extLst>
            </p:cNvPr>
            <p:cNvSpPr>
              <a:spLocks noGrp="1"/>
            </p:cNvSpPr>
            <p:nvPr/>
          </p:nvSpPr>
          <p:spPr>
            <a:xfrm>
              <a:off x="5559416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25" name="diagram block">
              <a:extLst>
                <a:ext uri="{FF2B5EF4-FFF2-40B4-BE49-F238E27FC236}">
                  <a16:creationId xmlns:a16="http://schemas.microsoft.com/office/drawing/2014/main" id="{8C619438-A25D-4C26-B270-BA5E4AA79A7F}"/>
                </a:ext>
              </a:extLst>
            </p:cNvPr>
            <p:cNvSpPr>
              <a:spLocks noGrp="1"/>
            </p:cNvSpPr>
            <p:nvPr/>
          </p:nvSpPr>
          <p:spPr>
            <a:xfrm>
              <a:off x="5677803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26" name="diagram block">
              <a:extLst>
                <a:ext uri="{FF2B5EF4-FFF2-40B4-BE49-F238E27FC236}">
                  <a16:creationId xmlns:a16="http://schemas.microsoft.com/office/drawing/2014/main" id="{85D5C479-A6BF-4D98-A2FA-D64A6B752FBD}"/>
                </a:ext>
              </a:extLst>
            </p:cNvPr>
            <p:cNvSpPr>
              <a:spLocks noGrp="1"/>
            </p:cNvSpPr>
            <p:nvPr/>
          </p:nvSpPr>
          <p:spPr>
            <a:xfrm>
              <a:off x="5796190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27" name="diagram block">
              <a:extLst>
                <a:ext uri="{FF2B5EF4-FFF2-40B4-BE49-F238E27FC236}">
                  <a16:creationId xmlns:a16="http://schemas.microsoft.com/office/drawing/2014/main" id="{2DA0A653-D3CF-4F95-B4C8-4671481050AC}"/>
                </a:ext>
              </a:extLst>
            </p:cNvPr>
            <p:cNvSpPr>
              <a:spLocks noGrp="1"/>
            </p:cNvSpPr>
            <p:nvPr/>
          </p:nvSpPr>
          <p:spPr>
            <a:xfrm>
              <a:off x="5914576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28" name="diagram block">
              <a:extLst>
                <a:ext uri="{FF2B5EF4-FFF2-40B4-BE49-F238E27FC236}">
                  <a16:creationId xmlns:a16="http://schemas.microsoft.com/office/drawing/2014/main" id="{80BD6747-CE80-45BC-AD51-9EDABA6C2F32}"/>
                </a:ext>
              </a:extLst>
            </p:cNvPr>
            <p:cNvSpPr>
              <a:spLocks noGrp="1"/>
            </p:cNvSpPr>
            <p:nvPr/>
          </p:nvSpPr>
          <p:spPr>
            <a:xfrm>
              <a:off x="6032963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29" name="diagram block">
              <a:extLst>
                <a:ext uri="{FF2B5EF4-FFF2-40B4-BE49-F238E27FC236}">
                  <a16:creationId xmlns:a16="http://schemas.microsoft.com/office/drawing/2014/main" id="{EC53A9AF-B46D-46BE-803D-959CCC396D3D}"/>
                </a:ext>
              </a:extLst>
            </p:cNvPr>
            <p:cNvSpPr>
              <a:spLocks noGrp="1"/>
            </p:cNvSpPr>
            <p:nvPr/>
          </p:nvSpPr>
          <p:spPr>
            <a:xfrm>
              <a:off x="425716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30" name="diagram block">
              <a:extLst>
                <a:ext uri="{FF2B5EF4-FFF2-40B4-BE49-F238E27FC236}">
                  <a16:creationId xmlns:a16="http://schemas.microsoft.com/office/drawing/2014/main" id="{A244E0EE-53D9-44FF-9CCA-2DB433ACBAD4}"/>
                </a:ext>
              </a:extLst>
            </p:cNvPr>
            <p:cNvSpPr>
              <a:spLocks noGrp="1"/>
            </p:cNvSpPr>
            <p:nvPr/>
          </p:nvSpPr>
          <p:spPr>
            <a:xfrm>
              <a:off x="435845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31" name="diagram block">
              <a:extLst>
                <a:ext uri="{FF2B5EF4-FFF2-40B4-BE49-F238E27FC236}">
                  <a16:creationId xmlns:a16="http://schemas.microsoft.com/office/drawing/2014/main" id="{A2BAC573-D520-418D-AB64-A2B101A63557}"/>
                </a:ext>
              </a:extLst>
            </p:cNvPr>
            <p:cNvSpPr>
              <a:spLocks noGrp="1"/>
            </p:cNvSpPr>
            <p:nvPr/>
          </p:nvSpPr>
          <p:spPr>
            <a:xfrm>
              <a:off x="445974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32" name="diagram block">
              <a:extLst>
                <a:ext uri="{FF2B5EF4-FFF2-40B4-BE49-F238E27FC236}">
                  <a16:creationId xmlns:a16="http://schemas.microsoft.com/office/drawing/2014/main" id="{633EDC8B-4CFD-481C-B1E5-0FD9549F03AC}"/>
                </a:ext>
              </a:extLst>
            </p:cNvPr>
            <p:cNvSpPr>
              <a:spLocks noGrp="1"/>
            </p:cNvSpPr>
            <p:nvPr/>
          </p:nvSpPr>
          <p:spPr>
            <a:xfrm>
              <a:off x="456103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33" name="diagram block">
              <a:extLst>
                <a:ext uri="{FF2B5EF4-FFF2-40B4-BE49-F238E27FC236}">
                  <a16:creationId xmlns:a16="http://schemas.microsoft.com/office/drawing/2014/main" id="{0991FA5C-1384-4E49-9387-EA5BD020B009}"/>
                </a:ext>
              </a:extLst>
            </p:cNvPr>
            <p:cNvSpPr>
              <a:spLocks noGrp="1"/>
            </p:cNvSpPr>
            <p:nvPr/>
          </p:nvSpPr>
          <p:spPr>
            <a:xfrm>
              <a:off x="466232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34" name="diagram block">
              <a:extLst>
                <a:ext uri="{FF2B5EF4-FFF2-40B4-BE49-F238E27FC236}">
                  <a16:creationId xmlns:a16="http://schemas.microsoft.com/office/drawing/2014/main" id="{1E876D3B-3897-41C1-BF1F-6380D3FF5CB5}"/>
                </a:ext>
              </a:extLst>
            </p:cNvPr>
            <p:cNvSpPr>
              <a:spLocks noGrp="1"/>
            </p:cNvSpPr>
            <p:nvPr/>
          </p:nvSpPr>
          <p:spPr>
            <a:xfrm>
              <a:off x="476361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35" name="diagram block">
              <a:extLst>
                <a:ext uri="{FF2B5EF4-FFF2-40B4-BE49-F238E27FC236}">
                  <a16:creationId xmlns:a16="http://schemas.microsoft.com/office/drawing/2014/main" id="{664EB4CD-DB5E-4FEC-A227-7354E9C6707D}"/>
                </a:ext>
              </a:extLst>
            </p:cNvPr>
            <p:cNvSpPr>
              <a:spLocks noGrp="1"/>
            </p:cNvSpPr>
            <p:nvPr/>
          </p:nvSpPr>
          <p:spPr>
            <a:xfrm>
              <a:off x="486490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36" name="diagram block">
              <a:extLst>
                <a:ext uri="{FF2B5EF4-FFF2-40B4-BE49-F238E27FC236}">
                  <a16:creationId xmlns:a16="http://schemas.microsoft.com/office/drawing/2014/main" id="{B7D2926A-E218-404E-B463-A0607B81F2B0}"/>
                </a:ext>
              </a:extLst>
            </p:cNvPr>
            <p:cNvSpPr>
              <a:spLocks noGrp="1"/>
            </p:cNvSpPr>
            <p:nvPr/>
          </p:nvSpPr>
          <p:spPr>
            <a:xfrm>
              <a:off x="496619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37" name="diagram block">
              <a:extLst>
                <a:ext uri="{FF2B5EF4-FFF2-40B4-BE49-F238E27FC236}">
                  <a16:creationId xmlns:a16="http://schemas.microsoft.com/office/drawing/2014/main" id="{74BAC2B0-2640-4C77-952F-2061448E5E7C}"/>
                </a:ext>
              </a:extLst>
            </p:cNvPr>
            <p:cNvSpPr>
              <a:spLocks noGrp="1"/>
            </p:cNvSpPr>
            <p:nvPr/>
          </p:nvSpPr>
          <p:spPr>
            <a:xfrm>
              <a:off x="5103611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38" name="diagram block">
              <a:extLst>
                <a:ext uri="{FF2B5EF4-FFF2-40B4-BE49-F238E27FC236}">
                  <a16:creationId xmlns:a16="http://schemas.microsoft.com/office/drawing/2014/main" id="{338DC949-9880-4B4D-ABA6-F7F177971131}"/>
                </a:ext>
              </a:extLst>
            </p:cNvPr>
            <p:cNvSpPr>
              <a:spLocks noGrp="1"/>
            </p:cNvSpPr>
            <p:nvPr/>
          </p:nvSpPr>
          <p:spPr>
            <a:xfrm>
              <a:off x="5199095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39" name="diagram block">
              <a:extLst>
                <a:ext uri="{FF2B5EF4-FFF2-40B4-BE49-F238E27FC236}">
                  <a16:creationId xmlns:a16="http://schemas.microsoft.com/office/drawing/2014/main" id="{ED5E6B57-5708-441F-A221-DD917ABF43B0}"/>
                </a:ext>
              </a:extLst>
            </p:cNvPr>
            <p:cNvSpPr>
              <a:spLocks noGrp="1"/>
            </p:cNvSpPr>
            <p:nvPr/>
          </p:nvSpPr>
          <p:spPr>
            <a:xfrm>
              <a:off x="5294578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40" name="diagram block">
              <a:extLst>
                <a:ext uri="{FF2B5EF4-FFF2-40B4-BE49-F238E27FC236}">
                  <a16:creationId xmlns:a16="http://schemas.microsoft.com/office/drawing/2014/main" id="{DD112826-0764-4CC9-831B-F9A123DF4437}"/>
                </a:ext>
              </a:extLst>
            </p:cNvPr>
            <p:cNvSpPr>
              <a:spLocks noGrp="1"/>
            </p:cNvSpPr>
            <p:nvPr/>
          </p:nvSpPr>
          <p:spPr>
            <a:xfrm>
              <a:off x="5390062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41" name="diagram block">
              <a:extLst>
                <a:ext uri="{FF2B5EF4-FFF2-40B4-BE49-F238E27FC236}">
                  <a16:creationId xmlns:a16="http://schemas.microsoft.com/office/drawing/2014/main" id="{E53155F0-5B64-4A37-A98F-08A10E8CF3CC}"/>
                </a:ext>
              </a:extLst>
            </p:cNvPr>
            <p:cNvSpPr>
              <a:spLocks noGrp="1"/>
            </p:cNvSpPr>
            <p:nvPr/>
          </p:nvSpPr>
          <p:spPr>
            <a:xfrm>
              <a:off x="5485545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42" name="diagram block">
              <a:extLst>
                <a:ext uri="{FF2B5EF4-FFF2-40B4-BE49-F238E27FC236}">
                  <a16:creationId xmlns:a16="http://schemas.microsoft.com/office/drawing/2014/main" id="{3FE076F7-8789-4CDB-8048-F0032EFA6E77}"/>
                </a:ext>
              </a:extLst>
            </p:cNvPr>
            <p:cNvSpPr>
              <a:spLocks noGrp="1"/>
            </p:cNvSpPr>
            <p:nvPr/>
          </p:nvSpPr>
          <p:spPr>
            <a:xfrm>
              <a:off x="5581029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43" name="diagram block">
              <a:extLst>
                <a:ext uri="{FF2B5EF4-FFF2-40B4-BE49-F238E27FC236}">
                  <a16:creationId xmlns:a16="http://schemas.microsoft.com/office/drawing/2014/main" id="{2510A421-75BE-4F1A-B995-661E5F063041}"/>
                </a:ext>
              </a:extLst>
            </p:cNvPr>
            <p:cNvSpPr>
              <a:spLocks noGrp="1"/>
            </p:cNvSpPr>
            <p:nvPr/>
          </p:nvSpPr>
          <p:spPr>
            <a:xfrm>
              <a:off x="5676513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44" name="diagram block">
              <a:extLst>
                <a:ext uri="{FF2B5EF4-FFF2-40B4-BE49-F238E27FC236}">
                  <a16:creationId xmlns:a16="http://schemas.microsoft.com/office/drawing/2014/main" id="{D3032DBD-FCDE-47E4-AA2E-57DDE81B24B7}"/>
                </a:ext>
              </a:extLst>
            </p:cNvPr>
            <p:cNvSpPr>
              <a:spLocks noGrp="1"/>
            </p:cNvSpPr>
            <p:nvPr/>
          </p:nvSpPr>
          <p:spPr>
            <a:xfrm>
              <a:off x="5771996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45" name="…">
              <a:extLst>
                <a:ext uri="{FF2B5EF4-FFF2-40B4-BE49-F238E27FC236}">
                  <a16:creationId xmlns:a16="http://schemas.microsoft.com/office/drawing/2014/main" id="{9AA1DA2E-CC48-4A03-B338-C27F57E08399}"/>
                </a:ext>
              </a:extLst>
            </p:cNvPr>
            <p:cNvSpPr>
              <a:spLocks noGrp="1"/>
            </p:cNvSpPr>
            <p:nvPr/>
          </p:nvSpPr>
          <p:spPr>
            <a:xfrm>
              <a:off x="6027479" y="738062"/>
              <a:ext cx="247741" cy="1651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5231"/>
            </a:bodyPr>
            <a:lstStyle>
              <a:def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cxnSp>
          <p:nvCxnSpPr>
            <p:cNvPr id="146" name="native PowerPoint connector">
              <a:extLst>
                <a:ext uri="{FF2B5EF4-FFF2-40B4-BE49-F238E27FC236}">
                  <a16:creationId xmlns:a16="http://schemas.microsoft.com/office/drawing/2014/main" id="{BCC5425B-68B0-408B-AC36-238D1C3B68A7}"/>
                </a:ext>
              </a:extLst>
            </p:cNvPr>
            <p:cNvCxnSpPr/>
            <p:nvPr/>
          </p:nvCxnSpPr>
          <p:spPr>
            <a:xfrm>
              <a:off x="4257162" y="918707"/>
              <a:ext cx="0" cy="30968"/>
            </a:xfrm>
            <a:prstGeom prst="straightConnector1">
              <a:avLst/>
            </a:prstGeom>
            <a:ln w="5677">
              <a:solidFill>
                <a:srgbClr val="074A8B"/>
              </a:solidFill>
              <a:prstDash val="solid"/>
            </a:ln>
          </p:spPr>
        </p:cxnSp>
        <p:cxnSp>
          <p:nvCxnSpPr>
            <p:cNvPr id="147" name="native PowerPoint connector">
              <a:extLst>
                <a:ext uri="{FF2B5EF4-FFF2-40B4-BE49-F238E27FC236}">
                  <a16:creationId xmlns:a16="http://schemas.microsoft.com/office/drawing/2014/main" id="{CD09A0D1-A842-4FEB-A47E-0E031ABEEDA7}"/>
                </a:ext>
              </a:extLst>
            </p:cNvPr>
            <p:cNvCxnSpPr/>
            <p:nvPr/>
          </p:nvCxnSpPr>
          <p:spPr>
            <a:xfrm>
              <a:off x="4257162" y="949674"/>
              <a:ext cx="799997" cy="0"/>
            </a:xfrm>
            <a:prstGeom prst="straightConnector1">
              <a:avLst/>
            </a:prstGeom>
            <a:ln w="5677">
              <a:solidFill>
                <a:srgbClr val="074A8B"/>
              </a:solidFill>
              <a:prstDash val="solid"/>
            </a:ln>
          </p:spPr>
        </p:cxnSp>
        <p:cxnSp>
          <p:nvCxnSpPr>
            <p:cNvPr id="148" name="native PowerPoint connector">
              <a:extLst>
                <a:ext uri="{FF2B5EF4-FFF2-40B4-BE49-F238E27FC236}">
                  <a16:creationId xmlns:a16="http://schemas.microsoft.com/office/drawing/2014/main" id="{1D46F9B2-89C5-43C7-B55B-9B9E6E53EC4D}"/>
                </a:ext>
              </a:extLst>
            </p:cNvPr>
            <p:cNvCxnSpPr/>
            <p:nvPr/>
          </p:nvCxnSpPr>
          <p:spPr>
            <a:xfrm flipV="1">
              <a:off x="5057160" y="918707"/>
              <a:ext cx="0" cy="30968"/>
            </a:xfrm>
            <a:prstGeom prst="straightConnector1">
              <a:avLst/>
            </a:prstGeom>
            <a:ln w="5677">
              <a:solidFill>
                <a:srgbClr val="074A8B"/>
              </a:solidFill>
              <a:prstDash val="solid"/>
            </a:ln>
          </p:spPr>
        </p:cxnSp>
        <p:sp>
          <p:nvSpPr>
            <p:cNvPr id="149" name="Group g (32 scalars)">
              <a:extLst>
                <a:ext uri="{FF2B5EF4-FFF2-40B4-BE49-F238E27FC236}">
                  <a16:creationId xmlns:a16="http://schemas.microsoft.com/office/drawing/2014/main" id="{F149F501-2129-4F33-98A2-42E636E7A67B}"/>
                </a:ext>
              </a:extLst>
            </p:cNvPr>
            <p:cNvSpPr>
              <a:spLocks noGrp="1"/>
            </p:cNvSpPr>
            <p:nvPr/>
          </p:nvSpPr>
          <p:spPr>
            <a:xfrm>
              <a:off x="4257162" y="970319"/>
              <a:ext cx="856771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Group g (32 scalars)</a:t>
              </a:r>
            </a:p>
          </p:txBody>
        </p:sp>
        <p:sp>
          <p:nvSpPr>
            <p:cNvPr id="150" name="Group g + 1">
              <a:extLst>
                <a:ext uri="{FF2B5EF4-FFF2-40B4-BE49-F238E27FC236}">
                  <a16:creationId xmlns:a16="http://schemas.microsoft.com/office/drawing/2014/main" id="{E38ACD43-C7D4-4179-A60F-F57427A17969}"/>
                </a:ext>
              </a:extLst>
            </p:cNvPr>
            <p:cNvSpPr>
              <a:spLocks noGrp="1"/>
            </p:cNvSpPr>
            <p:nvPr/>
          </p:nvSpPr>
          <p:spPr>
            <a:xfrm>
              <a:off x="5289417" y="970319"/>
              <a:ext cx="614192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Group g + 1</a:t>
              </a:r>
            </a:p>
          </p:txBody>
        </p:sp>
        <p:sp>
          <p:nvSpPr>
            <p:cNvPr id="151" name="diagram block">
              <a:extLst>
                <a:ext uri="{FF2B5EF4-FFF2-40B4-BE49-F238E27FC236}">
                  <a16:creationId xmlns:a16="http://schemas.microsoft.com/office/drawing/2014/main" id="{2F443D1F-899C-4711-AE5B-3C57F1F18D70}"/>
                </a:ext>
              </a:extLst>
            </p:cNvPr>
            <p:cNvSpPr>
              <a:spLocks noGrp="1"/>
            </p:cNvSpPr>
            <p:nvPr/>
          </p:nvSpPr>
          <p:spPr>
            <a:xfrm>
              <a:off x="4061034" y="1145803"/>
              <a:ext cx="2178058" cy="319999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5161">
              <a:solidFill>
                <a:srgbClr val="5C6D82"/>
              </a:solidFill>
              <a:prstDash val="dash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52" name="32 scalars = 8 vectors (d = 4)">
              <a:extLst>
                <a:ext uri="{FF2B5EF4-FFF2-40B4-BE49-F238E27FC236}">
                  <a16:creationId xmlns:a16="http://schemas.microsoft.com/office/drawing/2014/main" id="{4A31113A-DA3D-443E-99FC-6FDECE23A060}"/>
                </a:ext>
              </a:extLst>
            </p:cNvPr>
            <p:cNvSpPr>
              <a:spLocks noGrp="1"/>
            </p:cNvSpPr>
            <p:nvPr/>
          </p:nvSpPr>
          <p:spPr>
            <a:xfrm>
              <a:off x="4128130" y="1171609"/>
              <a:ext cx="2043864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32 scalars = 8 vectors (d = 4)</a:t>
              </a:r>
            </a:p>
          </p:txBody>
        </p:sp>
        <p:sp>
          <p:nvSpPr>
            <p:cNvPr id="153" name="diagram block">
              <a:extLst>
                <a:ext uri="{FF2B5EF4-FFF2-40B4-BE49-F238E27FC236}">
                  <a16:creationId xmlns:a16="http://schemas.microsoft.com/office/drawing/2014/main" id="{8E3A0213-CD65-4E2F-93DF-2E132D018C30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54" name="diagram block">
              <a:extLst>
                <a:ext uri="{FF2B5EF4-FFF2-40B4-BE49-F238E27FC236}">
                  <a16:creationId xmlns:a16="http://schemas.microsoft.com/office/drawing/2014/main" id="{639BE09F-15F1-4F4F-85DF-846C6A6F9FFA}"/>
                </a:ext>
              </a:extLst>
            </p:cNvPr>
            <p:cNvSpPr>
              <a:spLocks noGrp="1"/>
            </p:cNvSpPr>
            <p:nvPr/>
          </p:nvSpPr>
          <p:spPr>
            <a:xfrm>
              <a:off x="4310065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55" name="diagram block">
              <a:extLst>
                <a:ext uri="{FF2B5EF4-FFF2-40B4-BE49-F238E27FC236}">
                  <a16:creationId xmlns:a16="http://schemas.microsoft.com/office/drawing/2014/main" id="{91C85303-7462-4B5A-8D21-0BE448108F0A}"/>
                </a:ext>
              </a:extLst>
            </p:cNvPr>
            <p:cNvSpPr>
              <a:spLocks noGrp="1"/>
            </p:cNvSpPr>
            <p:nvPr/>
          </p:nvSpPr>
          <p:spPr>
            <a:xfrm>
              <a:off x="4414581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56" name="diagram block">
              <a:extLst>
                <a:ext uri="{FF2B5EF4-FFF2-40B4-BE49-F238E27FC236}">
                  <a16:creationId xmlns:a16="http://schemas.microsoft.com/office/drawing/2014/main" id="{2DA02289-0DBB-42E7-906C-DF7E4DBD1505}"/>
                </a:ext>
              </a:extLst>
            </p:cNvPr>
            <p:cNvSpPr>
              <a:spLocks noGrp="1"/>
            </p:cNvSpPr>
            <p:nvPr/>
          </p:nvSpPr>
          <p:spPr>
            <a:xfrm>
              <a:off x="4519097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57" name="diagram block">
              <a:extLst>
                <a:ext uri="{FF2B5EF4-FFF2-40B4-BE49-F238E27FC236}">
                  <a16:creationId xmlns:a16="http://schemas.microsoft.com/office/drawing/2014/main" id="{F4C76DA7-4C77-438F-B64F-97EB25BC3880}"/>
                </a:ext>
              </a:extLst>
            </p:cNvPr>
            <p:cNvSpPr>
              <a:spLocks noGrp="1"/>
            </p:cNvSpPr>
            <p:nvPr/>
          </p:nvSpPr>
          <p:spPr>
            <a:xfrm>
              <a:off x="4695871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58" name="diagram block">
              <a:extLst>
                <a:ext uri="{FF2B5EF4-FFF2-40B4-BE49-F238E27FC236}">
                  <a16:creationId xmlns:a16="http://schemas.microsoft.com/office/drawing/2014/main" id="{60307727-5387-4250-B5DE-3DC41EBB9C5F}"/>
                </a:ext>
              </a:extLst>
            </p:cNvPr>
            <p:cNvSpPr>
              <a:spLocks noGrp="1"/>
            </p:cNvSpPr>
            <p:nvPr/>
          </p:nvSpPr>
          <p:spPr>
            <a:xfrm>
              <a:off x="4800386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59" name="diagram block">
              <a:extLst>
                <a:ext uri="{FF2B5EF4-FFF2-40B4-BE49-F238E27FC236}">
                  <a16:creationId xmlns:a16="http://schemas.microsoft.com/office/drawing/2014/main" id="{EA65BE6B-E22F-4B01-8C76-EE2D7016DBDD}"/>
                </a:ext>
              </a:extLst>
            </p:cNvPr>
            <p:cNvSpPr>
              <a:spLocks noGrp="1"/>
            </p:cNvSpPr>
            <p:nvPr/>
          </p:nvSpPr>
          <p:spPr>
            <a:xfrm>
              <a:off x="4904902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60" name="diagram block">
              <a:extLst>
                <a:ext uri="{FF2B5EF4-FFF2-40B4-BE49-F238E27FC236}">
                  <a16:creationId xmlns:a16="http://schemas.microsoft.com/office/drawing/2014/main" id="{523104AC-3DFC-4748-AA22-E9E85CBEA144}"/>
                </a:ext>
              </a:extLst>
            </p:cNvPr>
            <p:cNvSpPr>
              <a:spLocks noGrp="1"/>
            </p:cNvSpPr>
            <p:nvPr/>
          </p:nvSpPr>
          <p:spPr>
            <a:xfrm>
              <a:off x="5009418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61" name="diagram block">
              <a:extLst>
                <a:ext uri="{FF2B5EF4-FFF2-40B4-BE49-F238E27FC236}">
                  <a16:creationId xmlns:a16="http://schemas.microsoft.com/office/drawing/2014/main" id="{B3DF6CF3-BE96-480B-A677-D197AFF82058}"/>
                </a:ext>
              </a:extLst>
            </p:cNvPr>
            <p:cNvSpPr>
              <a:spLocks noGrp="1"/>
            </p:cNvSpPr>
            <p:nvPr/>
          </p:nvSpPr>
          <p:spPr>
            <a:xfrm>
              <a:off x="5284256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62" name="diagram block">
              <a:extLst>
                <a:ext uri="{FF2B5EF4-FFF2-40B4-BE49-F238E27FC236}">
                  <a16:creationId xmlns:a16="http://schemas.microsoft.com/office/drawing/2014/main" id="{37161BFE-77ED-4F6E-98B1-F24BD9D3CA31}"/>
                </a:ext>
              </a:extLst>
            </p:cNvPr>
            <p:cNvSpPr>
              <a:spLocks noGrp="1"/>
            </p:cNvSpPr>
            <p:nvPr/>
          </p:nvSpPr>
          <p:spPr>
            <a:xfrm>
              <a:off x="5388772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63" name="diagram block">
              <a:extLst>
                <a:ext uri="{FF2B5EF4-FFF2-40B4-BE49-F238E27FC236}">
                  <a16:creationId xmlns:a16="http://schemas.microsoft.com/office/drawing/2014/main" id="{737768D1-CA02-4813-A9AE-0A0D1F8EB02A}"/>
                </a:ext>
              </a:extLst>
            </p:cNvPr>
            <p:cNvSpPr>
              <a:spLocks noGrp="1"/>
            </p:cNvSpPr>
            <p:nvPr/>
          </p:nvSpPr>
          <p:spPr>
            <a:xfrm>
              <a:off x="5493287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64" name="diagram block">
              <a:extLst>
                <a:ext uri="{FF2B5EF4-FFF2-40B4-BE49-F238E27FC236}">
                  <a16:creationId xmlns:a16="http://schemas.microsoft.com/office/drawing/2014/main" id="{AA1FD1AE-50D1-4BF0-B054-0F952F623DD4}"/>
                </a:ext>
              </a:extLst>
            </p:cNvPr>
            <p:cNvSpPr>
              <a:spLocks noGrp="1"/>
            </p:cNvSpPr>
            <p:nvPr/>
          </p:nvSpPr>
          <p:spPr>
            <a:xfrm>
              <a:off x="5597803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65" name="…">
              <a:extLst>
                <a:ext uri="{FF2B5EF4-FFF2-40B4-BE49-F238E27FC236}">
                  <a16:creationId xmlns:a16="http://schemas.microsoft.com/office/drawing/2014/main" id="{2581F584-E63F-4063-A067-5CD7ED275D13}"/>
                </a:ext>
              </a:extLst>
            </p:cNvPr>
            <p:cNvSpPr>
              <a:spLocks noGrp="1"/>
            </p:cNvSpPr>
            <p:nvPr/>
          </p:nvSpPr>
          <p:spPr>
            <a:xfrm>
              <a:off x="5129418" y="1300641"/>
              <a:ext cx="123871" cy="1393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3784"/>
            </a:bodyPr>
            <a:lstStyle>
              <a:def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166" name="…">
              <a:extLst>
                <a:ext uri="{FF2B5EF4-FFF2-40B4-BE49-F238E27FC236}">
                  <a16:creationId xmlns:a16="http://schemas.microsoft.com/office/drawing/2014/main" id="{88919944-D22F-4D8A-8C4F-17C86EB5BF8C}"/>
                </a:ext>
              </a:extLst>
            </p:cNvPr>
            <p:cNvSpPr>
              <a:spLocks noGrp="1"/>
            </p:cNvSpPr>
            <p:nvPr/>
          </p:nvSpPr>
          <p:spPr>
            <a:xfrm>
              <a:off x="5944899" y="1300641"/>
              <a:ext cx="134193" cy="1393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3784"/>
            </a:bodyPr>
            <a:lstStyle>
              <a:def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cxnSp>
          <p:nvCxnSpPr>
            <p:cNvPr id="167" name="native PowerPoint connector">
              <a:extLst>
                <a:ext uri="{FF2B5EF4-FFF2-40B4-BE49-F238E27FC236}">
                  <a16:creationId xmlns:a16="http://schemas.microsoft.com/office/drawing/2014/main" id="{73B03500-E0D7-4AC8-AA70-78BBE81907E8}"/>
                </a:ext>
              </a:extLst>
            </p:cNvPr>
            <p:cNvCxnSpPr/>
            <p:nvPr/>
          </p:nvCxnSpPr>
          <p:spPr>
            <a:xfrm flipH="1">
              <a:off x="4169421" y="799997"/>
              <a:ext cx="92903" cy="0"/>
            </a:xfrm>
            <a:prstGeom prst="straightConnector1">
              <a:avLst/>
            </a:prstGeom>
            <a:ln w="6194">
              <a:solidFill>
                <a:srgbClr val="246EAF"/>
              </a:solidFill>
              <a:prstDash val="dash"/>
            </a:ln>
          </p:spPr>
        </p:cxnSp>
        <p:cxnSp>
          <p:nvCxnSpPr>
            <p:cNvPr id="168" name="native PowerPoint connector">
              <a:extLst>
                <a:ext uri="{FF2B5EF4-FFF2-40B4-BE49-F238E27FC236}">
                  <a16:creationId xmlns:a16="http://schemas.microsoft.com/office/drawing/2014/main" id="{1D6B7CD8-368D-4AB3-BCB4-6FEBF1FC0606}"/>
                </a:ext>
              </a:extLst>
            </p:cNvPr>
            <p:cNvCxnSpPr/>
            <p:nvPr/>
          </p:nvCxnSpPr>
          <p:spPr>
            <a:xfrm flipH="1">
              <a:off x="4076518" y="799997"/>
              <a:ext cx="92903" cy="345805"/>
            </a:xfrm>
            <a:prstGeom prst="straightConnector1">
              <a:avLst/>
            </a:prstGeom>
            <a:ln w="6194">
              <a:solidFill>
                <a:srgbClr val="246EAF"/>
              </a:solidFill>
              <a:prstDash val="dash"/>
              <a:tailEnd type="triangle" w="sm" len="sm"/>
            </a:ln>
          </p:spPr>
        </p:cxnSp>
        <p:cxnSp>
          <p:nvCxnSpPr>
            <p:cNvPr id="169" name="native PowerPoint connector">
              <a:extLst>
                <a:ext uri="{FF2B5EF4-FFF2-40B4-BE49-F238E27FC236}">
                  <a16:creationId xmlns:a16="http://schemas.microsoft.com/office/drawing/2014/main" id="{82C1F370-EEF9-4435-B55F-8B07447E5573}"/>
                </a:ext>
              </a:extLst>
            </p:cNvPr>
            <p:cNvCxnSpPr/>
            <p:nvPr/>
          </p:nvCxnSpPr>
          <p:spPr>
            <a:xfrm>
              <a:off x="5862318" y="908384"/>
              <a:ext cx="211612" cy="82580"/>
            </a:xfrm>
            <a:prstGeom prst="straightConnector1">
              <a:avLst/>
            </a:prstGeom>
            <a:ln w="5677">
              <a:solidFill>
                <a:srgbClr val="69748A"/>
              </a:solidFill>
              <a:prstDash val="dash"/>
            </a:ln>
          </p:spPr>
        </p:cxnSp>
        <p:cxnSp>
          <p:nvCxnSpPr>
            <p:cNvPr id="170" name="native PowerPoint connector">
              <a:extLst>
                <a:ext uri="{FF2B5EF4-FFF2-40B4-BE49-F238E27FC236}">
                  <a16:creationId xmlns:a16="http://schemas.microsoft.com/office/drawing/2014/main" id="{31908671-0D9A-4389-BBB7-05EF25FB6D0C}"/>
                </a:ext>
              </a:extLst>
            </p:cNvPr>
            <p:cNvCxnSpPr/>
            <p:nvPr/>
          </p:nvCxnSpPr>
          <p:spPr>
            <a:xfrm>
              <a:off x="6073931" y="990965"/>
              <a:ext cx="118709" cy="149677"/>
            </a:xfrm>
            <a:prstGeom prst="straightConnector1">
              <a:avLst/>
            </a:prstGeom>
            <a:ln w="5677">
              <a:solidFill>
                <a:srgbClr val="69748A"/>
              </a:solidFill>
              <a:prstDash val="dash"/>
            </a:ln>
          </p:spPr>
        </p:cxnSp>
        <p:sp>
          <p:nvSpPr>
            <p:cNvPr id="171" name="diagram block">
              <a:extLst>
                <a:ext uri="{FF2B5EF4-FFF2-40B4-BE49-F238E27FC236}">
                  <a16:creationId xmlns:a16="http://schemas.microsoft.com/office/drawing/2014/main" id="{6D249520-EEFA-4D88-BBB0-CE39E6BFA683}"/>
                </a:ext>
              </a:extLst>
            </p:cNvPr>
            <p:cNvSpPr>
              <a:spLocks noGrp="1"/>
            </p:cNvSpPr>
            <p:nvPr/>
          </p:nvSpPr>
          <p:spPr>
            <a:xfrm>
              <a:off x="4035228" y="1517415"/>
              <a:ext cx="1109674" cy="954836"/>
            </a:xfrm>
            <a:prstGeom prst="roundRect">
              <a:avLst>
                <a:gd name="adj" fmla="val 2162"/>
              </a:avLst>
            </a:prstGeom>
            <a:solidFill>
              <a:srgbClr val="F3F9FF"/>
            </a:solidFill>
            <a:ln w="5161">
              <a:solidFill>
                <a:srgbClr val="6BB7E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72" name="Codebook 1">
              <a:extLst>
                <a:ext uri="{FF2B5EF4-FFF2-40B4-BE49-F238E27FC236}">
                  <a16:creationId xmlns:a16="http://schemas.microsoft.com/office/drawing/2014/main" id="{4A019DC4-4AEE-4C37-B7A6-AF37786CAFF6}"/>
                </a:ext>
              </a:extLst>
            </p:cNvPr>
            <p:cNvSpPr>
              <a:spLocks noGrp="1"/>
            </p:cNvSpPr>
            <p:nvPr/>
          </p:nvSpPr>
          <p:spPr>
            <a:xfrm>
              <a:off x="4086840" y="1543221"/>
              <a:ext cx="1006448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257"/>
            </a:bodyPr>
            <a:lstStyle>
              <a:def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Codebook 1</a:t>
              </a:r>
            </a:p>
          </p:txBody>
        </p:sp>
        <p:sp>
          <p:nvSpPr>
            <p:cNvPr id="173" name="C₁ ∈ ℝ²⁵⁶×⁴, BF16">
              <a:extLst>
                <a:ext uri="{FF2B5EF4-FFF2-40B4-BE49-F238E27FC236}">
                  <a16:creationId xmlns:a16="http://schemas.microsoft.com/office/drawing/2014/main" id="{EDD7295F-1B55-4E03-92B6-73A4284CD4E8}"/>
                </a:ext>
              </a:extLst>
            </p:cNvPr>
            <p:cNvSpPr>
              <a:spLocks noGrp="1"/>
            </p:cNvSpPr>
            <p:nvPr/>
          </p:nvSpPr>
          <p:spPr>
            <a:xfrm>
              <a:off x="4092002" y="1667091"/>
              <a:ext cx="990965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493"/>
            </a:bodyPr>
            <a:lstStyle>
              <a:def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C₁ ∈ ℝ²⁵⁶×⁴, BF16</a:t>
              </a:r>
            </a:p>
          </p:txBody>
        </p:sp>
        <p:sp>
          <p:nvSpPr>
            <p:cNvPr id="174" name="8 indices">
              <a:extLst>
                <a:ext uri="{FF2B5EF4-FFF2-40B4-BE49-F238E27FC236}">
                  <a16:creationId xmlns:a16="http://schemas.microsoft.com/office/drawing/2014/main" id="{CD46A9C1-EEAD-43C9-86EB-895F3AF795D1}"/>
                </a:ext>
              </a:extLst>
            </p:cNvPr>
            <p:cNvSpPr>
              <a:spLocks noGrp="1"/>
            </p:cNvSpPr>
            <p:nvPr/>
          </p:nvSpPr>
          <p:spPr>
            <a:xfrm>
              <a:off x="4076518" y="1796123"/>
              <a:ext cx="428386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159"/>
            </a:bodyPr>
            <a:lstStyle>
              <a:def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 indices</a:t>
              </a:r>
            </a:p>
          </p:txBody>
        </p:sp>
        <p:sp>
          <p:nvSpPr>
            <p:cNvPr id="175" name="i₁ (8-bit)">
              <a:extLst>
                <a:ext uri="{FF2B5EF4-FFF2-40B4-BE49-F238E27FC236}">
                  <a16:creationId xmlns:a16="http://schemas.microsoft.com/office/drawing/2014/main" id="{2DA0BB4A-376A-4705-AE06-2780FE07FB11}"/>
                </a:ext>
              </a:extLst>
            </p:cNvPr>
            <p:cNvSpPr>
              <a:spLocks noGrp="1"/>
            </p:cNvSpPr>
            <p:nvPr/>
          </p:nvSpPr>
          <p:spPr>
            <a:xfrm>
              <a:off x="4107485" y="1909671"/>
              <a:ext cx="412902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i₁ (8-bit)</a:t>
              </a:r>
            </a:p>
          </p:txBody>
        </p:sp>
        <p:sp>
          <p:nvSpPr>
            <p:cNvPr id="176" name="diagram block">
              <a:extLst>
                <a:ext uri="{FF2B5EF4-FFF2-40B4-BE49-F238E27FC236}">
                  <a16:creationId xmlns:a16="http://schemas.microsoft.com/office/drawing/2014/main" id="{54D343E8-C812-4F35-8E97-3F51FC8A2BD1}"/>
                </a:ext>
              </a:extLst>
            </p:cNvPr>
            <p:cNvSpPr>
              <a:spLocks noGrp="1"/>
            </p:cNvSpPr>
            <p:nvPr/>
          </p:nvSpPr>
          <p:spPr>
            <a:xfrm>
              <a:off x="4128130" y="2049026"/>
              <a:ext cx="211612" cy="108387"/>
            </a:xfrm>
            <a:prstGeom prst="rect">
              <a:avLst/>
            </a:prstGeom>
            <a:solidFill>
              <a:srgbClr val="F6FAFE"/>
            </a:solidFill>
            <a:ln w="5161">
              <a:solidFill>
                <a:srgbClr val="64778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77" name="i₁,1">
              <a:extLst>
                <a:ext uri="{FF2B5EF4-FFF2-40B4-BE49-F238E27FC236}">
                  <a16:creationId xmlns:a16="http://schemas.microsoft.com/office/drawing/2014/main" id="{107B9AD8-F083-467B-86BC-57AD8BF361D9}"/>
                </a:ext>
              </a:extLst>
            </p:cNvPr>
            <p:cNvSpPr>
              <a:spLocks noGrp="1"/>
            </p:cNvSpPr>
            <p:nvPr/>
          </p:nvSpPr>
          <p:spPr>
            <a:xfrm>
              <a:off x="4153937" y="2074832"/>
              <a:ext cx="159999" cy="56774"/>
            </a:xfrm>
            <a:prstGeom prst="rect">
              <a:avLst/>
            </a:prstGeom>
            <a:solidFill>
              <a:srgbClr val="F6FAFE"/>
            </a:solidFill>
            <a:ln w="0">
              <a:noFill/>
            </a:ln>
          </p:spPr>
          <p:txBody>
            <a:bodyPr wrap="none" lIns="0" tIns="0" rIns="0" bIns="0" anchor="ctr">
              <a:normAutofit fontScale="57313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i₁,1</a:t>
              </a:r>
            </a:p>
          </p:txBody>
        </p:sp>
        <p:sp>
          <p:nvSpPr>
            <p:cNvPr id="178" name="diagram block">
              <a:extLst>
                <a:ext uri="{FF2B5EF4-FFF2-40B4-BE49-F238E27FC236}">
                  <a16:creationId xmlns:a16="http://schemas.microsoft.com/office/drawing/2014/main" id="{49573A7C-14DC-4DE2-A70E-BAB431EB5B10}"/>
                </a:ext>
              </a:extLst>
            </p:cNvPr>
            <p:cNvSpPr>
              <a:spLocks noGrp="1"/>
            </p:cNvSpPr>
            <p:nvPr/>
          </p:nvSpPr>
          <p:spPr>
            <a:xfrm>
              <a:off x="4128130" y="2172896"/>
              <a:ext cx="211612" cy="108387"/>
            </a:xfrm>
            <a:prstGeom prst="rect">
              <a:avLst/>
            </a:prstGeom>
            <a:solidFill>
              <a:srgbClr val="F6FAFE"/>
            </a:solidFill>
            <a:ln w="5161">
              <a:solidFill>
                <a:srgbClr val="64778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79" name="i₁,2">
              <a:extLst>
                <a:ext uri="{FF2B5EF4-FFF2-40B4-BE49-F238E27FC236}">
                  <a16:creationId xmlns:a16="http://schemas.microsoft.com/office/drawing/2014/main" id="{D640CC97-C18B-45F1-84A1-4A497E6BE229}"/>
                </a:ext>
              </a:extLst>
            </p:cNvPr>
            <p:cNvSpPr>
              <a:spLocks noGrp="1"/>
            </p:cNvSpPr>
            <p:nvPr/>
          </p:nvSpPr>
          <p:spPr>
            <a:xfrm>
              <a:off x="4153937" y="2198703"/>
              <a:ext cx="159999" cy="56774"/>
            </a:xfrm>
            <a:prstGeom prst="rect">
              <a:avLst/>
            </a:prstGeom>
            <a:solidFill>
              <a:srgbClr val="F6FAFE"/>
            </a:solidFill>
            <a:ln w="0">
              <a:noFill/>
            </a:ln>
          </p:spPr>
          <p:txBody>
            <a:bodyPr wrap="none" lIns="0" tIns="0" rIns="0" bIns="0" anchor="ctr">
              <a:normAutofit fontScale="57313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i₁,2</a:t>
              </a:r>
            </a:p>
          </p:txBody>
        </p:sp>
        <p:sp>
          <p:nvSpPr>
            <p:cNvPr id="180" name="diagram block">
              <a:extLst>
                <a:ext uri="{FF2B5EF4-FFF2-40B4-BE49-F238E27FC236}">
                  <a16:creationId xmlns:a16="http://schemas.microsoft.com/office/drawing/2014/main" id="{3FF7EC1D-A30C-4941-861D-DA300175E2FD}"/>
                </a:ext>
              </a:extLst>
            </p:cNvPr>
            <p:cNvSpPr>
              <a:spLocks noGrp="1"/>
            </p:cNvSpPr>
            <p:nvPr/>
          </p:nvSpPr>
          <p:spPr>
            <a:xfrm>
              <a:off x="4128130" y="2343218"/>
              <a:ext cx="211612" cy="108387"/>
            </a:xfrm>
            <a:prstGeom prst="rect">
              <a:avLst/>
            </a:prstGeom>
            <a:solidFill>
              <a:srgbClr val="F6FAFE"/>
            </a:solidFill>
            <a:ln w="5161">
              <a:solidFill>
                <a:srgbClr val="64778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81" name="i₁,8">
              <a:extLst>
                <a:ext uri="{FF2B5EF4-FFF2-40B4-BE49-F238E27FC236}">
                  <a16:creationId xmlns:a16="http://schemas.microsoft.com/office/drawing/2014/main" id="{6D58A342-5581-4113-9CC8-1AA204520C5D}"/>
                </a:ext>
              </a:extLst>
            </p:cNvPr>
            <p:cNvSpPr>
              <a:spLocks noGrp="1"/>
            </p:cNvSpPr>
            <p:nvPr/>
          </p:nvSpPr>
          <p:spPr>
            <a:xfrm>
              <a:off x="4153937" y="2369025"/>
              <a:ext cx="159999" cy="56774"/>
            </a:xfrm>
            <a:prstGeom prst="rect">
              <a:avLst/>
            </a:prstGeom>
            <a:solidFill>
              <a:srgbClr val="F6FAFE"/>
            </a:solidFill>
            <a:ln w="0">
              <a:noFill/>
            </a:ln>
          </p:spPr>
          <p:txBody>
            <a:bodyPr wrap="none" lIns="0" tIns="0" rIns="0" bIns="0" anchor="ctr">
              <a:normAutofit fontScale="57313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i₁,8</a:t>
              </a:r>
            </a:p>
          </p:txBody>
        </p:sp>
        <p:sp>
          <p:nvSpPr>
            <p:cNvPr id="182" name="⋮">
              <a:extLst>
                <a:ext uri="{FF2B5EF4-FFF2-40B4-BE49-F238E27FC236}">
                  <a16:creationId xmlns:a16="http://schemas.microsoft.com/office/drawing/2014/main" id="{8698E463-19FD-4906-B031-E8622CB0FED2}"/>
                </a:ext>
              </a:extLst>
            </p:cNvPr>
            <p:cNvSpPr>
              <a:spLocks noGrp="1"/>
            </p:cNvSpPr>
            <p:nvPr/>
          </p:nvSpPr>
          <p:spPr>
            <a:xfrm>
              <a:off x="4174582" y="2260638"/>
              <a:ext cx="129032" cy="877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8652"/>
            </a:bodyPr>
            <a:lstStyle>
              <a:def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⋮</a:t>
              </a:r>
            </a:p>
          </p:txBody>
        </p:sp>
        <p:sp>
          <p:nvSpPr>
            <p:cNvPr id="183" name="8 codewords">
              <a:extLst>
                <a:ext uri="{FF2B5EF4-FFF2-40B4-BE49-F238E27FC236}">
                  <a16:creationId xmlns:a16="http://schemas.microsoft.com/office/drawing/2014/main" id="{3ACB0A48-BD8F-4B6F-847C-441E46B22D95}"/>
                </a:ext>
              </a:extLst>
            </p:cNvPr>
            <p:cNvSpPr>
              <a:spLocks noGrp="1"/>
            </p:cNvSpPr>
            <p:nvPr/>
          </p:nvSpPr>
          <p:spPr>
            <a:xfrm>
              <a:off x="4572000" y="1796123"/>
              <a:ext cx="531611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 codewords</a:t>
              </a:r>
            </a:p>
          </p:txBody>
        </p:sp>
        <p:sp>
          <p:nvSpPr>
            <p:cNvPr id="184" name="(4 scalars each)">
              <a:extLst>
                <a:ext uri="{FF2B5EF4-FFF2-40B4-BE49-F238E27FC236}">
                  <a16:creationId xmlns:a16="http://schemas.microsoft.com/office/drawing/2014/main" id="{6CBBCB61-1CB1-45C8-8911-4326EE3A46B1}"/>
                </a:ext>
              </a:extLst>
            </p:cNvPr>
            <p:cNvSpPr>
              <a:spLocks noGrp="1"/>
            </p:cNvSpPr>
            <p:nvPr/>
          </p:nvSpPr>
          <p:spPr>
            <a:xfrm>
              <a:off x="4551355" y="1919994"/>
              <a:ext cx="567740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(4 scalars each)</a:t>
              </a:r>
            </a:p>
          </p:txBody>
        </p:sp>
        <p:sp>
          <p:nvSpPr>
            <p:cNvPr id="185" name="Lookup">
              <a:extLst>
                <a:ext uri="{FF2B5EF4-FFF2-40B4-BE49-F238E27FC236}">
                  <a16:creationId xmlns:a16="http://schemas.microsoft.com/office/drawing/2014/main" id="{E2BE4AF7-96E7-4860-8A5C-56A4665DB21E}"/>
                </a:ext>
              </a:extLst>
            </p:cNvPr>
            <p:cNvSpPr>
              <a:spLocks noGrp="1"/>
            </p:cNvSpPr>
            <p:nvPr/>
          </p:nvSpPr>
          <p:spPr>
            <a:xfrm>
              <a:off x="4386194" y="2059348"/>
              <a:ext cx="309676" cy="9806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Lookup</a:t>
              </a:r>
            </a:p>
          </p:txBody>
        </p:sp>
        <p:cxnSp>
          <p:nvCxnSpPr>
            <p:cNvPr id="186" name="native PowerPoint connector">
              <a:extLst>
                <a:ext uri="{FF2B5EF4-FFF2-40B4-BE49-F238E27FC236}">
                  <a16:creationId xmlns:a16="http://schemas.microsoft.com/office/drawing/2014/main" id="{9688460B-6283-4037-9FDA-DF0EB1FCCB20}"/>
                </a:ext>
              </a:extLst>
            </p:cNvPr>
            <p:cNvCxnSpPr/>
            <p:nvPr/>
          </p:nvCxnSpPr>
          <p:spPr>
            <a:xfrm>
              <a:off x="4396517" y="2239993"/>
              <a:ext cx="299354" cy="0"/>
            </a:xfrm>
            <a:prstGeom prst="straightConnector1">
              <a:avLst/>
            </a:prstGeom>
            <a:ln w="7226">
              <a:solidFill>
                <a:srgbClr val="074A8B"/>
              </a:solidFill>
              <a:prstDash val="solid"/>
              <a:tailEnd type="triangle" w="sm" len="sm"/>
            </a:ln>
          </p:spPr>
        </p:cxnSp>
        <p:sp>
          <p:nvSpPr>
            <p:cNvPr id="187" name="diagram block">
              <a:extLst>
                <a:ext uri="{FF2B5EF4-FFF2-40B4-BE49-F238E27FC236}">
                  <a16:creationId xmlns:a16="http://schemas.microsoft.com/office/drawing/2014/main" id="{613648BF-4D3F-40EB-AAD7-7783A8EF1633}"/>
                </a:ext>
              </a:extLst>
            </p:cNvPr>
            <p:cNvSpPr>
              <a:spLocks noGrp="1"/>
            </p:cNvSpPr>
            <p:nvPr/>
          </p:nvSpPr>
          <p:spPr>
            <a:xfrm>
              <a:off x="4747483" y="2054187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88" name="diagram block">
              <a:extLst>
                <a:ext uri="{FF2B5EF4-FFF2-40B4-BE49-F238E27FC236}">
                  <a16:creationId xmlns:a16="http://schemas.microsoft.com/office/drawing/2014/main" id="{444B7955-0C2A-4F0F-BE13-183227ED446A}"/>
                </a:ext>
              </a:extLst>
            </p:cNvPr>
            <p:cNvSpPr>
              <a:spLocks noGrp="1"/>
            </p:cNvSpPr>
            <p:nvPr/>
          </p:nvSpPr>
          <p:spPr>
            <a:xfrm>
              <a:off x="4815870" y="2054187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89" name="diagram block">
              <a:extLst>
                <a:ext uri="{FF2B5EF4-FFF2-40B4-BE49-F238E27FC236}">
                  <a16:creationId xmlns:a16="http://schemas.microsoft.com/office/drawing/2014/main" id="{9E0B9C75-7919-4678-95A9-34DAA56D5C9E}"/>
                </a:ext>
              </a:extLst>
            </p:cNvPr>
            <p:cNvSpPr>
              <a:spLocks noGrp="1"/>
            </p:cNvSpPr>
            <p:nvPr/>
          </p:nvSpPr>
          <p:spPr>
            <a:xfrm>
              <a:off x="4884257" y="2054187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90" name="diagram block">
              <a:extLst>
                <a:ext uri="{FF2B5EF4-FFF2-40B4-BE49-F238E27FC236}">
                  <a16:creationId xmlns:a16="http://schemas.microsoft.com/office/drawing/2014/main" id="{22907D69-A24B-485C-9F3B-44733F9D3C75}"/>
                </a:ext>
              </a:extLst>
            </p:cNvPr>
            <p:cNvSpPr>
              <a:spLocks noGrp="1"/>
            </p:cNvSpPr>
            <p:nvPr/>
          </p:nvSpPr>
          <p:spPr>
            <a:xfrm>
              <a:off x="4952644" y="2054187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91" name="diagram block">
              <a:extLst>
                <a:ext uri="{FF2B5EF4-FFF2-40B4-BE49-F238E27FC236}">
                  <a16:creationId xmlns:a16="http://schemas.microsoft.com/office/drawing/2014/main" id="{52D5AEF2-66E4-4AB9-A4F8-30D7291C3EB0}"/>
                </a:ext>
              </a:extLst>
            </p:cNvPr>
            <p:cNvSpPr>
              <a:spLocks noGrp="1"/>
            </p:cNvSpPr>
            <p:nvPr/>
          </p:nvSpPr>
          <p:spPr>
            <a:xfrm>
              <a:off x="4747483" y="217289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92" name="diagram block">
              <a:extLst>
                <a:ext uri="{FF2B5EF4-FFF2-40B4-BE49-F238E27FC236}">
                  <a16:creationId xmlns:a16="http://schemas.microsoft.com/office/drawing/2014/main" id="{A0A427BC-956B-4C49-A4F4-E30DFE1E865E}"/>
                </a:ext>
              </a:extLst>
            </p:cNvPr>
            <p:cNvSpPr>
              <a:spLocks noGrp="1"/>
            </p:cNvSpPr>
            <p:nvPr/>
          </p:nvSpPr>
          <p:spPr>
            <a:xfrm>
              <a:off x="4815870" y="217289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93" name="diagram block">
              <a:extLst>
                <a:ext uri="{FF2B5EF4-FFF2-40B4-BE49-F238E27FC236}">
                  <a16:creationId xmlns:a16="http://schemas.microsoft.com/office/drawing/2014/main" id="{2399162D-F41A-4C0D-BA2B-84A957896BDE}"/>
                </a:ext>
              </a:extLst>
            </p:cNvPr>
            <p:cNvSpPr>
              <a:spLocks noGrp="1"/>
            </p:cNvSpPr>
            <p:nvPr/>
          </p:nvSpPr>
          <p:spPr>
            <a:xfrm>
              <a:off x="4884257" y="217289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94" name="diagram block">
              <a:extLst>
                <a:ext uri="{FF2B5EF4-FFF2-40B4-BE49-F238E27FC236}">
                  <a16:creationId xmlns:a16="http://schemas.microsoft.com/office/drawing/2014/main" id="{09B3C170-5275-4A34-A6F5-1DAEB5B8C6A2}"/>
                </a:ext>
              </a:extLst>
            </p:cNvPr>
            <p:cNvSpPr>
              <a:spLocks noGrp="1"/>
            </p:cNvSpPr>
            <p:nvPr/>
          </p:nvSpPr>
          <p:spPr>
            <a:xfrm>
              <a:off x="4952644" y="217289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95" name="diagram block">
              <a:extLst>
                <a:ext uri="{FF2B5EF4-FFF2-40B4-BE49-F238E27FC236}">
                  <a16:creationId xmlns:a16="http://schemas.microsoft.com/office/drawing/2014/main" id="{228B56CD-3D24-44DA-8992-C8CC207898F6}"/>
                </a:ext>
              </a:extLst>
            </p:cNvPr>
            <p:cNvSpPr>
              <a:spLocks noGrp="1"/>
            </p:cNvSpPr>
            <p:nvPr/>
          </p:nvSpPr>
          <p:spPr>
            <a:xfrm>
              <a:off x="4747483" y="229160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96" name="diagram block">
              <a:extLst>
                <a:ext uri="{FF2B5EF4-FFF2-40B4-BE49-F238E27FC236}">
                  <a16:creationId xmlns:a16="http://schemas.microsoft.com/office/drawing/2014/main" id="{70DE56FB-1A56-4C46-820F-F9C79C400838}"/>
                </a:ext>
              </a:extLst>
            </p:cNvPr>
            <p:cNvSpPr>
              <a:spLocks noGrp="1"/>
            </p:cNvSpPr>
            <p:nvPr/>
          </p:nvSpPr>
          <p:spPr>
            <a:xfrm>
              <a:off x="4815870" y="229160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97" name="diagram block">
              <a:extLst>
                <a:ext uri="{FF2B5EF4-FFF2-40B4-BE49-F238E27FC236}">
                  <a16:creationId xmlns:a16="http://schemas.microsoft.com/office/drawing/2014/main" id="{579DCD27-C1E3-43E9-A342-C73638380DA4}"/>
                </a:ext>
              </a:extLst>
            </p:cNvPr>
            <p:cNvSpPr>
              <a:spLocks noGrp="1"/>
            </p:cNvSpPr>
            <p:nvPr/>
          </p:nvSpPr>
          <p:spPr>
            <a:xfrm>
              <a:off x="4884257" y="229160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98" name="diagram block">
              <a:extLst>
                <a:ext uri="{FF2B5EF4-FFF2-40B4-BE49-F238E27FC236}">
                  <a16:creationId xmlns:a16="http://schemas.microsoft.com/office/drawing/2014/main" id="{39EA40BB-ECC9-43C4-BF55-2D9535A6D35F}"/>
                </a:ext>
              </a:extLst>
            </p:cNvPr>
            <p:cNvSpPr>
              <a:spLocks noGrp="1"/>
            </p:cNvSpPr>
            <p:nvPr/>
          </p:nvSpPr>
          <p:spPr>
            <a:xfrm>
              <a:off x="4952644" y="229160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99" name="diagram block">
              <a:extLst>
                <a:ext uri="{FF2B5EF4-FFF2-40B4-BE49-F238E27FC236}">
                  <a16:creationId xmlns:a16="http://schemas.microsoft.com/office/drawing/2014/main" id="{4B3F0912-2FAA-4B47-8025-2C8AF7FBDC25}"/>
                </a:ext>
              </a:extLst>
            </p:cNvPr>
            <p:cNvSpPr>
              <a:spLocks noGrp="1"/>
            </p:cNvSpPr>
            <p:nvPr/>
          </p:nvSpPr>
          <p:spPr>
            <a:xfrm>
              <a:off x="4747483" y="2399992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00" name="diagram block">
              <a:extLst>
                <a:ext uri="{FF2B5EF4-FFF2-40B4-BE49-F238E27FC236}">
                  <a16:creationId xmlns:a16="http://schemas.microsoft.com/office/drawing/2014/main" id="{AE6BE8C2-6BF4-4905-A0AE-8132FF7B7F03}"/>
                </a:ext>
              </a:extLst>
            </p:cNvPr>
            <p:cNvSpPr>
              <a:spLocks noGrp="1"/>
            </p:cNvSpPr>
            <p:nvPr/>
          </p:nvSpPr>
          <p:spPr>
            <a:xfrm>
              <a:off x="4815870" y="2399992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01" name="diagram block">
              <a:extLst>
                <a:ext uri="{FF2B5EF4-FFF2-40B4-BE49-F238E27FC236}">
                  <a16:creationId xmlns:a16="http://schemas.microsoft.com/office/drawing/2014/main" id="{59154EC1-F171-4F09-BFEB-CC0805858F79}"/>
                </a:ext>
              </a:extLst>
            </p:cNvPr>
            <p:cNvSpPr>
              <a:spLocks noGrp="1"/>
            </p:cNvSpPr>
            <p:nvPr/>
          </p:nvSpPr>
          <p:spPr>
            <a:xfrm>
              <a:off x="4884257" y="2399992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02" name="diagram block">
              <a:extLst>
                <a:ext uri="{FF2B5EF4-FFF2-40B4-BE49-F238E27FC236}">
                  <a16:creationId xmlns:a16="http://schemas.microsoft.com/office/drawing/2014/main" id="{D459E1E1-B1A6-49AA-98CE-805D12B7000F}"/>
                </a:ext>
              </a:extLst>
            </p:cNvPr>
            <p:cNvSpPr>
              <a:spLocks noGrp="1"/>
            </p:cNvSpPr>
            <p:nvPr/>
          </p:nvSpPr>
          <p:spPr>
            <a:xfrm>
              <a:off x="4952644" y="2399992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03" name="diagram block">
              <a:extLst>
                <a:ext uri="{FF2B5EF4-FFF2-40B4-BE49-F238E27FC236}">
                  <a16:creationId xmlns:a16="http://schemas.microsoft.com/office/drawing/2014/main" id="{15D3A3D4-647E-439E-A113-373E521F4365}"/>
                </a:ext>
              </a:extLst>
            </p:cNvPr>
            <p:cNvSpPr>
              <a:spLocks noGrp="1"/>
            </p:cNvSpPr>
            <p:nvPr/>
          </p:nvSpPr>
          <p:spPr>
            <a:xfrm>
              <a:off x="5289417" y="1517415"/>
              <a:ext cx="1109674" cy="954836"/>
            </a:xfrm>
            <a:prstGeom prst="roundRect">
              <a:avLst>
                <a:gd name="adj" fmla="val 2162"/>
              </a:avLst>
            </a:prstGeom>
            <a:solidFill>
              <a:srgbClr val="EFFAF8"/>
            </a:solidFill>
            <a:ln w="5161">
              <a:solidFill>
                <a:srgbClr val="41A0A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04" name="Codebook 2">
              <a:extLst>
                <a:ext uri="{FF2B5EF4-FFF2-40B4-BE49-F238E27FC236}">
                  <a16:creationId xmlns:a16="http://schemas.microsoft.com/office/drawing/2014/main" id="{687E0AD1-388E-4B92-9A1B-408F5BBBB1DB}"/>
                </a:ext>
              </a:extLst>
            </p:cNvPr>
            <p:cNvSpPr>
              <a:spLocks noGrp="1"/>
            </p:cNvSpPr>
            <p:nvPr/>
          </p:nvSpPr>
          <p:spPr>
            <a:xfrm>
              <a:off x="5341030" y="1543221"/>
              <a:ext cx="1006448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257"/>
            </a:bodyPr>
            <a:lstStyle>
              <a:def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rPr>
                <a:t>Codebook 2</a:t>
              </a:r>
            </a:p>
          </p:txBody>
        </p:sp>
        <p:sp>
          <p:nvSpPr>
            <p:cNvPr id="205" name="C₂ ∈ ℝ²⁵⁶×⁴, BF16">
              <a:extLst>
                <a:ext uri="{FF2B5EF4-FFF2-40B4-BE49-F238E27FC236}">
                  <a16:creationId xmlns:a16="http://schemas.microsoft.com/office/drawing/2014/main" id="{679BAA11-F9AE-423E-B5F3-8A202F5792A3}"/>
                </a:ext>
              </a:extLst>
            </p:cNvPr>
            <p:cNvSpPr>
              <a:spLocks noGrp="1"/>
            </p:cNvSpPr>
            <p:nvPr/>
          </p:nvSpPr>
          <p:spPr>
            <a:xfrm>
              <a:off x="5346191" y="1667091"/>
              <a:ext cx="990965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493"/>
            </a:bodyPr>
            <a:lstStyle>
              <a:def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C₂ ∈ ℝ²⁵⁶×⁴, BF16</a:t>
              </a:r>
            </a:p>
          </p:txBody>
        </p:sp>
        <p:sp>
          <p:nvSpPr>
            <p:cNvPr id="206" name="8 indices">
              <a:extLst>
                <a:ext uri="{FF2B5EF4-FFF2-40B4-BE49-F238E27FC236}">
                  <a16:creationId xmlns:a16="http://schemas.microsoft.com/office/drawing/2014/main" id="{9933E522-F963-43B8-BCEF-AAC27DBD3169}"/>
                </a:ext>
              </a:extLst>
            </p:cNvPr>
            <p:cNvSpPr>
              <a:spLocks noGrp="1"/>
            </p:cNvSpPr>
            <p:nvPr/>
          </p:nvSpPr>
          <p:spPr>
            <a:xfrm>
              <a:off x="5330707" y="1796123"/>
              <a:ext cx="428386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159"/>
            </a:bodyPr>
            <a:lstStyle>
              <a:def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 indices</a:t>
              </a:r>
            </a:p>
          </p:txBody>
        </p:sp>
        <p:sp>
          <p:nvSpPr>
            <p:cNvPr id="207" name="i₂ (8-bit)">
              <a:extLst>
                <a:ext uri="{FF2B5EF4-FFF2-40B4-BE49-F238E27FC236}">
                  <a16:creationId xmlns:a16="http://schemas.microsoft.com/office/drawing/2014/main" id="{DDAD04AB-9841-4F8E-9211-6A325AB9672F}"/>
                </a:ext>
              </a:extLst>
            </p:cNvPr>
            <p:cNvSpPr>
              <a:spLocks noGrp="1"/>
            </p:cNvSpPr>
            <p:nvPr/>
          </p:nvSpPr>
          <p:spPr>
            <a:xfrm>
              <a:off x="5361675" y="1909671"/>
              <a:ext cx="412902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i₂ (8-bit)</a:t>
              </a:r>
            </a:p>
          </p:txBody>
        </p:sp>
        <p:sp>
          <p:nvSpPr>
            <p:cNvPr id="208" name="diagram block">
              <a:extLst>
                <a:ext uri="{FF2B5EF4-FFF2-40B4-BE49-F238E27FC236}">
                  <a16:creationId xmlns:a16="http://schemas.microsoft.com/office/drawing/2014/main" id="{35FAFC39-4673-4784-9259-D9951BE960DF}"/>
                </a:ext>
              </a:extLst>
            </p:cNvPr>
            <p:cNvSpPr>
              <a:spLocks noGrp="1"/>
            </p:cNvSpPr>
            <p:nvPr/>
          </p:nvSpPr>
          <p:spPr>
            <a:xfrm>
              <a:off x="5382320" y="2049026"/>
              <a:ext cx="211612" cy="108387"/>
            </a:xfrm>
            <a:prstGeom prst="rect">
              <a:avLst/>
            </a:prstGeom>
            <a:solidFill>
              <a:srgbClr val="F6FAFE"/>
            </a:solidFill>
            <a:ln w="5161">
              <a:solidFill>
                <a:srgbClr val="64778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09" name="i₂,1">
              <a:extLst>
                <a:ext uri="{FF2B5EF4-FFF2-40B4-BE49-F238E27FC236}">
                  <a16:creationId xmlns:a16="http://schemas.microsoft.com/office/drawing/2014/main" id="{2D2971D8-DC1C-4D07-B81A-56ABA7BED223}"/>
                </a:ext>
              </a:extLst>
            </p:cNvPr>
            <p:cNvSpPr>
              <a:spLocks noGrp="1"/>
            </p:cNvSpPr>
            <p:nvPr/>
          </p:nvSpPr>
          <p:spPr>
            <a:xfrm>
              <a:off x="5408126" y="2074832"/>
              <a:ext cx="159999" cy="56774"/>
            </a:xfrm>
            <a:prstGeom prst="rect">
              <a:avLst/>
            </a:prstGeom>
            <a:solidFill>
              <a:srgbClr val="F6FAFE"/>
            </a:solidFill>
            <a:ln w="0">
              <a:noFill/>
            </a:ln>
          </p:spPr>
          <p:txBody>
            <a:bodyPr wrap="none" lIns="0" tIns="0" rIns="0" bIns="0" anchor="ctr">
              <a:normAutofit fontScale="57313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i₂,1</a:t>
              </a:r>
            </a:p>
          </p:txBody>
        </p:sp>
        <p:sp>
          <p:nvSpPr>
            <p:cNvPr id="210" name="diagram block">
              <a:extLst>
                <a:ext uri="{FF2B5EF4-FFF2-40B4-BE49-F238E27FC236}">
                  <a16:creationId xmlns:a16="http://schemas.microsoft.com/office/drawing/2014/main" id="{11746571-D06A-4104-A3C8-D75C9C4C10F0}"/>
                </a:ext>
              </a:extLst>
            </p:cNvPr>
            <p:cNvSpPr>
              <a:spLocks noGrp="1"/>
            </p:cNvSpPr>
            <p:nvPr/>
          </p:nvSpPr>
          <p:spPr>
            <a:xfrm>
              <a:off x="5382320" y="2172896"/>
              <a:ext cx="211612" cy="108387"/>
            </a:xfrm>
            <a:prstGeom prst="rect">
              <a:avLst/>
            </a:prstGeom>
            <a:solidFill>
              <a:srgbClr val="F6FAFE"/>
            </a:solidFill>
            <a:ln w="5161">
              <a:solidFill>
                <a:srgbClr val="64778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11" name="i₂,2">
              <a:extLst>
                <a:ext uri="{FF2B5EF4-FFF2-40B4-BE49-F238E27FC236}">
                  <a16:creationId xmlns:a16="http://schemas.microsoft.com/office/drawing/2014/main" id="{96DB4C1C-3C2D-4F76-A75D-A8CB62617DA9}"/>
                </a:ext>
              </a:extLst>
            </p:cNvPr>
            <p:cNvSpPr>
              <a:spLocks noGrp="1"/>
            </p:cNvSpPr>
            <p:nvPr/>
          </p:nvSpPr>
          <p:spPr>
            <a:xfrm>
              <a:off x="5408126" y="2198703"/>
              <a:ext cx="159999" cy="56774"/>
            </a:xfrm>
            <a:prstGeom prst="rect">
              <a:avLst/>
            </a:prstGeom>
            <a:solidFill>
              <a:srgbClr val="F6FAFE"/>
            </a:solidFill>
            <a:ln w="0">
              <a:noFill/>
            </a:ln>
          </p:spPr>
          <p:txBody>
            <a:bodyPr wrap="none" lIns="0" tIns="0" rIns="0" bIns="0" anchor="ctr">
              <a:normAutofit fontScale="57313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i₂,2</a:t>
              </a:r>
            </a:p>
          </p:txBody>
        </p:sp>
        <p:sp>
          <p:nvSpPr>
            <p:cNvPr id="212" name="diagram block">
              <a:extLst>
                <a:ext uri="{FF2B5EF4-FFF2-40B4-BE49-F238E27FC236}">
                  <a16:creationId xmlns:a16="http://schemas.microsoft.com/office/drawing/2014/main" id="{0AF6643B-1911-41B8-A38E-682119176A29}"/>
                </a:ext>
              </a:extLst>
            </p:cNvPr>
            <p:cNvSpPr>
              <a:spLocks noGrp="1"/>
            </p:cNvSpPr>
            <p:nvPr/>
          </p:nvSpPr>
          <p:spPr>
            <a:xfrm>
              <a:off x="5382320" y="2343218"/>
              <a:ext cx="211612" cy="108387"/>
            </a:xfrm>
            <a:prstGeom prst="rect">
              <a:avLst/>
            </a:prstGeom>
            <a:solidFill>
              <a:srgbClr val="F6FAFE"/>
            </a:solidFill>
            <a:ln w="5161">
              <a:solidFill>
                <a:srgbClr val="64778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13" name="i₂,8">
              <a:extLst>
                <a:ext uri="{FF2B5EF4-FFF2-40B4-BE49-F238E27FC236}">
                  <a16:creationId xmlns:a16="http://schemas.microsoft.com/office/drawing/2014/main" id="{6651453A-0E7C-4637-9633-F57686C51019}"/>
                </a:ext>
              </a:extLst>
            </p:cNvPr>
            <p:cNvSpPr>
              <a:spLocks noGrp="1"/>
            </p:cNvSpPr>
            <p:nvPr/>
          </p:nvSpPr>
          <p:spPr>
            <a:xfrm>
              <a:off x="5408126" y="2369025"/>
              <a:ext cx="159999" cy="56774"/>
            </a:xfrm>
            <a:prstGeom prst="rect">
              <a:avLst/>
            </a:prstGeom>
            <a:solidFill>
              <a:srgbClr val="F6FAFE"/>
            </a:solidFill>
            <a:ln w="0">
              <a:noFill/>
            </a:ln>
          </p:spPr>
          <p:txBody>
            <a:bodyPr wrap="none" lIns="0" tIns="0" rIns="0" bIns="0" anchor="ctr">
              <a:normAutofit fontScale="57313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i₂,8</a:t>
              </a:r>
            </a:p>
          </p:txBody>
        </p:sp>
        <p:sp>
          <p:nvSpPr>
            <p:cNvPr id="214" name="⋮">
              <a:extLst>
                <a:ext uri="{FF2B5EF4-FFF2-40B4-BE49-F238E27FC236}">
                  <a16:creationId xmlns:a16="http://schemas.microsoft.com/office/drawing/2014/main" id="{BDF319F3-25E4-4609-B58F-C94D12CCDF39}"/>
                </a:ext>
              </a:extLst>
            </p:cNvPr>
            <p:cNvSpPr>
              <a:spLocks noGrp="1"/>
            </p:cNvSpPr>
            <p:nvPr/>
          </p:nvSpPr>
          <p:spPr>
            <a:xfrm>
              <a:off x="5428771" y="2260638"/>
              <a:ext cx="129032" cy="877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8652"/>
            </a:bodyPr>
            <a:lstStyle>
              <a:def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⋮</a:t>
              </a:r>
            </a:p>
          </p:txBody>
        </p:sp>
        <p:sp>
          <p:nvSpPr>
            <p:cNvPr id="215" name="8 codewords">
              <a:extLst>
                <a:ext uri="{FF2B5EF4-FFF2-40B4-BE49-F238E27FC236}">
                  <a16:creationId xmlns:a16="http://schemas.microsoft.com/office/drawing/2014/main" id="{51CD32A8-D781-46A1-959D-EDC53072685C}"/>
                </a:ext>
              </a:extLst>
            </p:cNvPr>
            <p:cNvSpPr>
              <a:spLocks noGrp="1"/>
            </p:cNvSpPr>
            <p:nvPr/>
          </p:nvSpPr>
          <p:spPr>
            <a:xfrm>
              <a:off x="5826190" y="1796123"/>
              <a:ext cx="531611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 codewords</a:t>
              </a:r>
            </a:p>
          </p:txBody>
        </p:sp>
        <p:sp>
          <p:nvSpPr>
            <p:cNvPr id="216" name="(4 scalars each)">
              <a:extLst>
                <a:ext uri="{FF2B5EF4-FFF2-40B4-BE49-F238E27FC236}">
                  <a16:creationId xmlns:a16="http://schemas.microsoft.com/office/drawing/2014/main" id="{5174246E-31C6-4196-BCBB-1DDD31FF2FDF}"/>
                </a:ext>
              </a:extLst>
            </p:cNvPr>
            <p:cNvSpPr>
              <a:spLocks noGrp="1"/>
            </p:cNvSpPr>
            <p:nvPr/>
          </p:nvSpPr>
          <p:spPr>
            <a:xfrm>
              <a:off x="5805544" y="1919994"/>
              <a:ext cx="567740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(4 scalars each)</a:t>
              </a:r>
            </a:p>
          </p:txBody>
        </p:sp>
        <p:sp>
          <p:nvSpPr>
            <p:cNvPr id="217" name="Lookup">
              <a:extLst>
                <a:ext uri="{FF2B5EF4-FFF2-40B4-BE49-F238E27FC236}">
                  <a16:creationId xmlns:a16="http://schemas.microsoft.com/office/drawing/2014/main" id="{97AD3F5A-DBFC-47AF-9D7F-0296C0C2908A}"/>
                </a:ext>
              </a:extLst>
            </p:cNvPr>
            <p:cNvSpPr>
              <a:spLocks noGrp="1"/>
            </p:cNvSpPr>
            <p:nvPr/>
          </p:nvSpPr>
          <p:spPr>
            <a:xfrm>
              <a:off x="5640384" y="2059348"/>
              <a:ext cx="309676" cy="9806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Lookup</a:t>
              </a:r>
            </a:p>
          </p:txBody>
        </p:sp>
        <p:cxnSp>
          <p:nvCxnSpPr>
            <p:cNvPr id="218" name="native PowerPoint connector">
              <a:extLst>
                <a:ext uri="{FF2B5EF4-FFF2-40B4-BE49-F238E27FC236}">
                  <a16:creationId xmlns:a16="http://schemas.microsoft.com/office/drawing/2014/main" id="{1CB53D38-65A9-4E33-9D78-0EB470C9AD7C}"/>
                </a:ext>
              </a:extLst>
            </p:cNvPr>
            <p:cNvCxnSpPr/>
            <p:nvPr/>
          </p:nvCxnSpPr>
          <p:spPr>
            <a:xfrm>
              <a:off x="5650706" y="2239993"/>
              <a:ext cx="299354" cy="0"/>
            </a:xfrm>
            <a:prstGeom prst="straightConnector1">
              <a:avLst/>
            </a:prstGeom>
            <a:ln w="7226">
              <a:solidFill>
                <a:srgbClr val="00696D"/>
              </a:solidFill>
              <a:prstDash val="solid"/>
              <a:tailEnd type="triangle" w="sm" len="sm"/>
            </a:ln>
          </p:spPr>
        </p:cxnSp>
        <p:sp>
          <p:nvSpPr>
            <p:cNvPr id="219" name="diagram block">
              <a:extLst>
                <a:ext uri="{FF2B5EF4-FFF2-40B4-BE49-F238E27FC236}">
                  <a16:creationId xmlns:a16="http://schemas.microsoft.com/office/drawing/2014/main" id="{54127185-3164-40B1-854B-773E81D21A9C}"/>
                </a:ext>
              </a:extLst>
            </p:cNvPr>
            <p:cNvSpPr>
              <a:spLocks noGrp="1"/>
            </p:cNvSpPr>
            <p:nvPr/>
          </p:nvSpPr>
          <p:spPr>
            <a:xfrm>
              <a:off x="6001673" y="2054187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20" name="diagram block">
              <a:extLst>
                <a:ext uri="{FF2B5EF4-FFF2-40B4-BE49-F238E27FC236}">
                  <a16:creationId xmlns:a16="http://schemas.microsoft.com/office/drawing/2014/main" id="{389BBC44-F7F2-4B2A-A8C5-7C213256B51D}"/>
                </a:ext>
              </a:extLst>
            </p:cNvPr>
            <p:cNvSpPr>
              <a:spLocks noGrp="1"/>
            </p:cNvSpPr>
            <p:nvPr/>
          </p:nvSpPr>
          <p:spPr>
            <a:xfrm>
              <a:off x="6070060" y="2054187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21" name="diagram block">
              <a:extLst>
                <a:ext uri="{FF2B5EF4-FFF2-40B4-BE49-F238E27FC236}">
                  <a16:creationId xmlns:a16="http://schemas.microsoft.com/office/drawing/2014/main" id="{13897A69-10F1-4651-B41F-499ADA8A945E}"/>
                </a:ext>
              </a:extLst>
            </p:cNvPr>
            <p:cNvSpPr>
              <a:spLocks noGrp="1"/>
            </p:cNvSpPr>
            <p:nvPr/>
          </p:nvSpPr>
          <p:spPr>
            <a:xfrm>
              <a:off x="6138447" y="2054187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22" name="diagram block">
              <a:extLst>
                <a:ext uri="{FF2B5EF4-FFF2-40B4-BE49-F238E27FC236}">
                  <a16:creationId xmlns:a16="http://schemas.microsoft.com/office/drawing/2014/main" id="{CD118F27-0235-450B-9380-373DA2A2227D}"/>
                </a:ext>
              </a:extLst>
            </p:cNvPr>
            <p:cNvSpPr>
              <a:spLocks noGrp="1"/>
            </p:cNvSpPr>
            <p:nvPr/>
          </p:nvSpPr>
          <p:spPr>
            <a:xfrm>
              <a:off x="6206834" y="2054187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23" name="diagram block">
              <a:extLst>
                <a:ext uri="{FF2B5EF4-FFF2-40B4-BE49-F238E27FC236}">
                  <a16:creationId xmlns:a16="http://schemas.microsoft.com/office/drawing/2014/main" id="{166BC462-32FE-4AE5-BBDA-2DE052EA0F76}"/>
                </a:ext>
              </a:extLst>
            </p:cNvPr>
            <p:cNvSpPr>
              <a:spLocks noGrp="1"/>
            </p:cNvSpPr>
            <p:nvPr/>
          </p:nvSpPr>
          <p:spPr>
            <a:xfrm>
              <a:off x="6001673" y="217289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24" name="diagram block">
              <a:extLst>
                <a:ext uri="{FF2B5EF4-FFF2-40B4-BE49-F238E27FC236}">
                  <a16:creationId xmlns:a16="http://schemas.microsoft.com/office/drawing/2014/main" id="{07D6B31F-C033-4289-9F05-07D1F3BE0525}"/>
                </a:ext>
              </a:extLst>
            </p:cNvPr>
            <p:cNvSpPr>
              <a:spLocks noGrp="1"/>
            </p:cNvSpPr>
            <p:nvPr/>
          </p:nvSpPr>
          <p:spPr>
            <a:xfrm>
              <a:off x="6070060" y="217289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25" name="diagram block">
              <a:extLst>
                <a:ext uri="{FF2B5EF4-FFF2-40B4-BE49-F238E27FC236}">
                  <a16:creationId xmlns:a16="http://schemas.microsoft.com/office/drawing/2014/main" id="{D11CCF83-4EAA-467F-836A-0A065531321A}"/>
                </a:ext>
              </a:extLst>
            </p:cNvPr>
            <p:cNvSpPr>
              <a:spLocks noGrp="1"/>
            </p:cNvSpPr>
            <p:nvPr/>
          </p:nvSpPr>
          <p:spPr>
            <a:xfrm>
              <a:off x="6138447" y="217289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26" name="diagram block">
              <a:extLst>
                <a:ext uri="{FF2B5EF4-FFF2-40B4-BE49-F238E27FC236}">
                  <a16:creationId xmlns:a16="http://schemas.microsoft.com/office/drawing/2014/main" id="{FC838525-23E8-442F-A971-64978E541D71}"/>
                </a:ext>
              </a:extLst>
            </p:cNvPr>
            <p:cNvSpPr>
              <a:spLocks noGrp="1"/>
            </p:cNvSpPr>
            <p:nvPr/>
          </p:nvSpPr>
          <p:spPr>
            <a:xfrm>
              <a:off x="6206834" y="217289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27" name="diagram block">
              <a:extLst>
                <a:ext uri="{FF2B5EF4-FFF2-40B4-BE49-F238E27FC236}">
                  <a16:creationId xmlns:a16="http://schemas.microsoft.com/office/drawing/2014/main" id="{DE9125F7-37B6-48D2-A712-BE28CAADB38C}"/>
                </a:ext>
              </a:extLst>
            </p:cNvPr>
            <p:cNvSpPr>
              <a:spLocks noGrp="1"/>
            </p:cNvSpPr>
            <p:nvPr/>
          </p:nvSpPr>
          <p:spPr>
            <a:xfrm>
              <a:off x="6001673" y="229160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28" name="diagram block">
              <a:extLst>
                <a:ext uri="{FF2B5EF4-FFF2-40B4-BE49-F238E27FC236}">
                  <a16:creationId xmlns:a16="http://schemas.microsoft.com/office/drawing/2014/main" id="{7F886CFD-9133-4325-892F-1DA129980510}"/>
                </a:ext>
              </a:extLst>
            </p:cNvPr>
            <p:cNvSpPr>
              <a:spLocks noGrp="1"/>
            </p:cNvSpPr>
            <p:nvPr/>
          </p:nvSpPr>
          <p:spPr>
            <a:xfrm>
              <a:off x="6070060" y="229160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29" name="diagram block">
              <a:extLst>
                <a:ext uri="{FF2B5EF4-FFF2-40B4-BE49-F238E27FC236}">
                  <a16:creationId xmlns:a16="http://schemas.microsoft.com/office/drawing/2014/main" id="{8521886C-DA25-47D8-BF76-0A79CA1FEB0A}"/>
                </a:ext>
              </a:extLst>
            </p:cNvPr>
            <p:cNvSpPr>
              <a:spLocks noGrp="1"/>
            </p:cNvSpPr>
            <p:nvPr/>
          </p:nvSpPr>
          <p:spPr>
            <a:xfrm>
              <a:off x="6138447" y="229160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30" name="diagram block">
              <a:extLst>
                <a:ext uri="{FF2B5EF4-FFF2-40B4-BE49-F238E27FC236}">
                  <a16:creationId xmlns:a16="http://schemas.microsoft.com/office/drawing/2014/main" id="{FC0DC6D7-F886-4C29-8244-2BA72DF992DC}"/>
                </a:ext>
              </a:extLst>
            </p:cNvPr>
            <p:cNvSpPr>
              <a:spLocks noGrp="1"/>
            </p:cNvSpPr>
            <p:nvPr/>
          </p:nvSpPr>
          <p:spPr>
            <a:xfrm>
              <a:off x="6206834" y="229160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31" name="diagram block">
              <a:extLst>
                <a:ext uri="{FF2B5EF4-FFF2-40B4-BE49-F238E27FC236}">
                  <a16:creationId xmlns:a16="http://schemas.microsoft.com/office/drawing/2014/main" id="{2819C4F6-7FAF-44FC-AC36-7EFCF7AF10C8}"/>
                </a:ext>
              </a:extLst>
            </p:cNvPr>
            <p:cNvSpPr>
              <a:spLocks noGrp="1"/>
            </p:cNvSpPr>
            <p:nvPr/>
          </p:nvSpPr>
          <p:spPr>
            <a:xfrm>
              <a:off x="6001673" y="2399992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32" name="diagram block">
              <a:extLst>
                <a:ext uri="{FF2B5EF4-FFF2-40B4-BE49-F238E27FC236}">
                  <a16:creationId xmlns:a16="http://schemas.microsoft.com/office/drawing/2014/main" id="{64E9F49D-7A3D-44A2-B020-D2F3841C3185}"/>
                </a:ext>
              </a:extLst>
            </p:cNvPr>
            <p:cNvSpPr>
              <a:spLocks noGrp="1"/>
            </p:cNvSpPr>
            <p:nvPr/>
          </p:nvSpPr>
          <p:spPr>
            <a:xfrm>
              <a:off x="6070060" y="2399992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33" name="diagram block">
              <a:extLst>
                <a:ext uri="{FF2B5EF4-FFF2-40B4-BE49-F238E27FC236}">
                  <a16:creationId xmlns:a16="http://schemas.microsoft.com/office/drawing/2014/main" id="{36AD708A-D277-4750-B0EF-940AA3635DD2}"/>
                </a:ext>
              </a:extLst>
            </p:cNvPr>
            <p:cNvSpPr>
              <a:spLocks noGrp="1"/>
            </p:cNvSpPr>
            <p:nvPr/>
          </p:nvSpPr>
          <p:spPr>
            <a:xfrm>
              <a:off x="6138447" y="2399992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34" name="diagram block">
              <a:extLst>
                <a:ext uri="{FF2B5EF4-FFF2-40B4-BE49-F238E27FC236}">
                  <a16:creationId xmlns:a16="http://schemas.microsoft.com/office/drawing/2014/main" id="{491D79EC-9E7C-49CF-A056-960BE420FBC2}"/>
                </a:ext>
              </a:extLst>
            </p:cNvPr>
            <p:cNvSpPr>
              <a:spLocks noGrp="1"/>
            </p:cNvSpPr>
            <p:nvPr/>
          </p:nvSpPr>
          <p:spPr>
            <a:xfrm>
              <a:off x="6206834" y="2399992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35" name="+">
              <a:extLst>
                <a:ext uri="{FF2B5EF4-FFF2-40B4-BE49-F238E27FC236}">
                  <a16:creationId xmlns:a16="http://schemas.microsoft.com/office/drawing/2014/main" id="{5D266510-0ECE-4A3A-8DFA-0B8493831283}"/>
                </a:ext>
              </a:extLst>
            </p:cNvPr>
            <p:cNvSpPr>
              <a:spLocks noGrp="1"/>
            </p:cNvSpPr>
            <p:nvPr/>
          </p:nvSpPr>
          <p:spPr>
            <a:xfrm>
              <a:off x="5150063" y="2033542"/>
              <a:ext cx="129032" cy="20129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+</a:t>
              </a:r>
            </a:p>
          </p:txBody>
        </p:sp>
        <p:sp>
          <p:nvSpPr>
            <p:cNvPr id="236" name="diagram block">
              <a:extLst>
                <a:ext uri="{FF2B5EF4-FFF2-40B4-BE49-F238E27FC236}">
                  <a16:creationId xmlns:a16="http://schemas.microsoft.com/office/drawing/2014/main" id="{64CD8485-CF95-48D9-A056-ABD681C439D5}"/>
                </a:ext>
              </a:extLst>
            </p:cNvPr>
            <p:cNvSpPr>
              <a:spLocks noGrp="1"/>
            </p:cNvSpPr>
            <p:nvPr/>
          </p:nvSpPr>
          <p:spPr>
            <a:xfrm>
              <a:off x="4040389" y="2529024"/>
              <a:ext cx="2307089" cy="221935"/>
            </a:xfrm>
            <a:prstGeom prst="roundRect">
              <a:avLst>
                <a:gd name="adj" fmla="val 9302"/>
              </a:avLst>
            </a:prstGeom>
            <a:gradFill>
              <a:gsLst>
                <a:gs pos="0">
                  <a:srgbClr val="FFE6B3"/>
                </a:gs>
                <a:gs pos="100000">
                  <a:srgbClr val="FFF3DD"/>
                </a:gs>
              </a:gsLst>
              <a:lin ang="5400000"/>
            </a:gradFill>
            <a:ln w="5161">
              <a:solidFill>
                <a:srgbClr val="F3DCA8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37" name="Ŵ[g] = r_row × 2^{e(g)} × (C₁[i₁] + C₂[i₂])">
              <a:extLst>
                <a:ext uri="{FF2B5EF4-FFF2-40B4-BE49-F238E27FC236}">
                  <a16:creationId xmlns:a16="http://schemas.microsoft.com/office/drawing/2014/main" id="{40D5916E-8DD2-4178-B51A-8BEFBBAEB688}"/>
                </a:ext>
              </a:extLst>
            </p:cNvPr>
            <p:cNvSpPr>
              <a:spLocks noGrp="1"/>
            </p:cNvSpPr>
            <p:nvPr/>
          </p:nvSpPr>
          <p:spPr>
            <a:xfrm>
              <a:off x="4086840" y="2570314"/>
              <a:ext cx="2214187" cy="1651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Ŵ[g] = r</a:t>
              </a:r>
              <a:r>
                <a:rPr sz="547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row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× 2</a:t>
              </a:r>
              <a:r>
                <a:rPr sz="547" b="0" i="1" baseline="27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e(g)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× (C₁[i₁] + C₂[i₂])</a:t>
              </a:r>
            </a:p>
          </p:txBody>
        </p:sp>
        <p:cxnSp>
          <p:nvCxnSpPr>
            <p:cNvPr id="238" name="native PowerPoint connector">
              <a:extLst>
                <a:ext uri="{FF2B5EF4-FFF2-40B4-BE49-F238E27FC236}">
                  <a16:creationId xmlns:a16="http://schemas.microsoft.com/office/drawing/2014/main" id="{F7D2D00A-E300-4EF7-BC6F-BD347A597FCF}"/>
                </a:ext>
              </a:extLst>
            </p:cNvPr>
            <p:cNvCxnSpPr/>
            <p:nvPr/>
          </p:nvCxnSpPr>
          <p:spPr>
            <a:xfrm flipV="1">
              <a:off x="4298452" y="2756120"/>
              <a:ext cx="87742" cy="123871"/>
            </a:xfrm>
            <a:prstGeom prst="straightConnector1">
              <a:avLst/>
            </a:prstGeom>
            <a:ln w="6194">
              <a:solidFill>
                <a:srgbClr val="074A8B"/>
              </a:solidFill>
              <a:prstDash val="solid"/>
              <a:tailEnd type="triangle" w="sm" len="sm"/>
            </a:ln>
          </p:spPr>
        </p:cxnSp>
        <p:cxnSp>
          <p:nvCxnSpPr>
            <p:cNvPr id="239" name="native PowerPoint connector">
              <a:extLst>
                <a:ext uri="{FF2B5EF4-FFF2-40B4-BE49-F238E27FC236}">
                  <a16:creationId xmlns:a16="http://schemas.microsoft.com/office/drawing/2014/main" id="{CF16E665-42FE-4616-AB94-39C642B32970}"/>
                </a:ext>
              </a:extLst>
            </p:cNvPr>
            <p:cNvCxnSpPr/>
            <p:nvPr/>
          </p:nvCxnSpPr>
          <p:spPr>
            <a:xfrm flipV="1">
              <a:off x="4886838" y="2756120"/>
              <a:ext cx="82580" cy="118709"/>
            </a:xfrm>
            <a:prstGeom prst="straightConnector1">
              <a:avLst/>
            </a:prstGeom>
            <a:ln w="6194">
              <a:solidFill>
                <a:srgbClr val="0776A5"/>
              </a:solidFill>
              <a:prstDash val="solid"/>
              <a:tailEnd type="triangle" w="sm" len="sm"/>
            </a:ln>
          </p:spPr>
        </p:cxnSp>
        <p:cxnSp>
          <p:nvCxnSpPr>
            <p:cNvPr id="240" name="native PowerPoint connector">
              <a:extLst>
                <a:ext uri="{FF2B5EF4-FFF2-40B4-BE49-F238E27FC236}">
                  <a16:creationId xmlns:a16="http://schemas.microsoft.com/office/drawing/2014/main" id="{23C0EE8E-15B9-4F6D-9D52-08E7A67694A3}"/>
                </a:ext>
              </a:extLst>
            </p:cNvPr>
            <p:cNvCxnSpPr/>
            <p:nvPr/>
          </p:nvCxnSpPr>
          <p:spPr>
            <a:xfrm flipV="1">
              <a:off x="5521674" y="2756120"/>
              <a:ext cx="0" cy="123871"/>
            </a:xfrm>
            <a:prstGeom prst="straightConnector1">
              <a:avLst/>
            </a:prstGeom>
            <a:ln w="6194">
              <a:solidFill>
                <a:srgbClr val="00696D"/>
              </a:solidFill>
              <a:prstDash val="solid"/>
              <a:tailEnd type="triangle" w="sm" len="sm"/>
            </a:ln>
          </p:spPr>
        </p:cxnSp>
        <p:cxnSp>
          <p:nvCxnSpPr>
            <p:cNvPr id="241" name="native PowerPoint connector">
              <a:extLst>
                <a:ext uri="{FF2B5EF4-FFF2-40B4-BE49-F238E27FC236}">
                  <a16:creationId xmlns:a16="http://schemas.microsoft.com/office/drawing/2014/main" id="{09D6DCE4-3C45-45BD-BDC2-556A56A6043E}"/>
                </a:ext>
              </a:extLst>
            </p:cNvPr>
            <p:cNvCxnSpPr/>
            <p:nvPr/>
          </p:nvCxnSpPr>
          <p:spPr>
            <a:xfrm flipV="1">
              <a:off x="6130705" y="2756120"/>
              <a:ext cx="0" cy="123871"/>
            </a:xfrm>
            <a:prstGeom prst="straightConnector1">
              <a:avLst/>
            </a:prstGeom>
            <a:ln w="6194">
              <a:solidFill>
                <a:srgbClr val="061A3C"/>
              </a:solidFill>
              <a:prstDash val="solid"/>
              <a:tailEnd type="triangle" w="sm" len="sm"/>
            </a:ln>
          </p:spPr>
        </p:cxnSp>
        <p:sp>
          <p:nvSpPr>
            <p:cNvPr id="242" name="BF16 row gain">
              <a:extLst>
                <a:ext uri="{FF2B5EF4-FFF2-40B4-BE49-F238E27FC236}">
                  <a16:creationId xmlns:a16="http://schemas.microsoft.com/office/drawing/2014/main" id="{1240CE53-463C-46C9-A88B-3453CB441606}"/>
                </a:ext>
              </a:extLst>
            </p:cNvPr>
            <p:cNvSpPr>
              <a:spLocks noGrp="1"/>
            </p:cNvSpPr>
            <p:nvPr/>
          </p:nvSpPr>
          <p:spPr>
            <a:xfrm>
              <a:off x="4040389" y="2869668"/>
              <a:ext cx="516127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3869"/>
            </a:bodyPr>
            <a:lstStyle>
              <a:def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BF16 row gain</a:t>
              </a:r>
            </a:p>
          </p:txBody>
        </p:sp>
        <p:sp>
          <p:nvSpPr>
            <p:cNvPr id="243" name="r_row">
              <a:extLst>
                <a:ext uri="{FF2B5EF4-FFF2-40B4-BE49-F238E27FC236}">
                  <a16:creationId xmlns:a16="http://schemas.microsoft.com/office/drawing/2014/main" id="{1A6C641E-5C4E-4602-81D3-8C7DA916F5BC}"/>
                </a:ext>
              </a:extLst>
            </p:cNvPr>
            <p:cNvSpPr>
              <a:spLocks noGrp="1"/>
            </p:cNvSpPr>
            <p:nvPr/>
          </p:nvSpPr>
          <p:spPr>
            <a:xfrm>
              <a:off x="4159098" y="2988378"/>
              <a:ext cx="294193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2124"/>
            </a:bodyPr>
            <a:lstStyle>
              <a:def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r</a:t>
              </a:r>
              <a:r>
                <a:rPr sz="434" b="0" i="1" baseline="-2300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row</a:t>
              </a:r>
            </a:p>
          </p:txBody>
        </p:sp>
        <p:sp>
          <p:nvSpPr>
            <p:cNvPr id="244" name="B32 power-of-two&#10;scales">
              <a:extLst>
                <a:ext uri="{FF2B5EF4-FFF2-40B4-BE49-F238E27FC236}">
                  <a16:creationId xmlns:a16="http://schemas.microsoft.com/office/drawing/2014/main" id="{C1B4B160-0B47-43A0-9AB1-B754CC8C7046}"/>
                </a:ext>
              </a:extLst>
            </p:cNvPr>
            <p:cNvSpPr>
              <a:spLocks noGrp="1"/>
            </p:cNvSpPr>
            <p:nvPr/>
          </p:nvSpPr>
          <p:spPr>
            <a:xfrm>
              <a:off x="4597806" y="2864507"/>
              <a:ext cx="655482" cy="22193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992"/>
            </a:bodyPr>
            <a:lstStyle>
              <a:def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rPr>
                <a:t>B32 power-of-two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rPr>
                <a:t>scales</a:t>
              </a:r>
            </a:p>
          </p:txBody>
        </p:sp>
        <p:sp>
          <p:nvSpPr>
            <p:cNvPr id="245" name="2 × 8-bit indices /&#10;4 weights = 4 core bpw">
              <a:extLst>
                <a:ext uri="{FF2B5EF4-FFF2-40B4-BE49-F238E27FC236}">
                  <a16:creationId xmlns:a16="http://schemas.microsoft.com/office/drawing/2014/main" id="{ED283786-F027-48B6-9D0B-6D4C0CFB3CD9}"/>
                </a:ext>
              </a:extLst>
            </p:cNvPr>
            <p:cNvSpPr>
              <a:spLocks noGrp="1"/>
            </p:cNvSpPr>
            <p:nvPr/>
          </p:nvSpPr>
          <p:spPr>
            <a:xfrm>
              <a:off x="5289417" y="2864507"/>
              <a:ext cx="650321" cy="22193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6351"/>
            </a:bodyPr>
            <a:lstStyle>
              <a:def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rPr>
                <a:t>2 × 8-bit indices /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rPr>
                <a:t>4 weights = 4 core bpw</a:t>
              </a:r>
            </a:p>
          </p:txBody>
        </p:sp>
        <p:sp>
          <p:nvSpPr>
            <p:cNvPr id="246" name="~4.27 bpw&#10;including&#10;metadata">
              <a:extLst>
                <a:ext uri="{FF2B5EF4-FFF2-40B4-BE49-F238E27FC236}">
                  <a16:creationId xmlns:a16="http://schemas.microsoft.com/office/drawing/2014/main" id="{B20E8BE3-978C-464B-B81B-C6206DEEA5B9}"/>
                </a:ext>
              </a:extLst>
            </p:cNvPr>
            <p:cNvSpPr>
              <a:spLocks noGrp="1"/>
            </p:cNvSpPr>
            <p:nvPr/>
          </p:nvSpPr>
          <p:spPr>
            <a:xfrm>
              <a:off x="6011995" y="2843862"/>
              <a:ext cx="392257" cy="28387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4821"/>
            </a:bodyPr>
            <a:lstStyle>
              <a:def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~4.27 bpw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including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metadata</a:t>
              </a:r>
            </a:p>
          </p:txBody>
        </p:sp>
        <p:sp>
          <p:nvSpPr>
            <p:cNvPr id="247" name="diagram block">
              <a:extLst>
                <a:ext uri="{FF2B5EF4-FFF2-40B4-BE49-F238E27FC236}">
                  <a16:creationId xmlns:a16="http://schemas.microsoft.com/office/drawing/2014/main" id="{76E4AD9A-C6C3-4F6E-8902-E8D1535CB5BC}"/>
                </a:ext>
              </a:extLst>
            </p:cNvPr>
            <p:cNvSpPr>
              <a:spLocks noGrp="1"/>
            </p:cNvSpPr>
            <p:nvPr/>
          </p:nvSpPr>
          <p:spPr>
            <a:xfrm>
              <a:off x="4040389" y="3163861"/>
              <a:ext cx="2307089" cy="242580"/>
            </a:xfrm>
            <a:prstGeom prst="roundRect">
              <a:avLst>
                <a:gd name="adj" fmla="val 10638"/>
              </a:avLst>
            </a:pr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5161">
              <a:solidFill>
                <a:srgbClr val="F49BA3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48" name="Indices and B32 exponents are frozen">
              <a:extLst>
                <a:ext uri="{FF2B5EF4-FFF2-40B4-BE49-F238E27FC236}">
                  <a16:creationId xmlns:a16="http://schemas.microsoft.com/office/drawing/2014/main" id="{FAEF2A94-2E03-44B5-9C38-74DE852B7B02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3205151"/>
              <a:ext cx="2193541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1644"/>
            </a:bodyPr>
            <a:lstStyle>
              <a:def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Indices and B32 exponents are frozen</a:t>
              </a:r>
            </a:p>
          </p:txBody>
        </p:sp>
        <p:sp>
          <p:nvSpPr>
            <p:cNvPr id="249" name="Codebooks and row gains calibrated with action + latent supervision">
              <a:extLst>
                <a:ext uri="{FF2B5EF4-FFF2-40B4-BE49-F238E27FC236}">
                  <a16:creationId xmlns:a16="http://schemas.microsoft.com/office/drawing/2014/main" id="{EFB8CFBF-6045-42E1-B778-5D1277E4E29F}"/>
                </a:ext>
              </a:extLst>
            </p:cNvPr>
            <p:cNvSpPr>
              <a:spLocks noGrp="1"/>
            </p:cNvSpPr>
            <p:nvPr/>
          </p:nvSpPr>
          <p:spPr>
            <a:xfrm>
              <a:off x="4092002" y="3318699"/>
              <a:ext cx="2209025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3785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Codebooks and row gains calibrated with action + latent supervision</a:t>
              </a:r>
            </a:p>
          </p:txBody>
        </p:sp>
        <p:sp>
          <p:nvSpPr>
            <p:cNvPr id="250" name="diagram block">
              <a:extLst>
                <a:ext uri="{FF2B5EF4-FFF2-40B4-BE49-F238E27FC236}">
                  <a16:creationId xmlns:a16="http://schemas.microsoft.com/office/drawing/2014/main" id="{A3F55612-A76C-4FA3-A87B-F555B87DE349}"/>
                </a:ext>
              </a:extLst>
            </p:cNvPr>
            <p:cNvSpPr>
              <a:spLocks noGrp="1"/>
            </p:cNvSpPr>
            <p:nvPr/>
          </p:nvSpPr>
          <p:spPr>
            <a:xfrm>
              <a:off x="6538445" y="309676"/>
              <a:ext cx="1223222" cy="190967"/>
            </a:xfrm>
            <a:prstGeom prst="roundRect">
              <a:avLst>
                <a:gd name="adj" fmla="val 8108"/>
              </a:avLst>
            </a:prstGeom>
            <a:solidFill>
              <a:srgbClr val="DDEFFF"/>
            </a:solidFill>
            <a:ln w="5161">
              <a:noFill/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51" name="Activation path (input X)">
              <a:extLst>
                <a:ext uri="{FF2B5EF4-FFF2-40B4-BE49-F238E27FC236}">
                  <a16:creationId xmlns:a16="http://schemas.microsoft.com/office/drawing/2014/main" id="{A6B7812D-ACCD-4130-ADE7-5453590C098B}"/>
                </a:ext>
              </a:extLst>
            </p:cNvPr>
            <p:cNvSpPr>
              <a:spLocks noGrp="1"/>
            </p:cNvSpPr>
            <p:nvPr/>
          </p:nvSpPr>
          <p:spPr>
            <a:xfrm>
              <a:off x="6564252" y="335483"/>
              <a:ext cx="1171609" cy="139354"/>
            </a:xfrm>
            <a:prstGeom prst="rect">
              <a:avLst/>
            </a:prstGeom>
            <a:solidFill>
              <a:srgbClr val="DDEFFF"/>
            </a:soli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rPr>
                <a:t>Activation path (input X)</a:t>
              </a:r>
            </a:p>
          </p:txBody>
        </p:sp>
        <p:sp>
          <p:nvSpPr>
            <p:cNvPr id="252" name="X">
              <a:extLst>
                <a:ext uri="{FF2B5EF4-FFF2-40B4-BE49-F238E27FC236}">
                  <a16:creationId xmlns:a16="http://schemas.microsoft.com/office/drawing/2014/main" id="{6239F267-3D67-43CF-B330-47A51410478F}"/>
                </a:ext>
              </a:extLst>
            </p:cNvPr>
            <p:cNvSpPr>
              <a:spLocks noGrp="1"/>
            </p:cNvSpPr>
            <p:nvPr/>
          </p:nvSpPr>
          <p:spPr>
            <a:xfrm>
              <a:off x="6548768" y="815481"/>
              <a:ext cx="134193" cy="15999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9047"/>
            </a:bodyPr>
            <a:lstStyle>
              <a:def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X</a:t>
              </a:r>
            </a:p>
          </p:txBody>
        </p:sp>
        <p:sp>
          <p:nvSpPr>
            <p:cNvPr id="253" name="diagram block">
              <a:extLst>
                <a:ext uri="{FF2B5EF4-FFF2-40B4-BE49-F238E27FC236}">
                  <a16:creationId xmlns:a16="http://schemas.microsoft.com/office/drawing/2014/main" id="{FCD3D5E8-F4C3-49F7-AEA1-166EE0590F67}"/>
                </a:ext>
              </a:extLst>
            </p:cNvPr>
            <p:cNvSpPr>
              <a:spLocks noGrp="1"/>
            </p:cNvSpPr>
            <p:nvPr/>
          </p:nvSpPr>
          <p:spPr>
            <a:xfrm>
              <a:off x="6806832" y="650321"/>
              <a:ext cx="469676" cy="464515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5161">
              <a:solidFill>
                <a:srgbClr val="1269A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54" name="Smooth&#10;(α = 0.5)&#10;+ H128">
              <a:extLst>
                <a:ext uri="{FF2B5EF4-FFF2-40B4-BE49-F238E27FC236}">
                  <a16:creationId xmlns:a16="http://schemas.microsoft.com/office/drawing/2014/main" id="{DDB14A24-F8E5-425E-B97B-454971B358D2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676127"/>
              <a:ext cx="418063" cy="412902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Smooth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(α = 0.5)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+ H128</a:t>
              </a:r>
            </a:p>
          </p:txBody>
        </p:sp>
        <p:sp>
          <p:nvSpPr>
            <p:cNvPr id="255" name="diagram block">
              <a:extLst>
                <a:ext uri="{FF2B5EF4-FFF2-40B4-BE49-F238E27FC236}">
                  <a16:creationId xmlns:a16="http://schemas.microsoft.com/office/drawing/2014/main" id="{58053B87-91EC-463B-9EE1-6AD1A03DA51D}"/>
                </a:ext>
              </a:extLst>
            </p:cNvPr>
            <p:cNvSpPr>
              <a:spLocks noGrp="1"/>
            </p:cNvSpPr>
            <p:nvPr/>
          </p:nvSpPr>
          <p:spPr>
            <a:xfrm>
              <a:off x="7488120" y="738062"/>
              <a:ext cx="263225" cy="283870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5161">
              <a:solidFill>
                <a:srgbClr val="4088B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56" name="÷ D">
              <a:extLst>
                <a:ext uri="{FF2B5EF4-FFF2-40B4-BE49-F238E27FC236}">
                  <a16:creationId xmlns:a16="http://schemas.microsoft.com/office/drawing/2014/main" id="{D958FA15-8F74-4B6A-B039-63679F9AB437}"/>
                </a:ext>
              </a:extLst>
            </p:cNvPr>
            <p:cNvSpPr>
              <a:spLocks noGrp="1"/>
            </p:cNvSpPr>
            <p:nvPr/>
          </p:nvSpPr>
          <p:spPr>
            <a:xfrm>
              <a:off x="7513926" y="763869"/>
              <a:ext cx="211612" cy="232257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÷ D</a:t>
              </a:r>
            </a:p>
          </p:txBody>
        </p:sp>
        <p:sp>
          <p:nvSpPr>
            <p:cNvPr id="257" name="diagram block">
              <a:extLst>
                <a:ext uri="{FF2B5EF4-FFF2-40B4-BE49-F238E27FC236}">
                  <a16:creationId xmlns:a16="http://schemas.microsoft.com/office/drawing/2014/main" id="{A52AFA23-DC19-49C5-811D-25C446309DC1}"/>
                </a:ext>
              </a:extLst>
            </p:cNvPr>
            <p:cNvSpPr>
              <a:spLocks noGrp="1"/>
            </p:cNvSpPr>
            <p:nvPr/>
          </p:nvSpPr>
          <p:spPr>
            <a:xfrm>
              <a:off x="7859731" y="655482"/>
              <a:ext cx="449031" cy="459353"/>
            </a:xfrm>
            <a:prstGeom prst="rect">
              <a:avLst/>
            </a:prstGeom>
            <a:gradFill>
              <a:gsLst>
                <a:gs pos="0">
                  <a:srgbClr val="76D1D5"/>
                </a:gs>
                <a:gs pos="100000">
                  <a:srgbClr val="B4E4E3"/>
                </a:gs>
              </a:gsLst>
              <a:lin ang="5400000"/>
            </a:gradFill>
            <a:ln w="5161">
              <a:solidFill>
                <a:srgbClr val="106C7A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58" name="Dynamic&#10;signed A4">
              <a:extLst>
                <a:ext uri="{FF2B5EF4-FFF2-40B4-BE49-F238E27FC236}">
                  <a16:creationId xmlns:a16="http://schemas.microsoft.com/office/drawing/2014/main" id="{7DAD8669-4AF8-4595-A550-F3D4B6341016}"/>
                </a:ext>
              </a:extLst>
            </p:cNvPr>
            <p:cNvSpPr>
              <a:spLocks noGrp="1"/>
            </p:cNvSpPr>
            <p:nvPr/>
          </p:nvSpPr>
          <p:spPr>
            <a:xfrm>
              <a:off x="7885538" y="681288"/>
              <a:ext cx="397418" cy="407741"/>
            </a:xfrm>
            <a:prstGeom prst="rect">
              <a:avLst/>
            </a:prstGeom>
            <a:gradFill>
              <a:gsLst>
                <a:gs pos="0">
                  <a:srgbClr val="76D1D5"/>
                </a:gs>
                <a:gs pos="100000">
                  <a:srgbClr val="B4E4E3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96630"/>
            </a:bodyPr>
            <a:lstStyle>
              <a:def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Dynamic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signed A4</a:t>
              </a:r>
            </a:p>
          </p:txBody>
        </p:sp>
        <p:sp>
          <p:nvSpPr>
            <p:cNvPr id="259" name="diagram block">
              <a:extLst>
                <a:ext uri="{FF2B5EF4-FFF2-40B4-BE49-F238E27FC236}">
                  <a16:creationId xmlns:a16="http://schemas.microsoft.com/office/drawing/2014/main" id="{D94DBB7A-2426-4ED9-8883-71C4EC860999}"/>
                </a:ext>
              </a:extLst>
            </p:cNvPr>
            <p:cNvSpPr>
              <a:spLocks noGrp="1"/>
            </p:cNvSpPr>
            <p:nvPr/>
          </p:nvSpPr>
          <p:spPr>
            <a:xfrm>
              <a:off x="8411988" y="650321"/>
              <a:ext cx="381934" cy="464515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5161">
              <a:solidFill>
                <a:srgbClr val="1666A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60" name="BF16&#10;dense&#10;Linear">
              <a:extLst>
                <a:ext uri="{FF2B5EF4-FFF2-40B4-BE49-F238E27FC236}">
                  <a16:creationId xmlns:a16="http://schemas.microsoft.com/office/drawing/2014/main" id="{A23220B0-FDE5-4A62-B00F-06E2EC9AE815}"/>
                </a:ext>
              </a:extLst>
            </p:cNvPr>
            <p:cNvSpPr>
              <a:spLocks noGrp="1"/>
            </p:cNvSpPr>
            <p:nvPr/>
          </p:nvSpPr>
          <p:spPr>
            <a:xfrm>
              <a:off x="8437794" y="676127"/>
              <a:ext cx="330322" cy="412902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BF16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dense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Linear</a:t>
              </a:r>
            </a:p>
          </p:txBody>
        </p:sp>
        <p:cxnSp>
          <p:nvCxnSpPr>
            <p:cNvPr id="261" name="native PowerPoint connector">
              <a:extLst>
                <a:ext uri="{FF2B5EF4-FFF2-40B4-BE49-F238E27FC236}">
                  <a16:creationId xmlns:a16="http://schemas.microsoft.com/office/drawing/2014/main" id="{28320A35-BE6D-4909-BB4D-09B549046FE6}"/>
                </a:ext>
              </a:extLst>
            </p:cNvPr>
            <p:cNvCxnSpPr/>
            <p:nvPr/>
          </p:nvCxnSpPr>
          <p:spPr>
            <a:xfrm>
              <a:off x="6677800" y="882578"/>
              <a:ext cx="123871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262" name="native PowerPoint connector">
              <a:extLst>
                <a:ext uri="{FF2B5EF4-FFF2-40B4-BE49-F238E27FC236}">
                  <a16:creationId xmlns:a16="http://schemas.microsoft.com/office/drawing/2014/main" id="{A3F5DFDC-FBBF-4972-BAB2-6EE4E04114A8}"/>
                </a:ext>
              </a:extLst>
            </p:cNvPr>
            <p:cNvCxnSpPr/>
            <p:nvPr/>
          </p:nvCxnSpPr>
          <p:spPr>
            <a:xfrm>
              <a:off x="7281669" y="877417"/>
              <a:ext cx="196128" cy="0"/>
            </a:xfrm>
            <a:prstGeom prst="straightConnector1">
              <a:avLst/>
            </a:prstGeom>
            <a:ln w="7226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263" name="Z">
              <a:extLst>
                <a:ext uri="{FF2B5EF4-FFF2-40B4-BE49-F238E27FC236}">
                  <a16:creationId xmlns:a16="http://schemas.microsoft.com/office/drawing/2014/main" id="{9A75FE93-0B41-4E58-920E-9A6A2E1874B4}"/>
                </a:ext>
              </a:extLst>
            </p:cNvPr>
            <p:cNvSpPr>
              <a:spLocks noGrp="1"/>
            </p:cNvSpPr>
            <p:nvPr/>
          </p:nvSpPr>
          <p:spPr>
            <a:xfrm>
              <a:off x="7333282" y="743223"/>
              <a:ext cx="123871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6931"/>
            </a:bodyPr>
            <a:lstStyle>
              <a:def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Z</a:t>
              </a:r>
            </a:p>
          </p:txBody>
        </p:sp>
        <p:cxnSp>
          <p:nvCxnSpPr>
            <p:cNvPr id="264" name="native PowerPoint connector">
              <a:extLst>
                <a:ext uri="{FF2B5EF4-FFF2-40B4-BE49-F238E27FC236}">
                  <a16:creationId xmlns:a16="http://schemas.microsoft.com/office/drawing/2014/main" id="{7F5F82F9-B317-4971-8CF5-4F018528615C}"/>
                </a:ext>
              </a:extLst>
            </p:cNvPr>
            <p:cNvCxnSpPr/>
            <p:nvPr/>
          </p:nvCxnSpPr>
          <p:spPr>
            <a:xfrm>
              <a:off x="7756506" y="877417"/>
              <a:ext cx="98064" cy="0"/>
            </a:xfrm>
            <a:prstGeom prst="straightConnector1">
              <a:avLst/>
            </a:prstGeom>
            <a:ln w="7226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265" name="native PowerPoint connector">
              <a:extLst>
                <a:ext uri="{FF2B5EF4-FFF2-40B4-BE49-F238E27FC236}">
                  <a16:creationId xmlns:a16="http://schemas.microsoft.com/office/drawing/2014/main" id="{93B4B03E-0B62-480D-9A04-CDB6B065AE6F}"/>
                </a:ext>
              </a:extLst>
            </p:cNvPr>
            <p:cNvCxnSpPr/>
            <p:nvPr/>
          </p:nvCxnSpPr>
          <p:spPr>
            <a:xfrm>
              <a:off x="8313924" y="877417"/>
              <a:ext cx="92903" cy="0"/>
            </a:xfrm>
            <a:prstGeom prst="straightConnector1">
              <a:avLst/>
            </a:prstGeom>
            <a:ln w="7226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266" name="D: one positive scale per physical input channel">
              <a:extLst>
                <a:ext uri="{FF2B5EF4-FFF2-40B4-BE49-F238E27FC236}">
                  <a16:creationId xmlns:a16="http://schemas.microsoft.com/office/drawing/2014/main" id="{1CB75A5D-99DC-4683-8365-299B4060D9B3}"/>
                </a:ext>
              </a:extLst>
            </p:cNvPr>
            <p:cNvSpPr>
              <a:spLocks noGrp="1"/>
            </p:cNvSpPr>
            <p:nvPr/>
          </p:nvSpPr>
          <p:spPr>
            <a:xfrm>
              <a:off x="6590058" y="1187093"/>
              <a:ext cx="2193541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D: one positive scale per physical input channel</a:t>
              </a:r>
            </a:p>
          </p:txBody>
        </p:sp>
        <p:sp>
          <p:nvSpPr>
            <p:cNvPr id="267" name="v = Z / D">
              <a:extLst>
                <a:ext uri="{FF2B5EF4-FFF2-40B4-BE49-F238E27FC236}">
                  <a16:creationId xmlns:a16="http://schemas.microsoft.com/office/drawing/2014/main" id="{F47627DF-F248-40B3-A4E5-52B71D1324B3}"/>
                </a:ext>
              </a:extLst>
            </p:cNvPr>
            <p:cNvSpPr>
              <a:spLocks noGrp="1"/>
            </p:cNvSpPr>
            <p:nvPr/>
          </p:nvSpPr>
          <p:spPr>
            <a:xfrm>
              <a:off x="6605542" y="1460641"/>
              <a:ext cx="629675" cy="18064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v = Z / D</a:t>
              </a:r>
            </a:p>
          </p:txBody>
        </p:sp>
        <p:sp>
          <p:nvSpPr>
            <p:cNvPr id="268" name="diagram block">
              <a:extLst>
                <a:ext uri="{FF2B5EF4-FFF2-40B4-BE49-F238E27FC236}">
                  <a16:creationId xmlns:a16="http://schemas.microsoft.com/office/drawing/2014/main" id="{47B3F91E-4BBE-4ED5-84A2-D4A33F662258}"/>
                </a:ext>
              </a:extLst>
            </p:cNvPr>
            <p:cNvSpPr>
              <a:spLocks noGrp="1"/>
            </p:cNvSpPr>
            <p:nvPr/>
          </p:nvSpPr>
          <p:spPr>
            <a:xfrm>
              <a:off x="7240379" y="1321286"/>
              <a:ext cx="1548382" cy="541934"/>
            </a:xfrm>
            <a:prstGeom prst="roundRect">
              <a:avLst>
                <a:gd name="adj" fmla="val 4762"/>
              </a:avLst>
            </a:prstGeom>
            <a:gradFill>
              <a:gsLst>
                <a:gs pos="0">
                  <a:srgbClr val="E1F5FC"/>
                </a:gs>
                <a:gs pos="100000">
                  <a:srgbClr val="F1FBFE"/>
                </a:gs>
              </a:gsLst>
              <a:lin ang="5400000"/>
            </a:gradFill>
            <a:ln w="5161">
              <a:solidFill>
                <a:srgbClr val="B6E0E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69" name="Per-token dynamic signed A4 (per Linear)">
              <a:extLst>
                <a:ext uri="{FF2B5EF4-FFF2-40B4-BE49-F238E27FC236}">
                  <a16:creationId xmlns:a16="http://schemas.microsoft.com/office/drawing/2014/main" id="{291A7404-B30C-4126-BEE6-6787F78D65B7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1372899"/>
              <a:ext cx="1445157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0794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Per-token dynamic signed A4 (per Linear)</a:t>
              </a:r>
            </a:p>
          </p:txBody>
        </p:sp>
        <p:sp>
          <p:nvSpPr>
            <p:cNvPr id="270" name="sₜ = r_{ℓ} × max |vₜ| / 7">
              <a:extLst>
                <a:ext uri="{FF2B5EF4-FFF2-40B4-BE49-F238E27FC236}">
                  <a16:creationId xmlns:a16="http://schemas.microsoft.com/office/drawing/2014/main" id="{35E8F642-58C9-4D24-9B41-C7D9FB32F40E}"/>
                </a:ext>
              </a:extLst>
            </p:cNvPr>
            <p:cNvSpPr>
              <a:spLocks noGrp="1"/>
            </p:cNvSpPr>
            <p:nvPr/>
          </p:nvSpPr>
          <p:spPr>
            <a:xfrm>
              <a:off x="7395217" y="1527737"/>
              <a:ext cx="1269673" cy="14967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sₜ = r</a:t>
              </a:r>
              <a:r>
                <a:rPr sz="547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ℓ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× </a:t>
              </a:r>
              <a:r>
                <a: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max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|vₜ| / 7</a:t>
              </a:r>
            </a:p>
          </p:txBody>
        </p:sp>
        <p:sp>
          <p:nvSpPr>
            <p:cNvPr id="271" name="q = clamp(round(v / sₜ), −7, 7)">
              <a:extLst>
                <a:ext uri="{FF2B5EF4-FFF2-40B4-BE49-F238E27FC236}">
                  <a16:creationId xmlns:a16="http://schemas.microsoft.com/office/drawing/2014/main" id="{3564BC83-0301-4C6E-AD3B-F2D4BE8BEF75}"/>
                </a:ext>
              </a:extLst>
            </p:cNvPr>
            <p:cNvSpPr>
              <a:spLocks noGrp="1"/>
            </p:cNvSpPr>
            <p:nvPr/>
          </p:nvSpPr>
          <p:spPr>
            <a:xfrm>
              <a:off x="7317798" y="1687737"/>
              <a:ext cx="1383221" cy="14451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199"/>
            </a:bodyPr>
            <a:lstStyle>
              <a:def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q = </a:t>
              </a:r>
              <a:r>
                <a:rPr sz="68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clamp</a:t>
              </a:r>
              <a:r>
                <a: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</a:t>
              </a:r>
              <a:r>
                <a:rPr sz="68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round</a:t>
              </a:r>
              <a:r>
                <a: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(v / sₜ), −7, 7)</a:t>
              </a:r>
            </a:p>
          </p:txBody>
        </p:sp>
        <p:sp>
          <p:nvSpPr>
            <p:cNvPr id="272" name="r_{ℓ}: one clipping ratio per Linear">
              <a:extLst>
                <a:ext uri="{FF2B5EF4-FFF2-40B4-BE49-F238E27FC236}">
                  <a16:creationId xmlns:a16="http://schemas.microsoft.com/office/drawing/2014/main" id="{C511066A-E9A7-463D-A821-3E025CF763A7}"/>
                </a:ext>
              </a:extLst>
            </p:cNvPr>
            <p:cNvSpPr>
              <a:spLocks noGrp="1"/>
            </p:cNvSpPr>
            <p:nvPr/>
          </p:nvSpPr>
          <p:spPr>
            <a:xfrm>
              <a:off x="7276508" y="1914833"/>
              <a:ext cx="1512253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r</a:t>
              </a:r>
              <a:r>
                <a:rPr sz="434" b="0" i="0" baseline="-2300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ℓ</a:t>
              </a:r>
              <a:r>
                <a: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: one clipping ratio per Linear</a:t>
              </a:r>
            </a:p>
          </p:txBody>
        </p:sp>
        <p:sp>
          <p:nvSpPr>
            <p:cNvPr id="273" name="(distinct from per-channel D)">
              <a:extLst>
                <a:ext uri="{FF2B5EF4-FFF2-40B4-BE49-F238E27FC236}">
                  <a16:creationId xmlns:a16="http://schemas.microsoft.com/office/drawing/2014/main" id="{220E95B6-D1F0-404E-B28A-555AF690377F}"/>
                </a:ext>
              </a:extLst>
            </p:cNvPr>
            <p:cNvSpPr>
              <a:spLocks noGrp="1"/>
            </p:cNvSpPr>
            <p:nvPr/>
          </p:nvSpPr>
          <p:spPr>
            <a:xfrm>
              <a:off x="7415862" y="2033542"/>
              <a:ext cx="1341931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6511"/>
            </a:bodyPr>
            <a:lstStyle>
              <a:def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(distinct from per-channel D)</a:t>
              </a:r>
            </a:p>
          </p:txBody>
        </p:sp>
        <p:sp>
          <p:nvSpPr>
            <p:cNvPr id="274" name="diagram block">
              <a:extLst>
                <a:ext uri="{FF2B5EF4-FFF2-40B4-BE49-F238E27FC236}">
                  <a16:creationId xmlns:a16="http://schemas.microsoft.com/office/drawing/2014/main" id="{863DAB91-DE07-449F-A632-FE602C72F5A5}"/>
                </a:ext>
              </a:extLst>
            </p:cNvPr>
            <p:cNvSpPr>
              <a:spLocks noGrp="1"/>
            </p:cNvSpPr>
            <p:nvPr/>
          </p:nvSpPr>
          <p:spPr>
            <a:xfrm>
              <a:off x="6538445" y="2193541"/>
              <a:ext cx="753546" cy="206451"/>
            </a:xfrm>
            <a:prstGeom prst="roundRect">
              <a:avLst>
                <a:gd name="adj" fmla="val 10000"/>
              </a:avLst>
            </a:prstGeom>
            <a:solidFill>
              <a:srgbClr val="FDE7E5"/>
            </a:solidFill>
            <a:ln w="5161">
              <a:noFill/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75" name="Weight path">
              <a:extLst>
                <a:ext uri="{FF2B5EF4-FFF2-40B4-BE49-F238E27FC236}">
                  <a16:creationId xmlns:a16="http://schemas.microsoft.com/office/drawing/2014/main" id="{466BDDDA-4E4B-41B7-80DA-842356AA9AAD}"/>
                </a:ext>
              </a:extLst>
            </p:cNvPr>
            <p:cNvSpPr>
              <a:spLocks noGrp="1"/>
            </p:cNvSpPr>
            <p:nvPr/>
          </p:nvSpPr>
          <p:spPr>
            <a:xfrm>
              <a:off x="6564252" y="2219348"/>
              <a:ext cx="701933" cy="154838"/>
            </a:xfrm>
            <a:prstGeom prst="rect">
              <a:avLst/>
            </a:prstGeom>
            <a:solidFill>
              <a:srgbClr val="FDE7E5"/>
            </a:soli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Weight path</a:t>
              </a:r>
            </a:p>
          </p:txBody>
        </p:sp>
        <p:sp>
          <p:nvSpPr>
            <p:cNvPr id="276" name="diagram block">
              <a:extLst>
                <a:ext uri="{FF2B5EF4-FFF2-40B4-BE49-F238E27FC236}">
                  <a16:creationId xmlns:a16="http://schemas.microsoft.com/office/drawing/2014/main" id="{8D7E3B27-E68F-40A1-81E0-18DA34C13153}"/>
                </a:ext>
              </a:extLst>
            </p:cNvPr>
            <p:cNvSpPr>
              <a:spLocks noGrp="1"/>
            </p:cNvSpPr>
            <p:nvPr/>
          </p:nvSpPr>
          <p:spPr>
            <a:xfrm>
              <a:off x="6538445" y="2461928"/>
              <a:ext cx="660643" cy="361289"/>
            </a:xfrm>
            <a:prstGeom prst="rect">
              <a:avLst/>
            </a:pr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5161">
              <a:solidFill>
                <a:srgbClr val="C94E64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77" name="Decode VQ&#10;(frozen)">
              <a:extLst>
                <a:ext uri="{FF2B5EF4-FFF2-40B4-BE49-F238E27FC236}">
                  <a16:creationId xmlns:a16="http://schemas.microsoft.com/office/drawing/2014/main" id="{FB346F94-AA56-4053-B5DB-14556EAD9E76}"/>
                </a:ext>
              </a:extLst>
            </p:cNvPr>
            <p:cNvSpPr>
              <a:spLocks noGrp="1"/>
            </p:cNvSpPr>
            <p:nvPr/>
          </p:nvSpPr>
          <p:spPr>
            <a:xfrm>
              <a:off x="6564252" y="2487734"/>
              <a:ext cx="609030" cy="309676"/>
            </a:xfrm>
            <a:prstGeom prst="rect">
              <a:avLst/>
            </a:pr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Decode VQ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(frozen)</a:t>
              </a:r>
            </a:p>
          </p:txBody>
        </p:sp>
        <p:sp>
          <p:nvSpPr>
            <p:cNvPr id="278" name="Ŵ">
              <a:extLst>
                <a:ext uri="{FF2B5EF4-FFF2-40B4-BE49-F238E27FC236}">
                  <a16:creationId xmlns:a16="http://schemas.microsoft.com/office/drawing/2014/main" id="{AA93082A-AEBA-4C8F-B14A-611FB88B95C3}"/>
                </a:ext>
              </a:extLst>
            </p:cNvPr>
            <p:cNvSpPr>
              <a:spLocks noGrp="1"/>
            </p:cNvSpPr>
            <p:nvPr/>
          </p:nvSpPr>
          <p:spPr>
            <a:xfrm>
              <a:off x="7286830" y="2472250"/>
              <a:ext cx="185806" cy="1393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0351"/>
            </a:bodyPr>
            <a:lstStyle>
              <a:def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Ŵ</a:t>
              </a:r>
            </a:p>
          </p:txBody>
        </p:sp>
        <p:sp>
          <p:nvSpPr>
            <p:cNvPr id="279" name="diagram block">
              <a:extLst>
                <a:ext uri="{FF2B5EF4-FFF2-40B4-BE49-F238E27FC236}">
                  <a16:creationId xmlns:a16="http://schemas.microsoft.com/office/drawing/2014/main" id="{C0A3B58F-E81F-4848-95AB-9050B985F359}"/>
                </a:ext>
              </a:extLst>
            </p:cNvPr>
            <p:cNvSpPr>
              <a:spLocks noGrp="1"/>
            </p:cNvSpPr>
            <p:nvPr/>
          </p:nvSpPr>
          <p:spPr>
            <a:xfrm>
              <a:off x="7519087" y="2498057"/>
              <a:ext cx="588385" cy="294193"/>
            </a:xfrm>
            <a:prstGeom prst="rect">
              <a:avLst/>
            </a:prstGeom>
            <a:gradFill>
              <a:gsLst>
                <a:gs pos="0">
                  <a:srgbClr val="FFE6B3"/>
                </a:gs>
                <a:gs pos="100000">
                  <a:srgbClr val="FFF3DD"/>
                </a:gs>
              </a:gsLst>
              <a:lin ang="5400000"/>
            </a:gradFill>
            <a:ln w="5161">
              <a:solidFill>
                <a:srgbClr val="EBC778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80" name="Ŵ × D">
              <a:extLst>
                <a:ext uri="{FF2B5EF4-FFF2-40B4-BE49-F238E27FC236}">
                  <a16:creationId xmlns:a16="http://schemas.microsoft.com/office/drawing/2014/main" id="{073F9BC6-5269-401E-8C86-CD9B20175C80}"/>
                </a:ext>
              </a:extLst>
            </p:cNvPr>
            <p:cNvSpPr>
              <a:spLocks noGrp="1"/>
            </p:cNvSpPr>
            <p:nvPr/>
          </p:nvSpPr>
          <p:spPr>
            <a:xfrm>
              <a:off x="7544894" y="2523863"/>
              <a:ext cx="536772" cy="242580"/>
            </a:xfrm>
            <a:prstGeom prst="rect">
              <a:avLst/>
            </a:prstGeom>
            <a:gradFill>
              <a:gsLst>
                <a:gs pos="0">
                  <a:srgbClr val="FFE6B3"/>
                </a:gs>
                <a:gs pos="100000">
                  <a:srgbClr val="FFF3DD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Ŵ × D</a:t>
              </a:r>
            </a:p>
          </p:txBody>
        </p:sp>
        <p:sp>
          <p:nvSpPr>
            <p:cNvPr id="281" name="diagram block">
              <a:extLst>
                <a:ext uri="{FF2B5EF4-FFF2-40B4-BE49-F238E27FC236}">
                  <a16:creationId xmlns:a16="http://schemas.microsoft.com/office/drawing/2014/main" id="{55A12A8F-BA28-4709-AF07-EEE9F281218C}"/>
                </a:ext>
              </a:extLst>
            </p:cNvPr>
            <p:cNvSpPr>
              <a:spLocks noGrp="1"/>
            </p:cNvSpPr>
            <p:nvPr/>
          </p:nvSpPr>
          <p:spPr>
            <a:xfrm>
              <a:off x="8313924" y="2420637"/>
              <a:ext cx="474837" cy="454192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5161">
              <a:solidFill>
                <a:srgbClr val="156CB0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82" name="BF16&#10;dense&#10;Linear">
              <a:extLst>
                <a:ext uri="{FF2B5EF4-FFF2-40B4-BE49-F238E27FC236}">
                  <a16:creationId xmlns:a16="http://schemas.microsoft.com/office/drawing/2014/main" id="{568F3CAC-8113-46F3-BEB8-735B309A52ED}"/>
                </a:ext>
              </a:extLst>
            </p:cNvPr>
            <p:cNvSpPr>
              <a:spLocks noGrp="1"/>
            </p:cNvSpPr>
            <p:nvPr/>
          </p:nvSpPr>
          <p:spPr>
            <a:xfrm>
              <a:off x="8339730" y="2446444"/>
              <a:ext cx="423224" cy="402579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BF16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dense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Linear</a:t>
              </a:r>
            </a:p>
          </p:txBody>
        </p:sp>
        <p:cxnSp>
          <p:nvCxnSpPr>
            <p:cNvPr id="283" name="native PowerPoint connector">
              <a:extLst>
                <a:ext uri="{FF2B5EF4-FFF2-40B4-BE49-F238E27FC236}">
                  <a16:creationId xmlns:a16="http://schemas.microsoft.com/office/drawing/2014/main" id="{0D1E93E7-91B9-45F2-B36D-7A8F213FB27C}"/>
                </a:ext>
              </a:extLst>
            </p:cNvPr>
            <p:cNvCxnSpPr/>
            <p:nvPr/>
          </p:nvCxnSpPr>
          <p:spPr>
            <a:xfrm>
              <a:off x="7204250" y="2642572"/>
              <a:ext cx="309676" cy="0"/>
            </a:xfrm>
            <a:prstGeom prst="straightConnector1">
              <a:avLst/>
            </a:prstGeom>
            <a:ln w="8258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284" name="native PowerPoint connector">
              <a:extLst>
                <a:ext uri="{FF2B5EF4-FFF2-40B4-BE49-F238E27FC236}">
                  <a16:creationId xmlns:a16="http://schemas.microsoft.com/office/drawing/2014/main" id="{6F3318F8-8480-48D5-884A-C51DE0633AC8}"/>
                </a:ext>
              </a:extLst>
            </p:cNvPr>
            <p:cNvCxnSpPr/>
            <p:nvPr/>
          </p:nvCxnSpPr>
          <p:spPr>
            <a:xfrm>
              <a:off x="8112634" y="2642572"/>
              <a:ext cx="196128" cy="0"/>
            </a:xfrm>
            <a:prstGeom prst="straightConnector1">
              <a:avLst/>
            </a:prstGeom>
            <a:ln w="8258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285" name="diagram block">
              <a:extLst>
                <a:ext uri="{FF2B5EF4-FFF2-40B4-BE49-F238E27FC236}">
                  <a16:creationId xmlns:a16="http://schemas.microsoft.com/office/drawing/2014/main" id="{F6F77B05-5BB9-4672-BC08-ED8580997F3A}"/>
                </a:ext>
              </a:extLst>
            </p:cNvPr>
            <p:cNvSpPr>
              <a:spLocks noGrp="1"/>
            </p:cNvSpPr>
            <p:nvPr/>
          </p:nvSpPr>
          <p:spPr>
            <a:xfrm>
              <a:off x="6538445" y="2947087"/>
              <a:ext cx="2250315" cy="459353"/>
            </a:xfrm>
            <a:prstGeom prst="roundRect">
              <a:avLst>
                <a:gd name="adj" fmla="val 6742"/>
              </a:avLst>
            </a:prstGeom>
            <a:gradFill>
              <a:gsLst>
                <a:gs pos="0">
                  <a:srgbClr val="DBF0F0"/>
                </a:gs>
                <a:gs pos="100000">
                  <a:srgbClr val="F4FCFC"/>
                </a:gs>
              </a:gsLst>
              <a:lin ang="5400000"/>
            </a:gradFill>
            <a:ln w="5161">
              <a:solidFill>
                <a:srgbClr val="95D0D1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86" name="Training refinement (activation only)">
              <a:extLst>
                <a:ext uri="{FF2B5EF4-FFF2-40B4-BE49-F238E27FC236}">
                  <a16:creationId xmlns:a16="http://schemas.microsoft.com/office/drawing/2014/main" id="{79AC0606-5A38-41AC-902B-4BF5C257DB45}"/>
                </a:ext>
              </a:extLst>
            </p:cNvPr>
            <p:cNvSpPr>
              <a:spLocks noGrp="1"/>
            </p:cNvSpPr>
            <p:nvPr/>
          </p:nvSpPr>
          <p:spPr>
            <a:xfrm>
              <a:off x="6584897" y="2983216"/>
              <a:ext cx="2147090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5287"/>
            </a:bodyPr>
            <a:lstStyle>
              <a:def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rPr>
                <a:t>Training refinement (activation only)</a:t>
              </a:r>
            </a:p>
          </p:txBody>
        </p:sp>
        <p:sp>
          <p:nvSpPr>
            <p:cNvPr id="287" name="• Freeze indices, B32 exponents,&#10;  codebooks and row gains">
              <a:extLst>
                <a:ext uri="{FF2B5EF4-FFF2-40B4-BE49-F238E27FC236}">
                  <a16:creationId xmlns:a16="http://schemas.microsoft.com/office/drawing/2014/main" id="{D4D6C71A-DC0C-4DD5-BB7F-A81DD020F7FB}"/>
                </a:ext>
              </a:extLst>
            </p:cNvPr>
            <p:cNvSpPr>
              <a:spLocks noGrp="1"/>
            </p:cNvSpPr>
            <p:nvPr/>
          </p:nvSpPr>
          <p:spPr>
            <a:xfrm>
              <a:off x="6595219" y="3117409"/>
              <a:ext cx="2141929" cy="17548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574"/>
            </a:bodyPr>
            <a:lstStyle>
              <a:def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• Freeze indices, B32 exponents,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 codebooks and row gains</a:t>
              </a:r>
            </a:p>
          </p:txBody>
        </p:sp>
        <p:sp>
          <p:nvSpPr>
            <p:cNvPr id="288" name="• Learn per-channel D and per-Linear r_{ℓ}">
              <a:extLst>
                <a:ext uri="{FF2B5EF4-FFF2-40B4-BE49-F238E27FC236}">
                  <a16:creationId xmlns:a16="http://schemas.microsoft.com/office/drawing/2014/main" id="{234191D3-E668-475A-A188-796929769792}"/>
                </a:ext>
              </a:extLst>
            </p:cNvPr>
            <p:cNvSpPr>
              <a:spLocks noGrp="1"/>
            </p:cNvSpPr>
            <p:nvPr/>
          </p:nvSpPr>
          <p:spPr>
            <a:xfrm>
              <a:off x="6595219" y="3298054"/>
              <a:ext cx="2136767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• Learn per-channel D and per-Linear r</a:t>
              </a:r>
              <a:r>
                <a:rPr sz="364" b="0" i="0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ℓ</a:t>
              </a:r>
            </a:p>
          </p:txBody>
        </p:sp>
        <p:sp>
          <p:nvSpPr>
            <p:cNvPr id="289" name="diagram block">
              <a:extLst>
                <a:ext uri="{FF2B5EF4-FFF2-40B4-BE49-F238E27FC236}">
                  <a16:creationId xmlns:a16="http://schemas.microsoft.com/office/drawing/2014/main" id="{8500F351-AD6B-43B3-AA48-2425E976B957}"/>
                </a:ext>
              </a:extLst>
            </p:cNvPr>
            <p:cNvSpPr>
              <a:spLocks noGrp="1"/>
            </p:cNvSpPr>
            <p:nvPr/>
          </p:nvSpPr>
          <p:spPr>
            <a:xfrm>
              <a:off x="277820" y="3530311"/>
              <a:ext cx="8588360" cy="1300641"/>
            </a:xfrm>
            <a:prstGeom prst="roundRect">
              <a:avLst>
                <a:gd name="adj" fmla="val 3175"/>
              </a:avLst>
            </a:prstGeom>
            <a:solidFill>
              <a:srgbClr val="FFFFFF"/>
            </a:solidFill>
            <a:ln w="8258">
              <a:solidFill>
                <a:srgbClr val="061A3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90" name="Offline training loop (action + latent supervision)">
              <a:extLst>
                <a:ext uri="{FF2B5EF4-FFF2-40B4-BE49-F238E27FC236}">
                  <a16:creationId xmlns:a16="http://schemas.microsoft.com/office/drawing/2014/main" id="{FC9F7EBC-8829-4E03-A1A5-5B9C30C85B23}"/>
                </a:ext>
              </a:extLst>
            </p:cNvPr>
            <p:cNvSpPr>
              <a:spLocks noGrp="1"/>
            </p:cNvSpPr>
            <p:nvPr/>
          </p:nvSpPr>
          <p:spPr>
            <a:xfrm>
              <a:off x="350078" y="3587085"/>
              <a:ext cx="3829665" cy="18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Offline training loop (action + latent supervision)</a:t>
              </a:r>
            </a:p>
          </p:txBody>
        </p:sp>
        <p:sp>
          <p:nvSpPr>
            <p:cNvPr id="291" name="Offline gradients (no gradient to frozen components)">
              <a:extLst>
                <a:ext uri="{FF2B5EF4-FFF2-40B4-BE49-F238E27FC236}">
                  <a16:creationId xmlns:a16="http://schemas.microsoft.com/office/drawing/2014/main" id="{CE0F5E5B-CB2B-4EC3-A010-2F9BEF19D250}"/>
                </a:ext>
              </a:extLst>
            </p:cNvPr>
            <p:cNvSpPr>
              <a:spLocks noGrp="1"/>
            </p:cNvSpPr>
            <p:nvPr/>
          </p:nvSpPr>
          <p:spPr>
            <a:xfrm>
              <a:off x="4417162" y="3654182"/>
              <a:ext cx="2787088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Offline gradients (no gradient to frozen components)</a:t>
              </a:r>
            </a:p>
          </p:txBody>
        </p:sp>
        <p:cxnSp>
          <p:nvCxnSpPr>
            <p:cNvPr id="292" name="native PowerPoint connector">
              <a:extLst>
                <a:ext uri="{FF2B5EF4-FFF2-40B4-BE49-F238E27FC236}">
                  <a16:creationId xmlns:a16="http://schemas.microsoft.com/office/drawing/2014/main" id="{8330FA8B-F4C2-4E2F-AC10-D3BB2AC16F75}"/>
                </a:ext>
              </a:extLst>
            </p:cNvPr>
            <p:cNvCxnSpPr/>
            <p:nvPr/>
          </p:nvCxnSpPr>
          <p:spPr>
            <a:xfrm>
              <a:off x="7436507" y="3654182"/>
              <a:ext cx="325160" cy="0"/>
            </a:xfrm>
            <a:prstGeom prst="straightConnector1">
              <a:avLst/>
            </a:prstGeom>
            <a:ln w="11355">
              <a:solidFill>
                <a:srgbClr val="003C82"/>
              </a:solidFill>
              <a:prstDash val="solid"/>
              <a:tailEnd type="triangle" w="sm" len="sm"/>
            </a:ln>
          </p:spPr>
        </p:cxnSp>
        <p:sp>
          <p:nvSpPr>
            <p:cNvPr id="293" name="Forward data">
              <a:extLst>
                <a:ext uri="{FF2B5EF4-FFF2-40B4-BE49-F238E27FC236}">
                  <a16:creationId xmlns:a16="http://schemas.microsoft.com/office/drawing/2014/main" id="{FB9E9794-B624-471F-BA90-804169F28DFF}"/>
                </a:ext>
              </a:extLst>
            </p:cNvPr>
            <p:cNvSpPr>
              <a:spLocks noGrp="1"/>
            </p:cNvSpPr>
            <p:nvPr/>
          </p:nvSpPr>
          <p:spPr>
            <a:xfrm>
              <a:off x="7802957" y="3602569"/>
              <a:ext cx="934191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Forward data</a:t>
              </a:r>
            </a:p>
          </p:txBody>
        </p:sp>
        <p:cxnSp>
          <p:nvCxnSpPr>
            <p:cNvPr id="294" name="native PowerPoint connector">
              <a:extLst>
                <a:ext uri="{FF2B5EF4-FFF2-40B4-BE49-F238E27FC236}">
                  <a16:creationId xmlns:a16="http://schemas.microsoft.com/office/drawing/2014/main" id="{FAE1D648-3F51-419F-A193-900E981ADDA3}"/>
                </a:ext>
              </a:extLst>
            </p:cNvPr>
            <p:cNvCxnSpPr/>
            <p:nvPr/>
          </p:nvCxnSpPr>
          <p:spPr>
            <a:xfrm>
              <a:off x="7436507" y="3767730"/>
              <a:ext cx="325160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  <a:tailEnd type="triangle" w="sm" len="sm"/>
            </a:ln>
          </p:spPr>
        </p:cxnSp>
        <p:sp>
          <p:nvSpPr>
            <p:cNvPr id="295" name="Offline gradient /&#10;parameter update">
              <a:extLst>
                <a:ext uri="{FF2B5EF4-FFF2-40B4-BE49-F238E27FC236}">
                  <a16:creationId xmlns:a16="http://schemas.microsoft.com/office/drawing/2014/main" id="{C5D3FACE-9E0D-44CA-9DDF-B74B86453B07}"/>
                </a:ext>
              </a:extLst>
            </p:cNvPr>
            <p:cNvSpPr>
              <a:spLocks noGrp="1"/>
            </p:cNvSpPr>
            <p:nvPr/>
          </p:nvSpPr>
          <p:spPr>
            <a:xfrm>
              <a:off x="7802957" y="3721278"/>
              <a:ext cx="934191" cy="18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6762"/>
            </a:bodyPr>
            <a:lstStyle>
              <a:def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Offline gradient /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parameter update</a:t>
              </a:r>
            </a:p>
          </p:txBody>
        </p:sp>
        <p:sp>
          <p:nvSpPr>
            <p:cNvPr id="296" name="diagram block">
              <a:extLst>
                <a:ext uri="{FF2B5EF4-FFF2-40B4-BE49-F238E27FC236}">
                  <a16:creationId xmlns:a16="http://schemas.microsoft.com/office/drawing/2014/main" id="{9401BAFA-E19D-4270-A56D-8725FFE97CA4}"/>
                </a:ext>
              </a:extLst>
            </p:cNvPr>
            <p:cNvSpPr>
              <a:spLocks noGrp="1"/>
            </p:cNvSpPr>
            <p:nvPr/>
          </p:nvSpPr>
          <p:spPr>
            <a:xfrm>
              <a:off x="350078" y="3974181"/>
              <a:ext cx="794836" cy="273548"/>
            </a:xfrm>
            <a:prstGeom prst="roundRect">
              <a:avLst>
                <a:gd name="adj" fmla="val 7547"/>
              </a:avLst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5161">
              <a:solidFill>
                <a:srgbClr val="4C9ED7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97" name="BF16 teacher&#10;(frozen)">
              <a:extLst>
                <a:ext uri="{FF2B5EF4-FFF2-40B4-BE49-F238E27FC236}">
                  <a16:creationId xmlns:a16="http://schemas.microsoft.com/office/drawing/2014/main" id="{F3D9AF0F-BC79-4C05-B0A3-A4C9AA6D9A38}"/>
                </a:ext>
              </a:extLst>
            </p:cNvPr>
            <p:cNvSpPr>
              <a:spLocks noGrp="1"/>
            </p:cNvSpPr>
            <p:nvPr/>
          </p:nvSpPr>
          <p:spPr>
            <a:xfrm>
              <a:off x="375884" y="3999987"/>
              <a:ext cx="743223" cy="221935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9561"/>
            </a:bodyPr>
            <a:lstStyle>
              <a:def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BF16 teacher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(frozen)</a:t>
              </a:r>
            </a:p>
          </p:txBody>
        </p:sp>
        <p:sp>
          <p:nvSpPr>
            <p:cNvPr id="298" name="diagram block">
              <a:extLst>
                <a:ext uri="{FF2B5EF4-FFF2-40B4-BE49-F238E27FC236}">
                  <a16:creationId xmlns:a16="http://schemas.microsoft.com/office/drawing/2014/main" id="{08209677-E5C6-47BA-BE35-D5A1990330D1}"/>
                </a:ext>
              </a:extLst>
            </p:cNvPr>
            <p:cNvSpPr>
              <a:spLocks noGrp="1"/>
            </p:cNvSpPr>
            <p:nvPr/>
          </p:nvSpPr>
          <p:spPr>
            <a:xfrm>
              <a:off x="350078" y="4335470"/>
              <a:ext cx="794836" cy="268386"/>
            </a:xfrm>
            <a:prstGeom prst="roundRect">
              <a:avLst>
                <a:gd name="adj" fmla="val 7692"/>
              </a:avLst>
            </a:pr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5161">
              <a:solidFill>
                <a:srgbClr val="F06F80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99" name="Quantized WAM&#10;(student)">
              <a:extLst>
                <a:ext uri="{FF2B5EF4-FFF2-40B4-BE49-F238E27FC236}">
                  <a16:creationId xmlns:a16="http://schemas.microsoft.com/office/drawing/2014/main" id="{232B3CF0-B9A6-4FA4-9DF6-C7C329576205}"/>
                </a:ext>
              </a:extLst>
            </p:cNvPr>
            <p:cNvSpPr>
              <a:spLocks noGrp="1"/>
            </p:cNvSpPr>
            <p:nvPr/>
          </p:nvSpPr>
          <p:spPr>
            <a:xfrm>
              <a:off x="375884" y="4361276"/>
              <a:ext cx="743223" cy="216774"/>
            </a:xfrm>
            <a:prstGeom prst="rect">
              <a:avLst/>
            </a:pr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7479"/>
            </a:bodyPr>
            <a:lstStyle>
              <a:def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Quantized WAM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(student)</a:t>
              </a:r>
            </a:p>
          </p:txBody>
        </p:sp>
        <p:sp>
          <p:nvSpPr>
            <p:cNvPr id="300" name="diagram block">
              <a:extLst>
                <a:ext uri="{FF2B5EF4-FFF2-40B4-BE49-F238E27FC236}">
                  <a16:creationId xmlns:a16="http://schemas.microsoft.com/office/drawing/2014/main" id="{54343F94-FEED-4BDA-853F-84F7744D7C32}"/>
                </a:ext>
              </a:extLst>
            </p:cNvPr>
            <p:cNvSpPr>
              <a:spLocks noGrp="1"/>
            </p:cNvSpPr>
            <p:nvPr/>
          </p:nvSpPr>
          <p:spPr>
            <a:xfrm>
              <a:off x="1320397" y="4046439"/>
              <a:ext cx="1114835" cy="500644"/>
            </a:xfrm>
            <a:prstGeom prst="roundRect">
              <a:avLst>
                <a:gd name="adj" fmla="val 4124"/>
              </a:avLst>
            </a:prstGeom>
            <a:solidFill>
              <a:srgbClr val="F8FBFF"/>
            </a:solidFill>
            <a:ln w="5161">
              <a:solidFill>
                <a:srgbClr val="17619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01" name="Forward pass&#10;on training data&#10;(action + latent supervision)">
              <a:extLst>
                <a:ext uri="{FF2B5EF4-FFF2-40B4-BE49-F238E27FC236}">
                  <a16:creationId xmlns:a16="http://schemas.microsoft.com/office/drawing/2014/main" id="{A50B205C-A195-4FF3-9DE9-04D2BB90C4E1}"/>
                </a:ext>
              </a:extLst>
            </p:cNvPr>
            <p:cNvSpPr>
              <a:spLocks noGrp="1"/>
            </p:cNvSpPr>
            <p:nvPr/>
          </p:nvSpPr>
          <p:spPr>
            <a:xfrm>
              <a:off x="1346204" y="4072245"/>
              <a:ext cx="1063222" cy="449031"/>
            </a:xfrm>
            <a:prstGeom prst="rect">
              <a:avLst/>
            </a:prstGeom>
            <a:solidFill>
              <a:srgbClr val="F8FBFF"/>
            </a:solidFill>
            <a:ln w="0">
              <a:noFill/>
            </a:ln>
          </p:spPr>
          <p:txBody>
            <a:bodyPr wrap="none" lIns="0" tIns="0" rIns="0" bIns="0" anchor="ctr">
              <a:normAutofit fontScale="86865"/>
            </a:bodyPr>
            <a:lstStyle>
              <a:def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Forward pass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on training data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(action + latent supervision)</a:t>
              </a:r>
            </a:p>
          </p:txBody>
        </p:sp>
        <p:cxnSp>
          <p:nvCxnSpPr>
            <p:cNvPr id="302" name="native PowerPoint connector">
              <a:extLst>
                <a:ext uri="{FF2B5EF4-FFF2-40B4-BE49-F238E27FC236}">
                  <a16:creationId xmlns:a16="http://schemas.microsoft.com/office/drawing/2014/main" id="{73F7907D-7D74-42A0-ACFC-DFD48A0C016D}"/>
                </a:ext>
              </a:extLst>
            </p:cNvPr>
            <p:cNvCxnSpPr/>
            <p:nvPr/>
          </p:nvCxnSpPr>
          <p:spPr>
            <a:xfrm>
              <a:off x="1150075" y="4113535"/>
              <a:ext cx="165161" cy="0"/>
            </a:xfrm>
            <a:prstGeom prst="straightConnector1">
              <a:avLst/>
            </a:prstGeom>
            <a:ln w="9290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303" name="native PowerPoint connector">
              <a:extLst>
                <a:ext uri="{FF2B5EF4-FFF2-40B4-BE49-F238E27FC236}">
                  <a16:creationId xmlns:a16="http://schemas.microsoft.com/office/drawing/2014/main" id="{7BF97097-7ED6-4DF5-91CB-C09E28D61A3C}"/>
                </a:ext>
              </a:extLst>
            </p:cNvPr>
            <p:cNvCxnSpPr/>
            <p:nvPr/>
          </p:nvCxnSpPr>
          <p:spPr>
            <a:xfrm>
              <a:off x="1150075" y="4464502"/>
              <a:ext cx="165161" cy="0"/>
            </a:xfrm>
            <a:prstGeom prst="straightConnector1">
              <a:avLst/>
            </a:prstGeom>
            <a:ln w="9290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304" name="diagram block">
              <a:extLst>
                <a:ext uri="{FF2B5EF4-FFF2-40B4-BE49-F238E27FC236}">
                  <a16:creationId xmlns:a16="http://schemas.microsoft.com/office/drawing/2014/main" id="{7525B424-06BD-439B-A344-4D5AFEC5EF21}"/>
                </a:ext>
              </a:extLst>
            </p:cNvPr>
            <p:cNvSpPr>
              <a:spLocks noGrp="1"/>
            </p:cNvSpPr>
            <p:nvPr/>
          </p:nvSpPr>
          <p:spPr>
            <a:xfrm>
              <a:off x="2584910" y="4010310"/>
              <a:ext cx="1228383" cy="221935"/>
            </a:xfrm>
            <a:prstGeom prst="roundRect">
              <a:avLst>
                <a:gd name="adj" fmla="val 9302"/>
              </a:avLst>
            </a:prstGeom>
            <a:gradFill>
              <a:gsLst>
                <a:gs pos="0">
                  <a:srgbClr val="FFE6B3"/>
                </a:gs>
                <a:gs pos="100000">
                  <a:srgbClr val="FFF3DD"/>
                </a:gs>
              </a:gsLst>
              <a:lin ang="5400000"/>
            </a:gradFill>
            <a:ln w="5161">
              <a:solidFill>
                <a:srgbClr val="EDBE67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05" name="Future latent loss  L_z">
              <a:extLst>
                <a:ext uri="{FF2B5EF4-FFF2-40B4-BE49-F238E27FC236}">
                  <a16:creationId xmlns:a16="http://schemas.microsoft.com/office/drawing/2014/main" id="{A97939F5-3907-49F2-8776-2DAE3299D37F}"/>
                </a:ext>
              </a:extLst>
            </p:cNvPr>
            <p:cNvSpPr>
              <a:spLocks noGrp="1"/>
            </p:cNvSpPr>
            <p:nvPr/>
          </p:nvSpPr>
          <p:spPr>
            <a:xfrm>
              <a:off x="2610716" y="4036116"/>
              <a:ext cx="1176770" cy="170322"/>
            </a:xfrm>
            <a:prstGeom prst="rect">
              <a:avLst/>
            </a:prstGeom>
            <a:gradFill>
              <a:gsLst>
                <a:gs pos="0">
                  <a:srgbClr val="FFE6B3"/>
                </a:gs>
                <a:gs pos="100000">
                  <a:srgbClr val="FFF3DD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rPr>
                <a:t>Future latent loss  L</a:t>
              </a:r>
              <a:r>
                <a:rPr sz="479" b="0" i="0" baseline="-2300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rPr>
                <a:t>z</a:t>
              </a:r>
            </a:p>
          </p:txBody>
        </p:sp>
        <p:sp>
          <p:nvSpPr>
            <p:cNvPr id="306" name="diagram block">
              <a:extLst>
                <a:ext uri="{FF2B5EF4-FFF2-40B4-BE49-F238E27FC236}">
                  <a16:creationId xmlns:a16="http://schemas.microsoft.com/office/drawing/2014/main" id="{190D72AC-9D87-4699-A567-8353EE9DA467}"/>
                </a:ext>
              </a:extLst>
            </p:cNvPr>
            <p:cNvSpPr>
              <a:spLocks noGrp="1"/>
            </p:cNvSpPr>
            <p:nvPr/>
          </p:nvSpPr>
          <p:spPr>
            <a:xfrm>
              <a:off x="2584910" y="4330309"/>
              <a:ext cx="1228383" cy="227096"/>
            </a:xfrm>
            <a:prstGeom prst="roundRect">
              <a:avLst>
                <a:gd name="adj" fmla="val 9091"/>
              </a:avLst>
            </a:prstGeom>
            <a:gradFill>
              <a:gsLst>
                <a:gs pos="0">
                  <a:srgbClr val="D7EFF1"/>
                </a:gs>
                <a:gs pos="100000">
                  <a:srgbClr val="F0FAFA"/>
                </a:gs>
              </a:gsLst>
              <a:lin ang="5400000"/>
            </a:gradFill>
            <a:ln w="5161">
              <a:solidFill>
                <a:srgbClr val="72BFCA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07" name="First-10 motor action loss  L_a">
              <a:extLst>
                <a:ext uri="{FF2B5EF4-FFF2-40B4-BE49-F238E27FC236}">
                  <a16:creationId xmlns:a16="http://schemas.microsoft.com/office/drawing/2014/main" id="{A8A4DE17-3626-4091-8C9E-47D8763334C8}"/>
                </a:ext>
              </a:extLst>
            </p:cNvPr>
            <p:cNvSpPr>
              <a:spLocks noGrp="1"/>
            </p:cNvSpPr>
            <p:nvPr/>
          </p:nvSpPr>
          <p:spPr>
            <a:xfrm>
              <a:off x="2610716" y="4356115"/>
              <a:ext cx="1176770" cy="175483"/>
            </a:xfrm>
            <a:prstGeom prst="rect">
              <a:avLst/>
            </a:prstGeom>
            <a:gradFill>
              <a:gsLst>
                <a:gs pos="0">
                  <a:srgbClr val="D7EFF1"/>
                </a:gs>
                <a:gs pos="100000">
                  <a:srgbClr val="F0FAFA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7523"/>
            </a:bodyPr>
            <a:lstStyle>
              <a:def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rPr>
                <a:t>First-10 motor action loss  L</a:t>
              </a:r>
              <a:r>
                <a:rPr sz="456" b="1" i="0" baseline="-2300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</a:p>
          </p:txBody>
        </p:sp>
        <p:cxnSp>
          <p:nvCxnSpPr>
            <p:cNvPr id="308" name="native PowerPoint connector">
              <a:extLst>
                <a:ext uri="{FF2B5EF4-FFF2-40B4-BE49-F238E27FC236}">
                  <a16:creationId xmlns:a16="http://schemas.microsoft.com/office/drawing/2014/main" id="{725F7E2C-DA97-4CDB-A029-9581B81E535F}"/>
                </a:ext>
              </a:extLst>
            </p:cNvPr>
            <p:cNvCxnSpPr/>
            <p:nvPr/>
          </p:nvCxnSpPr>
          <p:spPr>
            <a:xfrm>
              <a:off x="2440394" y="4118697"/>
              <a:ext cx="139354" cy="0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309" name="native PowerPoint connector">
              <a:extLst>
                <a:ext uri="{FF2B5EF4-FFF2-40B4-BE49-F238E27FC236}">
                  <a16:creationId xmlns:a16="http://schemas.microsoft.com/office/drawing/2014/main" id="{66A9D2D5-3235-4EAF-B5AB-9966CD23EC25}"/>
                </a:ext>
              </a:extLst>
            </p:cNvPr>
            <p:cNvCxnSpPr/>
            <p:nvPr/>
          </p:nvCxnSpPr>
          <p:spPr>
            <a:xfrm>
              <a:off x="2440394" y="4443857"/>
              <a:ext cx="139354" cy="0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310" name="native PowerPoint connector">
              <a:extLst>
                <a:ext uri="{FF2B5EF4-FFF2-40B4-BE49-F238E27FC236}">
                  <a16:creationId xmlns:a16="http://schemas.microsoft.com/office/drawing/2014/main" id="{BCB887F1-0720-43A9-B9C4-985488F11978}"/>
                </a:ext>
              </a:extLst>
            </p:cNvPr>
            <p:cNvCxnSpPr/>
            <p:nvPr/>
          </p:nvCxnSpPr>
          <p:spPr>
            <a:xfrm>
              <a:off x="3818454" y="4123858"/>
              <a:ext cx="103225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</a:ln>
          </p:spPr>
        </p:cxnSp>
        <p:cxnSp>
          <p:nvCxnSpPr>
            <p:cNvPr id="311" name="native PowerPoint connector">
              <a:extLst>
                <a:ext uri="{FF2B5EF4-FFF2-40B4-BE49-F238E27FC236}">
                  <a16:creationId xmlns:a16="http://schemas.microsoft.com/office/drawing/2014/main" id="{2DEABB53-30A0-454C-9252-E132888820CD}"/>
                </a:ext>
              </a:extLst>
            </p:cNvPr>
            <p:cNvCxnSpPr/>
            <p:nvPr/>
          </p:nvCxnSpPr>
          <p:spPr>
            <a:xfrm>
              <a:off x="3921679" y="4123858"/>
              <a:ext cx="0" cy="139354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</a:ln>
          </p:spPr>
        </p:cxnSp>
        <p:cxnSp>
          <p:nvCxnSpPr>
            <p:cNvPr id="312" name="native PowerPoint connector">
              <a:extLst>
                <a:ext uri="{FF2B5EF4-FFF2-40B4-BE49-F238E27FC236}">
                  <a16:creationId xmlns:a16="http://schemas.microsoft.com/office/drawing/2014/main" id="{4E028FAB-9DCD-46F7-887D-458489EB65B1}"/>
                </a:ext>
              </a:extLst>
            </p:cNvPr>
            <p:cNvCxnSpPr/>
            <p:nvPr/>
          </p:nvCxnSpPr>
          <p:spPr>
            <a:xfrm>
              <a:off x="3921679" y="4263212"/>
              <a:ext cx="113548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313" name="native PowerPoint connector">
              <a:extLst>
                <a:ext uri="{FF2B5EF4-FFF2-40B4-BE49-F238E27FC236}">
                  <a16:creationId xmlns:a16="http://schemas.microsoft.com/office/drawing/2014/main" id="{0F9289D6-F9A6-4368-89C8-3E34F2428214}"/>
                </a:ext>
              </a:extLst>
            </p:cNvPr>
            <p:cNvCxnSpPr/>
            <p:nvPr/>
          </p:nvCxnSpPr>
          <p:spPr>
            <a:xfrm>
              <a:off x="3818454" y="4443857"/>
              <a:ext cx="103225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</a:ln>
          </p:spPr>
        </p:cxnSp>
        <p:cxnSp>
          <p:nvCxnSpPr>
            <p:cNvPr id="314" name="native PowerPoint connector">
              <a:extLst>
                <a:ext uri="{FF2B5EF4-FFF2-40B4-BE49-F238E27FC236}">
                  <a16:creationId xmlns:a16="http://schemas.microsoft.com/office/drawing/2014/main" id="{60CC64E4-8BA9-47E5-91BA-D181F88B51F4}"/>
                </a:ext>
              </a:extLst>
            </p:cNvPr>
            <p:cNvCxnSpPr/>
            <p:nvPr/>
          </p:nvCxnSpPr>
          <p:spPr>
            <a:xfrm flipV="1">
              <a:off x="3921679" y="4263212"/>
              <a:ext cx="0" cy="180645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</a:ln>
          </p:spPr>
        </p:cxnSp>
        <p:cxnSp>
          <p:nvCxnSpPr>
            <p:cNvPr id="315" name="native PowerPoint connector">
              <a:extLst>
                <a:ext uri="{FF2B5EF4-FFF2-40B4-BE49-F238E27FC236}">
                  <a16:creationId xmlns:a16="http://schemas.microsoft.com/office/drawing/2014/main" id="{0D9CA541-A905-4430-B2F7-06B80839B1CD}"/>
                </a:ext>
              </a:extLst>
            </p:cNvPr>
            <p:cNvCxnSpPr/>
            <p:nvPr/>
          </p:nvCxnSpPr>
          <p:spPr>
            <a:xfrm>
              <a:off x="3921679" y="4263212"/>
              <a:ext cx="113548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316" name="Total loss">
              <a:extLst>
                <a:ext uri="{FF2B5EF4-FFF2-40B4-BE49-F238E27FC236}">
                  <a16:creationId xmlns:a16="http://schemas.microsoft.com/office/drawing/2014/main" id="{47591E72-977B-43E7-820C-2A50D6E28746}"/>
                </a:ext>
              </a:extLst>
            </p:cNvPr>
            <p:cNvSpPr>
              <a:spLocks noGrp="1"/>
            </p:cNvSpPr>
            <p:nvPr/>
          </p:nvSpPr>
          <p:spPr>
            <a:xfrm>
              <a:off x="4153937" y="4103213"/>
              <a:ext cx="660643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0553"/>
            </a:bodyPr>
            <a:lstStyle>
              <a:def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Total loss</a:t>
              </a:r>
            </a:p>
          </p:txBody>
        </p:sp>
        <p:sp>
          <p:nvSpPr>
            <p:cNvPr id="317" name="L = L_a + λL_z">
              <a:extLst>
                <a:ext uri="{FF2B5EF4-FFF2-40B4-BE49-F238E27FC236}">
                  <a16:creationId xmlns:a16="http://schemas.microsoft.com/office/drawing/2014/main" id="{0899E449-8B6C-4009-92C9-15D12D71B707}"/>
                </a:ext>
              </a:extLst>
            </p:cNvPr>
            <p:cNvSpPr>
              <a:spLocks noGrp="1"/>
            </p:cNvSpPr>
            <p:nvPr/>
          </p:nvSpPr>
          <p:spPr>
            <a:xfrm>
              <a:off x="4081679" y="4258051"/>
              <a:ext cx="825804" cy="18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3388"/>
            </a:bodyPr>
            <a:lstStyle>
              <a:def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 = L</a:t>
              </a:r>
              <a:r>
                <a:rPr sz="616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  <a:r>
                <a: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+ λL</a:t>
              </a:r>
              <a:r>
                <a:rPr sz="616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z</a:t>
              </a:r>
            </a:p>
          </p:txBody>
        </p:sp>
        <p:sp>
          <p:nvSpPr>
            <p:cNvPr id="318" name="λ = ρc (frozen)">
              <a:extLst>
                <a:ext uri="{FF2B5EF4-FFF2-40B4-BE49-F238E27FC236}">
                  <a16:creationId xmlns:a16="http://schemas.microsoft.com/office/drawing/2014/main" id="{3EBB3A75-DA7C-4CDE-814C-E568972ACF75}"/>
                </a:ext>
              </a:extLst>
            </p:cNvPr>
            <p:cNvSpPr>
              <a:spLocks noGrp="1"/>
            </p:cNvSpPr>
            <p:nvPr/>
          </p:nvSpPr>
          <p:spPr>
            <a:xfrm>
              <a:off x="4076518" y="4469663"/>
              <a:ext cx="825804" cy="1393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λ = ρc (frozen)</a:t>
              </a:r>
            </a:p>
          </p:txBody>
        </p:sp>
        <p:sp>
          <p:nvSpPr>
            <p:cNvPr id="319" name="diagram block">
              <a:extLst>
                <a:ext uri="{FF2B5EF4-FFF2-40B4-BE49-F238E27FC236}">
                  <a16:creationId xmlns:a16="http://schemas.microsoft.com/office/drawing/2014/main" id="{19959B29-10C0-4ED0-A26A-88065178A719}"/>
                </a:ext>
              </a:extLst>
            </p:cNvPr>
            <p:cNvSpPr>
              <a:spLocks noGrp="1"/>
            </p:cNvSpPr>
            <p:nvPr/>
          </p:nvSpPr>
          <p:spPr>
            <a:xfrm>
              <a:off x="5124256" y="3943213"/>
              <a:ext cx="1109674" cy="356128"/>
            </a:xfrm>
            <a:prstGeom prst="roundRect">
              <a:avLst>
                <a:gd name="adj" fmla="val 7246"/>
              </a:avLst>
            </a:pr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5161">
              <a:solidFill>
                <a:srgbClr val="F18591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20" name="Calibrate codebooks /&#10;row gains&#10;(section b)">
              <a:extLst>
                <a:ext uri="{FF2B5EF4-FFF2-40B4-BE49-F238E27FC236}">
                  <a16:creationId xmlns:a16="http://schemas.microsoft.com/office/drawing/2014/main" id="{7A1F01F2-CF92-458E-B699-43A3EBFEC916}"/>
                </a:ext>
              </a:extLst>
            </p:cNvPr>
            <p:cNvSpPr>
              <a:spLocks noGrp="1"/>
            </p:cNvSpPr>
            <p:nvPr/>
          </p:nvSpPr>
          <p:spPr>
            <a:xfrm>
              <a:off x="5150063" y="3969020"/>
              <a:ext cx="1058061" cy="304515"/>
            </a:xfrm>
            <a:prstGeom prst="rect">
              <a:avLst/>
            </a:pr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74501"/>
            </a:bodyPr>
            <a:lstStyle>
              <a:def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Calibrate codebooks /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row gains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(section b)</a:t>
              </a:r>
            </a:p>
          </p:txBody>
        </p:sp>
        <p:sp>
          <p:nvSpPr>
            <p:cNvPr id="321" name="diagram block">
              <a:extLst>
                <a:ext uri="{FF2B5EF4-FFF2-40B4-BE49-F238E27FC236}">
                  <a16:creationId xmlns:a16="http://schemas.microsoft.com/office/drawing/2014/main" id="{B26D2BD0-B86B-4544-9808-29A64D22D4C4}"/>
                </a:ext>
              </a:extLst>
            </p:cNvPr>
            <p:cNvSpPr>
              <a:spLocks noGrp="1"/>
            </p:cNvSpPr>
            <p:nvPr/>
          </p:nvSpPr>
          <p:spPr>
            <a:xfrm>
              <a:off x="6388768" y="3943213"/>
              <a:ext cx="1094190" cy="356128"/>
            </a:xfrm>
            <a:prstGeom prst="roundRect">
              <a:avLst>
                <a:gd name="adj" fmla="val 7246"/>
              </a:avLst>
            </a:prstGeom>
            <a:gradFill>
              <a:gsLst>
                <a:gs pos="0">
                  <a:srgbClr val="ACE3E4"/>
                </a:gs>
                <a:gs pos="100000">
                  <a:srgbClr val="D9F1F1"/>
                </a:gs>
              </a:gsLst>
              <a:lin ang="5400000"/>
            </a:gradFill>
            <a:ln w="5161">
              <a:solidFill>
                <a:srgbClr val="84CDD1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22" name="Refine per-channel D /&#10;clipping ratio&#10;(section c)">
              <a:extLst>
                <a:ext uri="{FF2B5EF4-FFF2-40B4-BE49-F238E27FC236}">
                  <a16:creationId xmlns:a16="http://schemas.microsoft.com/office/drawing/2014/main" id="{C62B36AC-1F07-489C-AE8D-F7DD1FAFE1C0}"/>
                </a:ext>
              </a:extLst>
            </p:cNvPr>
            <p:cNvSpPr>
              <a:spLocks noGrp="1"/>
            </p:cNvSpPr>
            <p:nvPr/>
          </p:nvSpPr>
          <p:spPr>
            <a:xfrm>
              <a:off x="6414575" y="3969020"/>
              <a:ext cx="1042577" cy="304515"/>
            </a:xfrm>
            <a:prstGeom prst="rect">
              <a:avLst/>
            </a:prstGeom>
            <a:gradFill>
              <a:gsLst>
                <a:gs pos="0">
                  <a:srgbClr val="ACE3E4"/>
                </a:gs>
                <a:gs pos="100000">
                  <a:srgbClr val="D9F1F1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74501"/>
            </a:bodyPr>
            <a:lstStyle>
              <a:def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rPr>
                <a:t>Refine per-channel D /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rPr>
                <a:t>clipping ratio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rPr>
                <a:t>(section c)</a:t>
              </a:r>
            </a:p>
          </p:txBody>
        </p:sp>
        <p:cxnSp>
          <p:nvCxnSpPr>
            <p:cNvPr id="323" name="native PowerPoint connector">
              <a:extLst>
                <a:ext uri="{FF2B5EF4-FFF2-40B4-BE49-F238E27FC236}">
                  <a16:creationId xmlns:a16="http://schemas.microsoft.com/office/drawing/2014/main" id="{3CF96537-B893-449C-9A80-765A9E3F5137}"/>
                </a:ext>
              </a:extLst>
            </p:cNvPr>
            <p:cNvCxnSpPr/>
            <p:nvPr/>
          </p:nvCxnSpPr>
          <p:spPr>
            <a:xfrm>
              <a:off x="4830064" y="4263212"/>
              <a:ext cx="149677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</a:ln>
          </p:spPr>
        </p:cxnSp>
        <p:cxnSp>
          <p:nvCxnSpPr>
            <p:cNvPr id="324" name="native PowerPoint connector">
              <a:extLst>
                <a:ext uri="{FF2B5EF4-FFF2-40B4-BE49-F238E27FC236}">
                  <a16:creationId xmlns:a16="http://schemas.microsoft.com/office/drawing/2014/main" id="{ADA448E1-73F5-4A05-93CD-F0A4FC6A83E3}"/>
                </a:ext>
              </a:extLst>
            </p:cNvPr>
            <p:cNvCxnSpPr/>
            <p:nvPr/>
          </p:nvCxnSpPr>
          <p:spPr>
            <a:xfrm flipV="1">
              <a:off x="4979741" y="4082568"/>
              <a:ext cx="0" cy="180645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</a:ln>
          </p:spPr>
        </p:cxnSp>
        <p:cxnSp>
          <p:nvCxnSpPr>
            <p:cNvPr id="325" name="native PowerPoint connector">
              <a:extLst>
                <a:ext uri="{FF2B5EF4-FFF2-40B4-BE49-F238E27FC236}">
                  <a16:creationId xmlns:a16="http://schemas.microsoft.com/office/drawing/2014/main" id="{F3AE288F-3D2E-4117-ACB7-1A9455A3E711}"/>
                </a:ext>
              </a:extLst>
            </p:cNvPr>
            <p:cNvCxnSpPr/>
            <p:nvPr/>
          </p:nvCxnSpPr>
          <p:spPr>
            <a:xfrm>
              <a:off x="4979741" y="4082568"/>
              <a:ext cx="139354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  <a:tailEnd type="triangle" w="sm" len="sm"/>
            </a:ln>
          </p:spPr>
        </p:cxnSp>
        <p:sp>
          <p:nvSpPr>
            <p:cNvPr id="326" name="Update: codebooks C₁, C₂&#10;and row gains r_row">
              <a:extLst>
                <a:ext uri="{FF2B5EF4-FFF2-40B4-BE49-F238E27FC236}">
                  <a16:creationId xmlns:a16="http://schemas.microsoft.com/office/drawing/2014/main" id="{9C0D8CD9-A3C0-4B10-874A-E9FA063F3AB5}"/>
                </a:ext>
              </a:extLst>
            </p:cNvPr>
            <p:cNvSpPr>
              <a:spLocks noGrp="1"/>
            </p:cNvSpPr>
            <p:nvPr/>
          </p:nvSpPr>
          <p:spPr>
            <a:xfrm>
              <a:off x="5211998" y="4345793"/>
              <a:ext cx="970319" cy="20129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0219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Update: codebooks C₁, C₂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and row gains r</a:t>
              </a:r>
              <a:r>
                <a:rPr sz="411" b="0" i="0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row</a:t>
              </a:r>
            </a:p>
          </p:txBody>
        </p:sp>
        <p:sp>
          <p:nvSpPr>
            <p:cNvPr id="327" name="(indices and B32 exponents remain frozen)">
              <a:extLst>
                <a:ext uri="{FF2B5EF4-FFF2-40B4-BE49-F238E27FC236}">
                  <a16:creationId xmlns:a16="http://schemas.microsoft.com/office/drawing/2014/main" id="{82B1BD37-80B3-464B-9A5E-565F97A34309}"/>
                </a:ext>
              </a:extLst>
            </p:cNvPr>
            <p:cNvSpPr>
              <a:spLocks noGrp="1"/>
            </p:cNvSpPr>
            <p:nvPr/>
          </p:nvSpPr>
          <p:spPr>
            <a:xfrm>
              <a:off x="5113934" y="4557405"/>
              <a:ext cx="1130319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4723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(indices and B32 exponents remain frozen)</a:t>
              </a:r>
            </a:p>
          </p:txBody>
        </p:sp>
        <p:sp>
          <p:nvSpPr>
            <p:cNvPr id="328" name="Update: per-channel scales D&#10;and per-Linear clipping ratio r_{ℓ}">
              <a:extLst>
                <a:ext uri="{FF2B5EF4-FFF2-40B4-BE49-F238E27FC236}">
                  <a16:creationId xmlns:a16="http://schemas.microsoft.com/office/drawing/2014/main" id="{6A4AFF5F-8CF9-428D-8A4A-2036AC26E432}"/>
                </a:ext>
              </a:extLst>
            </p:cNvPr>
            <p:cNvSpPr>
              <a:spLocks noGrp="1"/>
            </p:cNvSpPr>
            <p:nvPr/>
          </p:nvSpPr>
          <p:spPr>
            <a:xfrm>
              <a:off x="6424897" y="4345793"/>
              <a:ext cx="1042577" cy="2064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Update: per-channel scales D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and per-Linear clipping ratio r</a:t>
              </a:r>
              <a:r>
                <a:rPr sz="411" b="0" i="0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ℓ</a:t>
              </a:r>
            </a:p>
          </p:txBody>
        </p:sp>
        <p:sp>
          <p:nvSpPr>
            <p:cNvPr id="329" name="(VQ weights remain frozen)">
              <a:extLst>
                <a:ext uri="{FF2B5EF4-FFF2-40B4-BE49-F238E27FC236}">
                  <a16:creationId xmlns:a16="http://schemas.microsoft.com/office/drawing/2014/main" id="{3F4E5C0A-25F4-4A2C-9A72-51CF7F9E8B78}"/>
                </a:ext>
              </a:extLst>
            </p:cNvPr>
            <p:cNvSpPr>
              <a:spLocks noGrp="1"/>
            </p:cNvSpPr>
            <p:nvPr/>
          </p:nvSpPr>
          <p:spPr>
            <a:xfrm>
              <a:off x="6512639" y="4562566"/>
              <a:ext cx="913545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1644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(VQ weights remain frozen)</a:t>
              </a:r>
            </a:p>
          </p:txBody>
        </p:sp>
        <p:cxnSp>
          <p:nvCxnSpPr>
            <p:cNvPr id="330" name="native PowerPoint connector">
              <a:extLst>
                <a:ext uri="{FF2B5EF4-FFF2-40B4-BE49-F238E27FC236}">
                  <a16:creationId xmlns:a16="http://schemas.microsoft.com/office/drawing/2014/main" id="{77C3D522-2B54-418F-92AA-BF6DD7C36C3A}"/>
                </a:ext>
              </a:extLst>
            </p:cNvPr>
            <p:cNvCxnSpPr/>
            <p:nvPr/>
          </p:nvCxnSpPr>
          <p:spPr>
            <a:xfrm flipV="1">
              <a:off x="5691996" y="3850310"/>
              <a:ext cx="0" cy="87742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dash"/>
            </a:ln>
          </p:spPr>
        </p:cxnSp>
        <p:cxnSp>
          <p:nvCxnSpPr>
            <p:cNvPr id="331" name="native PowerPoint connector">
              <a:extLst>
                <a:ext uri="{FF2B5EF4-FFF2-40B4-BE49-F238E27FC236}">
                  <a16:creationId xmlns:a16="http://schemas.microsoft.com/office/drawing/2014/main" id="{F8F662D7-ACC6-4FA4-99D3-25F0BC10534F}"/>
                </a:ext>
              </a:extLst>
            </p:cNvPr>
            <p:cNvCxnSpPr/>
            <p:nvPr/>
          </p:nvCxnSpPr>
          <p:spPr>
            <a:xfrm flipH="1">
              <a:off x="3333294" y="3850310"/>
              <a:ext cx="2358702" cy="0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dash"/>
            </a:ln>
          </p:spPr>
        </p:cxnSp>
        <p:cxnSp>
          <p:nvCxnSpPr>
            <p:cNvPr id="332" name="native PowerPoint connector">
              <a:extLst>
                <a:ext uri="{FF2B5EF4-FFF2-40B4-BE49-F238E27FC236}">
                  <a16:creationId xmlns:a16="http://schemas.microsoft.com/office/drawing/2014/main" id="{34D739DE-4441-4E55-AB4F-795FC21E0872}"/>
                </a:ext>
              </a:extLst>
            </p:cNvPr>
            <p:cNvCxnSpPr/>
            <p:nvPr/>
          </p:nvCxnSpPr>
          <p:spPr>
            <a:xfrm>
              <a:off x="3333294" y="3850310"/>
              <a:ext cx="0" cy="154838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dash"/>
              <a:tailEnd type="triangle" w="sm" len="sm"/>
            </a:ln>
          </p:spPr>
        </p:cxnSp>
        <p:cxnSp>
          <p:nvCxnSpPr>
            <p:cNvPr id="333" name="native PowerPoint connector">
              <a:extLst>
                <a:ext uri="{FF2B5EF4-FFF2-40B4-BE49-F238E27FC236}">
                  <a16:creationId xmlns:a16="http://schemas.microsoft.com/office/drawing/2014/main" id="{2430C10E-442F-4574-A144-477F2D028262}"/>
                </a:ext>
              </a:extLst>
            </p:cNvPr>
            <p:cNvCxnSpPr/>
            <p:nvPr/>
          </p:nvCxnSpPr>
          <p:spPr>
            <a:xfrm flipV="1">
              <a:off x="6930702" y="3798698"/>
              <a:ext cx="0" cy="139354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dash"/>
            </a:ln>
          </p:spPr>
        </p:cxnSp>
        <p:cxnSp>
          <p:nvCxnSpPr>
            <p:cNvPr id="334" name="native PowerPoint connector">
              <a:extLst>
                <a:ext uri="{FF2B5EF4-FFF2-40B4-BE49-F238E27FC236}">
                  <a16:creationId xmlns:a16="http://schemas.microsoft.com/office/drawing/2014/main" id="{0376CB29-2945-401C-9C42-00A2C17F2EFA}"/>
                </a:ext>
              </a:extLst>
            </p:cNvPr>
            <p:cNvCxnSpPr/>
            <p:nvPr/>
          </p:nvCxnSpPr>
          <p:spPr>
            <a:xfrm flipH="1">
              <a:off x="1609429" y="3798698"/>
              <a:ext cx="5321273" cy="0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dash"/>
            </a:ln>
          </p:spPr>
        </p:cxnSp>
        <p:cxnSp>
          <p:nvCxnSpPr>
            <p:cNvPr id="335" name="native PowerPoint connector">
              <a:extLst>
                <a:ext uri="{FF2B5EF4-FFF2-40B4-BE49-F238E27FC236}">
                  <a16:creationId xmlns:a16="http://schemas.microsoft.com/office/drawing/2014/main" id="{319561E4-8F63-42F1-8B2F-4A6B70396978}"/>
                </a:ext>
              </a:extLst>
            </p:cNvPr>
            <p:cNvCxnSpPr/>
            <p:nvPr/>
          </p:nvCxnSpPr>
          <p:spPr>
            <a:xfrm>
              <a:off x="1609429" y="3798698"/>
              <a:ext cx="0" cy="242580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dash"/>
              <a:tailEnd type="triangle" w="sm" len="sm"/>
            </a:ln>
          </p:spPr>
        </p:cxnSp>
        <p:sp>
          <p:nvSpPr>
            <p:cNvPr id="336" name="Decoded BF16 weights + fake A4 + BF16 KV. Native kernel: future work.">
              <a:extLst>
                <a:ext uri="{FF2B5EF4-FFF2-40B4-BE49-F238E27FC236}">
                  <a16:creationId xmlns:a16="http://schemas.microsoft.com/office/drawing/2014/main" id="{F98F255A-C393-415F-899A-056EC1FFAF8E}"/>
                </a:ext>
              </a:extLst>
            </p:cNvPr>
            <p:cNvSpPr>
              <a:spLocks noGrp="1"/>
            </p:cNvSpPr>
            <p:nvPr/>
          </p:nvSpPr>
          <p:spPr>
            <a:xfrm>
              <a:off x="5697158" y="4717404"/>
              <a:ext cx="3086442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rPr>
                <a:t>Decoded BF16 weights + fake A4 + BF16 KV. Native kernel: future work.</a:t>
              </a:r>
            </a:p>
          </p:txBody>
        </p:sp>
      </p:grpSp>
      <p:sp>
        <p:nvSpPr>
          <p:cNvPr id="337" name="Generated design reference; the method on slides 2–4 is">
            <a:extLst>
              <a:ext uri="{FF2B5EF4-FFF2-40B4-BE49-F238E27FC236}">
                <a16:creationId xmlns:a16="http://schemas.microsoft.com/office/drawing/2014/main" id="{AD4ED069-00EC-4C77-8CC3-984DF7FCEB3D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Editable figure, synchronized with slide 2. All figure text uses Times New Roman.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loss figure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22">
            <a:extLst>
              <a:ext uri="{FF2B5EF4-FFF2-40B4-BE49-F238E27FC236}">
                <a16:creationId xmlns:a16="http://schemas.microsoft.com/office/drawing/2014/main" id="{29253F7E-5BEC-46C8-AE00-7BE1B2CD156E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pSp>
        <p:nvGrpSpPr>
          <p:cNvPr id="5" name="Reviewed editable figure, Times New Roman"/>
          <p:cNvGrpSpPr/>
          <p:nvPr/>
        </p:nvGrpSpPr>
        <p:grpSpPr>
          <a:xfrm>
            <a:off x="1254830" y="742950"/>
            <a:ext cx="6634340" cy="3733800"/>
            <a:chOff x="257175" y="0"/>
            <a:chExt cx="8629650" cy="4856759"/>
          </a:xfrm>
        </p:grpSpPr>
        <p:sp>
          <p:nvSpPr>
            <p:cNvPr id="6" name="diagram block">
              <a:extLst>
                <a:ext uri="{FF2B5EF4-FFF2-40B4-BE49-F238E27FC236}">
                  <a16:creationId xmlns:a16="http://schemas.microsoft.com/office/drawing/2014/main" id="{9F132B06-F211-4EB5-9B2A-70B991B95C87}"/>
                </a:ext>
              </a:extLst>
            </p:cNvPr>
            <p:cNvSpPr>
              <a:spLocks noGrp="1"/>
            </p:cNvSpPr>
            <p:nvPr/>
          </p:nvSpPr>
          <p:spPr>
            <a:xfrm>
              <a:off x="288143" y="20645"/>
              <a:ext cx="2854184" cy="4113535"/>
            </a:xfrm>
            <a:prstGeom prst="roundRect">
              <a:avLst>
                <a:gd name="adj" fmla="val 1266"/>
              </a:avLst>
            </a:prstGeom>
            <a:solidFill>
              <a:srgbClr val="FFFFFF"/>
            </a:solidFill>
            <a:ln w="6710">
              <a:solidFill>
                <a:srgbClr val="0B2B5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7" name="diagram block">
              <a:extLst>
                <a:ext uri="{FF2B5EF4-FFF2-40B4-BE49-F238E27FC236}">
                  <a16:creationId xmlns:a16="http://schemas.microsoft.com/office/drawing/2014/main" id="{C7A8E50B-BE0A-4B1E-8D9F-52F926C5E27A}"/>
                </a:ext>
              </a:extLst>
            </p:cNvPr>
            <p:cNvSpPr>
              <a:spLocks noGrp="1"/>
            </p:cNvSpPr>
            <p:nvPr/>
          </p:nvSpPr>
          <p:spPr>
            <a:xfrm>
              <a:off x="3183617" y="20645"/>
              <a:ext cx="2776765" cy="4113535"/>
            </a:xfrm>
            <a:prstGeom prst="roundRect">
              <a:avLst>
                <a:gd name="adj" fmla="val 1301"/>
              </a:avLst>
            </a:prstGeom>
            <a:solidFill>
              <a:srgbClr val="FFFFFF"/>
            </a:solidFill>
            <a:ln w="6710">
              <a:solidFill>
                <a:srgbClr val="0B2B5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8" name="diagram block">
              <a:extLst>
                <a:ext uri="{FF2B5EF4-FFF2-40B4-BE49-F238E27FC236}">
                  <a16:creationId xmlns:a16="http://schemas.microsoft.com/office/drawing/2014/main" id="{279BA262-C23A-49B2-8821-BE25AA48B3EA}"/>
                </a:ext>
              </a:extLst>
            </p:cNvPr>
            <p:cNvSpPr>
              <a:spLocks noGrp="1"/>
            </p:cNvSpPr>
            <p:nvPr/>
          </p:nvSpPr>
          <p:spPr>
            <a:xfrm>
              <a:off x="6001673" y="20645"/>
              <a:ext cx="2864507" cy="4113535"/>
            </a:xfrm>
            <a:prstGeom prst="roundRect">
              <a:avLst>
                <a:gd name="adj" fmla="val 1261"/>
              </a:avLst>
            </a:prstGeom>
            <a:solidFill>
              <a:srgbClr val="FFFFFF"/>
            </a:solidFill>
            <a:ln w="6710">
              <a:solidFill>
                <a:srgbClr val="0B2B5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9" name="(a) Soft-bin: preserve absolute values">
              <a:extLst>
                <a:ext uri="{FF2B5EF4-FFF2-40B4-BE49-F238E27FC236}">
                  <a16:creationId xmlns:a16="http://schemas.microsoft.com/office/drawing/2014/main" id="{6324B013-0412-432E-BFBA-542F1827A53B}"/>
                </a:ext>
              </a:extLst>
            </p:cNvPr>
            <p:cNvSpPr>
              <a:spLocks noGrp="1"/>
            </p:cNvSpPr>
            <p:nvPr/>
          </p:nvSpPr>
          <p:spPr>
            <a:xfrm>
              <a:off x="344917" y="77419"/>
              <a:ext cx="2740636" cy="18064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(a) Soft-bin: preserve absolute values</a:t>
              </a:r>
            </a:p>
          </p:txBody>
        </p:sp>
        <p:sp>
          <p:nvSpPr>
            <p:cNvPr id="10" name="(b) Action: temporal relations">
              <a:extLst>
                <a:ext uri="{FF2B5EF4-FFF2-40B4-BE49-F238E27FC236}">
                  <a16:creationId xmlns:a16="http://schemas.microsoft.com/office/drawing/2014/main" id="{EBBEAD1F-72EA-4711-81B1-5F75DE30C4EF}"/>
                </a:ext>
              </a:extLst>
            </p:cNvPr>
            <p:cNvSpPr>
              <a:spLocks noGrp="1"/>
            </p:cNvSpPr>
            <p:nvPr/>
          </p:nvSpPr>
          <p:spPr>
            <a:xfrm>
              <a:off x="3245553" y="77419"/>
              <a:ext cx="2658056" cy="18064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(b) Action: temporal relations</a:t>
              </a:r>
            </a:p>
          </p:txBody>
        </p:sp>
        <p:sp>
          <p:nvSpPr>
            <p:cNvPr id="11" name="(c) Latent: spatial + temporal relations">
              <a:extLst>
                <a:ext uri="{FF2B5EF4-FFF2-40B4-BE49-F238E27FC236}">
                  <a16:creationId xmlns:a16="http://schemas.microsoft.com/office/drawing/2014/main" id="{5511DB54-EE58-4B2D-9BEF-5D64A63F8A22}"/>
                </a:ext>
              </a:extLst>
            </p:cNvPr>
            <p:cNvSpPr>
              <a:spLocks noGrp="1"/>
            </p:cNvSpPr>
            <p:nvPr/>
          </p:nvSpPr>
          <p:spPr>
            <a:xfrm>
              <a:off x="6073931" y="77419"/>
              <a:ext cx="2735475" cy="18064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(c) Latent: spatial + temporal relations</a:t>
              </a:r>
            </a:p>
          </p:txBody>
        </p:sp>
        <p:sp>
          <p:nvSpPr>
            <p:cNvPr id="12" name="diagram block">
              <a:extLst>
                <a:ext uri="{FF2B5EF4-FFF2-40B4-BE49-F238E27FC236}">
                  <a16:creationId xmlns:a16="http://schemas.microsoft.com/office/drawing/2014/main" id="{3C0D5589-0CF9-47AC-98E7-A3E034AC19DF}"/>
                </a:ext>
              </a:extLst>
            </p:cNvPr>
            <p:cNvSpPr>
              <a:spLocks noGrp="1"/>
            </p:cNvSpPr>
            <p:nvPr/>
          </p:nvSpPr>
          <p:spPr>
            <a:xfrm>
              <a:off x="355239" y="278709"/>
              <a:ext cx="2725153" cy="345805"/>
            </a:xfrm>
            <a:prstGeom prst="roundRect">
              <a:avLst>
                <a:gd name="adj" fmla="val 7463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C0E0F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3" name="Per-scalar distribution: each value is mapped to a 16-bin&#10;probability distr">
              <a:extLst>
                <a:ext uri="{FF2B5EF4-FFF2-40B4-BE49-F238E27FC236}">
                  <a16:creationId xmlns:a16="http://schemas.microsoft.com/office/drawing/2014/main" id="{0BA68C7C-B236-4ADF-B979-58571619C19F}"/>
                </a:ext>
              </a:extLst>
            </p:cNvPr>
            <p:cNvSpPr>
              <a:spLocks noGrp="1"/>
            </p:cNvSpPr>
            <p:nvPr/>
          </p:nvSpPr>
          <p:spPr>
            <a:xfrm>
              <a:off x="381046" y="304515"/>
              <a:ext cx="2673540" cy="294193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3351"/>
            </a:bodyPr>
            <a:lstStyle>
              <a:def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Per-scalar distribution: each value is mapped to a 16-bin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probability distribution using a Gaussian and shared teacher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normalization statistics.</a:t>
              </a:r>
            </a:p>
          </p:txBody>
        </p:sp>
        <p:sp>
          <p:nvSpPr>
            <p:cNvPr id="14" name="diagram block">
              <a:extLst>
                <a:ext uri="{FF2B5EF4-FFF2-40B4-BE49-F238E27FC236}">
                  <a16:creationId xmlns:a16="http://schemas.microsoft.com/office/drawing/2014/main" id="{09A4CEF5-52AB-4D12-9D12-5D02914DC34B}"/>
                </a:ext>
              </a:extLst>
            </p:cNvPr>
            <p:cNvSpPr>
              <a:spLocks noGrp="1"/>
            </p:cNvSpPr>
            <p:nvPr/>
          </p:nvSpPr>
          <p:spPr>
            <a:xfrm>
              <a:off x="3255875" y="278709"/>
              <a:ext cx="2632250" cy="314838"/>
            </a:xfrm>
            <a:prstGeom prst="roundRect">
              <a:avLst>
                <a:gd name="adj" fmla="val 8197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C0E0F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5" name="Match neighbor distributions over 3-step action windows&#10;to preserve tempora">
              <a:extLst>
                <a:ext uri="{FF2B5EF4-FFF2-40B4-BE49-F238E27FC236}">
                  <a16:creationId xmlns:a16="http://schemas.microsoft.com/office/drawing/2014/main" id="{BC68CFC1-28A6-4305-9B0D-3DB282E21878}"/>
                </a:ext>
              </a:extLst>
            </p:cNvPr>
            <p:cNvSpPr>
              <a:spLocks noGrp="1"/>
            </p:cNvSpPr>
            <p:nvPr/>
          </p:nvSpPr>
          <p:spPr>
            <a:xfrm>
              <a:off x="3281682" y="304515"/>
              <a:ext cx="2580637" cy="263225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Match neighbor distributions over 3-step action windows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to preserve temporal structure in the action sequence.</a:t>
              </a:r>
            </a:p>
          </p:txBody>
        </p:sp>
        <p:sp>
          <p:nvSpPr>
            <p:cNvPr id="16" name="diagram block">
              <a:extLst>
                <a:ext uri="{FF2B5EF4-FFF2-40B4-BE49-F238E27FC236}">
                  <a16:creationId xmlns:a16="http://schemas.microsoft.com/office/drawing/2014/main" id="{6E8C742E-4189-41AE-B304-900CFA656241}"/>
                </a:ext>
              </a:extLst>
            </p:cNvPr>
            <p:cNvSpPr>
              <a:spLocks noGrp="1"/>
            </p:cNvSpPr>
            <p:nvPr/>
          </p:nvSpPr>
          <p:spPr>
            <a:xfrm>
              <a:off x="6073931" y="278709"/>
              <a:ext cx="2725153" cy="309676"/>
            </a:xfrm>
            <a:prstGeom prst="roundRect">
              <a:avLst>
                <a:gd name="adj" fmla="val 8333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C0E0F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7" name="Match neighbor distributions over spatial and temporal neighbors&#10;in the lat">
              <a:extLst>
                <a:ext uri="{FF2B5EF4-FFF2-40B4-BE49-F238E27FC236}">
                  <a16:creationId xmlns:a16="http://schemas.microsoft.com/office/drawing/2014/main" id="{8A7B29B1-7A30-4748-8812-5EF41B892670}"/>
                </a:ext>
              </a:extLst>
            </p:cNvPr>
            <p:cNvSpPr>
              <a:spLocks noGrp="1"/>
            </p:cNvSpPr>
            <p:nvPr/>
          </p:nvSpPr>
          <p:spPr>
            <a:xfrm>
              <a:off x="6099737" y="304515"/>
              <a:ext cx="2673540" cy="258064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Match neighbor distributions over spatial and temporal neighbors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in the latent maps to preserve spatiotemporal structure.</a:t>
              </a:r>
            </a:p>
          </p:txBody>
        </p:sp>
        <p:sp>
          <p:nvSpPr>
            <p:cNvPr id="18" name="diagram block">
              <a:extLst>
                <a:ext uri="{FF2B5EF4-FFF2-40B4-BE49-F238E27FC236}">
                  <a16:creationId xmlns:a16="http://schemas.microsoft.com/office/drawing/2014/main" id="{8FD5DCA4-2AEF-4A40-ACA1-82863C73C74E}"/>
                </a:ext>
              </a:extLst>
            </p:cNvPr>
            <p:cNvSpPr>
              <a:spLocks noGrp="1"/>
            </p:cNvSpPr>
            <p:nvPr/>
          </p:nvSpPr>
          <p:spPr>
            <a:xfrm>
              <a:off x="391368" y="686449"/>
              <a:ext cx="1326447" cy="165161"/>
            </a:xfrm>
            <a:prstGeom prst="roundRect">
              <a:avLst>
                <a:gd name="adj" fmla="val 15625"/>
              </a:avLst>
            </a:prstGeom>
            <a:gradFill>
              <a:gsLst>
                <a:gs pos="0">
                  <a:srgbClr val="D8F7EC"/>
                </a:gs>
                <a:gs pos="100000">
                  <a:srgbClr val="EDFCF6"/>
                </a:gs>
              </a:gsLst>
              <a:lin ang="5400000"/>
            </a:gradFill>
            <a:ln w="5161">
              <a:solidFill>
                <a:srgbClr val="7FCAB6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9" name="BF16 teacher scalar x">
              <a:extLst>
                <a:ext uri="{FF2B5EF4-FFF2-40B4-BE49-F238E27FC236}">
                  <a16:creationId xmlns:a16="http://schemas.microsoft.com/office/drawing/2014/main" id="{5BA729CA-FF82-4B24-9A80-5291704D7150}"/>
                </a:ext>
              </a:extLst>
            </p:cNvPr>
            <p:cNvSpPr>
              <a:spLocks noGrp="1"/>
            </p:cNvSpPr>
            <p:nvPr/>
          </p:nvSpPr>
          <p:spPr>
            <a:xfrm>
              <a:off x="417174" y="712256"/>
              <a:ext cx="1274835" cy="113548"/>
            </a:xfrm>
            <a:prstGeom prst="rect">
              <a:avLst/>
            </a:prstGeom>
            <a:gradFill>
              <a:gsLst>
                <a:gs pos="0">
                  <a:srgbClr val="D8F7EC"/>
                </a:gs>
                <a:gs pos="100000">
                  <a:srgbClr val="EDFCF6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7346"/>
            </a:bodyPr>
            <a:lstStyle>
              <a:def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BF16 teacher scalar x</a:t>
              </a:r>
            </a:p>
          </p:txBody>
        </p:sp>
        <p:sp>
          <p:nvSpPr>
            <p:cNvPr id="20" name="diagram block">
              <a:extLst>
                <a:ext uri="{FF2B5EF4-FFF2-40B4-BE49-F238E27FC236}">
                  <a16:creationId xmlns:a16="http://schemas.microsoft.com/office/drawing/2014/main" id="{CCF249E6-3342-4EDF-8C75-6B63D931C8F6}"/>
                </a:ext>
              </a:extLst>
            </p:cNvPr>
            <p:cNvSpPr>
              <a:spLocks noGrp="1"/>
            </p:cNvSpPr>
            <p:nvPr/>
          </p:nvSpPr>
          <p:spPr>
            <a:xfrm>
              <a:off x="1815880" y="686449"/>
              <a:ext cx="1264512" cy="165161"/>
            </a:xfrm>
            <a:prstGeom prst="roundRect">
              <a:avLst>
                <a:gd name="adj" fmla="val 15625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8ABFF4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1" name="Quantized student scalar x̂">
              <a:extLst>
                <a:ext uri="{FF2B5EF4-FFF2-40B4-BE49-F238E27FC236}">
                  <a16:creationId xmlns:a16="http://schemas.microsoft.com/office/drawing/2014/main" id="{DF2E92C2-450E-4AA5-AAD8-CB8AEC1C61AB}"/>
                </a:ext>
              </a:extLst>
            </p:cNvPr>
            <p:cNvSpPr>
              <a:spLocks noGrp="1"/>
            </p:cNvSpPr>
            <p:nvPr/>
          </p:nvSpPr>
          <p:spPr>
            <a:xfrm>
              <a:off x="1841686" y="712256"/>
              <a:ext cx="1212899" cy="113548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7346"/>
            </a:bodyPr>
            <a:lstStyle>
              <a:def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Quantized student scalar x̂</a:t>
              </a:r>
            </a:p>
          </p:txBody>
        </p:sp>
        <p:sp>
          <p:nvSpPr>
            <p:cNvPr id="22" name="e.g., x = 1.24 (BF16)">
              <a:extLst>
                <a:ext uri="{FF2B5EF4-FFF2-40B4-BE49-F238E27FC236}">
                  <a16:creationId xmlns:a16="http://schemas.microsoft.com/office/drawing/2014/main" id="{CA6F58A0-05BB-4EAD-B188-5E391CF33BB4}"/>
                </a:ext>
              </a:extLst>
            </p:cNvPr>
            <p:cNvSpPr>
              <a:spLocks noGrp="1"/>
            </p:cNvSpPr>
            <p:nvPr/>
          </p:nvSpPr>
          <p:spPr>
            <a:xfrm>
              <a:off x="535884" y="898062"/>
              <a:ext cx="1135480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e.g., x = 1.24 (BF16)</a:t>
              </a:r>
            </a:p>
          </p:txBody>
        </p:sp>
        <p:sp>
          <p:nvSpPr>
            <p:cNvPr id="23" name="e.g., x̂ = 1.08 (quantized)">
              <a:extLst>
                <a:ext uri="{FF2B5EF4-FFF2-40B4-BE49-F238E27FC236}">
                  <a16:creationId xmlns:a16="http://schemas.microsoft.com/office/drawing/2014/main" id="{783CA72F-0756-47FF-BDA6-70E4FB300DBF}"/>
                </a:ext>
              </a:extLst>
            </p:cNvPr>
            <p:cNvSpPr>
              <a:spLocks noGrp="1"/>
            </p:cNvSpPr>
            <p:nvPr/>
          </p:nvSpPr>
          <p:spPr>
            <a:xfrm>
              <a:off x="1939750" y="898062"/>
              <a:ext cx="1140642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e.g., x̂ = 1.08 (quantized)</a:t>
              </a:r>
            </a:p>
          </p:txBody>
        </p:sp>
        <p:cxnSp>
          <p:nvCxnSpPr>
            <p:cNvPr id="24" name="native PowerPoint connector">
              <a:extLst>
                <a:ext uri="{FF2B5EF4-FFF2-40B4-BE49-F238E27FC236}">
                  <a16:creationId xmlns:a16="http://schemas.microsoft.com/office/drawing/2014/main" id="{F06DD86C-519A-4D0C-8916-513F6B45C038}"/>
                </a:ext>
              </a:extLst>
            </p:cNvPr>
            <p:cNvCxnSpPr/>
            <p:nvPr/>
          </p:nvCxnSpPr>
          <p:spPr>
            <a:xfrm>
              <a:off x="1036527" y="1032255"/>
              <a:ext cx="0" cy="36129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25" name="native PowerPoint connector">
              <a:extLst>
                <a:ext uri="{FF2B5EF4-FFF2-40B4-BE49-F238E27FC236}">
                  <a16:creationId xmlns:a16="http://schemas.microsoft.com/office/drawing/2014/main" id="{718E89C4-D6AD-4D32-AA5E-1D1BB44CEB0E}"/>
                </a:ext>
              </a:extLst>
            </p:cNvPr>
            <p:cNvCxnSpPr/>
            <p:nvPr/>
          </p:nvCxnSpPr>
          <p:spPr>
            <a:xfrm>
              <a:off x="2430071" y="1032255"/>
              <a:ext cx="0" cy="36129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26" name="diagram block">
              <a:extLst>
                <a:ext uri="{FF2B5EF4-FFF2-40B4-BE49-F238E27FC236}">
                  <a16:creationId xmlns:a16="http://schemas.microsoft.com/office/drawing/2014/main" id="{66F8351D-9717-4CB6-8439-06450FB09190}"/>
                </a:ext>
              </a:extLst>
            </p:cNvPr>
            <p:cNvSpPr>
              <a:spLocks noGrp="1"/>
            </p:cNvSpPr>
            <p:nvPr/>
          </p:nvSpPr>
          <p:spPr>
            <a:xfrm>
              <a:off x="499755" y="1068384"/>
              <a:ext cx="2461928" cy="232257"/>
            </a:xfrm>
            <a:prstGeom prst="roundRect">
              <a:avLst>
                <a:gd name="adj" fmla="val 11111"/>
              </a:avLst>
            </a:prstGeom>
            <a:gradFill>
              <a:gsLst>
                <a:gs pos="0">
                  <a:srgbClr val="FFF0F2"/>
                </a:gs>
                <a:gs pos="100000">
                  <a:srgbClr val="FFF8F8"/>
                </a:gs>
              </a:gsLst>
              <a:lin ang="5400000"/>
            </a:gradFill>
            <a:ln w="5161">
              <a:solidFill>
                <a:srgbClr val="FFABB9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7" name="Shared frozen teacher statistics&#10;mean μ_c, scale s_c = max(σ_c, 0.02)">
              <a:extLst>
                <a:ext uri="{FF2B5EF4-FFF2-40B4-BE49-F238E27FC236}">
                  <a16:creationId xmlns:a16="http://schemas.microsoft.com/office/drawing/2014/main" id="{108386D3-6F9D-4C9A-A382-97CF29545329}"/>
                </a:ext>
              </a:extLst>
            </p:cNvPr>
            <p:cNvSpPr>
              <a:spLocks noGrp="1"/>
            </p:cNvSpPr>
            <p:nvPr/>
          </p:nvSpPr>
          <p:spPr>
            <a:xfrm>
              <a:off x="525561" y="1094190"/>
              <a:ext cx="2410315" cy="180645"/>
            </a:xfrm>
            <a:prstGeom prst="rect">
              <a:avLst/>
            </a:prstGeom>
            <a:gradFill>
              <a:gsLst>
                <a:gs pos="0">
                  <a:srgbClr val="FFF0F2"/>
                </a:gs>
                <a:gs pos="100000">
                  <a:srgbClr val="FFF8F8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72899"/>
            </a:bodyPr>
            <a:lstStyle>
              <a:def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Shared frozen teacher statistics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mean μ</a:t>
              </a:r>
              <a:r>
                <a:rPr sz="456" b="0" i="0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, scale s</a:t>
              </a:r>
              <a:r>
                <a:rPr sz="456" b="0" i="0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= max(σ</a:t>
              </a:r>
              <a:r>
                <a:rPr sz="456" b="0" i="0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, 0.02)</a:t>
              </a:r>
            </a:p>
          </p:txBody>
        </p:sp>
        <p:cxnSp>
          <p:nvCxnSpPr>
            <p:cNvPr id="28" name="native PowerPoint connector">
              <a:extLst>
                <a:ext uri="{FF2B5EF4-FFF2-40B4-BE49-F238E27FC236}">
                  <a16:creationId xmlns:a16="http://schemas.microsoft.com/office/drawing/2014/main" id="{308FC462-07ED-4801-A38E-1E5EBC4F4086}"/>
                </a:ext>
              </a:extLst>
            </p:cNvPr>
            <p:cNvCxnSpPr/>
            <p:nvPr/>
          </p:nvCxnSpPr>
          <p:spPr>
            <a:xfrm>
              <a:off x="1036527" y="1300641"/>
              <a:ext cx="0" cy="8258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29" name="native PowerPoint connector">
              <a:extLst>
                <a:ext uri="{FF2B5EF4-FFF2-40B4-BE49-F238E27FC236}">
                  <a16:creationId xmlns:a16="http://schemas.microsoft.com/office/drawing/2014/main" id="{A297776A-9B8E-4D41-B6F1-C90570493E43}"/>
                </a:ext>
              </a:extLst>
            </p:cNvPr>
            <p:cNvCxnSpPr/>
            <p:nvPr/>
          </p:nvCxnSpPr>
          <p:spPr>
            <a:xfrm>
              <a:off x="2430071" y="1300641"/>
              <a:ext cx="0" cy="8258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30" name="z =">
              <a:extLst>
                <a:ext uri="{FF2B5EF4-FFF2-40B4-BE49-F238E27FC236}">
                  <a16:creationId xmlns:a16="http://schemas.microsoft.com/office/drawing/2014/main" id="{D5E8A02B-FC4C-4F82-A41A-B4D97960FFE4}"/>
                </a:ext>
              </a:extLst>
            </p:cNvPr>
            <p:cNvSpPr>
              <a:spLocks noGrp="1"/>
            </p:cNvSpPr>
            <p:nvPr/>
          </p:nvSpPr>
          <p:spPr>
            <a:xfrm>
              <a:off x="742335" y="1429673"/>
              <a:ext cx="237419" cy="1651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791"/>
            </a:bodyPr>
            <a:lstStyle>
              <a:def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z =</a:t>
              </a:r>
            </a:p>
          </p:txBody>
        </p:sp>
        <p:sp>
          <p:nvSpPr>
            <p:cNvPr id="31" name="x − μ_c">
              <a:extLst>
                <a:ext uri="{FF2B5EF4-FFF2-40B4-BE49-F238E27FC236}">
                  <a16:creationId xmlns:a16="http://schemas.microsoft.com/office/drawing/2014/main" id="{8A24D38A-E63B-4CF4-9DA5-A41DE1904D9A}"/>
                </a:ext>
              </a:extLst>
            </p:cNvPr>
            <p:cNvSpPr>
              <a:spLocks noGrp="1"/>
            </p:cNvSpPr>
            <p:nvPr/>
          </p:nvSpPr>
          <p:spPr>
            <a:xfrm>
              <a:off x="974592" y="1378060"/>
              <a:ext cx="381934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0000"/>
            </a:bodyPr>
            <a:lstStyle>
              <a:def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x − μ</a:t>
              </a:r>
              <a:r>
                <a:rPr sz="570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cxnSp>
          <p:nvCxnSpPr>
            <p:cNvPr id="32" name="native PowerPoint connector">
              <a:extLst>
                <a:ext uri="{FF2B5EF4-FFF2-40B4-BE49-F238E27FC236}">
                  <a16:creationId xmlns:a16="http://schemas.microsoft.com/office/drawing/2014/main" id="{44402F4B-F6C4-4D1A-842B-97F85A00B941}"/>
                </a:ext>
              </a:extLst>
            </p:cNvPr>
            <p:cNvCxnSpPr/>
            <p:nvPr/>
          </p:nvCxnSpPr>
          <p:spPr>
            <a:xfrm>
              <a:off x="990076" y="1504511"/>
              <a:ext cx="350967" cy="0"/>
            </a:xfrm>
            <a:prstGeom prst="straightConnector1">
              <a:avLst/>
            </a:prstGeom>
            <a:ln w="5677">
              <a:solidFill>
                <a:srgbClr val="061A3C"/>
              </a:solidFill>
              <a:prstDash val="solid"/>
            </a:ln>
          </p:spPr>
        </p:cxnSp>
        <p:sp>
          <p:nvSpPr>
            <p:cNvPr id="33" name="s_c">
              <a:extLst>
                <a:ext uri="{FF2B5EF4-FFF2-40B4-BE49-F238E27FC236}">
                  <a16:creationId xmlns:a16="http://schemas.microsoft.com/office/drawing/2014/main" id="{5D278703-91A7-4852-B22E-9932A475D12A}"/>
                </a:ext>
              </a:extLst>
            </p:cNvPr>
            <p:cNvSpPr>
              <a:spLocks noGrp="1"/>
            </p:cNvSpPr>
            <p:nvPr/>
          </p:nvSpPr>
          <p:spPr>
            <a:xfrm>
              <a:off x="974592" y="1512253"/>
              <a:ext cx="381934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0000"/>
            </a:bodyPr>
            <a:lstStyle>
              <a:def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sz="570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34" name="ẑ =">
              <a:extLst>
                <a:ext uri="{FF2B5EF4-FFF2-40B4-BE49-F238E27FC236}">
                  <a16:creationId xmlns:a16="http://schemas.microsoft.com/office/drawing/2014/main" id="{57513BBE-1E74-4614-B98E-E1FF9E561E33}"/>
                </a:ext>
              </a:extLst>
            </p:cNvPr>
            <p:cNvSpPr>
              <a:spLocks noGrp="1"/>
            </p:cNvSpPr>
            <p:nvPr/>
          </p:nvSpPr>
          <p:spPr>
            <a:xfrm>
              <a:off x="2089427" y="1429673"/>
              <a:ext cx="242580" cy="1651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791"/>
            </a:bodyPr>
            <a:lstStyle>
              <a:def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ẑ =</a:t>
              </a:r>
            </a:p>
          </p:txBody>
        </p:sp>
        <p:sp>
          <p:nvSpPr>
            <p:cNvPr id="35" name="x̂ − μ_c">
              <a:extLst>
                <a:ext uri="{FF2B5EF4-FFF2-40B4-BE49-F238E27FC236}">
                  <a16:creationId xmlns:a16="http://schemas.microsoft.com/office/drawing/2014/main" id="{3AA110B3-3F29-4D53-ADEF-235568F25371}"/>
                </a:ext>
              </a:extLst>
            </p:cNvPr>
            <p:cNvSpPr>
              <a:spLocks noGrp="1"/>
            </p:cNvSpPr>
            <p:nvPr/>
          </p:nvSpPr>
          <p:spPr>
            <a:xfrm>
              <a:off x="2332007" y="1378060"/>
              <a:ext cx="39741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0000"/>
            </a:bodyPr>
            <a:lstStyle>
              <a:def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x̂ − μ</a:t>
              </a:r>
              <a:r>
                <a:rPr sz="570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cxnSp>
          <p:nvCxnSpPr>
            <p:cNvPr id="36" name="native PowerPoint connector">
              <a:extLst>
                <a:ext uri="{FF2B5EF4-FFF2-40B4-BE49-F238E27FC236}">
                  <a16:creationId xmlns:a16="http://schemas.microsoft.com/office/drawing/2014/main" id="{AE28A46F-E6EC-4F7C-990D-851097E0D391}"/>
                </a:ext>
              </a:extLst>
            </p:cNvPr>
            <p:cNvCxnSpPr/>
            <p:nvPr/>
          </p:nvCxnSpPr>
          <p:spPr>
            <a:xfrm>
              <a:off x="2347491" y="1504511"/>
              <a:ext cx="366450" cy="0"/>
            </a:xfrm>
            <a:prstGeom prst="straightConnector1">
              <a:avLst/>
            </a:prstGeom>
            <a:ln w="5677">
              <a:solidFill>
                <a:srgbClr val="061A3C"/>
              </a:solidFill>
              <a:prstDash val="solid"/>
            </a:ln>
          </p:spPr>
        </p:cxnSp>
        <p:sp>
          <p:nvSpPr>
            <p:cNvPr id="37" name="s_c">
              <a:extLst>
                <a:ext uri="{FF2B5EF4-FFF2-40B4-BE49-F238E27FC236}">
                  <a16:creationId xmlns:a16="http://schemas.microsoft.com/office/drawing/2014/main" id="{A2CBEAD9-9F0D-44B4-A673-36DC10721240}"/>
                </a:ext>
              </a:extLst>
            </p:cNvPr>
            <p:cNvSpPr>
              <a:spLocks noGrp="1"/>
            </p:cNvSpPr>
            <p:nvPr/>
          </p:nvSpPr>
          <p:spPr>
            <a:xfrm>
              <a:off x="2332007" y="1512253"/>
              <a:ext cx="39741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0000"/>
            </a:bodyPr>
            <a:lstStyle>
              <a:def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sz="570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38" name="diagram block">
              <a:extLst>
                <a:ext uri="{FF2B5EF4-FFF2-40B4-BE49-F238E27FC236}">
                  <a16:creationId xmlns:a16="http://schemas.microsoft.com/office/drawing/2014/main" id="{FA5F145C-EA26-4275-96FF-BEF76C175053}"/>
                </a:ext>
              </a:extLst>
            </p:cNvPr>
            <p:cNvSpPr>
              <a:spLocks noGrp="1"/>
            </p:cNvSpPr>
            <p:nvPr/>
          </p:nvSpPr>
          <p:spPr>
            <a:xfrm>
              <a:off x="391368" y="1641285"/>
              <a:ext cx="2621927" cy="810320"/>
            </a:xfrm>
            <a:prstGeom prst="roundRect">
              <a:avLst>
                <a:gd name="adj" fmla="val 3822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C3DDF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9" name="Map each standardized scalar to 16 bins&#10;using a Gaussian with σ = 0.375 and">
              <a:extLst>
                <a:ext uri="{FF2B5EF4-FFF2-40B4-BE49-F238E27FC236}">
                  <a16:creationId xmlns:a16="http://schemas.microsoft.com/office/drawing/2014/main" id="{1B951442-B460-4C26-AA95-EE3D0AB8D7A6}"/>
                </a:ext>
              </a:extLst>
            </p:cNvPr>
            <p:cNvSpPr>
              <a:spLocks noGrp="1"/>
            </p:cNvSpPr>
            <p:nvPr/>
          </p:nvSpPr>
          <p:spPr>
            <a:xfrm>
              <a:off x="442981" y="1698059"/>
              <a:ext cx="2518702" cy="21161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9931"/>
            </a:bodyPr>
            <a:lstStyle>
              <a:def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Map each standardized scalar to 16 bins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using a Gaussian with σ = 0.375 and fixed edges.</a:t>
              </a:r>
            </a:p>
          </p:txBody>
        </p:sp>
        <p:sp>
          <p:nvSpPr>
            <p:cNvPr id="40" name="p_b(z) =">
              <a:extLst>
                <a:ext uri="{FF2B5EF4-FFF2-40B4-BE49-F238E27FC236}">
                  <a16:creationId xmlns:a16="http://schemas.microsoft.com/office/drawing/2014/main" id="{E530E6C7-9C13-4CE9-9764-2B9A342E7FBC}"/>
                </a:ext>
              </a:extLst>
            </p:cNvPr>
            <p:cNvSpPr>
              <a:spLocks noGrp="1"/>
            </p:cNvSpPr>
            <p:nvPr/>
          </p:nvSpPr>
          <p:spPr>
            <a:xfrm>
              <a:off x="566851" y="1976768"/>
              <a:ext cx="541934" cy="15999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325"/>
            </a:bodyPr>
            <a:lstStyle>
              <a:def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</a:t>
              </a:r>
              <a:r>
                <a:rPr sz="594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  <a:r>
                <a: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(z) =</a:t>
              </a:r>
            </a:p>
          </p:txBody>
        </p:sp>
        <p:sp>
          <p:nvSpPr>
            <p:cNvPr id="41" name="∫">
              <a:extLst>
                <a:ext uri="{FF2B5EF4-FFF2-40B4-BE49-F238E27FC236}">
                  <a16:creationId xmlns:a16="http://schemas.microsoft.com/office/drawing/2014/main" id="{48B6A452-AE0B-4253-82BD-F2CB99C969C4}"/>
                </a:ext>
              </a:extLst>
            </p:cNvPr>
            <p:cNvSpPr>
              <a:spLocks noGrp="1"/>
            </p:cNvSpPr>
            <p:nvPr/>
          </p:nvSpPr>
          <p:spPr>
            <a:xfrm>
              <a:off x="1144914" y="1914833"/>
              <a:ext cx="159999" cy="26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∫</a:t>
              </a:r>
            </a:p>
          </p:txBody>
        </p:sp>
        <p:sp>
          <p:nvSpPr>
            <p:cNvPr id="42" name="e_{b+1}">
              <a:extLst>
                <a:ext uri="{FF2B5EF4-FFF2-40B4-BE49-F238E27FC236}">
                  <a16:creationId xmlns:a16="http://schemas.microsoft.com/office/drawing/2014/main" id="{49FD5888-9E21-4320-A5F2-F946B7CFF366}"/>
                </a:ext>
              </a:extLst>
            </p:cNvPr>
            <p:cNvSpPr>
              <a:spLocks noGrp="1"/>
            </p:cNvSpPr>
            <p:nvPr/>
          </p:nvSpPr>
          <p:spPr>
            <a:xfrm>
              <a:off x="1299752" y="1904510"/>
              <a:ext cx="27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</a:t>
              </a:r>
              <a:r>
                <a:rPr sz="41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b+1</a:t>
              </a:r>
            </a:p>
          </p:txBody>
        </p:sp>
        <p:sp>
          <p:nvSpPr>
            <p:cNvPr id="43" name="e_b">
              <a:extLst>
                <a:ext uri="{FF2B5EF4-FFF2-40B4-BE49-F238E27FC236}">
                  <a16:creationId xmlns:a16="http://schemas.microsoft.com/office/drawing/2014/main" id="{4DBD1B95-1B11-4D94-AC18-994739234B21}"/>
                </a:ext>
              </a:extLst>
            </p:cNvPr>
            <p:cNvSpPr>
              <a:spLocks noGrp="1"/>
            </p:cNvSpPr>
            <p:nvPr/>
          </p:nvSpPr>
          <p:spPr>
            <a:xfrm>
              <a:off x="1299752" y="2121284"/>
              <a:ext cx="232257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2531"/>
            </a:bodyPr>
            <a:lstStyle>
              <a:def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</a:t>
              </a:r>
              <a:r>
                <a:rPr sz="41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</a:p>
          </p:txBody>
        </p:sp>
        <p:sp>
          <p:nvSpPr>
            <p:cNvPr id="44" name="N(t; z, 0.375²) dt">
              <a:extLst>
                <a:ext uri="{FF2B5EF4-FFF2-40B4-BE49-F238E27FC236}">
                  <a16:creationId xmlns:a16="http://schemas.microsoft.com/office/drawing/2014/main" id="{5F0310C9-48ED-4930-9146-DF71E58C0C44}"/>
                </a:ext>
              </a:extLst>
            </p:cNvPr>
            <p:cNvSpPr>
              <a:spLocks noGrp="1"/>
            </p:cNvSpPr>
            <p:nvPr/>
          </p:nvSpPr>
          <p:spPr>
            <a:xfrm>
              <a:off x="1568139" y="1976768"/>
              <a:ext cx="1347092" cy="170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N(t; z, 0.375²) dt</a:t>
              </a:r>
            </a:p>
          </p:txBody>
        </p:sp>
        <p:sp>
          <p:nvSpPr>
            <p:cNvPr id="45" name="15 interior edges from −3.5 to 3.5, plus two infinite tails">
              <a:extLst>
                <a:ext uri="{FF2B5EF4-FFF2-40B4-BE49-F238E27FC236}">
                  <a16:creationId xmlns:a16="http://schemas.microsoft.com/office/drawing/2014/main" id="{4003E1FB-BE66-43AD-9DB6-A6B1CFBD633A}"/>
                </a:ext>
              </a:extLst>
            </p:cNvPr>
            <p:cNvSpPr>
              <a:spLocks noGrp="1"/>
            </p:cNvSpPr>
            <p:nvPr/>
          </p:nvSpPr>
          <p:spPr>
            <a:xfrm>
              <a:off x="442981" y="2245154"/>
              <a:ext cx="2518702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15 interior edges from −3.5 to 3.5, plus two infinite tails</a:t>
              </a:r>
            </a:p>
          </p:txBody>
        </p:sp>
        <p:sp>
          <p:nvSpPr>
            <p:cNvPr id="46" name="e = [−∞, −3.5, −3.0, …, 3.0, 3.5, +∞]">
              <a:extLst>
                <a:ext uri="{FF2B5EF4-FFF2-40B4-BE49-F238E27FC236}">
                  <a16:creationId xmlns:a16="http://schemas.microsoft.com/office/drawing/2014/main" id="{94D2A3ED-AE6D-47C7-B40B-AF7BA7C4C1FF}"/>
                </a:ext>
              </a:extLst>
            </p:cNvPr>
            <p:cNvSpPr>
              <a:spLocks noGrp="1"/>
            </p:cNvSpPr>
            <p:nvPr/>
          </p:nvSpPr>
          <p:spPr>
            <a:xfrm>
              <a:off x="437820" y="2348380"/>
              <a:ext cx="2534185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2531"/>
            </a:bodyPr>
            <a:lstStyle>
              <a:def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 = [−∞, −3.5, −3.0, …, 3.0, 3.5, +∞]</a:t>
              </a:r>
            </a:p>
          </p:txBody>
        </p:sp>
        <p:sp>
          <p:nvSpPr>
            <p:cNvPr id="47" name="diagram block">
              <a:extLst>
                <a:ext uri="{FF2B5EF4-FFF2-40B4-BE49-F238E27FC236}">
                  <a16:creationId xmlns:a16="http://schemas.microsoft.com/office/drawing/2014/main" id="{835FC11F-DC8B-444C-8B4D-0A2853479EC4}"/>
                </a:ext>
              </a:extLst>
            </p:cNvPr>
            <p:cNvSpPr>
              <a:spLocks noGrp="1"/>
            </p:cNvSpPr>
            <p:nvPr/>
          </p:nvSpPr>
          <p:spPr>
            <a:xfrm>
              <a:off x="499755" y="2487734"/>
              <a:ext cx="1176770" cy="154838"/>
            </a:xfrm>
            <a:prstGeom prst="roundRect">
              <a:avLst>
                <a:gd name="adj" fmla="val 13333"/>
              </a:avLst>
            </a:prstGeom>
            <a:gradFill>
              <a:gsLst>
                <a:gs pos="0">
                  <a:srgbClr val="D8F7EC"/>
                </a:gs>
                <a:gs pos="100000">
                  <a:srgbClr val="F4FCF8"/>
                </a:gs>
              </a:gsLst>
              <a:lin ang="5400000"/>
            </a:gradFill>
            <a:ln w="5161">
              <a:solidFill>
                <a:srgbClr val="87CFBA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8" name="Teacher scalar distribution">
              <a:extLst>
                <a:ext uri="{FF2B5EF4-FFF2-40B4-BE49-F238E27FC236}">
                  <a16:creationId xmlns:a16="http://schemas.microsoft.com/office/drawing/2014/main" id="{6724CEF0-5D69-4125-96B6-BB004C45EB64}"/>
                </a:ext>
              </a:extLst>
            </p:cNvPr>
            <p:cNvSpPr>
              <a:spLocks noGrp="1"/>
            </p:cNvSpPr>
            <p:nvPr/>
          </p:nvSpPr>
          <p:spPr>
            <a:xfrm>
              <a:off x="525561" y="2513540"/>
              <a:ext cx="1125158" cy="103225"/>
            </a:xfrm>
            <a:prstGeom prst="rect">
              <a:avLst/>
            </a:prstGeom>
            <a:gradFill>
              <a:gsLst>
                <a:gs pos="0">
                  <a:srgbClr val="D8F7EC"/>
                </a:gs>
                <a:gs pos="100000">
                  <a:srgbClr val="F4FCF8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3312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Teacher scalar distribution</a:t>
              </a:r>
            </a:p>
          </p:txBody>
        </p:sp>
        <p:sp>
          <p:nvSpPr>
            <p:cNvPr id="49" name="diagram block">
              <a:extLst>
                <a:ext uri="{FF2B5EF4-FFF2-40B4-BE49-F238E27FC236}">
                  <a16:creationId xmlns:a16="http://schemas.microsoft.com/office/drawing/2014/main" id="{0F22A642-4B9C-47DE-B271-BA5913738603}"/>
                </a:ext>
              </a:extLst>
            </p:cNvPr>
            <p:cNvSpPr>
              <a:spLocks noGrp="1"/>
            </p:cNvSpPr>
            <p:nvPr/>
          </p:nvSpPr>
          <p:spPr>
            <a:xfrm>
              <a:off x="1908783" y="2487734"/>
              <a:ext cx="1176770" cy="154838"/>
            </a:xfrm>
            <a:prstGeom prst="roundRect">
              <a:avLst>
                <a:gd name="adj" fmla="val 13333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8ABFF4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0" name="Student scalar distribution">
              <a:extLst>
                <a:ext uri="{FF2B5EF4-FFF2-40B4-BE49-F238E27FC236}">
                  <a16:creationId xmlns:a16="http://schemas.microsoft.com/office/drawing/2014/main" id="{38B55C40-DDF3-41F3-8B95-D52F30FFF387}"/>
                </a:ext>
              </a:extLst>
            </p:cNvPr>
            <p:cNvSpPr>
              <a:spLocks noGrp="1"/>
            </p:cNvSpPr>
            <p:nvPr/>
          </p:nvSpPr>
          <p:spPr>
            <a:xfrm>
              <a:off x="1934589" y="2513540"/>
              <a:ext cx="1125158" cy="103225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3312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Student scalar distribution</a:t>
              </a:r>
            </a:p>
          </p:txBody>
        </p:sp>
        <p:sp>
          <p:nvSpPr>
            <p:cNvPr id="51" name="diagram block">
              <a:extLst>
                <a:ext uri="{FF2B5EF4-FFF2-40B4-BE49-F238E27FC236}">
                  <a16:creationId xmlns:a16="http://schemas.microsoft.com/office/drawing/2014/main" id="{52E62871-AFF6-4AAB-822F-D9B8E181EDB8}"/>
                </a:ext>
              </a:extLst>
            </p:cNvPr>
            <p:cNvSpPr>
              <a:spLocks noGrp="1"/>
            </p:cNvSpPr>
            <p:nvPr/>
          </p:nvSpPr>
          <p:spPr>
            <a:xfrm>
              <a:off x="602980" y="2725153"/>
              <a:ext cx="1042577" cy="438708"/>
            </a:xfrm>
            <a:prstGeom prst="rect">
              <a:avLst/>
            </a:prstGeom>
            <a:solidFill>
              <a:srgbClr val="FFFFFF"/>
            </a:solidFill>
            <a:ln w="4129">
              <a:solidFill>
                <a:srgbClr val="D9DE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52" name="native PowerPoint connector">
              <a:extLst>
                <a:ext uri="{FF2B5EF4-FFF2-40B4-BE49-F238E27FC236}">
                  <a16:creationId xmlns:a16="http://schemas.microsoft.com/office/drawing/2014/main" id="{ADD07C51-BEEE-4FF2-9493-813579704D18}"/>
                </a:ext>
              </a:extLst>
            </p:cNvPr>
            <p:cNvCxnSpPr/>
            <p:nvPr/>
          </p:nvCxnSpPr>
          <p:spPr>
            <a:xfrm>
              <a:off x="602980" y="3017625"/>
              <a:ext cx="1042577" cy="0"/>
            </a:xfrm>
            <a:prstGeom prst="straightConnector1">
              <a:avLst/>
            </a:prstGeom>
            <a:ln w="3097">
              <a:solidFill>
                <a:srgbClr val="E3E8ED"/>
              </a:solidFill>
              <a:prstDash val="solid"/>
            </a:ln>
          </p:spPr>
        </p:cxnSp>
        <p:sp>
          <p:nvSpPr>
            <p:cNvPr id="53" name="0.1">
              <a:extLst>
                <a:ext uri="{FF2B5EF4-FFF2-40B4-BE49-F238E27FC236}">
                  <a16:creationId xmlns:a16="http://schemas.microsoft.com/office/drawing/2014/main" id="{293A8C9E-0EE8-45EE-8215-6E798C30A60F}"/>
                </a:ext>
              </a:extLst>
            </p:cNvPr>
            <p:cNvSpPr>
              <a:spLocks noGrp="1"/>
            </p:cNvSpPr>
            <p:nvPr/>
          </p:nvSpPr>
          <p:spPr>
            <a:xfrm>
              <a:off x="427497" y="2971173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0.1</a:t>
              </a:r>
            </a:p>
          </p:txBody>
        </p:sp>
        <p:cxnSp>
          <p:nvCxnSpPr>
            <p:cNvPr id="54" name="native PowerPoint connector">
              <a:extLst>
                <a:ext uri="{FF2B5EF4-FFF2-40B4-BE49-F238E27FC236}">
                  <a16:creationId xmlns:a16="http://schemas.microsoft.com/office/drawing/2014/main" id="{D4584FC0-7DBC-4F0C-9D10-87BF1239F5C9}"/>
                </a:ext>
              </a:extLst>
            </p:cNvPr>
            <p:cNvCxnSpPr/>
            <p:nvPr/>
          </p:nvCxnSpPr>
          <p:spPr>
            <a:xfrm>
              <a:off x="602980" y="2871389"/>
              <a:ext cx="1042577" cy="0"/>
            </a:xfrm>
            <a:prstGeom prst="straightConnector1">
              <a:avLst/>
            </a:prstGeom>
            <a:ln w="3097">
              <a:solidFill>
                <a:srgbClr val="E3E8ED"/>
              </a:solidFill>
              <a:prstDash val="solid"/>
            </a:ln>
          </p:spPr>
        </p:cxnSp>
        <p:sp>
          <p:nvSpPr>
            <p:cNvPr id="55" name="0.2">
              <a:extLst>
                <a:ext uri="{FF2B5EF4-FFF2-40B4-BE49-F238E27FC236}">
                  <a16:creationId xmlns:a16="http://schemas.microsoft.com/office/drawing/2014/main" id="{1C55B5F0-CEDB-47CD-B44B-DBBB086D47ED}"/>
                </a:ext>
              </a:extLst>
            </p:cNvPr>
            <p:cNvSpPr>
              <a:spLocks noGrp="1"/>
            </p:cNvSpPr>
            <p:nvPr/>
          </p:nvSpPr>
          <p:spPr>
            <a:xfrm>
              <a:off x="427497" y="2824937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0.2</a:t>
              </a:r>
            </a:p>
          </p:txBody>
        </p:sp>
        <p:cxnSp>
          <p:nvCxnSpPr>
            <p:cNvPr id="56" name="native PowerPoint connector">
              <a:extLst>
                <a:ext uri="{FF2B5EF4-FFF2-40B4-BE49-F238E27FC236}">
                  <a16:creationId xmlns:a16="http://schemas.microsoft.com/office/drawing/2014/main" id="{65E33AD5-AD65-427E-814A-89B78E5139BE}"/>
                </a:ext>
              </a:extLst>
            </p:cNvPr>
            <p:cNvCxnSpPr/>
            <p:nvPr/>
          </p:nvCxnSpPr>
          <p:spPr>
            <a:xfrm>
              <a:off x="602980" y="2725153"/>
              <a:ext cx="1042577" cy="0"/>
            </a:xfrm>
            <a:prstGeom prst="straightConnector1">
              <a:avLst/>
            </a:prstGeom>
            <a:ln w="3097">
              <a:solidFill>
                <a:srgbClr val="E3E8ED"/>
              </a:solidFill>
              <a:prstDash val="solid"/>
            </a:ln>
          </p:spPr>
        </p:cxnSp>
        <p:sp>
          <p:nvSpPr>
            <p:cNvPr id="57" name="0.3">
              <a:extLst>
                <a:ext uri="{FF2B5EF4-FFF2-40B4-BE49-F238E27FC236}">
                  <a16:creationId xmlns:a16="http://schemas.microsoft.com/office/drawing/2014/main" id="{D508401C-7133-479F-BA07-3EE7CC47EA25}"/>
                </a:ext>
              </a:extLst>
            </p:cNvPr>
            <p:cNvSpPr>
              <a:spLocks noGrp="1"/>
            </p:cNvSpPr>
            <p:nvPr/>
          </p:nvSpPr>
          <p:spPr>
            <a:xfrm>
              <a:off x="427497" y="2678701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0.3</a:t>
              </a:r>
            </a:p>
          </p:txBody>
        </p:sp>
        <p:cxnSp>
          <p:nvCxnSpPr>
            <p:cNvPr id="58" name="native PowerPoint connector">
              <a:extLst>
                <a:ext uri="{FF2B5EF4-FFF2-40B4-BE49-F238E27FC236}">
                  <a16:creationId xmlns:a16="http://schemas.microsoft.com/office/drawing/2014/main" id="{8F032BF3-1275-43EB-B3EC-742EBF81BF18}"/>
                </a:ext>
              </a:extLst>
            </p:cNvPr>
            <p:cNvCxnSpPr/>
            <p:nvPr/>
          </p:nvCxnSpPr>
          <p:spPr>
            <a:xfrm>
              <a:off x="602980" y="2725153"/>
              <a:ext cx="0" cy="438708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59" name="native PowerPoint connector">
              <a:extLst>
                <a:ext uri="{FF2B5EF4-FFF2-40B4-BE49-F238E27FC236}">
                  <a16:creationId xmlns:a16="http://schemas.microsoft.com/office/drawing/2014/main" id="{A98689B9-90F5-4E89-9A82-C5143F8A6E96}"/>
                </a:ext>
              </a:extLst>
            </p:cNvPr>
            <p:cNvCxnSpPr/>
            <p:nvPr/>
          </p:nvCxnSpPr>
          <p:spPr>
            <a:xfrm>
              <a:off x="602980" y="3163861"/>
              <a:ext cx="1042577" cy="0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sp>
          <p:nvSpPr>
            <p:cNvPr id="60" name="0.0">
              <a:extLst>
                <a:ext uri="{FF2B5EF4-FFF2-40B4-BE49-F238E27FC236}">
                  <a16:creationId xmlns:a16="http://schemas.microsoft.com/office/drawing/2014/main" id="{931EA1FF-634E-4EB0-B960-E6A995F28A05}"/>
                </a:ext>
              </a:extLst>
            </p:cNvPr>
            <p:cNvSpPr>
              <a:spLocks noGrp="1"/>
            </p:cNvSpPr>
            <p:nvPr/>
          </p:nvSpPr>
          <p:spPr>
            <a:xfrm>
              <a:off x="427497" y="3117409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0.0</a:t>
              </a:r>
            </a:p>
          </p:txBody>
        </p:sp>
        <p:sp>
          <p:nvSpPr>
            <p:cNvPr id="61" name="diagram block">
              <a:extLst>
                <a:ext uri="{FF2B5EF4-FFF2-40B4-BE49-F238E27FC236}">
                  <a16:creationId xmlns:a16="http://schemas.microsoft.com/office/drawing/2014/main" id="{D1782DCB-DFCE-4A39-8A05-5887D79567AE}"/>
                </a:ext>
              </a:extLst>
            </p:cNvPr>
            <p:cNvSpPr>
              <a:spLocks noGrp="1"/>
            </p:cNvSpPr>
            <p:nvPr/>
          </p:nvSpPr>
          <p:spPr>
            <a:xfrm>
              <a:off x="610722" y="3161229"/>
              <a:ext cx="49677" cy="2632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62" name="native PowerPoint connector">
              <a:extLst>
                <a:ext uri="{FF2B5EF4-FFF2-40B4-BE49-F238E27FC236}">
                  <a16:creationId xmlns:a16="http://schemas.microsoft.com/office/drawing/2014/main" id="{B7208CCF-CC52-44A6-B379-5C9586502995}"/>
                </a:ext>
              </a:extLst>
            </p:cNvPr>
            <p:cNvCxnSpPr/>
            <p:nvPr/>
          </p:nvCxnSpPr>
          <p:spPr>
            <a:xfrm>
              <a:off x="635561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63" name="diagram block">
              <a:extLst>
                <a:ext uri="{FF2B5EF4-FFF2-40B4-BE49-F238E27FC236}">
                  <a16:creationId xmlns:a16="http://schemas.microsoft.com/office/drawing/2014/main" id="{02415AD1-A584-4814-97EF-462B130CA1DE}"/>
                </a:ext>
              </a:extLst>
            </p:cNvPr>
            <p:cNvSpPr>
              <a:spLocks noGrp="1"/>
            </p:cNvSpPr>
            <p:nvPr/>
          </p:nvSpPr>
          <p:spPr>
            <a:xfrm>
              <a:off x="675883" y="3158158"/>
              <a:ext cx="49677" cy="5703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64" name="native PowerPoint connector">
              <a:extLst>
                <a:ext uri="{FF2B5EF4-FFF2-40B4-BE49-F238E27FC236}">
                  <a16:creationId xmlns:a16="http://schemas.microsoft.com/office/drawing/2014/main" id="{CC523B8F-ED77-49D9-815C-72CF560BB853}"/>
                </a:ext>
              </a:extLst>
            </p:cNvPr>
            <p:cNvCxnSpPr/>
            <p:nvPr/>
          </p:nvCxnSpPr>
          <p:spPr>
            <a:xfrm>
              <a:off x="700722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65" name="diagram block">
              <a:extLst>
                <a:ext uri="{FF2B5EF4-FFF2-40B4-BE49-F238E27FC236}">
                  <a16:creationId xmlns:a16="http://schemas.microsoft.com/office/drawing/2014/main" id="{8BBCB1D0-937D-478B-89B1-6EB95DF097CF}"/>
                </a:ext>
              </a:extLst>
            </p:cNvPr>
            <p:cNvSpPr>
              <a:spLocks noGrp="1"/>
            </p:cNvSpPr>
            <p:nvPr/>
          </p:nvSpPr>
          <p:spPr>
            <a:xfrm>
              <a:off x="741044" y="3151577"/>
              <a:ext cx="49677" cy="12284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66" name="native PowerPoint connector">
              <a:extLst>
                <a:ext uri="{FF2B5EF4-FFF2-40B4-BE49-F238E27FC236}">
                  <a16:creationId xmlns:a16="http://schemas.microsoft.com/office/drawing/2014/main" id="{23C84CC5-3CE1-40A9-B5B3-C3C1140080B7}"/>
                </a:ext>
              </a:extLst>
            </p:cNvPr>
            <p:cNvCxnSpPr/>
            <p:nvPr/>
          </p:nvCxnSpPr>
          <p:spPr>
            <a:xfrm>
              <a:off x="765883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67" name="diagram block">
              <a:extLst>
                <a:ext uri="{FF2B5EF4-FFF2-40B4-BE49-F238E27FC236}">
                  <a16:creationId xmlns:a16="http://schemas.microsoft.com/office/drawing/2014/main" id="{57E67A68-127F-464B-9D80-78AA339B0C21}"/>
                </a:ext>
              </a:extLst>
            </p:cNvPr>
            <p:cNvSpPr>
              <a:spLocks noGrp="1"/>
            </p:cNvSpPr>
            <p:nvPr/>
          </p:nvSpPr>
          <p:spPr>
            <a:xfrm>
              <a:off x="806206" y="3139732"/>
              <a:ext cx="49677" cy="24129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68" name="native PowerPoint connector">
              <a:extLst>
                <a:ext uri="{FF2B5EF4-FFF2-40B4-BE49-F238E27FC236}">
                  <a16:creationId xmlns:a16="http://schemas.microsoft.com/office/drawing/2014/main" id="{9ACD3FED-9E7A-4B3C-869A-CF8376174B90}"/>
                </a:ext>
              </a:extLst>
            </p:cNvPr>
            <p:cNvCxnSpPr/>
            <p:nvPr/>
          </p:nvCxnSpPr>
          <p:spPr>
            <a:xfrm>
              <a:off x="831044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69" name="diagram block">
              <a:extLst>
                <a:ext uri="{FF2B5EF4-FFF2-40B4-BE49-F238E27FC236}">
                  <a16:creationId xmlns:a16="http://schemas.microsoft.com/office/drawing/2014/main" id="{C9F7D3E5-D9B4-401E-9F9C-56DF5AC1B491}"/>
                </a:ext>
              </a:extLst>
            </p:cNvPr>
            <p:cNvSpPr>
              <a:spLocks noGrp="1"/>
            </p:cNvSpPr>
            <p:nvPr/>
          </p:nvSpPr>
          <p:spPr>
            <a:xfrm>
              <a:off x="871367" y="3119990"/>
              <a:ext cx="49677" cy="43871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70" name="native PowerPoint connector">
              <a:extLst>
                <a:ext uri="{FF2B5EF4-FFF2-40B4-BE49-F238E27FC236}">
                  <a16:creationId xmlns:a16="http://schemas.microsoft.com/office/drawing/2014/main" id="{4AD13234-D4A5-48CE-9C49-770F8EF17525}"/>
                </a:ext>
              </a:extLst>
            </p:cNvPr>
            <p:cNvCxnSpPr/>
            <p:nvPr/>
          </p:nvCxnSpPr>
          <p:spPr>
            <a:xfrm>
              <a:off x="896205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71" name="diagram block">
              <a:extLst>
                <a:ext uri="{FF2B5EF4-FFF2-40B4-BE49-F238E27FC236}">
                  <a16:creationId xmlns:a16="http://schemas.microsoft.com/office/drawing/2014/main" id="{7BE6B2BB-355F-46D5-904D-8C617337E37A}"/>
                </a:ext>
              </a:extLst>
            </p:cNvPr>
            <p:cNvSpPr>
              <a:spLocks noGrp="1"/>
            </p:cNvSpPr>
            <p:nvPr/>
          </p:nvSpPr>
          <p:spPr>
            <a:xfrm>
              <a:off x="936528" y="3093668"/>
              <a:ext cx="49677" cy="70193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72" name="native PowerPoint connector">
              <a:extLst>
                <a:ext uri="{FF2B5EF4-FFF2-40B4-BE49-F238E27FC236}">
                  <a16:creationId xmlns:a16="http://schemas.microsoft.com/office/drawing/2014/main" id="{1613A1A3-BDD8-42E1-AC85-1C3615EDF451}"/>
                </a:ext>
              </a:extLst>
            </p:cNvPr>
            <p:cNvCxnSpPr/>
            <p:nvPr/>
          </p:nvCxnSpPr>
          <p:spPr>
            <a:xfrm>
              <a:off x="961366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73" name="diagram block">
              <a:extLst>
                <a:ext uri="{FF2B5EF4-FFF2-40B4-BE49-F238E27FC236}">
                  <a16:creationId xmlns:a16="http://schemas.microsoft.com/office/drawing/2014/main" id="{0D3BFAA6-26E6-4DA9-9EAF-34FEA436CD8F}"/>
                </a:ext>
              </a:extLst>
            </p:cNvPr>
            <p:cNvSpPr>
              <a:spLocks noGrp="1"/>
            </p:cNvSpPr>
            <p:nvPr/>
          </p:nvSpPr>
          <p:spPr>
            <a:xfrm>
              <a:off x="1001689" y="3041023"/>
              <a:ext cx="49677" cy="122838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74" name="native PowerPoint connector">
              <a:extLst>
                <a:ext uri="{FF2B5EF4-FFF2-40B4-BE49-F238E27FC236}">
                  <a16:creationId xmlns:a16="http://schemas.microsoft.com/office/drawing/2014/main" id="{EA6F19F7-CE3F-4C6B-AB23-CFC16A6A05F2}"/>
                </a:ext>
              </a:extLst>
            </p:cNvPr>
            <p:cNvCxnSpPr/>
            <p:nvPr/>
          </p:nvCxnSpPr>
          <p:spPr>
            <a:xfrm>
              <a:off x="1026527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75" name="diagram block">
              <a:extLst>
                <a:ext uri="{FF2B5EF4-FFF2-40B4-BE49-F238E27FC236}">
                  <a16:creationId xmlns:a16="http://schemas.microsoft.com/office/drawing/2014/main" id="{A01C1AA7-EFC3-4805-9DB6-2241DEB168FF}"/>
                </a:ext>
              </a:extLst>
            </p:cNvPr>
            <p:cNvSpPr>
              <a:spLocks noGrp="1"/>
            </p:cNvSpPr>
            <p:nvPr/>
          </p:nvSpPr>
          <p:spPr>
            <a:xfrm>
              <a:off x="1066850" y="2957668"/>
              <a:ext cx="49677" cy="206193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76" name="native PowerPoint connector">
              <a:extLst>
                <a:ext uri="{FF2B5EF4-FFF2-40B4-BE49-F238E27FC236}">
                  <a16:creationId xmlns:a16="http://schemas.microsoft.com/office/drawing/2014/main" id="{A9E64A70-4CB4-4B53-B6EF-B684AEC960F5}"/>
                </a:ext>
              </a:extLst>
            </p:cNvPr>
            <p:cNvCxnSpPr/>
            <p:nvPr/>
          </p:nvCxnSpPr>
          <p:spPr>
            <a:xfrm>
              <a:off x="1091688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77" name="diagram block">
              <a:extLst>
                <a:ext uri="{FF2B5EF4-FFF2-40B4-BE49-F238E27FC236}">
                  <a16:creationId xmlns:a16="http://schemas.microsoft.com/office/drawing/2014/main" id="{1D05F244-92A3-4B3B-A7DB-226049462045}"/>
                </a:ext>
              </a:extLst>
            </p:cNvPr>
            <p:cNvSpPr>
              <a:spLocks noGrp="1"/>
            </p:cNvSpPr>
            <p:nvPr/>
          </p:nvSpPr>
          <p:spPr>
            <a:xfrm>
              <a:off x="1132011" y="2856765"/>
              <a:ext cx="49677" cy="307096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78" name="native PowerPoint connector">
              <a:extLst>
                <a:ext uri="{FF2B5EF4-FFF2-40B4-BE49-F238E27FC236}">
                  <a16:creationId xmlns:a16="http://schemas.microsoft.com/office/drawing/2014/main" id="{81E82338-7632-4987-B95E-FE4415554681}"/>
                </a:ext>
              </a:extLst>
            </p:cNvPr>
            <p:cNvCxnSpPr/>
            <p:nvPr/>
          </p:nvCxnSpPr>
          <p:spPr>
            <a:xfrm>
              <a:off x="1156850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79" name="diagram block">
              <a:extLst>
                <a:ext uri="{FF2B5EF4-FFF2-40B4-BE49-F238E27FC236}">
                  <a16:creationId xmlns:a16="http://schemas.microsoft.com/office/drawing/2014/main" id="{A89FBEBF-9DF1-422B-9B90-1AEB459EBFF0}"/>
                </a:ext>
              </a:extLst>
            </p:cNvPr>
            <p:cNvSpPr>
              <a:spLocks noGrp="1"/>
            </p:cNvSpPr>
            <p:nvPr/>
          </p:nvSpPr>
          <p:spPr>
            <a:xfrm>
              <a:off x="1197172" y="2773411"/>
              <a:ext cx="49677" cy="390450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80" name="native PowerPoint connector">
              <a:extLst>
                <a:ext uri="{FF2B5EF4-FFF2-40B4-BE49-F238E27FC236}">
                  <a16:creationId xmlns:a16="http://schemas.microsoft.com/office/drawing/2014/main" id="{2BC65C08-26C7-4267-8EB8-77C851B45985}"/>
                </a:ext>
              </a:extLst>
            </p:cNvPr>
            <p:cNvCxnSpPr/>
            <p:nvPr/>
          </p:nvCxnSpPr>
          <p:spPr>
            <a:xfrm>
              <a:off x="1222011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81" name="diagram block">
              <a:extLst>
                <a:ext uri="{FF2B5EF4-FFF2-40B4-BE49-F238E27FC236}">
                  <a16:creationId xmlns:a16="http://schemas.microsoft.com/office/drawing/2014/main" id="{BB64617C-4540-4130-A06B-308C5F44115E}"/>
                </a:ext>
              </a:extLst>
            </p:cNvPr>
            <p:cNvSpPr>
              <a:spLocks noGrp="1"/>
            </p:cNvSpPr>
            <p:nvPr/>
          </p:nvSpPr>
          <p:spPr>
            <a:xfrm>
              <a:off x="1262333" y="2826056"/>
              <a:ext cx="49677" cy="337805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82" name="native PowerPoint connector">
              <a:extLst>
                <a:ext uri="{FF2B5EF4-FFF2-40B4-BE49-F238E27FC236}">
                  <a16:creationId xmlns:a16="http://schemas.microsoft.com/office/drawing/2014/main" id="{03359042-DFE6-4A83-AC4B-93A3138AD330}"/>
                </a:ext>
              </a:extLst>
            </p:cNvPr>
            <p:cNvCxnSpPr/>
            <p:nvPr/>
          </p:nvCxnSpPr>
          <p:spPr>
            <a:xfrm>
              <a:off x="1287172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83" name="diagram block">
              <a:extLst>
                <a:ext uri="{FF2B5EF4-FFF2-40B4-BE49-F238E27FC236}">
                  <a16:creationId xmlns:a16="http://schemas.microsoft.com/office/drawing/2014/main" id="{C555442A-3EFA-4890-BE13-D3ADBB00994A}"/>
                </a:ext>
              </a:extLst>
            </p:cNvPr>
            <p:cNvSpPr>
              <a:spLocks noGrp="1"/>
            </p:cNvSpPr>
            <p:nvPr/>
          </p:nvSpPr>
          <p:spPr>
            <a:xfrm>
              <a:off x="1327494" y="2957668"/>
              <a:ext cx="49677" cy="206193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84" name="native PowerPoint connector">
              <a:extLst>
                <a:ext uri="{FF2B5EF4-FFF2-40B4-BE49-F238E27FC236}">
                  <a16:creationId xmlns:a16="http://schemas.microsoft.com/office/drawing/2014/main" id="{0AE2A7F1-A010-47A2-A910-5CFE5C5AD11A}"/>
                </a:ext>
              </a:extLst>
            </p:cNvPr>
            <p:cNvCxnSpPr/>
            <p:nvPr/>
          </p:nvCxnSpPr>
          <p:spPr>
            <a:xfrm>
              <a:off x="1352333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85" name="diagram block">
              <a:extLst>
                <a:ext uri="{FF2B5EF4-FFF2-40B4-BE49-F238E27FC236}">
                  <a16:creationId xmlns:a16="http://schemas.microsoft.com/office/drawing/2014/main" id="{62A279DE-416E-4DC7-9DBD-1D665634D3D3}"/>
                </a:ext>
              </a:extLst>
            </p:cNvPr>
            <p:cNvSpPr>
              <a:spLocks noGrp="1"/>
            </p:cNvSpPr>
            <p:nvPr/>
          </p:nvSpPr>
          <p:spPr>
            <a:xfrm>
              <a:off x="1392655" y="3067345"/>
              <a:ext cx="49677" cy="96516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86" name="native PowerPoint connector">
              <a:extLst>
                <a:ext uri="{FF2B5EF4-FFF2-40B4-BE49-F238E27FC236}">
                  <a16:creationId xmlns:a16="http://schemas.microsoft.com/office/drawing/2014/main" id="{080C5805-1BEB-49E6-ACC3-FA6559870CAE}"/>
                </a:ext>
              </a:extLst>
            </p:cNvPr>
            <p:cNvCxnSpPr/>
            <p:nvPr/>
          </p:nvCxnSpPr>
          <p:spPr>
            <a:xfrm>
              <a:off x="1417494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87" name="diagram block">
              <a:extLst>
                <a:ext uri="{FF2B5EF4-FFF2-40B4-BE49-F238E27FC236}">
                  <a16:creationId xmlns:a16="http://schemas.microsoft.com/office/drawing/2014/main" id="{C950697A-10AC-458C-BD8E-8AE6BC746121}"/>
                </a:ext>
              </a:extLst>
            </p:cNvPr>
            <p:cNvSpPr>
              <a:spLocks noGrp="1"/>
            </p:cNvSpPr>
            <p:nvPr/>
          </p:nvSpPr>
          <p:spPr>
            <a:xfrm>
              <a:off x="1457816" y="3124377"/>
              <a:ext cx="49677" cy="39484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88" name="native PowerPoint connector">
              <a:extLst>
                <a:ext uri="{FF2B5EF4-FFF2-40B4-BE49-F238E27FC236}">
                  <a16:creationId xmlns:a16="http://schemas.microsoft.com/office/drawing/2014/main" id="{4EA0EC9C-FE5A-4A32-B7F8-651199DB3FDF}"/>
                </a:ext>
              </a:extLst>
            </p:cNvPr>
            <p:cNvCxnSpPr/>
            <p:nvPr/>
          </p:nvCxnSpPr>
          <p:spPr>
            <a:xfrm>
              <a:off x="1482655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89" name="diagram block">
              <a:extLst>
                <a:ext uri="{FF2B5EF4-FFF2-40B4-BE49-F238E27FC236}">
                  <a16:creationId xmlns:a16="http://schemas.microsoft.com/office/drawing/2014/main" id="{059DB505-35BC-4D90-BC3E-951726379F74}"/>
                </a:ext>
              </a:extLst>
            </p:cNvPr>
            <p:cNvSpPr>
              <a:spLocks noGrp="1"/>
            </p:cNvSpPr>
            <p:nvPr/>
          </p:nvSpPr>
          <p:spPr>
            <a:xfrm>
              <a:off x="1522977" y="3148067"/>
              <a:ext cx="49677" cy="15793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90" name="native PowerPoint connector">
              <a:extLst>
                <a:ext uri="{FF2B5EF4-FFF2-40B4-BE49-F238E27FC236}">
                  <a16:creationId xmlns:a16="http://schemas.microsoft.com/office/drawing/2014/main" id="{E8388D6D-01EB-405D-9A1E-3F56FD416F24}"/>
                </a:ext>
              </a:extLst>
            </p:cNvPr>
            <p:cNvCxnSpPr/>
            <p:nvPr/>
          </p:nvCxnSpPr>
          <p:spPr>
            <a:xfrm>
              <a:off x="1547816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91" name="diagram block">
              <a:extLst>
                <a:ext uri="{FF2B5EF4-FFF2-40B4-BE49-F238E27FC236}">
                  <a16:creationId xmlns:a16="http://schemas.microsoft.com/office/drawing/2014/main" id="{6416230D-0D0B-4C64-9A69-96E47EDA2A66}"/>
                </a:ext>
              </a:extLst>
            </p:cNvPr>
            <p:cNvSpPr>
              <a:spLocks noGrp="1"/>
            </p:cNvSpPr>
            <p:nvPr/>
          </p:nvSpPr>
          <p:spPr>
            <a:xfrm>
              <a:off x="1588139" y="3158158"/>
              <a:ext cx="49677" cy="5703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92" name="native PowerPoint connector">
              <a:extLst>
                <a:ext uri="{FF2B5EF4-FFF2-40B4-BE49-F238E27FC236}">
                  <a16:creationId xmlns:a16="http://schemas.microsoft.com/office/drawing/2014/main" id="{CAF3751E-20BB-4C6C-8DFA-D548ACC2B5B6}"/>
                </a:ext>
              </a:extLst>
            </p:cNvPr>
            <p:cNvCxnSpPr/>
            <p:nvPr/>
          </p:nvCxnSpPr>
          <p:spPr>
            <a:xfrm>
              <a:off x="1612977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93" name="1">
              <a:extLst>
                <a:ext uri="{FF2B5EF4-FFF2-40B4-BE49-F238E27FC236}">
                  <a16:creationId xmlns:a16="http://schemas.microsoft.com/office/drawing/2014/main" id="{F59CDB0D-B78A-4B6F-AA2F-45E78489B5CF}"/>
                </a:ext>
              </a:extLst>
            </p:cNvPr>
            <p:cNvSpPr>
              <a:spLocks noGrp="1"/>
            </p:cNvSpPr>
            <p:nvPr/>
          </p:nvSpPr>
          <p:spPr>
            <a:xfrm>
              <a:off x="577174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94" name="4">
              <a:extLst>
                <a:ext uri="{FF2B5EF4-FFF2-40B4-BE49-F238E27FC236}">
                  <a16:creationId xmlns:a16="http://schemas.microsoft.com/office/drawing/2014/main" id="{CEC47E62-58BF-4A4A-8BA2-19EEB7D9E19D}"/>
                </a:ext>
              </a:extLst>
            </p:cNvPr>
            <p:cNvSpPr>
              <a:spLocks noGrp="1"/>
            </p:cNvSpPr>
            <p:nvPr/>
          </p:nvSpPr>
          <p:spPr>
            <a:xfrm>
              <a:off x="772657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  <p:sp>
          <p:nvSpPr>
            <p:cNvPr id="95" name="8">
              <a:extLst>
                <a:ext uri="{FF2B5EF4-FFF2-40B4-BE49-F238E27FC236}">
                  <a16:creationId xmlns:a16="http://schemas.microsoft.com/office/drawing/2014/main" id="{35125D92-7057-43F6-9196-803A9EBE421C}"/>
                </a:ext>
              </a:extLst>
            </p:cNvPr>
            <p:cNvSpPr>
              <a:spLocks noGrp="1"/>
            </p:cNvSpPr>
            <p:nvPr/>
          </p:nvSpPr>
          <p:spPr>
            <a:xfrm>
              <a:off x="1033302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</a:t>
              </a:r>
            </a:p>
          </p:txBody>
        </p:sp>
        <p:sp>
          <p:nvSpPr>
            <p:cNvPr id="96" name="12">
              <a:extLst>
                <a:ext uri="{FF2B5EF4-FFF2-40B4-BE49-F238E27FC236}">
                  <a16:creationId xmlns:a16="http://schemas.microsoft.com/office/drawing/2014/main" id="{3EDDB9EF-D0AE-44ED-96DC-3E0105E413C2}"/>
                </a:ext>
              </a:extLst>
            </p:cNvPr>
            <p:cNvSpPr>
              <a:spLocks noGrp="1"/>
            </p:cNvSpPr>
            <p:nvPr/>
          </p:nvSpPr>
          <p:spPr>
            <a:xfrm>
              <a:off x="1293946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12</a:t>
              </a:r>
            </a:p>
          </p:txBody>
        </p:sp>
        <p:sp>
          <p:nvSpPr>
            <p:cNvPr id="97" name="16">
              <a:extLst>
                <a:ext uri="{FF2B5EF4-FFF2-40B4-BE49-F238E27FC236}">
                  <a16:creationId xmlns:a16="http://schemas.microsoft.com/office/drawing/2014/main" id="{3FDAFD5B-A0C5-4D42-978E-9AF1AD61A68E}"/>
                </a:ext>
              </a:extLst>
            </p:cNvPr>
            <p:cNvSpPr>
              <a:spLocks noGrp="1"/>
            </p:cNvSpPr>
            <p:nvPr/>
          </p:nvSpPr>
          <p:spPr>
            <a:xfrm>
              <a:off x="1554590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16</a:t>
              </a:r>
            </a:p>
          </p:txBody>
        </p:sp>
        <p:sp>
          <p:nvSpPr>
            <p:cNvPr id="98" name="Bin index">
              <a:extLst>
                <a:ext uri="{FF2B5EF4-FFF2-40B4-BE49-F238E27FC236}">
                  <a16:creationId xmlns:a16="http://schemas.microsoft.com/office/drawing/2014/main" id="{D565563D-DB10-481A-8E6D-8642A0806B54}"/>
                </a:ext>
              </a:extLst>
            </p:cNvPr>
            <p:cNvSpPr>
              <a:spLocks noGrp="1"/>
            </p:cNvSpPr>
            <p:nvPr/>
          </p:nvSpPr>
          <p:spPr>
            <a:xfrm>
              <a:off x="835238" y="3323860"/>
              <a:ext cx="603869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Bin index</a:t>
              </a:r>
            </a:p>
          </p:txBody>
        </p:sp>
        <p:sp>
          <p:nvSpPr>
            <p:cNvPr id="99" name="Probability">
              <a:extLst>
                <a:ext uri="{FF2B5EF4-FFF2-40B4-BE49-F238E27FC236}">
                  <a16:creationId xmlns:a16="http://schemas.microsoft.com/office/drawing/2014/main" id="{B29A8C57-44C5-421D-BA9C-73A06ED67FEB}"/>
                </a:ext>
              </a:extLst>
            </p:cNvPr>
            <p:cNvSpPr>
              <a:spLocks noGrp="1"/>
            </p:cNvSpPr>
            <p:nvPr/>
          </p:nvSpPr>
          <p:spPr>
            <a:xfrm rot="16200000">
              <a:off x="102337" y="2895475"/>
              <a:ext cx="598708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Probability</a:t>
              </a:r>
            </a:p>
          </p:txBody>
        </p:sp>
        <p:sp>
          <p:nvSpPr>
            <p:cNvPr id="100" name="diagram block">
              <a:extLst>
                <a:ext uri="{FF2B5EF4-FFF2-40B4-BE49-F238E27FC236}">
                  <a16:creationId xmlns:a16="http://schemas.microsoft.com/office/drawing/2014/main" id="{7E05041E-3433-4AB0-8637-8E005845351F}"/>
                </a:ext>
              </a:extLst>
            </p:cNvPr>
            <p:cNvSpPr>
              <a:spLocks noGrp="1"/>
            </p:cNvSpPr>
            <p:nvPr/>
          </p:nvSpPr>
          <p:spPr>
            <a:xfrm>
              <a:off x="2001686" y="2725153"/>
              <a:ext cx="1037416" cy="438708"/>
            </a:xfrm>
            <a:prstGeom prst="rect">
              <a:avLst/>
            </a:prstGeom>
            <a:solidFill>
              <a:srgbClr val="FFFFFF"/>
            </a:solidFill>
            <a:ln w="4129">
              <a:solidFill>
                <a:srgbClr val="D9DE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101" name="native PowerPoint connector">
              <a:extLst>
                <a:ext uri="{FF2B5EF4-FFF2-40B4-BE49-F238E27FC236}">
                  <a16:creationId xmlns:a16="http://schemas.microsoft.com/office/drawing/2014/main" id="{D0E9F986-A0DF-45BE-8F16-2DF36CF4171E}"/>
                </a:ext>
              </a:extLst>
            </p:cNvPr>
            <p:cNvCxnSpPr/>
            <p:nvPr/>
          </p:nvCxnSpPr>
          <p:spPr>
            <a:xfrm>
              <a:off x="2001686" y="3017625"/>
              <a:ext cx="1037416" cy="0"/>
            </a:xfrm>
            <a:prstGeom prst="straightConnector1">
              <a:avLst/>
            </a:prstGeom>
            <a:ln w="3097">
              <a:solidFill>
                <a:srgbClr val="E3E8ED"/>
              </a:solidFill>
              <a:prstDash val="solid"/>
            </a:ln>
          </p:spPr>
        </p:cxnSp>
        <p:sp>
          <p:nvSpPr>
            <p:cNvPr id="102" name="0.1">
              <a:extLst>
                <a:ext uri="{FF2B5EF4-FFF2-40B4-BE49-F238E27FC236}">
                  <a16:creationId xmlns:a16="http://schemas.microsoft.com/office/drawing/2014/main" id="{D11B13B1-AC92-41E6-8790-5F2EE7288B53}"/>
                </a:ext>
              </a:extLst>
            </p:cNvPr>
            <p:cNvSpPr>
              <a:spLocks noGrp="1"/>
            </p:cNvSpPr>
            <p:nvPr/>
          </p:nvSpPr>
          <p:spPr>
            <a:xfrm>
              <a:off x="1826202" y="2971173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0.1</a:t>
              </a:r>
            </a:p>
          </p:txBody>
        </p:sp>
        <p:cxnSp>
          <p:nvCxnSpPr>
            <p:cNvPr id="103" name="native PowerPoint connector">
              <a:extLst>
                <a:ext uri="{FF2B5EF4-FFF2-40B4-BE49-F238E27FC236}">
                  <a16:creationId xmlns:a16="http://schemas.microsoft.com/office/drawing/2014/main" id="{00F99049-9B2F-4C45-AB30-8F5BA59181E1}"/>
                </a:ext>
              </a:extLst>
            </p:cNvPr>
            <p:cNvCxnSpPr/>
            <p:nvPr/>
          </p:nvCxnSpPr>
          <p:spPr>
            <a:xfrm>
              <a:off x="2001686" y="2871389"/>
              <a:ext cx="1037416" cy="0"/>
            </a:xfrm>
            <a:prstGeom prst="straightConnector1">
              <a:avLst/>
            </a:prstGeom>
            <a:ln w="3097">
              <a:solidFill>
                <a:srgbClr val="E3E8ED"/>
              </a:solidFill>
              <a:prstDash val="solid"/>
            </a:ln>
          </p:spPr>
        </p:cxnSp>
        <p:sp>
          <p:nvSpPr>
            <p:cNvPr id="104" name="0.2">
              <a:extLst>
                <a:ext uri="{FF2B5EF4-FFF2-40B4-BE49-F238E27FC236}">
                  <a16:creationId xmlns:a16="http://schemas.microsoft.com/office/drawing/2014/main" id="{0018FEAC-F170-4245-A951-9DC6F8E260DC}"/>
                </a:ext>
              </a:extLst>
            </p:cNvPr>
            <p:cNvSpPr>
              <a:spLocks noGrp="1"/>
            </p:cNvSpPr>
            <p:nvPr/>
          </p:nvSpPr>
          <p:spPr>
            <a:xfrm>
              <a:off x="1826202" y="2824937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0.2</a:t>
              </a:r>
            </a:p>
          </p:txBody>
        </p:sp>
        <p:cxnSp>
          <p:nvCxnSpPr>
            <p:cNvPr id="105" name="native PowerPoint connector">
              <a:extLst>
                <a:ext uri="{FF2B5EF4-FFF2-40B4-BE49-F238E27FC236}">
                  <a16:creationId xmlns:a16="http://schemas.microsoft.com/office/drawing/2014/main" id="{CC8AF886-2362-453D-ABE3-39A6BC162125}"/>
                </a:ext>
              </a:extLst>
            </p:cNvPr>
            <p:cNvCxnSpPr/>
            <p:nvPr/>
          </p:nvCxnSpPr>
          <p:spPr>
            <a:xfrm>
              <a:off x="2001686" y="2725153"/>
              <a:ext cx="1037416" cy="0"/>
            </a:xfrm>
            <a:prstGeom prst="straightConnector1">
              <a:avLst/>
            </a:prstGeom>
            <a:ln w="3097">
              <a:solidFill>
                <a:srgbClr val="E3E8ED"/>
              </a:solidFill>
              <a:prstDash val="solid"/>
            </a:ln>
          </p:spPr>
        </p:cxnSp>
        <p:sp>
          <p:nvSpPr>
            <p:cNvPr id="106" name="0.3">
              <a:extLst>
                <a:ext uri="{FF2B5EF4-FFF2-40B4-BE49-F238E27FC236}">
                  <a16:creationId xmlns:a16="http://schemas.microsoft.com/office/drawing/2014/main" id="{4E6773FB-5AA8-4F3F-AC9E-CDD6C94F7C7E}"/>
                </a:ext>
              </a:extLst>
            </p:cNvPr>
            <p:cNvSpPr>
              <a:spLocks noGrp="1"/>
            </p:cNvSpPr>
            <p:nvPr/>
          </p:nvSpPr>
          <p:spPr>
            <a:xfrm>
              <a:off x="1826202" y="2678701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0.3</a:t>
              </a:r>
            </a:p>
          </p:txBody>
        </p:sp>
        <p:cxnSp>
          <p:nvCxnSpPr>
            <p:cNvPr id="107" name="native PowerPoint connector">
              <a:extLst>
                <a:ext uri="{FF2B5EF4-FFF2-40B4-BE49-F238E27FC236}">
                  <a16:creationId xmlns:a16="http://schemas.microsoft.com/office/drawing/2014/main" id="{234E6DDB-2341-4AC1-912D-653DA5C83B98}"/>
                </a:ext>
              </a:extLst>
            </p:cNvPr>
            <p:cNvCxnSpPr/>
            <p:nvPr/>
          </p:nvCxnSpPr>
          <p:spPr>
            <a:xfrm>
              <a:off x="2001686" y="2725153"/>
              <a:ext cx="0" cy="438708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108" name="native PowerPoint connector">
              <a:extLst>
                <a:ext uri="{FF2B5EF4-FFF2-40B4-BE49-F238E27FC236}">
                  <a16:creationId xmlns:a16="http://schemas.microsoft.com/office/drawing/2014/main" id="{0FCF8F40-A44D-40C3-A35A-1C3040D3B986}"/>
                </a:ext>
              </a:extLst>
            </p:cNvPr>
            <p:cNvCxnSpPr/>
            <p:nvPr/>
          </p:nvCxnSpPr>
          <p:spPr>
            <a:xfrm>
              <a:off x="2001686" y="3163861"/>
              <a:ext cx="1037416" cy="0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sp>
          <p:nvSpPr>
            <p:cNvPr id="109" name="0.0">
              <a:extLst>
                <a:ext uri="{FF2B5EF4-FFF2-40B4-BE49-F238E27FC236}">
                  <a16:creationId xmlns:a16="http://schemas.microsoft.com/office/drawing/2014/main" id="{6E03F014-C94A-4E38-AB1D-628EE6508548}"/>
                </a:ext>
              </a:extLst>
            </p:cNvPr>
            <p:cNvSpPr>
              <a:spLocks noGrp="1"/>
            </p:cNvSpPr>
            <p:nvPr/>
          </p:nvSpPr>
          <p:spPr>
            <a:xfrm>
              <a:off x="1826202" y="3117409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0.0</a:t>
              </a:r>
            </a:p>
          </p:txBody>
        </p:sp>
        <p:sp>
          <p:nvSpPr>
            <p:cNvPr id="110" name="diagram block">
              <a:extLst>
                <a:ext uri="{FF2B5EF4-FFF2-40B4-BE49-F238E27FC236}">
                  <a16:creationId xmlns:a16="http://schemas.microsoft.com/office/drawing/2014/main" id="{0F6ECA74-B0EA-4715-A49C-DE0BBDBD9197}"/>
                </a:ext>
              </a:extLst>
            </p:cNvPr>
            <p:cNvSpPr>
              <a:spLocks noGrp="1"/>
            </p:cNvSpPr>
            <p:nvPr/>
          </p:nvSpPr>
          <p:spPr>
            <a:xfrm>
              <a:off x="2009427" y="3160790"/>
              <a:ext cx="49355" cy="3071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111" name="native PowerPoint connector">
              <a:extLst>
                <a:ext uri="{FF2B5EF4-FFF2-40B4-BE49-F238E27FC236}">
                  <a16:creationId xmlns:a16="http://schemas.microsoft.com/office/drawing/2014/main" id="{5F6EE8F2-8585-4828-A327-CF60C610B06B}"/>
                </a:ext>
              </a:extLst>
            </p:cNvPr>
            <p:cNvCxnSpPr/>
            <p:nvPr/>
          </p:nvCxnSpPr>
          <p:spPr>
            <a:xfrm>
              <a:off x="2034105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12" name="diagram block">
              <a:extLst>
                <a:ext uri="{FF2B5EF4-FFF2-40B4-BE49-F238E27FC236}">
                  <a16:creationId xmlns:a16="http://schemas.microsoft.com/office/drawing/2014/main" id="{5C4F21F4-2DC2-42A3-A65A-827BA1F2981F}"/>
                </a:ext>
              </a:extLst>
            </p:cNvPr>
            <p:cNvSpPr>
              <a:spLocks noGrp="1"/>
            </p:cNvSpPr>
            <p:nvPr/>
          </p:nvSpPr>
          <p:spPr>
            <a:xfrm>
              <a:off x="2074266" y="3155964"/>
              <a:ext cx="49355" cy="7897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113" name="native PowerPoint connector">
              <a:extLst>
                <a:ext uri="{FF2B5EF4-FFF2-40B4-BE49-F238E27FC236}">
                  <a16:creationId xmlns:a16="http://schemas.microsoft.com/office/drawing/2014/main" id="{DA46FB90-DEC9-4211-801D-21280D929712}"/>
                </a:ext>
              </a:extLst>
            </p:cNvPr>
            <p:cNvCxnSpPr/>
            <p:nvPr/>
          </p:nvCxnSpPr>
          <p:spPr>
            <a:xfrm>
              <a:off x="2098943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14" name="diagram block">
              <a:extLst>
                <a:ext uri="{FF2B5EF4-FFF2-40B4-BE49-F238E27FC236}">
                  <a16:creationId xmlns:a16="http://schemas.microsoft.com/office/drawing/2014/main" id="{9358551B-60F8-497A-9FE9-45BA22DB79C6}"/>
                </a:ext>
              </a:extLst>
            </p:cNvPr>
            <p:cNvSpPr>
              <a:spLocks noGrp="1"/>
            </p:cNvSpPr>
            <p:nvPr/>
          </p:nvSpPr>
          <p:spPr>
            <a:xfrm>
              <a:off x="2139105" y="3145435"/>
              <a:ext cx="49355" cy="18426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115" name="native PowerPoint connector">
              <a:extLst>
                <a:ext uri="{FF2B5EF4-FFF2-40B4-BE49-F238E27FC236}">
                  <a16:creationId xmlns:a16="http://schemas.microsoft.com/office/drawing/2014/main" id="{94EAE91B-71CB-4747-BDB4-8860A3E91429}"/>
                </a:ext>
              </a:extLst>
            </p:cNvPr>
            <p:cNvCxnSpPr/>
            <p:nvPr/>
          </p:nvCxnSpPr>
          <p:spPr>
            <a:xfrm>
              <a:off x="2163782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16" name="diagram block">
              <a:extLst>
                <a:ext uri="{FF2B5EF4-FFF2-40B4-BE49-F238E27FC236}">
                  <a16:creationId xmlns:a16="http://schemas.microsoft.com/office/drawing/2014/main" id="{D7698F18-FDBC-4B9D-8898-76DA495CEDD7}"/>
                </a:ext>
              </a:extLst>
            </p:cNvPr>
            <p:cNvSpPr>
              <a:spLocks noGrp="1"/>
            </p:cNvSpPr>
            <p:nvPr/>
          </p:nvSpPr>
          <p:spPr>
            <a:xfrm>
              <a:off x="2203943" y="3124377"/>
              <a:ext cx="49355" cy="39484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117" name="native PowerPoint connector">
              <a:extLst>
                <a:ext uri="{FF2B5EF4-FFF2-40B4-BE49-F238E27FC236}">
                  <a16:creationId xmlns:a16="http://schemas.microsoft.com/office/drawing/2014/main" id="{A5A99672-14DB-4080-AAD6-29E1727D73B8}"/>
                </a:ext>
              </a:extLst>
            </p:cNvPr>
            <p:cNvCxnSpPr/>
            <p:nvPr/>
          </p:nvCxnSpPr>
          <p:spPr>
            <a:xfrm>
              <a:off x="2228620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18" name="diagram block">
              <a:extLst>
                <a:ext uri="{FF2B5EF4-FFF2-40B4-BE49-F238E27FC236}">
                  <a16:creationId xmlns:a16="http://schemas.microsoft.com/office/drawing/2014/main" id="{64A6A7AF-FF0D-490C-9DE7-C2FF6ABDA32B}"/>
                </a:ext>
              </a:extLst>
            </p:cNvPr>
            <p:cNvSpPr>
              <a:spLocks noGrp="1"/>
            </p:cNvSpPr>
            <p:nvPr/>
          </p:nvSpPr>
          <p:spPr>
            <a:xfrm>
              <a:off x="2268782" y="3084893"/>
              <a:ext cx="49355" cy="78967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119" name="native PowerPoint connector">
              <a:extLst>
                <a:ext uri="{FF2B5EF4-FFF2-40B4-BE49-F238E27FC236}">
                  <a16:creationId xmlns:a16="http://schemas.microsoft.com/office/drawing/2014/main" id="{35C4E0C3-9954-41F8-B021-4AD59881B69B}"/>
                </a:ext>
              </a:extLst>
            </p:cNvPr>
            <p:cNvCxnSpPr/>
            <p:nvPr/>
          </p:nvCxnSpPr>
          <p:spPr>
            <a:xfrm>
              <a:off x="2293459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20" name="diagram block">
              <a:extLst>
                <a:ext uri="{FF2B5EF4-FFF2-40B4-BE49-F238E27FC236}">
                  <a16:creationId xmlns:a16="http://schemas.microsoft.com/office/drawing/2014/main" id="{4B356993-1051-4948-A1C5-348287F35B3F}"/>
                </a:ext>
              </a:extLst>
            </p:cNvPr>
            <p:cNvSpPr>
              <a:spLocks noGrp="1"/>
            </p:cNvSpPr>
            <p:nvPr/>
          </p:nvSpPr>
          <p:spPr>
            <a:xfrm>
              <a:off x="2333620" y="3010313"/>
              <a:ext cx="49355" cy="153548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121" name="native PowerPoint connector">
              <a:extLst>
                <a:ext uri="{FF2B5EF4-FFF2-40B4-BE49-F238E27FC236}">
                  <a16:creationId xmlns:a16="http://schemas.microsoft.com/office/drawing/2014/main" id="{4FB4BEE1-DE2C-4664-BCDF-0FF9EB09D28E}"/>
                </a:ext>
              </a:extLst>
            </p:cNvPr>
            <p:cNvCxnSpPr/>
            <p:nvPr/>
          </p:nvCxnSpPr>
          <p:spPr>
            <a:xfrm>
              <a:off x="2358297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22" name="diagram block">
              <a:extLst>
                <a:ext uri="{FF2B5EF4-FFF2-40B4-BE49-F238E27FC236}">
                  <a16:creationId xmlns:a16="http://schemas.microsoft.com/office/drawing/2014/main" id="{481FAA51-6F84-4C90-997E-10FF2539C019}"/>
                </a:ext>
              </a:extLst>
            </p:cNvPr>
            <p:cNvSpPr>
              <a:spLocks noGrp="1"/>
            </p:cNvSpPr>
            <p:nvPr/>
          </p:nvSpPr>
          <p:spPr>
            <a:xfrm>
              <a:off x="2398459" y="2900636"/>
              <a:ext cx="49355" cy="263225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123" name="native PowerPoint connector">
              <a:extLst>
                <a:ext uri="{FF2B5EF4-FFF2-40B4-BE49-F238E27FC236}">
                  <a16:creationId xmlns:a16="http://schemas.microsoft.com/office/drawing/2014/main" id="{C45A5D43-2B65-48BA-862E-6C1844A3F6EC}"/>
                </a:ext>
              </a:extLst>
            </p:cNvPr>
            <p:cNvCxnSpPr/>
            <p:nvPr/>
          </p:nvCxnSpPr>
          <p:spPr>
            <a:xfrm>
              <a:off x="2423136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24" name="diagram block">
              <a:extLst>
                <a:ext uri="{FF2B5EF4-FFF2-40B4-BE49-F238E27FC236}">
                  <a16:creationId xmlns:a16="http://schemas.microsoft.com/office/drawing/2014/main" id="{90E1023D-DF4E-4B92-B560-F7D0C68E051E}"/>
                </a:ext>
              </a:extLst>
            </p:cNvPr>
            <p:cNvSpPr>
              <a:spLocks noGrp="1"/>
            </p:cNvSpPr>
            <p:nvPr/>
          </p:nvSpPr>
          <p:spPr>
            <a:xfrm>
              <a:off x="2463297" y="2804120"/>
              <a:ext cx="49355" cy="359741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125" name="native PowerPoint connector">
              <a:extLst>
                <a:ext uri="{FF2B5EF4-FFF2-40B4-BE49-F238E27FC236}">
                  <a16:creationId xmlns:a16="http://schemas.microsoft.com/office/drawing/2014/main" id="{A137E755-BFC7-4594-9E1B-A271DF1DDC8F}"/>
                </a:ext>
              </a:extLst>
            </p:cNvPr>
            <p:cNvCxnSpPr/>
            <p:nvPr/>
          </p:nvCxnSpPr>
          <p:spPr>
            <a:xfrm>
              <a:off x="2487974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26" name="diagram block">
              <a:extLst>
                <a:ext uri="{FF2B5EF4-FFF2-40B4-BE49-F238E27FC236}">
                  <a16:creationId xmlns:a16="http://schemas.microsoft.com/office/drawing/2014/main" id="{85BC5E09-A7AD-4824-93CC-B971BA6A712A}"/>
                </a:ext>
              </a:extLst>
            </p:cNvPr>
            <p:cNvSpPr>
              <a:spLocks noGrp="1"/>
            </p:cNvSpPr>
            <p:nvPr/>
          </p:nvSpPr>
          <p:spPr>
            <a:xfrm>
              <a:off x="2528136" y="2777798"/>
              <a:ext cx="49355" cy="386063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127" name="native PowerPoint connector">
              <a:extLst>
                <a:ext uri="{FF2B5EF4-FFF2-40B4-BE49-F238E27FC236}">
                  <a16:creationId xmlns:a16="http://schemas.microsoft.com/office/drawing/2014/main" id="{EDC89302-D016-4BFC-AD7E-8044A483A216}"/>
                </a:ext>
              </a:extLst>
            </p:cNvPr>
            <p:cNvCxnSpPr/>
            <p:nvPr/>
          </p:nvCxnSpPr>
          <p:spPr>
            <a:xfrm>
              <a:off x="2552813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28" name="diagram block">
              <a:extLst>
                <a:ext uri="{FF2B5EF4-FFF2-40B4-BE49-F238E27FC236}">
                  <a16:creationId xmlns:a16="http://schemas.microsoft.com/office/drawing/2014/main" id="{8E0C7553-04C1-4EC8-8740-73A5BC37DF62}"/>
                </a:ext>
              </a:extLst>
            </p:cNvPr>
            <p:cNvSpPr>
              <a:spLocks noGrp="1"/>
            </p:cNvSpPr>
            <p:nvPr/>
          </p:nvSpPr>
          <p:spPr>
            <a:xfrm>
              <a:off x="2592974" y="2878701"/>
              <a:ext cx="49355" cy="285160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129" name="native PowerPoint connector">
              <a:extLst>
                <a:ext uri="{FF2B5EF4-FFF2-40B4-BE49-F238E27FC236}">
                  <a16:creationId xmlns:a16="http://schemas.microsoft.com/office/drawing/2014/main" id="{C509827E-84AE-4563-A922-A4EB36BE8356}"/>
                </a:ext>
              </a:extLst>
            </p:cNvPr>
            <p:cNvCxnSpPr/>
            <p:nvPr/>
          </p:nvCxnSpPr>
          <p:spPr>
            <a:xfrm>
              <a:off x="2617651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30" name="diagram block">
              <a:extLst>
                <a:ext uri="{FF2B5EF4-FFF2-40B4-BE49-F238E27FC236}">
                  <a16:creationId xmlns:a16="http://schemas.microsoft.com/office/drawing/2014/main" id="{6E76134F-B449-4BE7-8019-DA64347BD370}"/>
                </a:ext>
              </a:extLst>
            </p:cNvPr>
            <p:cNvSpPr>
              <a:spLocks noGrp="1"/>
            </p:cNvSpPr>
            <p:nvPr/>
          </p:nvSpPr>
          <p:spPr>
            <a:xfrm>
              <a:off x="2657813" y="3001539"/>
              <a:ext cx="49355" cy="162322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131" name="native PowerPoint connector">
              <a:extLst>
                <a:ext uri="{FF2B5EF4-FFF2-40B4-BE49-F238E27FC236}">
                  <a16:creationId xmlns:a16="http://schemas.microsoft.com/office/drawing/2014/main" id="{3B08BEC6-25ED-4205-82F6-26E2A1632A0F}"/>
                </a:ext>
              </a:extLst>
            </p:cNvPr>
            <p:cNvCxnSpPr/>
            <p:nvPr/>
          </p:nvCxnSpPr>
          <p:spPr>
            <a:xfrm>
              <a:off x="2682490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32" name="diagram block">
              <a:extLst>
                <a:ext uri="{FF2B5EF4-FFF2-40B4-BE49-F238E27FC236}">
                  <a16:creationId xmlns:a16="http://schemas.microsoft.com/office/drawing/2014/main" id="{6B92C906-D457-43AB-942C-4B58FD573D4B}"/>
                </a:ext>
              </a:extLst>
            </p:cNvPr>
            <p:cNvSpPr>
              <a:spLocks noGrp="1"/>
            </p:cNvSpPr>
            <p:nvPr/>
          </p:nvSpPr>
          <p:spPr>
            <a:xfrm>
              <a:off x="2722651" y="3089281"/>
              <a:ext cx="49355" cy="74580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133" name="native PowerPoint connector">
              <a:extLst>
                <a:ext uri="{FF2B5EF4-FFF2-40B4-BE49-F238E27FC236}">
                  <a16:creationId xmlns:a16="http://schemas.microsoft.com/office/drawing/2014/main" id="{55A95700-C744-4884-8E38-2B6B1FA10857}"/>
                </a:ext>
              </a:extLst>
            </p:cNvPr>
            <p:cNvCxnSpPr/>
            <p:nvPr/>
          </p:nvCxnSpPr>
          <p:spPr>
            <a:xfrm>
              <a:off x="2747328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34" name="diagram block">
              <a:extLst>
                <a:ext uri="{FF2B5EF4-FFF2-40B4-BE49-F238E27FC236}">
                  <a16:creationId xmlns:a16="http://schemas.microsoft.com/office/drawing/2014/main" id="{3E2F3BC2-642A-4EDB-B267-7D04018566E2}"/>
                </a:ext>
              </a:extLst>
            </p:cNvPr>
            <p:cNvSpPr>
              <a:spLocks noGrp="1"/>
            </p:cNvSpPr>
            <p:nvPr/>
          </p:nvSpPr>
          <p:spPr>
            <a:xfrm>
              <a:off x="2787490" y="3128764"/>
              <a:ext cx="49355" cy="35097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135" name="native PowerPoint connector">
              <a:extLst>
                <a:ext uri="{FF2B5EF4-FFF2-40B4-BE49-F238E27FC236}">
                  <a16:creationId xmlns:a16="http://schemas.microsoft.com/office/drawing/2014/main" id="{6F7182E7-AA0D-4845-81D5-1CE0B5F64F07}"/>
                </a:ext>
              </a:extLst>
            </p:cNvPr>
            <p:cNvCxnSpPr/>
            <p:nvPr/>
          </p:nvCxnSpPr>
          <p:spPr>
            <a:xfrm>
              <a:off x="2812167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36" name="diagram block">
              <a:extLst>
                <a:ext uri="{FF2B5EF4-FFF2-40B4-BE49-F238E27FC236}">
                  <a16:creationId xmlns:a16="http://schemas.microsoft.com/office/drawing/2014/main" id="{DA0B832D-CF61-484B-A41E-C525B9049EAC}"/>
                </a:ext>
              </a:extLst>
            </p:cNvPr>
            <p:cNvSpPr>
              <a:spLocks noGrp="1"/>
            </p:cNvSpPr>
            <p:nvPr/>
          </p:nvSpPr>
          <p:spPr>
            <a:xfrm>
              <a:off x="2852328" y="3149384"/>
              <a:ext cx="49355" cy="14477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137" name="native PowerPoint connector">
              <a:extLst>
                <a:ext uri="{FF2B5EF4-FFF2-40B4-BE49-F238E27FC236}">
                  <a16:creationId xmlns:a16="http://schemas.microsoft.com/office/drawing/2014/main" id="{3384E811-5B23-4E7D-821C-5F3DE9BB0885}"/>
                </a:ext>
              </a:extLst>
            </p:cNvPr>
            <p:cNvCxnSpPr/>
            <p:nvPr/>
          </p:nvCxnSpPr>
          <p:spPr>
            <a:xfrm>
              <a:off x="2877005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38" name="diagram block">
              <a:extLst>
                <a:ext uri="{FF2B5EF4-FFF2-40B4-BE49-F238E27FC236}">
                  <a16:creationId xmlns:a16="http://schemas.microsoft.com/office/drawing/2014/main" id="{AA51F79A-3540-4512-9B4F-D9E96B66992D}"/>
                </a:ext>
              </a:extLst>
            </p:cNvPr>
            <p:cNvSpPr>
              <a:spLocks noGrp="1"/>
            </p:cNvSpPr>
            <p:nvPr/>
          </p:nvSpPr>
          <p:spPr>
            <a:xfrm>
              <a:off x="2917167" y="3157719"/>
              <a:ext cx="49355" cy="6142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139" name="native PowerPoint connector">
              <a:extLst>
                <a:ext uri="{FF2B5EF4-FFF2-40B4-BE49-F238E27FC236}">
                  <a16:creationId xmlns:a16="http://schemas.microsoft.com/office/drawing/2014/main" id="{54B8DB65-56F7-4AEE-9F3E-57FF950A4397}"/>
                </a:ext>
              </a:extLst>
            </p:cNvPr>
            <p:cNvCxnSpPr/>
            <p:nvPr/>
          </p:nvCxnSpPr>
          <p:spPr>
            <a:xfrm>
              <a:off x="2941844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40" name="diagram block">
              <a:extLst>
                <a:ext uri="{FF2B5EF4-FFF2-40B4-BE49-F238E27FC236}">
                  <a16:creationId xmlns:a16="http://schemas.microsoft.com/office/drawing/2014/main" id="{33FDD111-996F-4163-A4C2-93AEC0B5FB78}"/>
                </a:ext>
              </a:extLst>
            </p:cNvPr>
            <p:cNvSpPr>
              <a:spLocks noGrp="1"/>
            </p:cNvSpPr>
            <p:nvPr/>
          </p:nvSpPr>
          <p:spPr>
            <a:xfrm>
              <a:off x="2982005" y="3161229"/>
              <a:ext cx="49355" cy="2632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141" name="native PowerPoint connector">
              <a:extLst>
                <a:ext uri="{FF2B5EF4-FFF2-40B4-BE49-F238E27FC236}">
                  <a16:creationId xmlns:a16="http://schemas.microsoft.com/office/drawing/2014/main" id="{3E746A04-2FFF-446B-960E-8167238B7A9C}"/>
                </a:ext>
              </a:extLst>
            </p:cNvPr>
            <p:cNvCxnSpPr/>
            <p:nvPr/>
          </p:nvCxnSpPr>
          <p:spPr>
            <a:xfrm>
              <a:off x="3006682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42" name="1">
              <a:extLst>
                <a:ext uri="{FF2B5EF4-FFF2-40B4-BE49-F238E27FC236}">
                  <a16:creationId xmlns:a16="http://schemas.microsoft.com/office/drawing/2014/main" id="{737835CE-3483-4685-845E-D17E05205D30}"/>
                </a:ext>
              </a:extLst>
            </p:cNvPr>
            <p:cNvSpPr>
              <a:spLocks noGrp="1"/>
            </p:cNvSpPr>
            <p:nvPr/>
          </p:nvSpPr>
          <p:spPr>
            <a:xfrm>
              <a:off x="1975879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143" name="4">
              <a:extLst>
                <a:ext uri="{FF2B5EF4-FFF2-40B4-BE49-F238E27FC236}">
                  <a16:creationId xmlns:a16="http://schemas.microsoft.com/office/drawing/2014/main" id="{9124C1FF-CB4F-4001-A39F-DE6CD2423BCB}"/>
                </a:ext>
              </a:extLst>
            </p:cNvPr>
            <p:cNvSpPr>
              <a:spLocks noGrp="1"/>
            </p:cNvSpPr>
            <p:nvPr/>
          </p:nvSpPr>
          <p:spPr>
            <a:xfrm>
              <a:off x="2170395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  <p:sp>
          <p:nvSpPr>
            <p:cNvPr id="144" name="8">
              <a:extLst>
                <a:ext uri="{FF2B5EF4-FFF2-40B4-BE49-F238E27FC236}">
                  <a16:creationId xmlns:a16="http://schemas.microsoft.com/office/drawing/2014/main" id="{D0B616AA-2360-4331-A86C-EB915583E881}"/>
                </a:ext>
              </a:extLst>
            </p:cNvPr>
            <p:cNvSpPr>
              <a:spLocks noGrp="1"/>
            </p:cNvSpPr>
            <p:nvPr/>
          </p:nvSpPr>
          <p:spPr>
            <a:xfrm>
              <a:off x="2429749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</a:t>
              </a:r>
            </a:p>
          </p:txBody>
        </p:sp>
        <p:sp>
          <p:nvSpPr>
            <p:cNvPr id="145" name="12">
              <a:extLst>
                <a:ext uri="{FF2B5EF4-FFF2-40B4-BE49-F238E27FC236}">
                  <a16:creationId xmlns:a16="http://schemas.microsoft.com/office/drawing/2014/main" id="{F5DDDCBA-CC0F-4882-96D0-1EB8CA1F854B}"/>
                </a:ext>
              </a:extLst>
            </p:cNvPr>
            <p:cNvSpPr>
              <a:spLocks noGrp="1"/>
            </p:cNvSpPr>
            <p:nvPr/>
          </p:nvSpPr>
          <p:spPr>
            <a:xfrm>
              <a:off x="2689103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12</a:t>
              </a:r>
            </a:p>
          </p:txBody>
        </p:sp>
        <p:sp>
          <p:nvSpPr>
            <p:cNvPr id="146" name="16">
              <a:extLst>
                <a:ext uri="{FF2B5EF4-FFF2-40B4-BE49-F238E27FC236}">
                  <a16:creationId xmlns:a16="http://schemas.microsoft.com/office/drawing/2014/main" id="{3FF1954E-A8CE-412F-99B9-670CA67F2D18}"/>
                </a:ext>
              </a:extLst>
            </p:cNvPr>
            <p:cNvSpPr>
              <a:spLocks noGrp="1"/>
            </p:cNvSpPr>
            <p:nvPr/>
          </p:nvSpPr>
          <p:spPr>
            <a:xfrm>
              <a:off x="2948457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16</a:t>
              </a:r>
            </a:p>
          </p:txBody>
        </p:sp>
        <p:sp>
          <p:nvSpPr>
            <p:cNvPr id="147" name="Bin index">
              <a:extLst>
                <a:ext uri="{FF2B5EF4-FFF2-40B4-BE49-F238E27FC236}">
                  <a16:creationId xmlns:a16="http://schemas.microsoft.com/office/drawing/2014/main" id="{9ECB6D40-2ADC-4E1A-B19F-0566B333CE81}"/>
                </a:ext>
              </a:extLst>
            </p:cNvPr>
            <p:cNvSpPr>
              <a:spLocks noGrp="1"/>
            </p:cNvSpPr>
            <p:nvPr/>
          </p:nvSpPr>
          <p:spPr>
            <a:xfrm>
              <a:off x="2233943" y="3323860"/>
              <a:ext cx="598708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Bin index</a:t>
              </a:r>
            </a:p>
          </p:txBody>
        </p:sp>
        <p:sp>
          <p:nvSpPr>
            <p:cNvPr id="148" name="Probability">
              <a:extLst>
                <a:ext uri="{FF2B5EF4-FFF2-40B4-BE49-F238E27FC236}">
                  <a16:creationId xmlns:a16="http://schemas.microsoft.com/office/drawing/2014/main" id="{F12C4EE1-27EF-4CAF-97FA-FA641FE4A035}"/>
                </a:ext>
              </a:extLst>
            </p:cNvPr>
            <p:cNvSpPr>
              <a:spLocks noGrp="1"/>
            </p:cNvSpPr>
            <p:nvPr/>
          </p:nvSpPr>
          <p:spPr>
            <a:xfrm rot="16200000">
              <a:off x="1501042" y="2895475"/>
              <a:ext cx="598708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Probability</a:t>
              </a:r>
            </a:p>
          </p:txBody>
        </p:sp>
        <p:sp>
          <p:nvSpPr>
            <p:cNvPr id="149" name="diagram block">
              <a:extLst>
                <a:ext uri="{FF2B5EF4-FFF2-40B4-BE49-F238E27FC236}">
                  <a16:creationId xmlns:a16="http://schemas.microsoft.com/office/drawing/2014/main" id="{EFE7E1A7-9899-49B0-8490-4BD5D8B5C8E0}"/>
                </a:ext>
              </a:extLst>
            </p:cNvPr>
            <p:cNvSpPr>
              <a:spLocks noGrp="1"/>
            </p:cNvSpPr>
            <p:nvPr/>
          </p:nvSpPr>
          <p:spPr>
            <a:xfrm>
              <a:off x="499755" y="3458054"/>
              <a:ext cx="2461928" cy="216774"/>
            </a:xfrm>
            <a:prstGeom prst="roundRect">
              <a:avLst>
                <a:gd name="adj" fmla="val 14286"/>
              </a:avLst>
            </a:prstGeom>
            <a:gradFill>
              <a:gsLst>
                <a:gs pos="0">
                  <a:srgbClr val="FFF0F2"/>
                </a:gs>
                <a:gs pos="100000">
                  <a:srgbClr val="FFF8F8"/>
                </a:gs>
              </a:gsLst>
              <a:lin ang="5400000"/>
            </a:gradFill>
            <a:ln w="5161">
              <a:solidFill>
                <a:srgbClr val="FA8098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50" name="L_bin = mean KL(p(z) || p(ẑ))">
              <a:extLst>
                <a:ext uri="{FF2B5EF4-FFF2-40B4-BE49-F238E27FC236}">
                  <a16:creationId xmlns:a16="http://schemas.microsoft.com/office/drawing/2014/main" id="{86A9A396-A304-4BBE-A5AB-9B3051CBC060}"/>
                </a:ext>
              </a:extLst>
            </p:cNvPr>
            <p:cNvSpPr>
              <a:spLocks noGrp="1"/>
            </p:cNvSpPr>
            <p:nvPr/>
          </p:nvSpPr>
          <p:spPr>
            <a:xfrm>
              <a:off x="613303" y="3504505"/>
              <a:ext cx="2245154" cy="15483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6121"/>
            </a:bodyPr>
            <a:lstStyle>
              <a:def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L</a:t>
              </a:r>
              <a:r>
                <a:rPr sz="594" b="0" i="1" baseline="-23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bin</a:t>
              </a:r>
              <a:r>
                <a: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 = </a:t>
              </a:r>
              <a:r>
                <a:rPr sz="813" b="0" i="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mean</a:t>
              </a:r>
              <a:r>
                <a: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813" b="0" i="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KL</a:t>
              </a:r>
              <a:r>
                <a: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(p(z) || p(ẑ))</a:t>
              </a:r>
            </a:p>
          </p:txBody>
        </p:sp>
        <p:sp>
          <p:nvSpPr>
            <p:cNvPr id="151" name="diagram block">
              <a:extLst>
                <a:ext uri="{FF2B5EF4-FFF2-40B4-BE49-F238E27FC236}">
                  <a16:creationId xmlns:a16="http://schemas.microsoft.com/office/drawing/2014/main" id="{085FB660-9682-4AE4-B404-47062EF24E4C}"/>
                </a:ext>
              </a:extLst>
            </p:cNvPr>
            <p:cNvSpPr>
              <a:spLocks noGrp="1"/>
            </p:cNvSpPr>
            <p:nvPr/>
          </p:nvSpPr>
          <p:spPr>
            <a:xfrm>
              <a:off x="355239" y="3731601"/>
              <a:ext cx="2725153" cy="159999"/>
            </a:xfrm>
            <a:prstGeom prst="roundRect">
              <a:avLst>
                <a:gd name="adj" fmla="val 12903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C2DDF7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52" name="Motor actions: 10 × 6   |   Future latents: t &gt; 0">
              <a:extLst>
                <a:ext uri="{FF2B5EF4-FFF2-40B4-BE49-F238E27FC236}">
                  <a16:creationId xmlns:a16="http://schemas.microsoft.com/office/drawing/2014/main" id="{128F5AAE-10EE-415B-A693-72C4FB00F0A9}"/>
                </a:ext>
              </a:extLst>
            </p:cNvPr>
            <p:cNvSpPr>
              <a:spLocks noGrp="1"/>
            </p:cNvSpPr>
            <p:nvPr/>
          </p:nvSpPr>
          <p:spPr>
            <a:xfrm>
              <a:off x="381046" y="3757407"/>
              <a:ext cx="2673540" cy="108387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94575"/>
            </a:bodyPr>
            <a:lstStyle>
              <a:def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Motor actions: 10 × 6   |   Future latents: t &gt; 0</a:t>
              </a:r>
            </a:p>
          </p:txBody>
        </p:sp>
        <p:sp>
          <p:nvSpPr>
            <p:cNvPr id="153" name="Compute a 16-bin distribution for each scalar independently&#10;and average the">
              <a:extLst>
                <a:ext uri="{FF2B5EF4-FFF2-40B4-BE49-F238E27FC236}">
                  <a16:creationId xmlns:a16="http://schemas.microsoft.com/office/drawing/2014/main" id="{A6FFCFDC-3233-4D5D-A391-65776FC9E944}"/>
                </a:ext>
              </a:extLst>
            </p:cNvPr>
            <p:cNvSpPr>
              <a:spLocks noGrp="1"/>
            </p:cNvSpPr>
            <p:nvPr/>
          </p:nvSpPr>
          <p:spPr>
            <a:xfrm>
              <a:off x="432658" y="3927729"/>
              <a:ext cx="2580637" cy="20129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0219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Compute a 16-bin distribution for each scalar independently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and average the KL over all scalars.</a:t>
              </a:r>
            </a:p>
          </p:txBody>
        </p:sp>
        <p:sp>
          <p:nvSpPr>
            <p:cNvPr id="154" name="diagram block">
              <a:extLst>
                <a:ext uri="{FF2B5EF4-FFF2-40B4-BE49-F238E27FC236}">
                  <a16:creationId xmlns:a16="http://schemas.microsoft.com/office/drawing/2014/main" id="{21B94405-F634-4D50-9273-4F3436A4D765}"/>
                </a:ext>
              </a:extLst>
            </p:cNvPr>
            <p:cNvSpPr>
              <a:spLocks noGrp="1"/>
            </p:cNvSpPr>
            <p:nvPr/>
          </p:nvSpPr>
          <p:spPr>
            <a:xfrm>
              <a:off x="3261036" y="686449"/>
              <a:ext cx="2621927" cy="149677"/>
            </a:xfrm>
            <a:prstGeom prst="rect">
              <a:avLst/>
            </a:prstGeom>
            <a:solidFill>
              <a:srgbClr val="E6F2FF"/>
            </a:solidFill>
            <a:ln w="5161">
              <a:noFill/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55" name="Ten ordered 6-D action vectors (first 10 actions)">
              <a:extLst>
                <a:ext uri="{FF2B5EF4-FFF2-40B4-BE49-F238E27FC236}">
                  <a16:creationId xmlns:a16="http://schemas.microsoft.com/office/drawing/2014/main" id="{20200BDC-EC1E-4D90-B351-D7BCA3AA65D9}"/>
                </a:ext>
              </a:extLst>
            </p:cNvPr>
            <p:cNvSpPr>
              <a:spLocks noGrp="1"/>
            </p:cNvSpPr>
            <p:nvPr/>
          </p:nvSpPr>
          <p:spPr>
            <a:xfrm>
              <a:off x="3286843" y="712256"/>
              <a:ext cx="2570314" cy="98064"/>
            </a:xfrm>
            <a:prstGeom prst="rect">
              <a:avLst/>
            </a:prstGeom>
            <a:solidFill>
              <a:srgbClr val="E6F2FF"/>
            </a:solidFill>
            <a:ln w="0">
              <a:noFill/>
            </a:ln>
          </p:spPr>
          <p:txBody>
            <a:bodyPr wrap="none" lIns="0" tIns="0" rIns="0" bIns="0" anchor="ctr">
              <a:normAutofit fontScale="79147"/>
            </a:bodyPr>
            <a:lstStyle>
              <a:def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Ten ordered 6-D action vectors (first 10 actions)</a:t>
              </a:r>
            </a:p>
          </p:txBody>
        </p:sp>
        <p:sp>
          <p:nvSpPr>
            <p:cNvPr id="156" name="diagram block">
              <a:extLst>
                <a:ext uri="{FF2B5EF4-FFF2-40B4-BE49-F238E27FC236}">
                  <a16:creationId xmlns:a16="http://schemas.microsoft.com/office/drawing/2014/main" id="{165E32A1-6986-448B-B150-08D3F3B411C0}"/>
                </a:ext>
              </a:extLst>
            </p:cNvPr>
            <p:cNvSpPr>
              <a:spLocks noGrp="1"/>
            </p:cNvSpPr>
            <p:nvPr/>
          </p:nvSpPr>
          <p:spPr>
            <a:xfrm>
              <a:off x="3322972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57" name="a₁">
              <a:extLst>
                <a:ext uri="{FF2B5EF4-FFF2-40B4-BE49-F238E27FC236}">
                  <a16:creationId xmlns:a16="http://schemas.microsoft.com/office/drawing/2014/main" id="{76381CC2-EEA3-4458-BF89-5BBCDFF343CA}"/>
                </a:ext>
              </a:extLst>
            </p:cNvPr>
            <p:cNvSpPr>
              <a:spLocks noGrp="1"/>
            </p:cNvSpPr>
            <p:nvPr/>
          </p:nvSpPr>
          <p:spPr>
            <a:xfrm>
              <a:off x="3348778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a₁</a:t>
              </a:r>
            </a:p>
          </p:txBody>
        </p:sp>
        <p:sp>
          <p:nvSpPr>
            <p:cNvPr id="158" name="diagram block">
              <a:extLst>
                <a:ext uri="{FF2B5EF4-FFF2-40B4-BE49-F238E27FC236}">
                  <a16:creationId xmlns:a16="http://schemas.microsoft.com/office/drawing/2014/main" id="{AADB4820-2A4F-474A-970C-19DC538E39C9}"/>
                </a:ext>
              </a:extLst>
            </p:cNvPr>
            <p:cNvSpPr>
              <a:spLocks noGrp="1"/>
            </p:cNvSpPr>
            <p:nvPr/>
          </p:nvSpPr>
          <p:spPr>
            <a:xfrm>
              <a:off x="3529423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59" name="a₂">
              <a:extLst>
                <a:ext uri="{FF2B5EF4-FFF2-40B4-BE49-F238E27FC236}">
                  <a16:creationId xmlns:a16="http://schemas.microsoft.com/office/drawing/2014/main" id="{2AE4C76A-ACFE-469D-8885-3BE60D3AE6F2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a₂</a:t>
              </a:r>
            </a:p>
          </p:txBody>
        </p:sp>
        <p:sp>
          <p:nvSpPr>
            <p:cNvPr id="160" name="diagram block">
              <a:extLst>
                <a:ext uri="{FF2B5EF4-FFF2-40B4-BE49-F238E27FC236}">
                  <a16:creationId xmlns:a16="http://schemas.microsoft.com/office/drawing/2014/main" id="{FC016F91-48A1-4347-91A5-983A9714B7AF}"/>
                </a:ext>
              </a:extLst>
            </p:cNvPr>
            <p:cNvSpPr>
              <a:spLocks noGrp="1"/>
            </p:cNvSpPr>
            <p:nvPr/>
          </p:nvSpPr>
          <p:spPr>
            <a:xfrm>
              <a:off x="3735874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61" name="a₃">
              <a:extLst>
                <a:ext uri="{FF2B5EF4-FFF2-40B4-BE49-F238E27FC236}">
                  <a16:creationId xmlns:a16="http://schemas.microsoft.com/office/drawing/2014/main" id="{CEECC82A-0211-408E-B9B1-D7941DB8E6AA}"/>
                </a:ext>
              </a:extLst>
            </p:cNvPr>
            <p:cNvSpPr>
              <a:spLocks noGrp="1"/>
            </p:cNvSpPr>
            <p:nvPr/>
          </p:nvSpPr>
          <p:spPr>
            <a:xfrm>
              <a:off x="3761680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a₃</a:t>
              </a:r>
            </a:p>
          </p:txBody>
        </p:sp>
        <p:sp>
          <p:nvSpPr>
            <p:cNvPr id="162" name="diagram block">
              <a:extLst>
                <a:ext uri="{FF2B5EF4-FFF2-40B4-BE49-F238E27FC236}">
                  <a16:creationId xmlns:a16="http://schemas.microsoft.com/office/drawing/2014/main" id="{814AE635-3285-4F2C-8CD3-68A799EE99FD}"/>
                </a:ext>
              </a:extLst>
            </p:cNvPr>
            <p:cNvSpPr>
              <a:spLocks noGrp="1"/>
            </p:cNvSpPr>
            <p:nvPr/>
          </p:nvSpPr>
          <p:spPr>
            <a:xfrm>
              <a:off x="3942325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63" name="a₄">
              <a:extLst>
                <a:ext uri="{FF2B5EF4-FFF2-40B4-BE49-F238E27FC236}">
                  <a16:creationId xmlns:a16="http://schemas.microsoft.com/office/drawing/2014/main" id="{A42FFA54-F74D-4835-A706-D06E0E2F07FB}"/>
                </a:ext>
              </a:extLst>
            </p:cNvPr>
            <p:cNvSpPr>
              <a:spLocks noGrp="1"/>
            </p:cNvSpPr>
            <p:nvPr/>
          </p:nvSpPr>
          <p:spPr>
            <a:xfrm>
              <a:off x="3968131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a₄</a:t>
              </a:r>
            </a:p>
          </p:txBody>
        </p:sp>
        <p:sp>
          <p:nvSpPr>
            <p:cNvPr id="164" name="diagram block">
              <a:extLst>
                <a:ext uri="{FF2B5EF4-FFF2-40B4-BE49-F238E27FC236}">
                  <a16:creationId xmlns:a16="http://schemas.microsoft.com/office/drawing/2014/main" id="{715B5191-11E9-415A-BABD-7A8258EFF147}"/>
                </a:ext>
              </a:extLst>
            </p:cNvPr>
            <p:cNvSpPr>
              <a:spLocks noGrp="1"/>
            </p:cNvSpPr>
            <p:nvPr/>
          </p:nvSpPr>
          <p:spPr>
            <a:xfrm>
              <a:off x="4148776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65" name="a₅">
              <a:extLst>
                <a:ext uri="{FF2B5EF4-FFF2-40B4-BE49-F238E27FC236}">
                  <a16:creationId xmlns:a16="http://schemas.microsoft.com/office/drawing/2014/main" id="{E8E4136F-47B3-456E-8AD6-C2977B6DEBFD}"/>
                </a:ext>
              </a:extLst>
            </p:cNvPr>
            <p:cNvSpPr>
              <a:spLocks noGrp="1"/>
            </p:cNvSpPr>
            <p:nvPr/>
          </p:nvSpPr>
          <p:spPr>
            <a:xfrm>
              <a:off x="4174582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a₅</a:t>
              </a:r>
            </a:p>
          </p:txBody>
        </p:sp>
        <p:sp>
          <p:nvSpPr>
            <p:cNvPr id="166" name="diagram block">
              <a:extLst>
                <a:ext uri="{FF2B5EF4-FFF2-40B4-BE49-F238E27FC236}">
                  <a16:creationId xmlns:a16="http://schemas.microsoft.com/office/drawing/2014/main" id="{05F2CE88-393D-42BA-ACF5-E71A6B2F2F09}"/>
                </a:ext>
              </a:extLst>
            </p:cNvPr>
            <p:cNvSpPr>
              <a:spLocks noGrp="1"/>
            </p:cNvSpPr>
            <p:nvPr/>
          </p:nvSpPr>
          <p:spPr>
            <a:xfrm>
              <a:off x="4355226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67" name="a₆">
              <a:extLst>
                <a:ext uri="{FF2B5EF4-FFF2-40B4-BE49-F238E27FC236}">
                  <a16:creationId xmlns:a16="http://schemas.microsoft.com/office/drawing/2014/main" id="{A9227245-1E2C-4951-82CD-2976693B1E15}"/>
                </a:ext>
              </a:extLst>
            </p:cNvPr>
            <p:cNvSpPr>
              <a:spLocks noGrp="1"/>
            </p:cNvSpPr>
            <p:nvPr/>
          </p:nvSpPr>
          <p:spPr>
            <a:xfrm>
              <a:off x="4381033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a₆</a:t>
              </a:r>
            </a:p>
          </p:txBody>
        </p:sp>
        <p:sp>
          <p:nvSpPr>
            <p:cNvPr id="168" name="diagram block">
              <a:extLst>
                <a:ext uri="{FF2B5EF4-FFF2-40B4-BE49-F238E27FC236}">
                  <a16:creationId xmlns:a16="http://schemas.microsoft.com/office/drawing/2014/main" id="{111E91A8-413D-410A-ABFA-0D1EEA18F425}"/>
                </a:ext>
              </a:extLst>
            </p:cNvPr>
            <p:cNvSpPr>
              <a:spLocks noGrp="1"/>
            </p:cNvSpPr>
            <p:nvPr/>
          </p:nvSpPr>
          <p:spPr>
            <a:xfrm>
              <a:off x="4561677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69" name="a₇">
              <a:extLst>
                <a:ext uri="{FF2B5EF4-FFF2-40B4-BE49-F238E27FC236}">
                  <a16:creationId xmlns:a16="http://schemas.microsoft.com/office/drawing/2014/main" id="{8D42339D-F16E-4071-AAE5-F608B88A4AC9}"/>
                </a:ext>
              </a:extLst>
            </p:cNvPr>
            <p:cNvSpPr>
              <a:spLocks noGrp="1"/>
            </p:cNvSpPr>
            <p:nvPr/>
          </p:nvSpPr>
          <p:spPr>
            <a:xfrm>
              <a:off x="4587484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a₇</a:t>
              </a:r>
            </a:p>
          </p:txBody>
        </p:sp>
        <p:sp>
          <p:nvSpPr>
            <p:cNvPr id="170" name="diagram block">
              <a:extLst>
                <a:ext uri="{FF2B5EF4-FFF2-40B4-BE49-F238E27FC236}">
                  <a16:creationId xmlns:a16="http://schemas.microsoft.com/office/drawing/2014/main" id="{C93DE111-F8C7-47D6-88BE-800AB7AB9BEE}"/>
                </a:ext>
              </a:extLst>
            </p:cNvPr>
            <p:cNvSpPr>
              <a:spLocks noGrp="1"/>
            </p:cNvSpPr>
            <p:nvPr/>
          </p:nvSpPr>
          <p:spPr>
            <a:xfrm>
              <a:off x="4768128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71" name="a₈">
              <a:extLst>
                <a:ext uri="{FF2B5EF4-FFF2-40B4-BE49-F238E27FC236}">
                  <a16:creationId xmlns:a16="http://schemas.microsoft.com/office/drawing/2014/main" id="{7A620301-4458-4D63-968C-86B47AB24B87}"/>
                </a:ext>
              </a:extLst>
            </p:cNvPr>
            <p:cNvSpPr>
              <a:spLocks noGrp="1"/>
            </p:cNvSpPr>
            <p:nvPr/>
          </p:nvSpPr>
          <p:spPr>
            <a:xfrm>
              <a:off x="4793935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a₈</a:t>
              </a:r>
            </a:p>
          </p:txBody>
        </p:sp>
        <p:sp>
          <p:nvSpPr>
            <p:cNvPr id="172" name="diagram block">
              <a:extLst>
                <a:ext uri="{FF2B5EF4-FFF2-40B4-BE49-F238E27FC236}">
                  <a16:creationId xmlns:a16="http://schemas.microsoft.com/office/drawing/2014/main" id="{D05FACEF-10D4-418A-942E-E6CE6AA9A8F6}"/>
                </a:ext>
              </a:extLst>
            </p:cNvPr>
            <p:cNvSpPr>
              <a:spLocks noGrp="1"/>
            </p:cNvSpPr>
            <p:nvPr/>
          </p:nvSpPr>
          <p:spPr>
            <a:xfrm>
              <a:off x="4974579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73" name="a₉">
              <a:extLst>
                <a:ext uri="{FF2B5EF4-FFF2-40B4-BE49-F238E27FC236}">
                  <a16:creationId xmlns:a16="http://schemas.microsoft.com/office/drawing/2014/main" id="{6100E11C-D2E6-48A7-8A1D-DD1CEF1F76E2}"/>
                </a:ext>
              </a:extLst>
            </p:cNvPr>
            <p:cNvSpPr>
              <a:spLocks noGrp="1"/>
            </p:cNvSpPr>
            <p:nvPr/>
          </p:nvSpPr>
          <p:spPr>
            <a:xfrm>
              <a:off x="5000386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a₉</a:t>
              </a:r>
            </a:p>
          </p:txBody>
        </p:sp>
        <p:sp>
          <p:nvSpPr>
            <p:cNvPr id="174" name="diagram block">
              <a:extLst>
                <a:ext uri="{FF2B5EF4-FFF2-40B4-BE49-F238E27FC236}">
                  <a16:creationId xmlns:a16="http://schemas.microsoft.com/office/drawing/2014/main" id="{F5F58BE7-AC72-4B37-9B67-95A264BE5602}"/>
                </a:ext>
              </a:extLst>
            </p:cNvPr>
            <p:cNvSpPr>
              <a:spLocks noGrp="1"/>
            </p:cNvSpPr>
            <p:nvPr/>
          </p:nvSpPr>
          <p:spPr>
            <a:xfrm>
              <a:off x="5181030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75" name="a₁₀">
              <a:extLst>
                <a:ext uri="{FF2B5EF4-FFF2-40B4-BE49-F238E27FC236}">
                  <a16:creationId xmlns:a16="http://schemas.microsoft.com/office/drawing/2014/main" id="{0596D6BD-0C0A-4900-BA3C-3BFA5F06F1F9}"/>
                </a:ext>
              </a:extLst>
            </p:cNvPr>
            <p:cNvSpPr>
              <a:spLocks noGrp="1"/>
            </p:cNvSpPr>
            <p:nvPr/>
          </p:nvSpPr>
          <p:spPr>
            <a:xfrm>
              <a:off x="5206837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a₁₀</a:t>
              </a:r>
            </a:p>
          </p:txBody>
        </p:sp>
        <p:sp>
          <p:nvSpPr>
            <p:cNvPr id="176" name="Each aₜ ∈ ℝ⁶">
              <a:extLst>
                <a:ext uri="{FF2B5EF4-FFF2-40B4-BE49-F238E27FC236}">
                  <a16:creationId xmlns:a16="http://schemas.microsoft.com/office/drawing/2014/main" id="{F491B7C6-C164-40F1-92E3-DABBA4984213}"/>
                </a:ext>
              </a:extLst>
            </p:cNvPr>
            <p:cNvSpPr>
              <a:spLocks noGrp="1"/>
            </p:cNvSpPr>
            <p:nvPr/>
          </p:nvSpPr>
          <p:spPr>
            <a:xfrm>
              <a:off x="5423610" y="939352"/>
              <a:ext cx="474837" cy="15483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9082"/>
            </a:bodyPr>
            <a:lstStyle>
              <a:def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Each aₜ ∈ ℝ⁶</a:t>
              </a:r>
            </a:p>
          </p:txBody>
        </p:sp>
        <p:cxnSp>
          <p:nvCxnSpPr>
            <p:cNvPr id="177" name="native PowerPoint connector">
              <a:extLst>
                <a:ext uri="{FF2B5EF4-FFF2-40B4-BE49-F238E27FC236}">
                  <a16:creationId xmlns:a16="http://schemas.microsoft.com/office/drawing/2014/main" id="{1F6C40D0-A553-4F9E-B527-4516399E29F9}"/>
                </a:ext>
              </a:extLst>
            </p:cNvPr>
            <p:cNvCxnSpPr/>
            <p:nvPr/>
          </p:nvCxnSpPr>
          <p:spPr>
            <a:xfrm>
              <a:off x="4515226" y="1109674"/>
              <a:ext cx="0" cy="144516"/>
            </a:xfrm>
            <a:prstGeom prst="straightConnector1">
              <a:avLst/>
            </a:prstGeom>
            <a:ln w="10323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178" name="diagram block">
              <a:extLst>
                <a:ext uri="{FF2B5EF4-FFF2-40B4-BE49-F238E27FC236}">
                  <a16:creationId xmlns:a16="http://schemas.microsoft.com/office/drawing/2014/main" id="{DB5FA2BA-0CF8-4FC3-9D02-8F3F8863D644}"/>
                </a:ext>
              </a:extLst>
            </p:cNvPr>
            <p:cNvSpPr>
              <a:spLocks noGrp="1"/>
            </p:cNvSpPr>
            <p:nvPr/>
          </p:nvSpPr>
          <p:spPr>
            <a:xfrm>
              <a:off x="3266198" y="1274835"/>
              <a:ext cx="2621927" cy="159999"/>
            </a:xfrm>
            <a:prstGeom prst="roundRect">
              <a:avLst>
                <a:gd name="adj" fmla="val 9677"/>
              </a:avLst>
            </a:prstGeom>
            <a:solidFill>
              <a:srgbClr val="DEEEFF"/>
            </a:solidFill>
            <a:ln w="5161">
              <a:solidFill>
                <a:srgbClr val="BCDFFF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79" name="Overlapping 3-step ordered windows → 8 tokens (18-D)">
              <a:extLst>
                <a:ext uri="{FF2B5EF4-FFF2-40B4-BE49-F238E27FC236}">
                  <a16:creationId xmlns:a16="http://schemas.microsoft.com/office/drawing/2014/main" id="{F35F4E0C-103E-4991-8E73-12C90AA9B591}"/>
                </a:ext>
              </a:extLst>
            </p:cNvPr>
            <p:cNvSpPr>
              <a:spLocks noGrp="1"/>
            </p:cNvSpPr>
            <p:nvPr/>
          </p:nvSpPr>
          <p:spPr>
            <a:xfrm>
              <a:off x="3292004" y="1300641"/>
              <a:ext cx="2570314" cy="108387"/>
            </a:xfrm>
            <a:prstGeom prst="rect">
              <a:avLst/>
            </a:prstGeom>
            <a:solidFill>
              <a:srgbClr val="DEEEFF"/>
            </a:solidFill>
            <a:ln w="0">
              <a:noFill/>
            </a:ln>
          </p:spPr>
          <p:txBody>
            <a:bodyPr wrap="none" lIns="0" tIns="0" rIns="0" bIns="0" anchor="ctr">
              <a:normAutofit fontScale="87479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Overlapping 3-step ordered windows → 8 tokens (18-D)</a:t>
              </a:r>
            </a:p>
          </p:txBody>
        </p:sp>
        <p:sp>
          <p:nvSpPr>
            <p:cNvPr id="180" name="diagram block">
              <a:extLst>
                <a:ext uri="{FF2B5EF4-FFF2-40B4-BE49-F238E27FC236}">
                  <a16:creationId xmlns:a16="http://schemas.microsoft.com/office/drawing/2014/main" id="{13A20140-BE88-482F-919E-D23900C8ABE5}"/>
                </a:ext>
              </a:extLst>
            </p:cNvPr>
            <p:cNvSpPr>
              <a:spLocks noGrp="1"/>
            </p:cNvSpPr>
            <p:nvPr/>
          </p:nvSpPr>
          <p:spPr>
            <a:xfrm>
              <a:off x="3312649" y="1496769"/>
              <a:ext cx="526450" cy="283870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4488C8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81" name="w₁">
              <a:extLst>
                <a:ext uri="{FF2B5EF4-FFF2-40B4-BE49-F238E27FC236}">
                  <a16:creationId xmlns:a16="http://schemas.microsoft.com/office/drawing/2014/main" id="{18A150ED-4F8A-41C1-B71F-3D20918C10DF}"/>
                </a:ext>
              </a:extLst>
            </p:cNvPr>
            <p:cNvSpPr>
              <a:spLocks noGrp="1"/>
            </p:cNvSpPr>
            <p:nvPr/>
          </p:nvSpPr>
          <p:spPr>
            <a:xfrm>
              <a:off x="3353939" y="1538060"/>
              <a:ext cx="438708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1317"/>
            </a:bodyPr>
            <a:lstStyle>
              <a:def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w₁</a:t>
              </a:r>
            </a:p>
          </p:txBody>
        </p:sp>
        <p:sp>
          <p:nvSpPr>
            <p:cNvPr id="182" name="(a₁, a₂, a₃)">
              <a:extLst>
                <a:ext uri="{FF2B5EF4-FFF2-40B4-BE49-F238E27FC236}">
                  <a16:creationId xmlns:a16="http://schemas.microsoft.com/office/drawing/2014/main" id="{65E18DA0-F900-49E0-B03D-E9020D49920B}"/>
                </a:ext>
              </a:extLst>
            </p:cNvPr>
            <p:cNvSpPr>
              <a:spLocks noGrp="1"/>
            </p:cNvSpPr>
            <p:nvPr/>
          </p:nvSpPr>
          <p:spPr>
            <a:xfrm>
              <a:off x="3322972" y="1667091"/>
              <a:ext cx="505805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159"/>
            </a:bodyPr>
            <a:lstStyle>
              <a:def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(a₁, a₂, a₃)</a:t>
              </a:r>
            </a:p>
          </p:txBody>
        </p:sp>
        <p:sp>
          <p:nvSpPr>
            <p:cNvPr id="183" name="diagram block">
              <a:extLst>
                <a:ext uri="{FF2B5EF4-FFF2-40B4-BE49-F238E27FC236}">
                  <a16:creationId xmlns:a16="http://schemas.microsoft.com/office/drawing/2014/main" id="{1F49F442-6C3F-4BC5-B00E-892A9414AC7C}"/>
                </a:ext>
              </a:extLst>
            </p:cNvPr>
            <p:cNvSpPr>
              <a:spLocks noGrp="1"/>
            </p:cNvSpPr>
            <p:nvPr/>
          </p:nvSpPr>
          <p:spPr>
            <a:xfrm>
              <a:off x="3870067" y="1496769"/>
              <a:ext cx="526450" cy="283870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4488C8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84" name="w₂">
              <a:extLst>
                <a:ext uri="{FF2B5EF4-FFF2-40B4-BE49-F238E27FC236}">
                  <a16:creationId xmlns:a16="http://schemas.microsoft.com/office/drawing/2014/main" id="{4CCC0068-D49B-4638-B1DF-C44C46A95919}"/>
                </a:ext>
              </a:extLst>
            </p:cNvPr>
            <p:cNvSpPr>
              <a:spLocks noGrp="1"/>
            </p:cNvSpPr>
            <p:nvPr/>
          </p:nvSpPr>
          <p:spPr>
            <a:xfrm>
              <a:off x="3911357" y="1538060"/>
              <a:ext cx="438708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1317"/>
            </a:bodyPr>
            <a:lstStyle>
              <a:def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w₂</a:t>
              </a:r>
            </a:p>
          </p:txBody>
        </p:sp>
        <p:sp>
          <p:nvSpPr>
            <p:cNvPr id="185" name="(a₂, a₃, a₄)">
              <a:extLst>
                <a:ext uri="{FF2B5EF4-FFF2-40B4-BE49-F238E27FC236}">
                  <a16:creationId xmlns:a16="http://schemas.microsoft.com/office/drawing/2014/main" id="{CFE8B76D-8FA0-414D-81C5-FD82950DBFF3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1667091"/>
              <a:ext cx="505805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159"/>
            </a:bodyPr>
            <a:lstStyle>
              <a:def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(a₂, a₃, a₄)</a:t>
              </a:r>
            </a:p>
          </p:txBody>
        </p:sp>
        <p:sp>
          <p:nvSpPr>
            <p:cNvPr id="186" name="diagram block">
              <a:extLst>
                <a:ext uri="{FF2B5EF4-FFF2-40B4-BE49-F238E27FC236}">
                  <a16:creationId xmlns:a16="http://schemas.microsoft.com/office/drawing/2014/main" id="{B7A49B76-64AB-46B6-8F35-B56650E1BBDD}"/>
                </a:ext>
              </a:extLst>
            </p:cNvPr>
            <p:cNvSpPr>
              <a:spLocks noGrp="1"/>
            </p:cNvSpPr>
            <p:nvPr/>
          </p:nvSpPr>
          <p:spPr>
            <a:xfrm>
              <a:off x="4427484" y="1496769"/>
              <a:ext cx="526450" cy="283870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4488C8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87" name="w₃">
              <a:extLst>
                <a:ext uri="{FF2B5EF4-FFF2-40B4-BE49-F238E27FC236}">
                  <a16:creationId xmlns:a16="http://schemas.microsoft.com/office/drawing/2014/main" id="{053DB0D5-9E93-42DA-976A-178903E9DC7B}"/>
                </a:ext>
              </a:extLst>
            </p:cNvPr>
            <p:cNvSpPr>
              <a:spLocks noGrp="1"/>
            </p:cNvSpPr>
            <p:nvPr/>
          </p:nvSpPr>
          <p:spPr>
            <a:xfrm>
              <a:off x="4468775" y="1538060"/>
              <a:ext cx="438708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1317"/>
            </a:bodyPr>
            <a:lstStyle>
              <a:def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w₃</a:t>
              </a:r>
            </a:p>
          </p:txBody>
        </p:sp>
        <p:sp>
          <p:nvSpPr>
            <p:cNvPr id="188" name="(a₃, a₄, a₅)">
              <a:extLst>
                <a:ext uri="{FF2B5EF4-FFF2-40B4-BE49-F238E27FC236}">
                  <a16:creationId xmlns:a16="http://schemas.microsoft.com/office/drawing/2014/main" id="{295F2879-1BEA-4087-AF6C-A4EB8EB1BC84}"/>
                </a:ext>
              </a:extLst>
            </p:cNvPr>
            <p:cNvSpPr>
              <a:spLocks noGrp="1"/>
            </p:cNvSpPr>
            <p:nvPr/>
          </p:nvSpPr>
          <p:spPr>
            <a:xfrm>
              <a:off x="4437807" y="1667091"/>
              <a:ext cx="505805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159"/>
            </a:bodyPr>
            <a:lstStyle>
              <a:def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(a₃, a₄, a₅)</a:t>
              </a:r>
            </a:p>
          </p:txBody>
        </p:sp>
        <p:sp>
          <p:nvSpPr>
            <p:cNvPr id="189" name="diagram block">
              <a:extLst>
                <a:ext uri="{FF2B5EF4-FFF2-40B4-BE49-F238E27FC236}">
                  <a16:creationId xmlns:a16="http://schemas.microsoft.com/office/drawing/2014/main" id="{0CBF7AC7-A8DA-4B86-BC02-E331EB33DB35}"/>
                </a:ext>
              </a:extLst>
            </p:cNvPr>
            <p:cNvSpPr>
              <a:spLocks noGrp="1"/>
            </p:cNvSpPr>
            <p:nvPr/>
          </p:nvSpPr>
          <p:spPr>
            <a:xfrm>
              <a:off x="5320385" y="1496769"/>
              <a:ext cx="526450" cy="283870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4488C8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90" name="w₈">
              <a:extLst>
                <a:ext uri="{FF2B5EF4-FFF2-40B4-BE49-F238E27FC236}">
                  <a16:creationId xmlns:a16="http://schemas.microsoft.com/office/drawing/2014/main" id="{5D8BF2F2-B8EC-491C-8F3C-81786BE3AADC}"/>
                </a:ext>
              </a:extLst>
            </p:cNvPr>
            <p:cNvSpPr>
              <a:spLocks noGrp="1"/>
            </p:cNvSpPr>
            <p:nvPr/>
          </p:nvSpPr>
          <p:spPr>
            <a:xfrm>
              <a:off x="5361675" y="1538060"/>
              <a:ext cx="438708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1317"/>
            </a:bodyPr>
            <a:lstStyle>
              <a:def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w₈</a:t>
              </a:r>
            </a:p>
          </p:txBody>
        </p:sp>
        <p:sp>
          <p:nvSpPr>
            <p:cNvPr id="191" name="(a₈, a₉, a₁₀)">
              <a:extLst>
                <a:ext uri="{FF2B5EF4-FFF2-40B4-BE49-F238E27FC236}">
                  <a16:creationId xmlns:a16="http://schemas.microsoft.com/office/drawing/2014/main" id="{FCFEE7CB-39A0-47D3-93EC-40A77AC16632}"/>
                </a:ext>
              </a:extLst>
            </p:cNvPr>
            <p:cNvSpPr>
              <a:spLocks noGrp="1"/>
            </p:cNvSpPr>
            <p:nvPr/>
          </p:nvSpPr>
          <p:spPr>
            <a:xfrm>
              <a:off x="5330707" y="1667091"/>
              <a:ext cx="505805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159"/>
            </a:bodyPr>
            <a:lstStyle>
              <a:def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(a₈, a₉, a₁₀)</a:t>
              </a:r>
            </a:p>
          </p:txBody>
        </p:sp>
        <p:sp>
          <p:nvSpPr>
            <p:cNvPr id="192" name="…">
              <a:extLst>
                <a:ext uri="{FF2B5EF4-FFF2-40B4-BE49-F238E27FC236}">
                  <a16:creationId xmlns:a16="http://schemas.microsoft.com/office/drawing/2014/main" id="{26ED4FCA-61CC-4A84-829E-902F553D122F}"/>
                </a:ext>
              </a:extLst>
            </p:cNvPr>
            <p:cNvSpPr>
              <a:spLocks noGrp="1"/>
            </p:cNvSpPr>
            <p:nvPr/>
          </p:nvSpPr>
          <p:spPr>
            <a:xfrm>
              <a:off x="5026192" y="1548382"/>
              <a:ext cx="216774" cy="15483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9279"/>
            </a:bodyPr>
            <a:lstStyle>
              <a:def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193" name="Each token uᵢ ∈ ℝ¹⁸ (concatenate 3 actions)">
              <a:extLst>
                <a:ext uri="{FF2B5EF4-FFF2-40B4-BE49-F238E27FC236}">
                  <a16:creationId xmlns:a16="http://schemas.microsoft.com/office/drawing/2014/main" id="{C9316363-CEBF-489F-8923-88BBC0BDBE82}"/>
                </a:ext>
              </a:extLst>
            </p:cNvPr>
            <p:cNvSpPr>
              <a:spLocks noGrp="1"/>
            </p:cNvSpPr>
            <p:nvPr/>
          </p:nvSpPr>
          <p:spPr>
            <a:xfrm>
              <a:off x="3390068" y="1863220"/>
              <a:ext cx="2425799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Each token uᵢ ∈ ℝ¹⁸ (concatenate 3 actions)</a:t>
              </a:r>
            </a:p>
          </p:txBody>
        </p:sp>
        <p:sp>
          <p:nvSpPr>
            <p:cNvPr id="194" name="diagram block">
              <a:extLst>
                <a:ext uri="{FF2B5EF4-FFF2-40B4-BE49-F238E27FC236}">
                  <a16:creationId xmlns:a16="http://schemas.microsoft.com/office/drawing/2014/main" id="{EEDACDF3-B9A5-462C-A546-A3113EAD1476}"/>
                </a:ext>
              </a:extLst>
            </p:cNvPr>
            <p:cNvSpPr>
              <a:spLocks noGrp="1"/>
            </p:cNvSpPr>
            <p:nvPr/>
          </p:nvSpPr>
          <p:spPr>
            <a:xfrm>
              <a:off x="3266198" y="2038703"/>
              <a:ext cx="1383221" cy="159999"/>
            </a:xfrm>
            <a:prstGeom prst="roundRect">
              <a:avLst>
                <a:gd name="adj" fmla="val 9677"/>
              </a:avLst>
            </a:prstGeom>
            <a:solidFill>
              <a:srgbClr val="DFEEFF"/>
            </a:solidFill>
            <a:ln w="5161">
              <a:solidFill>
                <a:srgbClr val="C0DFFF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95" name="Relation matrix (8 tokens)">
              <a:extLst>
                <a:ext uri="{FF2B5EF4-FFF2-40B4-BE49-F238E27FC236}">
                  <a16:creationId xmlns:a16="http://schemas.microsoft.com/office/drawing/2014/main" id="{0D09EF51-EA31-4531-9C63-89C3D0D61EC4}"/>
                </a:ext>
              </a:extLst>
            </p:cNvPr>
            <p:cNvSpPr>
              <a:spLocks noGrp="1"/>
            </p:cNvSpPr>
            <p:nvPr/>
          </p:nvSpPr>
          <p:spPr>
            <a:xfrm>
              <a:off x="3292004" y="2064510"/>
              <a:ext cx="1331609" cy="108387"/>
            </a:xfrm>
            <a:prstGeom prst="rect">
              <a:avLst/>
            </a:prstGeom>
            <a:solidFill>
              <a:srgbClr val="DFEEFF"/>
            </a:solidFill>
            <a:ln w="0">
              <a:noFill/>
            </a:ln>
          </p:spPr>
          <p:txBody>
            <a:bodyPr wrap="none" lIns="0" tIns="0" rIns="0" bIns="0" anchor="ctr">
              <a:normAutofit fontScale="87479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Relation matrix (8 tokens)</a:t>
              </a:r>
            </a:p>
          </p:txBody>
        </p:sp>
        <p:sp>
          <p:nvSpPr>
            <p:cNvPr id="196" name="diagram block">
              <a:extLst>
                <a:ext uri="{FF2B5EF4-FFF2-40B4-BE49-F238E27FC236}">
                  <a16:creationId xmlns:a16="http://schemas.microsoft.com/office/drawing/2014/main" id="{C0553CDF-077B-469D-98E5-E320D81C285B}"/>
                </a:ext>
              </a:extLst>
            </p:cNvPr>
            <p:cNvSpPr>
              <a:spLocks noGrp="1"/>
            </p:cNvSpPr>
            <p:nvPr/>
          </p:nvSpPr>
          <p:spPr>
            <a:xfrm>
              <a:off x="4721677" y="2038703"/>
              <a:ext cx="1176770" cy="159999"/>
            </a:xfrm>
            <a:prstGeom prst="roundRect">
              <a:avLst>
                <a:gd name="adj" fmla="val 9677"/>
              </a:avLst>
            </a:prstGeom>
            <a:solidFill>
              <a:srgbClr val="DFEEFF"/>
            </a:solidFill>
            <a:ln w="5161">
              <a:solidFill>
                <a:srgbClr val="C0DFFF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197" name="Neighbor probabilities">
              <a:extLst>
                <a:ext uri="{FF2B5EF4-FFF2-40B4-BE49-F238E27FC236}">
                  <a16:creationId xmlns:a16="http://schemas.microsoft.com/office/drawing/2014/main" id="{BDA9F134-43E6-48CB-B448-656638BAF6C2}"/>
                </a:ext>
              </a:extLst>
            </p:cNvPr>
            <p:cNvSpPr>
              <a:spLocks noGrp="1"/>
            </p:cNvSpPr>
            <p:nvPr/>
          </p:nvSpPr>
          <p:spPr>
            <a:xfrm>
              <a:off x="4747483" y="2064510"/>
              <a:ext cx="1125158" cy="108387"/>
            </a:xfrm>
            <a:prstGeom prst="rect">
              <a:avLst/>
            </a:prstGeom>
            <a:solidFill>
              <a:srgbClr val="DFEEFF"/>
            </a:solidFill>
            <a:ln w="0">
              <a:noFill/>
            </a:ln>
          </p:spPr>
          <p:txBody>
            <a:bodyPr wrap="none" lIns="0" tIns="0" rIns="0" bIns="0" anchor="ctr">
              <a:normAutofit fontScale="87479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Neighbor probabilities</a:t>
              </a:r>
            </a:p>
          </p:txBody>
        </p:sp>
        <p:sp>
          <p:nvSpPr>
            <p:cNvPr id="198" name="1">
              <a:extLst>
                <a:ext uri="{FF2B5EF4-FFF2-40B4-BE49-F238E27FC236}">
                  <a16:creationId xmlns:a16="http://schemas.microsoft.com/office/drawing/2014/main" id="{DD017404-20D7-45DD-8A1F-C7BFCF701F95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199" name="1">
              <a:extLst>
                <a:ext uri="{FF2B5EF4-FFF2-40B4-BE49-F238E27FC236}">
                  <a16:creationId xmlns:a16="http://schemas.microsoft.com/office/drawing/2014/main" id="{3EAC0823-676D-414D-B0E0-57E64128FD0D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2348380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200" name="diagram block">
              <a:extLst>
                <a:ext uri="{FF2B5EF4-FFF2-40B4-BE49-F238E27FC236}">
                  <a16:creationId xmlns:a16="http://schemas.microsoft.com/office/drawing/2014/main" id="{D4AE4D46-5D80-4BE7-BD3B-E99D377828CB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343218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01" name="×">
              <a:extLst>
                <a:ext uri="{FF2B5EF4-FFF2-40B4-BE49-F238E27FC236}">
                  <a16:creationId xmlns:a16="http://schemas.microsoft.com/office/drawing/2014/main" id="{EAA57379-8BFC-4857-8478-E33FBF608886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338057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02" name="diagram block">
              <a:extLst>
                <a:ext uri="{FF2B5EF4-FFF2-40B4-BE49-F238E27FC236}">
                  <a16:creationId xmlns:a16="http://schemas.microsoft.com/office/drawing/2014/main" id="{0FED87AC-0052-4B7D-8BCC-A8C4EEE53DA1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343218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03" name="diagram block">
              <a:extLst>
                <a:ext uri="{FF2B5EF4-FFF2-40B4-BE49-F238E27FC236}">
                  <a16:creationId xmlns:a16="http://schemas.microsoft.com/office/drawing/2014/main" id="{432B5AB6-5164-4766-9AC2-D92EDBACB9F3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343218"/>
              <a:ext cx="108387" cy="105806"/>
            </a:xfrm>
            <a:prstGeom prst="rect">
              <a:avLst/>
            </a:prstGeom>
            <a:solidFill>
              <a:srgbClr val="5D93C7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04" name="diagram block">
              <a:extLst>
                <a:ext uri="{FF2B5EF4-FFF2-40B4-BE49-F238E27FC236}">
                  <a16:creationId xmlns:a16="http://schemas.microsoft.com/office/drawing/2014/main" id="{731483BB-D403-4515-8F95-FAB891FFD6B4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343218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05" name="diagram block">
              <a:extLst>
                <a:ext uri="{FF2B5EF4-FFF2-40B4-BE49-F238E27FC236}">
                  <a16:creationId xmlns:a16="http://schemas.microsoft.com/office/drawing/2014/main" id="{B545A6C7-EC94-4246-85DA-FBCABCDB8538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343218"/>
              <a:ext cx="108387" cy="105806"/>
            </a:xfrm>
            <a:prstGeom prst="rect">
              <a:avLst/>
            </a:prstGeom>
            <a:solidFill>
              <a:srgbClr val="91BBDF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06" name="diagram block">
              <a:extLst>
                <a:ext uri="{FF2B5EF4-FFF2-40B4-BE49-F238E27FC236}">
                  <a16:creationId xmlns:a16="http://schemas.microsoft.com/office/drawing/2014/main" id="{B1B05EC0-77FB-41E7-89B3-B9CBCE477B13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343218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07" name="diagram block">
              <a:extLst>
                <a:ext uri="{FF2B5EF4-FFF2-40B4-BE49-F238E27FC236}">
                  <a16:creationId xmlns:a16="http://schemas.microsoft.com/office/drawing/2014/main" id="{EA8A60E2-231C-4FC9-92AF-3838CD9AB965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343218"/>
              <a:ext cx="108387" cy="105806"/>
            </a:xfrm>
            <a:prstGeom prst="rect">
              <a:avLst/>
            </a:prstGeom>
            <a:solidFill>
              <a:srgbClr val="2D6FA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08" name="diagram block">
              <a:extLst>
                <a:ext uri="{FF2B5EF4-FFF2-40B4-BE49-F238E27FC236}">
                  <a16:creationId xmlns:a16="http://schemas.microsoft.com/office/drawing/2014/main" id="{DC7828AD-ECE1-4D57-9367-4859F2BC6319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343218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09" name="2">
              <a:extLst>
                <a:ext uri="{FF2B5EF4-FFF2-40B4-BE49-F238E27FC236}">
                  <a16:creationId xmlns:a16="http://schemas.microsoft.com/office/drawing/2014/main" id="{3250A984-2A2F-4F61-B20E-9D3162905130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</a:p>
          </p:txBody>
        </p:sp>
        <p:sp>
          <p:nvSpPr>
            <p:cNvPr id="210" name="2">
              <a:extLst>
                <a:ext uri="{FF2B5EF4-FFF2-40B4-BE49-F238E27FC236}">
                  <a16:creationId xmlns:a16="http://schemas.microsoft.com/office/drawing/2014/main" id="{394D3188-B12F-43E2-AD19-1149259A5849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2454186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</a:p>
          </p:txBody>
        </p:sp>
        <p:sp>
          <p:nvSpPr>
            <p:cNvPr id="211" name="diagram block">
              <a:extLst>
                <a:ext uri="{FF2B5EF4-FFF2-40B4-BE49-F238E27FC236}">
                  <a16:creationId xmlns:a16="http://schemas.microsoft.com/office/drawing/2014/main" id="{C35AFBE3-A2BC-4FD0-9038-99A9A0F1B681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449024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12" name="diagram block">
              <a:extLst>
                <a:ext uri="{FF2B5EF4-FFF2-40B4-BE49-F238E27FC236}">
                  <a16:creationId xmlns:a16="http://schemas.microsoft.com/office/drawing/2014/main" id="{9E5EB554-DF01-48A6-A34B-CBB15F436B38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449024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13" name="×">
              <a:extLst>
                <a:ext uri="{FF2B5EF4-FFF2-40B4-BE49-F238E27FC236}">
                  <a16:creationId xmlns:a16="http://schemas.microsoft.com/office/drawing/2014/main" id="{73635287-741A-4261-AD14-4DD15717F275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443863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14" name="diagram block">
              <a:extLst>
                <a:ext uri="{FF2B5EF4-FFF2-40B4-BE49-F238E27FC236}">
                  <a16:creationId xmlns:a16="http://schemas.microsoft.com/office/drawing/2014/main" id="{A195E8DD-03C3-4FD7-8F19-D21247C9A698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449024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15" name="diagram block">
              <a:extLst>
                <a:ext uri="{FF2B5EF4-FFF2-40B4-BE49-F238E27FC236}">
                  <a16:creationId xmlns:a16="http://schemas.microsoft.com/office/drawing/2014/main" id="{D46B65AF-8B76-45FF-ACCF-D594620ED740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449024"/>
              <a:ext cx="108387" cy="105806"/>
            </a:xfrm>
            <a:prstGeom prst="rect">
              <a:avLst/>
            </a:prstGeom>
            <a:solidFill>
              <a:srgbClr val="91BBDF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16" name="diagram block">
              <a:extLst>
                <a:ext uri="{FF2B5EF4-FFF2-40B4-BE49-F238E27FC236}">
                  <a16:creationId xmlns:a16="http://schemas.microsoft.com/office/drawing/2014/main" id="{01342627-C6DD-4A74-BA05-DA48CA5EE12D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449024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17" name="diagram block">
              <a:extLst>
                <a:ext uri="{FF2B5EF4-FFF2-40B4-BE49-F238E27FC236}">
                  <a16:creationId xmlns:a16="http://schemas.microsoft.com/office/drawing/2014/main" id="{1A5BBE19-DC33-4218-9AA9-01BB689099B0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449024"/>
              <a:ext cx="108387" cy="105806"/>
            </a:xfrm>
            <a:prstGeom prst="rect">
              <a:avLst/>
            </a:prstGeom>
            <a:solidFill>
              <a:srgbClr val="2D6FA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18" name="diagram block">
              <a:extLst>
                <a:ext uri="{FF2B5EF4-FFF2-40B4-BE49-F238E27FC236}">
                  <a16:creationId xmlns:a16="http://schemas.microsoft.com/office/drawing/2014/main" id="{76F941E3-32A6-4B21-A0EA-09A93F2ED53A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449024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19" name="diagram block">
              <a:extLst>
                <a:ext uri="{FF2B5EF4-FFF2-40B4-BE49-F238E27FC236}">
                  <a16:creationId xmlns:a16="http://schemas.microsoft.com/office/drawing/2014/main" id="{690BF409-B604-4170-9A78-B5416245B8ED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449024"/>
              <a:ext cx="108387" cy="105806"/>
            </a:xfrm>
            <a:prstGeom prst="rect">
              <a:avLst/>
            </a:prstGeom>
            <a:solidFill>
              <a:srgbClr val="346CA8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20" name="3">
              <a:extLst>
                <a:ext uri="{FF2B5EF4-FFF2-40B4-BE49-F238E27FC236}">
                  <a16:creationId xmlns:a16="http://schemas.microsoft.com/office/drawing/2014/main" id="{E36FB345-3D3E-4293-B01E-EAFCF5C4E91A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3</a:t>
              </a:r>
            </a:p>
          </p:txBody>
        </p:sp>
        <p:sp>
          <p:nvSpPr>
            <p:cNvPr id="221" name="3">
              <a:extLst>
                <a:ext uri="{FF2B5EF4-FFF2-40B4-BE49-F238E27FC236}">
                  <a16:creationId xmlns:a16="http://schemas.microsoft.com/office/drawing/2014/main" id="{8F19A73D-D14E-44FA-92FD-73E6A2583FD9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2559992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3</a:t>
              </a:r>
            </a:p>
          </p:txBody>
        </p:sp>
        <p:sp>
          <p:nvSpPr>
            <p:cNvPr id="222" name="diagram block">
              <a:extLst>
                <a:ext uri="{FF2B5EF4-FFF2-40B4-BE49-F238E27FC236}">
                  <a16:creationId xmlns:a16="http://schemas.microsoft.com/office/drawing/2014/main" id="{6B4ADE51-ED82-46B5-B213-0E1C80816299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554831"/>
              <a:ext cx="108387" cy="105806"/>
            </a:xfrm>
            <a:prstGeom prst="rect">
              <a:avLst/>
            </a:prstGeom>
            <a:solidFill>
              <a:srgbClr val="5D93C7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23" name="diagram block">
              <a:extLst>
                <a:ext uri="{FF2B5EF4-FFF2-40B4-BE49-F238E27FC236}">
                  <a16:creationId xmlns:a16="http://schemas.microsoft.com/office/drawing/2014/main" id="{7C247C51-6C59-4B5F-B002-6B37BDA8150B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554831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24" name="diagram block">
              <a:extLst>
                <a:ext uri="{FF2B5EF4-FFF2-40B4-BE49-F238E27FC236}">
                  <a16:creationId xmlns:a16="http://schemas.microsoft.com/office/drawing/2014/main" id="{55C3BDCA-A5CE-40C0-AEE2-D49924BDA5F2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554831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25" name="×">
              <a:extLst>
                <a:ext uri="{FF2B5EF4-FFF2-40B4-BE49-F238E27FC236}">
                  <a16:creationId xmlns:a16="http://schemas.microsoft.com/office/drawing/2014/main" id="{F12DA199-144C-4097-BE34-76D59A7218B9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549669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26" name="diagram block">
              <a:extLst>
                <a:ext uri="{FF2B5EF4-FFF2-40B4-BE49-F238E27FC236}">
                  <a16:creationId xmlns:a16="http://schemas.microsoft.com/office/drawing/2014/main" id="{EC13939E-B647-4728-9009-90A9AE12494D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554831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27" name="diagram block">
              <a:extLst>
                <a:ext uri="{FF2B5EF4-FFF2-40B4-BE49-F238E27FC236}">
                  <a16:creationId xmlns:a16="http://schemas.microsoft.com/office/drawing/2014/main" id="{04329114-5D56-46BE-BBC7-6FF38FB8B1C6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554831"/>
              <a:ext cx="108387" cy="105806"/>
            </a:xfrm>
            <a:prstGeom prst="rect">
              <a:avLst/>
            </a:prstGeom>
            <a:solidFill>
              <a:srgbClr val="2D6FA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28" name="diagram block">
              <a:extLst>
                <a:ext uri="{FF2B5EF4-FFF2-40B4-BE49-F238E27FC236}">
                  <a16:creationId xmlns:a16="http://schemas.microsoft.com/office/drawing/2014/main" id="{9DA8284D-AF4B-428B-BA89-27E812F679A3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554831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29" name="diagram block">
              <a:extLst>
                <a:ext uri="{FF2B5EF4-FFF2-40B4-BE49-F238E27FC236}">
                  <a16:creationId xmlns:a16="http://schemas.microsoft.com/office/drawing/2014/main" id="{F51153EE-2A13-4BBD-A29D-1872916CFDA2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554831"/>
              <a:ext cx="108387" cy="105806"/>
            </a:xfrm>
            <a:prstGeom prst="rect">
              <a:avLst/>
            </a:prstGeom>
            <a:solidFill>
              <a:srgbClr val="346CA8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30" name="diagram block">
              <a:extLst>
                <a:ext uri="{FF2B5EF4-FFF2-40B4-BE49-F238E27FC236}">
                  <a16:creationId xmlns:a16="http://schemas.microsoft.com/office/drawing/2014/main" id="{2CDA99F4-7A5D-4C5E-8656-1496BAB93E16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554831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31" name="4">
              <a:extLst>
                <a:ext uri="{FF2B5EF4-FFF2-40B4-BE49-F238E27FC236}">
                  <a16:creationId xmlns:a16="http://schemas.microsoft.com/office/drawing/2014/main" id="{271781AA-7FE4-41F4-920F-F0705A9A7855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  <p:sp>
          <p:nvSpPr>
            <p:cNvPr id="232" name="4">
              <a:extLst>
                <a:ext uri="{FF2B5EF4-FFF2-40B4-BE49-F238E27FC236}">
                  <a16:creationId xmlns:a16="http://schemas.microsoft.com/office/drawing/2014/main" id="{FDD66F61-F8EE-46A0-B363-0F589DA0A096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2665798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  <p:sp>
          <p:nvSpPr>
            <p:cNvPr id="233" name="diagram block">
              <a:extLst>
                <a:ext uri="{FF2B5EF4-FFF2-40B4-BE49-F238E27FC236}">
                  <a16:creationId xmlns:a16="http://schemas.microsoft.com/office/drawing/2014/main" id="{97F5DBBB-112A-47DF-A1C7-8247E86C8295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660637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34" name="diagram block">
              <a:extLst>
                <a:ext uri="{FF2B5EF4-FFF2-40B4-BE49-F238E27FC236}">
                  <a16:creationId xmlns:a16="http://schemas.microsoft.com/office/drawing/2014/main" id="{2464A174-C029-4201-89FE-0DE06C90FC1D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660637"/>
              <a:ext cx="108387" cy="105806"/>
            </a:xfrm>
            <a:prstGeom prst="rect">
              <a:avLst/>
            </a:prstGeom>
            <a:solidFill>
              <a:srgbClr val="91BBDF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35" name="diagram block">
              <a:extLst>
                <a:ext uri="{FF2B5EF4-FFF2-40B4-BE49-F238E27FC236}">
                  <a16:creationId xmlns:a16="http://schemas.microsoft.com/office/drawing/2014/main" id="{F7389914-74E2-4A58-8927-4A56D016EDDC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660637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36" name="diagram block">
              <a:extLst>
                <a:ext uri="{FF2B5EF4-FFF2-40B4-BE49-F238E27FC236}">
                  <a16:creationId xmlns:a16="http://schemas.microsoft.com/office/drawing/2014/main" id="{DC2640B7-6194-414C-A3A7-3908119555B6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660637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37" name="×">
              <a:extLst>
                <a:ext uri="{FF2B5EF4-FFF2-40B4-BE49-F238E27FC236}">
                  <a16:creationId xmlns:a16="http://schemas.microsoft.com/office/drawing/2014/main" id="{B9BE3170-709D-4ED9-BDCA-0CA0410692D7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655475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38" name="diagram block">
              <a:extLst>
                <a:ext uri="{FF2B5EF4-FFF2-40B4-BE49-F238E27FC236}">
                  <a16:creationId xmlns:a16="http://schemas.microsoft.com/office/drawing/2014/main" id="{C45FF630-97AE-424A-95A2-956D13B3BF6B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660637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39" name="diagram block">
              <a:extLst>
                <a:ext uri="{FF2B5EF4-FFF2-40B4-BE49-F238E27FC236}">
                  <a16:creationId xmlns:a16="http://schemas.microsoft.com/office/drawing/2014/main" id="{460B3CB8-BCAB-43A8-9F4E-69C34F4BB93F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660637"/>
              <a:ext cx="108387" cy="105806"/>
            </a:xfrm>
            <a:prstGeom prst="rect">
              <a:avLst/>
            </a:prstGeom>
            <a:solidFill>
              <a:srgbClr val="346CA8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40" name="diagram block">
              <a:extLst>
                <a:ext uri="{FF2B5EF4-FFF2-40B4-BE49-F238E27FC236}">
                  <a16:creationId xmlns:a16="http://schemas.microsoft.com/office/drawing/2014/main" id="{A1924554-BF33-48E1-8575-A46FF2DA12E1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660637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41" name="diagram block">
              <a:extLst>
                <a:ext uri="{FF2B5EF4-FFF2-40B4-BE49-F238E27FC236}">
                  <a16:creationId xmlns:a16="http://schemas.microsoft.com/office/drawing/2014/main" id="{48C4941D-0779-4221-BBE7-7F413C42525A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660637"/>
              <a:ext cx="108387" cy="105806"/>
            </a:xfrm>
            <a:prstGeom prst="rect">
              <a:avLst/>
            </a:prstGeom>
            <a:solidFill>
              <a:srgbClr val="5D93C7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42" name="5">
              <a:extLst>
                <a:ext uri="{FF2B5EF4-FFF2-40B4-BE49-F238E27FC236}">
                  <a16:creationId xmlns:a16="http://schemas.microsoft.com/office/drawing/2014/main" id="{311D8324-FD10-4B5F-9F49-0740E7717E45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5</a:t>
              </a:r>
            </a:p>
          </p:txBody>
        </p:sp>
        <p:sp>
          <p:nvSpPr>
            <p:cNvPr id="243" name="5">
              <a:extLst>
                <a:ext uri="{FF2B5EF4-FFF2-40B4-BE49-F238E27FC236}">
                  <a16:creationId xmlns:a16="http://schemas.microsoft.com/office/drawing/2014/main" id="{8FE51466-A443-4857-8357-A66CA307E8A9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2771604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5</a:t>
              </a:r>
            </a:p>
          </p:txBody>
        </p:sp>
        <p:sp>
          <p:nvSpPr>
            <p:cNvPr id="244" name="diagram block">
              <a:extLst>
                <a:ext uri="{FF2B5EF4-FFF2-40B4-BE49-F238E27FC236}">
                  <a16:creationId xmlns:a16="http://schemas.microsoft.com/office/drawing/2014/main" id="{DFB17C76-C946-4C65-B6F2-CBC821F7AF70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766443"/>
              <a:ext cx="108387" cy="105806"/>
            </a:xfrm>
            <a:prstGeom prst="rect">
              <a:avLst/>
            </a:prstGeom>
            <a:solidFill>
              <a:srgbClr val="91BBDF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45" name="diagram block">
              <a:extLst>
                <a:ext uri="{FF2B5EF4-FFF2-40B4-BE49-F238E27FC236}">
                  <a16:creationId xmlns:a16="http://schemas.microsoft.com/office/drawing/2014/main" id="{DE729B86-77AB-400E-9D3E-30559932396B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766443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46" name="diagram block">
              <a:extLst>
                <a:ext uri="{FF2B5EF4-FFF2-40B4-BE49-F238E27FC236}">
                  <a16:creationId xmlns:a16="http://schemas.microsoft.com/office/drawing/2014/main" id="{2E7B7A27-85D0-44AD-9148-A1847C8A6F45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766443"/>
              <a:ext cx="108387" cy="105806"/>
            </a:xfrm>
            <a:prstGeom prst="rect">
              <a:avLst/>
            </a:prstGeom>
            <a:solidFill>
              <a:srgbClr val="2D6FA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47" name="diagram block">
              <a:extLst>
                <a:ext uri="{FF2B5EF4-FFF2-40B4-BE49-F238E27FC236}">
                  <a16:creationId xmlns:a16="http://schemas.microsoft.com/office/drawing/2014/main" id="{A2B0B439-CD39-4D17-A48C-A96BD4BE0F61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766443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48" name="diagram block">
              <a:extLst>
                <a:ext uri="{FF2B5EF4-FFF2-40B4-BE49-F238E27FC236}">
                  <a16:creationId xmlns:a16="http://schemas.microsoft.com/office/drawing/2014/main" id="{62C54D95-DB16-4D63-B2B2-011CE38952C1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766443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49" name="×">
              <a:extLst>
                <a:ext uri="{FF2B5EF4-FFF2-40B4-BE49-F238E27FC236}">
                  <a16:creationId xmlns:a16="http://schemas.microsoft.com/office/drawing/2014/main" id="{ECD6EB84-2638-4988-BF53-534B6A1B3E79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761282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50" name="diagram block">
              <a:extLst>
                <a:ext uri="{FF2B5EF4-FFF2-40B4-BE49-F238E27FC236}">
                  <a16:creationId xmlns:a16="http://schemas.microsoft.com/office/drawing/2014/main" id="{BAE8EF10-AC96-427B-8EEC-C118E6585F0E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766443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51" name="diagram block">
              <a:extLst>
                <a:ext uri="{FF2B5EF4-FFF2-40B4-BE49-F238E27FC236}">
                  <a16:creationId xmlns:a16="http://schemas.microsoft.com/office/drawing/2014/main" id="{8922C7F3-6A57-4276-B977-50C19DD3B790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766443"/>
              <a:ext cx="108387" cy="105806"/>
            </a:xfrm>
            <a:prstGeom prst="rect">
              <a:avLst/>
            </a:prstGeom>
            <a:solidFill>
              <a:srgbClr val="5D93C7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52" name="diagram block">
              <a:extLst>
                <a:ext uri="{FF2B5EF4-FFF2-40B4-BE49-F238E27FC236}">
                  <a16:creationId xmlns:a16="http://schemas.microsoft.com/office/drawing/2014/main" id="{D1311D8E-B809-4E22-8CBF-BCB558F4C0D5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766443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53" name="6">
              <a:extLst>
                <a:ext uri="{FF2B5EF4-FFF2-40B4-BE49-F238E27FC236}">
                  <a16:creationId xmlns:a16="http://schemas.microsoft.com/office/drawing/2014/main" id="{7D152973-2A2F-4F6C-A346-48F18F7F6EAE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6</a:t>
              </a:r>
            </a:p>
          </p:txBody>
        </p:sp>
        <p:sp>
          <p:nvSpPr>
            <p:cNvPr id="254" name="6">
              <a:extLst>
                <a:ext uri="{FF2B5EF4-FFF2-40B4-BE49-F238E27FC236}">
                  <a16:creationId xmlns:a16="http://schemas.microsoft.com/office/drawing/2014/main" id="{628EF0C0-E209-4814-B894-B273FED5BD42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2877410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6</a:t>
              </a:r>
            </a:p>
          </p:txBody>
        </p:sp>
        <p:sp>
          <p:nvSpPr>
            <p:cNvPr id="255" name="diagram block">
              <a:extLst>
                <a:ext uri="{FF2B5EF4-FFF2-40B4-BE49-F238E27FC236}">
                  <a16:creationId xmlns:a16="http://schemas.microsoft.com/office/drawing/2014/main" id="{442BB66C-7843-4D0C-A65A-B20F318CDF1B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872249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56" name="diagram block">
              <a:extLst>
                <a:ext uri="{FF2B5EF4-FFF2-40B4-BE49-F238E27FC236}">
                  <a16:creationId xmlns:a16="http://schemas.microsoft.com/office/drawing/2014/main" id="{59DF6D83-6EBA-4091-9830-6B45A53BC985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872249"/>
              <a:ext cx="108387" cy="105806"/>
            </a:xfrm>
            <a:prstGeom prst="rect">
              <a:avLst/>
            </a:prstGeom>
            <a:solidFill>
              <a:srgbClr val="2D6FA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57" name="diagram block">
              <a:extLst>
                <a:ext uri="{FF2B5EF4-FFF2-40B4-BE49-F238E27FC236}">
                  <a16:creationId xmlns:a16="http://schemas.microsoft.com/office/drawing/2014/main" id="{FBE5F464-D2F3-4B37-978E-605F28B842E7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872249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58" name="diagram block">
              <a:extLst>
                <a:ext uri="{FF2B5EF4-FFF2-40B4-BE49-F238E27FC236}">
                  <a16:creationId xmlns:a16="http://schemas.microsoft.com/office/drawing/2014/main" id="{25665FE3-EED5-4A94-B8E3-8771A590AEBD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872249"/>
              <a:ext cx="108387" cy="105806"/>
            </a:xfrm>
            <a:prstGeom prst="rect">
              <a:avLst/>
            </a:prstGeom>
            <a:solidFill>
              <a:srgbClr val="346CA8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59" name="diagram block">
              <a:extLst>
                <a:ext uri="{FF2B5EF4-FFF2-40B4-BE49-F238E27FC236}">
                  <a16:creationId xmlns:a16="http://schemas.microsoft.com/office/drawing/2014/main" id="{50D7CACB-B9BE-469B-8475-46D978353358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872249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60" name="diagram block">
              <a:extLst>
                <a:ext uri="{FF2B5EF4-FFF2-40B4-BE49-F238E27FC236}">
                  <a16:creationId xmlns:a16="http://schemas.microsoft.com/office/drawing/2014/main" id="{495CA37E-2E61-4413-9021-9C272E38A623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872249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61" name="×">
              <a:extLst>
                <a:ext uri="{FF2B5EF4-FFF2-40B4-BE49-F238E27FC236}">
                  <a16:creationId xmlns:a16="http://schemas.microsoft.com/office/drawing/2014/main" id="{D9D46BAE-4C48-4EA1-8D13-F128B714673E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867088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62" name="diagram block">
              <a:extLst>
                <a:ext uri="{FF2B5EF4-FFF2-40B4-BE49-F238E27FC236}">
                  <a16:creationId xmlns:a16="http://schemas.microsoft.com/office/drawing/2014/main" id="{1921F444-4FD0-4BEB-ABBE-E3E9C50F04DE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872249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63" name="diagram block">
              <a:extLst>
                <a:ext uri="{FF2B5EF4-FFF2-40B4-BE49-F238E27FC236}">
                  <a16:creationId xmlns:a16="http://schemas.microsoft.com/office/drawing/2014/main" id="{213FF080-0D4A-41BD-9BE2-72E73B8350F8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872249"/>
              <a:ext cx="108387" cy="105806"/>
            </a:xfrm>
            <a:prstGeom prst="rect">
              <a:avLst/>
            </a:prstGeom>
            <a:solidFill>
              <a:srgbClr val="91BBDF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64" name="7">
              <a:extLst>
                <a:ext uri="{FF2B5EF4-FFF2-40B4-BE49-F238E27FC236}">
                  <a16:creationId xmlns:a16="http://schemas.microsoft.com/office/drawing/2014/main" id="{6023A482-7A52-47F3-A4AC-8940503E05B1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7</a:t>
              </a:r>
            </a:p>
          </p:txBody>
        </p:sp>
        <p:sp>
          <p:nvSpPr>
            <p:cNvPr id="265" name="7">
              <a:extLst>
                <a:ext uri="{FF2B5EF4-FFF2-40B4-BE49-F238E27FC236}">
                  <a16:creationId xmlns:a16="http://schemas.microsoft.com/office/drawing/2014/main" id="{9562954B-D28B-4400-8C48-25C9A4A22EC3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2983216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7</a:t>
              </a:r>
            </a:p>
          </p:txBody>
        </p:sp>
        <p:sp>
          <p:nvSpPr>
            <p:cNvPr id="266" name="diagram block">
              <a:extLst>
                <a:ext uri="{FF2B5EF4-FFF2-40B4-BE49-F238E27FC236}">
                  <a16:creationId xmlns:a16="http://schemas.microsoft.com/office/drawing/2014/main" id="{00EDCF3B-0B0C-48EA-85FB-D427BF7D9D90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978055"/>
              <a:ext cx="108387" cy="105806"/>
            </a:xfrm>
            <a:prstGeom prst="rect">
              <a:avLst/>
            </a:prstGeom>
            <a:solidFill>
              <a:srgbClr val="2D6FA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67" name="diagram block">
              <a:extLst>
                <a:ext uri="{FF2B5EF4-FFF2-40B4-BE49-F238E27FC236}">
                  <a16:creationId xmlns:a16="http://schemas.microsoft.com/office/drawing/2014/main" id="{FC029931-E283-4AFD-8FBF-004C144124CC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978055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68" name="diagram block">
              <a:extLst>
                <a:ext uri="{FF2B5EF4-FFF2-40B4-BE49-F238E27FC236}">
                  <a16:creationId xmlns:a16="http://schemas.microsoft.com/office/drawing/2014/main" id="{819DAF18-8C18-4E84-805B-2B3C24111661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978055"/>
              <a:ext cx="108387" cy="105806"/>
            </a:xfrm>
            <a:prstGeom prst="rect">
              <a:avLst/>
            </a:prstGeom>
            <a:solidFill>
              <a:srgbClr val="346CA8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69" name="diagram block">
              <a:extLst>
                <a:ext uri="{FF2B5EF4-FFF2-40B4-BE49-F238E27FC236}">
                  <a16:creationId xmlns:a16="http://schemas.microsoft.com/office/drawing/2014/main" id="{5A99A18E-4E2E-4E09-B2DB-731D984EF509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978055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70" name="diagram block">
              <a:extLst>
                <a:ext uri="{FF2B5EF4-FFF2-40B4-BE49-F238E27FC236}">
                  <a16:creationId xmlns:a16="http://schemas.microsoft.com/office/drawing/2014/main" id="{F149DEB8-65E4-4BFE-A6AB-74705F3C78BE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978055"/>
              <a:ext cx="108387" cy="105806"/>
            </a:xfrm>
            <a:prstGeom prst="rect">
              <a:avLst/>
            </a:prstGeom>
            <a:solidFill>
              <a:srgbClr val="5D93C7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71" name="diagram block">
              <a:extLst>
                <a:ext uri="{FF2B5EF4-FFF2-40B4-BE49-F238E27FC236}">
                  <a16:creationId xmlns:a16="http://schemas.microsoft.com/office/drawing/2014/main" id="{B1D72E2B-C192-4CBC-89F4-900533AC61F4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978055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72" name="diagram block">
              <a:extLst>
                <a:ext uri="{FF2B5EF4-FFF2-40B4-BE49-F238E27FC236}">
                  <a16:creationId xmlns:a16="http://schemas.microsoft.com/office/drawing/2014/main" id="{1B541F39-A17B-4339-BB18-92C2CC2095DD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978055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73" name="×">
              <a:extLst>
                <a:ext uri="{FF2B5EF4-FFF2-40B4-BE49-F238E27FC236}">
                  <a16:creationId xmlns:a16="http://schemas.microsoft.com/office/drawing/2014/main" id="{C3457DE9-FF04-4A4E-85F6-83DFB2CA7DCD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972894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74" name="diagram block">
              <a:extLst>
                <a:ext uri="{FF2B5EF4-FFF2-40B4-BE49-F238E27FC236}">
                  <a16:creationId xmlns:a16="http://schemas.microsoft.com/office/drawing/2014/main" id="{8C29811B-D62E-4898-8C8E-F41AF9BB1477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978055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75" name="8">
              <a:extLst>
                <a:ext uri="{FF2B5EF4-FFF2-40B4-BE49-F238E27FC236}">
                  <a16:creationId xmlns:a16="http://schemas.microsoft.com/office/drawing/2014/main" id="{861A3C7A-0852-454D-985C-2F7132BBAFF7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</a:t>
              </a:r>
            </a:p>
          </p:txBody>
        </p:sp>
        <p:sp>
          <p:nvSpPr>
            <p:cNvPr id="276" name="8">
              <a:extLst>
                <a:ext uri="{FF2B5EF4-FFF2-40B4-BE49-F238E27FC236}">
                  <a16:creationId xmlns:a16="http://schemas.microsoft.com/office/drawing/2014/main" id="{991373B9-2643-42C5-8DD1-6BFCABAAB3F3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3089022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</a:t>
              </a:r>
            </a:p>
          </p:txBody>
        </p:sp>
        <p:sp>
          <p:nvSpPr>
            <p:cNvPr id="277" name="diagram block">
              <a:extLst>
                <a:ext uri="{FF2B5EF4-FFF2-40B4-BE49-F238E27FC236}">
                  <a16:creationId xmlns:a16="http://schemas.microsoft.com/office/drawing/2014/main" id="{BB5F62FA-905A-48FC-B423-630018492B41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3083861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78" name="diagram block">
              <a:extLst>
                <a:ext uri="{FF2B5EF4-FFF2-40B4-BE49-F238E27FC236}">
                  <a16:creationId xmlns:a16="http://schemas.microsoft.com/office/drawing/2014/main" id="{846D5835-757B-4DEC-A754-78B7BE494B18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3083861"/>
              <a:ext cx="108387" cy="105806"/>
            </a:xfrm>
            <a:prstGeom prst="rect">
              <a:avLst/>
            </a:prstGeom>
            <a:solidFill>
              <a:srgbClr val="346CA8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79" name="diagram block">
              <a:extLst>
                <a:ext uri="{FF2B5EF4-FFF2-40B4-BE49-F238E27FC236}">
                  <a16:creationId xmlns:a16="http://schemas.microsoft.com/office/drawing/2014/main" id="{1D82B5CE-C7BC-47A6-9B40-BC0D92E41D5F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3083861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80" name="diagram block">
              <a:extLst>
                <a:ext uri="{FF2B5EF4-FFF2-40B4-BE49-F238E27FC236}">
                  <a16:creationId xmlns:a16="http://schemas.microsoft.com/office/drawing/2014/main" id="{925D7186-1208-4056-8A9B-C21FA7F74438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3083861"/>
              <a:ext cx="108387" cy="105806"/>
            </a:xfrm>
            <a:prstGeom prst="rect">
              <a:avLst/>
            </a:prstGeom>
            <a:solidFill>
              <a:srgbClr val="5D93C7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81" name="diagram block">
              <a:extLst>
                <a:ext uri="{FF2B5EF4-FFF2-40B4-BE49-F238E27FC236}">
                  <a16:creationId xmlns:a16="http://schemas.microsoft.com/office/drawing/2014/main" id="{77DDC1F2-3429-43BA-B048-70BA927C149A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3083861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82" name="diagram block">
              <a:extLst>
                <a:ext uri="{FF2B5EF4-FFF2-40B4-BE49-F238E27FC236}">
                  <a16:creationId xmlns:a16="http://schemas.microsoft.com/office/drawing/2014/main" id="{3B542FC8-9A7D-498F-95E4-4D9BA00C4438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3083861"/>
              <a:ext cx="108387" cy="105806"/>
            </a:xfrm>
            <a:prstGeom prst="rect">
              <a:avLst/>
            </a:prstGeom>
            <a:solidFill>
              <a:srgbClr val="91BBDF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83" name="diagram block">
              <a:extLst>
                <a:ext uri="{FF2B5EF4-FFF2-40B4-BE49-F238E27FC236}">
                  <a16:creationId xmlns:a16="http://schemas.microsoft.com/office/drawing/2014/main" id="{D779FC10-E2E9-4E51-8D4A-42C6C7E13220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3083861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84" name="diagram block">
              <a:extLst>
                <a:ext uri="{FF2B5EF4-FFF2-40B4-BE49-F238E27FC236}">
                  <a16:creationId xmlns:a16="http://schemas.microsoft.com/office/drawing/2014/main" id="{DCA34AF0-36BE-4410-BD56-AA586004BDF2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3083861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85" name="×">
              <a:extLst>
                <a:ext uri="{FF2B5EF4-FFF2-40B4-BE49-F238E27FC236}">
                  <a16:creationId xmlns:a16="http://schemas.microsoft.com/office/drawing/2014/main" id="{A63B4E3C-D966-4AC3-916B-9C2D24B546AD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3078700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86" name="dᵢⱼ">
              <a:extLst>
                <a:ext uri="{FF2B5EF4-FFF2-40B4-BE49-F238E27FC236}">
                  <a16:creationId xmlns:a16="http://schemas.microsoft.com/office/drawing/2014/main" id="{545AA2A6-493F-46D5-9E28-1307D91ACAF7}"/>
                </a:ext>
              </a:extLst>
            </p:cNvPr>
            <p:cNvSpPr>
              <a:spLocks noGrp="1"/>
            </p:cNvSpPr>
            <p:nvPr/>
          </p:nvSpPr>
          <p:spPr>
            <a:xfrm>
              <a:off x="4422323" y="2260638"/>
              <a:ext cx="175483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dᵢⱼ</a:t>
              </a:r>
            </a:p>
          </p:txBody>
        </p:sp>
        <p:sp>
          <p:nvSpPr>
            <p:cNvPr id="287" name="diagram block">
              <a:extLst>
                <a:ext uri="{FF2B5EF4-FFF2-40B4-BE49-F238E27FC236}">
                  <a16:creationId xmlns:a16="http://schemas.microsoft.com/office/drawing/2014/main" id="{D2FACA13-20BC-4C85-B60D-C655516C042F}"/>
                </a:ext>
              </a:extLst>
            </p:cNvPr>
            <p:cNvSpPr>
              <a:spLocks noGrp="1"/>
            </p:cNvSpPr>
            <p:nvPr/>
          </p:nvSpPr>
          <p:spPr>
            <a:xfrm>
              <a:off x="4386194" y="2394831"/>
              <a:ext cx="77419" cy="707095"/>
            </a:xfrm>
            <a:prstGeom prst="rect">
              <a:avLst/>
            </a:prstGeom>
            <a:gradFill>
              <a:gsLst>
                <a:gs pos="0">
                  <a:srgbClr val="1E609E"/>
                </a:gs>
                <a:gs pos="100000">
                  <a:srgbClr val="D2E6F4"/>
                </a:gs>
              </a:gsLst>
              <a:lin ang="5400000"/>
            </a:gradFill>
            <a:ln w="3097">
              <a:solidFill>
                <a:srgbClr val="B6CADB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88" name="high">
              <a:extLst>
                <a:ext uri="{FF2B5EF4-FFF2-40B4-BE49-F238E27FC236}">
                  <a16:creationId xmlns:a16="http://schemas.microsoft.com/office/drawing/2014/main" id="{14F2445F-4E25-4D39-8CD0-DC0DEAEB3DB4}"/>
                </a:ext>
              </a:extLst>
            </p:cNvPr>
            <p:cNvSpPr>
              <a:spLocks noGrp="1"/>
            </p:cNvSpPr>
            <p:nvPr/>
          </p:nvSpPr>
          <p:spPr>
            <a:xfrm>
              <a:off x="4504903" y="2405154"/>
              <a:ext cx="149677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high</a:t>
              </a:r>
            </a:p>
          </p:txBody>
        </p:sp>
        <p:sp>
          <p:nvSpPr>
            <p:cNvPr id="289" name="low">
              <a:extLst>
                <a:ext uri="{FF2B5EF4-FFF2-40B4-BE49-F238E27FC236}">
                  <a16:creationId xmlns:a16="http://schemas.microsoft.com/office/drawing/2014/main" id="{04A9FB9D-F2F5-437F-84D1-81C503C3F0B7}"/>
                </a:ext>
              </a:extLst>
            </p:cNvPr>
            <p:cNvSpPr>
              <a:spLocks noGrp="1"/>
            </p:cNvSpPr>
            <p:nvPr/>
          </p:nvSpPr>
          <p:spPr>
            <a:xfrm>
              <a:off x="4504903" y="3019345"/>
              <a:ext cx="149677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low</a:t>
              </a:r>
            </a:p>
          </p:txBody>
        </p:sp>
        <p:sp>
          <p:nvSpPr>
            <p:cNvPr id="290" name="Diagonal masked (no self-relation)">
              <a:extLst>
                <a:ext uri="{FF2B5EF4-FFF2-40B4-BE49-F238E27FC236}">
                  <a16:creationId xmlns:a16="http://schemas.microsoft.com/office/drawing/2014/main" id="{E7E2275A-4C16-4AE5-B8C2-0940C9A51F9C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3277409"/>
              <a:ext cx="1378060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Diagonal masked (no self-relation)</a:t>
              </a:r>
            </a:p>
          </p:txBody>
        </p:sp>
        <p:sp>
          <p:nvSpPr>
            <p:cNvPr id="291" name="All other windows are neighbors">
              <a:extLst>
                <a:ext uri="{FF2B5EF4-FFF2-40B4-BE49-F238E27FC236}">
                  <a16:creationId xmlns:a16="http://schemas.microsoft.com/office/drawing/2014/main" id="{EE73D0FF-D00D-45B2-90BD-DA6396FA5FAC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3401280"/>
              <a:ext cx="1378060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All other windows are neighbors</a:t>
              </a:r>
            </a:p>
          </p:txBody>
        </p:sp>
        <p:sp>
          <p:nvSpPr>
            <p:cNvPr id="292" name="diagram block">
              <a:extLst>
                <a:ext uri="{FF2B5EF4-FFF2-40B4-BE49-F238E27FC236}">
                  <a16:creationId xmlns:a16="http://schemas.microsoft.com/office/drawing/2014/main" id="{D97A58A8-2305-4B53-9A47-5BCDE201F64E}"/>
                </a:ext>
              </a:extLst>
            </p:cNvPr>
            <p:cNvSpPr>
              <a:spLocks noGrp="1"/>
            </p:cNvSpPr>
            <p:nvPr/>
          </p:nvSpPr>
          <p:spPr>
            <a:xfrm>
              <a:off x="4721677" y="2229670"/>
              <a:ext cx="1176770" cy="1326447"/>
            </a:xfrm>
            <a:prstGeom prst="roundRect">
              <a:avLst>
                <a:gd name="adj" fmla="val 1754"/>
              </a:avLst>
            </a:prstGeom>
            <a:solidFill>
              <a:srgbClr val="F8FBFF"/>
            </a:solidFill>
            <a:ln w="3871">
              <a:solidFill>
                <a:srgbClr val="C3DDF3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293" name="dᵢⱼ =">
              <a:extLst>
                <a:ext uri="{FF2B5EF4-FFF2-40B4-BE49-F238E27FC236}">
                  <a16:creationId xmlns:a16="http://schemas.microsoft.com/office/drawing/2014/main" id="{E952C16D-0443-45E2-BA8F-B2AF72253384}"/>
                </a:ext>
              </a:extLst>
            </p:cNvPr>
            <p:cNvSpPr>
              <a:spLocks noGrp="1"/>
            </p:cNvSpPr>
            <p:nvPr/>
          </p:nvSpPr>
          <p:spPr>
            <a:xfrm>
              <a:off x="4799096" y="2379347"/>
              <a:ext cx="283870" cy="15999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dᵢⱼ =</a:t>
              </a:r>
            </a:p>
          </p:txBody>
        </p:sp>
        <p:sp>
          <p:nvSpPr>
            <p:cNvPr id="294" name="1">
              <a:extLst>
                <a:ext uri="{FF2B5EF4-FFF2-40B4-BE49-F238E27FC236}">
                  <a16:creationId xmlns:a16="http://schemas.microsoft.com/office/drawing/2014/main" id="{79C1CEBA-88AD-4877-AB6B-6B6ED6E54483}"/>
                </a:ext>
              </a:extLst>
            </p:cNvPr>
            <p:cNvSpPr>
              <a:spLocks noGrp="1"/>
            </p:cNvSpPr>
            <p:nvPr/>
          </p:nvSpPr>
          <p:spPr>
            <a:xfrm>
              <a:off x="5088127" y="2332896"/>
              <a:ext cx="129032" cy="1105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9227"/>
            </a:bodyPr>
            <a:lstStyle>
              <a:def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cxnSp>
          <p:nvCxnSpPr>
            <p:cNvPr id="295" name="native PowerPoint connector">
              <a:extLst>
                <a:ext uri="{FF2B5EF4-FFF2-40B4-BE49-F238E27FC236}">
                  <a16:creationId xmlns:a16="http://schemas.microsoft.com/office/drawing/2014/main" id="{3D3ACCA3-7F89-4F0E-8EB6-86D831F2B385}"/>
                </a:ext>
              </a:extLst>
            </p:cNvPr>
            <p:cNvCxnSpPr/>
            <p:nvPr/>
          </p:nvCxnSpPr>
          <p:spPr>
            <a:xfrm>
              <a:off x="5103611" y="2461876"/>
              <a:ext cx="98064" cy="0"/>
            </a:xfrm>
            <a:prstGeom prst="straightConnector1">
              <a:avLst/>
            </a:prstGeom>
            <a:ln w="5677">
              <a:solidFill>
                <a:srgbClr val="061A3C"/>
              </a:solidFill>
              <a:prstDash val="solid"/>
            </a:ln>
          </p:spPr>
        </p:cxnSp>
        <p:sp>
          <p:nvSpPr>
            <p:cNvPr id="296" name="18">
              <a:extLst>
                <a:ext uri="{FF2B5EF4-FFF2-40B4-BE49-F238E27FC236}">
                  <a16:creationId xmlns:a16="http://schemas.microsoft.com/office/drawing/2014/main" id="{B7EAECAC-D7C0-4B19-82F6-7CEE59C070B9}"/>
                </a:ext>
              </a:extLst>
            </p:cNvPr>
            <p:cNvSpPr>
              <a:spLocks noGrp="1"/>
            </p:cNvSpPr>
            <p:nvPr/>
          </p:nvSpPr>
          <p:spPr>
            <a:xfrm>
              <a:off x="5088127" y="2469773"/>
              <a:ext cx="129032" cy="1105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9227"/>
            </a:bodyPr>
            <a:lstStyle>
              <a:def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18</a:t>
              </a:r>
            </a:p>
          </p:txBody>
        </p:sp>
        <p:sp>
          <p:nvSpPr>
            <p:cNvPr id="297" name="∑">
              <a:extLst>
                <a:ext uri="{FF2B5EF4-FFF2-40B4-BE49-F238E27FC236}">
                  <a16:creationId xmlns:a16="http://schemas.microsoft.com/office/drawing/2014/main" id="{2C7DA7CF-F5D9-4AFF-AEF9-DB76D35478B1}"/>
                </a:ext>
              </a:extLst>
            </p:cNvPr>
            <p:cNvSpPr>
              <a:spLocks noGrp="1"/>
            </p:cNvSpPr>
            <p:nvPr/>
          </p:nvSpPr>
          <p:spPr>
            <a:xfrm>
              <a:off x="5227482" y="2332896"/>
              <a:ext cx="201290" cy="23225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704"/>
            </a:bodyPr>
            <a:lstStyle>
              <a:def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∑</a:t>
              </a:r>
            </a:p>
          </p:txBody>
        </p:sp>
        <p:sp>
          <p:nvSpPr>
            <p:cNvPr id="298" name="18">
              <a:extLst>
                <a:ext uri="{FF2B5EF4-FFF2-40B4-BE49-F238E27FC236}">
                  <a16:creationId xmlns:a16="http://schemas.microsoft.com/office/drawing/2014/main" id="{13B81F44-F733-47E0-9DE9-C6D1B3F818EA}"/>
                </a:ext>
              </a:extLst>
            </p:cNvPr>
            <p:cNvSpPr>
              <a:spLocks noGrp="1"/>
            </p:cNvSpPr>
            <p:nvPr/>
          </p:nvSpPr>
          <p:spPr>
            <a:xfrm>
              <a:off x="5279095" y="2260638"/>
              <a:ext cx="149677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18</a:t>
              </a:r>
            </a:p>
          </p:txBody>
        </p:sp>
        <p:sp>
          <p:nvSpPr>
            <p:cNvPr id="299" name="k=1">
              <a:extLst>
                <a:ext uri="{FF2B5EF4-FFF2-40B4-BE49-F238E27FC236}">
                  <a16:creationId xmlns:a16="http://schemas.microsoft.com/office/drawing/2014/main" id="{CE245E2F-3CE1-4A9C-9963-F7C2B0FA9103}"/>
                </a:ext>
              </a:extLst>
            </p:cNvPr>
            <p:cNvSpPr>
              <a:spLocks noGrp="1"/>
            </p:cNvSpPr>
            <p:nvPr/>
          </p:nvSpPr>
          <p:spPr>
            <a:xfrm>
              <a:off x="5211998" y="2559992"/>
              <a:ext cx="221935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k=1</a:t>
              </a:r>
            </a:p>
          </p:txBody>
        </p:sp>
        <p:sp>
          <p:nvSpPr>
            <p:cNvPr id="300" name="(uᵢₖ − uⱼₖ)²">
              <a:extLst>
                <a:ext uri="{FF2B5EF4-FFF2-40B4-BE49-F238E27FC236}">
                  <a16:creationId xmlns:a16="http://schemas.microsoft.com/office/drawing/2014/main" id="{0DC79FA8-254B-4BCC-BA61-0FE45233BAEE}"/>
                </a:ext>
              </a:extLst>
            </p:cNvPr>
            <p:cNvSpPr>
              <a:spLocks noGrp="1"/>
            </p:cNvSpPr>
            <p:nvPr/>
          </p:nvSpPr>
          <p:spPr>
            <a:xfrm>
              <a:off x="5402965" y="2394831"/>
              <a:ext cx="469676" cy="1651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09"/>
            </a:bodyPr>
            <a:lstStyle>
              <a:def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(uᵢₖ − uⱼₖ)²</a:t>
              </a:r>
            </a:p>
          </p:txBody>
        </p:sp>
        <p:sp>
          <p:nvSpPr>
            <p:cNvPr id="301" name="p(j | i) =">
              <a:extLst>
                <a:ext uri="{FF2B5EF4-FFF2-40B4-BE49-F238E27FC236}">
                  <a16:creationId xmlns:a16="http://schemas.microsoft.com/office/drawing/2014/main" id="{EBDAF7A2-0C2B-451F-A4AC-E58297724EDE}"/>
                </a:ext>
              </a:extLst>
            </p:cNvPr>
            <p:cNvSpPr>
              <a:spLocks noGrp="1"/>
            </p:cNvSpPr>
            <p:nvPr/>
          </p:nvSpPr>
          <p:spPr>
            <a:xfrm>
              <a:off x="4773290" y="2776765"/>
              <a:ext cx="459353" cy="17548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p(j | i) =</a:t>
              </a:r>
            </a:p>
          </p:txBody>
        </p:sp>
        <p:sp>
          <p:nvSpPr>
            <p:cNvPr id="302" name="exp(−dᵢⱼ / τₐ)">
              <a:extLst>
                <a:ext uri="{FF2B5EF4-FFF2-40B4-BE49-F238E27FC236}">
                  <a16:creationId xmlns:a16="http://schemas.microsoft.com/office/drawing/2014/main" id="{6A5349B9-A768-4F2B-9CFE-4C8B548A140E}"/>
                </a:ext>
              </a:extLst>
            </p:cNvPr>
            <p:cNvSpPr>
              <a:spLocks noGrp="1"/>
            </p:cNvSpPr>
            <p:nvPr/>
          </p:nvSpPr>
          <p:spPr>
            <a:xfrm>
              <a:off x="5217159" y="2689024"/>
              <a:ext cx="650321" cy="1322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exp</a:t>
              </a:r>
              <a:r>
                <a: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(−dᵢⱼ / τₐ)</a:t>
              </a:r>
            </a:p>
          </p:txBody>
        </p:sp>
        <p:cxnSp>
          <p:nvCxnSpPr>
            <p:cNvPr id="303" name="native PowerPoint connector">
              <a:extLst>
                <a:ext uri="{FF2B5EF4-FFF2-40B4-BE49-F238E27FC236}">
                  <a16:creationId xmlns:a16="http://schemas.microsoft.com/office/drawing/2014/main" id="{64312D20-D465-4197-A349-B23FB3C875CB}"/>
                </a:ext>
              </a:extLst>
            </p:cNvPr>
            <p:cNvCxnSpPr/>
            <p:nvPr/>
          </p:nvCxnSpPr>
          <p:spPr>
            <a:xfrm>
              <a:off x="5232643" y="2843294"/>
              <a:ext cx="619353" cy="0"/>
            </a:xfrm>
            <a:prstGeom prst="straightConnector1">
              <a:avLst/>
            </a:prstGeom>
            <a:ln w="5677">
              <a:solidFill>
                <a:srgbClr val="061A3C"/>
              </a:solidFill>
              <a:prstDash val="solid"/>
            </a:ln>
          </p:spPr>
        </p:cxnSp>
        <p:sp>
          <p:nvSpPr>
            <p:cNvPr id="304" name="∑ₖ≠ᵢ exp(−dᵢₖ / τₐ)">
              <a:extLst>
                <a:ext uri="{FF2B5EF4-FFF2-40B4-BE49-F238E27FC236}">
                  <a16:creationId xmlns:a16="http://schemas.microsoft.com/office/drawing/2014/main" id="{D40D89C2-B2C3-400F-AB41-2B10E028F95D}"/>
                </a:ext>
              </a:extLst>
            </p:cNvPr>
            <p:cNvSpPr>
              <a:spLocks noGrp="1"/>
            </p:cNvSpPr>
            <p:nvPr/>
          </p:nvSpPr>
          <p:spPr>
            <a:xfrm>
              <a:off x="5217159" y="2852739"/>
              <a:ext cx="650321" cy="1322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5283"/>
            </a:bodyPr>
            <a:lstStyle>
              <a:def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∑ₖ≠ᵢ </a:t>
              </a:r>
              <a:r>
                <a: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exp</a:t>
              </a:r>
              <a:r>
                <a: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(−dᵢₖ / τₐ)</a:t>
              </a:r>
            </a:p>
          </p:txBody>
        </p:sp>
        <p:sp>
          <p:nvSpPr>
            <p:cNvPr id="305" name="for j ≠ i">
              <a:extLst>
                <a:ext uri="{FF2B5EF4-FFF2-40B4-BE49-F238E27FC236}">
                  <a16:creationId xmlns:a16="http://schemas.microsoft.com/office/drawing/2014/main" id="{1979637F-20D6-42CD-BBE6-E28A9E79D7FB}"/>
                </a:ext>
              </a:extLst>
            </p:cNvPr>
            <p:cNvSpPr>
              <a:spLocks noGrp="1"/>
            </p:cNvSpPr>
            <p:nvPr/>
          </p:nvSpPr>
          <p:spPr>
            <a:xfrm>
              <a:off x="5088127" y="3081281"/>
              <a:ext cx="717417" cy="1393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796"/>
            </a:bodyPr>
            <a:lstStyle>
              <a:def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for j ≠ i</a:t>
              </a:r>
            </a:p>
          </p:txBody>
        </p:sp>
        <p:sp>
          <p:nvSpPr>
            <p:cNvPr id="306" name="τₐ: frozen temperature">
              <a:extLst>
                <a:ext uri="{FF2B5EF4-FFF2-40B4-BE49-F238E27FC236}">
                  <a16:creationId xmlns:a16="http://schemas.microsoft.com/office/drawing/2014/main" id="{683370FD-FB9F-439C-A0BB-7F703251670F}"/>
                </a:ext>
              </a:extLst>
            </p:cNvPr>
            <p:cNvSpPr>
              <a:spLocks noGrp="1"/>
            </p:cNvSpPr>
            <p:nvPr/>
          </p:nvSpPr>
          <p:spPr>
            <a:xfrm>
              <a:off x="4799096" y="3215474"/>
              <a:ext cx="1037416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257"/>
            </a:bodyPr>
            <a:lstStyle>
              <a:def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τₐ: frozen temperature</a:t>
              </a:r>
            </a:p>
          </p:txBody>
        </p:sp>
        <p:sp>
          <p:nvSpPr>
            <p:cNvPr id="307" name="(teacher and student share τₐ)">
              <a:extLst>
                <a:ext uri="{FF2B5EF4-FFF2-40B4-BE49-F238E27FC236}">
                  <a16:creationId xmlns:a16="http://schemas.microsoft.com/office/drawing/2014/main" id="{1E9094BA-FE7F-4F60-BAF3-1AC36F1838B7}"/>
                </a:ext>
              </a:extLst>
            </p:cNvPr>
            <p:cNvSpPr>
              <a:spLocks noGrp="1"/>
            </p:cNvSpPr>
            <p:nvPr/>
          </p:nvSpPr>
          <p:spPr>
            <a:xfrm>
              <a:off x="4793935" y="3349667"/>
              <a:ext cx="1047739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146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(teacher and student share τₐ)</a:t>
              </a:r>
            </a:p>
          </p:txBody>
        </p:sp>
        <p:sp>
          <p:nvSpPr>
            <p:cNvPr id="308" name="diagram block">
              <a:extLst>
                <a:ext uri="{FF2B5EF4-FFF2-40B4-BE49-F238E27FC236}">
                  <a16:creationId xmlns:a16="http://schemas.microsoft.com/office/drawing/2014/main" id="{ED666A9D-FE59-4CA0-87E6-4D52500FD056}"/>
                </a:ext>
              </a:extLst>
            </p:cNvPr>
            <p:cNvSpPr>
              <a:spLocks noGrp="1"/>
            </p:cNvSpPr>
            <p:nvPr/>
          </p:nvSpPr>
          <p:spPr>
            <a:xfrm>
              <a:off x="3292004" y="3623214"/>
              <a:ext cx="2611605" cy="304515"/>
            </a:xfrm>
            <a:prstGeom prst="roundRect">
              <a:avLst>
                <a:gd name="adj" fmla="val 10169"/>
              </a:avLst>
            </a:prstGeom>
            <a:gradFill>
              <a:gsLst>
                <a:gs pos="0">
                  <a:srgbClr val="FFF0F2"/>
                </a:gs>
                <a:gs pos="100000">
                  <a:srgbClr val="FFF8F8"/>
                </a:gs>
              </a:gsLst>
              <a:lin ang="5400000"/>
            </a:gradFill>
            <a:ln w="5161">
              <a:solidFill>
                <a:srgbClr val="F889A0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09" name="L_temp,a = mean_i KL(p^T(· | i) || p^S(· | i))">
              <a:extLst>
                <a:ext uri="{FF2B5EF4-FFF2-40B4-BE49-F238E27FC236}">
                  <a16:creationId xmlns:a16="http://schemas.microsoft.com/office/drawing/2014/main" id="{1C449188-9D64-4FE0-8051-E1EDE56E75A6}"/>
                </a:ext>
              </a:extLst>
            </p:cNvPr>
            <p:cNvSpPr>
              <a:spLocks noGrp="1"/>
            </p:cNvSpPr>
            <p:nvPr/>
          </p:nvSpPr>
          <p:spPr>
            <a:xfrm>
              <a:off x="3348778" y="3710956"/>
              <a:ext cx="2503218" cy="18064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L</a:t>
              </a:r>
              <a:r>
                <a:rPr sz="547" b="0" i="1" baseline="-23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temp,a</a:t>
              </a:r>
              <a:r>
                <a: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 = </a:t>
              </a:r>
              <a:r>
                <a:rPr sz="750" b="0" i="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mean</a:t>
              </a:r>
              <a:r>
                <a:rPr sz="547" b="0" i="1" baseline="-23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i</a:t>
              </a:r>
              <a:r>
                <a: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750" b="0" i="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KL</a:t>
              </a:r>
              <a:r>
                <a: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(p</a:t>
              </a:r>
              <a:r>
                <a:rPr sz="547" b="0" i="1" baseline="27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  <a:r>
                <a: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(· | i) || p</a:t>
              </a:r>
              <a:r>
                <a:rPr sz="547" b="0" i="1" baseline="27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(· | i))</a:t>
              </a:r>
            </a:p>
          </p:txBody>
        </p:sp>
        <p:sp>
          <p:nvSpPr>
            <p:cNvPr id="310" name="All other windows are neighbors (diagonal masked).">
              <a:extLst>
                <a:ext uri="{FF2B5EF4-FFF2-40B4-BE49-F238E27FC236}">
                  <a16:creationId xmlns:a16="http://schemas.microsoft.com/office/drawing/2014/main" id="{F7066CF3-25FD-4EDB-AAC5-B6D34E1B4335}"/>
                </a:ext>
              </a:extLst>
            </p:cNvPr>
            <p:cNvSpPr>
              <a:spLocks noGrp="1"/>
            </p:cNvSpPr>
            <p:nvPr/>
          </p:nvSpPr>
          <p:spPr>
            <a:xfrm>
              <a:off x="3322972" y="3999987"/>
              <a:ext cx="2534185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All other windows are neighbors (diagonal masked).</a:t>
              </a:r>
            </a:p>
          </p:txBody>
        </p:sp>
        <p:sp>
          <p:nvSpPr>
            <p:cNvPr id="311" name="diagram block">
              <a:extLst>
                <a:ext uri="{FF2B5EF4-FFF2-40B4-BE49-F238E27FC236}">
                  <a16:creationId xmlns:a16="http://schemas.microsoft.com/office/drawing/2014/main" id="{D0EA959D-E50A-499E-BE92-E417EDCCE349}"/>
                </a:ext>
              </a:extLst>
            </p:cNvPr>
            <p:cNvSpPr>
              <a:spLocks noGrp="1"/>
            </p:cNvSpPr>
            <p:nvPr/>
          </p:nvSpPr>
          <p:spPr>
            <a:xfrm>
              <a:off x="6073931" y="650321"/>
              <a:ext cx="1775478" cy="1300641"/>
            </a:xfrm>
            <a:prstGeom prst="roundRect">
              <a:avLst>
                <a:gd name="adj" fmla="val 2778"/>
              </a:avLst>
            </a:prstGeom>
            <a:gradFill>
              <a:gsLst>
                <a:gs pos="0">
                  <a:srgbClr val="FFF5DC"/>
                </a:gs>
                <a:gs pos="100000">
                  <a:srgbClr val="FFFDF8"/>
                </a:gs>
              </a:gsLst>
              <a:lin ang="5400000"/>
            </a:gradFill>
            <a:ln w="5161">
              <a:solidFill>
                <a:srgbClr val="F3D18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12" name="diagram block">
              <a:extLst>
                <a:ext uri="{FF2B5EF4-FFF2-40B4-BE49-F238E27FC236}">
                  <a16:creationId xmlns:a16="http://schemas.microsoft.com/office/drawing/2014/main" id="{12A7A761-18C1-4CE9-9CA9-4970D138E6D2}"/>
                </a:ext>
              </a:extLst>
            </p:cNvPr>
            <p:cNvSpPr>
              <a:spLocks noGrp="1"/>
            </p:cNvSpPr>
            <p:nvPr/>
          </p:nvSpPr>
          <p:spPr>
            <a:xfrm>
              <a:off x="6073931" y="650321"/>
              <a:ext cx="1775478" cy="175483"/>
            </a:xfrm>
            <a:prstGeom prst="roundRect">
              <a:avLst>
                <a:gd name="adj" fmla="val 14706"/>
              </a:avLst>
            </a:prstGeom>
            <a:gradFill>
              <a:gsLst>
                <a:gs pos="0">
                  <a:srgbClr val="FFF1D0"/>
                </a:gs>
                <a:gs pos="100000">
                  <a:srgbClr val="FFF9ED"/>
                </a:gs>
              </a:gsLst>
              <a:lin ang="5400000"/>
            </a:gradFill>
            <a:ln w="5161">
              <a:noFill/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13" name="Camera 1 (view 1)">
              <a:extLst>
                <a:ext uri="{FF2B5EF4-FFF2-40B4-BE49-F238E27FC236}">
                  <a16:creationId xmlns:a16="http://schemas.microsoft.com/office/drawing/2014/main" id="{3DC68C9C-1913-4B07-93A6-6E6F05FFDDE7}"/>
                </a:ext>
              </a:extLst>
            </p:cNvPr>
            <p:cNvSpPr>
              <a:spLocks noGrp="1"/>
            </p:cNvSpPr>
            <p:nvPr/>
          </p:nvSpPr>
          <p:spPr>
            <a:xfrm>
              <a:off x="6099737" y="676127"/>
              <a:ext cx="1723865" cy="123871"/>
            </a:xfrm>
            <a:prstGeom prst="rect">
              <a:avLst/>
            </a:prstGeom>
            <a:gradFill>
              <a:gsLst>
                <a:gs pos="0">
                  <a:srgbClr val="FFF1D0"/>
                </a:gs>
                <a:gs pos="100000">
                  <a:srgbClr val="FFF9ED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95287"/>
            </a:bodyPr>
            <a:lstStyle>
              <a:def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Camera 1 (view 1)</a:t>
              </a:r>
            </a:p>
          </p:txBody>
        </p:sp>
        <p:sp>
          <p:nvSpPr>
            <p:cNvPr id="314" name="Time 1 (future)">
              <a:extLst>
                <a:ext uri="{FF2B5EF4-FFF2-40B4-BE49-F238E27FC236}">
                  <a16:creationId xmlns:a16="http://schemas.microsoft.com/office/drawing/2014/main" id="{84400F71-545B-4B18-BD9C-CD6F50B00ECC}"/>
                </a:ext>
              </a:extLst>
            </p:cNvPr>
            <p:cNvSpPr>
              <a:spLocks noGrp="1"/>
            </p:cNvSpPr>
            <p:nvPr/>
          </p:nvSpPr>
          <p:spPr>
            <a:xfrm>
              <a:off x="6182317" y="877417"/>
              <a:ext cx="748385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6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Time 1 (future)</a:t>
              </a:r>
            </a:p>
          </p:txBody>
        </p:sp>
        <p:sp>
          <p:nvSpPr>
            <p:cNvPr id="315" name="Time 2 (future)">
              <a:extLst>
                <a:ext uri="{FF2B5EF4-FFF2-40B4-BE49-F238E27FC236}">
                  <a16:creationId xmlns:a16="http://schemas.microsoft.com/office/drawing/2014/main" id="{CCB0CE4B-F674-4EF6-B6ED-AE2FCDC121BA}"/>
                </a:ext>
              </a:extLst>
            </p:cNvPr>
            <p:cNvSpPr>
              <a:spLocks noGrp="1"/>
            </p:cNvSpPr>
            <p:nvPr/>
          </p:nvSpPr>
          <p:spPr>
            <a:xfrm>
              <a:off x="7064895" y="877417"/>
              <a:ext cx="748385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6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Time 2 (future)</a:t>
              </a:r>
            </a:p>
          </p:txBody>
        </p:sp>
        <p:sp>
          <p:nvSpPr>
            <p:cNvPr id="316" name="diagram block">
              <a:extLst>
                <a:ext uri="{FF2B5EF4-FFF2-40B4-BE49-F238E27FC236}">
                  <a16:creationId xmlns:a16="http://schemas.microsoft.com/office/drawing/2014/main" id="{20899F4E-191D-40A8-85BE-B2612884F1E4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17" name="diagram block">
              <a:extLst>
                <a:ext uri="{FF2B5EF4-FFF2-40B4-BE49-F238E27FC236}">
                  <a16:creationId xmlns:a16="http://schemas.microsoft.com/office/drawing/2014/main" id="{BEAE38F3-91B7-409D-97EB-EFF7C8819D51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18" name="diagram block">
              <a:extLst>
                <a:ext uri="{FF2B5EF4-FFF2-40B4-BE49-F238E27FC236}">
                  <a16:creationId xmlns:a16="http://schemas.microsoft.com/office/drawing/2014/main" id="{39046024-043B-4128-9FB0-FD7739582EFE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19" name="diagram block">
              <a:extLst>
                <a:ext uri="{FF2B5EF4-FFF2-40B4-BE49-F238E27FC236}">
                  <a16:creationId xmlns:a16="http://schemas.microsoft.com/office/drawing/2014/main" id="{E4D2298F-C293-45AA-AE37-03E00E3BFE8D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20" name="diagram block">
              <a:extLst>
                <a:ext uri="{FF2B5EF4-FFF2-40B4-BE49-F238E27FC236}">
                  <a16:creationId xmlns:a16="http://schemas.microsoft.com/office/drawing/2014/main" id="{D3997C13-DBCE-4836-8587-D792DF127AB8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21" name="diagram block">
              <a:extLst>
                <a:ext uri="{FF2B5EF4-FFF2-40B4-BE49-F238E27FC236}">
                  <a16:creationId xmlns:a16="http://schemas.microsoft.com/office/drawing/2014/main" id="{900D2935-F595-4D78-8902-FCBAFC49CC0A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22" name="diagram block">
              <a:extLst>
                <a:ext uri="{FF2B5EF4-FFF2-40B4-BE49-F238E27FC236}">
                  <a16:creationId xmlns:a16="http://schemas.microsoft.com/office/drawing/2014/main" id="{BD3424D6-DE79-4104-B473-29B98191E2AE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23" name="diagram block">
              <a:extLst>
                <a:ext uri="{FF2B5EF4-FFF2-40B4-BE49-F238E27FC236}">
                  <a16:creationId xmlns:a16="http://schemas.microsoft.com/office/drawing/2014/main" id="{E6CC36D5-128F-4195-B55D-C4A532CD388F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24" name="diagram block">
              <a:extLst>
                <a:ext uri="{FF2B5EF4-FFF2-40B4-BE49-F238E27FC236}">
                  <a16:creationId xmlns:a16="http://schemas.microsoft.com/office/drawing/2014/main" id="{2D9F8BB9-068E-48C8-A826-0FA23DBA1B19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25" name="diagram block">
              <a:extLst>
                <a:ext uri="{FF2B5EF4-FFF2-40B4-BE49-F238E27FC236}">
                  <a16:creationId xmlns:a16="http://schemas.microsoft.com/office/drawing/2014/main" id="{272416C5-53BE-4620-9600-F241720BEBB9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26" name="diagram block">
              <a:extLst>
                <a:ext uri="{FF2B5EF4-FFF2-40B4-BE49-F238E27FC236}">
                  <a16:creationId xmlns:a16="http://schemas.microsoft.com/office/drawing/2014/main" id="{AB30C460-9531-406D-B655-90D6E0882932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27" name="diagram block">
              <a:extLst>
                <a:ext uri="{FF2B5EF4-FFF2-40B4-BE49-F238E27FC236}">
                  <a16:creationId xmlns:a16="http://schemas.microsoft.com/office/drawing/2014/main" id="{8CBED9F2-3FEB-41E9-AA33-B5E682628773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28" name="diagram block">
              <a:extLst>
                <a:ext uri="{FF2B5EF4-FFF2-40B4-BE49-F238E27FC236}">
                  <a16:creationId xmlns:a16="http://schemas.microsoft.com/office/drawing/2014/main" id="{353AD3B6-0CE9-42A2-B6DE-BBFA45FFF6C6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29" name="diagram block">
              <a:extLst>
                <a:ext uri="{FF2B5EF4-FFF2-40B4-BE49-F238E27FC236}">
                  <a16:creationId xmlns:a16="http://schemas.microsoft.com/office/drawing/2014/main" id="{B1CF6198-9339-4A5E-810D-FE75EBB8C87E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30" name="diagram block">
              <a:extLst>
                <a:ext uri="{FF2B5EF4-FFF2-40B4-BE49-F238E27FC236}">
                  <a16:creationId xmlns:a16="http://schemas.microsoft.com/office/drawing/2014/main" id="{C3BEE39A-7118-4AA9-A9B0-0643FC4F5A42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31" name="diagram block">
              <a:extLst>
                <a:ext uri="{FF2B5EF4-FFF2-40B4-BE49-F238E27FC236}">
                  <a16:creationId xmlns:a16="http://schemas.microsoft.com/office/drawing/2014/main" id="{D7314CCC-48F5-4951-BCE7-A1160F7989A9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32" name="diagram block">
              <a:extLst>
                <a:ext uri="{FF2B5EF4-FFF2-40B4-BE49-F238E27FC236}">
                  <a16:creationId xmlns:a16="http://schemas.microsoft.com/office/drawing/2014/main" id="{7A3DD1B8-5B25-4CA8-A2FF-2D1CAE14AC7F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1202577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33" name="diagram block">
              <a:extLst>
                <a:ext uri="{FF2B5EF4-FFF2-40B4-BE49-F238E27FC236}">
                  <a16:creationId xmlns:a16="http://schemas.microsoft.com/office/drawing/2014/main" id="{8754E66D-5324-4E7A-8C3E-01E1805254E6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1202577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34" name="diagram block">
              <a:extLst>
                <a:ext uri="{FF2B5EF4-FFF2-40B4-BE49-F238E27FC236}">
                  <a16:creationId xmlns:a16="http://schemas.microsoft.com/office/drawing/2014/main" id="{B66BEACF-7EAF-427C-B3A8-6E1D4EDF7D0A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1202577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35" name="diagram block">
              <a:extLst>
                <a:ext uri="{FF2B5EF4-FFF2-40B4-BE49-F238E27FC236}">
                  <a16:creationId xmlns:a16="http://schemas.microsoft.com/office/drawing/2014/main" id="{484F609A-B1B3-4D93-8794-AC5E7FB82F1A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36" name="diagram block">
              <a:extLst>
                <a:ext uri="{FF2B5EF4-FFF2-40B4-BE49-F238E27FC236}">
                  <a16:creationId xmlns:a16="http://schemas.microsoft.com/office/drawing/2014/main" id="{F7299DC5-E429-454F-A436-2434C712AD49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37" name="diagram block">
              <a:extLst>
                <a:ext uri="{FF2B5EF4-FFF2-40B4-BE49-F238E27FC236}">
                  <a16:creationId xmlns:a16="http://schemas.microsoft.com/office/drawing/2014/main" id="{9A5D7DF6-4436-456A-AFF7-3E6A3D675FF3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38" name="diagram block">
              <a:extLst>
                <a:ext uri="{FF2B5EF4-FFF2-40B4-BE49-F238E27FC236}">
                  <a16:creationId xmlns:a16="http://schemas.microsoft.com/office/drawing/2014/main" id="{CD522E54-DA04-4371-B1C7-F8BA930D4616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39" name="diagram block">
              <a:extLst>
                <a:ext uri="{FF2B5EF4-FFF2-40B4-BE49-F238E27FC236}">
                  <a16:creationId xmlns:a16="http://schemas.microsoft.com/office/drawing/2014/main" id="{65ECF492-0B18-49A1-8E8F-6C5991A10912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1308383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40" name="diagram block">
              <a:extLst>
                <a:ext uri="{FF2B5EF4-FFF2-40B4-BE49-F238E27FC236}">
                  <a16:creationId xmlns:a16="http://schemas.microsoft.com/office/drawing/2014/main" id="{209EAC7A-F0D7-447A-9BB5-22D89647BB4E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1308383"/>
              <a:ext cx="99096" cy="99096"/>
            </a:xfrm>
            <a:prstGeom prst="rect">
              <a:avLst/>
            </a:prstGeom>
            <a:solidFill>
              <a:srgbClr val="FF8156"/>
            </a:solidFill>
            <a:ln w="7226">
              <a:solidFill>
                <a:srgbClr val="D7442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41" name="diagram block">
              <a:extLst>
                <a:ext uri="{FF2B5EF4-FFF2-40B4-BE49-F238E27FC236}">
                  <a16:creationId xmlns:a16="http://schemas.microsoft.com/office/drawing/2014/main" id="{ADFDF273-E73F-455E-92DF-32F91D23750C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1308383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42" name="diagram block">
              <a:extLst>
                <a:ext uri="{FF2B5EF4-FFF2-40B4-BE49-F238E27FC236}">
                  <a16:creationId xmlns:a16="http://schemas.microsoft.com/office/drawing/2014/main" id="{72326222-FF00-4F9F-BFBC-7BDF013ED556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43" name="diagram block">
              <a:extLst>
                <a:ext uri="{FF2B5EF4-FFF2-40B4-BE49-F238E27FC236}">
                  <a16:creationId xmlns:a16="http://schemas.microsoft.com/office/drawing/2014/main" id="{48EFA103-FE61-452F-A6CB-F13A189EA9D7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44" name="diagram block">
              <a:extLst>
                <a:ext uri="{FF2B5EF4-FFF2-40B4-BE49-F238E27FC236}">
                  <a16:creationId xmlns:a16="http://schemas.microsoft.com/office/drawing/2014/main" id="{97DC1158-D0AE-4C50-8F26-995CED9D4A66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45" name="diagram block">
              <a:extLst>
                <a:ext uri="{FF2B5EF4-FFF2-40B4-BE49-F238E27FC236}">
                  <a16:creationId xmlns:a16="http://schemas.microsoft.com/office/drawing/2014/main" id="{DEBACAC9-4741-4A01-ABD5-28642711C766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46" name="diagram block">
              <a:extLst>
                <a:ext uri="{FF2B5EF4-FFF2-40B4-BE49-F238E27FC236}">
                  <a16:creationId xmlns:a16="http://schemas.microsoft.com/office/drawing/2014/main" id="{640442AE-43F3-4475-A636-AE23B2284792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1414189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47" name="diagram block">
              <a:extLst>
                <a:ext uri="{FF2B5EF4-FFF2-40B4-BE49-F238E27FC236}">
                  <a16:creationId xmlns:a16="http://schemas.microsoft.com/office/drawing/2014/main" id="{77D0D036-F7B8-44F8-BEFF-B29EEDC3DAE3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1414189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48" name="diagram block">
              <a:extLst>
                <a:ext uri="{FF2B5EF4-FFF2-40B4-BE49-F238E27FC236}">
                  <a16:creationId xmlns:a16="http://schemas.microsoft.com/office/drawing/2014/main" id="{E9A0DCF8-8065-43F2-A345-FA55BF807F84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1414189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49" name="diagram block">
              <a:extLst>
                <a:ext uri="{FF2B5EF4-FFF2-40B4-BE49-F238E27FC236}">
                  <a16:creationId xmlns:a16="http://schemas.microsoft.com/office/drawing/2014/main" id="{117886E5-DE93-4F37-AAEE-041F6EFA96AC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50" name="diagram block">
              <a:extLst>
                <a:ext uri="{FF2B5EF4-FFF2-40B4-BE49-F238E27FC236}">
                  <a16:creationId xmlns:a16="http://schemas.microsoft.com/office/drawing/2014/main" id="{81B8CA4B-E3B7-493D-831F-8ACED6DD48E1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51" name="diagram block">
              <a:extLst>
                <a:ext uri="{FF2B5EF4-FFF2-40B4-BE49-F238E27FC236}">
                  <a16:creationId xmlns:a16="http://schemas.microsoft.com/office/drawing/2014/main" id="{57D98762-C106-4EA3-884D-688AF846190C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52" name="diagram block">
              <a:extLst>
                <a:ext uri="{FF2B5EF4-FFF2-40B4-BE49-F238E27FC236}">
                  <a16:creationId xmlns:a16="http://schemas.microsoft.com/office/drawing/2014/main" id="{C00C75AE-BE50-428A-81FC-D51DDC9AE578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53" name="diagram block">
              <a:extLst>
                <a:ext uri="{FF2B5EF4-FFF2-40B4-BE49-F238E27FC236}">
                  <a16:creationId xmlns:a16="http://schemas.microsoft.com/office/drawing/2014/main" id="{280F7DDA-576D-4044-A723-E73A2A78E751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54" name="diagram block">
              <a:extLst>
                <a:ext uri="{FF2B5EF4-FFF2-40B4-BE49-F238E27FC236}">
                  <a16:creationId xmlns:a16="http://schemas.microsoft.com/office/drawing/2014/main" id="{9137B582-2AD7-4DE0-B5FB-A5302005DFE2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55" name="diagram block">
              <a:extLst>
                <a:ext uri="{FF2B5EF4-FFF2-40B4-BE49-F238E27FC236}">
                  <a16:creationId xmlns:a16="http://schemas.microsoft.com/office/drawing/2014/main" id="{B367D77B-EE75-4022-A415-F8C4AA76F475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56" name="diagram block">
              <a:extLst>
                <a:ext uri="{FF2B5EF4-FFF2-40B4-BE49-F238E27FC236}">
                  <a16:creationId xmlns:a16="http://schemas.microsoft.com/office/drawing/2014/main" id="{70A02D7E-493F-4F67-8272-64B4922120C9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57" name="diagram block">
              <a:extLst>
                <a:ext uri="{FF2B5EF4-FFF2-40B4-BE49-F238E27FC236}">
                  <a16:creationId xmlns:a16="http://schemas.microsoft.com/office/drawing/2014/main" id="{E7DA89C6-15D5-4758-A2F4-4F11D78D89EF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58" name="diagram block">
              <a:extLst>
                <a:ext uri="{FF2B5EF4-FFF2-40B4-BE49-F238E27FC236}">
                  <a16:creationId xmlns:a16="http://schemas.microsoft.com/office/drawing/2014/main" id="{029797E2-5EA8-4162-80E3-8083B15DA1BA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59" name="diagram block">
              <a:extLst>
                <a:ext uri="{FF2B5EF4-FFF2-40B4-BE49-F238E27FC236}">
                  <a16:creationId xmlns:a16="http://schemas.microsoft.com/office/drawing/2014/main" id="{AD88C4F3-2827-4531-9669-431C8C6A51BC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60" name="diagram block">
              <a:extLst>
                <a:ext uri="{FF2B5EF4-FFF2-40B4-BE49-F238E27FC236}">
                  <a16:creationId xmlns:a16="http://schemas.microsoft.com/office/drawing/2014/main" id="{9F04E19F-EA41-4F94-A5D8-B88204151771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61" name="diagram block">
              <a:extLst>
                <a:ext uri="{FF2B5EF4-FFF2-40B4-BE49-F238E27FC236}">
                  <a16:creationId xmlns:a16="http://schemas.microsoft.com/office/drawing/2014/main" id="{FDF597D7-CDC5-4C41-9086-6440E5616F04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62" name="diagram block">
              <a:extLst>
                <a:ext uri="{FF2B5EF4-FFF2-40B4-BE49-F238E27FC236}">
                  <a16:creationId xmlns:a16="http://schemas.microsoft.com/office/drawing/2014/main" id="{009EFD01-1C79-40DF-B10B-EFE0162B9026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63" name="diagram block">
              <a:extLst>
                <a:ext uri="{FF2B5EF4-FFF2-40B4-BE49-F238E27FC236}">
                  <a16:creationId xmlns:a16="http://schemas.microsoft.com/office/drawing/2014/main" id="{61E2DBF1-D9BF-436C-9513-0C58C1E38A73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64" name="diagram block">
              <a:extLst>
                <a:ext uri="{FF2B5EF4-FFF2-40B4-BE49-F238E27FC236}">
                  <a16:creationId xmlns:a16="http://schemas.microsoft.com/office/drawing/2014/main" id="{9948D688-2829-467A-99FB-63A3E5BA4696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65" name="diagram block">
              <a:extLst>
                <a:ext uri="{FF2B5EF4-FFF2-40B4-BE49-F238E27FC236}">
                  <a16:creationId xmlns:a16="http://schemas.microsoft.com/office/drawing/2014/main" id="{BA844B3E-E747-412F-8B38-6E0F7D7D36FA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66" name="diagram block">
              <a:extLst>
                <a:ext uri="{FF2B5EF4-FFF2-40B4-BE49-F238E27FC236}">
                  <a16:creationId xmlns:a16="http://schemas.microsoft.com/office/drawing/2014/main" id="{7FDEAC42-5868-481D-8A88-D5097506FEBF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67" name="diagram block">
              <a:extLst>
                <a:ext uri="{FF2B5EF4-FFF2-40B4-BE49-F238E27FC236}">
                  <a16:creationId xmlns:a16="http://schemas.microsoft.com/office/drawing/2014/main" id="{82942969-0648-484C-A099-CC16A5E10467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68" name="diagram block">
              <a:extLst>
                <a:ext uri="{FF2B5EF4-FFF2-40B4-BE49-F238E27FC236}">
                  <a16:creationId xmlns:a16="http://schemas.microsoft.com/office/drawing/2014/main" id="{F196AB46-4604-4B06-8A5C-BF5489E15ACD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69" name="diagram block">
              <a:extLst>
                <a:ext uri="{FF2B5EF4-FFF2-40B4-BE49-F238E27FC236}">
                  <a16:creationId xmlns:a16="http://schemas.microsoft.com/office/drawing/2014/main" id="{ACE2019E-F25C-4B78-A0E6-A9E4AD8F2306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70" name="diagram block">
              <a:extLst>
                <a:ext uri="{FF2B5EF4-FFF2-40B4-BE49-F238E27FC236}">
                  <a16:creationId xmlns:a16="http://schemas.microsoft.com/office/drawing/2014/main" id="{06DA9EE3-714A-450D-87A1-C1CE2CFFD7B9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71" name="diagram block">
              <a:extLst>
                <a:ext uri="{FF2B5EF4-FFF2-40B4-BE49-F238E27FC236}">
                  <a16:creationId xmlns:a16="http://schemas.microsoft.com/office/drawing/2014/main" id="{C2AE2621-D8A1-4553-AF3D-A221A1257E90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72" name="diagram block">
              <a:extLst>
                <a:ext uri="{FF2B5EF4-FFF2-40B4-BE49-F238E27FC236}">
                  <a16:creationId xmlns:a16="http://schemas.microsoft.com/office/drawing/2014/main" id="{02368D6B-DA92-4988-BE6A-099F328E011E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73" name="diagram block">
              <a:extLst>
                <a:ext uri="{FF2B5EF4-FFF2-40B4-BE49-F238E27FC236}">
                  <a16:creationId xmlns:a16="http://schemas.microsoft.com/office/drawing/2014/main" id="{41E193AA-AA7D-4AF6-A00C-F29CDE1B9FDE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74" name="diagram block">
              <a:extLst>
                <a:ext uri="{FF2B5EF4-FFF2-40B4-BE49-F238E27FC236}">
                  <a16:creationId xmlns:a16="http://schemas.microsoft.com/office/drawing/2014/main" id="{88027013-9EFB-4F56-BD1E-858F3D9F3045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75" name="diagram block">
              <a:extLst>
                <a:ext uri="{FF2B5EF4-FFF2-40B4-BE49-F238E27FC236}">
                  <a16:creationId xmlns:a16="http://schemas.microsoft.com/office/drawing/2014/main" id="{F76E8132-6246-45E2-B4ED-F530A06B02DB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76" name="diagram block">
              <a:extLst>
                <a:ext uri="{FF2B5EF4-FFF2-40B4-BE49-F238E27FC236}">
                  <a16:creationId xmlns:a16="http://schemas.microsoft.com/office/drawing/2014/main" id="{B4DC48CE-7182-4FDD-A98D-CFA594B08C0F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77" name="diagram block">
              <a:extLst>
                <a:ext uri="{FF2B5EF4-FFF2-40B4-BE49-F238E27FC236}">
                  <a16:creationId xmlns:a16="http://schemas.microsoft.com/office/drawing/2014/main" id="{EC726FFA-0717-4F55-83E1-1693214C099F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78" name="diagram block">
              <a:extLst>
                <a:ext uri="{FF2B5EF4-FFF2-40B4-BE49-F238E27FC236}">
                  <a16:creationId xmlns:a16="http://schemas.microsoft.com/office/drawing/2014/main" id="{85645627-75D1-4D5F-B4FD-2E6AE597BC66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79" name="diagram block">
              <a:extLst>
                <a:ext uri="{FF2B5EF4-FFF2-40B4-BE49-F238E27FC236}">
                  <a16:creationId xmlns:a16="http://schemas.microsoft.com/office/drawing/2014/main" id="{7DAE0903-1123-44F4-8542-F3127A702422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80" name="diagram block">
              <a:extLst>
                <a:ext uri="{FF2B5EF4-FFF2-40B4-BE49-F238E27FC236}">
                  <a16:creationId xmlns:a16="http://schemas.microsoft.com/office/drawing/2014/main" id="{0CBD914A-5553-4408-9B61-71D8D114D663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81" name="diagram block">
              <a:extLst>
                <a:ext uri="{FF2B5EF4-FFF2-40B4-BE49-F238E27FC236}">
                  <a16:creationId xmlns:a16="http://schemas.microsoft.com/office/drawing/2014/main" id="{7558D190-63E5-4EB8-A1FA-194DDD116396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82" name="diagram block">
              <a:extLst>
                <a:ext uri="{FF2B5EF4-FFF2-40B4-BE49-F238E27FC236}">
                  <a16:creationId xmlns:a16="http://schemas.microsoft.com/office/drawing/2014/main" id="{F3333BA8-0934-43EC-AB29-6E37D5C8B8B9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83" name="diagram block">
              <a:extLst>
                <a:ext uri="{FF2B5EF4-FFF2-40B4-BE49-F238E27FC236}">
                  <a16:creationId xmlns:a16="http://schemas.microsoft.com/office/drawing/2014/main" id="{2BBDB7A3-9AC2-4D67-8D64-F48DB9B66D08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84" name="diagram block">
              <a:extLst>
                <a:ext uri="{FF2B5EF4-FFF2-40B4-BE49-F238E27FC236}">
                  <a16:creationId xmlns:a16="http://schemas.microsoft.com/office/drawing/2014/main" id="{9E847ED1-92CA-48E9-9501-271253926787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85" name="diagram block">
              <a:extLst>
                <a:ext uri="{FF2B5EF4-FFF2-40B4-BE49-F238E27FC236}">
                  <a16:creationId xmlns:a16="http://schemas.microsoft.com/office/drawing/2014/main" id="{2C18941D-D8B6-48C5-A189-871C9B5B25C5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86" name="diagram block">
              <a:extLst>
                <a:ext uri="{FF2B5EF4-FFF2-40B4-BE49-F238E27FC236}">
                  <a16:creationId xmlns:a16="http://schemas.microsoft.com/office/drawing/2014/main" id="{2A2FD331-3178-4037-ACBC-78CC8AF1F644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87" name="diagram block">
              <a:extLst>
                <a:ext uri="{FF2B5EF4-FFF2-40B4-BE49-F238E27FC236}">
                  <a16:creationId xmlns:a16="http://schemas.microsoft.com/office/drawing/2014/main" id="{14EBB591-726B-47CF-A0D8-7E12C8F61BB1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88" name="diagram block">
              <a:extLst>
                <a:ext uri="{FF2B5EF4-FFF2-40B4-BE49-F238E27FC236}">
                  <a16:creationId xmlns:a16="http://schemas.microsoft.com/office/drawing/2014/main" id="{CBC9458F-633D-4407-ACE5-12C788273282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89" name="diagram block">
              <a:extLst>
                <a:ext uri="{FF2B5EF4-FFF2-40B4-BE49-F238E27FC236}">
                  <a16:creationId xmlns:a16="http://schemas.microsoft.com/office/drawing/2014/main" id="{7ED900F6-0DD9-47B1-9F24-5B06B4EE87B8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1308383"/>
              <a:ext cx="99096" cy="99096"/>
            </a:xfrm>
            <a:prstGeom prst="rect">
              <a:avLst/>
            </a:prstGeom>
            <a:solidFill>
              <a:srgbClr val="FF8156"/>
            </a:solidFill>
            <a:ln w="7226">
              <a:solidFill>
                <a:srgbClr val="D74425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90" name="diagram block">
              <a:extLst>
                <a:ext uri="{FF2B5EF4-FFF2-40B4-BE49-F238E27FC236}">
                  <a16:creationId xmlns:a16="http://schemas.microsoft.com/office/drawing/2014/main" id="{9B53DE25-FDA9-473C-98F3-5FD5B0212870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91" name="diagram block">
              <a:extLst>
                <a:ext uri="{FF2B5EF4-FFF2-40B4-BE49-F238E27FC236}">
                  <a16:creationId xmlns:a16="http://schemas.microsoft.com/office/drawing/2014/main" id="{0D96F4AD-9994-4537-8F43-4BC4CB4D51A0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92" name="diagram block">
              <a:extLst>
                <a:ext uri="{FF2B5EF4-FFF2-40B4-BE49-F238E27FC236}">
                  <a16:creationId xmlns:a16="http://schemas.microsoft.com/office/drawing/2014/main" id="{65472216-417D-44B3-9FE1-E306F62EEF80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93" name="diagram block">
              <a:extLst>
                <a:ext uri="{FF2B5EF4-FFF2-40B4-BE49-F238E27FC236}">
                  <a16:creationId xmlns:a16="http://schemas.microsoft.com/office/drawing/2014/main" id="{25E5693C-A4BE-4A25-8786-AEC329A6DB99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94" name="diagram block">
              <a:extLst>
                <a:ext uri="{FF2B5EF4-FFF2-40B4-BE49-F238E27FC236}">
                  <a16:creationId xmlns:a16="http://schemas.microsoft.com/office/drawing/2014/main" id="{54000EE2-E074-4320-BB42-6F5D791D120C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95" name="diagram block">
              <a:extLst>
                <a:ext uri="{FF2B5EF4-FFF2-40B4-BE49-F238E27FC236}">
                  <a16:creationId xmlns:a16="http://schemas.microsoft.com/office/drawing/2014/main" id="{F940E9A5-70CD-4E36-9F08-18707B4FAAA5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96" name="diagram block">
              <a:extLst>
                <a:ext uri="{FF2B5EF4-FFF2-40B4-BE49-F238E27FC236}">
                  <a16:creationId xmlns:a16="http://schemas.microsoft.com/office/drawing/2014/main" id="{4840DAA8-3486-43E3-B831-FF76E248E289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97" name="diagram block">
              <a:extLst>
                <a:ext uri="{FF2B5EF4-FFF2-40B4-BE49-F238E27FC236}">
                  <a16:creationId xmlns:a16="http://schemas.microsoft.com/office/drawing/2014/main" id="{C4A3F0A7-59D6-4A12-9365-E869AE135355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98" name="diagram block">
              <a:extLst>
                <a:ext uri="{FF2B5EF4-FFF2-40B4-BE49-F238E27FC236}">
                  <a16:creationId xmlns:a16="http://schemas.microsoft.com/office/drawing/2014/main" id="{C28AE9B4-0751-48EC-9829-033773657D53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399" name="diagram block">
              <a:extLst>
                <a:ext uri="{FF2B5EF4-FFF2-40B4-BE49-F238E27FC236}">
                  <a16:creationId xmlns:a16="http://schemas.microsoft.com/office/drawing/2014/main" id="{FD588991-FFE5-46EF-91AA-7CCEB10B8F61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00" name="diagram block">
              <a:extLst>
                <a:ext uri="{FF2B5EF4-FFF2-40B4-BE49-F238E27FC236}">
                  <a16:creationId xmlns:a16="http://schemas.microsoft.com/office/drawing/2014/main" id="{06938339-B943-4D63-98D9-10BBB07378EB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01" name="diagram block">
              <a:extLst>
                <a:ext uri="{FF2B5EF4-FFF2-40B4-BE49-F238E27FC236}">
                  <a16:creationId xmlns:a16="http://schemas.microsoft.com/office/drawing/2014/main" id="{15EFB9C7-08B1-4684-B30C-EF6FB16FF2D6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02" name="diagram block">
              <a:extLst>
                <a:ext uri="{FF2B5EF4-FFF2-40B4-BE49-F238E27FC236}">
                  <a16:creationId xmlns:a16="http://schemas.microsoft.com/office/drawing/2014/main" id="{FD79212F-3DAB-467C-ACD6-F42B63555C17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03" name="diagram block">
              <a:extLst>
                <a:ext uri="{FF2B5EF4-FFF2-40B4-BE49-F238E27FC236}">
                  <a16:creationId xmlns:a16="http://schemas.microsoft.com/office/drawing/2014/main" id="{7F8F53EF-4E92-4DE5-A12D-18143A94012C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04" name="diagram block">
              <a:extLst>
                <a:ext uri="{FF2B5EF4-FFF2-40B4-BE49-F238E27FC236}">
                  <a16:creationId xmlns:a16="http://schemas.microsoft.com/office/drawing/2014/main" id="{AF1C141B-DD0F-40D5-A1C4-5A7285C1033C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05" name="diagram block">
              <a:extLst>
                <a:ext uri="{FF2B5EF4-FFF2-40B4-BE49-F238E27FC236}">
                  <a16:creationId xmlns:a16="http://schemas.microsoft.com/office/drawing/2014/main" id="{4A13C742-E501-488D-A20C-EB14914C47DA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06" name="diagram block">
              <a:extLst>
                <a:ext uri="{FF2B5EF4-FFF2-40B4-BE49-F238E27FC236}">
                  <a16:creationId xmlns:a16="http://schemas.microsoft.com/office/drawing/2014/main" id="{3EA6B845-D124-4A14-A1AD-91ED600B33F4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07" name="diagram block">
              <a:extLst>
                <a:ext uri="{FF2B5EF4-FFF2-40B4-BE49-F238E27FC236}">
                  <a16:creationId xmlns:a16="http://schemas.microsoft.com/office/drawing/2014/main" id="{23C5F7DE-C7E3-402A-ACCA-D54F3BA0D47A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08" name="diagram block">
              <a:extLst>
                <a:ext uri="{FF2B5EF4-FFF2-40B4-BE49-F238E27FC236}">
                  <a16:creationId xmlns:a16="http://schemas.microsoft.com/office/drawing/2014/main" id="{3BA6D398-4BA9-4B0A-A9F4-4670617CE0B3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09" name="diagram block">
              <a:extLst>
                <a:ext uri="{FF2B5EF4-FFF2-40B4-BE49-F238E27FC236}">
                  <a16:creationId xmlns:a16="http://schemas.microsoft.com/office/drawing/2014/main" id="{31F1FCC4-B5AF-4323-8A3E-F62C98BE5969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10" name="diagram block">
              <a:extLst>
                <a:ext uri="{FF2B5EF4-FFF2-40B4-BE49-F238E27FC236}">
                  <a16:creationId xmlns:a16="http://schemas.microsoft.com/office/drawing/2014/main" id="{4503CE82-7D6F-461A-A99A-513FDE42BA40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11" name="diagram block">
              <a:extLst>
                <a:ext uri="{FF2B5EF4-FFF2-40B4-BE49-F238E27FC236}">
                  <a16:creationId xmlns:a16="http://schemas.microsoft.com/office/drawing/2014/main" id="{65BFA33C-B196-4BD2-9D2B-AFAD629EA136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12" name="diagram block">
              <a:extLst>
                <a:ext uri="{FF2B5EF4-FFF2-40B4-BE49-F238E27FC236}">
                  <a16:creationId xmlns:a16="http://schemas.microsoft.com/office/drawing/2014/main" id="{41F2D99F-2864-4EE7-AF43-7B2EB08CF884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13" name="diagram block">
              <a:extLst>
                <a:ext uri="{FF2B5EF4-FFF2-40B4-BE49-F238E27FC236}">
                  <a16:creationId xmlns:a16="http://schemas.microsoft.com/office/drawing/2014/main" id="{13189B3B-832C-41DA-8F89-5CDA99A70594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cxnSp>
          <p:nvCxnSpPr>
            <p:cNvPr id="414" name="native PowerPoint connector">
              <a:extLst>
                <a:ext uri="{FF2B5EF4-FFF2-40B4-BE49-F238E27FC236}">
                  <a16:creationId xmlns:a16="http://schemas.microsoft.com/office/drawing/2014/main" id="{5A271294-5BD1-4118-BFD4-F736C4F0269E}"/>
                </a:ext>
              </a:extLst>
            </p:cNvPr>
            <p:cNvCxnSpPr/>
            <p:nvPr/>
          </p:nvCxnSpPr>
          <p:spPr>
            <a:xfrm flipH="1" flipV="1">
              <a:off x="6337156" y="1130319"/>
              <a:ext cx="227096" cy="227096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15" name="native PowerPoint connector">
              <a:extLst>
                <a:ext uri="{FF2B5EF4-FFF2-40B4-BE49-F238E27FC236}">
                  <a16:creationId xmlns:a16="http://schemas.microsoft.com/office/drawing/2014/main" id="{48E75AD7-CF40-4DA0-891A-C3427F2A26CC}"/>
                </a:ext>
              </a:extLst>
            </p:cNvPr>
            <p:cNvCxnSpPr/>
            <p:nvPr/>
          </p:nvCxnSpPr>
          <p:spPr>
            <a:xfrm flipV="1">
              <a:off x="6564252" y="1130319"/>
              <a:ext cx="0" cy="227096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16" name="native PowerPoint connector">
              <a:extLst>
                <a:ext uri="{FF2B5EF4-FFF2-40B4-BE49-F238E27FC236}">
                  <a16:creationId xmlns:a16="http://schemas.microsoft.com/office/drawing/2014/main" id="{4EF27F3C-61D4-47BE-82D0-A90F7A137F2A}"/>
                </a:ext>
              </a:extLst>
            </p:cNvPr>
            <p:cNvCxnSpPr/>
            <p:nvPr/>
          </p:nvCxnSpPr>
          <p:spPr>
            <a:xfrm flipV="1">
              <a:off x="6564252" y="1130319"/>
              <a:ext cx="227096" cy="227096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17" name="native PowerPoint connector">
              <a:extLst>
                <a:ext uri="{FF2B5EF4-FFF2-40B4-BE49-F238E27FC236}">
                  <a16:creationId xmlns:a16="http://schemas.microsoft.com/office/drawing/2014/main" id="{5795934E-5B83-4C45-9918-207CAB0F52DB}"/>
                </a:ext>
              </a:extLst>
            </p:cNvPr>
            <p:cNvCxnSpPr/>
            <p:nvPr/>
          </p:nvCxnSpPr>
          <p:spPr>
            <a:xfrm flipH="1">
              <a:off x="6337156" y="1357415"/>
              <a:ext cx="227096" cy="0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18" name="native PowerPoint connector">
              <a:extLst>
                <a:ext uri="{FF2B5EF4-FFF2-40B4-BE49-F238E27FC236}">
                  <a16:creationId xmlns:a16="http://schemas.microsoft.com/office/drawing/2014/main" id="{6887B949-5F58-445B-8BE1-A55E67507C53}"/>
                </a:ext>
              </a:extLst>
            </p:cNvPr>
            <p:cNvCxnSpPr/>
            <p:nvPr/>
          </p:nvCxnSpPr>
          <p:spPr>
            <a:xfrm>
              <a:off x="6564252" y="1357415"/>
              <a:ext cx="227096" cy="0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19" name="native PowerPoint connector">
              <a:extLst>
                <a:ext uri="{FF2B5EF4-FFF2-40B4-BE49-F238E27FC236}">
                  <a16:creationId xmlns:a16="http://schemas.microsoft.com/office/drawing/2014/main" id="{DEEB98B7-FDFE-4AFB-96D4-F9C750BC666C}"/>
                </a:ext>
              </a:extLst>
            </p:cNvPr>
            <p:cNvCxnSpPr/>
            <p:nvPr/>
          </p:nvCxnSpPr>
          <p:spPr>
            <a:xfrm flipH="1">
              <a:off x="6337156" y="1357415"/>
              <a:ext cx="227096" cy="227096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20" name="native PowerPoint connector">
              <a:extLst>
                <a:ext uri="{FF2B5EF4-FFF2-40B4-BE49-F238E27FC236}">
                  <a16:creationId xmlns:a16="http://schemas.microsoft.com/office/drawing/2014/main" id="{50A12CD0-8DA5-4247-985C-A09421CEDDAD}"/>
                </a:ext>
              </a:extLst>
            </p:cNvPr>
            <p:cNvCxnSpPr/>
            <p:nvPr/>
          </p:nvCxnSpPr>
          <p:spPr>
            <a:xfrm>
              <a:off x="6564252" y="1357415"/>
              <a:ext cx="0" cy="227096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21" name="native PowerPoint connector">
              <a:extLst>
                <a:ext uri="{FF2B5EF4-FFF2-40B4-BE49-F238E27FC236}">
                  <a16:creationId xmlns:a16="http://schemas.microsoft.com/office/drawing/2014/main" id="{809DF70E-18CE-41DC-B5E7-2514FB27ABBE}"/>
                </a:ext>
              </a:extLst>
            </p:cNvPr>
            <p:cNvCxnSpPr/>
            <p:nvPr/>
          </p:nvCxnSpPr>
          <p:spPr>
            <a:xfrm>
              <a:off x="6564252" y="1357415"/>
              <a:ext cx="227096" cy="227096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22" name="native PowerPoint connector">
              <a:extLst>
                <a:ext uri="{FF2B5EF4-FFF2-40B4-BE49-F238E27FC236}">
                  <a16:creationId xmlns:a16="http://schemas.microsoft.com/office/drawing/2014/main" id="{5A8ABB96-AFCE-42FB-9810-05E5AD6A24A5}"/>
                </a:ext>
              </a:extLst>
            </p:cNvPr>
            <p:cNvCxnSpPr/>
            <p:nvPr/>
          </p:nvCxnSpPr>
          <p:spPr>
            <a:xfrm>
              <a:off x="6631348" y="1357415"/>
              <a:ext cx="753546" cy="0"/>
            </a:xfrm>
            <a:prstGeom prst="straightConnector1">
              <a:avLst/>
            </a:prstGeom>
            <a:ln w="8258">
              <a:solidFill>
                <a:srgbClr val="153B6A"/>
              </a:solidFill>
              <a:prstDash val="dash"/>
              <a:headEnd type="triangle" w="sm" len="sm"/>
              <a:tailEnd type="triangle" w="sm" len="sm"/>
            </a:ln>
          </p:spPr>
        </p:cxnSp>
        <p:sp>
          <p:nvSpPr>
            <p:cNvPr id="423" name="diagram block">
              <a:extLst>
                <a:ext uri="{FF2B5EF4-FFF2-40B4-BE49-F238E27FC236}">
                  <a16:creationId xmlns:a16="http://schemas.microsoft.com/office/drawing/2014/main" id="{CB502914-39ED-4F4A-9E3D-ACABE0ED5DD5}"/>
                </a:ext>
              </a:extLst>
            </p:cNvPr>
            <p:cNvSpPr>
              <a:spLocks noGrp="1"/>
            </p:cNvSpPr>
            <p:nvPr/>
          </p:nvSpPr>
          <p:spPr>
            <a:xfrm>
              <a:off x="6073931" y="2012897"/>
              <a:ext cx="1775478" cy="1300641"/>
            </a:xfrm>
            <a:prstGeom prst="roundRect">
              <a:avLst>
                <a:gd name="adj" fmla="val 2778"/>
              </a:avLst>
            </a:prstGeom>
            <a:gradFill>
              <a:gsLst>
                <a:gs pos="0">
                  <a:srgbClr val="FFF5DC"/>
                </a:gs>
                <a:gs pos="100000">
                  <a:srgbClr val="FFFDF8"/>
                </a:gs>
              </a:gsLst>
              <a:lin ang="5400000"/>
            </a:gradFill>
            <a:ln w="5161">
              <a:solidFill>
                <a:srgbClr val="F3D18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24" name="diagram block">
              <a:extLst>
                <a:ext uri="{FF2B5EF4-FFF2-40B4-BE49-F238E27FC236}">
                  <a16:creationId xmlns:a16="http://schemas.microsoft.com/office/drawing/2014/main" id="{74A8BCFE-22D8-4202-9D60-F13C0D943D53}"/>
                </a:ext>
              </a:extLst>
            </p:cNvPr>
            <p:cNvSpPr>
              <a:spLocks noGrp="1"/>
            </p:cNvSpPr>
            <p:nvPr/>
          </p:nvSpPr>
          <p:spPr>
            <a:xfrm>
              <a:off x="6073931" y="2012897"/>
              <a:ext cx="1775478" cy="175483"/>
            </a:xfrm>
            <a:prstGeom prst="roundRect">
              <a:avLst>
                <a:gd name="adj" fmla="val 14706"/>
              </a:avLst>
            </a:prstGeom>
            <a:gradFill>
              <a:gsLst>
                <a:gs pos="0">
                  <a:srgbClr val="FFF1D0"/>
                </a:gs>
                <a:gs pos="100000">
                  <a:srgbClr val="FFF9ED"/>
                </a:gs>
              </a:gsLst>
              <a:lin ang="5400000"/>
            </a:gradFill>
            <a:ln w="5161">
              <a:noFill/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25" name="Camera 2 (view 2)">
              <a:extLst>
                <a:ext uri="{FF2B5EF4-FFF2-40B4-BE49-F238E27FC236}">
                  <a16:creationId xmlns:a16="http://schemas.microsoft.com/office/drawing/2014/main" id="{66006467-6D71-4E8A-9144-6D5AD4453E83}"/>
                </a:ext>
              </a:extLst>
            </p:cNvPr>
            <p:cNvSpPr>
              <a:spLocks noGrp="1"/>
            </p:cNvSpPr>
            <p:nvPr/>
          </p:nvSpPr>
          <p:spPr>
            <a:xfrm>
              <a:off x="6099737" y="2038703"/>
              <a:ext cx="1723865" cy="123871"/>
            </a:xfrm>
            <a:prstGeom prst="rect">
              <a:avLst/>
            </a:prstGeom>
            <a:gradFill>
              <a:gsLst>
                <a:gs pos="0">
                  <a:srgbClr val="FFF1D0"/>
                </a:gs>
                <a:gs pos="100000">
                  <a:srgbClr val="FFF9ED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95287"/>
            </a:bodyPr>
            <a:lstStyle>
              <a:def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Camera 2 (view 2)</a:t>
              </a:r>
            </a:p>
          </p:txBody>
        </p:sp>
        <p:sp>
          <p:nvSpPr>
            <p:cNvPr id="426" name="Time 1 (future)">
              <a:extLst>
                <a:ext uri="{FF2B5EF4-FFF2-40B4-BE49-F238E27FC236}">
                  <a16:creationId xmlns:a16="http://schemas.microsoft.com/office/drawing/2014/main" id="{3334E8EF-CE2B-47C8-A7B1-B4C26C4D3448}"/>
                </a:ext>
              </a:extLst>
            </p:cNvPr>
            <p:cNvSpPr>
              <a:spLocks noGrp="1"/>
            </p:cNvSpPr>
            <p:nvPr/>
          </p:nvSpPr>
          <p:spPr>
            <a:xfrm>
              <a:off x="6182317" y="2239993"/>
              <a:ext cx="748385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6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Time 1 (future)</a:t>
              </a:r>
            </a:p>
          </p:txBody>
        </p:sp>
        <p:sp>
          <p:nvSpPr>
            <p:cNvPr id="427" name="Time 2 (future)">
              <a:extLst>
                <a:ext uri="{FF2B5EF4-FFF2-40B4-BE49-F238E27FC236}">
                  <a16:creationId xmlns:a16="http://schemas.microsoft.com/office/drawing/2014/main" id="{70457014-075B-4C61-B2F9-4D4113B67131}"/>
                </a:ext>
              </a:extLst>
            </p:cNvPr>
            <p:cNvSpPr>
              <a:spLocks noGrp="1"/>
            </p:cNvSpPr>
            <p:nvPr/>
          </p:nvSpPr>
          <p:spPr>
            <a:xfrm>
              <a:off x="7064895" y="2239993"/>
              <a:ext cx="748385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6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Time 2 (future)</a:t>
              </a:r>
            </a:p>
          </p:txBody>
        </p:sp>
        <p:sp>
          <p:nvSpPr>
            <p:cNvPr id="428" name="diagram block">
              <a:extLst>
                <a:ext uri="{FF2B5EF4-FFF2-40B4-BE49-F238E27FC236}">
                  <a16:creationId xmlns:a16="http://schemas.microsoft.com/office/drawing/2014/main" id="{2CFFF8BF-89AD-4353-AD28-89C52C5FA760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29" name="diagram block">
              <a:extLst>
                <a:ext uri="{FF2B5EF4-FFF2-40B4-BE49-F238E27FC236}">
                  <a16:creationId xmlns:a16="http://schemas.microsoft.com/office/drawing/2014/main" id="{247CD45E-6280-458A-9E09-1BD8E46D46FA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30" name="diagram block">
              <a:extLst>
                <a:ext uri="{FF2B5EF4-FFF2-40B4-BE49-F238E27FC236}">
                  <a16:creationId xmlns:a16="http://schemas.microsoft.com/office/drawing/2014/main" id="{A10C47B9-FF47-4715-9B22-95701349466E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31" name="diagram block">
              <a:extLst>
                <a:ext uri="{FF2B5EF4-FFF2-40B4-BE49-F238E27FC236}">
                  <a16:creationId xmlns:a16="http://schemas.microsoft.com/office/drawing/2014/main" id="{92BF625B-E8D5-4C6D-940E-2156EE50B6A0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32" name="diagram block">
              <a:extLst>
                <a:ext uri="{FF2B5EF4-FFF2-40B4-BE49-F238E27FC236}">
                  <a16:creationId xmlns:a16="http://schemas.microsoft.com/office/drawing/2014/main" id="{931D8B0E-C575-4F0F-932A-5464B13A8B69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33" name="diagram block">
              <a:extLst>
                <a:ext uri="{FF2B5EF4-FFF2-40B4-BE49-F238E27FC236}">
                  <a16:creationId xmlns:a16="http://schemas.microsoft.com/office/drawing/2014/main" id="{583CC7AD-17E3-4DAC-83D4-343DC2557E75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34" name="diagram block">
              <a:extLst>
                <a:ext uri="{FF2B5EF4-FFF2-40B4-BE49-F238E27FC236}">
                  <a16:creationId xmlns:a16="http://schemas.microsoft.com/office/drawing/2014/main" id="{CFAAE51E-5111-413A-9481-3BCD0D770DFB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35" name="diagram block">
              <a:extLst>
                <a:ext uri="{FF2B5EF4-FFF2-40B4-BE49-F238E27FC236}">
                  <a16:creationId xmlns:a16="http://schemas.microsoft.com/office/drawing/2014/main" id="{F0E0CAD2-2F43-4328-A7B7-2969B1FFF2CB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36" name="diagram block">
              <a:extLst>
                <a:ext uri="{FF2B5EF4-FFF2-40B4-BE49-F238E27FC236}">
                  <a16:creationId xmlns:a16="http://schemas.microsoft.com/office/drawing/2014/main" id="{92CD9E95-02A5-4BCD-81AC-ED49A35F6E98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37" name="diagram block">
              <a:extLst>
                <a:ext uri="{FF2B5EF4-FFF2-40B4-BE49-F238E27FC236}">
                  <a16:creationId xmlns:a16="http://schemas.microsoft.com/office/drawing/2014/main" id="{906193DF-573D-4EC7-96C3-37FE2645708F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38" name="diagram block">
              <a:extLst>
                <a:ext uri="{FF2B5EF4-FFF2-40B4-BE49-F238E27FC236}">
                  <a16:creationId xmlns:a16="http://schemas.microsoft.com/office/drawing/2014/main" id="{A894B335-FE80-4F9A-B6F9-9B4FE78202CB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39" name="diagram block">
              <a:extLst>
                <a:ext uri="{FF2B5EF4-FFF2-40B4-BE49-F238E27FC236}">
                  <a16:creationId xmlns:a16="http://schemas.microsoft.com/office/drawing/2014/main" id="{86A46965-59C0-4278-8A68-F41022055883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40" name="diagram block">
              <a:extLst>
                <a:ext uri="{FF2B5EF4-FFF2-40B4-BE49-F238E27FC236}">
                  <a16:creationId xmlns:a16="http://schemas.microsoft.com/office/drawing/2014/main" id="{889AAEBC-CB1B-4775-B920-83A68D5D47ED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41" name="diagram block">
              <a:extLst>
                <a:ext uri="{FF2B5EF4-FFF2-40B4-BE49-F238E27FC236}">
                  <a16:creationId xmlns:a16="http://schemas.microsoft.com/office/drawing/2014/main" id="{D641813A-4DC1-442A-A881-386D5233C6BA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42" name="diagram block">
              <a:extLst>
                <a:ext uri="{FF2B5EF4-FFF2-40B4-BE49-F238E27FC236}">
                  <a16:creationId xmlns:a16="http://schemas.microsoft.com/office/drawing/2014/main" id="{4D613147-0E72-4FCD-8E30-281EAAC6ED34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43" name="diagram block">
              <a:extLst>
                <a:ext uri="{FF2B5EF4-FFF2-40B4-BE49-F238E27FC236}">
                  <a16:creationId xmlns:a16="http://schemas.microsoft.com/office/drawing/2014/main" id="{BA048AED-4FAF-4F07-B203-09DF95529F0B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44" name="diagram block">
              <a:extLst>
                <a:ext uri="{FF2B5EF4-FFF2-40B4-BE49-F238E27FC236}">
                  <a16:creationId xmlns:a16="http://schemas.microsoft.com/office/drawing/2014/main" id="{9C83E478-D84A-4ADD-9CB8-CDC06FD70F16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45" name="diagram block">
              <a:extLst>
                <a:ext uri="{FF2B5EF4-FFF2-40B4-BE49-F238E27FC236}">
                  <a16:creationId xmlns:a16="http://schemas.microsoft.com/office/drawing/2014/main" id="{D0ACB66B-93C0-4505-A19B-C9891F93E701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46" name="diagram block">
              <a:extLst>
                <a:ext uri="{FF2B5EF4-FFF2-40B4-BE49-F238E27FC236}">
                  <a16:creationId xmlns:a16="http://schemas.microsoft.com/office/drawing/2014/main" id="{48B88507-EB1E-4D7E-B627-AF576E111B47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47" name="diagram block">
              <a:extLst>
                <a:ext uri="{FF2B5EF4-FFF2-40B4-BE49-F238E27FC236}">
                  <a16:creationId xmlns:a16="http://schemas.microsoft.com/office/drawing/2014/main" id="{B2F2526D-01CA-43BE-8F70-E717C382E81E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48" name="diagram block">
              <a:extLst>
                <a:ext uri="{FF2B5EF4-FFF2-40B4-BE49-F238E27FC236}">
                  <a16:creationId xmlns:a16="http://schemas.microsoft.com/office/drawing/2014/main" id="{13EB2513-58D6-4370-A160-4E7882FE354D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49" name="diagram block">
              <a:extLst>
                <a:ext uri="{FF2B5EF4-FFF2-40B4-BE49-F238E27FC236}">
                  <a16:creationId xmlns:a16="http://schemas.microsoft.com/office/drawing/2014/main" id="{3A2C8C68-80FC-429F-A606-99B5DCE0C7EF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50" name="diagram block">
              <a:extLst>
                <a:ext uri="{FF2B5EF4-FFF2-40B4-BE49-F238E27FC236}">
                  <a16:creationId xmlns:a16="http://schemas.microsoft.com/office/drawing/2014/main" id="{9C7DFC89-E68C-4E06-988D-04ABDD1EA73C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51" name="diagram block">
              <a:extLst>
                <a:ext uri="{FF2B5EF4-FFF2-40B4-BE49-F238E27FC236}">
                  <a16:creationId xmlns:a16="http://schemas.microsoft.com/office/drawing/2014/main" id="{D07A76F1-EBB1-4DDC-9939-D0C89B60CE84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52" name="diagram block">
              <a:extLst>
                <a:ext uri="{FF2B5EF4-FFF2-40B4-BE49-F238E27FC236}">
                  <a16:creationId xmlns:a16="http://schemas.microsoft.com/office/drawing/2014/main" id="{3E2DAF3D-149F-4625-BF01-88F870B9024A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53" name="diagram block">
              <a:extLst>
                <a:ext uri="{FF2B5EF4-FFF2-40B4-BE49-F238E27FC236}">
                  <a16:creationId xmlns:a16="http://schemas.microsoft.com/office/drawing/2014/main" id="{EF2C94F5-CE53-434A-A83B-67C3405708F0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54" name="diagram block">
              <a:extLst>
                <a:ext uri="{FF2B5EF4-FFF2-40B4-BE49-F238E27FC236}">
                  <a16:creationId xmlns:a16="http://schemas.microsoft.com/office/drawing/2014/main" id="{A444CA7F-BD00-4636-87E7-E155FB1D20AD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55" name="diagram block">
              <a:extLst>
                <a:ext uri="{FF2B5EF4-FFF2-40B4-BE49-F238E27FC236}">
                  <a16:creationId xmlns:a16="http://schemas.microsoft.com/office/drawing/2014/main" id="{B9A57028-049A-4AF1-BC94-B8AC178B6E01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56" name="diagram block">
              <a:extLst>
                <a:ext uri="{FF2B5EF4-FFF2-40B4-BE49-F238E27FC236}">
                  <a16:creationId xmlns:a16="http://schemas.microsoft.com/office/drawing/2014/main" id="{BAB128AC-F4EA-4838-ABB7-7C597914D70C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57" name="diagram block">
              <a:extLst>
                <a:ext uri="{FF2B5EF4-FFF2-40B4-BE49-F238E27FC236}">
                  <a16:creationId xmlns:a16="http://schemas.microsoft.com/office/drawing/2014/main" id="{D80893E0-0FCB-43DD-BAFB-C2CF16E9BF59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58" name="diagram block">
              <a:extLst>
                <a:ext uri="{FF2B5EF4-FFF2-40B4-BE49-F238E27FC236}">
                  <a16:creationId xmlns:a16="http://schemas.microsoft.com/office/drawing/2014/main" id="{1C05DF84-B5EB-47CA-9B22-87366DF46338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59" name="diagram block">
              <a:extLst>
                <a:ext uri="{FF2B5EF4-FFF2-40B4-BE49-F238E27FC236}">
                  <a16:creationId xmlns:a16="http://schemas.microsoft.com/office/drawing/2014/main" id="{606BE50C-49F4-4390-B308-85DAFD2916A8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60" name="diagram block">
              <a:extLst>
                <a:ext uri="{FF2B5EF4-FFF2-40B4-BE49-F238E27FC236}">
                  <a16:creationId xmlns:a16="http://schemas.microsoft.com/office/drawing/2014/main" id="{4EDCC1F6-82FC-47E1-8B35-754E83FE74D6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61" name="diagram block">
              <a:extLst>
                <a:ext uri="{FF2B5EF4-FFF2-40B4-BE49-F238E27FC236}">
                  <a16:creationId xmlns:a16="http://schemas.microsoft.com/office/drawing/2014/main" id="{F08AEDB1-C47F-4B96-950A-E529D1147450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62" name="diagram block">
              <a:extLst>
                <a:ext uri="{FF2B5EF4-FFF2-40B4-BE49-F238E27FC236}">
                  <a16:creationId xmlns:a16="http://schemas.microsoft.com/office/drawing/2014/main" id="{45866E65-F263-4341-BCF7-D73214E50252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63" name="diagram block">
              <a:extLst>
                <a:ext uri="{FF2B5EF4-FFF2-40B4-BE49-F238E27FC236}">
                  <a16:creationId xmlns:a16="http://schemas.microsoft.com/office/drawing/2014/main" id="{C9572A4F-6B27-4E99-A7FA-E906A8E24C94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64" name="diagram block">
              <a:extLst>
                <a:ext uri="{FF2B5EF4-FFF2-40B4-BE49-F238E27FC236}">
                  <a16:creationId xmlns:a16="http://schemas.microsoft.com/office/drawing/2014/main" id="{25AFDFB3-A2D2-408E-96B7-175B5585FE14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65" name="diagram block">
              <a:extLst>
                <a:ext uri="{FF2B5EF4-FFF2-40B4-BE49-F238E27FC236}">
                  <a16:creationId xmlns:a16="http://schemas.microsoft.com/office/drawing/2014/main" id="{50D549D4-0CF5-49D1-940D-E1CE07F8D9E9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66" name="diagram block">
              <a:extLst>
                <a:ext uri="{FF2B5EF4-FFF2-40B4-BE49-F238E27FC236}">
                  <a16:creationId xmlns:a16="http://schemas.microsoft.com/office/drawing/2014/main" id="{CCA2C165-9708-4B62-A012-908FC3966F0B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67" name="diagram block">
              <a:extLst>
                <a:ext uri="{FF2B5EF4-FFF2-40B4-BE49-F238E27FC236}">
                  <a16:creationId xmlns:a16="http://schemas.microsoft.com/office/drawing/2014/main" id="{9FB98602-E23D-43A2-9B18-1A772F625EE0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68" name="diagram block">
              <a:extLst>
                <a:ext uri="{FF2B5EF4-FFF2-40B4-BE49-F238E27FC236}">
                  <a16:creationId xmlns:a16="http://schemas.microsoft.com/office/drawing/2014/main" id="{3E5F8458-F7AE-4487-8D4A-24F9656A0000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69" name="diagram block">
              <a:extLst>
                <a:ext uri="{FF2B5EF4-FFF2-40B4-BE49-F238E27FC236}">
                  <a16:creationId xmlns:a16="http://schemas.microsoft.com/office/drawing/2014/main" id="{5DEA7119-778A-45A6-941F-8D36A9E826AE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70" name="diagram block">
              <a:extLst>
                <a:ext uri="{FF2B5EF4-FFF2-40B4-BE49-F238E27FC236}">
                  <a16:creationId xmlns:a16="http://schemas.microsoft.com/office/drawing/2014/main" id="{BA08385A-8C98-475C-8D77-897D71AC54C6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71" name="diagram block">
              <a:extLst>
                <a:ext uri="{FF2B5EF4-FFF2-40B4-BE49-F238E27FC236}">
                  <a16:creationId xmlns:a16="http://schemas.microsoft.com/office/drawing/2014/main" id="{19BA67E8-87D4-46CE-A863-A15CDDFDB279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72" name="diagram block">
              <a:extLst>
                <a:ext uri="{FF2B5EF4-FFF2-40B4-BE49-F238E27FC236}">
                  <a16:creationId xmlns:a16="http://schemas.microsoft.com/office/drawing/2014/main" id="{43C07472-7827-46FB-B25D-D5A3E2213F5A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73" name="diagram block">
              <a:extLst>
                <a:ext uri="{FF2B5EF4-FFF2-40B4-BE49-F238E27FC236}">
                  <a16:creationId xmlns:a16="http://schemas.microsoft.com/office/drawing/2014/main" id="{15E4D65B-51AC-4F9B-A63F-9E849A1128B7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74" name="diagram block">
              <a:extLst>
                <a:ext uri="{FF2B5EF4-FFF2-40B4-BE49-F238E27FC236}">
                  <a16:creationId xmlns:a16="http://schemas.microsoft.com/office/drawing/2014/main" id="{B7EDFE71-602A-45ED-99B0-C056303F575E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75" name="diagram block">
              <a:extLst>
                <a:ext uri="{FF2B5EF4-FFF2-40B4-BE49-F238E27FC236}">
                  <a16:creationId xmlns:a16="http://schemas.microsoft.com/office/drawing/2014/main" id="{874AB7FB-B0FE-4A82-BE44-0F2F2B4B402A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76" name="diagram block">
              <a:extLst>
                <a:ext uri="{FF2B5EF4-FFF2-40B4-BE49-F238E27FC236}">
                  <a16:creationId xmlns:a16="http://schemas.microsoft.com/office/drawing/2014/main" id="{61102211-E290-4EAD-B78D-3B0C09146C10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77" name="diagram block">
              <a:extLst>
                <a:ext uri="{FF2B5EF4-FFF2-40B4-BE49-F238E27FC236}">
                  <a16:creationId xmlns:a16="http://schemas.microsoft.com/office/drawing/2014/main" id="{9F79BFBD-77D9-4A18-9707-243954536FB5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78" name="diagram block">
              <a:extLst>
                <a:ext uri="{FF2B5EF4-FFF2-40B4-BE49-F238E27FC236}">
                  <a16:creationId xmlns:a16="http://schemas.microsoft.com/office/drawing/2014/main" id="{46D0C071-63C6-41F3-87A7-691EE65073E3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79" name="diagram block">
              <a:extLst>
                <a:ext uri="{FF2B5EF4-FFF2-40B4-BE49-F238E27FC236}">
                  <a16:creationId xmlns:a16="http://schemas.microsoft.com/office/drawing/2014/main" id="{C5F9723A-5CB7-43F1-A869-65D789083DC7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80" name="diagram block">
              <a:extLst>
                <a:ext uri="{FF2B5EF4-FFF2-40B4-BE49-F238E27FC236}">
                  <a16:creationId xmlns:a16="http://schemas.microsoft.com/office/drawing/2014/main" id="{8E9727C1-D823-4DA2-BAF5-48E764460770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81" name="diagram block">
              <a:extLst>
                <a:ext uri="{FF2B5EF4-FFF2-40B4-BE49-F238E27FC236}">
                  <a16:creationId xmlns:a16="http://schemas.microsoft.com/office/drawing/2014/main" id="{81F565EE-88C1-4DDA-997F-2831193D39AC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82" name="diagram block">
              <a:extLst>
                <a:ext uri="{FF2B5EF4-FFF2-40B4-BE49-F238E27FC236}">
                  <a16:creationId xmlns:a16="http://schemas.microsoft.com/office/drawing/2014/main" id="{FE0C5C03-FC71-4E91-B8B2-882A9476B67E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83" name="diagram block">
              <a:extLst>
                <a:ext uri="{FF2B5EF4-FFF2-40B4-BE49-F238E27FC236}">
                  <a16:creationId xmlns:a16="http://schemas.microsoft.com/office/drawing/2014/main" id="{F922A88C-23AE-4E1F-A941-9F06CB049E39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84" name="diagram block">
              <a:extLst>
                <a:ext uri="{FF2B5EF4-FFF2-40B4-BE49-F238E27FC236}">
                  <a16:creationId xmlns:a16="http://schemas.microsoft.com/office/drawing/2014/main" id="{E0A0A740-85DA-42EC-A107-54093DD146B2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85" name="diagram block">
              <a:extLst>
                <a:ext uri="{FF2B5EF4-FFF2-40B4-BE49-F238E27FC236}">
                  <a16:creationId xmlns:a16="http://schemas.microsoft.com/office/drawing/2014/main" id="{CA2E71A0-FF75-4FDF-92A1-07B78A6A97DD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86" name="diagram block">
              <a:extLst>
                <a:ext uri="{FF2B5EF4-FFF2-40B4-BE49-F238E27FC236}">
                  <a16:creationId xmlns:a16="http://schemas.microsoft.com/office/drawing/2014/main" id="{127EF142-5E0B-4F96-AC8D-758A8ADBC4C2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87" name="diagram block">
              <a:extLst>
                <a:ext uri="{FF2B5EF4-FFF2-40B4-BE49-F238E27FC236}">
                  <a16:creationId xmlns:a16="http://schemas.microsoft.com/office/drawing/2014/main" id="{800884E3-D42A-4420-A072-C3077029788C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88" name="diagram block">
              <a:extLst>
                <a:ext uri="{FF2B5EF4-FFF2-40B4-BE49-F238E27FC236}">
                  <a16:creationId xmlns:a16="http://schemas.microsoft.com/office/drawing/2014/main" id="{AD2131B0-FAF2-4F53-873A-BEB87A773C74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89" name="diagram block">
              <a:extLst>
                <a:ext uri="{FF2B5EF4-FFF2-40B4-BE49-F238E27FC236}">
                  <a16:creationId xmlns:a16="http://schemas.microsoft.com/office/drawing/2014/main" id="{5106F72E-C645-40AC-B800-DDF7BFC94503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90" name="diagram block">
              <a:extLst>
                <a:ext uri="{FF2B5EF4-FFF2-40B4-BE49-F238E27FC236}">
                  <a16:creationId xmlns:a16="http://schemas.microsoft.com/office/drawing/2014/main" id="{0E26DB6D-EFFC-40BE-AF2E-44079436305F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91" name="diagram block">
              <a:extLst>
                <a:ext uri="{FF2B5EF4-FFF2-40B4-BE49-F238E27FC236}">
                  <a16:creationId xmlns:a16="http://schemas.microsoft.com/office/drawing/2014/main" id="{960C7CBD-7CD6-47F6-B585-7189868934AC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92" name="diagram block">
              <a:extLst>
                <a:ext uri="{FF2B5EF4-FFF2-40B4-BE49-F238E27FC236}">
                  <a16:creationId xmlns:a16="http://schemas.microsoft.com/office/drawing/2014/main" id="{11BF652F-0D95-4AE9-AA23-E554E60DC188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93" name="diagram block">
              <a:extLst>
                <a:ext uri="{FF2B5EF4-FFF2-40B4-BE49-F238E27FC236}">
                  <a16:creationId xmlns:a16="http://schemas.microsoft.com/office/drawing/2014/main" id="{ADD61379-E374-467A-BA54-76127117C105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94" name="diagram block">
              <a:extLst>
                <a:ext uri="{FF2B5EF4-FFF2-40B4-BE49-F238E27FC236}">
                  <a16:creationId xmlns:a16="http://schemas.microsoft.com/office/drawing/2014/main" id="{3388E030-32B5-4596-87F0-5672FDFFFE44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95" name="diagram block">
              <a:extLst>
                <a:ext uri="{FF2B5EF4-FFF2-40B4-BE49-F238E27FC236}">
                  <a16:creationId xmlns:a16="http://schemas.microsoft.com/office/drawing/2014/main" id="{AB52F287-D062-4553-A424-0E8B159C9289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96" name="diagram block">
              <a:extLst>
                <a:ext uri="{FF2B5EF4-FFF2-40B4-BE49-F238E27FC236}">
                  <a16:creationId xmlns:a16="http://schemas.microsoft.com/office/drawing/2014/main" id="{154801EC-676F-4711-A0B2-DFFF8CDA436E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97" name="diagram block">
              <a:extLst>
                <a:ext uri="{FF2B5EF4-FFF2-40B4-BE49-F238E27FC236}">
                  <a16:creationId xmlns:a16="http://schemas.microsoft.com/office/drawing/2014/main" id="{7ACFF178-8394-4005-96E6-EE5A5A4E49AF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98" name="diagram block">
              <a:extLst>
                <a:ext uri="{FF2B5EF4-FFF2-40B4-BE49-F238E27FC236}">
                  <a16:creationId xmlns:a16="http://schemas.microsoft.com/office/drawing/2014/main" id="{70B80746-6A98-4B1B-AA85-DB1BF28F2F7B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99" name="diagram block">
              <a:extLst>
                <a:ext uri="{FF2B5EF4-FFF2-40B4-BE49-F238E27FC236}">
                  <a16:creationId xmlns:a16="http://schemas.microsoft.com/office/drawing/2014/main" id="{3589E841-10E9-42C8-B76B-8F0F20FB3D2D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00" name="diagram block">
              <a:extLst>
                <a:ext uri="{FF2B5EF4-FFF2-40B4-BE49-F238E27FC236}">
                  <a16:creationId xmlns:a16="http://schemas.microsoft.com/office/drawing/2014/main" id="{D39A9813-1D22-4DDD-849C-BE00CCFF6DC9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01" name="diagram block">
              <a:extLst>
                <a:ext uri="{FF2B5EF4-FFF2-40B4-BE49-F238E27FC236}">
                  <a16:creationId xmlns:a16="http://schemas.microsoft.com/office/drawing/2014/main" id="{F9711C13-07C8-45F9-BA88-0C48EDB754C4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02" name="diagram block">
              <a:extLst>
                <a:ext uri="{FF2B5EF4-FFF2-40B4-BE49-F238E27FC236}">
                  <a16:creationId xmlns:a16="http://schemas.microsoft.com/office/drawing/2014/main" id="{AF30282D-3BEA-4C51-9D67-60F84CE1BFA0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03" name="diagram block">
              <a:extLst>
                <a:ext uri="{FF2B5EF4-FFF2-40B4-BE49-F238E27FC236}">
                  <a16:creationId xmlns:a16="http://schemas.microsoft.com/office/drawing/2014/main" id="{380B5876-12F6-4918-93B9-6C85E7A2F0C3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04" name="diagram block">
              <a:extLst>
                <a:ext uri="{FF2B5EF4-FFF2-40B4-BE49-F238E27FC236}">
                  <a16:creationId xmlns:a16="http://schemas.microsoft.com/office/drawing/2014/main" id="{5A8D9701-2064-4088-BAC9-B52E84D2D9E5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05" name="diagram block">
              <a:extLst>
                <a:ext uri="{FF2B5EF4-FFF2-40B4-BE49-F238E27FC236}">
                  <a16:creationId xmlns:a16="http://schemas.microsoft.com/office/drawing/2014/main" id="{785BBA2B-3C21-43FD-B107-D9BE293039EE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06" name="diagram block">
              <a:extLst>
                <a:ext uri="{FF2B5EF4-FFF2-40B4-BE49-F238E27FC236}">
                  <a16:creationId xmlns:a16="http://schemas.microsoft.com/office/drawing/2014/main" id="{61026E94-5057-41E2-89E5-9AA61515B079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07" name="diagram block">
              <a:extLst>
                <a:ext uri="{FF2B5EF4-FFF2-40B4-BE49-F238E27FC236}">
                  <a16:creationId xmlns:a16="http://schemas.microsoft.com/office/drawing/2014/main" id="{746E0AF3-5111-4ECF-BC2B-80AB7ECD6688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08" name="diagram block">
              <a:extLst>
                <a:ext uri="{FF2B5EF4-FFF2-40B4-BE49-F238E27FC236}">
                  <a16:creationId xmlns:a16="http://schemas.microsoft.com/office/drawing/2014/main" id="{47F7B0F6-CCE6-4519-A872-D0D48486BC6D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09" name="diagram block">
              <a:extLst>
                <a:ext uri="{FF2B5EF4-FFF2-40B4-BE49-F238E27FC236}">
                  <a16:creationId xmlns:a16="http://schemas.microsoft.com/office/drawing/2014/main" id="{9085128B-6074-4ADE-ADF3-1CC7BE19F947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10" name="diagram block">
              <a:extLst>
                <a:ext uri="{FF2B5EF4-FFF2-40B4-BE49-F238E27FC236}">
                  <a16:creationId xmlns:a16="http://schemas.microsoft.com/office/drawing/2014/main" id="{872CCB82-D1C3-43DB-B6A8-A1B44E5775D5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11" name="diagram block">
              <a:extLst>
                <a:ext uri="{FF2B5EF4-FFF2-40B4-BE49-F238E27FC236}">
                  <a16:creationId xmlns:a16="http://schemas.microsoft.com/office/drawing/2014/main" id="{98B46CEB-2F2C-4C19-868A-BE2B5B003D5E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12" name="diagram block">
              <a:extLst>
                <a:ext uri="{FF2B5EF4-FFF2-40B4-BE49-F238E27FC236}">
                  <a16:creationId xmlns:a16="http://schemas.microsoft.com/office/drawing/2014/main" id="{19B4AF12-5CA3-4354-9371-46356859BE4D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13" name="diagram block">
              <a:extLst>
                <a:ext uri="{FF2B5EF4-FFF2-40B4-BE49-F238E27FC236}">
                  <a16:creationId xmlns:a16="http://schemas.microsoft.com/office/drawing/2014/main" id="{8CDA5EFD-C239-41FC-B72D-FF10EABBBB2D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14" name="diagram block">
              <a:extLst>
                <a:ext uri="{FF2B5EF4-FFF2-40B4-BE49-F238E27FC236}">
                  <a16:creationId xmlns:a16="http://schemas.microsoft.com/office/drawing/2014/main" id="{E68BA51B-9E8B-49EB-BED9-445D1CFF67B9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15" name="diagram block">
              <a:extLst>
                <a:ext uri="{FF2B5EF4-FFF2-40B4-BE49-F238E27FC236}">
                  <a16:creationId xmlns:a16="http://schemas.microsoft.com/office/drawing/2014/main" id="{610D472C-32DC-47F1-8009-B19BA6DA81C1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16" name="diagram block">
              <a:extLst>
                <a:ext uri="{FF2B5EF4-FFF2-40B4-BE49-F238E27FC236}">
                  <a16:creationId xmlns:a16="http://schemas.microsoft.com/office/drawing/2014/main" id="{7FB29DF8-BB93-4EB4-ADA2-CE1F0AE48B6E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17" name="diagram block">
              <a:extLst>
                <a:ext uri="{FF2B5EF4-FFF2-40B4-BE49-F238E27FC236}">
                  <a16:creationId xmlns:a16="http://schemas.microsoft.com/office/drawing/2014/main" id="{6BB13FF8-5653-47A8-96F8-22506F6A1DE8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18" name="diagram block">
              <a:extLst>
                <a:ext uri="{FF2B5EF4-FFF2-40B4-BE49-F238E27FC236}">
                  <a16:creationId xmlns:a16="http://schemas.microsoft.com/office/drawing/2014/main" id="{B2F8A087-3C72-4F17-B2E5-AE64CCD3A853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19" name="diagram block">
              <a:extLst>
                <a:ext uri="{FF2B5EF4-FFF2-40B4-BE49-F238E27FC236}">
                  <a16:creationId xmlns:a16="http://schemas.microsoft.com/office/drawing/2014/main" id="{4A98B496-1854-4568-8FEA-423C48E6A294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20" name="diagram block">
              <a:extLst>
                <a:ext uri="{FF2B5EF4-FFF2-40B4-BE49-F238E27FC236}">
                  <a16:creationId xmlns:a16="http://schemas.microsoft.com/office/drawing/2014/main" id="{2157B6AC-4A57-40F5-B5E4-17D481AE8C9E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21" name="diagram block">
              <a:extLst>
                <a:ext uri="{FF2B5EF4-FFF2-40B4-BE49-F238E27FC236}">
                  <a16:creationId xmlns:a16="http://schemas.microsoft.com/office/drawing/2014/main" id="{D17E442B-16BD-4E9D-A6F1-D82FDE7CA580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22" name="diagram block">
              <a:extLst>
                <a:ext uri="{FF2B5EF4-FFF2-40B4-BE49-F238E27FC236}">
                  <a16:creationId xmlns:a16="http://schemas.microsoft.com/office/drawing/2014/main" id="{5A496F2B-DB8C-44AC-9F21-34DD0E7265E9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23" name="diagram block">
              <a:extLst>
                <a:ext uri="{FF2B5EF4-FFF2-40B4-BE49-F238E27FC236}">
                  <a16:creationId xmlns:a16="http://schemas.microsoft.com/office/drawing/2014/main" id="{9A759D78-A88C-4486-8672-C62F35094EBD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24" name="diagram block">
              <a:extLst>
                <a:ext uri="{FF2B5EF4-FFF2-40B4-BE49-F238E27FC236}">
                  <a16:creationId xmlns:a16="http://schemas.microsoft.com/office/drawing/2014/main" id="{746AAC18-122F-48D2-924B-811EEA7FE579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25" name="diagram block">
              <a:extLst>
                <a:ext uri="{FF2B5EF4-FFF2-40B4-BE49-F238E27FC236}">
                  <a16:creationId xmlns:a16="http://schemas.microsoft.com/office/drawing/2014/main" id="{BE378AD2-1BE8-4A93-BC03-80B284C4F2AB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26" name="diagram block">
              <a:extLst>
                <a:ext uri="{FF2B5EF4-FFF2-40B4-BE49-F238E27FC236}">
                  <a16:creationId xmlns:a16="http://schemas.microsoft.com/office/drawing/2014/main" id="{EBA193B5-E559-4FA7-BE0D-CD3749ECABCD}"/>
                </a:ext>
              </a:extLst>
            </p:cNvPr>
            <p:cNvSpPr>
              <a:spLocks noGrp="1"/>
            </p:cNvSpPr>
            <p:nvPr/>
          </p:nvSpPr>
          <p:spPr>
            <a:xfrm>
              <a:off x="7895860" y="686449"/>
              <a:ext cx="908384" cy="1310964"/>
            </a:xfrm>
            <a:prstGeom prst="roundRect">
              <a:avLst>
                <a:gd name="adj" fmla="val 2841"/>
              </a:avLst>
            </a:prstGeom>
            <a:solidFill>
              <a:srgbClr val="FFFFFF"/>
            </a:solidFill>
            <a:ln w="4129">
              <a:solidFill>
                <a:srgbClr val="CBDFE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27" name="diagram block">
              <a:extLst>
                <a:ext uri="{FF2B5EF4-FFF2-40B4-BE49-F238E27FC236}">
                  <a16:creationId xmlns:a16="http://schemas.microsoft.com/office/drawing/2014/main" id="{2136650D-5A73-45EE-9516-395A0E65DE2D}"/>
                </a:ext>
              </a:extLst>
            </p:cNvPr>
            <p:cNvSpPr>
              <a:spLocks noGrp="1"/>
            </p:cNvSpPr>
            <p:nvPr/>
          </p:nvSpPr>
          <p:spPr>
            <a:xfrm>
              <a:off x="7962957" y="758707"/>
              <a:ext cx="129032" cy="129032"/>
            </a:xfrm>
            <a:prstGeom prst="rect">
              <a:avLst/>
            </a:prstGeom>
            <a:solidFill>
              <a:srgbClr val="FFBE39"/>
            </a:solidFill>
            <a:ln w="4645">
              <a:solidFill>
                <a:srgbClr val="E8A321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28" name="Latent token&#10;(48-D)">
              <a:extLst>
                <a:ext uri="{FF2B5EF4-FFF2-40B4-BE49-F238E27FC236}">
                  <a16:creationId xmlns:a16="http://schemas.microsoft.com/office/drawing/2014/main" id="{8B30B7D8-5A54-42D5-A8FB-D76271C722A2}"/>
                </a:ext>
              </a:extLst>
            </p:cNvPr>
            <p:cNvSpPr>
              <a:spLocks noGrp="1"/>
            </p:cNvSpPr>
            <p:nvPr/>
          </p:nvSpPr>
          <p:spPr>
            <a:xfrm>
              <a:off x="8138440" y="748385"/>
              <a:ext cx="609030" cy="22709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6511"/>
            </a:bodyPr>
            <a:lstStyle>
              <a:def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Latent token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(48-D)</a:t>
              </a:r>
            </a:p>
          </p:txBody>
        </p:sp>
        <p:sp>
          <p:nvSpPr>
            <p:cNvPr id="529" name="diagram block">
              <a:extLst>
                <a:ext uri="{FF2B5EF4-FFF2-40B4-BE49-F238E27FC236}">
                  <a16:creationId xmlns:a16="http://schemas.microsoft.com/office/drawing/2014/main" id="{5DD5B9F1-97D6-40D4-B8CC-568C9CEAD8EA}"/>
                </a:ext>
              </a:extLst>
            </p:cNvPr>
            <p:cNvSpPr>
              <a:spLocks noGrp="1"/>
            </p:cNvSpPr>
            <p:nvPr/>
          </p:nvSpPr>
          <p:spPr>
            <a:xfrm>
              <a:off x="7962957" y="980642"/>
              <a:ext cx="129032" cy="118709"/>
            </a:xfrm>
            <a:prstGeom prst="rect">
              <a:avLst/>
            </a:prstGeom>
            <a:solidFill>
              <a:srgbClr val="FF8156"/>
            </a:solidFill>
            <a:ln w="4645">
              <a:solidFill>
                <a:srgbClr val="F35A36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30" name="Selected location">
              <a:extLst>
                <a:ext uri="{FF2B5EF4-FFF2-40B4-BE49-F238E27FC236}">
                  <a16:creationId xmlns:a16="http://schemas.microsoft.com/office/drawing/2014/main" id="{7A47D8E9-0FDA-4176-9A8D-2C3032D081BE}"/>
                </a:ext>
              </a:extLst>
            </p:cNvPr>
            <p:cNvSpPr>
              <a:spLocks noGrp="1"/>
            </p:cNvSpPr>
            <p:nvPr/>
          </p:nvSpPr>
          <p:spPr>
            <a:xfrm>
              <a:off x="8138440" y="985803"/>
              <a:ext cx="614192" cy="14451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5323"/>
            </a:bodyPr>
            <a:lstStyle>
              <a:def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Selected location</a:t>
              </a:r>
            </a:p>
          </p:txBody>
        </p:sp>
        <p:cxnSp>
          <p:nvCxnSpPr>
            <p:cNvPr id="531" name="native PowerPoint connector">
              <a:extLst>
                <a:ext uri="{FF2B5EF4-FFF2-40B4-BE49-F238E27FC236}">
                  <a16:creationId xmlns:a16="http://schemas.microsoft.com/office/drawing/2014/main" id="{A620283E-CD50-4932-BA1D-066300851522}"/>
                </a:ext>
              </a:extLst>
            </p:cNvPr>
            <p:cNvCxnSpPr/>
            <p:nvPr/>
          </p:nvCxnSpPr>
          <p:spPr>
            <a:xfrm>
              <a:off x="7947473" y="1238706"/>
              <a:ext cx="175483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  <a:headEnd type="triangle" w="sm" len="sm"/>
              <a:tailEnd type="triangle" w="sm" len="sm"/>
            </a:ln>
          </p:spPr>
        </p:cxnSp>
        <p:sp>
          <p:nvSpPr>
            <p:cNvPr id="532" name="Temporal edge&#10;(same position,&#10;same camera only)">
              <a:extLst>
                <a:ext uri="{FF2B5EF4-FFF2-40B4-BE49-F238E27FC236}">
                  <a16:creationId xmlns:a16="http://schemas.microsoft.com/office/drawing/2014/main" id="{F37AD8C1-2972-421D-8FB3-404FE15B3D4F}"/>
                </a:ext>
              </a:extLst>
            </p:cNvPr>
            <p:cNvSpPr>
              <a:spLocks noGrp="1"/>
            </p:cNvSpPr>
            <p:nvPr/>
          </p:nvSpPr>
          <p:spPr>
            <a:xfrm>
              <a:off x="8153924" y="1176770"/>
              <a:ext cx="609030" cy="330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6450"/>
            </a:bodyPr>
            <a:lstStyle>
              <a:def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Temporal edge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(same position,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same camera only)</a:t>
              </a:r>
            </a:p>
          </p:txBody>
        </p:sp>
        <p:cxnSp>
          <p:nvCxnSpPr>
            <p:cNvPr id="533" name="native PowerPoint connector">
              <a:extLst>
                <a:ext uri="{FF2B5EF4-FFF2-40B4-BE49-F238E27FC236}">
                  <a16:creationId xmlns:a16="http://schemas.microsoft.com/office/drawing/2014/main" id="{80C5EF56-44D5-41C1-B124-45E1852442A5}"/>
                </a:ext>
              </a:extLst>
            </p:cNvPr>
            <p:cNvCxnSpPr/>
            <p:nvPr/>
          </p:nvCxnSpPr>
          <p:spPr>
            <a:xfrm>
              <a:off x="8035215" y="1486447"/>
              <a:ext cx="0" cy="211612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headEnd type="triangle" w="sm" len="sm"/>
              <a:tailEnd type="triangle" w="sm" len="sm"/>
            </a:ln>
          </p:spPr>
        </p:cxnSp>
        <p:cxnSp>
          <p:nvCxnSpPr>
            <p:cNvPr id="534" name="native PowerPoint connector">
              <a:extLst>
                <a:ext uri="{FF2B5EF4-FFF2-40B4-BE49-F238E27FC236}">
                  <a16:creationId xmlns:a16="http://schemas.microsoft.com/office/drawing/2014/main" id="{7C3AD7F9-2495-440A-9C6D-186B4260B6A4}"/>
                </a:ext>
              </a:extLst>
            </p:cNvPr>
            <p:cNvCxnSpPr/>
            <p:nvPr/>
          </p:nvCxnSpPr>
          <p:spPr>
            <a:xfrm>
              <a:off x="7937151" y="1594834"/>
              <a:ext cx="190967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headEnd type="triangle" w="sm" len="sm"/>
              <a:tailEnd type="triangle" w="sm" len="sm"/>
            </a:ln>
          </p:spPr>
        </p:cxnSp>
        <p:sp>
          <p:nvSpPr>
            <p:cNvPr id="535" name="8 spatial neighbors&#10;(same time)">
              <a:extLst>
                <a:ext uri="{FF2B5EF4-FFF2-40B4-BE49-F238E27FC236}">
                  <a16:creationId xmlns:a16="http://schemas.microsoft.com/office/drawing/2014/main" id="{36F3AB4F-355F-4CE8-A752-AABBC394BA86}"/>
                </a:ext>
              </a:extLst>
            </p:cNvPr>
            <p:cNvSpPr>
              <a:spLocks noGrp="1"/>
            </p:cNvSpPr>
            <p:nvPr/>
          </p:nvSpPr>
          <p:spPr>
            <a:xfrm>
              <a:off x="8153924" y="1548382"/>
              <a:ext cx="614192" cy="22193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6983"/>
            </a:bodyPr>
            <a:lstStyle>
              <a:def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 spatial neighbors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(same time)</a:t>
              </a:r>
            </a:p>
          </p:txBody>
        </p:sp>
        <p:cxnSp>
          <p:nvCxnSpPr>
            <p:cNvPr id="536" name="native PowerPoint connector">
              <a:extLst>
                <a:ext uri="{FF2B5EF4-FFF2-40B4-BE49-F238E27FC236}">
                  <a16:creationId xmlns:a16="http://schemas.microsoft.com/office/drawing/2014/main" id="{B3223F9D-1CE3-411E-A393-19F62B4504D8}"/>
                </a:ext>
              </a:extLst>
            </p:cNvPr>
            <p:cNvCxnSpPr/>
            <p:nvPr/>
          </p:nvCxnSpPr>
          <p:spPr>
            <a:xfrm>
              <a:off x="7968118" y="1811607"/>
              <a:ext cx="98064" cy="98064"/>
            </a:xfrm>
            <a:prstGeom prst="straightConnector1">
              <a:avLst/>
            </a:prstGeom>
            <a:ln w="12387">
              <a:solidFill>
                <a:srgbClr val="F31627"/>
              </a:solidFill>
              <a:prstDash val="solid"/>
            </a:ln>
          </p:spPr>
        </p:cxnSp>
        <p:cxnSp>
          <p:nvCxnSpPr>
            <p:cNvPr id="537" name="native PowerPoint connector">
              <a:extLst>
                <a:ext uri="{FF2B5EF4-FFF2-40B4-BE49-F238E27FC236}">
                  <a16:creationId xmlns:a16="http://schemas.microsoft.com/office/drawing/2014/main" id="{0FFF1540-B1C6-4FE3-A51C-35CB99D91ABC}"/>
                </a:ext>
              </a:extLst>
            </p:cNvPr>
            <p:cNvCxnSpPr/>
            <p:nvPr/>
          </p:nvCxnSpPr>
          <p:spPr>
            <a:xfrm flipH="1">
              <a:off x="7968118" y="1811607"/>
              <a:ext cx="98064" cy="98064"/>
            </a:xfrm>
            <a:prstGeom prst="straightConnector1">
              <a:avLst/>
            </a:prstGeom>
            <a:ln w="12387">
              <a:solidFill>
                <a:srgbClr val="F31627"/>
              </a:solidFill>
              <a:prstDash val="solid"/>
            </a:ln>
          </p:spPr>
        </p:cxnSp>
        <p:sp>
          <p:nvSpPr>
            <p:cNvPr id="538" name="No cross-camera&#10;edges">
              <a:extLst>
                <a:ext uri="{FF2B5EF4-FFF2-40B4-BE49-F238E27FC236}">
                  <a16:creationId xmlns:a16="http://schemas.microsoft.com/office/drawing/2014/main" id="{25272A60-BEFB-467D-8EAF-51E69B10EDD5}"/>
                </a:ext>
              </a:extLst>
            </p:cNvPr>
            <p:cNvSpPr>
              <a:spLocks noGrp="1"/>
            </p:cNvSpPr>
            <p:nvPr/>
          </p:nvSpPr>
          <p:spPr>
            <a:xfrm>
              <a:off x="8153924" y="1806446"/>
              <a:ext cx="609030" cy="21161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No cross-camera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edges</a:t>
              </a:r>
            </a:p>
          </p:txBody>
        </p:sp>
        <p:sp>
          <p:nvSpPr>
            <p:cNvPr id="539" name="diagram block">
              <a:extLst>
                <a:ext uri="{FF2B5EF4-FFF2-40B4-BE49-F238E27FC236}">
                  <a16:creationId xmlns:a16="http://schemas.microsoft.com/office/drawing/2014/main" id="{F57EFFEF-85B9-4CC5-835A-C3464379EA28}"/>
                </a:ext>
              </a:extLst>
            </p:cNvPr>
            <p:cNvSpPr>
              <a:spLocks noGrp="1"/>
            </p:cNvSpPr>
            <p:nvPr/>
          </p:nvSpPr>
          <p:spPr>
            <a:xfrm>
              <a:off x="7901022" y="2250315"/>
              <a:ext cx="903223" cy="552256"/>
            </a:xfrm>
            <a:prstGeom prst="roundRect">
              <a:avLst>
                <a:gd name="adj" fmla="val 4673"/>
              </a:avLst>
            </a:prstGeom>
            <a:solidFill>
              <a:srgbClr val="FFFFFF"/>
            </a:solidFill>
            <a:ln w="5161">
              <a:solidFill>
                <a:srgbClr val="C3DFF6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40" name="Each view’s original latent&#10;map is 14 × 14, pooled&#10;with 2 × 2 average pooli">
              <a:extLst>
                <a:ext uri="{FF2B5EF4-FFF2-40B4-BE49-F238E27FC236}">
                  <a16:creationId xmlns:a16="http://schemas.microsoft.com/office/drawing/2014/main" id="{6BEEBABC-9E18-4C79-BF1E-DAC736BA7967}"/>
                </a:ext>
              </a:extLst>
            </p:cNvPr>
            <p:cNvSpPr>
              <a:spLocks noGrp="1"/>
            </p:cNvSpPr>
            <p:nvPr/>
          </p:nvSpPr>
          <p:spPr>
            <a:xfrm>
              <a:off x="7926828" y="2276122"/>
              <a:ext cx="851610" cy="500644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wrap="none" lIns="0" tIns="0" rIns="0" bIns="0" anchor="ctr">
              <a:normAutofit fontScale="85446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Each view’s original latent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map is 14 × 14, pooled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with 2 × 2 average pooling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to 7 × 7 (separately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for each view).</a:t>
              </a:r>
            </a:p>
          </p:txBody>
        </p:sp>
        <p:sp>
          <p:nvSpPr>
            <p:cNvPr id="541" name="diagram block">
              <a:extLst>
                <a:ext uri="{FF2B5EF4-FFF2-40B4-BE49-F238E27FC236}">
                  <a16:creationId xmlns:a16="http://schemas.microsoft.com/office/drawing/2014/main" id="{AE4C262F-C172-4A74-9BF9-8F4EA1FA208D}"/>
                </a:ext>
              </a:extLst>
            </p:cNvPr>
            <p:cNvSpPr>
              <a:spLocks noGrp="1"/>
            </p:cNvSpPr>
            <p:nvPr/>
          </p:nvSpPr>
          <p:spPr>
            <a:xfrm>
              <a:off x="6073931" y="3163861"/>
              <a:ext cx="2719991" cy="190967"/>
            </a:xfrm>
            <a:prstGeom prst="roundRect">
              <a:avLst>
                <a:gd name="adj" fmla="val 13514"/>
              </a:avLst>
            </a:prstGeom>
            <a:gradFill>
              <a:gsLst>
                <a:gs pos="0">
                  <a:srgbClr val="FFF1D0"/>
                </a:gs>
                <a:gs pos="100000">
                  <a:srgbClr val="FFF9ED"/>
                </a:gs>
              </a:gsLst>
              <a:lin ang="5400000"/>
            </a:gradFill>
            <a:ln w="5161">
              <a:solidFill>
                <a:srgbClr val="EDCD8E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42" name="2 future times × 2 views × 7 × 7 = 196 tokens, 48-D">
              <a:extLst>
                <a:ext uri="{FF2B5EF4-FFF2-40B4-BE49-F238E27FC236}">
                  <a16:creationId xmlns:a16="http://schemas.microsoft.com/office/drawing/2014/main" id="{E2DEB9D7-A54F-4647-AE5D-F7ADC8C1789B}"/>
                </a:ext>
              </a:extLst>
            </p:cNvPr>
            <p:cNvSpPr>
              <a:spLocks noGrp="1"/>
            </p:cNvSpPr>
            <p:nvPr/>
          </p:nvSpPr>
          <p:spPr>
            <a:xfrm>
              <a:off x="6099737" y="3189667"/>
              <a:ext cx="2668379" cy="139354"/>
            </a:xfrm>
            <a:prstGeom prst="rect">
              <a:avLst/>
            </a:prstGeom>
            <a:gradFill>
              <a:gsLst>
                <a:gs pos="0">
                  <a:srgbClr val="FFF1D0"/>
                </a:gs>
                <a:gs pos="100000">
                  <a:srgbClr val="FFF9ED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2 future times × 2 views × 7 × 7 = 196 tokens, 48-D</a:t>
              </a:r>
            </a:p>
          </p:txBody>
        </p:sp>
        <p:sp>
          <p:nvSpPr>
            <p:cNvPr id="543" name="diagram block">
              <a:extLst>
                <a:ext uri="{FF2B5EF4-FFF2-40B4-BE49-F238E27FC236}">
                  <a16:creationId xmlns:a16="http://schemas.microsoft.com/office/drawing/2014/main" id="{56714E7B-E8F5-4909-9146-D507F88FDB31}"/>
                </a:ext>
              </a:extLst>
            </p:cNvPr>
            <p:cNvSpPr>
              <a:spLocks noGrp="1"/>
            </p:cNvSpPr>
            <p:nvPr/>
          </p:nvSpPr>
          <p:spPr>
            <a:xfrm>
              <a:off x="6079092" y="3427086"/>
              <a:ext cx="2719991" cy="283870"/>
            </a:xfrm>
            <a:prstGeom prst="roundRect">
              <a:avLst>
                <a:gd name="adj" fmla="val 9091"/>
              </a:avLst>
            </a:prstGeom>
            <a:gradFill>
              <a:gsLst>
                <a:gs pos="0">
                  <a:srgbClr val="FFF0F2"/>
                </a:gs>
                <a:gs pos="100000">
                  <a:srgbClr val="FFF8F8"/>
                </a:gs>
              </a:gsLst>
              <a:lin ang="5400000"/>
            </a:gradFill>
            <a:ln w="5161">
              <a:solidFill>
                <a:srgbClr val="F88CA0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44" name="L_st,z = mean_i KL(p^T(· | i) || p^S(· | i))">
              <a:extLst>
                <a:ext uri="{FF2B5EF4-FFF2-40B4-BE49-F238E27FC236}">
                  <a16:creationId xmlns:a16="http://schemas.microsoft.com/office/drawing/2014/main" id="{7823E2BE-309D-4D30-B64D-54CEF04E3B3A}"/>
                </a:ext>
              </a:extLst>
            </p:cNvPr>
            <p:cNvSpPr>
              <a:spLocks noGrp="1"/>
            </p:cNvSpPr>
            <p:nvPr/>
          </p:nvSpPr>
          <p:spPr>
            <a:xfrm>
              <a:off x="6135866" y="3494182"/>
              <a:ext cx="2606443" cy="18064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/>
            </a:bodyPr>
            <a:lstStyle>
              <a:def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L</a:t>
              </a:r>
              <a:r>
                <a:rPr sz="570" b="0" i="1" baseline="-23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st,z</a:t>
              </a:r>
              <a:r>
                <a: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 = </a:t>
              </a:r>
              <a:r>
                <a:rPr sz="781" b="0" i="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mean</a:t>
              </a:r>
              <a:r>
                <a:rPr sz="570" b="0" i="1" baseline="-23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i</a:t>
              </a:r>
              <a:r>
                <a: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781" b="0" i="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KL</a:t>
              </a:r>
              <a:r>
                <a: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(p</a:t>
              </a:r>
              <a:r>
                <a:rPr sz="570" b="0" i="1" baseline="27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  <a:r>
                <a: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(· | i) || p</a:t>
              </a:r>
              <a:r>
                <a:rPr sz="570" b="0" i="1" baseline="27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(· | i))</a:t>
              </a:r>
            </a:p>
          </p:txBody>
        </p:sp>
        <p:sp>
          <p:nvSpPr>
            <p:cNvPr id="545" name="8 local spatial neighbors + same-position temporal edge (same camera only).">
              <a:extLst>
                <a:ext uri="{FF2B5EF4-FFF2-40B4-BE49-F238E27FC236}">
                  <a16:creationId xmlns:a16="http://schemas.microsoft.com/office/drawing/2014/main" id="{6536528F-9E25-4437-86D5-6662E5D290EF}"/>
                </a:ext>
              </a:extLst>
            </p:cNvPr>
            <p:cNvSpPr>
              <a:spLocks noGrp="1"/>
            </p:cNvSpPr>
            <p:nvPr/>
          </p:nvSpPr>
          <p:spPr>
            <a:xfrm>
              <a:off x="6058447" y="3803859"/>
              <a:ext cx="2745798" cy="23741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5323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 local spatial neighbors + same-position temporal edge (same camera only).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No cross-camera edges.</a:t>
              </a:r>
            </a:p>
          </p:txBody>
        </p:sp>
        <p:sp>
          <p:nvSpPr>
            <p:cNvPr id="546" name="diagram block">
              <a:extLst>
                <a:ext uri="{FF2B5EF4-FFF2-40B4-BE49-F238E27FC236}">
                  <a16:creationId xmlns:a16="http://schemas.microsoft.com/office/drawing/2014/main" id="{41A26A57-EE88-4DCE-8FFD-73BA73C20FCB}"/>
                </a:ext>
              </a:extLst>
            </p:cNvPr>
            <p:cNvSpPr>
              <a:spLocks noGrp="1"/>
            </p:cNvSpPr>
            <p:nvPr/>
          </p:nvSpPr>
          <p:spPr>
            <a:xfrm>
              <a:off x="742335" y="4190954"/>
              <a:ext cx="7814169" cy="289031"/>
            </a:xfrm>
            <a:prstGeom prst="roundRect">
              <a:avLst>
                <a:gd name="adj" fmla="val 14286"/>
              </a:avLst>
            </a:prstGeom>
            <a:gradFill>
              <a:gsLst>
                <a:gs pos="0">
                  <a:srgbClr val="FFF0F2"/>
                </a:gs>
                <a:gs pos="100000">
                  <a:srgbClr val="FFF8F8"/>
                </a:gs>
              </a:gsLst>
              <a:lin ang="5400000"/>
            </a:gradFill>
            <a:ln w="5161">
              <a:solidFill>
                <a:srgbClr val="F66E8F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47" name="L = αₐ (L_bin,a + βₐ L_temp,a) + λ α_z (L_bin,z + β_z L_st,z)">
              <a:extLst>
                <a:ext uri="{FF2B5EF4-FFF2-40B4-BE49-F238E27FC236}">
                  <a16:creationId xmlns:a16="http://schemas.microsoft.com/office/drawing/2014/main" id="{1B2845FF-72FF-4C4C-993F-77CCB24E71FF}"/>
                </a:ext>
              </a:extLst>
            </p:cNvPr>
            <p:cNvSpPr>
              <a:spLocks noGrp="1"/>
            </p:cNvSpPr>
            <p:nvPr/>
          </p:nvSpPr>
          <p:spPr>
            <a:xfrm>
              <a:off x="1568139" y="4252890"/>
              <a:ext cx="6152239" cy="21677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225"/>
            </a:bodyPr>
            <a:lstStyle>
              <a:def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 = αₐ (L</a:t>
              </a:r>
              <a:r>
                <a:rPr sz="82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bin,a</a:t>
              </a:r>
              <a:r>
                <a: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+ βₐ L</a:t>
              </a:r>
              <a:r>
                <a:rPr sz="82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temp,a</a:t>
              </a:r>
              <a:r>
                <a: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) + λ α</a:t>
              </a:r>
              <a:r>
                <a:rPr sz="82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z</a:t>
              </a:r>
              <a:r>
                <a: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(L</a:t>
              </a:r>
              <a:r>
                <a:rPr sz="82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bin,z</a:t>
              </a:r>
              <a:r>
                <a: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+ β</a:t>
              </a:r>
              <a:r>
                <a:rPr sz="82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z</a:t>
              </a:r>
              <a:r>
                <a: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L</a:t>
              </a:r>
              <a:r>
                <a:rPr sz="82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st,z</a:t>
              </a:r>
              <a:r>
                <a: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)</a:t>
              </a:r>
            </a:p>
          </p:txBody>
        </p:sp>
        <p:sp>
          <p:nvSpPr>
            <p:cNvPr id="548" name="diagram block">
              <a:extLst>
                <a:ext uri="{FF2B5EF4-FFF2-40B4-BE49-F238E27FC236}">
                  <a16:creationId xmlns:a16="http://schemas.microsoft.com/office/drawing/2014/main" id="{C56830D1-8EDE-4CCE-A670-AB505145D9BE}"/>
                </a:ext>
              </a:extLst>
            </p:cNvPr>
            <p:cNvSpPr>
              <a:spLocks noGrp="1"/>
            </p:cNvSpPr>
            <p:nvPr/>
          </p:nvSpPr>
          <p:spPr>
            <a:xfrm>
              <a:off x="308788" y="4541921"/>
              <a:ext cx="4227083" cy="247741"/>
            </a:xfrm>
            <a:prstGeom prst="roundRect">
              <a:avLst>
                <a:gd name="adj" fmla="val 10417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C5DFF6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49" name="T: frozen teacher. S: quantized student. Shared frozen statistics and tempe">
              <a:extLst>
                <a:ext uri="{FF2B5EF4-FFF2-40B4-BE49-F238E27FC236}">
                  <a16:creationId xmlns:a16="http://schemas.microsoft.com/office/drawing/2014/main" id="{A00AAD90-7589-4D94-892A-11027C10C245}"/>
                </a:ext>
              </a:extLst>
            </p:cNvPr>
            <p:cNvSpPr>
              <a:spLocks noGrp="1"/>
            </p:cNvSpPr>
            <p:nvPr/>
          </p:nvSpPr>
          <p:spPr>
            <a:xfrm>
              <a:off x="344917" y="4578050"/>
              <a:ext cx="4154826" cy="175483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0975"/>
            </a:bodyPr>
            <a:lstStyle>
              <a:def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T: frozen teacher. S: quantized student. Shared frozen statistics and temperatures.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Train D and clipping ratios. Soft-bin anchors values, relation KL constrains structure.</a:t>
              </a:r>
            </a:p>
          </p:txBody>
        </p:sp>
        <p:sp>
          <p:nvSpPr>
            <p:cNvPr id="550" name="diagram block">
              <a:extLst>
                <a:ext uri="{FF2B5EF4-FFF2-40B4-BE49-F238E27FC236}">
                  <a16:creationId xmlns:a16="http://schemas.microsoft.com/office/drawing/2014/main" id="{6C172A9F-5591-4C9C-B61B-C9D99E8CB389}"/>
                </a:ext>
              </a:extLst>
            </p:cNvPr>
            <p:cNvSpPr>
              <a:spLocks noGrp="1"/>
            </p:cNvSpPr>
            <p:nvPr/>
          </p:nvSpPr>
          <p:spPr>
            <a:xfrm>
              <a:off x="4737161" y="4541921"/>
              <a:ext cx="4113535" cy="247741"/>
            </a:xfrm>
            <a:prstGeom prst="roundRect">
              <a:avLst>
                <a:gd name="adj" fmla="val 10417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C5DFF6"/>
              </a:solidFill>
              <a:prstDash val="solid"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551" name="Evidence: fixed-input fidelity. Rollout prediction and closed-loop gains aw">
              <a:extLst>
                <a:ext uri="{FF2B5EF4-FFF2-40B4-BE49-F238E27FC236}">
                  <a16:creationId xmlns:a16="http://schemas.microsoft.com/office/drawing/2014/main" id="{4C20B761-9655-41AC-A877-4AC63BB2E1EE}"/>
                </a:ext>
              </a:extLst>
            </p:cNvPr>
            <p:cNvSpPr>
              <a:spLocks noGrp="1"/>
            </p:cNvSpPr>
            <p:nvPr/>
          </p:nvSpPr>
          <p:spPr>
            <a:xfrm>
              <a:off x="4778451" y="4583211"/>
              <a:ext cx="4030955" cy="165161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Evidence: fixed-input fidelity. Rollout prediction and closed-loop gains await validation.</a:t>
              </a:r>
            </a:p>
          </p:txBody>
        </p:sp>
      </p:grpSp>
      <p:sp>
        <p:nvSpPr>
          <p:cNvPr id="552" name="Generated design reference; editable loss definitions a">
            <a:extLst>
              <a:ext uri="{FF2B5EF4-FFF2-40B4-BE49-F238E27FC236}">
                <a16:creationId xmlns:a16="http://schemas.microsoft.com/office/drawing/2014/main" id="{F57EA025-168B-4D46-9CD7-36E66674BA58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Editable figure, synchronized with slide 9. All figure text uses Times New Roman.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5872</Words>
  <Application>Microsoft Office PowerPoint</Application>
  <DocSecurity>0</DocSecurity>
  <PresentationFormat>全屏显示(16:9)</PresentationFormat>
  <Paragraphs>1045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Latent + Action-Aware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Thankuuu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#GUO YICHEN#</cp:lastModifiedBy>
  <cp:revision>9</cp:revision>
  <dcterms:created xsi:type="dcterms:W3CDTF">2026-10-20T12:58:15Z</dcterms:created>
  <dcterms:modified xsi:type="dcterms:W3CDTF">2026-10-21T04:01:36Z</dcterms:modified>
</cp:coreProperties>
</file>