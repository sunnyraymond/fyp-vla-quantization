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6858000" cy="9144000"/>
  <p:defaultTextStyle>
    <a:defPPr>
      <a:defRPr lang="zh-S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2" d="100"/>
          <a:sy n="152" d="100"/>
        </p:scale>
        <p:origin x="754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2026年10月28日组会。汇报当前Q0、部署与跨模型闭环证据，以及面向nativeINT8的定位和实验计划。</a:t>
            </a:r>
          </a:p>
          <a:p>
            <a:r>
              <a:t>数据截止2026-10-27。</a:t>
            </a:r>
          </a:p>
          <a:p>
            <a:endParaRPr/>
          </a:p>
          <a:p>
            <a:r>
              <a:t>证据来源（本地）：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本次汇报先说明目前的Q0与真实部署能力，再报告跨模型和闭环结果，最后提出8-bit计算路线。A8准确率和INT8速度初测已完成，但新INT8 VQ engine尚不能当成完成结果。</a:t>
            </a:r>
          </a:p>
          <a:p>
            <a:endParaRPr/>
          </a:p>
          <a:p>
            <a:r>
              <a:t>证据来源（本地）：</a:t>
            </a:r>
          </a:p>
          <a:p>
            <a:r>
              <a:t>D:/Downloads/Final Year Project/experiment/idea-validation/fastwam-libero-engine-20261027/RESULTS.zh.md</a:t>
            </a:r>
          </a:p>
          <a:p>
            <a:r>
              <a:t>D:/Downloads/Final Year Project/experiment/idea-validation/fastwam-a8-accuracy-20261027/pulled/26029171.pbs101/RESULTS.zh.md</a:t>
            </a:r>
          </a:p>
          <a:p>
            <a:r>
              <a:t>D:/Downloads/Final Year Project/experiment/idea-validation/fastwam-int8-speed-20261027/pulled/26028322.pbs101/results/RESULTS.zh.md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Q0三联总图。先S+signed H128+learned U128在W16A4下校准，再固定R0并拟合VQ0，最后仅更新codebooks/log row gains。R128是局部变换块宽度，不是SVD rank。Indices、B32 exponents和底模不更新。总图为示意，后两页放大关键部分。</a:t>
            </a:r>
          </a:p>
          <a:p>
            <a:endParaRPr/>
          </a:p>
          <a:p>
            <a:r>
              <a:t>证据来源（本地）：</a:t>
            </a:r>
          </a:p>
          <a:p>
            <a:r>
              <a:t>D:/Downloads/Final Year Project/experiment/idea-validation/fastwam-vq-r128-c80-loss-pair/protocol.json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这部分把activation与weight的坐标变换配对，实数形式X S^-1 R和W S R保持线性函数等价；实际FP32运算和BF16 cast顺序不能随意合并。双8-bit index表示每4个weight的两个码字，因此基础index成本4bpw，另有scales/books/metadata。图中矩阵为表示示意。</a:t>
            </a:r>
          </a:p>
          <a:p>
            <a:endParaRPr/>
          </a:p>
          <a:p>
            <a:r>
              <a:t>证据来源（本地）：</a:t>
            </a:r>
          </a:p>
          <a:p>
            <a:r>
              <a:t>D:/Downloads/Final Year Project/experiment/idea-validation/fastwam-vq-r128-c80-loss-pair/protocol.json</a:t>
            </a:r>
          </a:p>
          <a:p>
            <a:r>
              <a:t>D:/Downloads/Final Year Project/experiment/idea-validation/fastwam-vq-r128-c80-c-decoder-buffer/RESULTS.zh.md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R0来自C80一次覆盖：8个batch，每batch10 contexts，8次平均梯度更新。R0固定后拟合共同VQ0。matched loss-pair只改变reader KL，两臂各8updates、同C80。同原始BF16 future-to-action reader，把student future的控制后果映射成soft-bin分布；不是模型原生action概率KL。λ=0.04245452683169643，β=0.006083668576461056；first10 motor MSE + clean future NMSE + readerKL。reader校准时冻结但允许对输入future回传梯度，teacher stop-grad。</a:t>
            </a:r>
          </a:p>
          <a:p>
            <a:endParaRPr/>
          </a:p>
          <a:p>
            <a:r>
              <a:t>证据来源（本地）：</a:t>
            </a:r>
          </a:p>
          <a:p>
            <a:r>
              <a:t>D:/Downloads/Final Year Project/experiment/idea-validation/fastwam-vq-r128-c80-loss-pair/protocol.json</a:t>
            </a:r>
          </a:p>
          <a:p>
            <a:r>
              <a:t>D:/Downloads/Final Year Project/experiment/idea-validation/fastwam-vq-r128-c80-loss-pair-plus/RESULTS.zh.md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单独展开reader监督。aT/aQ为teacher与student输出的motor actions；zT/zQ是cleanfuturelatents。各自模型输出action与future是并行输出，不是把action变成future。将两种future输入同一冻结BF16actionreader、在同conditions及solverstate下读出motoraction，GaussianCDF软分bin后KL。reader本身不更新，但对studentfuture保留梯度，传回codebooks和logrowgains。此reader只在校准使用，不增加部署policyreaderforward。teacher所有参考stop-grad。</a:t>
            </a:r>
          </a:p>
          <a:p>
            <a:endParaRPr/>
          </a:p>
          <a:p>
            <a:r>
              <a:t>证据来源（本地）：</a:t>
            </a:r>
          </a:p>
          <a:p>
            <a:r>
              <a:t>D:/Downloads/Final Year Project/experiment/idea-validation/fastwam-vq-r128-c80-loss-pair/protocol.json</a:t>
            </a:r>
          </a:p>
          <a:p>
            <a:r>
              <a:t>D:/Downloads/Final Year Project/experiment/idea-validation/fastwam-vq-r128-c80-loss-pair-plus/RESULTS.zh.md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两组同R0和VQ0，只改变KL项，所以这是最清楚的损失配对。+4不是显著性结论；不同扰动不全部改善。camera14→19，robot initial states33→31。BF16 reference是216。该面板是LIBERO-Plus，不能与新标准LIBERO400混用。</a:t>
            </a:r>
          </a:p>
          <a:p>
            <a:endParaRPr/>
          </a:p>
          <a:p>
            <a:r>
              <a:t>证据来源（本地）：</a:t>
            </a:r>
          </a:p>
          <a:p>
            <a:r>
              <a:t>D:/Downloads/Final Year Project/experiment/idea-validation/fastwam-vq-r128-c80-loss-pair-plus/RESULTS.zh.md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论文风格engine总图。左为驻留编码与cache，中为每个Linear的真实数据路径，右为查询调度。所有数字数组是示意。U按现有FP32执行，非生成参考图上未经核对的BF16标注。当前始终先写当前整层BF16 weight scratch再cuBLAS，未实现register-only INT8。</a:t>
            </a:r>
          </a:p>
          <a:p>
            <a:endParaRPr/>
          </a:p>
          <a:p>
            <a:r>
              <a:t>证据来源（本地）：</a:t>
            </a:r>
          </a:p>
          <a:p>
            <a:r>
              <a:t>D:/Downloads/Final Year Project/experiment/idea-validation/fastwam-vq-r128-c80-c-decoder-buffer/RESULTS.zh.md</a:t>
            </a:r>
          </a:p>
          <a:p>
            <a:r>
              <a:t>D:/Downloads/Final Year Project/experiment/idea-validation/fastwam-vq-r128-c80-runtime-abc/RESULTS.zh.md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这页放大真实层内数据流。H→U→A4后H/U工作区不再需要，才可给weight decoder复用；不是同时覆盖。3个Graph是video_step、video_prefill和action_step。每query5258逻辑Linear，不能把Graph调用数当成层数。单请求单stream限制需要保留。</a:t>
            </a:r>
          </a:p>
          <a:p>
            <a:endParaRPr/>
          </a:p>
          <a:p>
            <a:r>
              <a:t>证据来源（本地）：</a:t>
            </a:r>
          </a:p>
          <a:p>
            <a:r>
              <a:t>D:/Downloads/Final Year Project/experiment/idea-validation/fastwam-vq-r128-c80-c-decoder-buffer/RESULTS.zh.md</a:t>
            </a:r>
          </a:p>
          <a:p>
            <a:r>
              <a:t>D:/Downloads/Final Year Project/experiment/idea-validation/fastwam-vq-r128-c80-runtime-abc/RESULTS.zh.md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这是今天阶段0新增的同作业公平对照。新BF16 eager1475.3ms、cachegraph540.9、Q0 896.1；Q0/optimizedBF16=1.6567。显存1−16.914/25.488=33.64%。BF16 cacheGraph与eager完整80action差异0，Q0对历史Q0action差异0。不要用之前1.635x相对未优化BF16的结果代表算法本身加速。该计时排除observation preprocessing、环境、load和Graph capture。</a:t>
            </a:r>
          </a:p>
          <a:p>
            <a:endParaRPr/>
          </a:p>
          <a:p>
            <a:r>
              <a:t>证据来源（本地）：</a:t>
            </a:r>
          </a:p>
          <a:p>
            <a:r>
              <a:t>D:/Downloads/Final Year Project/experiment/idea-validation/fastwam-int8-speed-20261027/pulled/26028322.pbs101/results/RESULTS.zh.md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A/B/C同allocation，但旧layerdecode和最终decoderbuffer来自别的allocation。A为稳定地址并非独立加速。B query内cache使6436→5258次Linear，C降低提交开销。decoderbuffer对C p50−7.3%；buffer自身0.34%跨作业变化应视为基本持平。诊断query叶kernel类别BF16 GEMM226.973ms，decode150.871ms，FP32 SGEMM99.951ms，不能把intrusive profiler数据直接相加成headline latency。</a:t>
            </a:r>
          </a:p>
          <a:p>
            <a:endParaRPr/>
          </a:p>
          <a:p>
            <a:r>
              <a:t>证据来源（本地）：</a:t>
            </a:r>
          </a:p>
          <a:p>
            <a:r>
              <a:t>D:/Downloads/Final Year Project/experiment/idea-validation/fastwam-vq-r128-c80-runtime-abc/RESULTS.zh.md</a:t>
            </a:r>
          </a:p>
          <a:p>
            <a:r>
              <a:t>D:/Downloads/Final Year Project/experiment/idea-validation/fastwam-vq-r128-c80-c-decoder-buffer/RESULTS.zh.md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迁移使用nvidia/Cosmos-Policy-LIBERO-Predict2-2B的direct policy。Cosmos没有独立action decoder，reader不能生硬照搬Fast-WAM。第3次denoising evaluation前仅替换future slots6/7，同真实solver state和multistep history续跑冻结BF16 suffix，比较读出的motor action。Action slot4保留teacher值并detach。损失full16x6motor+futureviewNMSE+softbinKL，16bin GaussianCDF sigma.375。没有matchedAZ消融，不能把230归为KL单因果收益。</a:t>
            </a:r>
          </a:p>
          <a:p>
            <a:endParaRPr/>
          </a:p>
          <a:p>
            <a:r>
              <a:t>证据来源（本地）：</a:t>
            </a:r>
          </a:p>
          <a:p>
            <a:r>
              <a:t>D:/Downloads/Final Year Project/experiment/idea-validation/cosmos-policy-vqwam-20261024/INTERIM_RESULTS.zh.md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六臂各280 paired LIBEROPlus；校准覆盖/预算不等：SpinQuant复用C8，其他C80。SVD差只代表本项目adapted rank16weighted-residual版本，不是官方SVDQuant。native性能另一个协议：BF16 80queries seeds0/1共720samples，ours40contexts seed0共40samples；sampler432.566/435.695ms，storage3.6441/1.2421GiB。DiT-only277.356/433.901ms，速度0.639。四个native baseline fidelity representative4failed/full80missing，不能把原closed-loop贴成native闭环证据。</a:t>
            </a:r>
          </a:p>
          <a:p>
            <a:endParaRPr/>
          </a:p>
          <a:p>
            <a:r>
              <a:t>证据来源（本地）：</a:t>
            </a:r>
          </a:p>
          <a:p>
            <a:r>
              <a:t>D:/Downloads/Final Year Project/experiment/idea-validation/cosmos-policy-vqwam-20261024/INTERIM_RESULTS.zh.md</a:t>
            </a:r>
          </a:p>
          <a:p>
            <a:r>
              <a:t>D:/Downloads/Final Year Project/experiment/idea-validation/cosmos-policy-native-perf-20261025/RESULTS_mixed.zh.md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新标准LIBERO400：spatial98、object99、goal97、long97，共391。不是之前280LIBEROPlus。同releasedOptionalIDM、同Q0final8、engine，0new updates。输出32x7执行前10，每suite40task各10states seed42。4workers complete，4张卡独立action/future anchor都为0。warm899.527ms计时不含observationpreprocessing、environment、load/capture。没有同400BF16，不能和官方2000episode未量化表差距归因量化。</a:t>
            </a:r>
          </a:p>
          <a:p>
            <a:endParaRPr/>
          </a:p>
          <a:p>
            <a:r>
              <a:t>证据来源（本地）：</a:t>
            </a:r>
          </a:p>
          <a:p>
            <a:r>
              <a:t>D:/Downloads/Final Year Project/experiment/idea-validation/fastwam-libero-engine-20261027/RESULTS.zh.md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用户提出的关键定位：目前即使engine比eager快，A4最后放回BF16计算，没有A4原生算力红利。A8路线不是把存储改为8bit；VQ仍可约4bpw保存，算子解成8bit执行。A100 INT8 dense624TOPS vs BF16312TFLOPS峰值约2倍；权重进入INT8 operand后，A4塞INT8容器也按INT8 MMA速率，不是INT4峰值。FP8要放在Hopper/Ada等支持硬件另做。</a:t>
            </a:r>
          </a:p>
          <a:p>
            <a:r>
              <a:t>外部依据：https://images.nvidia.com/aem-dam/en-zz/Solutions/data-center/nvidia-ampere-architecture-whitepaper.pdf</a:t>
            </a:r>
          </a:p>
          <a:p>
            <a:r>
              <a:t>https://docs.nvidia.com/cuda/parallel-thread-execution/#warp-level-matrix-instructions-mma</a:t>
            </a:r>
          </a:p>
          <a:p>
            <a:endParaRPr/>
          </a:p>
          <a:p>
            <a:r>
              <a:t>证据来源（本地）：</a:t>
            </a:r>
          </a:p>
          <a:p>
            <a:r>
              <a:t>D:/Downloads/Final Year Project/experiment/idea-validation/fastwam-vq-r128-c80-c-decoder-buffer/RESULTS.zh.md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阶段1a完成。每臂80query，先seed平均后context、suite等权，独立context40。A4复用QClip原Q0endpoint。Q0A8回收A4相对A16差距100.8%motor/98.0%future，非显著性证明。H_INT8_A8是坐标改写后对decoded权重按行取整的可行性代理，不是训练后的格点约束码本、不是新的nativeengine。这个干预同时改H-only和rowgrid，不能单因果分解。</a:t>
            </a:r>
          </a:p>
          <a:p>
            <a:endParaRPr/>
          </a:p>
          <a:p>
            <a:r>
              <a:t>证据来源（本地）：</a:t>
            </a:r>
          </a:p>
          <a:p>
            <a:r>
              <a:t>D:/Downloads/Final Year Project/experiment/idea-validation/fastwam-a8-accuracy-20261027/pulled/26029171.pbs101/RESULTS.zh.md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阶段0shapebench在Graph中测并轮换权重避开L2。video尤其M294较大GEMM受益，action加权0.93x，整体纯GEMM1.558，含外围.434。INT8含外围506ms不能冒充完整policycall；原型尚缺VQ解码融合等。2x峰值不是2xE2E。用已测成本指导设计，而不是承诺register decode必快。</a:t>
            </a:r>
          </a:p>
          <a:p>
            <a:endParaRPr/>
          </a:p>
          <a:p>
            <a:r>
              <a:t>证据来源（本地）：</a:t>
            </a:r>
          </a:p>
          <a:p>
            <a:r>
              <a:t>D:/Downloads/Final Year Project/experiment/idea-validation/fastwam-int8-speed-20261027/pulled/26028322.pbs101/results/RESULTS.zh.md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核心数学：当前W_rk=g_r*2^e_rb*(C1+C2)。e随K上的B32组变，所以Y=sum_b s_rb sum_{k in b}xk q_rk，不能先把所有K整型点积相加再乘一个统一scale。必须二选：重新参数化/校准为行scale s_r和合适activation token scale，或每B32/group部分INT32accum再scaled merge，后者增加开销。仅把C1/C2本身round到INT8不够；两码本相加会溢出，rowgain/exponent仍可能离格点。应约束最终reconstruction或整数码本共同scale并处理求和范围。融合寄存器decode是拟议实现，不是已完成。A100原生INT8；FP8支持需换相应GPU并单独验证。</a:t>
            </a:r>
          </a:p>
          <a:p>
            <a:r>
              <a:t>来源：https://docs.nvidia.com/cuda/cublas/index.html#cublasgemmex</a:t>
            </a:r>
          </a:p>
          <a:p>
            <a:r>
              <a:t>https://docs.nvidia.com/cuda/parallel-thread-execution/</a:t>
            </a:r>
          </a:p>
          <a:p>
            <a:endParaRPr/>
          </a:p>
          <a:p>
            <a:r>
              <a:t>证据来源（本地）：</a:t>
            </a:r>
          </a:p>
          <a:p>
            <a:r>
              <a:t>D:/Downloads/Final Year Project/experiment/idea-validation/fastwam-vq-r128-c80-c-decoder-buffer/RESULTS.zh.md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页整理用户截图前三组作为拟议实验矩阵，不代表已实现这些W4A8baseline。主对比要约同storage、同INT8算力；W4A4用更低算力位宽比较质量/速度tradeoff，不能要求必输；W8A8同计算但存储约翻倍，wholemodel峰值不会自动减半。SmoothQuant标准是W8A8，其W4A8版本需明确adaptation；QServe/QQQstyle也要记录适配及outliers。截图列的SteerQuant报告只作外部参照，与本地复现实测分列。PTQ4DiT/Q-DiT/ViDiT-Q是否能本平台实现和质量达标需逐一确认。</a:t>
            </a:r>
          </a:p>
          <a:p>
            <a:endParaRPr/>
          </a:p>
          <a:p>
            <a:r>
              <a:t>证据来源（本地）：</a:t>
            </a:r>
          </a:p>
          <a:p>
            <a:r>
              <a:t>D:/Downloads/Final Year Project/experiment/idea-validation/fastwam-int8-speed-20261027/pulled/26028322.pbs101/results/RESULTS.zh.md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用户截图最后两组：weightonly同存储比较有没有INT8收益；低bpw是VQ可能的主场，但不能预先断言标量一定崩。已有AQLM loss-pair负结果不是所有AQLM都失败，且用户此前已明确停止该实验，不能为了此PPT恢复作业。论文报告结果与本地相同GPU/输入/Graph优化实测要分开标识。storage要统计真实有效bits和wholemodelpeak，约一半指targetweights而非整模型显存。</a:t>
            </a:r>
          </a:p>
          <a:p>
            <a:endParaRPr/>
          </a:p>
          <a:p>
            <a:r>
              <a:t>证据来源（本地）：</a:t>
            </a:r>
          </a:p>
          <a:p>
            <a:r>
              <a:t>D:/Downloads/Final Year Project/experiment/idea-validation/fastwam-int8-speed-20261027/pulled/26028322.pbs101/results/RESULTS.zh.md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实验设计skill原则：samecontexts/teacher/init/index/budget，单因素。现有H_INT8_A8同时变坐标与grid仅可行性代理，后续必须补H-onlynongrid与H+Ugrid等必要2x2实现主效应交互。A4/A8/A16固定输入沿用40contexts2seeds不是80独立样本。stagecalibrate C80用于选超参，heldout只用于预设endpoint。KL对比必须sameVQ0不warmstart旧KL。kernelseparate/fused同数值需允许明确误差阈值，性能不能和accuracycontrol混为一个实验。</a:t>
            </a:r>
          </a:p>
          <a:p>
            <a:endParaRPr/>
          </a:p>
          <a:p>
            <a:r>
              <a:t>证据来源（本地）：</a:t>
            </a:r>
          </a:p>
          <a:p>
            <a:r>
              <a:t>D:/Downloads/Final Year Project/experiment/idea-validation/fastwam-a8-accuracy-20261027/pulled/26029171.pbs101/RESULTS.zh.md</a:t>
            </a:r>
          </a:p>
          <a:p>
            <a:r>
              <a:t>D:/Downloads/Final Year Project/experiment/idea-validation/fastwam-vq-r128-c80-loss-pair-plus/RESULTS.zh.md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这页是方案，不启动新计算。性能按GPU/allocation及测量块blocking并交错/随机arm顺序，分cold load/setup/warmdenoiser/fullpolicy计时。闭环按task和perturbation配对same initialstate+samplerseed，四suite等权。预先规定可接受success下降和关键RMSE/NMSE门槛；当前不凭空报已达到或有power。独立校准seed和GPU重复应分别报告，单cohort不能伪重复。性能门优先optimizedBF16，另外报告相对当前Q0减latency。若INT8在action小矩阵慢采用预先固定混合fallback并计入例外存储。</a:t>
            </a:r>
          </a:p>
          <a:p>
            <a:endParaRPr/>
          </a:p>
          <a:p>
            <a:r>
              <a:t>证据来源（本地）：</a:t>
            </a:r>
          </a:p>
          <a:p>
            <a:r>
              <a:t>D:/Downloads/Final Year Project/experiment/idea-validation/fastwam-int8-speed-20261027/pulled/26028322.pbs101/results/RESULTS.zh.md</a:t>
            </a:r>
          </a:p>
          <a:p>
            <a:r>
              <a:t>D:/Downloads/Final Year Project/experiment/idea-validation/fastwam-libero-engine-20261027/RESULTS.zh.md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结束讨论不承诺性能。方法合理性的论证是：主W4A8同storagecompute下质量、W8A8同compute下targetstorage、weightonly同storage下性能、A4/A8/A16因果消融、native融合真正低精度执行。新A8已有proxy支持，INT8周边开销已有反证，所以要融合并正确处理B32scale。没有新作业提交。</a:t>
            </a:r>
          </a:p>
          <a:p>
            <a:endParaRPr/>
          </a:p>
          <a:p>
            <a:r>
              <a:t>证据来源（本地）：</a:t>
            </a:r>
          </a:p>
          <a:p>
            <a:r>
              <a:t>D:/Downloads/Final Year Project/experiment/idea-validation/fastwam-vq-r128-c80-loss-pair-plus/RESULTS.zh.md</a:t>
            </a:r>
          </a:p>
          <a:p>
            <a:r>
              <a:t>D:/Downloads/Final Year Project/experiment/idea-validation/fastwam-vq-r128-c80-c-decoder-buffer/RESULTS.zh.md</a:t>
            </a:r>
          </a:p>
          <a:p>
            <a:r>
              <a:t>D:/Downloads/Final Year Project/experiment/idea-validation/fastwam-libero-engine-20261027/RESULTS.zh.md</a:t>
            </a:r>
          </a:p>
          <a:p>
            <a:r>
              <a:t>D:/Downloads/Final Year Project/experiment/idea-validation/fastwam-a8-accuracy-20261027/pulled/26029171.pbs101/RESULTS.zh.md</a:t>
            </a:r>
          </a:p>
          <a:p>
            <a:r>
              <a:t>D:/Downloads/Final Year Project/experiment/idea-validation/fastwam-int8-speed-20261027/pulled/26028322.pbs101/results/RESULTS.zh.md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7E4D5-1401-482F-824F-C33E6DAD42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9DA456-77A2-4F05-8F53-B1015A42FF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665B20-DB7A-4E51-BDDD-F1E3661198CF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4886307"/>
            <a:ext cx="4858022" cy="273844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t>Research centre / College / School Name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0FC19-7CD1-4C5E-9D12-7101DE1BF60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982222" y="4886307"/>
            <a:ext cx="704578" cy="273844"/>
          </a:xfrm>
          <a:prstGeom prst="rect">
            <a:avLst/>
          </a:prstGeom>
        </p:spPr>
        <p:txBody>
          <a:bodyPr/>
          <a:lstStyle/>
          <a:p>
            <a:fld id="{8E6562B1-0B0F-0246-9532-09536BC2AE5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0510C-4C19-4FE0-8DA9-7229F499F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198EF-FD8E-41F1-8392-0092717B84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043A2F-A458-4BF9-9A6B-ECA5398A5F88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4886307"/>
            <a:ext cx="4858022" cy="273844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t>Research centre / College / School Name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86712C-7A8C-4850-ABB7-72B0976171E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982222" y="4886307"/>
            <a:ext cx="704578" cy="273844"/>
          </a:xfrm>
          <a:prstGeom prst="rect">
            <a:avLst/>
          </a:prstGeom>
        </p:spPr>
        <p:txBody>
          <a:bodyPr/>
          <a:lstStyle/>
          <a:p>
            <a:fld id="{8E6562B1-0B0F-0246-9532-09536BC2AE5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8FA4E-C023-4087-9D88-B5D2B11A9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305176"/>
            <a:ext cx="8229600" cy="1021556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CBBE51-BF9B-479E-837F-C1249B4001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180035"/>
            <a:ext cx="82296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F6BFA5-E349-4AA9-A828-67F3F8EE719E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4886307"/>
            <a:ext cx="4858022" cy="273844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t>Research centre / College / School Name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761213-466E-4A18-9A2D-FA531E3AF81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982222" y="4886307"/>
            <a:ext cx="704578" cy="273844"/>
          </a:xfrm>
          <a:prstGeom prst="rect">
            <a:avLst/>
          </a:prstGeom>
        </p:spPr>
        <p:txBody>
          <a:bodyPr/>
          <a:lstStyle/>
          <a:p>
            <a:fld id="{8E6562B1-0B0F-0246-9532-09536BC2AE5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682A3-93C9-4E65-AD95-C099AA896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E94EA7-F60A-43F7-883F-D4D838C2F8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C68976-4F83-40FF-B880-217C31AF55BE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1FA47A-3F46-4786-AB1F-69D4DC3B1666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4886307"/>
            <a:ext cx="4858022" cy="273844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t>Research centre / College / School Name Here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9A0069-3F99-43D6-A8C8-D5412265F62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982222" y="4886307"/>
            <a:ext cx="704578" cy="273844"/>
          </a:xfrm>
          <a:prstGeom prst="rect">
            <a:avLst/>
          </a:prstGeom>
        </p:spPr>
        <p:txBody>
          <a:bodyPr/>
          <a:lstStyle/>
          <a:p>
            <a:fld id="{8E6562B1-0B0F-0246-9532-09536BC2AE5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FC5CB-D2D4-43E7-8C65-717853420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60BA59-5BCC-428F-85D9-EAC3988BAB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39124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967BE-A7E4-47CC-A22E-05E18BE43CE9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1871068"/>
            <a:ext cx="4040188" cy="272130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BE56DE-BEB5-40F3-A275-6B0B062CB998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6" y="139124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E93E0D-26AC-4B95-AB48-AB5E4CB6D448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6" y="1871068"/>
            <a:ext cx="4041775" cy="272130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CDD95-9DE6-4D95-A298-A3A2D7B8B31B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4886307"/>
            <a:ext cx="4858022" cy="273844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t>Research centre / College / School Name Here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89A6D4-1FA9-42F1-A8EA-A0F3881D0D6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982222" y="4886307"/>
            <a:ext cx="704578" cy="273844"/>
          </a:xfrm>
          <a:prstGeom prst="rect">
            <a:avLst/>
          </a:prstGeom>
        </p:spPr>
        <p:txBody>
          <a:bodyPr/>
          <a:lstStyle/>
          <a:p>
            <a:fld id="{8E6562B1-0B0F-0246-9532-09536BC2AE5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BF2ED-1876-4366-8432-BE90789CF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A0D750-AF6A-405F-A48C-702E65899426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4886307"/>
            <a:ext cx="4858022" cy="273844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t>Research centre / College / School Name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567AD3-2BE6-4B01-9DF0-11AFE1511D2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982222" y="4886307"/>
            <a:ext cx="704578" cy="273844"/>
          </a:xfrm>
          <a:prstGeom prst="rect">
            <a:avLst/>
          </a:prstGeom>
        </p:spPr>
        <p:txBody>
          <a:bodyPr/>
          <a:lstStyle/>
          <a:p>
            <a:fld id="{8E6562B1-0B0F-0246-9532-09536BC2AE5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CF8CDE-FB10-4D61-AC43-F0D39D27CA90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4886307"/>
            <a:ext cx="4858022" cy="273844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t>Research centre / College / School Name Here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3D842A-DC9C-4997-969A-2B90CFD1A61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982222" y="4886307"/>
            <a:ext cx="704578" cy="273844"/>
          </a:xfrm>
          <a:prstGeom prst="rect">
            <a:avLst/>
          </a:prstGeom>
        </p:spPr>
        <p:txBody>
          <a:bodyPr/>
          <a:lstStyle/>
          <a:p>
            <a:fld id="{8E6562B1-0B0F-0246-9532-09536BC2AE5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0A6BB-F0EC-4011-AEB3-B100E6E56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591463"/>
            <a:ext cx="3008313" cy="8715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B2BBF9-06F3-4FE5-ACBD-3D05102921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591464"/>
            <a:ext cx="5111750" cy="4048651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BEAFEE-0F58-4084-961F-355B90BA393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1" y="1593860"/>
            <a:ext cx="3008313" cy="304625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EFEEC3-5CA8-46D5-8CCB-0BB120EF82DA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4886307"/>
            <a:ext cx="4858022" cy="273844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t>Research centre / College / School Name Here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6525AA-7A6F-4DA1-BC06-C7838B4FF81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982222" y="4886307"/>
            <a:ext cx="704578" cy="273844"/>
          </a:xfrm>
          <a:prstGeom prst="rect">
            <a:avLst/>
          </a:prstGeom>
        </p:spPr>
        <p:txBody>
          <a:bodyPr/>
          <a:lstStyle/>
          <a:p>
            <a:fld id="{8E6562B1-0B0F-0246-9532-09536BC2AE5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FF091-C265-404D-826D-A64539B60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1A89DF-DC8E-4EA7-9690-78284340DE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695CD0-D070-4047-AB37-E4A116E8439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7DC239-BE29-4FC5-8613-9827BC3231CA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4886307"/>
            <a:ext cx="4858022" cy="273844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t>Research centre / College / School Name Here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5C7963-707A-4635-8E8A-F13F66E560B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982222" y="4886307"/>
            <a:ext cx="704578" cy="273844"/>
          </a:xfrm>
          <a:prstGeom prst="rect">
            <a:avLst/>
          </a:prstGeom>
        </p:spPr>
        <p:txBody>
          <a:bodyPr/>
          <a:lstStyle/>
          <a:p>
            <a:fld id="{8E6562B1-0B0F-0246-9532-09536BC2AE5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56AA3D-92F6-4927-BD04-0D4F73419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22724"/>
            <a:ext cx="8229600" cy="85725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9BCCB1-1071-4616-A735-701F5247F4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416896"/>
            <a:ext cx="8229600" cy="2907092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pic>
        <p:nvPicPr>
          <p:cNvPr id="8" name="Picture 3">
            <a:extLst>
              <a:ext uri="{FF2B5EF4-FFF2-40B4-BE49-F238E27FC236}">
                <a16:creationId xmlns:a16="http://schemas.microsoft.com/office/drawing/2014/main" id="{5CFA3909-1A9E-4F44-8120-17F962E0612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4872762"/>
            <a:ext cx="9144000" cy="285750"/>
          </a:xfrm>
          <a:prstGeom prst="rect">
            <a:avLst/>
          </a:prstGeom>
        </p:spPr>
      </p:pic>
      <p:pic>
        <p:nvPicPr>
          <p:cNvPr id="9" name="Picture 7">
            <a:extLst>
              <a:ext uri="{FF2B5EF4-FFF2-40B4-BE49-F238E27FC236}">
                <a16:creationId xmlns:a16="http://schemas.microsoft.com/office/drawing/2014/main" id="{A71926A4-9099-4150-9CD7-C18F05C4309A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l="18865" t="17198"/>
          <a:stretch/>
        </p:blipFill>
        <p:spPr>
          <a:xfrm>
            <a:off x="6631259" y="4936272"/>
            <a:ext cx="1801682" cy="15801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dt="0"/>
  <p:txStyles>
    <p:titleStyle>
      <a:lvl1pPr algn="l" defTabSz="457200">
        <a:spcBef>
          <a:spcPct val="0"/>
        </a:spcBef>
        <a:buNone/>
        <a:defRPr sz="4400" kern="1200">
          <a:solidFill>
            <a:schemeClr val="tx1"/>
          </a:solidFill>
          <a:latin typeface="Arial"/>
          <a:ea typeface="Arial"/>
          <a:cs typeface="Arial"/>
        </a:defRPr>
      </a:lvl1pPr>
    </p:titleStyle>
    <p:bodyStyle>
      <a:lvl1pPr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Arial"/>
          <a:ea typeface="Arial"/>
          <a:cs typeface="Arial"/>
        </a:defRPr>
      </a:lvl1pPr>
      <a:lvl2pPr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Arial"/>
          <a:ea typeface="Arial"/>
          <a:cs typeface="Arial"/>
        </a:defRPr>
      </a:lvl2pPr>
      <a:lvl3pPr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Arial"/>
          <a:ea typeface="Arial"/>
          <a:cs typeface="Arial"/>
        </a:defRPr>
      </a:lvl3pPr>
      <a:lvl4pPr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Arial"/>
          <a:ea typeface="Arial"/>
          <a:cs typeface="Arial"/>
        </a:defRPr>
      </a:lvl4pPr>
      <a:lvl5pPr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Arial"/>
          <a:ea typeface="Arial"/>
          <a:cs typeface="Arial"/>
        </a:defRPr>
      </a:lvl5pPr>
      <a:lvl6pPr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10D82-12E8-413F-B22E-5B2F140E3A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56726" y="1866900"/>
            <a:ext cx="5953125" cy="971550"/>
          </a:xfrm>
        </p:spPr>
        <p:txBody>
          <a:bodyPr lIns="0" tIns="0" rIns="0" bIns="0" anchor="ctr">
            <a:noAutofit/>
          </a:bodyPr>
          <a:lstStyle>
            <a:def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50000"/>
              </a:lnSpc>
              <a:spcBef>
                <a:spcPts val="1800"/>
              </a:spcBef>
              <a:buNone/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Microscaling VQ for WAM</a:t>
            </a:r>
            <a:endParaRPr sz="3200" b="1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372C7A-310D-4A9C-8F84-4CD18CA032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56726" y="3758279"/>
            <a:ext cx="5953125" cy="857250"/>
          </a:xfrm>
        </p:spPr>
        <p:txBody>
          <a:bodyPr lIns="0" tIns="0" rIns="0" bIns="0">
            <a:noAutofit/>
          </a:bodyPr>
          <a:lstStyle>
            <a:def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Raymond</a:t>
            </a:r>
          </a:p>
          <a:p>
            <a: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College of Computing and Data Science (CCDS)</a:t>
            </a:r>
          </a:p>
          <a:p>
            <a: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28 October 2026</a:t>
            </a:r>
          </a:p>
        </p:txBody>
      </p:sp>
      <p:sp>
        <p:nvSpPr>
          <p:cNvPr id="4" name="Meeting subtitle">
            <a:extLst>
              <a:ext uri="{FF2B5EF4-FFF2-40B4-BE49-F238E27FC236}">
                <a16:creationId xmlns:a16="http://schemas.microsoft.com/office/drawing/2014/main" id="{A5069BB0-258F-4D92-A186-44EB7B636F6E}"/>
              </a:ext>
            </a:extLst>
          </p:cNvPr>
          <p:cNvSpPr>
            <a:spLocks noGrp="1"/>
          </p:cNvSpPr>
          <p:nvPr/>
        </p:nvSpPr>
        <p:spPr>
          <a:xfrm>
            <a:off x="2756726" y="2914650"/>
            <a:ext cx="595312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Q0, engine and native INT8</a:t>
            </a:r>
          </a:p>
        </p:txBody>
      </p:sp>
    </p:spTree>
    <p:extLst>
      <p:ext uri="{BB962C8B-B14F-4D97-AF65-F5344CB8AC3E}">
        <p14:creationId xmlns:p14="http://schemas.microsoft.com/office/powerpoint/2010/main" val="18979861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33400"/>
          </a:xfrm>
          <a:prstGeom prst="rect">
            <a:avLst/>
          </a:prstGeom>
        </p:spPr>
        <p:txBody>
          <a:bodyPr vert="horz" lIns="0" tIns="0" rIns="0" bIns="0" anchor="ctr">
            <a:noAutofit/>
          </a:bodyPr>
          <a:lstStyle>
            <a:def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Q0 and the deployment question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Completed">
            <a:extLst>
              <a:ext uri="{FF2B5EF4-FFF2-40B4-BE49-F238E27FC236}">
                <a16:creationId xmlns:a16="http://schemas.microsoft.com/office/drawing/2014/main" id="{D18311EF-A2DF-48F3-8BBE-8170D3E2FF64}"/>
              </a:ext>
            </a:extLst>
          </p:cNvPr>
          <p:cNvSpPr>
            <a:spLocks noGrp="1"/>
          </p:cNvSpPr>
          <p:nvPr/>
        </p:nvSpPr>
        <p:spPr>
          <a:xfrm>
            <a:off x="609600" y="990600"/>
            <a:ext cx="7905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275E"/>
                </a:solidFill>
                <a:latin typeface="Arial"/>
                <a:ea typeface="Arial"/>
                <a:cs typeface="Arial"/>
              </a:rPr>
              <a:t>Completed</a:t>
            </a:r>
          </a:p>
        </p:txBody>
      </p:sp>
      <p:sp>
        <p:nvSpPr>
          <p:cNvPr id="5" name="Q0 calibration, a compressed-resident engine, Cosmos transfer and a 40">
            <a:extLst>
              <a:ext uri="{FF2B5EF4-FFF2-40B4-BE49-F238E27FC236}">
                <a16:creationId xmlns:a16="http://schemas.microsoft.com/office/drawing/2014/main" id="{B519AE6D-16C7-48C5-803D-3FBA6054FC98}"/>
              </a:ext>
            </a:extLst>
          </p:cNvPr>
          <p:cNvSpPr>
            <a:spLocks noGrp="1"/>
          </p:cNvSpPr>
          <p:nvPr/>
        </p:nvSpPr>
        <p:spPr>
          <a:xfrm>
            <a:off x="609600" y="1390650"/>
            <a:ext cx="790575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Q0 calibration, a compressed-resident engine, Cosmos transfer and a 400-episode LIBERO evaluation</a:t>
            </a:r>
          </a:p>
        </p:txBody>
      </p:sp>
      <p:sp>
        <p:nvSpPr>
          <p:cNvPr id="6" name="New evidence">
            <a:extLst>
              <a:ext uri="{FF2B5EF4-FFF2-40B4-BE49-F238E27FC236}">
                <a16:creationId xmlns:a16="http://schemas.microsoft.com/office/drawing/2014/main" id="{65A88D39-B10D-4478-B511-1E8C8277122F}"/>
              </a:ext>
            </a:extLst>
          </p:cNvPr>
          <p:cNvSpPr>
            <a:spLocks noGrp="1"/>
          </p:cNvSpPr>
          <p:nvPr/>
        </p:nvSpPr>
        <p:spPr>
          <a:xfrm>
            <a:off x="609600" y="2343150"/>
            <a:ext cx="7905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275E"/>
                </a:solidFill>
                <a:latin typeface="Arial"/>
                <a:ea typeface="Arial"/>
                <a:cs typeface="Arial"/>
              </a:rPr>
              <a:t>New evidence</a:t>
            </a:r>
          </a:p>
        </p:txBody>
      </p:sp>
      <p:sp>
        <p:nvSpPr>
          <p:cNvPr id="7" name="A8 recovers most of the A4 numerical gap. Equally optimized BF16 is st">
            <a:extLst>
              <a:ext uri="{FF2B5EF4-FFF2-40B4-BE49-F238E27FC236}">
                <a16:creationId xmlns:a16="http://schemas.microsoft.com/office/drawing/2014/main" id="{C6F5BDCF-99AC-4AD7-98B6-BAC3FD854217}"/>
              </a:ext>
            </a:extLst>
          </p:cNvPr>
          <p:cNvSpPr>
            <a:spLocks noGrp="1"/>
          </p:cNvSpPr>
          <p:nvPr/>
        </p:nvSpPr>
        <p:spPr>
          <a:xfrm>
            <a:off x="609600" y="2743200"/>
            <a:ext cx="790575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725" b="0" dirty="0">
                <a:solidFill>
                  <a:srgbClr val="18222F"/>
                </a:solidFill>
                <a:latin typeface="Arial"/>
                <a:ea typeface="Arial"/>
                <a:cs typeface="Arial"/>
              </a:rPr>
              <a:t>A8 recovers most of the A4 numerical gap. Equally optimized BF16 is still faster than the current engine</a:t>
            </a:r>
          </a:p>
        </p:txBody>
      </p:sp>
      <p:sp>
        <p:nvSpPr>
          <p:cNvPr id="8" name="Next question: can compact VQ storage feed native INT8 compute efficie">
            <a:extLst>
              <a:ext uri="{FF2B5EF4-FFF2-40B4-BE49-F238E27FC236}">
                <a16:creationId xmlns:a16="http://schemas.microsoft.com/office/drawing/2014/main" id="{3456A9FE-0759-4DC5-B2FA-1F403E67BA1E}"/>
              </a:ext>
            </a:extLst>
          </p:cNvPr>
          <p:cNvSpPr>
            <a:spLocks noGrp="1"/>
          </p:cNvSpPr>
          <p:nvPr/>
        </p:nvSpPr>
        <p:spPr>
          <a:xfrm>
            <a:off x="609600" y="3857625"/>
            <a:ext cx="7858125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pPr>
            <a:r>
              <a:rPr sz="1950" b="1" dirty="0">
                <a:solidFill>
                  <a:srgbClr val="14275E"/>
                </a:solidFill>
                <a:latin typeface="Arial"/>
                <a:ea typeface="Arial"/>
                <a:cs typeface="Arial"/>
              </a:rPr>
              <a:t>Next question: can compact VQ storage feed native INT8 compute efficiently?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EAE05AA-973C-442D-BCB3-A0FA4B6348CF}"/>
              </a:ext>
            </a:extLst>
          </p:cNvPr>
          <p:cNvSpPr>
            <a:spLocks noGrp="1"/>
          </p:cNvSpPr>
          <p:nvPr/>
        </p:nvSpPr>
        <p:spPr>
          <a:xfrm>
            <a:off x="285750" y="3095625"/>
            <a:ext cx="8459153" cy="1707118"/>
          </a:xfrm>
          <a:prstGeom prst="rect">
            <a:avLst/>
          </a:prstGeom>
          <a:solidFill>
            <a:srgbClr val="FFFFFF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AA13520-8C3E-4D21-A825-2EF02DBACCD4}"/>
              </a:ext>
            </a:extLst>
          </p:cNvPr>
          <p:cNvSpPr>
            <a:spLocks noGrp="1"/>
          </p:cNvSpPr>
          <p:nvPr/>
        </p:nvSpPr>
        <p:spPr>
          <a:xfrm>
            <a:off x="5667375" y="85725"/>
            <a:ext cx="3083004" cy="2955608"/>
          </a:xfrm>
          <a:prstGeom prst="rect">
            <a:avLst/>
          </a:prstGeom>
          <a:solidFill>
            <a:srgbClr val="FFFFFF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7CBC7A0-41F7-40A5-A98D-33280832C298}"/>
              </a:ext>
            </a:extLst>
          </p:cNvPr>
          <p:cNvSpPr>
            <a:spLocks noGrp="1"/>
          </p:cNvSpPr>
          <p:nvPr/>
        </p:nvSpPr>
        <p:spPr>
          <a:xfrm>
            <a:off x="285750" y="85725"/>
            <a:ext cx="5350669" cy="2955608"/>
          </a:xfrm>
          <a:prstGeom prst="rect">
            <a:avLst/>
          </a:prstGeom>
          <a:solidFill>
            <a:srgbClr val="FFFFFF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7AE4F13E-DAFE-4578-9AD4-17B7C4656D2A}"/>
              </a:ext>
            </a:extLst>
          </p:cNvPr>
          <p:cNvCxnSpPr>
            <a:stCxn id="316" idx="3"/>
            <a:endCxn id="332" idx="1"/>
          </p:cNvCxnSpPr>
          <p:nvPr/>
        </p:nvCxnSpPr>
        <p:spPr>
          <a:xfrm>
            <a:off x="6600388" y="4356855"/>
            <a:ext cx="1048901" cy="2548"/>
          </a:xfrm>
          <a:prstGeom prst="straightConnector1">
            <a:avLst/>
          </a:prstGeom>
          <a:ln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3DF90F7A-B693-4BF5-8068-3A75CA8E6D66}"/>
              </a:ext>
            </a:extLst>
          </p:cNvPr>
          <p:cNvCxnSpPr>
            <a:stCxn id="310" idx="3"/>
            <a:endCxn id="324" idx="1"/>
          </p:cNvCxnSpPr>
          <p:nvPr/>
        </p:nvCxnSpPr>
        <p:spPr>
          <a:xfrm>
            <a:off x="6600388" y="3684199"/>
            <a:ext cx="1048901" cy="2548"/>
          </a:xfrm>
          <a:prstGeom prst="straightConnector1">
            <a:avLst/>
          </a:prstGeom>
          <a:ln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7" name="连接符: 肘形 6">
            <a:extLst>
              <a:ext uri="{FF2B5EF4-FFF2-40B4-BE49-F238E27FC236}">
                <a16:creationId xmlns:a16="http://schemas.microsoft.com/office/drawing/2014/main" id="{A972A984-1863-4033-98C5-BA6D83357C53}"/>
              </a:ext>
            </a:extLst>
          </p:cNvPr>
          <p:cNvCxnSpPr>
            <a:stCxn id="301" idx="3"/>
            <a:endCxn id="311" idx="1"/>
          </p:cNvCxnSpPr>
          <p:nvPr/>
        </p:nvCxnSpPr>
        <p:spPr>
          <a:xfrm>
            <a:off x="5320474" y="4196335"/>
            <a:ext cx="672656" cy="155423"/>
          </a:xfrm>
          <a:prstGeom prst="bentConnector3">
            <a:avLst>
              <a:gd name="adj1" fmla="val 50000"/>
            </a:avLst>
          </a:prstGeom>
          <a:ln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8" name="连接符: 肘形 7">
            <a:extLst>
              <a:ext uri="{FF2B5EF4-FFF2-40B4-BE49-F238E27FC236}">
                <a16:creationId xmlns:a16="http://schemas.microsoft.com/office/drawing/2014/main" id="{7B08F989-35DE-4C7A-9349-C1551BE3B8E0}"/>
              </a:ext>
            </a:extLst>
          </p:cNvPr>
          <p:cNvCxnSpPr>
            <a:stCxn id="287" idx="3"/>
            <a:endCxn id="305" idx="1"/>
          </p:cNvCxnSpPr>
          <p:nvPr/>
        </p:nvCxnSpPr>
        <p:spPr>
          <a:xfrm>
            <a:off x="5320474" y="3523679"/>
            <a:ext cx="672656" cy="155424"/>
          </a:xfrm>
          <a:prstGeom prst="bentConnector3">
            <a:avLst>
              <a:gd name="adj1" fmla="val 50000"/>
            </a:avLst>
          </a:prstGeom>
          <a:ln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CFC9A2E5-F462-4D14-8710-4625B0B6B395}"/>
              </a:ext>
            </a:extLst>
          </p:cNvPr>
          <p:cNvCxnSpPr>
            <a:stCxn id="287" idx="2"/>
            <a:endCxn id="301" idx="0"/>
          </p:cNvCxnSpPr>
          <p:nvPr/>
        </p:nvCxnSpPr>
        <p:spPr>
          <a:xfrm>
            <a:off x="5098804" y="3595021"/>
            <a:ext cx="0" cy="529971"/>
          </a:xfrm>
          <a:prstGeom prst="straightConnector1">
            <a:avLst/>
          </a:prstGeom>
          <a:ln w="9525">
            <a:solidFill>
              <a:srgbClr val="5D6773"/>
            </a:solidFill>
            <a:prstDash val="dash"/>
            <a:tailEnd type="triangle" w="sm" len="sm"/>
          </a:ln>
        </p:spPr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BF94AFF2-DD4B-4E85-ADF0-FFE19DF33A30}"/>
              </a:ext>
            </a:extLst>
          </p:cNvPr>
          <p:cNvCxnSpPr>
            <a:stCxn id="259" idx="2"/>
            <a:endCxn id="273" idx="0"/>
          </p:cNvCxnSpPr>
          <p:nvPr/>
        </p:nvCxnSpPr>
        <p:spPr>
          <a:xfrm>
            <a:off x="3725466" y="3595021"/>
            <a:ext cx="0" cy="529971"/>
          </a:xfrm>
          <a:prstGeom prst="straightConnector1">
            <a:avLst/>
          </a:prstGeom>
          <a:ln w="9525">
            <a:solidFill>
              <a:srgbClr val="5D6773"/>
            </a:solidFill>
            <a:prstDash val="dash"/>
            <a:tailEnd type="triangle" w="sm" len="sm"/>
          </a:ln>
        </p:spPr>
      </p:cxnSp>
      <p:cxnSp>
        <p:nvCxnSpPr>
          <p:cNvPr id="11" name="连接符: 肘形 10">
            <a:extLst>
              <a:ext uri="{FF2B5EF4-FFF2-40B4-BE49-F238E27FC236}">
                <a16:creationId xmlns:a16="http://schemas.microsoft.com/office/drawing/2014/main" id="{E4543367-E9BE-413B-90C6-5A9882E8C205}"/>
              </a:ext>
            </a:extLst>
          </p:cNvPr>
          <p:cNvCxnSpPr>
            <a:stCxn id="245" idx="2"/>
            <a:endCxn id="301" idx="2"/>
          </p:cNvCxnSpPr>
          <p:nvPr/>
        </p:nvCxnSpPr>
        <p:spPr>
          <a:xfrm flipV="1">
            <a:off x="2893564" y="4267677"/>
            <a:ext cx="2205240" cy="76437"/>
          </a:xfrm>
          <a:prstGeom prst="bentConnector4">
            <a:avLst>
              <a:gd name="adj1" fmla="val 0"/>
              <a:gd name="adj2" fmla="val 50000"/>
            </a:avLst>
          </a:prstGeom>
          <a:ln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12" name="连接符: 肘形 11">
            <a:extLst>
              <a:ext uri="{FF2B5EF4-FFF2-40B4-BE49-F238E27FC236}">
                <a16:creationId xmlns:a16="http://schemas.microsoft.com/office/drawing/2014/main" id="{F0593342-0D04-4066-8767-B1121411DD65}"/>
              </a:ext>
            </a:extLst>
          </p:cNvPr>
          <p:cNvCxnSpPr>
            <a:stCxn id="239" idx="0"/>
            <a:endCxn id="287" idx="0"/>
          </p:cNvCxnSpPr>
          <p:nvPr/>
        </p:nvCxnSpPr>
        <p:spPr>
          <a:xfrm flipV="1">
            <a:off x="2893564" y="3452336"/>
            <a:ext cx="2205240" cy="20384"/>
          </a:xfrm>
          <a:prstGeom prst="bentConnector4">
            <a:avLst>
              <a:gd name="adj1" fmla="val 0"/>
              <a:gd name="adj2" fmla="val 50000"/>
            </a:avLst>
          </a:prstGeom>
          <a:ln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47A88C6F-0F5B-4A08-A972-55FAB6AE6D41}"/>
              </a:ext>
            </a:extLst>
          </p:cNvPr>
          <p:cNvCxnSpPr>
            <a:stCxn id="245" idx="3"/>
            <a:endCxn id="273" idx="1"/>
          </p:cNvCxnSpPr>
          <p:nvPr/>
        </p:nvCxnSpPr>
        <p:spPr>
          <a:xfrm flipV="1">
            <a:off x="2921166" y="4196335"/>
            <a:ext cx="595369" cy="48410"/>
          </a:xfrm>
          <a:prstGeom prst="straightConnector1">
            <a:avLst/>
          </a:prstGeom>
          <a:ln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9CE98C93-4B61-4B3A-85BC-D298BBD7D469}"/>
              </a:ext>
            </a:extLst>
          </p:cNvPr>
          <p:cNvCxnSpPr>
            <a:stCxn id="239" idx="3"/>
            <a:endCxn id="259" idx="1"/>
          </p:cNvCxnSpPr>
          <p:nvPr/>
        </p:nvCxnSpPr>
        <p:spPr>
          <a:xfrm flipV="1">
            <a:off x="2921166" y="3523679"/>
            <a:ext cx="595369" cy="48411"/>
          </a:xfrm>
          <a:prstGeom prst="straightConnector1">
            <a:avLst/>
          </a:prstGeom>
          <a:ln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15" name="连接符: 肘形 14">
            <a:extLst>
              <a:ext uri="{FF2B5EF4-FFF2-40B4-BE49-F238E27FC236}">
                <a16:creationId xmlns:a16="http://schemas.microsoft.com/office/drawing/2014/main" id="{C8E44086-B51C-499D-BAF9-4BDB5DD152EC}"/>
              </a:ext>
            </a:extLst>
          </p:cNvPr>
          <p:cNvCxnSpPr>
            <a:stCxn id="231" idx="3"/>
            <a:endCxn id="240" idx="2"/>
          </p:cNvCxnSpPr>
          <p:nvPr/>
        </p:nvCxnSpPr>
        <p:spPr>
          <a:xfrm>
            <a:off x="1248871" y="3923705"/>
            <a:ext cx="1092640" cy="445889"/>
          </a:xfrm>
          <a:prstGeom prst="bentConnector2">
            <a:avLst/>
          </a:prstGeom>
          <a:ln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16" name="连接符: 肘形 15">
            <a:extLst>
              <a:ext uri="{FF2B5EF4-FFF2-40B4-BE49-F238E27FC236}">
                <a16:creationId xmlns:a16="http://schemas.microsoft.com/office/drawing/2014/main" id="{18B9CCA8-F522-49DF-AD07-70B60618FD87}"/>
              </a:ext>
            </a:extLst>
          </p:cNvPr>
          <p:cNvCxnSpPr>
            <a:stCxn id="231" idx="3"/>
            <a:endCxn id="234" idx="2"/>
          </p:cNvCxnSpPr>
          <p:nvPr/>
        </p:nvCxnSpPr>
        <p:spPr>
          <a:xfrm flipV="1">
            <a:off x="1248871" y="3696939"/>
            <a:ext cx="1092640" cy="226765"/>
          </a:xfrm>
          <a:prstGeom prst="bentConnector2">
            <a:avLst/>
          </a:prstGeom>
          <a:ln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A862B82F-FB1D-45D5-A024-5C5EBC518F16}"/>
              </a:ext>
            </a:extLst>
          </p:cNvPr>
          <p:cNvCxnSpPr>
            <a:stCxn id="224" idx="3"/>
            <a:endCxn id="225" idx="1"/>
          </p:cNvCxnSpPr>
          <p:nvPr/>
        </p:nvCxnSpPr>
        <p:spPr>
          <a:xfrm>
            <a:off x="8011477" y="1991582"/>
            <a:ext cx="91726" cy="0"/>
          </a:xfrm>
          <a:prstGeom prst="straightConnector1">
            <a:avLst/>
          </a:prstGeom>
          <a:ln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D97EB1CE-B23F-4BCB-8B3F-4C706A411061}"/>
              </a:ext>
            </a:extLst>
          </p:cNvPr>
          <p:cNvCxnSpPr>
            <a:stCxn id="223" idx="2"/>
            <a:endCxn id="224" idx="2"/>
          </p:cNvCxnSpPr>
          <p:nvPr/>
        </p:nvCxnSpPr>
        <p:spPr>
          <a:xfrm>
            <a:off x="7086577" y="2190321"/>
            <a:ext cx="644628" cy="0"/>
          </a:xfrm>
          <a:prstGeom prst="straightConnector1">
            <a:avLst/>
          </a:prstGeom>
          <a:ln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DE937163-71FF-4701-88FB-94C69BF4AC0D}"/>
              </a:ext>
            </a:extLst>
          </p:cNvPr>
          <p:cNvCxnSpPr>
            <a:stCxn id="222" idx="2"/>
            <a:endCxn id="224" idx="2"/>
          </p:cNvCxnSpPr>
          <p:nvPr/>
        </p:nvCxnSpPr>
        <p:spPr>
          <a:xfrm>
            <a:off x="6531126" y="2190321"/>
            <a:ext cx="1200079" cy="0"/>
          </a:xfrm>
          <a:prstGeom prst="straightConnector1">
            <a:avLst/>
          </a:prstGeom>
          <a:ln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A5EC9B5A-DDF1-41BD-91EF-512B7ECEF821}"/>
              </a:ext>
            </a:extLst>
          </p:cNvPr>
          <p:cNvCxnSpPr>
            <a:stCxn id="221" idx="2"/>
            <a:endCxn id="224" idx="2"/>
          </p:cNvCxnSpPr>
          <p:nvPr/>
        </p:nvCxnSpPr>
        <p:spPr>
          <a:xfrm>
            <a:off x="6011347" y="2190321"/>
            <a:ext cx="1719858" cy="0"/>
          </a:xfrm>
          <a:prstGeom prst="straightConnector1">
            <a:avLst/>
          </a:prstGeom>
          <a:ln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A141944D-35B2-453A-8E82-F16870C82C05}"/>
              </a:ext>
            </a:extLst>
          </p:cNvPr>
          <p:cNvCxnSpPr>
            <a:stCxn id="216" idx="3"/>
            <a:endCxn id="217" idx="1"/>
          </p:cNvCxnSpPr>
          <p:nvPr/>
        </p:nvCxnSpPr>
        <p:spPr>
          <a:xfrm>
            <a:off x="7782163" y="957120"/>
            <a:ext cx="188548" cy="0"/>
          </a:xfrm>
          <a:prstGeom prst="straightConnector1">
            <a:avLst/>
          </a:prstGeom>
          <a:ln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79056597-AA34-43D3-B775-8E9180AED7FF}"/>
              </a:ext>
            </a:extLst>
          </p:cNvPr>
          <p:cNvCxnSpPr>
            <a:stCxn id="215" idx="3"/>
            <a:endCxn id="216" idx="1"/>
          </p:cNvCxnSpPr>
          <p:nvPr/>
        </p:nvCxnSpPr>
        <p:spPr>
          <a:xfrm>
            <a:off x="7175754" y="957120"/>
            <a:ext cx="132493" cy="0"/>
          </a:xfrm>
          <a:prstGeom prst="straightConnector1">
            <a:avLst/>
          </a:prstGeom>
          <a:ln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40363F7F-28D4-484A-9F3C-89DE2BC21EEF}"/>
              </a:ext>
            </a:extLst>
          </p:cNvPr>
          <p:cNvCxnSpPr>
            <a:stCxn id="214" idx="3"/>
            <a:endCxn id="215" idx="1"/>
          </p:cNvCxnSpPr>
          <p:nvPr/>
        </p:nvCxnSpPr>
        <p:spPr>
          <a:xfrm>
            <a:off x="6620304" y="957120"/>
            <a:ext cx="122301" cy="0"/>
          </a:xfrm>
          <a:prstGeom prst="straightConnector1">
            <a:avLst/>
          </a:prstGeom>
          <a:ln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24" name="连接符: 肘形 23">
            <a:extLst>
              <a:ext uri="{FF2B5EF4-FFF2-40B4-BE49-F238E27FC236}">
                <a16:creationId xmlns:a16="http://schemas.microsoft.com/office/drawing/2014/main" id="{AC4D0B23-2069-4A44-92C1-E493132D4B2C}"/>
              </a:ext>
            </a:extLst>
          </p:cNvPr>
          <p:cNvCxnSpPr>
            <a:stCxn id="202" idx="2"/>
            <a:endCxn id="203" idx="6"/>
          </p:cNvCxnSpPr>
          <p:nvPr/>
        </p:nvCxnSpPr>
        <p:spPr>
          <a:xfrm flipH="1">
            <a:off x="5111544" y="2363582"/>
            <a:ext cx="270081" cy="89177"/>
          </a:xfrm>
          <a:prstGeom prst="bentConnector3">
            <a:avLst>
              <a:gd name="adj1" fmla="val 0"/>
            </a:avLst>
          </a:prstGeom>
          <a:ln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25" name="连接符: 肘形 24">
            <a:extLst>
              <a:ext uri="{FF2B5EF4-FFF2-40B4-BE49-F238E27FC236}">
                <a16:creationId xmlns:a16="http://schemas.microsoft.com/office/drawing/2014/main" id="{6B238D08-061B-423F-B282-9A25F418AD42}"/>
              </a:ext>
            </a:extLst>
          </p:cNvPr>
          <p:cNvCxnSpPr>
            <a:stCxn id="197" idx="2"/>
            <a:endCxn id="203" idx="2"/>
          </p:cNvCxnSpPr>
          <p:nvPr/>
        </p:nvCxnSpPr>
        <p:spPr>
          <a:xfrm>
            <a:off x="4596861" y="2363582"/>
            <a:ext cx="336327" cy="89177"/>
          </a:xfrm>
          <a:prstGeom prst="bentConnector3">
            <a:avLst>
              <a:gd name="adj1" fmla="val 0"/>
            </a:avLst>
          </a:prstGeom>
          <a:ln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F5F8C614-8B3A-4E4E-88EA-9E0F94D6361B}"/>
              </a:ext>
            </a:extLst>
          </p:cNvPr>
          <p:cNvCxnSpPr>
            <a:stCxn id="192" idx="2"/>
            <a:endCxn id="202" idx="0"/>
          </p:cNvCxnSpPr>
          <p:nvPr/>
        </p:nvCxnSpPr>
        <p:spPr>
          <a:xfrm>
            <a:off x="5330666" y="2124076"/>
            <a:ext cx="50959" cy="137588"/>
          </a:xfrm>
          <a:prstGeom prst="straightConnector1">
            <a:avLst/>
          </a:prstGeom>
          <a:ln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DFA3BBC5-676E-49E5-9DC8-B84BB64F4A55}"/>
              </a:ext>
            </a:extLst>
          </p:cNvPr>
          <p:cNvCxnSpPr>
            <a:stCxn id="191" idx="2"/>
            <a:endCxn id="197" idx="0"/>
          </p:cNvCxnSpPr>
          <p:nvPr/>
        </p:nvCxnSpPr>
        <p:spPr>
          <a:xfrm flipH="1">
            <a:off x="4596861" y="2124076"/>
            <a:ext cx="56054" cy="137588"/>
          </a:xfrm>
          <a:prstGeom prst="straightConnector1">
            <a:avLst/>
          </a:prstGeom>
          <a:ln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979E3600-F433-4BC8-B6D3-3A720FB589A5}"/>
              </a:ext>
            </a:extLst>
          </p:cNvPr>
          <p:cNvCxnSpPr>
            <a:stCxn id="190" idx="2"/>
            <a:endCxn id="192" idx="0"/>
          </p:cNvCxnSpPr>
          <p:nvPr/>
        </p:nvCxnSpPr>
        <p:spPr>
          <a:xfrm>
            <a:off x="5330666" y="1726597"/>
            <a:ext cx="0" cy="254794"/>
          </a:xfrm>
          <a:prstGeom prst="straightConnector1">
            <a:avLst/>
          </a:prstGeom>
          <a:ln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A28960C2-3860-4FD6-B1AB-DFCE8589E16D}"/>
              </a:ext>
            </a:extLst>
          </p:cNvPr>
          <p:cNvCxnSpPr>
            <a:stCxn id="172" idx="2"/>
            <a:endCxn id="191" idx="0"/>
          </p:cNvCxnSpPr>
          <p:nvPr/>
        </p:nvCxnSpPr>
        <p:spPr>
          <a:xfrm>
            <a:off x="4652916" y="1726597"/>
            <a:ext cx="0" cy="254794"/>
          </a:xfrm>
          <a:prstGeom prst="straightConnector1">
            <a:avLst/>
          </a:prstGeom>
          <a:ln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EEC54F34-4097-4771-9360-6AB132033A27}"/>
              </a:ext>
            </a:extLst>
          </p:cNvPr>
          <p:cNvCxnSpPr>
            <a:stCxn id="135" idx="3"/>
            <a:endCxn id="153" idx="1"/>
          </p:cNvCxnSpPr>
          <p:nvPr/>
        </p:nvCxnSpPr>
        <p:spPr>
          <a:xfrm>
            <a:off x="3215878" y="1497283"/>
            <a:ext cx="407670" cy="20383"/>
          </a:xfrm>
          <a:prstGeom prst="straightConnector1">
            <a:avLst/>
          </a:prstGeom>
          <a:ln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51C7804C-A1EB-4102-8435-AA9C43A1FB25}"/>
              </a:ext>
            </a:extLst>
          </p:cNvPr>
          <p:cNvCxnSpPr>
            <a:stCxn id="134" idx="3"/>
            <a:endCxn id="135" idx="1"/>
          </p:cNvCxnSpPr>
          <p:nvPr/>
        </p:nvCxnSpPr>
        <p:spPr>
          <a:xfrm>
            <a:off x="2736866" y="1497283"/>
            <a:ext cx="107013" cy="0"/>
          </a:xfrm>
          <a:prstGeom prst="straightConnector1">
            <a:avLst/>
          </a:prstGeom>
          <a:ln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52619475-E880-41B9-8C3D-DB8EBDF3C25C}"/>
              </a:ext>
            </a:extLst>
          </p:cNvPr>
          <p:cNvCxnSpPr>
            <a:stCxn id="133" idx="3"/>
            <a:endCxn id="134" idx="1"/>
          </p:cNvCxnSpPr>
          <p:nvPr/>
        </p:nvCxnSpPr>
        <p:spPr>
          <a:xfrm>
            <a:off x="2237470" y="1497283"/>
            <a:ext cx="86630" cy="0"/>
          </a:xfrm>
          <a:prstGeom prst="straightConnector1">
            <a:avLst/>
          </a:prstGeom>
          <a:ln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8B324DEB-8C6E-4ABB-B0CD-DF11151930E7}"/>
              </a:ext>
            </a:extLst>
          </p:cNvPr>
          <p:cNvCxnSpPr>
            <a:stCxn id="132" idx="3"/>
            <a:endCxn id="133" idx="1"/>
          </p:cNvCxnSpPr>
          <p:nvPr/>
        </p:nvCxnSpPr>
        <p:spPr>
          <a:xfrm flipV="1">
            <a:off x="1799225" y="1497283"/>
            <a:ext cx="142684" cy="15288"/>
          </a:xfrm>
          <a:prstGeom prst="straightConnector1">
            <a:avLst/>
          </a:prstGeom>
          <a:ln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F89AB9E0-9223-4AC4-BDA5-3BFB0FB060FD}"/>
              </a:ext>
            </a:extLst>
          </p:cNvPr>
          <p:cNvCxnSpPr>
            <a:stCxn id="71" idx="3"/>
            <a:endCxn id="97" idx="1"/>
          </p:cNvCxnSpPr>
          <p:nvPr/>
        </p:nvCxnSpPr>
        <p:spPr>
          <a:xfrm flipV="1">
            <a:off x="4438888" y="618244"/>
            <a:ext cx="524875" cy="5096"/>
          </a:xfrm>
          <a:prstGeom prst="straightConnector1">
            <a:avLst/>
          </a:prstGeom>
          <a:ln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9F185635-9CCF-41C2-8673-D96B351991D4}"/>
              </a:ext>
            </a:extLst>
          </p:cNvPr>
          <p:cNvCxnSpPr>
            <a:stCxn id="70" idx="3"/>
            <a:endCxn id="71" idx="1"/>
          </p:cNvCxnSpPr>
          <p:nvPr/>
        </p:nvCxnSpPr>
        <p:spPr>
          <a:xfrm>
            <a:off x="3368755" y="623340"/>
            <a:ext cx="254793" cy="0"/>
          </a:xfrm>
          <a:prstGeom prst="straightConnector1">
            <a:avLst/>
          </a:prstGeom>
          <a:ln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9609D811-818E-4222-A847-BE248A144EE9}"/>
              </a:ext>
            </a:extLst>
          </p:cNvPr>
          <p:cNvCxnSpPr>
            <a:stCxn id="69" idx="3"/>
            <a:endCxn id="70" idx="1"/>
          </p:cNvCxnSpPr>
          <p:nvPr/>
        </p:nvCxnSpPr>
        <p:spPr>
          <a:xfrm>
            <a:off x="2869359" y="623340"/>
            <a:ext cx="117205" cy="0"/>
          </a:xfrm>
          <a:prstGeom prst="straightConnector1">
            <a:avLst/>
          </a:prstGeom>
          <a:ln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331F111C-3DF7-47F9-BBC5-E1D111C10117}"/>
              </a:ext>
            </a:extLst>
          </p:cNvPr>
          <p:cNvCxnSpPr>
            <a:stCxn id="68" idx="3"/>
            <a:endCxn id="69" idx="1"/>
          </p:cNvCxnSpPr>
          <p:nvPr/>
        </p:nvCxnSpPr>
        <p:spPr>
          <a:xfrm>
            <a:off x="2349579" y="623340"/>
            <a:ext cx="101918" cy="0"/>
          </a:xfrm>
          <a:prstGeom prst="straightConnector1">
            <a:avLst/>
          </a:prstGeom>
          <a:ln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FD4581A3-9E1F-4100-A301-453E45E467D4}"/>
              </a:ext>
            </a:extLst>
          </p:cNvPr>
          <p:cNvCxnSpPr>
            <a:stCxn id="67" idx="3"/>
            <a:endCxn id="68" idx="1"/>
          </p:cNvCxnSpPr>
          <p:nvPr/>
        </p:nvCxnSpPr>
        <p:spPr>
          <a:xfrm>
            <a:off x="1763554" y="618244"/>
            <a:ext cx="229314" cy="5096"/>
          </a:xfrm>
          <a:prstGeom prst="straightConnector1">
            <a:avLst/>
          </a:prstGeom>
          <a:ln w="9525">
            <a:solidFill>
              <a:srgbClr val="18222F"/>
            </a:solidFill>
            <a:prstDash val="solid"/>
            <a:tailEnd type="triangle" w="sm" len="sm"/>
          </a:ln>
        </p:spPr>
      </p:cxnSp>
      <p:sp>
        <p:nvSpPr>
          <p:cNvPr id="39" name="(a) Paired transforms and microscaling VQ">
            <a:extLst>
              <a:ext uri="{FF2B5EF4-FFF2-40B4-BE49-F238E27FC236}">
                <a16:creationId xmlns:a16="http://schemas.microsoft.com/office/drawing/2014/main" id="{B1D44710-4D9A-4B32-97EB-0BF2FCA6CCF9}"/>
              </a:ext>
            </a:extLst>
          </p:cNvPr>
          <p:cNvSpPr>
            <a:spLocks noGrp="1"/>
          </p:cNvSpPr>
          <p:nvPr/>
        </p:nvSpPr>
        <p:spPr>
          <a:xfrm>
            <a:off x="336709" y="111204"/>
            <a:ext cx="5248751" cy="17835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08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(a) Paired transforms and microscaling VQ</a:t>
            </a:r>
          </a:p>
        </p:txBody>
      </p: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538CA2FA-195B-4459-8BA1-0576E9109E83}"/>
              </a:ext>
            </a:extLst>
          </p:cNvPr>
          <p:cNvCxnSpPr/>
          <p:nvPr/>
        </p:nvCxnSpPr>
        <p:spPr>
          <a:xfrm>
            <a:off x="326517" y="315039"/>
            <a:ext cx="5269135" cy="0"/>
          </a:xfrm>
          <a:prstGeom prst="straightConnector1">
            <a:avLst/>
          </a:prstGeom>
          <a:ln w="4077">
            <a:solidFill>
              <a:srgbClr val="697681"/>
            </a:solidFill>
            <a:prstDash val="solid"/>
          </a:ln>
        </p:spPr>
      </p:cxnSp>
      <p:sp>
        <p:nvSpPr>
          <p:cNvPr id="41" name="Activation transform&#10;and quantization&#10;(per token)">
            <a:extLst>
              <a:ext uri="{FF2B5EF4-FFF2-40B4-BE49-F238E27FC236}">
                <a16:creationId xmlns:a16="http://schemas.microsoft.com/office/drawing/2014/main" id="{D24FBAC0-D2E7-4383-9031-46A881C86568}"/>
              </a:ext>
            </a:extLst>
          </p:cNvPr>
          <p:cNvSpPr>
            <a:spLocks noGrp="1"/>
          </p:cNvSpPr>
          <p:nvPr/>
        </p:nvSpPr>
        <p:spPr>
          <a:xfrm>
            <a:off x="362188" y="437340"/>
            <a:ext cx="866299" cy="48410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8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8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8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8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8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8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8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8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8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8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8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Activation transform</a:t>
            </a:r>
          </a:p>
          <a:p>
            <a:pPr algn="l">
              <a:defRPr sz="8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and quantization</a:t>
            </a:r>
          </a:p>
          <a:p>
            <a:pPr algn="l">
              <a:defRPr sz="8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(per token)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953978E5-9E6A-4586-A904-BCE3B83C9B66}"/>
              </a:ext>
            </a:extLst>
          </p:cNvPr>
          <p:cNvSpPr>
            <a:spLocks noGrp="1"/>
          </p:cNvSpPr>
          <p:nvPr/>
        </p:nvSpPr>
        <p:spPr>
          <a:xfrm>
            <a:off x="1304925" y="452628"/>
            <a:ext cx="76438" cy="82808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089E16BA-4ECE-4F59-B65A-DDB57810427B}"/>
              </a:ext>
            </a:extLst>
          </p:cNvPr>
          <p:cNvSpPr>
            <a:spLocks noGrp="1"/>
          </p:cNvSpPr>
          <p:nvPr/>
        </p:nvSpPr>
        <p:spPr>
          <a:xfrm>
            <a:off x="1381363" y="452628"/>
            <a:ext cx="76438" cy="82808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68F6D563-94D6-4D50-AA39-ACB5FBBF0846}"/>
              </a:ext>
            </a:extLst>
          </p:cNvPr>
          <p:cNvSpPr>
            <a:spLocks noGrp="1"/>
          </p:cNvSpPr>
          <p:nvPr/>
        </p:nvSpPr>
        <p:spPr>
          <a:xfrm>
            <a:off x="1457801" y="452628"/>
            <a:ext cx="76438" cy="82808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E40D7CE3-80B4-49BB-B046-FC198D5811B4}"/>
              </a:ext>
            </a:extLst>
          </p:cNvPr>
          <p:cNvSpPr>
            <a:spLocks noGrp="1"/>
          </p:cNvSpPr>
          <p:nvPr/>
        </p:nvSpPr>
        <p:spPr>
          <a:xfrm>
            <a:off x="1534239" y="452628"/>
            <a:ext cx="76438" cy="82808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B1DB351F-5192-4708-A782-230E25D03B27}"/>
              </a:ext>
            </a:extLst>
          </p:cNvPr>
          <p:cNvSpPr>
            <a:spLocks noGrp="1"/>
          </p:cNvSpPr>
          <p:nvPr/>
        </p:nvSpPr>
        <p:spPr>
          <a:xfrm>
            <a:off x="1610678" y="452628"/>
            <a:ext cx="76438" cy="82808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67194799-0C1E-46FF-9AB5-DEAE406FDCCF}"/>
              </a:ext>
            </a:extLst>
          </p:cNvPr>
          <p:cNvSpPr>
            <a:spLocks noGrp="1"/>
          </p:cNvSpPr>
          <p:nvPr/>
        </p:nvSpPr>
        <p:spPr>
          <a:xfrm>
            <a:off x="1687116" y="452628"/>
            <a:ext cx="76438" cy="82808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74E638DD-23D0-4519-90E8-618FEB36CB87}"/>
              </a:ext>
            </a:extLst>
          </p:cNvPr>
          <p:cNvSpPr>
            <a:spLocks noGrp="1"/>
          </p:cNvSpPr>
          <p:nvPr/>
        </p:nvSpPr>
        <p:spPr>
          <a:xfrm>
            <a:off x="1304925" y="535436"/>
            <a:ext cx="76438" cy="82808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1C46D5CB-1B25-424A-8F28-DDD881B41154}"/>
              </a:ext>
            </a:extLst>
          </p:cNvPr>
          <p:cNvSpPr>
            <a:spLocks noGrp="1"/>
          </p:cNvSpPr>
          <p:nvPr/>
        </p:nvSpPr>
        <p:spPr>
          <a:xfrm>
            <a:off x="1381363" y="535436"/>
            <a:ext cx="76438" cy="82808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14FADBE5-1F7F-496D-8A9D-95BF8A432731}"/>
              </a:ext>
            </a:extLst>
          </p:cNvPr>
          <p:cNvSpPr>
            <a:spLocks noGrp="1"/>
          </p:cNvSpPr>
          <p:nvPr/>
        </p:nvSpPr>
        <p:spPr>
          <a:xfrm>
            <a:off x="1457801" y="535436"/>
            <a:ext cx="76438" cy="82808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32FD5B82-A6A2-4771-B265-580B5E0F79EE}"/>
              </a:ext>
            </a:extLst>
          </p:cNvPr>
          <p:cNvSpPr>
            <a:spLocks noGrp="1"/>
          </p:cNvSpPr>
          <p:nvPr/>
        </p:nvSpPr>
        <p:spPr>
          <a:xfrm>
            <a:off x="1534239" y="535436"/>
            <a:ext cx="76438" cy="82808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79807AEF-EFF1-409B-AF38-3621D16CC81F}"/>
              </a:ext>
            </a:extLst>
          </p:cNvPr>
          <p:cNvSpPr>
            <a:spLocks noGrp="1"/>
          </p:cNvSpPr>
          <p:nvPr/>
        </p:nvSpPr>
        <p:spPr>
          <a:xfrm>
            <a:off x="1610678" y="535436"/>
            <a:ext cx="76438" cy="82808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EE49F60E-4D6A-4D07-81FC-42D642ABF1C5}"/>
              </a:ext>
            </a:extLst>
          </p:cNvPr>
          <p:cNvSpPr>
            <a:spLocks noGrp="1"/>
          </p:cNvSpPr>
          <p:nvPr/>
        </p:nvSpPr>
        <p:spPr>
          <a:xfrm>
            <a:off x="1687116" y="535436"/>
            <a:ext cx="76438" cy="82808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16743498-592D-4512-B45A-9CA62E0B000A}"/>
              </a:ext>
            </a:extLst>
          </p:cNvPr>
          <p:cNvSpPr>
            <a:spLocks noGrp="1"/>
          </p:cNvSpPr>
          <p:nvPr/>
        </p:nvSpPr>
        <p:spPr>
          <a:xfrm>
            <a:off x="1304925" y="618244"/>
            <a:ext cx="76438" cy="82808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38D33A1B-3475-43DB-B7D4-259E4B78D972}"/>
              </a:ext>
            </a:extLst>
          </p:cNvPr>
          <p:cNvSpPr>
            <a:spLocks noGrp="1"/>
          </p:cNvSpPr>
          <p:nvPr/>
        </p:nvSpPr>
        <p:spPr>
          <a:xfrm>
            <a:off x="1381363" y="618244"/>
            <a:ext cx="76438" cy="82808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E6A179BF-C853-4774-A23D-FAD654861D5F}"/>
              </a:ext>
            </a:extLst>
          </p:cNvPr>
          <p:cNvSpPr>
            <a:spLocks noGrp="1"/>
          </p:cNvSpPr>
          <p:nvPr/>
        </p:nvSpPr>
        <p:spPr>
          <a:xfrm>
            <a:off x="1457801" y="618244"/>
            <a:ext cx="76438" cy="82808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90327E7D-4C3D-4D91-A8C2-4D6E90E2E8EE}"/>
              </a:ext>
            </a:extLst>
          </p:cNvPr>
          <p:cNvSpPr>
            <a:spLocks noGrp="1"/>
          </p:cNvSpPr>
          <p:nvPr/>
        </p:nvSpPr>
        <p:spPr>
          <a:xfrm>
            <a:off x="1534239" y="618244"/>
            <a:ext cx="76438" cy="82808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A3BF936A-9C82-4642-9ADC-B895AC4127CB}"/>
              </a:ext>
            </a:extLst>
          </p:cNvPr>
          <p:cNvSpPr>
            <a:spLocks noGrp="1"/>
          </p:cNvSpPr>
          <p:nvPr/>
        </p:nvSpPr>
        <p:spPr>
          <a:xfrm>
            <a:off x="1610678" y="618244"/>
            <a:ext cx="76438" cy="82808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47A5BA87-C1C5-47DB-9A4D-7CEA070E0F64}"/>
              </a:ext>
            </a:extLst>
          </p:cNvPr>
          <p:cNvSpPr>
            <a:spLocks noGrp="1"/>
          </p:cNvSpPr>
          <p:nvPr/>
        </p:nvSpPr>
        <p:spPr>
          <a:xfrm>
            <a:off x="1687116" y="618244"/>
            <a:ext cx="76438" cy="82808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80FBD35A-268B-4D55-A9D8-EC84663930C8}"/>
              </a:ext>
            </a:extLst>
          </p:cNvPr>
          <p:cNvSpPr>
            <a:spLocks noGrp="1"/>
          </p:cNvSpPr>
          <p:nvPr/>
        </p:nvSpPr>
        <p:spPr>
          <a:xfrm>
            <a:off x="1304925" y="701052"/>
            <a:ext cx="76438" cy="82808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186A6CD0-0CA4-4186-BF62-3FE38E91F5F0}"/>
              </a:ext>
            </a:extLst>
          </p:cNvPr>
          <p:cNvSpPr>
            <a:spLocks noGrp="1"/>
          </p:cNvSpPr>
          <p:nvPr/>
        </p:nvSpPr>
        <p:spPr>
          <a:xfrm>
            <a:off x="1381363" y="701052"/>
            <a:ext cx="76438" cy="82808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E1EC4E7F-F2DB-4B5C-8C5D-577EAFC43D44}"/>
              </a:ext>
            </a:extLst>
          </p:cNvPr>
          <p:cNvSpPr>
            <a:spLocks noGrp="1"/>
          </p:cNvSpPr>
          <p:nvPr/>
        </p:nvSpPr>
        <p:spPr>
          <a:xfrm>
            <a:off x="1457801" y="701052"/>
            <a:ext cx="76438" cy="82808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3D285AF9-503B-46F5-911C-386A9C2AC677}"/>
              </a:ext>
            </a:extLst>
          </p:cNvPr>
          <p:cNvSpPr>
            <a:spLocks noGrp="1"/>
          </p:cNvSpPr>
          <p:nvPr/>
        </p:nvSpPr>
        <p:spPr>
          <a:xfrm>
            <a:off x="1534239" y="701052"/>
            <a:ext cx="76438" cy="82808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3EF27DC1-C45A-48DE-879C-DA66E6AAC86A}"/>
              </a:ext>
            </a:extLst>
          </p:cNvPr>
          <p:cNvSpPr>
            <a:spLocks noGrp="1"/>
          </p:cNvSpPr>
          <p:nvPr/>
        </p:nvSpPr>
        <p:spPr>
          <a:xfrm>
            <a:off x="1610678" y="701052"/>
            <a:ext cx="76438" cy="82808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E0DBDF1F-6668-4587-8490-4F070C2B1488}"/>
              </a:ext>
            </a:extLst>
          </p:cNvPr>
          <p:cNvSpPr>
            <a:spLocks noGrp="1"/>
          </p:cNvSpPr>
          <p:nvPr/>
        </p:nvSpPr>
        <p:spPr>
          <a:xfrm>
            <a:off x="1687116" y="701052"/>
            <a:ext cx="76438" cy="82808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66" name="X">
            <a:extLst>
              <a:ext uri="{FF2B5EF4-FFF2-40B4-BE49-F238E27FC236}">
                <a16:creationId xmlns:a16="http://schemas.microsoft.com/office/drawing/2014/main" id="{FDDFE40C-47C9-47B1-B846-4BD9F1B18D4C}"/>
              </a:ext>
            </a:extLst>
          </p:cNvPr>
          <p:cNvSpPr>
            <a:spLocks noGrp="1"/>
          </p:cNvSpPr>
          <p:nvPr/>
        </p:nvSpPr>
        <p:spPr>
          <a:xfrm>
            <a:off x="1304925" y="299752"/>
            <a:ext cx="458629" cy="13758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11E896B8-995E-422D-A19E-A9703F44B7F3}"/>
              </a:ext>
            </a:extLst>
          </p:cNvPr>
          <p:cNvSpPr>
            <a:spLocks noGrp="1"/>
          </p:cNvSpPr>
          <p:nvPr/>
        </p:nvSpPr>
        <p:spPr>
          <a:xfrm>
            <a:off x="1304925" y="452628"/>
            <a:ext cx="458629" cy="331232"/>
          </a:xfrm>
          <a:prstGeom prst="rect">
            <a:avLst/>
          </a:prstGeom>
          <a:noFill/>
          <a:ln w="7620">
            <a:noFill/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68" name="S⁻¹">
            <a:extLst>
              <a:ext uri="{FF2B5EF4-FFF2-40B4-BE49-F238E27FC236}">
                <a16:creationId xmlns:a16="http://schemas.microsoft.com/office/drawing/2014/main" id="{6AB1FB46-371B-4286-8B23-E3A8720C38E1}"/>
              </a:ext>
            </a:extLst>
          </p:cNvPr>
          <p:cNvSpPr>
            <a:spLocks noGrp="1"/>
          </p:cNvSpPr>
          <p:nvPr/>
        </p:nvSpPr>
        <p:spPr>
          <a:xfrm>
            <a:off x="1992868" y="457724"/>
            <a:ext cx="356711" cy="331232"/>
          </a:xfrm>
          <a:prstGeom prst="rect">
            <a:avLst/>
          </a:prstGeom>
          <a:solidFill>
            <a:srgbClr val="EDF0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0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S⁻¹</a:t>
            </a:r>
          </a:p>
        </p:txBody>
      </p:sp>
      <p:sp>
        <p:nvSpPr>
          <p:cNvPr id="69" name="signed&#10;H128">
            <a:extLst>
              <a:ext uri="{FF2B5EF4-FFF2-40B4-BE49-F238E27FC236}">
                <a16:creationId xmlns:a16="http://schemas.microsoft.com/office/drawing/2014/main" id="{BC00D83B-DBCD-423F-A07D-B5B75926807D}"/>
              </a:ext>
            </a:extLst>
          </p:cNvPr>
          <p:cNvSpPr>
            <a:spLocks noGrp="1"/>
          </p:cNvSpPr>
          <p:nvPr/>
        </p:nvSpPr>
        <p:spPr>
          <a:xfrm>
            <a:off x="2451497" y="457724"/>
            <a:ext cx="417862" cy="331232"/>
          </a:xfrm>
          <a:prstGeom prst="rect">
            <a:avLst/>
          </a:prstGeom>
          <a:solidFill>
            <a:srgbClr val="EDF0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signed</a:t>
            </a:r>
          </a:p>
          <a:p>
            <a: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H128</a:t>
            </a:r>
          </a:p>
        </p:txBody>
      </p:sp>
      <p:sp>
        <p:nvSpPr>
          <p:cNvPr id="70" name="U128">
            <a:extLst>
              <a:ext uri="{FF2B5EF4-FFF2-40B4-BE49-F238E27FC236}">
                <a16:creationId xmlns:a16="http://schemas.microsoft.com/office/drawing/2014/main" id="{D6165DBF-7007-4E77-82DA-22C189264CF2}"/>
              </a:ext>
            </a:extLst>
          </p:cNvPr>
          <p:cNvSpPr>
            <a:spLocks noGrp="1"/>
          </p:cNvSpPr>
          <p:nvPr/>
        </p:nvSpPr>
        <p:spPr>
          <a:xfrm>
            <a:off x="2986564" y="457724"/>
            <a:ext cx="382191" cy="331232"/>
          </a:xfrm>
          <a:prstGeom prst="rect">
            <a:avLst/>
          </a:prstGeom>
          <a:solidFill>
            <a:srgbClr val="F9E2C4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0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U128</a:t>
            </a:r>
          </a:p>
        </p:txBody>
      </p:sp>
      <p:sp>
        <p:nvSpPr>
          <p:cNvPr id="71" name="dynamic A4&#10;q ∈ [−7, 7]">
            <a:extLst>
              <a:ext uri="{FF2B5EF4-FFF2-40B4-BE49-F238E27FC236}">
                <a16:creationId xmlns:a16="http://schemas.microsoft.com/office/drawing/2014/main" id="{5338F087-51A1-4F4F-A792-D05DB76BFA60}"/>
              </a:ext>
            </a:extLst>
          </p:cNvPr>
          <p:cNvSpPr>
            <a:spLocks noGrp="1"/>
          </p:cNvSpPr>
          <p:nvPr/>
        </p:nvSpPr>
        <p:spPr>
          <a:xfrm>
            <a:off x="3623548" y="457724"/>
            <a:ext cx="815340" cy="33123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dynamic A4</a:t>
            </a:r>
          </a:p>
          <a:p>
            <a: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q ∈ [−7, 7]</a:t>
            </a: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8D81B727-C4CC-42CF-9649-AFADD92C9077}"/>
              </a:ext>
            </a:extLst>
          </p:cNvPr>
          <p:cNvSpPr>
            <a:spLocks noGrp="1"/>
          </p:cNvSpPr>
          <p:nvPr/>
        </p:nvSpPr>
        <p:spPr>
          <a:xfrm>
            <a:off x="4963763" y="452628"/>
            <a:ext cx="76438" cy="82808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42C1E863-5DAF-498A-A9C1-DB4FB11CB431}"/>
              </a:ext>
            </a:extLst>
          </p:cNvPr>
          <p:cNvSpPr>
            <a:spLocks noGrp="1"/>
          </p:cNvSpPr>
          <p:nvPr/>
        </p:nvSpPr>
        <p:spPr>
          <a:xfrm>
            <a:off x="5040201" y="452628"/>
            <a:ext cx="76438" cy="82808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DF665BAF-E057-47A4-885B-A683AD87300D}"/>
              </a:ext>
            </a:extLst>
          </p:cNvPr>
          <p:cNvSpPr>
            <a:spLocks noGrp="1"/>
          </p:cNvSpPr>
          <p:nvPr/>
        </p:nvSpPr>
        <p:spPr>
          <a:xfrm>
            <a:off x="5116640" y="452628"/>
            <a:ext cx="76438" cy="82808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17B67ACA-91A8-4EC0-97FA-E0FFA2F29E72}"/>
              </a:ext>
            </a:extLst>
          </p:cNvPr>
          <p:cNvSpPr>
            <a:spLocks noGrp="1"/>
          </p:cNvSpPr>
          <p:nvPr/>
        </p:nvSpPr>
        <p:spPr>
          <a:xfrm>
            <a:off x="5193078" y="452628"/>
            <a:ext cx="76438" cy="82808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2C9DC878-AEEF-4616-BA89-72E3ED65E295}"/>
              </a:ext>
            </a:extLst>
          </p:cNvPr>
          <p:cNvSpPr>
            <a:spLocks noGrp="1"/>
          </p:cNvSpPr>
          <p:nvPr/>
        </p:nvSpPr>
        <p:spPr>
          <a:xfrm>
            <a:off x="5269516" y="452628"/>
            <a:ext cx="76438" cy="82808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8EE5C3FE-C96C-4F08-B946-A59EBF71B949}"/>
              </a:ext>
            </a:extLst>
          </p:cNvPr>
          <p:cNvSpPr>
            <a:spLocks noGrp="1"/>
          </p:cNvSpPr>
          <p:nvPr/>
        </p:nvSpPr>
        <p:spPr>
          <a:xfrm>
            <a:off x="5345954" y="452628"/>
            <a:ext cx="76438" cy="82808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3E56C10F-4D0C-49E1-AE1E-72360E61CCE8}"/>
              </a:ext>
            </a:extLst>
          </p:cNvPr>
          <p:cNvSpPr>
            <a:spLocks noGrp="1"/>
          </p:cNvSpPr>
          <p:nvPr/>
        </p:nvSpPr>
        <p:spPr>
          <a:xfrm>
            <a:off x="4963763" y="535436"/>
            <a:ext cx="76438" cy="82808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28B9AD25-747F-42A5-9145-9180D138B60A}"/>
              </a:ext>
            </a:extLst>
          </p:cNvPr>
          <p:cNvSpPr>
            <a:spLocks noGrp="1"/>
          </p:cNvSpPr>
          <p:nvPr/>
        </p:nvSpPr>
        <p:spPr>
          <a:xfrm>
            <a:off x="5040201" y="535436"/>
            <a:ext cx="76438" cy="82808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E3960F24-6BBB-479A-A035-2510DF821FB6}"/>
              </a:ext>
            </a:extLst>
          </p:cNvPr>
          <p:cNvSpPr>
            <a:spLocks noGrp="1"/>
          </p:cNvSpPr>
          <p:nvPr/>
        </p:nvSpPr>
        <p:spPr>
          <a:xfrm>
            <a:off x="5116640" y="535436"/>
            <a:ext cx="76438" cy="82808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34B280C0-DFBA-487D-98DB-288B0574DAE1}"/>
              </a:ext>
            </a:extLst>
          </p:cNvPr>
          <p:cNvSpPr>
            <a:spLocks noGrp="1"/>
          </p:cNvSpPr>
          <p:nvPr/>
        </p:nvSpPr>
        <p:spPr>
          <a:xfrm>
            <a:off x="5193078" y="535436"/>
            <a:ext cx="76438" cy="82808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BD992A5F-D1DA-4F64-839F-15653D7294ED}"/>
              </a:ext>
            </a:extLst>
          </p:cNvPr>
          <p:cNvSpPr>
            <a:spLocks noGrp="1"/>
          </p:cNvSpPr>
          <p:nvPr/>
        </p:nvSpPr>
        <p:spPr>
          <a:xfrm>
            <a:off x="5269516" y="535436"/>
            <a:ext cx="76438" cy="82808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2ED56E8D-24F3-465F-9B52-06449D658605}"/>
              </a:ext>
            </a:extLst>
          </p:cNvPr>
          <p:cNvSpPr>
            <a:spLocks noGrp="1"/>
          </p:cNvSpPr>
          <p:nvPr/>
        </p:nvSpPr>
        <p:spPr>
          <a:xfrm>
            <a:off x="5345954" y="535436"/>
            <a:ext cx="76438" cy="82808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61A85E1F-CB38-490F-A30B-0BACEC310C77}"/>
              </a:ext>
            </a:extLst>
          </p:cNvPr>
          <p:cNvSpPr>
            <a:spLocks noGrp="1"/>
          </p:cNvSpPr>
          <p:nvPr/>
        </p:nvSpPr>
        <p:spPr>
          <a:xfrm>
            <a:off x="4963763" y="618244"/>
            <a:ext cx="76438" cy="82808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4465918C-FC20-4EDD-AF2B-AA6A8CBE9EDC}"/>
              </a:ext>
            </a:extLst>
          </p:cNvPr>
          <p:cNvSpPr>
            <a:spLocks noGrp="1"/>
          </p:cNvSpPr>
          <p:nvPr/>
        </p:nvSpPr>
        <p:spPr>
          <a:xfrm>
            <a:off x="5040201" y="618244"/>
            <a:ext cx="76438" cy="82808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A1ECF7D9-0231-484C-87BB-CCE0E39960F3}"/>
              </a:ext>
            </a:extLst>
          </p:cNvPr>
          <p:cNvSpPr>
            <a:spLocks noGrp="1"/>
          </p:cNvSpPr>
          <p:nvPr/>
        </p:nvSpPr>
        <p:spPr>
          <a:xfrm>
            <a:off x="5116640" y="618244"/>
            <a:ext cx="76438" cy="82808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AD1254A3-DD4A-4D3B-8BE4-AD51BFCDF43A}"/>
              </a:ext>
            </a:extLst>
          </p:cNvPr>
          <p:cNvSpPr>
            <a:spLocks noGrp="1"/>
          </p:cNvSpPr>
          <p:nvPr/>
        </p:nvSpPr>
        <p:spPr>
          <a:xfrm>
            <a:off x="5193078" y="618244"/>
            <a:ext cx="76438" cy="82808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DCA6E6AC-E0EC-4AAA-8FE9-EC051ADBC16B}"/>
              </a:ext>
            </a:extLst>
          </p:cNvPr>
          <p:cNvSpPr>
            <a:spLocks noGrp="1"/>
          </p:cNvSpPr>
          <p:nvPr/>
        </p:nvSpPr>
        <p:spPr>
          <a:xfrm>
            <a:off x="5269516" y="618244"/>
            <a:ext cx="76438" cy="82808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5F62D86E-084F-4CA4-8180-103E9713FB3C}"/>
              </a:ext>
            </a:extLst>
          </p:cNvPr>
          <p:cNvSpPr>
            <a:spLocks noGrp="1"/>
          </p:cNvSpPr>
          <p:nvPr/>
        </p:nvSpPr>
        <p:spPr>
          <a:xfrm>
            <a:off x="5345954" y="618244"/>
            <a:ext cx="76438" cy="82808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23817C36-C91C-4369-A403-F85BF6E4FEE0}"/>
              </a:ext>
            </a:extLst>
          </p:cNvPr>
          <p:cNvSpPr>
            <a:spLocks noGrp="1"/>
          </p:cNvSpPr>
          <p:nvPr/>
        </p:nvSpPr>
        <p:spPr>
          <a:xfrm>
            <a:off x="4963763" y="701052"/>
            <a:ext cx="76438" cy="82808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AF99DD8B-9BA2-477E-BAAE-E9A1E2C5053F}"/>
              </a:ext>
            </a:extLst>
          </p:cNvPr>
          <p:cNvSpPr>
            <a:spLocks noGrp="1"/>
          </p:cNvSpPr>
          <p:nvPr/>
        </p:nvSpPr>
        <p:spPr>
          <a:xfrm>
            <a:off x="5040201" y="701052"/>
            <a:ext cx="76438" cy="82808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122310A6-86FD-4952-B769-EC7F9FB3D7AC}"/>
              </a:ext>
            </a:extLst>
          </p:cNvPr>
          <p:cNvSpPr>
            <a:spLocks noGrp="1"/>
          </p:cNvSpPr>
          <p:nvPr/>
        </p:nvSpPr>
        <p:spPr>
          <a:xfrm>
            <a:off x="5116640" y="701052"/>
            <a:ext cx="76438" cy="82808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2C0274FC-F568-42F6-B83A-07C5B192277A}"/>
              </a:ext>
            </a:extLst>
          </p:cNvPr>
          <p:cNvSpPr>
            <a:spLocks noGrp="1"/>
          </p:cNvSpPr>
          <p:nvPr/>
        </p:nvSpPr>
        <p:spPr>
          <a:xfrm>
            <a:off x="5193078" y="701052"/>
            <a:ext cx="76438" cy="82808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A42566F5-7700-4D84-985D-533A214AD770}"/>
              </a:ext>
            </a:extLst>
          </p:cNvPr>
          <p:cNvSpPr>
            <a:spLocks noGrp="1"/>
          </p:cNvSpPr>
          <p:nvPr/>
        </p:nvSpPr>
        <p:spPr>
          <a:xfrm>
            <a:off x="5269516" y="701052"/>
            <a:ext cx="76438" cy="82808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890A687A-BCF5-4D44-B4BD-2CA2BB1FE299}"/>
              </a:ext>
            </a:extLst>
          </p:cNvPr>
          <p:cNvSpPr>
            <a:spLocks noGrp="1"/>
          </p:cNvSpPr>
          <p:nvPr/>
        </p:nvSpPr>
        <p:spPr>
          <a:xfrm>
            <a:off x="5345954" y="701052"/>
            <a:ext cx="76438" cy="82808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96" name="Xq">
            <a:extLst>
              <a:ext uri="{FF2B5EF4-FFF2-40B4-BE49-F238E27FC236}">
                <a16:creationId xmlns:a16="http://schemas.microsoft.com/office/drawing/2014/main" id="{B1503449-55D1-4077-8AF4-856B094EF92E}"/>
              </a:ext>
            </a:extLst>
          </p:cNvPr>
          <p:cNvSpPr>
            <a:spLocks noGrp="1"/>
          </p:cNvSpPr>
          <p:nvPr/>
        </p:nvSpPr>
        <p:spPr>
          <a:xfrm>
            <a:off x="4963763" y="299752"/>
            <a:ext cx="458629" cy="13758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Xq</a:t>
            </a:r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20F0317D-F887-43DA-8AF2-25D85FA10006}"/>
              </a:ext>
            </a:extLst>
          </p:cNvPr>
          <p:cNvSpPr>
            <a:spLocks noGrp="1"/>
          </p:cNvSpPr>
          <p:nvPr/>
        </p:nvSpPr>
        <p:spPr>
          <a:xfrm>
            <a:off x="4963763" y="452628"/>
            <a:ext cx="458629" cy="331232"/>
          </a:xfrm>
          <a:prstGeom prst="rect">
            <a:avLst/>
          </a:prstGeom>
          <a:noFill/>
          <a:ln w="7620">
            <a:noFill/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98" name="per-token symmetric quantization; BF16 operand after dequantization">
            <a:extLst>
              <a:ext uri="{FF2B5EF4-FFF2-40B4-BE49-F238E27FC236}">
                <a16:creationId xmlns:a16="http://schemas.microsoft.com/office/drawing/2014/main" id="{8EBDA5EC-3FF8-4DB9-9C40-64B45C0B3586}"/>
              </a:ext>
            </a:extLst>
          </p:cNvPr>
          <p:cNvSpPr>
            <a:spLocks noGrp="1"/>
          </p:cNvSpPr>
          <p:nvPr/>
        </p:nvSpPr>
        <p:spPr>
          <a:xfrm>
            <a:off x="1304925" y="824627"/>
            <a:ext cx="4178618" cy="13249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defPPr>
            <a:lvl1pPr algn="l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1pPr>
            <a:lvl2pPr algn="l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2pPr>
            <a:lvl3pPr algn="l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3pPr>
            <a:lvl4pPr algn="l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4pPr>
            <a:lvl5pPr algn="l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5pPr>
            <a:lvl6pPr algn="l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6pPr>
            <a:lvl7pPr algn="l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7pPr>
            <a:lvl8pPr algn="l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8pPr>
            <a:lvl9pPr algn="l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pPr>
            <a:r>
              <a:rPr sz="682" b="0">
                <a:solidFill>
                  <a:srgbClr val="5D6773"/>
                </a:solidFill>
                <a:latin typeface="Arial"/>
                <a:ea typeface="Arial"/>
                <a:cs typeface="Arial"/>
              </a:rPr>
              <a:t>per-token symmetric quantization; BF16 operand after dequantization</a:t>
            </a:r>
          </a:p>
        </p:txBody>
      </p:sp>
      <p:cxnSp>
        <p:nvCxnSpPr>
          <p:cNvPr id="99" name="直接箭头连接符 98">
            <a:extLst>
              <a:ext uri="{FF2B5EF4-FFF2-40B4-BE49-F238E27FC236}">
                <a16:creationId xmlns:a16="http://schemas.microsoft.com/office/drawing/2014/main" id="{F8B1A38F-AB4C-4B5B-8A1C-A674C45198C8}"/>
              </a:ext>
            </a:extLst>
          </p:cNvPr>
          <p:cNvCxnSpPr/>
          <p:nvPr/>
        </p:nvCxnSpPr>
        <p:spPr>
          <a:xfrm>
            <a:off x="362188" y="1053941"/>
            <a:ext cx="5197793" cy="0"/>
          </a:xfrm>
          <a:prstGeom prst="straightConnector1">
            <a:avLst/>
          </a:prstGeom>
          <a:ln w="4077">
            <a:solidFill>
              <a:srgbClr val="697681"/>
            </a:solidFill>
            <a:prstDash val="dash"/>
          </a:ln>
        </p:spPr>
      </p:cxnSp>
      <p:sp>
        <p:nvSpPr>
          <p:cNvPr id="100" name="Weight transform&#10;and microscaling VQ&#10;(per output row)">
            <a:extLst>
              <a:ext uri="{FF2B5EF4-FFF2-40B4-BE49-F238E27FC236}">
                <a16:creationId xmlns:a16="http://schemas.microsoft.com/office/drawing/2014/main" id="{76A621B7-73F6-44D1-AD43-970DE9512EE2}"/>
              </a:ext>
            </a:extLst>
          </p:cNvPr>
          <p:cNvSpPr>
            <a:spLocks noGrp="1"/>
          </p:cNvSpPr>
          <p:nvPr/>
        </p:nvSpPr>
        <p:spPr>
          <a:xfrm>
            <a:off x="362188" y="1298543"/>
            <a:ext cx="891778" cy="5095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8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8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8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8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8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8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8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8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8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8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8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Weight transform</a:t>
            </a:r>
          </a:p>
          <a:p>
            <a:pPr algn="l">
              <a:defRPr sz="8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and microscaling VQ</a:t>
            </a:r>
          </a:p>
          <a:p>
            <a:pPr algn="l">
              <a:defRPr sz="8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(per output row)</a:t>
            </a:r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714D3059-2283-475C-9EDB-857C4A63C2D1}"/>
              </a:ext>
            </a:extLst>
          </p:cNvPr>
          <p:cNvSpPr>
            <a:spLocks noGrp="1"/>
          </p:cNvSpPr>
          <p:nvPr/>
        </p:nvSpPr>
        <p:spPr>
          <a:xfrm>
            <a:off x="1253966" y="1283256"/>
            <a:ext cx="90876" cy="91726"/>
          </a:xfrm>
          <a:prstGeom prst="rect">
            <a:avLst/>
          </a:prstGeom>
          <a:solidFill>
            <a:srgbClr val="DAEFE6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37C019BD-7588-4C51-B35E-A1A5844348EA}"/>
              </a:ext>
            </a:extLst>
          </p:cNvPr>
          <p:cNvSpPr>
            <a:spLocks noGrp="1"/>
          </p:cNvSpPr>
          <p:nvPr/>
        </p:nvSpPr>
        <p:spPr>
          <a:xfrm>
            <a:off x="1344843" y="1283256"/>
            <a:ext cx="90876" cy="91726"/>
          </a:xfrm>
          <a:prstGeom prst="rect">
            <a:avLst/>
          </a:prstGeom>
          <a:solidFill>
            <a:srgbClr val="DAEFE6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B5AF79E5-88AB-4687-A312-C679C62AACEE}"/>
              </a:ext>
            </a:extLst>
          </p:cNvPr>
          <p:cNvSpPr>
            <a:spLocks noGrp="1"/>
          </p:cNvSpPr>
          <p:nvPr/>
        </p:nvSpPr>
        <p:spPr>
          <a:xfrm>
            <a:off x="1435719" y="1283256"/>
            <a:ext cx="90876" cy="91726"/>
          </a:xfrm>
          <a:prstGeom prst="rect">
            <a:avLst/>
          </a:prstGeom>
          <a:solidFill>
            <a:srgbClr val="DAEFE6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8B34D11C-55BD-4838-AD33-01D2C95D95F5}"/>
              </a:ext>
            </a:extLst>
          </p:cNvPr>
          <p:cNvSpPr>
            <a:spLocks noGrp="1"/>
          </p:cNvSpPr>
          <p:nvPr/>
        </p:nvSpPr>
        <p:spPr>
          <a:xfrm>
            <a:off x="1526596" y="1283256"/>
            <a:ext cx="90876" cy="91726"/>
          </a:xfrm>
          <a:prstGeom prst="rect">
            <a:avLst/>
          </a:prstGeom>
          <a:solidFill>
            <a:srgbClr val="DAEFE6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9E4007CF-B034-44E3-BD8B-2D42652DDC2B}"/>
              </a:ext>
            </a:extLst>
          </p:cNvPr>
          <p:cNvSpPr>
            <a:spLocks noGrp="1"/>
          </p:cNvSpPr>
          <p:nvPr/>
        </p:nvSpPr>
        <p:spPr>
          <a:xfrm>
            <a:off x="1617472" y="1283256"/>
            <a:ext cx="90876" cy="91726"/>
          </a:xfrm>
          <a:prstGeom prst="rect">
            <a:avLst/>
          </a:prstGeom>
          <a:solidFill>
            <a:srgbClr val="DAEFE6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06" name="矩形 105">
            <a:extLst>
              <a:ext uri="{FF2B5EF4-FFF2-40B4-BE49-F238E27FC236}">
                <a16:creationId xmlns:a16="http://schemas.microsoft.com/office/drawing/2014/main" id="{590CF69A-20A1-48E6-A370-8AEA63C195AB}"/>
              </a:ext>
            </a:extLst>
          </p:cNvPr>
          <p:cNvSpPr>
            <a:spLocks noGrp="1"/>
          </p:cNvSpPr>
          <p:nvPr/>
        </p:nvSpPr>
        <p:spPr>
          <a:xfrm>
            <a:off x="1708348" y="1283256"/>
            <a:ext cx="90876" cy="91726"/>
          </a:xfrm>
          <a:prstGeom prst="rect">
            <a:avLst/>
          </a:prstGeom>
          <a:solidFill>
            <a:srgbClr val="DAEFE6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A760928D-2705-4743-9880-AFA7CE114B24}"/>
              </a:ext>
            </a:extLst>
          </p:cNvPr>
          <p:cNvSpPr>
            <a:spLocks noGrp="1"/>
          </p:cNvSpPr>
          <p:nvPr/>
        </p:nvSpPr>
        <p:spPr>
          <a:xfrm>
            <a:off x="1253966" y="1374981"/>
            <a:ext cx="90876" cy="91726"/>
          </a:xfrm>
          <a:prstGeom prst="rect">
            <a:avLst/>
          </a:prstGeom>
          <a:solidFill>
            <a:srgbClr val="DAEFE6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id="{59B17773-2080-4EA7-A7A9-840DA580C41F}"/>
              </a:ext>
            </a:extLst>
          </p:cNvPr>
          <p:cNvSpPr>
            <a:spLocks noGrp="1"/>
          </p:cNvSpPr>
          <p:nvPr/>
        </p:nvSpPr>
        <p:spPr>
          <a:xfrm>
            <a:off x="1344843" y="1374981"/>
            <a:ext cx="90876" cy="91726"/>
          </a:xfrm>
          <a:prstGeom prst="rect">
            <a:avLst/>
          </a:prstGeom>
          <a:solidFill>
            <a:srgbClr val="DAEFE6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423C83B5-A024-4599-A658-24A84361D9CE}"/>
              </a:ext>
            </a:extLst>
          </p:cNvPr>
          <p:cNvSpPr>
            <a:spLocks noGrp="1"/>
          </p:cNvSpPr>
          <p:nvPr/>
        </p:nvSpPr>
        <p:spPr>
          <a:xfrm>
            <a:off x="1435719" y="1374981"/>
            <a:ext cx="90876" cy="91726"/>
          </a:xfrm>
          <a:prstGeom prst="rect">
            <a:avLst/>
          </a:prstGeom>
          <a:solidFill>
            <a:srgbClr val="DAEFE6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B9559B59-D69E-4871-841C-94997BD19B1B}"/>
              </a:ext>
            </a:extLst>
          </p:cNvPr>
          <p:cNvSpPr>
            <a:spLocks noGrp="1"/>
          </p:cNvSpPr>
          <p:nvPr/>
        </p:nvSpPr>
        <p:spPr>
          <a:xfrm>
            <a:off x="1526596" y="1374981"/>
            <a:ext cx="90876" cy="91726"/>
          </a:xfrm>
          <a:prstGeom prst="rect">
            <a:avLst/>
          </a:prstGeom>
          <a:solidFill>
            <a:srgbClr val="DAEFE6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8472093E-DBE6-4224-A683-D5EF2F307F3C}"/>
              </a:ext>
            </a:extLst>
          </p:cNvPr>
          <p:cNvSpPr>
            <a:spLocks noGrp="1"/>
          </p:cNvSpPr>
          <p:nvPr/>
        </p:nvSpPr>
        <p:spPr>
          <a:xfrm>
            <a:off x="1617472" y="1374981"/>
            <a:ext cx="90876" cy="91726"/>
          </a:xfrm>
          <a:prstGeom prst="rect">
            <a:avLst/>
          </a:prstGeom>
          <a:solidFill>
            <a:srgbClr val="DAEFE6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098D980E-D048-401B-92EF-F39A93A57FA5}"/>
              </a:ext>
            </a:extLst>
          </p:cNvPr>
          <p:cNvSpPr>
            <a:spLocks noGrp="1"/>
          </p:cNvSpPr>
          <p:nvPr/>
        </p:nvSpPr>
        <p:spPr>
          <a:xfrm>
            <a:off x="1708348" y="1374981"/>
            <a:ext cx="90876" cy="91726"/>
          </a:xfrm>
          <a:prstGeom prst="rect">
            <a:avLst/>
          </a:prstGeom>
          <a:solidFill>
            <a:srgbClr val="DAEFE6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13" name="矩形 112">
            <a:extLst>
              <a:ext uri="{FF2B5EF4-FFF2-40B4-BE49-F238E27FC236}">
                <a16:creationId xmlns:a16="http://schemas.microsoft.com/office/drawing/2014/main" id="{3FED59E5-D64D-4367-9E57-2739C03CF310}"/>
              </a:ext>
            </a:extLst>
          </p:cNvPr>
          <p:cNvSpPr>
            <a:spLocks noGrp="1"/>
          </p:cNvSpPr>
          <p:nvPr/>
        </p:nvSpPr>
        <p:spPr>
          <a:xfrm>
            <a:off x="1253966" y="1466707"/>
            <a:ext cx="90876" cy="91726"/>
          </a:xfrm>
          <a:prstGeom prst="rect">
            <a:avLst/>
          </a:prstGeom>
          <a:solidFill>
            <a:srgbClr val="DAEFE6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07174C23-F2E9-4167-B9BE-16D5C458F94A}"/>
              </a:ext>
            </a:extLst>
          </p:cNvPr>
          <p:cNvSpPr>
            <a:spLocks noGrp="1"/>
          </p:cNvSpPr>
          <p:nvPr/>
        </p:nvSpPr>
        <p:spPr>
          <a:xfrm>
            <a:off x="1344843" y="1466707"/>
            <a:ext cx="90876" cy="91726"/>
          </a:xfrm>
          <a:prstGeom prst="rect">
            <a:avLst/>
          </a:prstGeom>
          <a:solidFill>
            <a:srgbClr val="DAEFE6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4E73AA1E-59A3-4378-B98D-80903F4EA8FB}"/>
              </a:ext>
            </a:extLst>
          </p:cNvPr>
          <p:cNvSpPr>
            <a:spLocks noGrp="1"/>
          </p:cNvSpPr>
          <p:nvPr/>
        </p:nvSpPr>
        <p:spPr>
          <a:xfrm>
            <a:off x="1435719" y="1466707"/>
            <a:ext cx="90876" cy="91726"/>
          </a:xfrm>
          <a:prstGeom prst="rect">
            <a:avLst/>
          </a:prstGeom>
          <a:solidFill>
            <a:srgbClr val="DAEFE6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0E22182D-0CD5-483A-AEB5-932D07704399}"/>
              </a:ext>
            </a:extLst>
          </p:cNvPr>
          <p:cNvSpPr>
            <a:spLocks noGrp="1"/>
          </p:cNvSpPr>
          <p:nvPr/>
        </p:nvSpPr>
        <p:spPr>
          <a:xfrm>
            <a:off x="1526596" y="1466707"/>
            <a:ext cx="90876" cy="91726"/>
          </a:xfrm>
          <a:prstGeom prst="rect">
            <a:avLst/>
          </a:prstGeom>
          <a:solidFill>
            <a:srgbClr val="DAEFE6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17" name="矩形 116">
            <a:extLst>
              <a:ext uri="{FF2B5EF4-FFF2-40B4-BE49-F238E27FC236}">
                <a16:creationId xmlns:a16="http://schemas.microsoft.com/office/drawing/2014/main" id="{CEEC53AA-9314-4E87-B829-90BE8AAEE2F2}"/>
              </a:ext>
            </a:extLst>
          </p:cNvPr>
          <p:cNvSpPr>
            <a:spLocks noGrp="1"/>
          </p:cNvSpPr>
          <p:nvPr/>
        </p:nvSpPr>
        <p:spPr>
          <a:xfrm>
            <a:off x="1617472" y="1466707"/>
            <a:ext cx="90876" cy="91726"/>
          </a:xfrm>
          <a:prstGeom prst="rect">
            <a:avLst/>
          </a:prstGeom>
          <a:solidFill>
            <a:srgbClr val="DAEFE6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51D4F143-68B9-4B6C-8518-DD6D665F9381}"/>
              </a:ext>
            </a:extLst>
          </p:cNvPr>
          <p:cNvSpPr>
            <a:spLocks noGrp="1"/>
          </p:cNvSpPr>
          <p:nvPr/>
        </p:nvSpPr>
        <p:spPr>
          <a:xfrm>
            <a:off x="1708348" y="1466707"/>
            <a:ext cx="90876" cy="91726"/>
          </a:xfrm>
          <a:prstGeom prst="rect">
            <a:avLst/>
          </a:prstGeom>
          <a:solidFill>
            <a:srgbClr val="DAEFE6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BFE938AF-3F7F-4A33-BCC6-89DD74446F3E}"/>
              </a:ext>
            </a:extLst>
          </p:cNvPr>
          <p:cNvSpPr>
            <a:spLocks noGrp="1"/>
          </p:cNvSpPr>
          <p:nvPr/>
        </p:nvSpPr>
        <p:spPr>
          <a:xfrm>
            <a:off x="1253966" y="1558433"/>
            <a:ext cx="90876" cy="91726"/>
          </a:xfrm>
          <a:prstGeom prst="rect">
            <a:avLst/>
          </a:prstGeom>
          <a:solidFill>
            <a:srgbClr val="DAEFE6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FA766E96-5BD0-4EDC-8A42-2365C9F0808A}"/>
              </a:ext>
            </a:extLst>
          </p:cNvPr>
          <p:cNvSpPr>
            <a:spLocks noGrp="1"/>
          </p:cNvSpPr>
          <p:nvPr/>
        </p:nvSpPr>
        <p:spPr>
          <a:xfrm>
            <a:off x="1344843" y="1558433"/>
            <a:ext cx="90876" cy="91726"/>
          </a:xfrm>
          <a:prstGeom prst="rect">
            <a:avLst/>
          </a:prstGeom>
          <a:solidFill>
            <a:srgbClr val="DAEFE6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id="{2DA640E3-91D4-4222-9BEE-72FEC1F7624D}"/>
              </a:ext>
            </a:extLst>
          </p:cNvPr>
          <p:cNvSpPr>
            <a:spLocks noGrp="1"/>
          </p:cNvSpPr>
          <p:nvPr/>
        </p:nvSpPr>
        <p:spPr>
          <a:xfrm>
            <a:off x="1435719" y="1558433"/>
            <a:ext cx="90876" cy="91726"/>
          </a:xfrm>
          <a:prstGeom prst="rect">
            <a:avLst/>
          </a:prstGeom>
          <a:solidFill>
            <a:srgbClr val="DAEFE6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32F74598-3ECE-43CB-98CF-A26975B5113F}"/>
              </a:ext>
            </a:extLst>
          </p:cNvPr>
          <p:cNvSpPr>
            <a:spLocks noGrp="1"/>
          </p:cNvSpPr>
          <p:nvPr/>
        </p:nvSpPr>
        <p:spPr>
          <a:xfrm>
            <a:off x="1526596" y="1558433"/>
            <a:ext cx="90876" cy="91726"/>
          </a:xfrm>
          <a:prstGeom prst="rect">
            <a:avLst/>
          </a:prstGeom>
          <a:solidFill>
            <a:srgbClr val="DAEFE6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2E6AEC6E-1110-4F9B-BDD3-2FC115ACCA17}"/>
              </a:ext>
            </a:extLst>
          </p:cNvPr>
          <p:cNvSpPr>
            <a:spLocks noGrp="1"/>
          </p:cNvSpPr>
          <p:nvPr/>
        </p:nvSpPr>
        <p:spPr>
          <a:xfrm>
            <a:off x="1617472" y="1558433"/>
            <a:ext cx="90876" cy="91726"/>
          </a:xfrm>
          <a:prstGeom prst="rect">
            <a:avLst/>
          </a:prstGeom>
          <a:solidFill>
            <a:srgbClr val="DAEFE6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32D43A76-B48D-4687-B5E0-E8E38896F8D2}"/>
              </a:ext>
            </a:extLst>
          </p:cNvPr>
          <p:cNvSpPr>
            <a:spLocks noGrp="1"/>
          </p:cNvSpPr>
          <p:nvPr/>
        </p:nvSpPr>
        <p:spPr>
          <a:xfrm>
            <a:off x="1708348" y="1558433"/>
            <a:ext cx="90876" cy="91726"/>
          </a:xfrm>
          <a:prstGeom prst="rect">
            <a:avLst/>
          </a:prstGeom>
          <a:solidFill>
            <a:srgbClr val="DAEFE6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25" name="矩形 124">
            <a:extLst>
              <a:ext uri="{FF2B5EF4-FFF2-40B4-BE49-F238E27FC236}">
                <a16:creationId xmlns:a16="http://schemas.microsoft.com/office/drawing/2014/main" id="{A0D97B14-6113-420D-AA32-E8E47AEF0898}"/>
              </a:ext>
            </a:extLst>
          </p:cNvPr>
          <p:cNvSpPr>
            <a:spLocks noGrp="1"/>
          </p:cNvSpPr>
          <p:nvPr/>
        </p:nvSpPr>
        <p:spPr>
          <a:xfrm>
            <a:off x="1253966" y="1650159"/>
            <a:ext cx="90876" cy="91726"/>
          </a:xfrm>
          <a:prstGeom prst="rect">
            <a:avLst/>
          </a:prstGeom>
          <a:solidFill>
            <a:srgbClr val="DAEFE6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098B2E9A-D667-42BE-BEC8-85E4B740E0D8}"/>
              </a:ext>
            </a:extLst>
          </p:cNvPr>
          <p:cNvSpPr>
            <a:spLocks noGrp="1"/>
          </p:cNvSpPr>
          <p:nvPr/>
        </p:nvSpPr>
        <p:spPr>
          <a:xfrm>
            <a:off x="1344843" y="1650159"/>
            <a:ext cx="90876" cy="91726"/>
          </a:xfrm>
          <a:prstGeom prst="rect">
            <a:avLst/>
          </a:prstGeom>
          <a:solidFill>
            <a:srgbClr val="DAEFE6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27" name="矩形 126">
            <a:extLst>
              <a:ext uri="{FF2B5EF4-FFF2-40B4-BE49-F238E27FC236}">
                <a16:creationId xmlns:a16="http://schemas.microsoft.com/office/drawing/2014/main" id="{7EB3CFAD-0FB1-4951-ADA8-915B31D5533E}"/>
              </a:ext>
            </a:extLst>
          </p:cNvPr>
          <p:cNvSpPr>
            <a:spLocks noGrp="1"/>
          </p:cNvSpPr>
          <p:nvPr/>
        </p:nvSpPr>
        <p:spPr>
          <a:xfrm>
            <a:off x="1435719" y="1650159"/>
            <a:ext cx="90876" cy="91726"/>
          </a:xfrm>
          <a:prstGeom prst="rect">
            <a:avLst/>
          </a:prstGeom>
          <a:solidFill>
            <a:srgbClr val="DAEFE6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FAE7F9FE-E3A2-4221-9EDC-E65DA77E98B1}"/>
              </a:ext>
            </a:extLst>
          </p:cNvPr>
          <p:cNvSpPr>
            <a:spLocks noGrp="1"/>
          </p:cNvSpPr>
          <p:nvPr/>
        </p:nvSpPr>
        <p:spPr>
          <a:xfrm>
            <a:off x="1526596" y="1650159"/>
            <a:ext cx="90876" cy="91726"/>
          </a:xfrm>
          <a:prstGeom prst="rect">
            <a:avLst/>
          </a:prstGeom>
          <a:solidFill>
            <a:srgbClr val="DAEFE6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29" name="矩形 128">
            <a:extLst>
              <a:ext uri="{FF2B5EF4-FFF2-40B4-BE49-F238E27FC236}">
                <a16:creationId xmlns:a16="http://schemas.microsoft.com/office/drawing/2014/main" id="{C0C8E732-728E-4A37-A922-1DF59F6091A0}"/>
              </a:ext>
            </a:extLst>
          </p:cNvPr>
          <p:cNvSpPr>
            <a:spLocks noGrp="1"/>
          </p:cNvSpPr>
          <p:nvPr/>
        </p:nvSpPr>
        <p:spPr>
          <a:xfrm>
            <a:off x="1617472" y="1650159"/>
            <a:ext cx="90876" cy="91726"/>
          </a:xfrm>
          <a:prstGeom prst="rect">
            <a:avLst/>
          </a:prstGeom>
          <a:solidFill>
            <a:srgbClr val="DAEFE6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95AB97C4-2199-4E70-AB55-8078676BAFAA}"/>
              </a:ext>
            </a:extLst>
          </p:cNvPr>
          <p:cNvSpPr>
            <a:spLocks noGrp="1"/>
          </p:cNvSpPr>
          <p:nvPr/>
        </p:nvSpPr>
        <p:spPr>
          <a:xfrm>
            <a:off x="1708348" y="1650159"/>
            <a:ext cx="90876" cy="91726"/>
          </a:xfrm>
          <a:prstGeom prst="rect">
            <a:avLst/>
          </a:prstGeom>
          <a:solidFill>
            <a:srgbClr val="DAEFE6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31" name="W">
            <a:extLst>
              <a:ext uri="{FF2B5EF4-FFF2-40B4-BE49-F238E27FC236}">
                <a16:creationId xmlns:a16="http://schemas.microsoft.com/office/drawing/2014/main" id="{29A229FC-9773-43FC-994F-3FDD6A7218BD}"/>
              </a:ext>
            </a:extLst>
          </p:cNvPr>
          <p:cNvSpPr>
            <a:spLocks noGrp="1"/>
          </p:cNvSpPr>
          <p:nvPr/>
        </p:nvSpPr>
        <p:spPr>
          <a:xfrm>
            <a:off x="1253966" y="1130379"/>
            <a:ext cx="545259" cy="13758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W</a:t>
            </a:r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9985CEF9-6C88-4EDE-A02B-775BE0FA7778}"/>
              </a:ext>
            </a:extLst>
          </p:cNvPr>
          <p:cNvSpPr>
            <a:spLocks noGrp="1"/>
          </p:cNvSpPr>
          <p:nvPr/>
        </p:nvSpPr>
        <p:spPr>
          <a:xfrm>
            <a:off x="1253966" y="1283256"/>
            <a:ext cx="545259" cy="458629"/>
          </a:xfrm>
          <a:prstGeom prst="rect">
            <a:avLst/>
          </a:prstGeom>
          <a:noFill/>
          <a:ln w="7620">
            <a:noFill/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33" name="S">
            <a:extLst>
              <a:ext uri="{FF2B5EF4-FFF2-40B4-BE49-F238E27FC236}">
                <a16:creationId xmlns:a16="http://schemas.microsoft.com/office/drawing/2014/main" id="{2243E1F2-09B5-4CE6-A742-A1F8959BD15C}"/>
              </a:ext>
            </a:extLst>
          </p:cNvPr>
          <p:cNvSpPr>
            <a:spLocks noGrp="1"/>
          </p:cNvSpPr>
          <p:nvPr/>
        </p:nvSpPr>
        <p:spPr>
          <a:xfrm>
            <a:off x="1941909" y="1318927"/>
            <a:ext cx="295561" cy="356711"/>
          </a:xfrm>
          <a:prstGeom prst="rect">
            <a:avLst/>
          </a:prstGeom>
          <a:solidFill>
            <a:srgbClr val="EDF0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0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134" name="signed&#10;H128">
            <a:extLst>
              <a:ext uri="{FF2B5EF4-FFF2-40B4-BE49-F238E27FC236}">
                <a16:creationId xmlns:a16="http://schemas.microsoft.com/office/drawing/2014/main" id="{8681F840-B47B-4F06-98A6-7BB2E5AC1C79}"/>
              </a:ext>
            </a:extLst>
          </p:cNvPr>
          <p:cNvSpPr>
            <a:spLocks noGrp="1"/>
          </p:cNvSpPr>
          <p:nvPr/>
        </p:nvSpPr>
        <p:spPr>
          <a:xfrm>
            <a:off x="2324100" y="1318927"/>
            <a:ext cx="412766" cy="356711"/>
          </a:xfrm>
          <a:prstGeom prst="rect">
            <a:avLst/>
          </a:prstGeom>
          <a:solidFill>
            <a:srgbClr val="EDF0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signed</a:t>
            </a:r>
          </a:p>
          <a:p>
            <a: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H128</a:t>
            </a:r>
          </a:p>
        </p:txBody>
      </p:sp>
      <p:sp>
        <p:nvSpPr>
          <p:cNvPr id="135" name="U128">
            <a:extLst>
              <a:ext uri="{FF2B5EF4-FFF2-40B4-BE49-F238E27FC236}">
                <a16:creationId xmlns:a16="http://schemas.microsoft.com/office/drawing/2014/main" id="{2BCE449E-0709-45D6-AD81-E8740D851A6F}"/>
              </a:ext>
            </a:extLst>
          </p:cNvPr>
          <p:cNvSpPr>
            <a:spLocks noGrp="1"/>
          </p:cNvSpPr>
          <p:nvPr/>
        </p:nvSpPr>
        <p:spPr>
          <a:xfrm>
            <a:off x="2843879" y="1318927"/>
            <a:ext cx="371999" cy="356711"/>
          </a:xfrm>
          <a:prstGeom prst="rect">
            <a:avLst/>
          </a:prstGeom>
          <a:solidFill>
            <a:srgbClr val="F9E2C4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0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U128</a:t>
            </a:r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0B79A1BF-D4AC-4B70-87AA-1D9B8F086D07}"/>
              </a:ext>
            </a:extLst>
          </p:cNvPr>
          <p:cNvSpPr>
            <a:spLocks noGrp="1"/>
          </p:cNvSpPr>
          <p:nvPr/>
        </p:nvSpPr>
        <p:spPr>
          <a:xfrm>
            <a:off x="3623548" y="1425940"/>
            <a:ext cx="76438" cy="91726"/>
          </a:xfrm>
          <a:prstGeom prst="rect">
            <a:avLst/>
          </a:prstGeom>
          <a:solidFill>
            <a:srgbClr val="DAEFE6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37" name="矩形 136">
            <a:extLst>
              <a:ext uri="{FF2B5EF4-FFF2-40B4-BE49-F238E27FC236}">
                <a16:creationId xmlns:a16="http://schemas.microsoft.com/office/drawing/2014/main" id="{648FDDDD-E473-433E-AA51-3F24A401BD05}"/>
              </a:ext>
            </a:extLst>
          </p:cNvPr>
          <p:cNvSpPr>
            <a:spLocks noGrp="1"/>
          </p:cNvSpPr>
          <p:nvPr/>
        </p:nvSpPr>
        <p:spPr>
          <a:xfrm>
            <a:off x="3699986" y="1425940"/>
            <a:ext cx="76438" cy="91726"/>
          </a:xfrm>
          <a:prstGeom prst="rect">
            <a:avLst/>
          </a:prstGeom>
          <a:solidFill>
            <a:srgbClr val="DAEFE6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1FFBE234-E134-41DF-9ABC-6EDC2BD73386}"/>
              </a:ext>
            </a:extLst>
          </p:cNvPr>
          <p:cNvSpPr>
            <a:spLocks noGrp="1"/>
          </p:cNvSpPr>
          <p:nvPr/>
        </p:nvSpPr>
        <p:spPr>
          <a:xfrm>
            <a:off x="3776424" y="1425940"/>
            <a:ext cx="76438" cy="91726"/>
          </a:xfrm>
          <a:prstGeom prst="rect">
            <a:avLst/>
          </a:prstGeom>
          <a:solidFill>
            <a:srgbClr val="DAEFE6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39" name="矩形 138">
            <a:extLst>
              <a:ext uri="{FF2B5EF4-FFF2-40B4-BE49-F238E27FC236}">
                <a16:creationId xmlns:a16="http://schemas.microsoft.com/office/drawing/2014/main" id="{F7AF2DB7-D4ED-4583-823B-C83D7C5F238D}"/>
              </a:ext>
            </a:extLst>
          </p:cNvPr>
          <p:cNvSpPr>
            <a:spLocks noGrp="1"/>
          </p:cNvSpPr>
          <p:nvPr/>
        </p:nvSpPr>
        <p:spPr>
          <a:xfrm>
            <a:off x="3852863" y="1425940"/>
            <a:ext cx="76438" cy="91726"/>
          </a:xfrm>
          <a:prstGeom prst="rect">
            <a:avLst/>
          </a:prstGeom>
          <a:solidFill>
            <a:srgbClr val="DAEFE6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40" name="矩形 139">
            <a:extLst>
              <a:ext uri="{FF2B5EF4-FFF2-40B4-BE49-F238E27FC236}">
                <a16:creationId xmlns:a16="http://schemas.microsoft.com/office/drawing/2014/main" id="{E6CA6961-6EC2-43AA-B6DC-B75A389AAFE8}"/>
              </a:ext>
            </a:extLst>
          </p:cNvPr>
          <p:cNvSpPr>
            <a:spLocks noGrp="1"/>
          </p:cNvSpPr>
          <p:nvPr/>
        </p:nvSpPr>
        <p:spPr>
          <a:xfrm>
            <a:off x="3929301" y="1425940"/>
            <a:ext cx="76438" cy="91726"/>
          </a:xfrm>
          <a:prstGeom prst="rect">
            <a:avLst/>
          </a:prstGeom>
          <a:solidFill>
            <a:srgbClr val="DAEFE6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41" name="矩形 140">
            <a:extLst>
              <a:ext uri="{FF2B5EF4-FFF2-40B4-BE49-F238E27FC236}">
                <a16:creationId xmlns:a16="http://schemas.microsoft.com/office/drawing/2014/main" id="{4D0CF9CE-932C-4CCB-952F-84A953352E6C}"/>
              </a:ext>
            </a:extLst>
          </p:cNvPr>
          <p:cNvSpPr>
            <a:spLocks noGrp="1"/>
          </p:cNvSpPr>
          <p:nvPr/>
        </p:nvSpPr>
        <p:spPr>
          <a:xfrm>
            <a:off x="4005739" y="1425940"/>
            <a:ext cx="76438" cy="91726"/>
          </a:xfrm>
          <a:prstGeom prst="rect">
            <a:avLst/>
          </a:prstGeom>
          <a:solidFill>
            <a:srgbClr val="DAEFE6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42" name="矩形 141">
            <a:extLst>
              <a:ext uri="{FF2B5EF4-FFF2-40B4-BE49-F238E27FC236}">
                <a16:creationId xmlns:a16="http://schemas.microsoft.com/office/drawing/2014/main" id="{0D83F79A-1C02-4561-A2A0-A0C7E0F4E1A9}"/>
              </a:ext>
            </a:extLst>
          </p:cNvPr>
          <p:cNvSpPr>
            <a:spLocks noGrp="1"/>
          </p:cNvSpPr>
          <p:nvPr/>
        </p:nvSpPr>
        <p:spPr>
          <a:xfrm>
            <a:off x="4082177" y="1425940"/>
            <a:ext cx="76438" cy="91726"/>
          </a:xfrm>
          <a:prstGeom prst="rect">
            <a:avLst/>
          </a:prstGeom>
          <a:solidFill>
            <a:srgbClr val="DAEFE6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43" name="矩形 142">
            <a:extLst>
              <a:ext uri="{FF2B5EF4-FFF2-40B4-BE49-F238E27FC236}">
                <a16:creationId xmlns:a16="http://schemas.microsoft.com/office/drawing/2014/main" id="{BDA11FFF-58DB-48E6-8ED8-BC35D00359F8}"/>
              </a:ext>
            </a:extLst>
          </p:cNvPr>
          <p:cNvSpPr>
            <a:spLocks noGrp="1"/>
          </p:cNvSpPr>
          <p:nvPr/>
        </p:nvSpPr>
        <p:spPr>
          <a:xfrm>
            <a:off x="4158615" y="1425940"/>
            <a:ext cx="76438" cy="91726"/>
          </a:xfrm>
          <a:prstGeom prst="rect">
            <a:avLst/>
          </a:prstGeom>
          <a:solidFill>
            <a:srgbClr val="DAEFE6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44" name="矩形 143">
            <a:extLst>
              <a:ext uri="{FF2B5EF4-FFF2-40B4-BE49-F238E27FC236}">
                <a16:creationId xmlns:a16="http://schemas.microsoft.com/office/drawing/2014/main" id="{6B8FB579-3EA8-4F11-A984-AC4DB3D7D9BE}"/>
              </a:ext>
            </a:extLst>
          </p:cNvPr>
          <p:cNvSpPr>
            <a:spLocks noGrp="1"/>
          </p:cNvSpPr>
          <p:nvPr/>
        </p:nvSpPr>
        <p:spPr>
          <a:xfrm>
            <a:off x="3623548" y="1517666"/>
            <a:ext cx="76438" cy="91726"/>
          </a:xfrm>
          <a:prstGeom prst="rect">
            <a:avLst/>
          </a:prstGeom>
          <a:solidFill>
            <a:srgbClr val="DAEFE6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45" name="矩形 144">
            <a:extLst>
              <a:ext uri="{FF2B5EF4-FFF2-40B4-BE49-F238E27FC236}">
                <a16:creationId xmlns:a16="http://schemas.microsoft.com/office/drawing/2014/main" id="{6AC83E32-5061-49E5-B839-44290FE5C00E}"/>
              </a:ext>
            </a:extLst>
          </p:cNvPr>
          <p:cNvSpPr>
            <a:spLocks noGrp="1"/>
          </p:cNvSpPr>
          <p:nvPr/>
        </p:nvSpPr>
        <p:spPr>
          <a:xfrm>
            <a:off x="3699986" y="1517666"/>
            <a:ext cx="76438" cy="91726"/>
          </a:xfrm>
          <a:prstGeom prst="rect">
            <a:avLst/>
          </a:prstGeom>
          <a:solidFill>
            <a:srgbClr val="DAEFE6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46" name="矩形 145">
            <a:extLst>
              <a:ext uri="{FF2B5EF4-FFF2-40B4-BE49-F238E27FC236}">
                <a16:creationId xmlns:a16="http://schemas.microsoft.com/office/drawing/2014/main" id="{82362258-565F-459F-84BA-77C7A947C9D2}"/>
              </a:ext>
            </a:extLst>
          </p:cNvPr>
          <p:cNvSpPr>
            <a:spLocks noGrp="1"/>
          </p:cNvSpPr>
          <p:nvPr/>
        </p:nvSpPr>
        <p:spPr>
          <a:xfrm>
            <a:off x="3776424" y="1517666"/>
            <a:ext cx="76438" cy="91726"/>
          </a:xfrm>
          <a:prstGeom prst="rect">
            <a:avLst/>
          </a:prstGeom>
          <a:solidFill>
            <a:srgbClr val="DAEFE6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47" name="矩形 146">
            <a:extLst>
              <a:ext uri="{FF2B5EF4-FFF2-40B4-BE49-F238E27FC236}">
                <a16:creationId xmlns:a16="http://schemas.microsoft.com/office/drawing/2014/main" id="{D4FF62F8-0899-4B99-B15C-061E4A5826EA}"/>
              </a:ext>
            </a:extLst>
          </p:cNvPr>
          <p:cNvSpPr>
            <a:spLocks noGrp="1"/>
          </p:cNvSpPr>
          <p:nvPr/>
        </p:nvSpPr>
        <p:spPr>
          <a:xfrm>
            <a:off x="3852863" y="1517666"/>
            <a:ext cx="76438" cy="91726"/>
          </a:xfrm>
          <a:prstGeom prst="rect">
            <a:avLst/>
          </a:prstGeom>
          <a:solidFill>
            <a:srgbClr val="DAEFE6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48" name="矩形 147">
            <a:extLst>
              <a:ext uri="{FF2B5EF4-FFF2-40B4-BE49-F238E27FC236}">
                <a16:creationId xmlns:a16="http://schemas.microsoft.com/office/drawing/2014/main" id="{703AFFD6-A3BF-4188-9D57-B6BB3F405273}"/>
              </a:ext>
            </a:extLst>
          </p:cNvPr>
          <p:cNvSpPr>
            <a:spLocks noGrp="1"/>
          </p:cNvSpPr>
          <p:nvPr/>
        </p:nvSpPr>
        <p:spPr>
          <a:xfrm>
            <a:off x="3929301" y="1517666"/>
            <a:ext cx="76438" cy="91726"/>
          </a:xfrm>
          <a:prstGeom prst="rect">
            <a:avLst/>
          </a:prstGeom>
          <a:solidFill>
            <a:srgbClr val="DAEFE6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49" name="矩形 148">
            <a:extLst>
              <a:ext uri="{FF2B5EF4-FFF2-40B4-BE49-F238E27FC236}">
                <a16:creationId xmlns:a16="http://schemas.microsoft.com/office/drawing/2014/main" id="{71FD77E8-E32A-4873-A3AF-194F2054E57B}"/>
              </a:ext>
            </a:extLst>
          </p:cNvPr>
          <p:cNvSpPr>
            <a:spLocks noGrp="1"/>
          </p:cNvSpPr>
          <p:nvPr/>
        </p:nvSpPr>
        <p:spPr>
          <a:xfrm>
            <a:off x="4005739" y="1517666"/>
            <a:ext cx="76438" cy="91726"/>
          </a:xfrm>
          <a:prstGeom prst="rect">
            <a:avLst/>
          </a:prstGeom>
          <a:solidFill>
            <a:srgbClr val="DAEFE6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50" name="矩形 149">
            <a:extLst>
              <a:ext uri="{FF2B5EF4-FFF2-40B4-BE49-F238E27FC236}">
                <a16:creationId xmlns:a16="http://schemas.microsoft.com/office/drawing/2014/main" id="{C66E43F1-9570-45A3-9A4A-7B2A280F8160}"/>
              </a:ext>
            </a:extLst>
          </p:cNvPr>
          <p:cNvSpPr>
            <a:spLocks noGrp="1"/>
          </p:cNvSpPr>
          <p:nvPr/>
        </p:nvSpPr>
        <p:spPr>
          <a:xfrm>
            <a:off x="4082177" y="1517666"/>
            <a:ext cx="76438" cy="91726"/>
          </a:xfrm>
          <a:prstGeom prst="rect">
            <a:avLst/>
          </a:prstGeom>
          <a:solidFill>
            <a:srgbClr val="DAEFE6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51" name="矩形 150">
            <a:extLst>
              <a:ext uri="{FF2B5EF4-FFF2-40B4-BE49-F238E27FC236}">
                <a16:creationId xmlns:a16="http://schemas.microsoft.com/office/drawing/2014/main" id="{C31C20A1-4FF1-45CC-9E2E-920DA35EA873}"/>
              </a:ext>
            </a:extLst>
          </p:cNvPr>
          <p:cNvSpPr>
            <a:spLocks noGrp="1"/>
          </p:cNvSpPr>
          <p:nvPr/>
        </p:nvSpPr>
        <p:spPr>
          <a:xfrm>
            <a:off x="4158615" y="1517666"/>
            <a:ext cx="76438" cy="91726"/>
          </a:xfrm>
          <a:prstGeom prst="rect">
            <a:avLst/>
          </a:prstGeom>
          <a:solidFill>
            <a:srgbClr val="DAEFE6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52" name="d = 4 vectors">
            <a:extLst>
              <a:ext uri="{FF2B5EF4-FFF2-40B4-BE49-F238E27FC236}">
                <a16:creationId xmlns:a16="http://schemas.microsoft.com/office/drawing/2014/main" id="{0DF971FF-E232-48B4-996B-6B1959A3A428}"/>
              </a:ext>
            </a:extLst>
          </p:cNvPr>
          <p:cNvSpPr>
            <a:spLocks noGrp="1"/>
          </p:cNvSpPr>
          <p:nvPr/>
        </p:nvSpPr>
        <p:spPr>
          <a:xfrm>
            <a:off x="3623548" y="1273064"/>
            <a:ext cx="611505" cy="13758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638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38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38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38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38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38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38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38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38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38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638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38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d = 4 vectors</a:t>
            </a:r>
          </a:p>
        </p:txBody>
      </p:sp>
      <p:sp>
        <p:nvSpPr>
          <p:cNvPr id="153" name="矩形 152">
            <a:extLst>
              <a:ext uri="{FF2B5EF4-FFF2-40B4-BE49-F238E27FC236}">
                <a16:creationId xmlns:a16="http://schemas.microsoft.com/office/drawing/2014/main" id="{128BC9FF-F17D-4168-8113-EE96856F18BD}"/>
              </a:ext>
            </a:extLst>
          </p:cNvPr>
          <p:cNvSpPr>
            <a:spLocks noGrp="1"/>
          </p:cNvSpPr>
          <p:nvPr/>
        </p:nvSpPr>
        <p:spPr>
          <a:xfrm>
            <a:off x="3623548" y="1425940"/>
            <a:ext cx="611505" cy="183452"/>
          </a:xfrm>
          <a:prstGeom prst="rect">
            <a:avLst/>
          </a:prstGeom>
          <a:noFill/>
          <a:ln w="7620">
            <a:noFill/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54" name="reshape&#10;by 4">
            <a:extLst>
              <a:ext uri="{FF2B5EF4-FFF2-40B4-BE49-F238E27FC236}">
                <a16:creationId xmlns:a16="http://schemas.microsoft.com/office/drawing/2014/main" id="{9F046277-8CE3-4CCC-9F47-CFF128BE6853}"/>
              </a:ext>
            </a:extLst>
          </p:cNvPr>
          <p:cNvSpPr>
            <a:spLocks noGrp="1"/>
          </p:cNvSpPr>
          <p:nvPr/>
        </p:nvSpPr>
        <p:spPr>
          <a:xfrm>
            <a:off x="3236262" y="1344406"/>
            <a:ext cx="356711" cy="33123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82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reshape</a:t>
            </a:r>
          </a:p>
          <a:p>
            <a: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82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by 4</a:t>
            </a:r>
          </a:p>
        </p:txBody>
      </p:sp>
      <p:sp>
        <p:nvSpPr>
          <p:cNvPr id="155" name="矩形 154">
            <a:extLst>
              <a:ext uri="{FF2B5EF4-FFF2-40B4-BE49-F238E27FC236}">
                <a16:creationId xmlns:a16="http://schemas.microsoft.com/office/drawing/2014/main" id="{24FECA7A-0370-4F84-BA5D-0CEBE8526B0E}"/>
              </a:ext>
            </a:extLst>
          </p:cNvPr>
          <p:cNvSpPr>
            <a:spLocks noGrp="1"/>
          </p:cNvSpPr>
          <p:nvPr/>
        </p:nvSpPr>
        <p:spPr>
          <a:xfrm>
            <a:off x="4423601" y="1359694"/>
            <a:ext cx="114657" cy="91726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56" name="矩形 155">
            <a:extLst>
              <a:ext uri="{FF2B5EF4-FFF2-40B4-BE49-F238E27FC236}">
                <a16:creationId xmlns:a16="http://schemas.microsoft.com/office/drawing/2014/main" id="{E4A40869-5319-40CC-B7D5-07BF56C1EF85}"/>
              </a:ext>
            </a:extLst>
          </p:cNvPr>
          <p:cNvSpPr>
            <a:spLocks noGrp="1"/>
          </p:cNvSpPr>
          <p:nvPr/>
        </p:nvSpPr>
        <p:spPr>
          <a:xfrm>
            <a:off x="4538258" y="1359694"/>
            <a:ext cx="114657" cy="91726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57" name="矩形 156">
            <a:extLst>
              <a:ext uri="{FF2B5EF4-FFF2-40B4-BE49-F238E27FC236}">
                <a16:creationId xmlns:a16="http://schemas.microsoft.com/office/drawing/2014/main" id="{72B3794E-FDD6-4D54-AB06-36DADF950E69}"/>
              </a:ext>
            </a:extLst>
          </p:cNvPr>
          <p:cNvSpPr>
            <a:spLocks noGrp="1"/>
          </p:cNvSpPr>
          <p:nvPr/>
        </p:nvSpPr>
        <p:spPr>
          <a:xfrm>
            <a:off x="4652915" y="1359694"/>
            <a:ext cx="114657" cy="91726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58" name="矩形 157">
            <a:extLst>
              <a:ext uri="{FF2B5EF4-FFF2-40B4-BE49-F238E27FC236}">
                <a16:creationId xmlns:a16="http://schemas.microsoft.com/office/drawing/2014/main" id="{89FEF9FD-6BC9-4CEE-9E88-5E5507FE3690}"/>
              </a:ext>
            </a:extLst>
          </p:cNvPr>
          <p:cNvSpPr>
            <a:spLocks noGrp="1"/>
          </p:cNvSpPr>
          <p:nvPr/>
        </p:nvSpPr>
        <p:spPr>
          <a:xfrm>
            <a:off x="4767572" y="1359694"/>
            <a:ext cx="114657" cy="91726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59" name="矩形 158">
            <a:extLst>
              <a:ext uri="{FF2B5EF4-FFF2-40B4-BE49-F238E27FC236}">
                <a16:creationId xmlns:a16="http://schemas.microsoft.com/office/drawing/2014/main" id="{F114545E-911D-4FDC-98D7-72F85F7C22A9}"/>
              </a:ext>
            </a:extLst>
          </p:cNvPr>
          <p:cNvSpPr>
            <a:spLocks noGrp="1"/>
          </p:cNvSpPr>
          <p:nvPr/>
        </p:nvSpPr>
        <p:spPr>
          <a:xfrm>
            <a:off x="4423601" y="1451420"/>
            <a:ext cx="114657" cy="91726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60" name="矩形 159">
            <a:extLst>
              <a:ext uri="{FF2B5EF4-FFF2-40B4-BE49-F238E27FC236}">
                <a16:creationId xmlns:a16="http://schemas.microsoft.com/office/drawing/2014/main" id="{46D3820A-7894-4BFA-926A-BD7361CE49C6}"/>
              </a:ext>
            </a:extLst>
          </p:cNvPr>
          <p:cNvSpPr>
            <a:spLocks noGrp="1"/>
          </p:cNvSpPr>
          <p:nvPr/>
        </p:nvSpPr>
        <p:spPr>
          <a:xfrm>
            <a:off x="4538258" y="1451420"/>
            <a:ext cx="114657" cy="91726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61" name="矩形 160">
            <a:extLst>
              <a:ext uri="{FF2B5EF4-FFF2-40B4-BE49-F238E27FC236}">
                <a16:creationId xmlns:a16="http://schemas.microsoft.com/office/drawing/2014/main" id="{8BBFB981-3BC8-4920-8340-BCBCB7508BC5}"/>
              </a:ext>
            </a:extLst>
          </p:cNvPr>
          <p:cNvSpPr>
            <a:spLocks noGrp="1"/>
          </p:cNvSpPr>
          <p:nvPr/>
        </p:nvSpPr>
        <p:spPr>
          <a:xfrm>
            <a:off x="4652915" y="1451420"/>
            <a:ext cx="114657" cy="91726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62" name="矩形 161">
            <a:extLst>
              <a:ext uri="{FF2B5EF4-FFF2-40B4-BE49-F238E27FC236}">
                <a16:creationId xmlns:a16="http://schemas.microsoft.com/office/drawing/2014/main" id="{7231D108-97DB-4A8F-B578-A4DDC61E6F6F}"/>
              </a:ext>
            </a:extLst>
          </p:cNvPr>
          <p:cNvSpPr>
            <a:spLocks noGrp="1"/>
          </p:cNvSpPr>
          <p:nvPr/>
        </p:nvSpPr>
        <p:spPr>
          <a:xfrm>
            <a:off x="4767572" y="1451420"/>
            <a:ext cx="114657" cy="91726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63" name="矩形 162">
            <a:extLst>
              <a:ext uri="{FF2B5EF4-FFF2-40B4-BE49-F238E27FC236}">
                <a16:creationId xmlns:a16="http://schemas.microsoft.com/office/drawing/2014/main" id="{862EFC8C-23CE-4789-994B-6A28605A4673}"/>
              </a:ext>
            </a:extLst>
          </p:cNvPr>
          <p:cNvSpPr>
            <a:spLocks noGrp="1"/>
          </p:cNvSpPr>
          <p:nvPr/>
        </p:nvSpPr>
        <p:spPr>
          <a:xfrm>
            <a:off x="4423601" y="1543145"/>
            <a:ext cx="114657" cy="91726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64" name="矩形 163">
            <a:extLst>
              <a:ext uri="{FF2B5EF4-FFF2-40B4-BE49-F238E27FC236}">
                <a16:creationId xmlns:a16="http://schemas.microsoft.com/office/drawing/2014/main" id="{F5C036F4-87BA-4DEF-8461-6B4AE2787842}"/>
              </a:ext>
            </a:extLst>
          </p:cNvPr>
          <p:cNvSpPr>
            <a:spLocks noGrp="1"/>
          </p:cNvSpPr>
          <p:nvPr/>
        </p:nvSpPr>
        <p:spPr>
          <a:xfrm>
            <a:off x="4538258" y="1543145"/>
            <a:ext cx="114657" cy="91726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65" name="矩形 164">
            <a:extLst>
              <a:ext uri="{FF2B5EF4-FFF2-40B4-BE49-F238E27FC236}">
                <a16:creationId xmlns:a16="http://schemas.microsoft.com/office/drawing/2014/main" id="{E579212D-153E-4D89-BAAC-24ED0B7C80E4}"/>
              </a:ext>
            </a:extLst>
          </p:cNvPr>
          <p:cNvSpPr>
            <a:spLocks noGrp="1"/>
          </p:cNvSpPr>
          <p:nvPr/>
        </p:nvSpPr>
        <p:spPr>
          <a:xfrm>
            <a:off x="4652915" y="1543145"/>
            <a:ext cx="114657" cy="91726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66" name="矩形 165">
            <a:extLst>
              <a:ext uri="{FF2B5EF4-FFF2-40B4-BE49-F238E27FC236}">
                <a16:creationId xmlns:a16="http://schemas.microsoft.com/office/drawing/2014/main" id="{1BA21E2D-45CB-4346-B4AE-16886F28858E}"/>
              </a:ext>
            </a:extLst>
          </p:cNvPr>
          <p:cNvSpPr>
            <a:spLocks noGrp="1"/>
          </p:cNvSpPr>
          <p:nvPr/>
        </p:nvSpPr>
        <p:spPr>
          <a:xfrm>
            <a:off x="4767572" y="1543145"/>
            <a:ext cx="114657" cy="91726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67" name="矩形 166">
            <a:extLst>
              <a:ext uri="{FF2B5EF4-FFF2-40B4-BE49-F238E27FC236}">
                <a16:creationId xmlns:a16="http://schemas.microsoft.com/office/drawing/2014/main" id="{631898D8-8FBC-467E-9FFB-26DE460FCC0B}"/>
              </a:ext>
            </a:extLst>
          </p:cNvPr>
          <p:cNvSpPr>
            <a:spLocks noGrp="1"/>
          </p:cNvSpPr>
          <p:nvPr/>
        </p:nvSpPr>
        <p:spPr>
          <a:xfrm>
            <a:off x="4423601" y="1634871"/>
            <a:ext cx="114657" cy="91726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68" name="矩形 167">
            <a:extLst>
              <a:ext uri="{FF2B5EF4-FFF2-40B4-BE49-F238E27FC236}">
                <a16:creationId xmlns:a16="http://schemas.microsoft.com/office/drawing/2014/main" id="{57F38521-16F5-4FB4-AEE4-38B5E465FB77}"/>
              </a:ext>
            </a:extLst>
          </p:cNvPr>
          <p:cNvSpPr>
            <a:spLocks noGrp="1"/>
          </p:cNvSpPr>
          <p:nvPr/>
        </p:nvSpPr>
        <p:spPr>
          <a:xfrm>
            <a:off x="4538258" y="1634871"/>
            <a:ext cx="114657" cy="91726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69" name="矩形 168">
            <a:extLst>
              <a:ext uri="{FF2B5EF4-FFF2-40B4-BE49-F238E27FC236}">
                <a16:creationId xmlns:a16="http://schemas.microsoft.com/office/drawing/2014/main" id="{A056CEE5-EBA3-4378-BF27-E797E57EB70F}"/>
              </a:ext>
            </a:extLst>
          </p:cNvPr>
          <p:cNvSpPr>
            <a:spLocks noGrp="1"/>
          </p:cNvSpPr>
          <p:nvPr/>
        </p:nvSpPr>
        <p:spPr>
          <a:xfrm>
            <a:off x="4652915" y="1634871"/>
            <a:ext cx="114657" cy="91726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70" name="矩形 169">
            <a:extLst>
              <a:ext uri="{FF2B5EF4-FFF2-40B4-BE49-F238E27FC236}">
                <a16:creationId xmlns:a16="http://schemas.microsoft.com/office/drawing/2014/main" id="{46070A7C-7144-4334-9C28-EE572F9BC0C9}"/>
              </a:ext>
            </a:extLst>
          </p:cNvPr>
          <p:cNvSpPr>
            <a:spLocks noGrp="1"/>
          </p:cNvSpPr>
          <p:nvPr/>
        </p:nvSpPr>
        <p:spPr>
          <a:xfrm>
            <a:off x="4767572" y="1634871"/>
            <a:ext cx="114657" cy="91726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71" name="C1: 256 × 4">
            <a:extLst>
              <a:ext uri="{FF2B5EF4-FFF2-40B4-BE49-F238E27FC236}">
                <a16:creationId xmlns:a16="http://schemas.microsoft.com/office/drawing/2014/main" id="{69CA6367-2041-42A9-AAFE-4BBEB0B0B4C0}"/>
              </a:ext>
            </a:extLst>
          </p:cNvPr>
          <p:cNvSpPr>
            <a:spLocks noGrp="1"/>
          </p:cNvSpPr>
          <p:nvPr/>
        </p:nvSpPr>
        <p:spPr>
          <a:xfrm>
            <a:off x="4423601" y="1206818"/>
            <a:ext cx="458629" cy="13758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638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38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38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38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38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38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38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38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38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38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638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38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C1: 256 × 4</a:t>
            </a:r>
          </a:p>
        </p:txBody>
      </p:sp>
      <p:sp>
        <p:nvSpPr>
          <p:cNvPr id="172" name="矩形 171">
            <a:extLst>
              <a:ext uri="{FF2B5EF4-FFF2-40B4-BE49-F238E27FC236}">
                <a16:creationId xmlns:a16="http://schemas.microsoft.com/office/drawing/2014/main" id="{47F5C823-8503-4070-A27A-EDA3D16423A4}"/>
              </a:ext>
            </a:extLst>
          </p:cNvPr>
          <p:cNvSpPr>
            <a:spLocks noGrp="1"/>
          </p:cNvSpPr>
          <p:nvPr/>
        </p:nvSpPr>
        <p:spPr>
          <a:xfrm>
            <a:off x="4423601" y="1359694"/>
            <a:ext cx="458629" cy="366903"/>
          </a:xfrm>
          <a:prstGeom prst="rect">
            <a:avLst/>
          </a:prstGeom>
          <a:noFill/>
          <a:ln w="7620">
            <a:noFill/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73" name="矩形 172">
            <a:extLst>
              <a:ext uri="{FF2B5EF4-FFF2-40B4-BE49-F238E27FC236}">
                <a16:creationId xmlns:a16="http://schemas.microsoft.com/office/drawing/2014/main" id="{713494B5-21A1-4ADE-9187-22F63815CEE4}"/>
              </a:ext>
            </a:extLst>
          </p:cNvPr>
          <p:cNvSpPr>
            <a:spLocks noGrp="1"/>
          </p:cNvSpPr>
          <p:nvPr/>
        </p:nvSpPr>
        <p:spPr>
          <a:xfrm>
            <a:off x="5101352" y="1359694"/>
            <a:ext cx="114657" cy="91726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74" name="矩形 173">
            <a:extLst>
              <a:ext uri="{FF2B5EF4-FFF2-40B4-BE49-F238E27FC236}">
                <a16:creationId xmlns:a16="http://schemas.microsoft.com/office/drawing/2014/main" id="{5B1338F9-29D4-4049-BA00-221799593B8E}"/>
              </a:ext>
            </a:extLst>
          </p:cNvPr>
          <p:cNvSpPr>
            <a:spLocks noGrp="1"/>
          </p:cNvSpPr>
          <p:nvPr/>
        </p:nvSpPr>
        <p:spPr>
          <a:xfrm>
            <a:off x="5216009" y="1359694"/>
            <a:ext cx="114657" cy="91726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75" name="矩形 174">
            <a:extLst>
              <a:ext uri="{FF2B5EF4-FFF2-40B4-BE49-F238E27FC236}">
                <a16:creationId xmlns:a16="http://schemas.microsoft.com/office/drawing/2014/main" id="{598D5C85-9EDF-44FA-8EDF-B1B070719D1F}"/>
              </a:ext>
            </a:extLst>
          </p:cNvPr>
          <p:cNvSpPr>
            <a:spLocks noGrp="1"/>
          </p:cNvSpPr>
          <p:nvPr/>
        </p:nvSpPr>
        <p:spPr>
          <a:xfrm>
            <a:off x="5330666" y="1359694"/>
            <a:ext cx="114657" cy="91726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76" name="矩形 175">
            <a:extLst>
              <a:ext uri="{FF2B5EF4-FFF2-40B4-BE49-F238E27FC236}">
                <a16:creationId xmlns:a16="http://schemas.microsoft.com/office/drawing/2014/main" id="{18BAB049-9D9C-47CC-BB67-9725833B9B50}"/>
              </a:ext>
            </a:extLst>
          </p:cNvPr>
          <p:cNvSpPr>
            <a:spLocks noGrp="1"/>
          </p:cNvSpPr>
          <p:nvPr/>
        </p:nvSpPr>
        <p:spPr>
          <a:xfrm>
            <a:off x="5445323" y="1359694"/>
            <a:ext cx="114657" cy="91726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77" name="矩形 176">
            <a:extLst>
              <a:ext uri="{FF2B5EF4-FFF2-40B4-BE49-F238E27FC236}">
                <a16:creationId xmlns:a16="http://schemas.microsoft.com/office/drawing/2014/main" id="{038DB336-984E-4FD5-8014-07700EBA38A7}"/>
              </a:ext>
            </a:extLst>
          </p:cNvPr>
          <p:cNvSpPr>
            <a:spLocks noGrp="1"/>
          </p:cNvSpPr>
          <p:nvPr/>
        </p:nvSpPr>
        <p:spPr>
          <a:xfrm>
            <a:off x="5101352" y="1451420"/>
            <a:ext cx="114657" cy="91726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78" name="矩形 177">
            <a:extLst>
              <a:ext uri="{FF2B5EF4-FFF2-40B4-BE49-F238E27FC236}">
                <a16:creationId xmlns:a16="http://schemas.microsoft.com/office/drawing/2014/main" id="{AA83EEBD-4BC1-4A32-948D-406395C36A38}"/>
              </a:ext>
            </a:extLst>
          </p:cNvPr>
          <p:cNvSpPr>
            <a:spLocks noGrp="1"/>
          </p:cNvSpPr>
          <p:nvPr/>
        </p:nvSpPr>
        <p:spPr>
          <a:xfrm>
            <a:off x="5216009" y="1451420"/>
            <a:ext cx="114657" cy="91726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79" name="矩形 178">
            <a:extLst>
              <a:ext uri="{FF2B5EF4-FFF2-40B4-BE49-F238E27FC236}">
                <a16:creationId xmlns:a16="http://schemas.microsoft.com/office/drawing/2014/main" id="{5F5AA8E8-CE3B-4389-B859-68C664103899}"/>
              </a:ext>
            </a:extLst>
          </p:cNvPr>
          <p:cNvSpPr>
            <a:spLocks noGrp="1"/>
          </p:cNvSpPr>
          <p:nvPr/>
        </p:nvSpPr>
        <p:spPr>
          <a:xfrm>
            <a:off x="5330666" y="1451420"/>
            <a:ext cx="114657" cy="91726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80" name="矩形 179">
            <a:extLst>
              <a:ext uri="{FF2B5EF4-FFF2-40B4-BE49-F238E27FC236}">
                <a16:creationId xmlns:a16="http://schemas.microsoft.com/office/drawing/2014/main" id="{7DC4D634-EFF5-4504-AB96-85954D1F1328}"/>
              </a:ext>
            </a:extLst>
          </p:cNvPr>
          <p:cNvSpPr>
            <a:spLocks noGrp="1"/>
          </p:cNvSpPr>
          <p:nvPr/>
        </p:nvSpPr>
        <p:spPr>
          <a:xfrm>
            <a:off x="5445323" y="1451420"/>
            <a:ext cx="114657" cy="91726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81" name="矩形 180">
            <a:extLst>
              <a:ext uri="{FF2B5EF4-FFF2-40B4-BE49-F238E27FC236}">
                <a16:creationId xmlns:a16="http://schemas.microsoft.com/office/drawing/2014/main" id="{F071A514-4E2A-4C6E-8044-2C9BE25E2D10}"/>
              </a:ext>
            </a:extLst>
          </p:cNvPr>
          <p:cNvSpPr>
            <a:spLocks noGrp="1"/>
          </p:cNvSpPr>
          <p:nvPr/>
        </p:nvSpPr>
        <p:spPr>
          <a:xfrm>
            <a:off x="5101352" y="1543145"/>
            <a:ext cx="114657" cy="91726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82" name="矩形 181">
            <a:extLst>
              <a:ext uri="{FF2B5EF4-FFF2-40B4-BE49-F238E27FC236}">
                <a16:creationId xmlns:a16="http://schemas.microsoft.com/office/drawing/2014/main" id="{D86FAA08-3A9C-4C26-BD9C-3E5205EB7A96}"/>
              </a:ext>
            </a:extLst>
          </p:cNvPr>
          <p:cNvSpPr>
            <a:spLocks noGrp="1"/>
          </p:cNvSpPr>
          <p:nvPr/>
        </p:nvSpPr>
        <p:spPr>
          <a:xfrm>
            <a:off x="5216009" y="1543145"/>
            <a:ext cx="114657" cy="91726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83" name="矩形 182">
            <a:extLst>
              <a:ext uri="{FF2B5EF4-FFF2-40B4-BE49-F238E27FC236}">
                <a16:creationId xmlns:a16="http://schemas.microsoft.com/office/drawing/2014/main" id="{82D1C623-5A0B-4C6F-8C13-D7A18ECF778B}"/>
              </a:ext>
            </a:extLst>
          </p:cNvPr>
          <p:cNvSpPr>
            <a:spLocks noGrp="1"/>
          </p:cNvSpPr>
          <p:nvPr/>
        </p:nvSpPr>
        <p:spPr>
          <a:xfrm>
            <a:off x="5330666" y="1543145"/>
            <a:ext cx="114657" cy="91726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84" name="矩形 183">
            <a:extLst>
              <a:ext uri="{FF2B5EF4-FFF2-40B4-BE49-F238E27FC236}">
                <a16:creationId xmlns:a16="http://schemas.microsoft.com/office/drawing/2014/main" id="{AE051A4F-6C58-4B3A-8DB3-79B98F3DDF51}"/>
              </a:ext>
            </a:extLst>
          </p:cNvPr>
          <p:cNvSpPr>
            <a:spLocks noGrp="1"/>
          </p:cNvSpPr>
          <p:nvPr/>
        </p:nvSpPr>
        <p:spPr>
          <a:xfrm>
            <a:off x="5445323" y="1543145"/>
            <a:ext cx="114657" cy="91726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85" name="矩形 184">
            <a:extLst>
              <a:ext uri="{FF2B5EF4-FFF2-40B4-BE49-F238E27FC236}">
                <a16:creationId xmlns:a16="http://schemas.microsoft.com/office/drawing/2014/main" id="{0A517F4D-0DDA-4FF3-9FE5-DD308A3DE292}"/>
              </a:ext>
            </a:extLst>
          </p:cNvPr>
          <p:cNvSpPr>
            <a:spLocks noGrp="1"/>
          </p:cNvSpPr>
          <p:nvPr/>
        </p:nvSpPr>
        <p:spPr>
          <a:xfrm>
            <a:off x="5101352" y="1634871"/>
            <a:ext cx="114657" cy="91726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86" name="矩形 185">
            <a:extLst>
              <a:ext uri="{FF2B5EF4-FFF2-40B4-BE49-F238E27FC236}">
                <a16:creationId xmlns:a16="http://schemas.microsoft.com/office/drawing/2014/main" id="{B9FAEC1A-DAF7-4DC0-85EB-CAFF6D6E0B8E}"/>
              </a:ext>
            </a:extLst>
          </p:cNvPr>
          <p:cNvSpPr>
            <a:spLocks noGrp="1"/>
          </p:cNvSpPr>
          <p:nvPr/>
        </p:nvSpPr>
        <p:spPr>
          <a:xfrm>
            <a:off x="5216009" y="1634871"/>
            <a:ext cx="114657" cy="91726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87" name="矩形 186">
            <a:extLst>
              <a:ext uri="{FF2B5EF4-FFF2-40B4-BE49-F238E27FC236}">
                <a16:creationId xmlns:a16="http://schemas.microsoft.com/office/drawing/2014/main" id="{DAF422D2-AA3A-4DE2-B5D2-EF0A70E9215D}"/>
              </a:ext>
            </a:extLst>
          </p:cNvPr>
          <p:cNvSpPr>
            <a:spLocks noGrp="1"/>
          </p:cNvSpPr>
          <p:nvPr/>
        </p:nvSpPr>
        <p:spPr>
          <a:xfrm>
            <a:off x="5330666" y="1634871"/>
            <a:ext cx="114657" cy="91726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88" name="矩形 187">
            <a:extLst>
              <a:ext uri="{FF2B5EF4-FFF2-40B4-BE49-F238E27FC236}">
                <a16:creationId xmlns:a16="http://schemas.microsoft.com/office/drawing/2014/main" id="{783D51CB-E10C-424E-8D0A-E4E3B3DC5628}"/>
              </a:ext>
            </a:extLst>
          </p:cNvPr>
          <p:cNvSpPr>
            <a:spLocks noGrp="1"/>
          </p:cNvSpPr>
          <p:nvPr/>
        </p:nvSpPr>
        <p:spPr>
          <a:xfrm>
            <a:off x="5445323" y="1634871"/>
            <a:ext cx="114657" cy="91726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89" name="C2: 256 × 4">
            <a:extLst>
              <a:ext uri="{FF2B5EF4-FFF2-40B4-BE49-F238E27FC236}">
                <a16:creationId xmlns:a16="http://schemas.microsoft.com/office/drawing/2014/main" id="{88575A5C-6EDD-4607-B238-E24F1C8C45B6}"/>
              </a:ext>
            </a:extLst>
          </p:cNvPr>
          <p:cNvSpPr>
            <a:spLocks noGrp="1"/>
          </p:cNvSpPr>
          <p:nvPr/>
        </p:nvSpPr>
        <p:spPr>
          <a:xfrm>
            <a:off x="5101352" y="1206818"/>
            <a:ext cx="458629" cy="13758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638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38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38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38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38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38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38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38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38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38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638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38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C2: 256 × 4</a:t>
            </a:r>
          </a:p>
        </p:txBody>
      </p:sp>
      <p:sp>
        <p:nvSpPr>
          <p:cNvPr id="190" name="矩形 189">
            <a:extLst>
              <a:ext uri="{FF2B5EF4-FFF2-40B4-BE49-F238E27FC236}">
                <a16:creationId xmlns:a16="http://schemas.microsoft.com/office/drawing/2014/main" id="{AA0FB99E-0471-43E1-9261-960D08259EE5}"/>
              </a:ext>
            </a:extLst>
          </p:cNvPr>
          <p:cNvSpPr>
            <a:spLocks noGrp="1"/>
          </p:cNvSpPr>
          <p:nvPr/>
        </p:nvSpPr>
        <p:spPr>
          <a:xfrm>
            <a:off x="5101352" y="1359694"/>
            <a:ext cx="458629" cy="366903"/>
          </a:xfrm>
          <a:prstGeom prst="rect">
            <a:avLst/>
          </a:prstGeom>
          <a:noFill/>
          <a:ln w="7620">
            <a:noFill/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91" name="i1">
            <a:extLst>
              <a:ext uri="{FF2B5EF4-FFF2-40B4-BE49-F238E27FC236}">
                <a16:creationId xmlns:a16="http://schemas.microsoft.com/office/drawing/2014/main" id="{29D5DECE-2BC8-44B2-B4DF-92EE80CCA2D0}"/>
              </a:ext>
            </a:extLst>
          </p:cNvPr>
          <p:cNvSpPr>
            <a:spLocks noGrp="1"/>
          </p:cNvSpPr>
          <p:nvPr/>
        </p:nvSpPr>
        <p:spPr>
          <a:xfrm>
            <a:off x="4423601" y="1981391"/>
            <a:ext cx="458629" cy="142685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82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i1</a:t>
            </a:r>
          </a:p>
        </p:txBody>
      </p:sp>
      <p:sp>
        <p:nvSpPr>
          <p:cNvPr id="192" name="i2">
            <a:extLst>
              <a:ext uri="{FF2B5EF4-FFF2-40B4-BE49-F238E27FC236}">
                <a16:creationId xmlns:a16="http://schemas.microsoft.com/office/drawing/2014/main" id="{29519C69-B692-4680-A8C2-A59D376573C9}"/>
              </a:ext>
            </a:extLst>
          </p:cNvPr>
          <p:cNvSpPr>
            <a:spLocks noGrp="1"/>
          </p:cNvSpPr>
          <p:nvPr/>
        </p:nvSpPr>
        <p:spPr>
          <a:xfrm>
            <a:off x="5101352" y="1981391"/>
            <a:ext cx="458629" cy="142685"/>
          </a:xfrm>
          <a:prstGeom prst="rect">
            <a:avLst/>
          </a:prstGeom>
          <a:solidFill>
            <a:srgbClr val="DAEFE6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82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i2</a:t>
            </a:r>
          </a:p>
        </p:txBody>
      </p:sp>
      <p:sp>
        <p:nvSpPr>
          <p:cNvPr id="193" name="矩形 192">
            <a:extLst>
              <a:ext uri="{FF2B5EF4-FFF2-40B4-BE49-F238E27FC236}">
                <a16:creationId xmlns:a16="http://schemas.microsoft.com/office/drawing/2014/main" id="{B7BE886E-9065-49C0-9C10-F1D8D968C1F6}"/>
              </a:ext>
            </a:extLst>
          </p:cNvPr>
          <p:cNvSpPr>
            <a:spLocks noGrp="1"/>
          </p:cNvSpPr>
          <p:nvPr/>
        </p:nvSpPr>
        <p:spPr>
          <a:xfrm>
            <a:off x="4423601" y="2261664"/>
            <a:ext cx="86630" cy="101918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94" name="矩形 193">
            <a:extLst>
              <a:ext uri="{FF2B5EF4-FFF2-40B4-BE49-F238E27FC236}">
                <a16:creationId xmlns:a16="http://schemas.microsoft.com/office/drawing/2014/main" id="{539BF576-24AD-41ED-AB07-BE6F59E1C6D3}"/>
              </a:ext>
            </a:extLst>
          </p:cNvPr>
          <p:cNvSpPr>
            <a:spLocks noGrp="1"/>
          </p:cNvSpPr>
          <p:nvPr/>
        </p:nvSpPr>
        <p:spPr>
          <a:xfrm>
            <a:off x="4510230" y="2261664"/>
            <a:ext cx="86630" cy="101918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95" name="矩形 194">
            <a:extLst>
              <a:ext uri="{FF2B5EF4-FFF2-40B4-BE49-F238E27FC236}">
                <a16:creationId xmlns:a16="http://schemas.microsoft.com/office/drawing/2014/main" id="{F0FA72A0-E5D0-49C0-BEAB-C161647BC71F}"/>
              </a:ext>
            </a:extLst>
          </p:cNvPr>
          <p:cNvSpPr>
            <a:spLocks noGrp="1"/>
          </p:cNvSpPr>
          <p:nvPr/>
        </p:nvSpPr>
        <p:spPr>
          <a:xfrm>
            <a:off x="4596860" y="2261664"/>
            <a:ext cx="86630" cy="101918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96" name="矩形 195">
            <a:extLst>
              <a:ext uri="{FF2B5EF4-FFF2-40B4-BE49-F238E27FC236}">
                <a16:creationId xmlns:a16="http://schemas.microsoft.com/office/drawing/2014/main" id="{5D154D3B-7D0D-4753-B48C-DD5B278178D5}"/>
              </a:ext>
            </a:extLst>
          </p:cNvPr>
          <p:cNvSpPr>
            <a:spLocks noGrp="1"/>
          </p:cNvSpPr>
          <p:nvPr/>
        </p:nvSpPr>
        <p:spPr>
          <a:xfrm>
            <a:off x="4683490" y="2261664"/>
            <a:ext cx="86630" cy="101918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97" name="矩形 196">
            <a:extLst>
              <a:ext uri="{FF2B5EF4-FFF2-40B4-BE49-F238E27FC236}">
                <a16:creationId xmlns:a16="http://schemas.microsoft.com/office/drawing/2014/main" id="{305A2EF6-9856-4188-BEE5-0C57B5812C20}"/>
              </a:ext>
            </a:extLst>
          </p:cNvPr>
          <p:cNvSpPr>
            <a:spLocks noGrp="1"/>
          </p:cNvSpPr>
          <p:nvPr/>
        </p:nvSpPr>
        <p:spPr>
          <a:xfrm>
            <a:off x="4423601" y="2261664"/>
            <a:ext cx="346520" cy="101918"/>
          </a:xfrm>
          <a:prstGeom prst="rect">
            <a:avLst/>
          </a:prstGeom>
          <a:noFill/>
          <a:ln w="7620">
            <a:noFill/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98" name="矩形 197">
            <a:extLst>
              <a:ext uri="{FF2B5EF4-FFF2-40B4-BE49-F238E27FC236}">
                <a16:creationId xmlns:a16="http://schemas.microsoft.com/office/drawing/2014/main" id="{2AB18293-27B8-4DF2-9544-AD9FD1808BBF}"/>
              </a:ext>
            </a:extLst>
          </p:cNvPr>
          <p:cNvSpPr>
            <a:spLocks noGrp="1"/>
          </p:cNvSpPr>
          <p:nvPr/>
        </p:nvSpPr>
        <p:spPr>
          <a:xfrm>
            <a:off x="5208365" y="2261664"/>
            <a:ext cx="86630" cy="101918"/>
          </a:xfrm>
          <a:prstGeom prst="rect">
            <a:avLst/>
          </a:prstGeom>
          <a:solidFill>
            <a:srgbClr val="DAEFE6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99" name="矩形 198">
            <a:extLst>
              <a:ext uri="{FF2B5EF4-FFF2-40B4-BE49-F238E27FC236}">
                <a16:creationId xmlns:a16="http://schemas.microsoft.com/office/drawing/2014/main" id="{458D14CD-0DA7-4DDE-986C-E9540F3985AC}"/>
              </a:ext>
            </a:extLst>
          </p:cNvPr>
          <p:cNvSpPr>
            <a:spLocks noGrp="1"/>
          </p:cNvSpPr>
          <p:nvPr/>
        </p:nvSpPr>
        <p:spPr>
          <a:xfrm>
            <a:off x="5294995" y="2261664"/>
            <a:ext cx="86630" cy="101918"/>
          </a:xfrm>
          <a:prstGeom prst="rect">
            <a:avLst/>
          </a:prstGeom>
          <a:solidFill>
            <a:srgbClr val="DAEFE6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00" name="矩形 199">
            <a:extLst>
              <a:ext uri="{FF2B5EF4-FFF2-40B4-BE49-F238E27FC236}">
                <a16:creationId xmlns:a16="http://schemas.microsoft.com/office/drawing/2014/main" id="{86C31189-58AC-4C16-A23B-D026EA586863}"/>
              </a:ext>
            </a:extLst>
          </p:cNvPr>
          <p:cNvSpPr>
            <a:spLocks noGrp="1"/>
          </p:cNvSpPr>
          <p:nvPr/>
        </p:nvSpPr>
        <p:spPr>
          <a:xfrm>
            <a:off x="5381625" y="2261664"/>
            <a:ext cx="86630" cy="101918"/>
          </a:xfrm>
          <a:prstGeom prst="rect">
            <a:avLst/>
          </a:prstGeom>
          <a:solidFill>
            <a:srgbClr val="DAEFE6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01" name="矩形 200">
            <a:extLst>
              <a:ext uri="{FF2B5EF4-FFF2-40B4-BE49-F238E27FC236}">
                <a16:creationId xmlns:a16="http://schemas.microsoft.com/office/drawing/2014/main" id="{1D0A2BF8-3CBD-4985-A2A4-B381EEA7444B}"/>
              </a:ext>
            </a:extLst>
          </p:cNvPr>
          <p:cNvSpPr>
            <a:spLocks noGrp="1"/>
          </p:cNvSpPr>
          <p:nvPr/>
        </p:nvSpPr>
        <p:spPr>
          <a:xfrm>
            <a:off x="5468255" y="2261664"/>
            <a:ext cx="86630" cy="101918"/>
          </a:xfrm>
          <a:prstGeom prst="rect">
            <a:avLst/>
          </a:prstGeom>
          <a:solidFill>
            <a:srgbClr val="DAEFE6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02" name="矩形 201">
            <a:extLst>
              <a:ext uri="{FF2B5EF4-FFF2-40B4-BE49-F238E27FC236}">
                <a16:creationId xmlns:a16="http://schemas.microsoft.com/office/drawing/2014/main" id="{69F3F2B8-9082-4065-9285-B549848ADE54}"/>
              </a:ext>
            </a:extLst>
          </p:cNvPr>
          <p:cNvSpPr>
            <a:spLocks noGrp="1"/>
          </p:cNvSpPr>
          <p:nvPr/>
        </p:nvSpPr>
        <p:spPr>
          <a:xfrm>
            <a:off x="5208365" y="2261664"/>
            <a:ext cx="346520" cy="101918"/>
          </a:xfrm>
          <a:prstGeom prst="rect">
            <a:avLst/>
          </a:prstGeom>
          <a:noFill/>
          <a:ln w="7620">
            <a:noFill/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03" name="椭圆 202">
            <a:extLst>
              <a:ext uri="{FF2B5EF4-FFF2-40B4-BE49-F238E27FC236}">
                <a16:creationId xmlns:a16="http://schemas.microsoft.com/office/drawing/2014/main" id="{2D0C697A-FC6E-4E47-A933-BBE77477A8F3}"/>
              </a:ext>
            </a:extLst>
          </p:cNvPr>
          <p:cNvSpPr>
            <a:spLocks noGrp="1"/>
          </p:cNvSpPr>
          <p:nvPr/>
        </p:nvSpPr>
        <p:spPr>
          <a:xfrm>
            <a:off x="4933188" y="2363581"/>
            <a:ext cx="178356" cy="178356"/>
          </a:xfrm>
          <a:prstGeom prst="ellipse">
            <a:avLst/>
          </a:prstGeom>
          <a:solidFill>
            <a:srgbClr val="FFFFFF"/>
          </a:solidFill>
          <a:ln w="7620">
            <a:solidFill>
              <a:srgbClr val="18222F"/>
            </a:solidFill>
          </a:ln>
        </p:spPr>
        <p:txBody>
          <a:bodyPr lIns="0" tIns="0" rIns="0" bIns="0" anchor="ctr"/>
          <a:lstStyle>
            <a:defPPr algn="ctr">
              <a:defRPr sz="1083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1083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1083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1083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1083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1083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1083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1083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1083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1083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083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083">
                <a:solidFill>
                  <a:srgbClr val="18222F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204" name="two additive codebooks">
            <a:extLst>
              <a:ext uri="{FF2B5EF4-FFF2-40B4-BE49-F238E27FC236}">
                <a16:creationId xmlns:a16="http://schemas.microsoft.com/office/drawing/2014/main" id="{FEE66DB1-6ADE-45E4-AAB7-B0397C842A1E}"/>
              </a:ext>
            </a:extLst>
          </p:cNvPr>
          <p:cNvSpPr>
            <a:spLocks noGrp="1"/>
          </p:cNvSpPr>
          <p:nvPr/>
        </p:nvSpPr>
        <p:spPr>
          <a:xfrm>
            <a:off x="4362450" y="1048417"/>
            <a:ext cx="1248442" cy="12744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60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0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0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0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0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0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0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0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0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0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60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two additive codebooks</a:t>
            </a:r>
          </a:p>
        </p:txBody>
      </p:sp>
      <p:sp>
        <p:nvSpPr>
          <p:cNvPr id="205" name="Ŵ[r,b] = gᵣ 2ᵉʳᵇ (C1[i1] + C2[i2])">
            <a:extLst>
              <a:ext uri="{FF2B5EF4-FFF2-40B4-BE49-F238E27FC236}">
                <a16:creationId xmlns:a16="http://schemas.microsoft.com/office/drawing/2014/main" id="{29D459C6-9F17-4250-BF02-4BB5F8EE3101}"/>
              </a:ext>
            </a:extLst>
          </p:cNvPr>
          <p:cNvSpPr>
            <a:spLocks noGrp="1"/>
          </p:cNvSpPr>
          <p:nvPr/>
        </p:nvSpPr>
        <p:spPr>
          <a:xfrm>
            <a:off x="1039940" y="2022158"/>
            <a:ext cx="2904649" cy="315944"/>
          </a:xfrm>
          <a:prstGeom prst="rect">
            <a:avLst/>
          </a:prstGeom>
          <a:solidFill>
            <a:srgbClr val="FFFFFF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112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112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112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112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112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112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112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112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112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112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124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Ŵ[r,b] = gᵣ 2ᵉʳᵇ (C1[i1] + C2[i2])</a:t>
            </a:r>
          </a:p>
        </p:txBody>
      </p:sp>
      <p:sp>
        <p:nvSpPr>
          <p:cNvPr id="206" name="gᵣ: row gain&#10;(trainable)">
            <a:extLst>
              <a:ext uri="{FF2B5EF4-FFF2-40B4-BE49-F238E27FC236}">
                <a16:creationId xmlns:a16="http://schemas.microsoft.com/office/drawing/2014/main" id="{1F2CF123-97F1-498E-A704-A0CEE95B7654}"/>
              </a:ext>
            </a:extLst>
          </p:cNvPr>
          <p:cNvSpPr>
            <a:spLocks noGrp="1"/>
          </p:cNvSpPr>
          <p:nvPr/>
        </p:nvSpPr>
        <p:spPr>
          <a:xfrm>
            <a:off x="1304925" y="2455307"/>
            <a:ext cx="738902" cy="305753"/>
          </a:xfrm>
          <a:prstGeom prst="rect">
            <a:avLst/>
          </a:prstGeom>
          <a:solidFill>
            <a:srgbClr val="F9E2C4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gᵣ: row gain</a:t>
            </a:r>
          </a:p>
          <a:p>
            <a: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(trainable)</a:t>
            </a:r>
          </a:p>
        </p:txBody>
      </p:sp>
      <p:sp>
        <p:nvSpPr>
          <p:cNvPr id="207" name="eᵣᵦ: B32 exponent&#10;(stored, frozen)">
            <a:extLst>
              <a:ext uri="{FF2B5EF4-FFF2-40B4-BE49-F238E27FC236}">
                <a16:creationId xmlns:a16="http://schemas.microsoft.com/office/drawing/2014/main" id="{CB234134-280F-47AC-BDDD-41E3E4878F2C}"/>
              </a:ext>
            </a:extLst>
          </p:cNvPr>
          <p:cNvSpPr>
            <a:spLocks noGrp="1"/>
          </p:cNvSpPr>
          <p:nvPr/>
        </p:nvSpPr>
        <p:spPr>
          <a:xfrm>
            <a:off x="2145744" y="2455307"/>
            <a:ext cx="1146572" cy="305753"/>
          </a:xfrm>
          <a:prstGeom prst="rect">
            <a:avLst/>
          </a:prstGeom>
          <a:solidFill>
            <a:srgbClr val="EDF0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eᵣᵦ: B32 exponent</a:t>
            </a:r>
          </a:p>
          <a:p>
            <a: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(stored, frozen)</a:t>
            </a:r>
          </a:p>
        </p:txBody>
      </p:sp>
      <p:sp>
        <p:nvSpPr>
          <p:cNvPr id="208" name="~4.27 effective bpw">
            <a:extLst>
              <a:ext uri="{FF2B5EF4-FFF2-40B4-BE49-F238E27FC236}">
                <a16:creationId xmlns:a16="http://schemas.microsoft.com/office/drawing/2014/main" id="{36248513-F901-4947-82FC-91781340A3CA}"/>
              </a:ext>
            </a:extLst>
          </p:cNvPr>
          <p:cNvSpPr>
            <a:spLocks noGrp="1"/>
          </p:cNvSpPr>
          <p:nvPr/>
        </p:nvSpPr>
        <p:spPr>
          <a:xfrm>
            <a:off x="3496151" y="2521553"/>
            <a:ext cx="1885474" cy="20383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0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10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10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10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10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10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10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10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10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10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0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00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~4.27 effective bpw</a:t>
            </a:r>
          </a:p>
        </p:txBody>
      </p:sp>
      <p:sp>
        <p:nvSpPr>
          <p:cNvPr id="209" name="Xₜ = X S⁻¹ R,   Wₜ = W S R,   R = H128 U128">
            <a:extLst>
              <a:ext uri="{FF2B5EF4-FFF2-40B4-BE49-F238E27FC236}">
                <a16:creationId xmlns:a16="http://schemas.microsoft.com/office/drawing/2014/main" id="{7B7BA015-6874-46F5-B481-A2DE5846C75D}"/>
              </a:ext>
            </a:extLst>
          </p:cNvPr>
          <p:cNvSpPr>
            <a:spLocks noGrp="1"/>
          </p:cNvSpPr>
          <p:nvPr/>
        </p:nvSpPr>
        <p:spPr>
          <a:xfrm>
            <a:off x="362188" y="2837498"/>
            <a:ext cx="5197793" cy="163068"/>
          </a:xfrm>
          <a:prstGeom prst="rect">
            <a:avLst/>
          </a:prstGeom>
          <a:solidFill>
            <a:srgbClr val="EDF0F3"/>
          </a:solidFill>
          <a:ln w="7620">
            <a:noFill/>
          </a:ln>
        </p:spPr>
        <p:txBody>
          <a:bodyPr lIns="28575" tIns="28575" rIns="28575" bIns="28575" anchor="ctr">
            <a:noAutofit/>
          </a:bodyPr>
          <a:lstStyle>
            <a:def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92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Xₜ = X S⁻¹ R,   Wₜ = W S R,   R = H128 U128</a:t>
            </a:r>
          </a:p>
        </p:txBody>
      </p:sp>
      <p:sp>
        <p:nvSpPr>
          <p:cNvPr id="210" name="(b) Activation-first calibration">
            <a:extLst>
              <a:ext uri="{FF2B5EF4-FFF2-40B4-BE49-F238E27FC236}">
                <a16:creationId xmlns:a16="http://schemas.microsoft.com/office/drawing/2014/main" id="{4CDD56C7-A6D1-4C59-B474-B69EF6424DF2}"/>
              </a:ext>
            </a:extLst>
          </p:cNvPr>
          <p:cNvSpPr>
            <a:spLocks noGrp="1"/>
          </p:cNvSpPr>
          <p:nvPr/>
        </p:nvSpPr>
        <p:spPr>
          <a:xfrm>
            <a:off x="5718334" y="111204"/>
            <a:ext cx="2981087" cy="17835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08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(b) Activation-first calibration</a:t>
            </a:r>
          </a:p>
        </p:txBody>
      </p:sp>
      <p:cxnSp>
        <p:nvCxnSpPr>
          <p:cNvPr id="211" name="直接箭头连接符 210">
            <a:extLst>
              <a:ext uri="{FF2B5EF4-FFF2-40B4-BE49-F238E27FC236}">
                <a16:creationId xmlns:a16="http://schemas.microsoft.com/office/drawing/2014/main" id="{71F890B2-CD66-46FB-9566-83101FAB5409}"/>
              </a:ext>
            </a:extLst>
          </p:cNvPr>
          <p:cNvCxnSpPr/>
          <p:nvPr/>
        </p:nvCxnSpPr>
        <p:spPr>
          <a:xfrm>
            <a:off x="5708142" y="315039"/>
            <a:ext cx="3001470" cy="0"/>
          </a:xfrm>
          <a:prstGeom prst="straightConnector1">
            <a:avLst/>
          </a:prstGeom>
          <a:ln w="4077">
            <a:solidFill>
              <a:srgbClr val="697681"/>
            </a:solidFill>
            <a:prstDash val="solid"/>
          </a:ln>
        </p:spPr>
      </p:cxnSp>
      <p:sp>
        <p:nvSpPr>
          <p:cNvPr id="212" name="Stage 1: learn U128; 8 updates">
            <a:extLst>
              <a:ext uri="{FF2B5EF4-FFF2-40B4-BE49-F238E27FC236}">
                <a16:creationId xmlns:a16="http://schemas.microsoft.com/office/drawing/2014/main" id="{70DEC2F2-24A9-40D6-A990-A854ADB140CB}"/>
              </a:ext>
            </a:extLst>
          </p:cNvPr>
          <p:cNvSpPr>
            <a:spLocks noGrp="1"/>
          </p:cNvSpPr>
          <p:nvPr/>
        </p:nvSpPr>
        <p:spPr>
          <a:xfrm>
            <a:off x="5743813" y="381286"/>
            <a:ext cx="2930128" cy="219123"/>
          </a:xfrm>
          <a:prstGeom prst="rect">
            <a:avLst/>
          </a:prstGeom>
          <a:solidFill>
            <a:srgbClr val="DCEBFA"/>
          </a:solidFill>
          <a:ln w="7620">
            <a:noFill/>
          </a:ln>
        </p:spPr>
        <p:txBody>
          <a:bodyPr lIns="28575" tIns="28575" rIns="28575" bIns="28575" anchor="ctr">
            <a:noAutofit/>
          </a:bodyPr>
          <a:lstStyle>
            <a:defPPr algn="ctr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92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Stage 1: learn U128; 8 updates</a:t>
            </a:r>
          </a:p>
        </p:txBody>
      </p:sp>
      <p:sp>
        <p:nvSpPr>
          <p:cNvPr id="213" name="W16A4 • action + future loss">
            <a:extLst>
              <a:ext uri="{FF2B5EF4-FFF2-40B4-BE49-F238E27FC236}">
                <a16:creationId xmlns:a16="http://schemas.microsoft.com/office/drawing/2014/main" id="{06985B85-C366-48FE-95CC-4E44338011C8}"/>
              </a:ext>
            </a:extLst>
          </p:cNvPr>
          <p:cNvSpPr>
            <a:spLocks noGrp="1"/>
          </p:cNvSpPr>
          <p:nvPr/>
        </p:nvSpPr>
        <p:spPr>
          <a:xfrm>
            <a:off x="5779484" y="615696"/>
            <a:ext cx="2828211" cy="13758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76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76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76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76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76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76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76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76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76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76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76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762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W16A4 • action + future loss</a:t>
            </a:r>
          </a:p>
        </p:txBody>
      </p:sp>
      <p:sp>
        <p:nvSpPr>
          <p:cNvPr id="214" name="S&#10;frozen">
            <a:extLst>
              <a:ext uri="{FF2B5EF4-FFF2-40B4-BE49-F238E27FC236}">
                <a16:creationId xmlns:a16="http://schemas.microsoft.com/office/drawing/2014/main" id="{F6192FD6-AE64-4DB9-BB57-B51BF414344A}"/>
              </a:ext>
            </a:extLst>
          </p:cNvPr>
          <p:cNvSpPr>
            <a:spLocks noGrp="1"/>
          </p:cNvSpPr>
          <p:nvPr/>
        </p:nvSpPr>
        <p:spPr>
          <a:xfrm>
            <a:off x="6253401" y="809339"/>
            <a:ext cx="366903" cy="295561"/>
          </a:xfrm>
          <a:prstGeom prst="rect">
            <a:avLst/>
          </a:prstGeom>
          <a:solidFill>
            <a:srgbClr val="EDF0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S</a:t>
            </a:r>
          </a:p>
          <a:p>
            <a: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frozen</a:t>
            </a:r>
          </a:p>
        </p:txBody>
      </p:sp>
      <p:sp>
        <p:nvSpPr>
          <p:cNvPr id="215" name="H128&#10;frozen">
            <a:extLst>
              <a:ext uri="{FF2B5EF4-FFF2-40B4-BE49-F238E27FC236}">
                <a16:creationId xmlns:a16="http://schemas.microsoft.com/office/drawing/2014/main" id="{15DA10D6-FBDC-4C19-B370-1BEEA1F9C6F1}"/>
              </a:ext>
            </a:extLst>
          </p:cNvPr>
          <p:cNvSpPr>
            <a:spLocks noGrp="1"/>
          </p:cNvSpPr>
          <p:nvPr/>
        </p:nvSpPr>
        <p:spPr>
          <a:xfrm>
            <a:off x="6742605" y="809339"/>
            <a:ext cx="433149" cy="295561"/>
          </a:xfrm>
          <a:prstGeom prst="rect">
            <a:avLst/>
          </a:prstGeom>
          <a:solidFill>
            <a:srgbClr val="EDF0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H128</a:t>
            </a:r>
          </a:p>
          <a:p>
            <a: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frozen</a:t>
            </a:r>
          </a:p>
        </p:txBody>
      </p:sp>
      <p:sp>
        <p:nvSpPr>
          <p:cNvPr id="216" name="U128&#10;trainable">
            <a:extLst>
              <a:ext uri="{FF2B5EF4-FFF2-40B4-BE49-F238E27FC236}">
                <a16:creationId xmlns:a16="http://schemas.microsoft.com/office/drawing/2014/main" id="{8D360B99-00B6-45C3-BB87-49C2E131B31B}"/>
              </a:ext>
            </a:extLst>
          </p:cNvPr>
          <p:cNvSpPr>
            <a:spLocks noGrp="1"/>
          </p:cNvSpPr>
          <p:nvPr/>
        </p:nvSpPr>
        <p:spPr>
          <a:xfrm>
            <a:off x="7308247" y="809339"/>
            <a:ext cx="473916" cy="295561"/>
          </a:xfrm>
          <a:prstGeom prst="rect">
            <a:avLst/>
          </a:prstGeom>
          <a:solidFill>
            <a:srgbClr val="F9E2C4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U128</a:t>
            </a:r>
          </a:p>
          <a:p>
            <a: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trainable</a:t>
            </a:r>
          </a:p>
        </p:txBody>
      </p:sp>
      <p:sp>
        <p:nvSpPr>
          <p:cNvPr id="217" name="W16A4&#10;student">
            <a:extLst>
              <a:ext uri="{FF2B5EF4-FFF2-40B4-BE49-F238E27FC236}">
                <a16:creationId xmlns:a16="http://schemas.microsoft.com/office/drawing/2014/main" id="{05DA2179-623E-4819-A8E8-1D11EFB2BF33}"/>
              </a:ext>
            </a:extLst>
          </p:cNvPr>
          <p:cNvSpPr>
            <a:spLocks noGrp="1"/>
          </p:cNvSpPr>
          <p:nvPr/>
        </p:nvSpPr>
        <p:spPr>
          <a:xfrm>
            <a:off x="7970711" y="809339"/>
            <a:ext cx="647176" cy="295561"/>
          </a:xfrm>
          <a:prstGeom prst="rect">
            <a:avLst/>
          </a:prstGeom>
          <a:solidFill>
            <a:srgbClr val="EDF0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W16A4</a:t>
            </a:r>
          </a:p>
          <a:p>
            <a: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student</a:t>
            </a:r>
          </a:p>
        </p:txBody>
      </p:sp>
      <p:sp>
        <p:nvSpPr>
          <p:cNvPr id="218" name="X">
            <a:extLst>
              <a:ext uri="{FF2B5EF4-FFF2-40B4-BE49-F238E27FC236}">
                <a16:creationId xmlns:a16="http://schemas.microsoft.com/office/drawing/2014/main" id="{2FA4E98F-A811-4BE2-B213-BE68A6581405}"/>
              </a:ext>
            </a:extLst>
          </p:cNvPr>
          <p:cNvSpPr>
            <a:spLocks noGrp="1"/>
          </p:cNvSpPr>
          <p:nvPr/>
        </p:nvSpPr>
        <p:spPr>
          <a:xfrm>
            <a:off x="5896689" y="865394"/>
            <a:ext cx="254794" cy="15287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0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219" name="Freeze R0 = H128 U128">
            <a:extLst>
              <a:ext uri="{FF2B5EF4-FFF2-40B4-BE49-F238E27FC236}">
                <a16:creationId xmlns:a16="http://schemas.microsoft.com/office/drawing/2014/main" id="{1B33F502-80E7-469E-AC18-A46F433A42A9}"/>
              </a:ext>
            </a:extLst>
          </p:cNvPr>
          <p:cNvSpPr>
            <a:spLocks noGrp="1"/>
          </p:cNvSpPr>
          <p:nvPr/>
        </p:nvSpPr>
        <p:spPr>
          <a:xfrm>
            <a:off x="6533674" y="1217009"/>
            <a:ext cx="2038350" cy="17835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0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10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10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10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10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10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10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10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10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10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0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00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Freeze R0 = H128 U128</a:t>
            </a:r>
          </a:p>
        </p:txBody>
      </p:sp>
      <p:sp>
        <p:nvSpPr>
          <p:cNvPr id="220" name="Stage 2: learn VQ; 8 updates">
            <a:extLst>
              <a:ext uri="{FF2B5EF4-FFF2-40B4-BE49-F238E27FC236}">
                <a16:creationId xmlns:a16="http://schemas.microsoft.com/office/drawing/2014/main" id="{D2583F95-C1C1-4298-9F4C-74A941DBF0CA}"/>
              </a:ext>
            </a:extLst>
          </p:cNvPr>
          <p:cNvSpPr>
            <a:spLocks noGrp="1"/>
          </p:cNvSpPr>
          <p:nvPr/>
        </p:nvSpPr>
        <p:spPr>
          <a:xfrm>
            <a:off x="5743813" y="1502378"/>
            <a:ext cx="2930128" cy="203835"/>
          </a:xfrm>
          <a:prstGeom prst="rect">
            <a:avLst/>
          </a:prstGeom>
          <a:solidFill>
            <a:srgbClr val="DCEBFA"/>
          </a:solidFill>
          <a:ln w="7620">
            <a:noFill/>
          </a:ln>
        </p:spPr>
        <p:txBody>
          <a:bodyPr lIns="28575" tIns="28575" rIns="28575" bIns="28575" anchor="ctr">
            <a:noAutofit/>
          </a:bodyPr>
          <a:lstStyle>
            <a:defPPr algn="ctr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92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Stage 2: learn VQ; 8 updates</a:t>
            </a:r>
          </a:p>
        </p:txBody>
      </p:sp>
      <p:sp>
        <p:nvSpPr>
          <p:cNvPr id="221" name="R0&#10;frozen">
            <a:extLst>
              <a:ext uri="{FF2B5EF4-FFF2-40B4-BE49-F238E27FC236}">
                <a16:creationId xmlns:a16="http://schemas.microsoft.com/office/drawing/2014/main" id="{A20BF839-77E8-433D-BC82-4CBF9BD0B229}"/>
              </a:ext>
            </a:extLst>
          </p:cNvPr>
          <p:cNvSpPr>
            <a:spLocks noGrp="1"/>
          </p:cNvSpPr>
          <p:nvPr/>
        </p:nvSpPr>
        <p:spPr>
          <a:xfrm>
            <a:off x="5794772" y="1792843"/>
            <a:ext cx="433149" cy="397478"/>
          </a:xfrm>
          <a:prstGeom prst="rect">
            <a:avLst/>
          </a:prstGeom>
          <a:solidFill>
            <a:srgbClr val="EDF0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R0</a:t>
            </a:r>
          </a:p>
          <a:p>
            <a: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frozen</a:t>
            </a:r>
          </a:p>
        </p:txBody>
      </p:sp>
      <p:sp>
        <p:nvSpPr>
          <p:cNvPr id="222" name="i1, i2&#10;frozen">
            <a:extLst>
              <a:ext uri="{FF2B5EF4-FFF2-40B4-BE49-F238E27FC236}">
                <a16:creationId xmlns:a16="http://schemas.microsoft.com/office/drawing/2014/main" id="{251E7AA1-FC1A-41C5-AEA1-2E54C4A74B65}"/>
              </a:ext>
            </a:extLst>
          </p:cNvPr>
          <p:cNvSpPr>
            <a:spLocks noGrp="1"/>
          </p:cNvSpPr>
          <p:nvPr/>
        </p:nvSpPr>
        <p:spPr>
          <a:xfrm>
            <a:off x="6314551" y="1792843"/>
            <a:ext cx="433149" cy="397478"/>
          </a:xfrm>
          <a:prstGeom prst="rect">
            <a:avLst/>
          </a:prstGeom>
          <a:solidFill>
            <a:srgbClr val="EDF0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i1, i2</a:t>
            </a:r>
          </a:p>
          <a:p>
            <a: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frozen</a:t>
            </a:r>
          </a:p>
        </p:txBody>
      </p:sp>
      <p:sp>
        <p:nvSpPr>
          <p:cNvPr id="223" name="B32 exp.&#10;frozen">
            <a:extLst>
              <a:ext uri="{FF2B5EF4-FFF2-40B4-BE49-F238E27FC236}">
                <a16:creationId xmlns:a16="http://schemas.microsoft.com/office/drawing/2014/main" id="{A1C446CD-E7BD-4749-9B16-5671CD90DBBE}"/>
              </a:ext>
            </a:extLst>
          </p:cNvPr>
          <p:cNvSpPr>
            <a:spLocks noGrp="1"/>
          </p:cNvSpPr>
          <p:nvPr/>
        </p:nvSpPr>
        <p:spPr>
          <a:xfrm>
            <a:off x="6829235" y="1792843"/>
            <a:ext cx="514683" cy="397478"/>
          </a:xfrm>
          <a:prstGeom prst="rect">
            <a:avLst/>
          </a:prstGeom>
          <a:solidFill>
            <a:srgbClr val="EDF0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B32 exp.</a:t>
            </a:r>
          </a:p>
          <a:p>
            <a: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frozen</a:t>
            </a:r>
          </a:p>
        </p:txBody>
      </p:sp>
      <p:sp>
        <p:nvSpPr>
          <p:cNvPr id="224" name="C1, C2&#10;trainable">
            <a:extLst>
              <a:ext uri="{FF2B5EF4-FFF2-40B4-BE49-F238E27FC236}">
                <a16:creationId xmlns:a16="http://schemas.microsoft.com/office/drawing/2014/main" id="{75A8C067-5A14-49B2-8427-900E5E1F5224}"/>
              </a:ext>
            </a:extLst>
          </p:cNvPr>
          <p:cNvSpPr>
            <a:spLocks noGrp="1"/>
          </p:cNvSpPr>
          <p:nvPr/>
        </p:nvSpPr>
        <p:spPr>
          <a:xfrm>
            <a:off x="7450931" y="1792843"/>
            <a:ext cx="560546" cy="397478"/>
          </a:xfrm>
          <a:prstGeom prst="rect">
            <a:avLst/>
          </a:prstGeom>
          <a:solidFill>
            <a:srgbClr val="F9E2C4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C1, C2</a:t>
            </a:r>
          </a:p>
          <a:p>
            <a: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trainable</a:t>
            </a:r>
          </a:p>
        </p:txBody>
      </p:sp>
      <p:sp>
        <p:nvSpPr>
          <p:cNvPr id="225" name="row gains&#10;trainable">
            <a:extLst>
              <a:ext uri="{FF2B5EF4-FFF2-40B4-BE49-F238E27FC236}">
                <a16:creationId xmlns:a16="http://schemas.microsoft.com/office/drawing/2014/main" id="{C2B248DE-90D5-4DE4-9DFA-B1A433889EAF}"/>
              </a:ext>
            </a:extLst>
          </p:cNvPr>
          <p:cNvSpPr>
            <a:spLocks noGrp="1"/>
          </p:cNvSpPr>
          <p:nvPr/>
        </p:nvSpPr>
        <p:spPr>
          <a:xfrm>
            <a:off x="8103203" y="1792843"/>
            <a:ext cx="560546" cy="397478"/>
          </a:xfrm>
          <a:prstGeom prst="rect">
            <a:avLst/>
          </a:prstGeom>
          <a:solidFill>
            <a:srgbClr val="F9E2C4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row gains</a:t>
            </a:r>
          </a:p>
          <a:p>
            <a: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trainable</a:t>
            </a:r>
          </a:p>
        </p:txBody>
      </p:sp>
      <p:cxnSp>
        <p:nvCxnSpPr>
          <p:cNvPr id="226" name="直接箭头连接符 225">
            <a:extLst>
              <a:ext uri="{FF2B5EF4-FFF2-40B4-BE49-F238E27FC236}">
                <a16:creationId xmlns:a16="http://schemas.microsoft.com/office/drawing/2014/main" id="{838AEAC4-F888-4048-BAA4-5F68A5E51B93}"/>
              </a:ext>
            </a:extLst>
          </p:cNvPr>
          <p:cNvCxnSpPr/>
          <p:nvPr/>
        </p:nvCxnSpPr>
        <p:spPr>
          <a:xfrm>
            <a:off x="5896689" y="2358485"/>
            <a:ext cx="2700814" cy="0"/>
          </a:xfrm>
          <a:prstGeom prst="straightConnector1">
            <a:avLst/>
          </a:prstGeom>
          <a:ln w="4077">
            <a:solidFill>
              <a:srgbClr val="697681"/>
            </a:solidFill>
            <a:prstDash val="solid"/>
          </a:ln>
        </p:spPr>
      </p:cxnSp>
      <p:sp>
        <p:nvSpPr>
          <p:cNvPr id="227" name="C80: 40 tasks × 2 demonstrations&#10;Base model frozen • fixed f">
            <a:extLst>
              <a:ext uri="{FF2B5EF4-FFF2-40B4-BE49-F238E27FC236}">
                <a16:creationId xmlns:a16="http://schemas.microsoft.com/office/drawing/2014/main" id="{EDCE0E0E-94FD-4DF5-81D0-D40394B398A3}"/>
              </a:ext>
            </a:extLst>
          </p:cNvPr>
          <p:cNvSpPr>
            <a:spLocks noGrp="1"/>
          </p:cNvSpPr>
          <p:nvPr/>
        </p:nvSpPr>
        <p:spPr>
          <a:xfrm>
            <a:off x="5743813" y="2582704"/>
            <a:ext cx="2930128" cy="280273"/>
          </a:xfrm>
          <a:prstGeom prst="rect">
            <a:avLst/>
          </a:prstGeom>
          <a:solidFill>
            <a:srgbClr val="EDF0F3"/>
          </a:solidFill>
          <a:ln w="7620">
            <a:noFill/>
          </a:ln>
        </p:spPr>
        <p:txBody>
          <a:bodyPr lIns="28575" tIns="28575" rIns="28575" bIns="28575" anchor="ctr">
            <a:noAutofit/>
          </a:bodyPr>
          <a:lstStyle>
            <a:def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C80: 40 tasks × 2 demonstrations</a:t>
            </a:r>
          </a:p>
          <a:p>
            <a: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Base model frozen • fixed final update 8</a:t>
            </a:r>
          </a:p>
        </p:txBody>
      </p:sp>
      <p:sp>
        <p:nvSpPr>
          <p:cNvPr id="228" name="Orange: trainable     Gray: frozen">
            <a:extLst>
              <a:ext uri="{FF2B5EF4-FFF2-40B4-BE49-F238E27FC236}">
                <a16:creationId xmlns:a16="http://schemas.microsoft.com/office/drawing/2014/main" id="{63E4F626-2E63-48BF-ABA9-4B6DA260165F}"/>
              </a:ext>
            </a:extLst>
          </p:cNvPr>
          <p:cNvSpPr>
            <a:spLocks noGrp="1"/>
          </p:cNvSpPr>
          <p:nvPr/>
        </p:nvSpPr>
        <p:spPr>
          <a:xfrm>
            <a:off x="6176963" y="2888456"/>
            <a:ext cx="2318623" cy="12739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76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defPPr>
            <a:lvl1pPr algn="l">
              <a:defRPr sz="76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1pPr>
            <a:lvl2pPr algn="l">
              <a:defRPr sz="76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2pPr>
            <a:lvl3pPr algn="l">
              <a:defRPr sz="76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3pPr>
            <a:lvl4pPr algn="l">
              <a:defRPr sz="76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4pPr>
            <a:lvl5pPr algn="l">
              <a:defRPr sz="76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5pPr>
            <a:lvl6pPr algn="l">
              <a:defRPr sz="76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6pPr>
            <a:lvl7pPr algn="l">
              <a:defRPr sz="76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7pPr>
            <a:lvl8pPr algn="l">
              <a:defRPr sz="76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8pPr>
            <a:lvl9pPr algn="l">
              <a:defRPr sz="76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76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pPr>
            <a:r>
              <a:rPr sz="762" b="0">
                <a:solidFill>
                  <a:srgbClr val="5D6773"/>
                </a:solidFill>
                <a:latin typeface="Arial"/>
                <a:ea typeface="Arial"/>
                <a:cs typeface="Arial"/>
              </a:rPr>
              <a:t>Orange: trainable     Gray: frozen</a:t>
            </a:r>
          </a:p>
        </p:txBody>
      </p:sp>
      <p:sp>
        <p:nvSpPr>
          <p:cNvPr id="229" name="(c) Task-aware calibration through a frozen future-to-action reader">
            <a:extLst>
              <a:ext uri="{FF2B5EF4-FFF2-40B4-BE49-F238E27FC236}">
                <a16:creationId xmlns:a16="http://schemas.microsoft.com/office/drawing/2014/main" id="{4DDE11D3-2C11-46F7-BA50-0DB3467CFD2F}"/>
              </a:ext>
            </a:extLst>
          </p:cNvPr>
          <p:cNvSpPr>
            <a:spLocks noGrp="1"/>
          </p:cNvSpPr>
          <p:nvPr/>
        </p:nvSpPr>
        <p:spPr>
          <a:xfrm>
            <a:off x="336709" y="3121104"/>
            <a:ext cx="8357235" cy="17835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08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(c) Task-aware calibration through a frozen future-to-action reader</a:t>
            </a:r>
          </a:p>
        </p:txBody>
      </p:sp>
      <p:cxnSp>
        <p:nvCxnSpPr>
          <p:cNvPr id="230" name="直接箭头连接符 229">
            <a:extLst>
              <a:ext uri="{FF2B5EF4-FFF2-40B4-BE49-F238E27FC236}">
                <a16:creationId xmlns:a16="http://schemas.microsoft.com/office/drawing/2014/main" id="{EF70FA64-367F-4C55-9A61-0A3B026D89EC}"/>
              </a:ext>
            </a:extLst>
          </p:cNvPr>
          <p:cNvCxnSpPr/>
          <p:nvPr/>
        </p:nvCxnSpPr>
        <p:spPr>
          <a:xfrm>
            <a:off x="326517" y="3324939"/>
            <a:ext cx="8377619" cy="0"/>
          </a:xfrm>
          <a:prstGeom prst="straightConnector1">
            <a:avLst/>
          </a:prstGeom>
          <a:ln w="4077">
            <a:solidFill>
              <a:srgbClr val="697681"/>
            </a:solidFill>
            <a:prstDash val="solid"/>
          </a:ln>
        </p:spPr>
      </p:cxnSp>
      <p:sp>
        <p:nvSpPr>
          <p:cNvPr id="231" name="Observation +&#10;instruction + proprio">
            <a:extLst>
              <a:ext uri="{FF2B5EF4-FFF2-40B4-BE49-F238E27FC236}">
                <a16:creationId xmlns:a16="http://schemas.microsoft.com/office/drawing/2014/main" id="{B994E164-BF7E-41CF-AA93-16040592D577}"/>
              </a:ext>
            </a:extLst>
          </p:cNvPr>
          <p:cNvSpPr>
            <a:spLocks noGrp="1"/>
          </p:cNvSpPr>
          <p:nvPr/>
        </p:nvSpPr>
        <p:spPr>
          <a:xfrm>
            <a:off x="372380" y="3732609"/>
            <a:ext cx="876491" cy="382191"/>
          </a:xfrm>
          <a:prstGeom prst="rect">
            <a:avLst/>
          </a:prstGeom>
          <a:solidFill>
            <a:srgbClr val="FFFFFF"/>
          </a:solidFill>
          <a:ln w="7620">
            <a:noFill/>
          </a:ln>
        </p:spPr>
        <p:txBody>
          <a:bodyPr lIns="28575" tIns="28575" rIns="28575" bIns="28575" anchor="ctr">
            <a:noAutofit/>
          </a:bodyPr>
          <a:lstStyle>
            <a:def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Observation +</a:t>
            </a:r>
          </a:p>
          <a:p>
            <a: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instruction + proprio</a:t>
            </a:r>
          </a:p>
        </p:txBody>
      </p:sp>
      <p:sp>
        <p:nvSpPr>
          <p:cNvPr id="232" name="BF16 teacher&#10;(frozen)">
            <a:extLst>
              <a:ext uri="{FF2B5EF4-FFF2-40B4-BE49-F238E27FC236}">
                <a16:creationId xmlns:a16="http://schemas.microsoft.com/office/drawing/2014/main" id="{956BC51B-D0A4-4EAA-B769-0A25CB7E1E35}"/>
              </a:ext>
            </a:extLst>
          </p:cNvPr>
          <p:cNvSpPr>
            <a:spLocks noGrp="1"/>
          </p:cNvSpPr>
          <p:nvPr/>
        </p:nvSpPr>
        <p:spPr>
          <a:xfrm>
            <a:off x="1457801" y="3431953"/>
            <a:ext cx="764381" cy="27008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84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defPPr>
            <a:lvl1pPr algn="ctr">
              <a:defRPr sz="84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lvl1pPr>
            <a:lvl2pPr algn="ctr">
              <a:defRPr sz="84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lvl2pPr>
            <a:lvl3pPr algn="ctr">
              <a:defRPr sz="84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lvl3pPr>
            <a:lvl4pPr algn="ctr">
              <a:defRPr sz="84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lvl4pPr>
            <a:lvl5pPr algn="ctr">
              <a:defRPr sz="84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lvl5pPr>
            <a:lvl6pPr algn="ctr">
              <a:defRPr sz="84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lvl6pPr>
            <a:lvl7pPr algn="ctr">
              <a:defRPr sz="84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lvl7pPr>
            <a:lvl8pPr algn="ctr">
              <a:defRPr sz="84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lvl8pPr>
            <a:lvl9pPr algn="ctr">
              <a:defRPr sz="84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84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pPr>
            <a:r>
              <a:rPr sz="843" b="1">
                <a:solidFill>
                  <a:srgbClr val="303A45"/>
                </a:solidFill>
                <a:latin typeface="Arial"/>
                <a:ea typeface="Arial"/>
                <a:cs typeface="Arial"/>
              </a:rPr>
              <a:t>BF16 teacher</a:t>
            </a:r>
          </a:p>
          <a:p>
            <a:pPr algn="ctr">
              <a:defRPr sz="84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pPr>
            <a:r>
              <a:rPr sz="843" b="1">
                <a:solidFill>
                  <a:srgbClr val="303A45"/>
                </a:solidFill>
                <a:latin typeface="Arial"/>
                <a:ea typeface="Arial"/>
                <a:cs typeface="Arial"/>
              </a:rPr>
              <a:t>(frozen)</a:t>
            </a:r>
          </a:p>
        </p:txBody>
      </p:sp>
      <p:sp>
        <p:nvSpPr>
          <p:cNvPr id="233" name="Quantized student Q0&#10;(codebooks + gains&#10;trainable)">
            <a:extLst>
              <a:ext uri="{FF2B5EF4-FFF2-40B4-BE49-F238E27FC236}">
                <a16:creationId xmlns:a16="http://schemas.microsoft.com/office/drawing/2014/main" id="{84CDAC0E-7ADE-4E05-84D1-4791D08F28B8}"/>
              </a:ext>
            </a:extLst>
          </p:cNvPr>
          <p:cNvSpPr>
            <a:spLocks noGrp="1"/>
          </p:cNvSpPr>
          <p:nvPr/>
        </p:nvSpPr>
        <p:spPr>
          <a:xfrm>
            <a:off x="1376267" y="4104608"/>
            <a:ext cx="942737" cy="35671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80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defPPr>
            <a:lvl1pPr algn="ctr">
              <a:defRPr sz="80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lvl1pPr>
            <a:lvl2pPr algn="ctr">
              <a:defRPr sz="80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lvl2pPr>
            <a:lvl3pPr algn="ctr">
              <a:defRPr sz="80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lvl3pPr>
            <a:lvl4pPr algn="ctr">
              <a:defRPr sz="80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lvl4pPr>
            <a:lvl5pPr algn="ctr">
              <a:defRPr sz="80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lvl5pPr>
            <a:lvl6pPr algn="ctr">
              <a:defRPr sz="80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lvl6pPr>
            <a:lvl7pPr algn="ctr">
              <a:defRPr sz="80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lvl7pPr>
            <a:lvl8pPr algn="ctr">
              <a:defRPr sz="80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lvl8pPr>
            <a:lvl9pPr algn="ctr">
              <a:defRPr sz="80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80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pPr>
            <a:r>
              <a:rPr sz="803" b="1">
                <a:solidFill>
                  <a:srgbClr val="303A45"/>
                </a:solidFill>
                <a:latin typeface="Arial"/>
                <a:ea typeface="Arial"/>
                <a:cs typeface="Arial"/>
              </a:rPr>
              <a:t>Quantized student Q0</a:t>
            </a:r>
          </a:p>
          <a:p>
            <a:pPr algn="ctr">
              <a:defRPr sz="80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pPr>
            <a:r>
              <a:rPr sz="803" b="1">
                <a:solidFill>
                  <a:srgbClr val="303A45"/>
                </a:solidFill>
                <a:latin typeface="Arial"/>
                <a:ea typeface="Arial"/>
                <a:cs typeface="Arial"/>
              </a:rPr>
              <a:t>(codebooks + gains</a:t>
            </a:r>
          </a:p>
          <a:p>
            <a:pPr algn="ctr">
              <a:defRPr sz="80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pPr>
            <a:r>
              <a:rPr sz="803" b="1">
                <a:solidFill>
                  <a:srgbClr val="303A45"/>
                </a:solidFill>
                <a:latin typeface="Arial"/>
                <a:ea typeface="Arial"/>
                <a:cs typeface="Arial"/>
              </a:rPr>
              <a:t>trainable)</a:t>
            </a:r>
          </a:p>
        </p:txBody>
      </p:sp>
      <p:sp>
        <p:nvSpPr>
          <p:cNvPr id="234" name="矩形 233">
            <a:extLst>
              <a:ext uri="{FF2B5EF4-FFF2-40B4-BE49-F238E27FC236}">
                <a16:creationId xmlns:a16="http://schemas.microsoft.com/office/drawing/2014/main" id="{CD245664-0201-4F20-879C-BC8E9DA27547}"/>
              </a:ext>
            </a:extLst>
          </p:cNvPr>
          <p:cNvSpPr>
            <a:spLocks noGrp="1"/>
          </p:cNvSpPr>
          <p:nvPr/>
        </p:nvSpPr>
        <p:spPr>
          <a:xfrm>
            <a:off x="2313908" y="3437049"/>
            <a:ext cx="55205" cy="259890"/>
          </a:xfrm>
          <a:prstGeom prst="rect">
            <a:avLst/>
          </a:prstGeom>
          <a:solidFill>
            <a:srgbClr val="EDF0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35" name="矩形 234">
            <a:extLst>
              <a:ext uri="{FF2B5EF4-FFF2-40B4-BE49-F238E27FC236}">
                <a16:creationId xmlns:a16="http://schemas.microsoft.com/office/drawing/2014/main" id="{C399FF3F-8B85-4868-87CD-3CA340122A39}"/>
              </a:ext>
            </a:extLst>
          </p:cNvPr>
          <p:cNvSpPr>
            <a:spLocks noGrp="1"/>
          </p:cNvSpPr>
          <p:nvPr/>
        </p:nvSpPr>
        <p:spPr>
          <a:xfrm>
            <a:off x="2424319" y="3472720"/>
            <a:ext cx="55205" cy="198739"/>
          </a:xfrm>
          <a:prstGeom prst="rect">
            <a:avLst/>
          </a:prstGeom>
          <a:solidFill>
            <a:srgbClr val="EDF0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36" name="矩形 235">
            <a:extLst>
              <a:ext uri="{FF2B5EF4-FFF2-40B4-BE49-F238E27FC236}">
                <a16:creationId xmlns:a16="http://schemas.microsoft.com/office/drawing/2014/main" id="{472AB911-C433-403C-9748-DC18D0969F40}"/>
              </a:ext>
            </a:extLst>
          </p:cNvPr>
          <p:cNvSpPr>
            <a:spLocks noGrp="1"/>
          </p:cNvSpPr>
          <p:nvPr/>
        </p:nvSpPr>
        <p:spPr>
          <a:xfrm>
            <a:off x="2534730" y="3437049"/>
            <a:ext cx="55205" cy="259890"/>
          </a:xfrm>
          <a:prstGeom prst="rect">
            <a:avLst/>
          </a:prstGeom>
          <a:solidFill>
            <a:srgbClr val="EDF0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37" name="矩形 236">
            <a:extLst>
              <a:ext uri="{FF2B5EF4-FFF2-40B4-BE49-F238E27FC236}">
                <a16:creationId xmlns:a16="http://schemas.microsoft.com/office/drawing/2014/main" id="{B10B9FD3-FE57-4160-84D8-E86F3BF1EF19}"/>
              </a:ext>
            </a:extLst>
          </p:cNvPr>
          <p:cNvSpPr>
            <a:spLocks noGrp="1"/>
          </p:cNvSpPr>
          <p:nvPr/>
        </p:nvSpPr>
        <p:spPr>
          <a:xfrm>
            <a:off x="2645140" y="3472720"/>
            <a:ext cx="55205" cy="198739"/>
          </a:xfrm>
          <a:prstGeom prst="rect">
            <a:avLst/>
          </a:prstGeom>
          <a:solidFill>
            <a:srgbClr val="EDF0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38" name="矩形 237">
            <a:extLst>
              <a:ext uri="{FF2B5EF4-FFF2-40B4-BE49-F238E27FC236}">
                <a16:creationId xmlns:a16="http://schemas.microsoft.com/office/drawing/2014/main" id="{FFC10802-3F0F-42A5-8753-C71AD1E5D167}"/>
              </a:ext>
            </a:extLst>
          </p:cNvPr>
          <p:cNvSpPr>
            <a:spLocks noGrp="1"/>
          </p:cNvSpPr>
          <p:nvPr/>
        </p:nvSpPr>
        <p:spPr>
          <a:xfrm>
            <a:off x="2755551" y="3437049"/>
            <a:ext cx="55205" cy="259890"/>
          </a:xfrm>
          <a:prstGeom prst="rect">
            <a:avLst/>
          </a:prstGeom>
          <a:solidFill>
            <a:srgbClr val="EDF0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39" name="矩形 238">
            <a:extLst>
              <a:ext uri="{FF2B5EF4-FFF2-40B4-BE49-F238E27FC236}">
                <a16:creationId xmlns:a16="http://schemas.microsoft.com/office/drawing/2014/main" id="{D74C19CD-A9CF-47FB-92EF-1BD3E0484232}"/>
              </a:ext>
            </a:extLst>
          </p:cNvPr>
          <p:cNvSpPr>
            <a:spLocks noGrp="1"/>
          </p:cNvSpPr>
          <p:nvPr/>
        </p:nvSpPr>
        <p:spPr>
          <a:xfrm>
            <a:off x="2865961" y="3472720"/>
            <a:ext cx="55205" cy="198739"/>
          </a:xfrm>
          <a:prstGeom prst="rect">
            <a:avLst/>
          </a:prstGeom>
          <a:solidFill>
            <a:srgbClr val="EDF0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40" name="矩形 239">
            <a:extLst>
              <a:ext uri="{FF2B5EF4-FFF2-40B4-BE49-F238E27FC236}">
                <a16:creationId xmlns:a16="http://schemas.microsoft.com/office/drawing/2014/main" id="{FB72D13F-6893-4A91-8342-6582028CA12C}"/>
              </a:ext>
            </a:extLst>
          </p:cNvPr>
          <p:cNvSpPr>
            <a:spLocks noGrp="1"/>
          </p:cNvSpPr>
          <p:nvPr/>
        </p:nvSpPr>
        <p:spPr>
          <a:xfrm>
            <a:off x="2313908" y="4109704"/>
            <a:ext cx="55205" cy="259890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41" name="矩形 240">
            <a:extLst>
              <a:ext uri="{FF2B5EF4-FFF2-40B4-BE49-F238E27FC236}">
                <a16:creationId xmlns:a16="http://schemas.microsoft.com/office/drawing/2014/main" id="{4901881E-E3DE-41AD-A0CC-7CBC1A71F9F6}"/>
              </a:ext>
            </a:extLst>
          </p:cNvPr>
          <p:cNvSpPr>
            <a:spLocks noGrp="1"/>
          </p:cNvSpPr>
          <p:nvPr/>
        </p:nvSpPr>
        <p:spPr>
          <a:xfrm>
            <a:off x="2424319" y="4145375"/>
            <a:ext cx="55205" cy="198739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42" name="矩形 241">
            <a:extLst>
              <a:ext uri="{FF2B5EF4-FFF2-40B4-BE49-F238E27FC236}">
                <a16:creationId xmlns:a16="http://schemas.microsoft.com/office/drawing/2014/main" id="{162463D9-758C-4E57-9F6E-75EDD1A8DD33}"/>
              </a:ext>
            </a:extLst>
          </p:cNvPr>
          <p:cNvSpPr>
            <a:spLocks noGrp="1"/>
          </p:cNvSpPr>
          <p:nvPr/>
        </p:nvSpPr>
        <p:spPr>
          <a:xfrm>
            <a:off x="2534730" y="4109704"/>
            <a:ext cx="55205" cy="259890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43" name="矩形 242">
            <a:extLst>
              <a:ext uri="{FF2B5EF4-FFF2-40B4-BE49-F238E27FC236}">
                <a16:creationId xmlns:a16="http://schemas.microsoft.com/office/drawing/2014/main" id="{CB1310F0-CC01-4D70-82A5-99CDA1F211DB}"/>
              </a:ext>
            </a:extLst>
          </p:cNvPr>
          <p:cNvSpPr>
            <a:spLocks noGrp="1"/>
          </p:cNvSpPr>
          <p:nvPr/>
        </p:nvSpPr>
        <p:spPr>
          <a:xfrm>
            <a:off x="2645140" y="4145375"/>
            <a:ext cx="55205" cy="198739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44" name="矩形 243">
            <a:extLst>
              <a:ext uri="{FF2B5EF4-FFF2-40B4-BE49-F238E27FC236}">
                <a16:creationId xmlns:a16="http://schemas.microsoft.com/office/drawing/2014/main" id="{1CAA7135-9834-492F-ADEE-E5023F759C70}"/>
              </a:ext>
            </a:extLst>
          </p:cNvPr>
          <p:cNvSpPr>
            <a:spLocks noGrp="1"/>
          </p:cNvSpPr>
          <p:nvPr/>
        </p:nvSpPr>
        <p:spPr>
          <a:xfrm>
            <a:off x="2755551" y="4109704"/>
            <a:ext cx="55205" cy="259890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45" name="矩形 244">
            <a:extLst>
              <a:ext uri="{FF2B5EF4-FFF2-40B4-BE49-F238E27FC236}">
                <a16:creationId xmlns:a16="http://schemas.microsoft.com/office/drawing/2014/main" id="{13AC8E55-8B29-45F0-B256-FDDA455ABB7B}"/>
              </a:ext>
            </a:extLst>
          </p:cNvPr>
          <p:cNvSpPr>
            <a:spLocks noGrp="1"/>
          </p:cNvSpPr>
          <p:nvPr/>
        </p:nvSpPr>
        <p:spPr>
          <a:xfrm>
            <a:off x="2865961" y="4145375"/>
            <a:ext cx="55205" cy="198739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46" name="矩形 245">
            <a:extLst>
              <a:ext uri="{FF2B5EF4-FFF2-40B4-BE49-F238E27FC236}">
                <a16:creationId xmlns:a16="http://schemas.microsoft.com/office/drawing/2014/main" id="{E08C604E-BEEC-4362-881D-1ACAA981C804}"/>
              </a:ext>
            </a:extLst>
          </p:cNvPr>
          <p:cNvSpPr>
            <a:spLocks noGrp="1"/>
          </p:cNvSpPr>
          <p:nvPr/>
        </p:nvSpPr>
        <p:spPr>
          <a:xfrm>
            <a:off x="3516535" y="3452336"/>
            <a:ext cx="69644" cy="7134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47" name="矩形 246">
            <a:extLst>
              <a:ext uri="{FF2B5EF4-FFF2-40B4-BE49-F238E27FC236}">
                <a16:creationId xmlns:a16="http://schemas.microsoft.com/office/drawing/2014/main" id="{04A1F702-4322-4DF0-B8DD-F81AA84670FB}"/>
              </a:ext>
            </a:extLst>
          </p:cNvPr>
          <p:cNvSpPr>
            <a:spLocks noGrp="1"/>
          </p:cNvSpPr>
          <p:nvPr/>
        </p:nvSpPr>
        <p:spPr>
          <a:xfrm>
            <a:off x="3586178" y="3452336"/>
            <a:ext cx="69644" cy="7134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48" name="矩形 247">
            <a:extLst>
              <a:ext uri="{FF2B5EF4-FFF2-40B4-BE49-F238E27FC236}">
                <a16:creationId xmlns:a16="http://schemas.microsoft.com/office/drawing/2014/main" id="{427A69BA-E758-4673-BA09-8E28CEBE58F8}"/>
              </a:ext>
            </a:extLst>
          </p:cNvPr>
          <p:cNvSpPr>
            <a:spLocks noGrp="1"/>
          </p:cNvSpPr>
          <p:nvPr/>
        </p:nvSpPr>
        <p:spPr>
          <a:xfrm>
            <a:off x="3655822" y="3452336"/>
            <a:ext cx="69644" cy="7134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49" name="矩形 248">
            <a:extLst>
              <a:ext uri="{FF2B5EF4-FFF2-40B4-BE49-F238E27FC236}">
                <a16:creationId xmlns:a16="http://schemas.microsoft.com/office/drawing/2014/main" id="{EF98D7D4-0008-4150-87B1-BD33CF6106CF}"/>
              </a:ext>
            </a:extLst>
          </p:cNvPr>
          <p:cNvSpPr>
            <a:spLocks noGrp="1"/>
          </p:cNvSpPr>
          <p:nvPr/>
        </p:nvSpPr>
        <p:spPr>
          <a:xfrm>
            <a:off x="3725466" y="3452336"/>
            <a:ext cx="69644" cy="7134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50" name="矩形 249">
            <a:extLst>
              <a:ext uri="{FF2B5EF4-FFF2-40B4-BE49-F238E27FC236}">
                <a16:creationId xmlns:a16="http://schemas.microsoft.com/office/drawing/2014/main" id="{419952E7-3F1C-4AA8-8448-343217F5B2F8}"/>
              </a:ext>
            </a:extLst>
          </p:cNvPr>
          <p:cNvSpPr>
            <a:spLocks noGrp="1"/>
          </p:cNvSpPr>
          <p:nvPr/>
        </p:nvSpPr>
        <p:spPr>
          <a:xfrm>
            <a:off x="3795109" y="3452336"/>
            <a:ext cx="69644" cy="7134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51" name="矩形 250">
            <a:extLst>
              <a:ext uri="{FF2B5EF4-FFF2-40B4-BE49-F238E27FC236}">
                <a16:creationId xmlns:a16="http://schemas.microsoft.com/office/drawing/2014/main" id="{3DE5D3A3-D719-4DBF-A28F-F3569A4A50E5}"/>
              </a:ext>
            </a:extLst>
          </p:cNvPr>
          <p:cNvSpPr>
            <a:spLocks noGrp="1"/>
          </p:cNvSpPr>
          <p:nvPr/>
        </p:nvSpPr>
        <p:spPr>
          <a:xfrm>
            <a:off x="3864753" y="3452336"/>
            <a:ext cx="69644" cy="7134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52" name="矩形 251">
            <a:extLst>
              <a:ext uri="{FF2B5EF4-FFF2-40B4-BE49-F238E27FC236}">
                <a16:creationId xmlns:a16="http://schemas.microsoft.com/office/drawing/2014/main" id="{6F12394F-9295-41F3-9A75-D2EB76B0607A}"/>
              </a:ext>
            </a:extLst>
          </p:cNvPr>
          <p:cNvSpPr>
            <a:spLocks noGrp="1"/>
          </p:cNvSpPr>
          <p:nvPr/>
        </p:nvSpPr>
        <p:spPr>
          <a:xfrm>
            <a:off x="3516535" y="3523679"/>
            <a:ext cx="69644" cy="7134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53" name="矩形 252">
            <a:extLst>
              <a:ext uri="{FF2B5EF4-FFF2-40B4-BE49-F238E27FC236}">
                <a16:creationId xmlns:a16="http://schemas.microsoft.com/office/drawing/2014/main" id="{2128738E-989C-4998-9CCF-04327A8D5D12}"/>
              </a:ext>
            </a:extLst>
          </p:cNvPr>
          <p:cNvSpPr>
            <a:spLocks noGrp="1"/>
          </p:cNvSpPr>
          <p:nvPr/>
        </p:nvSpPr>
        <p:spPr>
          <a:xfrm>
            <a:off x="3586178" y="3523679"/>
            <a:ext cx="69644" cy="7134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54" name="矩形 253">
            <a:extLst>
              <a:ext uri="{FF2B5EF4-FFF2-40B4-BE49-F238E27FC236}">
                <a16:creationId xmlns:a16="http://schemas.microsoft.com/office/drawing/2014/main" id="{878616CA-36A4-42C8-8605-D8848F8E3D0F}"/>
              </a:ext>
            </a:extLst>
          </p:cNvPr>
          <p:cNvSpPr>
            <a:spLocks noGrp="1"/>
          </p:cNvSpPr>
          <p:nvPr/>
        </p:nvSpPr>
        <p:spPr>
          <a:xfrm>
            <a:off x="3655822" y="3523679"/>
            <a:ext cx="69644" cy="7134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55" name="矩形 254">
            <a:extLst>
              <a:ext uri="{FF2B5EF4-FFF2-40B4-BE49-F238E27FC236}">
                <a16:creationId xmlns:a16="http://schemas.microsoft.com/office/drawing/2014/main" id="{D71323FE-5F42-46AB-BFAA-1C2A6B3F100D}"/>
              </a:ext>
            </a:extLst>
          </p:cNvPr>
          <p:cNvSpPr>
            <a:spLocks noGrp="1"/>
          </p:cNvSpPr>
          <p:nvPr/>
        </p:nvSpPr>
        <p:spPr>
          <a:xfrm>
            <a:off x="3725466" y="3523679"/>
            <a:ext cx="69644" cy="7134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56" name="矩形 255">
            <a:extLst>
              <a:ext uri="{FF2B5EF4-FFF2-40B4-BE49-F238E27FC236}">
                <a16:creationId xmlns:a16="http://schemas.microsoft.com/office/drawing/2014/main" id="{50529BC0-DFB6-4719-8C1F-6F35DD53FAED}"/>
              </a:ext>
            </a:extLst>
          </p:cNvPr>
          <p:cNvSpPr>
            <a:spLocks noGrp="1"/>
          </p:cNvSpPr>
          <p:nvPr/>
        </p:nvSpPr>
        <p:spPr>
          <a:xfrm>
            <a:off x="3795109" y="3523679"/>
            <a:ext cx="69644" cy="7134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57" name="矩形 256">
            <a:extLst>
              <a:ext uri="{FF2B5EF4-FFF2-40B4-BE49-F238E27FC236}">
                <a16:creationId xmlns:a16="http://schemas.microsoft.com/office/drawing/2014/main" id="{A5F22600-F5AF-4221-8741-96C60CDC66CD}"/>
              </a:ext>
            </a:extLst>
          </p:cNvPr>
          <p:cNvSpPr>
            <a:spLocks noGrp="1"/>
          </p:cNvSpPr>
          <p:nvPr/>
        </p:nvSpPr>
        <p:spPr>
          <a:xfrm>
            <a:off x="3864753" y="3523679"/>
            <a:ext cx="69644" cy="7134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58" name="aT">
            <a:extLst>
              <a:ext uri="{FF2B5EF4-FFF2-40B4-BE49-F238E27FC236}">
                <a16:creationId xmlns:a16="http://schemas.microsoft.com/office/drawing/2014/main" id="{27BD34A8-104F-472A-8F19-A63D0E0B2D63}"/>
              </a:ext>
            </a:extLst>
          </p:cNvPr>
          <p:cNvSpPr>
            <a:spLocks noGrp="1"/>
          </p:cNvSpPr>
          <p:nvPr/>
        </p:nvSpPr>
        <p:spPr>
          <a:xfrm>
            <a:off x="3516535" y="3299460"/>
            <a:ext cx="417862" cy="13758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aT</a:t>
            </a:r>
          </a:p>
        </p:txBody>
      </p:sp>
      <p:sp>
        <p:nvSpPr>
          <p:cNvPr id="259" name="矩形 258">
            <a:extLst>
              <a:ext uri="{FF2B5EF4-FFF2-40B4-BE49-F238E27FC236}">
                <a16:creationId xmlns:a16="http://schemas.microsoft.com/office/drawing/2014/main" id="{7FB71040-4198-4C13-941A-8B0BF2CB8A16}"/>
              </a:ext>
            </a:extLst>
          </p:cNvPr>
          <p:cNvSpPr>
            <a:spLocks noGrp="1"/>
          </p:cNvSpPr>
          <p:nvPr/>
        </p:nvSpPr>
        <p:spPr>
          <a:xfrm>
            <a:off x="3516535" y="3452336"/>
            <a:ext cx="417862" cy="142685"/>
          </a:xfrm>
          <a:prstGeom prst="rect">
            <a:avLst/>
          </a:prstGeom>
          <a:noFill/>
          <a:ln w="7620">
            <a:noFill/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60" name="矩形 259">
            <a:extLst>
              <a:ext uri="{FF2B5EF4-FFF2-40B4-BE49-F238E27FC236}">
                <a16:creationId xmlns:a16="http://schemas.microsoft.com/office/drawing/2014/main" id="{9ACD2A99-F02B-4C5E-BB3A-4DFD1F5FDF24}"/>
              </a:ext>
            </a:extLst>
          </p:cNvPr>
          <p:cNvSpPr>
            <a:spLocks noGrp="1"/>
          </p:cNvSpPr>
          <p:nvPr/>
        </p:nvSpPr>
        <p:spPr>
          <a:xfrm>
            <a:off x="3516535" y="4124992"/>
            <a:ext cx="69644" cy="7134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61" name="矩形 260">
            <a:extLst>
              <a:ext uri="{FF2B5EF4-FFF2-40B4-BE49-F238E27FC236}">
                <a16:creationId xmlns:a16="http://schemas.microsoft.com/office/drawing/2014/main" id="{B00C1709-658E-4DFB-A1C9-CC6565290212}"/>
              </a:ext>
            </a:extLst>
          </p:cNvPr>
          <p:cNvSpPr>
            <a:spLocks noGrp="1"/>
          </p:cNvSpPr>
          <p:nvPr/>
        </p:nvSpPr>
        <p:spPr>
          <a:xfrm>
            <a:off x="3586178" y="4124992"/>
            <a:ext cx="69644" cy="7134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62" name="矩形 261">
            <a:extLst>
              <a:ext uri="{FF2B5EF4-FFF2-40B4-BE49-F238E27FC236}">
                <a16:creationId xmlns:a16="http://schemas.microsoft.com/office/drawing/2014/main" id="{8F4867DF-7E35-4E5C-8192-B36B8F80A288}"/>
              </a:ext>
            </a:extLst>
          </p:cNvPr>
          <p:cNvSpPr>
            <a:spLocks noGrp="1"/>
          </p:cNvSpPr>
          <p:nvPr/>
        </p:nvSpPr>
        <p:spPr>
          <a:xfrm>
            <a:off x="3655822" y="4124992"/>
            <a:ext cx="69644" cy="7134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63" name="矩形 262">
            <a:extLst>
              <a:ext uri="{FF2B5EF4-FFF2-40B4-BE49-F238E27FC236}">
                <a16:creationId xmlns:a16="http://schemas.microsoft.com/office/drawing/2014/main" id="{C27B60AB-8A4A-46DC-8CD4-98CC73393A82}"/>
              </a:ext>
            </a:extLst>
          </p:cNvPr>
          <p:cNvSpPr>
            <a:spLocks noGrp="1"/>
          </p:cNvSpPr>
          <p:nvPr/>
        </p:nvSpPr>
        <p:spPr>
          <a:xfrm>
            <a:off x="3725466" y="4124992"/>
            <a:ext cx="69644" cy="7134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64" name="矩形 263">
            <a:extLst>
              <a:ext uri="{FF2B5EF4-FFF2-40B4-BE49-F238E27FC236}">
                <a16:creationId xmlns:a16="http://schemas.microsoft.com/office/drawing/2014/main" id="{9284560E-3B98-4EA7-9F11-E6447756FC0C}"/>
              </a:ext>
            </a:extLst>
          </p:cNvPr>
          <p:cNvSpPr>
            <a:spLocks noGrp="1"/>
          </p:cNvSpPr>
          <p:nvPr/>
        </p:nvSpPr>
        <p:spPr>
          <a:xfrm>
            <a:off x="3795109" y="4124992"/>
            <a:ext cx="69644" cy="7134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65" name="矩形 264">
            <a:extLst>
              <a:ext uri="{FF2B5EF4-FFF2-40B4-BE49-F238E27FC236}">
                <a16:creationId xmlns:a16="http://schemas.microsoft.com/office/drawing/2014/main" id="{DA7E5902-F8F9-457F-9BEF-3D7EF9F07603}"/>
              </a:ext>
            </a:extLst>
          </p:cNvPr>
          <p:cNvSpPr>
            <a:spLocks noGrp="1"/>
          </p:cNvSpPr>
          <p:nvPr/>
        </p:nvSpPr>
        <p:spPr>
          <a:xfrm>
            <a:off x="3864753" y="4124992"/>
            <a:ext cx="69644" cy="7134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66" name="矩形 265">
            <a:extLst>
              <a:ext uri="{FF2B5EF4-FFF2-40B4-BE49-F238E27FC236}">
                <a16:creationId xmlns:a16="http://schemas.microsoft.com/office/drawing/2014/main" id="{0FCE6084-03AE-42DF-A222-195B6B02AE38}"/>
              </a:ext>
            </a:extLst>
          </p:cNvPr>
          <p:cNvSpPr>
            <a:spLocks noGrp="1"/>
          </p:cNvSpPr>
          <p:nvPr/>
        </p:nvSpPr>
        <p:spPr>
          <a:xfrm>
            <a:off x="3516535" y="4196334"/>
            <a:ext cx="69644" cy="7134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67" name="矩形 266">
            <a:extLst>
              <a:ext uri="{FF2B5EF4-FFF2-40B4-BE49-F238E27FC236}">
                <a16:creationId xmlns:a16="http://schemas.microsoft.com/office/drawing/2014/main" id="{E4B9FD70-CDB1-448E-979E-ECC63AD8A6D1}"/>
              </a:ext>
            </a:extLst>
          </p:cNvPr>
          <p:cNvSpPr>
            <a:spLocks noGrp="1"/>
          </p:cNvSpPr>
          <p:nvPr/>
        </p:nvSpPr>
        <p:spPr>
          <a:xfrm>
            <a:off x="3586178" y="4196334"/>
            <a:ext cx="69644" cy="7134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68" name="矩形 267">
            <a:extLst>
              <a:ext uri="{FF2B5EF4-FFF2-40B4-BE49-F238E27FC236}">
                <a16:creationId xmlns:a16="http://schemas.microsoft.com/office/drawing/2014/main" id="{1FE38B6A-B58A-4CB9-A43D-94433D465E09}"/>
              </a:ext>
            </a:extLst>
          </p:cNvPr>
          <p:cNvSpPr>
            <a:spLocks noGrp="1"/>
          </p:cNvSpPr>
          <p:nvPr/>
        </p:nvSpPr>
        <p:spPr>
          <a:xfrm>
            <a:off x="3655822" y="4196334"/>
            <a:ext cx="69644" cy="7134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69" name="矩形 268">
            <a:extLst>
              <a:ext uri="{FF2B5EF4-FFF2-40B4-BE49-F238E27FC236}">
                <a16:creationId xmlns:a16="http://schemas.microsoft.com/office/drawing/2014/main" id="{CD20838B-68C0-4FAE-805F-880310B8455B}"/>
              </a:ext>
            </a:extLst>
          </p:cNvPr>
          <p:cNvSpPr>
            <a:spLocks noGrp="1"/>
          </p:cNvSpPr>
          <p:nvPr/>
        </p:nvSpPr>
        <p:spPr>
          <a:xfrm>
            <a:off x="3725466" y="4196334"/>
            <a:ext cx="69644" cy="7134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70" name="矩形 269">
            <a:extLst>
              <a:ext uri="{FF2B5EF4-FFF2-40B4-BE49-F238E27FC236}">
                <a16:creationId xmlns:a16="http://schemas.microsoft.com/office/drawing/2014/main" id="{D0641A4E-E8AA-4F31-931D-235DDEB336B4}"/>
              </a:ext>
            </a:extLst>
          </p:cNvPr>
          <p:cNvSpPr>
            <a:spLocks noGrp="1"/>
          </p:cNvSpPr>
          <p:nvPr/>
        </p:nvSpPr>
        <p:spPr>
          <a:xfrm>
            <a:off x="3795109" y="4196334"/>
            <a:ext cx="69644" cy="7134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71" name="矩形 270">
            <a:extLst>
              <a:ext uri="{FF2B5EF4-FFF2-40B4-BE49-F238E27FC236}">
                <a16:creationId xmlns:a16="http://schemas.microsoft.com/office/drawing/2014/main" id="{A7862772-671E-42C6-BC0B-F1E711DD0EF2}"/>
              </a:ext>
            </a:extLst>
          </p:cNvPr>
          <p:cNvSpPr>
            <a:spLocks noGrp="1"/>
          </p:cNvSpPr>
          <p:nvPr/>
        </p:nvSpPr>
        <p:spPr>
          <a:xfrm>
            <a:off x="3864753" y="4196334"/>
            <a:ext cx="69644" cy="7134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72" name="aQ">
            <a:extLst>
              <a:ext uri="{FF2B5EF4-FFF2-40B4-BE49-F238E27FC236}">
                <a16:creationId xmlns:a16="http://schemas.microsoft.com/office/drawing/2014/main" id="{081629B1-8C44-4576-9F8C-2CC2779FAFE0}"/>
              </a:ext>
            </a:extLst>
          </p:cNvPr>
          <p:cNvSpPr>
            <a:spLocks noGrp="1"/>
          </p:cNvSpPr>
          <p:nvPr/>
        </p:nvSpPr>
        <p:spPr>
          <a:xfrm>
            <a:off x="3516535" y="3972116"/>
            <a:ext cx="417862" cy="13758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aQ</a:t>
            </a:r>
          </a:p>
        </p:txBody>
      </p:sp>
      <p:sp>
        <p:nvSpPr>
          <p:cNvPr id="273" name="矩形 272">
            <a:extLst>
              <a:ext uri="{FF2B5EF4-FFF2-40B4-BE49-F238E27FC236}">
                <a16:creationId xmlns:a16="http://schemas.microsoft.com/office/drawing/2014/main" id="{A5B09B5C-6412-48F7-A478-A0F9D47B913B}"/>
              </a:ext>
            </a:extLst>
          </p:cNvPr>
          <p:cNvSpPr>
            <a:spLocks noGrp="1"/>
          </p:cNvSpPr>
          <p:nvPr/>
        </p:nvSpPr>
        <p:spPr>
          <a:xfrm>
            <a:off x="3516535" y="4124992"/>
            <a:ext cx="417862" cy="142685"/>
          </a:xfrm>
          <a:prstGeom prst="rect">
            <a:avLst/>
          </a:prstGeom>
          <a:noFill/>
          <a:ln w="7620">
            <a:noFill/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74" name="矩形 273">
            <a:extLst>
              <a:ext uri="{FF2B5EF4-FFF2-40B4-BE49-F238E27FC236}">
                <a16:creationId xmlns:a16="http://schemas.microsoft.com/office/drawing/2014/main" id="{AC95C98F-B7E1-4F3A-9A3A-B35546B5D095}"/>
              </a:ext>
            </a:extLst>
          </p:cNvPr>
          <p:cNvSpPr>
            <a:spLocks noGrp="1"/>
          </p:cNvSpPr>
          <p:nvPr/>
        </p:nvSpPr>
        <p:spPr>
          <a:xfrm>
            <a:off x="4877133" y="3452336"/>
            <a:ext cx="73890" cy="7134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75" name="矩形 274">
            <a:extLst>
              <a:ext uri="{FF2B5EF4-FFF2-40B4-BE49-F238E27FC236}">
                <a16:creationId xmlns:a16="http://schemas.microsoft.com/office/drawing/2014/main" id="{0E3F1699-0107-47A7-A958-B49FB47C7D1B}"/>
              </a:ext>
            </a:extLst>
          </p:cNvPr>
          <p:cNvSpPr>
            <a:spLocks noGrp="1"/>
          </p:cNvSpPr>
          <p:nvPr/>
        </p:nvSpPr>
        <p:spPr>
          <a:xfrm>
            <a:off x="4951024" y="3452336"/>
            <a:ext cx="73890" cy="7134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76" name="矩形 275">
            <a:extLst>
              <a:ext uri="{FF2B5EF4-FFF2-40B4-BE49-F238E27FC236}">
                <a16:creationId xmlns:a16="http://schemas.microsoft.com/office/drawing/2014/main" id="{78A97A2D-950B-4B09-8955-EAF5F70F61C0}"/>
              </a:ext>
            </a:extLst>
          </p:cNvPr>
          <p:cNvSpPr>
            <a:spLocks noGrp="1"/>
          </p:cNvSpPr>
          <p:nvPr/>
        </p:nvSpPr>
        <p:spPr>
          <a:xfrm>
            <a:off x="5024914" y="3452336"/>
            <a:ext cx="73890" cy="7134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77" name="矩形 276">
            <a:extLst>
              <a:ext uri="{FF2B5EF4-FFF2-40B4-BE49-F238E27FC236}">
                <a16:creationId xmlns:a16="http://schemas.microsoft.com/office/drawing/2014/main" id="{9EA9BC16-82A4-41CF-AC39-08D8AC84DDC1}"/>
              </a:ext>
            </a:extLst>
          </p:cNvPr>
          <p:cNvSpPr>
            <a:spLocks noGrp="1"/>
          </p:cNvSpPr>
          <p:nvPr/>
        </p:nvSpPr>
        <p:spPr>
          <a:xfrm>
            <a:off x="5098804" y="3452336"/>
            <a:ext cx="73890" cy="7134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78" name="矩形 277">
            <a:extLst>
              <a:ext uri="{FF2B5EF4-FFF2-40B4-BE49-F238E27FC236}">
                <a16:creationId xmlns:a16="http://schemas.microsoft.com/office/drawing/2014/main" id="{8BA88297-7A30-4F1A-BDEE-3927FA5EAFC4}"/>
              </a:ext>
            </a:extLst>
          </p:cNvPr>
          <p:cNvSpPr>
            <a:spLocks noGrp="1"/>
          </p:cNvSpPr>
          <p:nvPr/>
        </p:nvSpPr>
        <p:spPr>
          <a:xfrm>
            <a:off x="5172694" y="3452336"/>
            <a:ext cx="73890" cy="7134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79" name="矩形 278">
            <a:extLst>
              <a:ext uri="{FF2B5EF4-FFF2-40B4-BE49-F238E27FC236}">
                <a16:creationId xmlns:a16="http://schemas.microsoft.com/office/drawing/2014/main" id="{422785A1-C321-4E4E-A57C-8B7776A259CA}"/>
              </a:ext>
            </a:extLst>
          </p:cNvPr>
          <p:cNvSpPr>
            <a:spLocks noGrp="1"/>
          </p:cNvSpPr>
          <p:nvPr/>
        </p:nvSpPr>
        <p:spPr>
          <a:xfrm>
            <a:off x="5246584" y="3452336"/>
            <a:ext cx="73890" cy="7134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80" name="矩形 279">
            <a:extLst>
              <a:ext uri="{FF2B5EF4-FFF2-40B4-BE49-F238E27FC236}">
                <a16:creationId xmlns:a16="http://schemas.microsoft.com/office/drawing/2014/main" id="{72863208-4C23-4D4D-BCCE-6AB8A86824D3}"/>
              </a:ext>
            </a:extLst>
          </p:cNvPr>
          <p:cNvSpPr>
            <a:spLocks noGrp="1"/>
          </p:cNvSpPr>
          <p:nvPr/>
        </p:nvSpPr>
        <p:spPr>
          <a:xfrm>
            <a:off x="4877133" y="3523679"/>
            <a:ext cx="73890" cy="7134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81" name="矩形 280">
            <a:extLst>
              <a:ext uri="{FF2B5EF4-FFF2-40B4-BE49-F238E27FC236}">
                <a16:creationId xmlns:a16="http://schemas.microsoft.com/office/drawing/2014/main" id="{65FB5A3D-22D9-4BDA-A0E7-E152C572983A}"/>
              </a:ext>
            </a:extLst>
          </p:cNvPr>
          <p:cNvSpPr>
            <a:spLocks noGrp="1"/>
          </p:cNvSpPr>
          <p:nvPr/>
        </p:nvSpPr>
        <p:spPr>
          <a:xfrm>
            <a:off x="4951024" y="3523679"/>
            <a:ext cx="73890" cy="7134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82" name="矩形 281">
            <a:extLst>
              <a:ext uri="{FF2B5EF4-FFF2-40B4-BE49-F238E27FC236}">
                <a16:creationId xmlns:a16="http://schemas.microsoft.com/office/drawing/2014/main" id="{68A03EAD-AF1A-4B7E-926B-114CFDE52F61}"/>
              </a:ext>
            </a:extLst>
          </p:cNvPr>
          <p:cNvSpPr>
            <a:spLocks noGrp="1"/>
          </p:cNvSpPr>
          <p:nvPr/>
        </p:nvSpPr>
        <p:spPr>
          <a:xfrm>
            <a:off x="5024914" y="3523679"/>
            <a:ext cx="73890" cy="7134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83" name="矩形 282">
            <a:extLst>
              <a:ext uri="{FF2B5EF4-FFF2-40B4-BE49-F238E27FC236}">
                <a16:creationId xmlns:a16="http://schemas.microsoft.com/office/drawing/2014/main" id="{38E36114-0A77-4445-8B11-AE462290C238}"/>
              </a:ext>
            </a:extLst>
          </p:cNvPr>
          <p:cNvSpPr>
            <a:spLocks noGrp="1"/>
          </p:cNvSpPr>
          <p:nvPr/>
        </p:nvSpPr>
        <p:spPr>
          <a:xfrm>
            <a:off x="5098804" y="3523679"/>
            <a:ext cx="73890" cy="7134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84" name="矩形 283">
            <a:extLst>
              <a:ext uri="{FF2B5EF4-FFF2-40B4-BE49-F238E27FC236}">
                <a16:creationId xmlns:a16="http://schemas.microsoft.com/office/drawing/2014/main" id="{50146A58-3114-4912-9457-7D15B4EDC8D0}"/>
              </a:ext>
            </a:extLst>
          </p:cNvPr>
          <p:cNvSpPr>
            <a:spLocks noGrp="1"/>
          </p:cNvSpPr>
          <p:nvPr/>
        </p:nvSpPr>
        <p:spPr>
          <a:xfrm>
            <a:off x="5172694" y="3523679"/>
            <a:ext cx="73890" cy="7134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85" name="矩形 284">
            <a:extLst>
              <a:ext uri="{FF2B5EF4-FFF2-40B4-BE49-F238E27FC236}">
                <a16:creationId xmlns:a16="http://schemas.microsoft.com/office/drawing/2014/main" id="{EFA3A6A0-4789-41AA-B988-6BAF587E8B9F}"/>
              </a:ext>
            </a:extLst>
          </p:cNvPr>
          <p:cNvSpPr>
            <a:spLocks noGrp="1"/>
          </p:cNvSpPr>
          <p:nvPr/>
        </p:nvSpPr>
        <p:spPr>
          <a:xfrm>
            <a:off x="5246584" y="3523679"/>
            <a:ext cx="73890" cy="7134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86" name="zT">
            <a:extLst>
              <a:ext uri="{FF2B5EF4-FFF2-40B4-BE49-F238E27FC236}">
                <a16:creationId xmlns:a16="http://schemas.microsoft.com/office/drawing/2014/main" id="{C8900A59-9C2F-4CF7-B0A2-8D3B7F4CC066}"/>
              </a:ext>
            </a:extLst>
          </p:cNvPr>
          <p:cNvSpPr>
            <a:spLocks noGrp="1"/>
          </p:cNvSpPr>
          <p:nvPr/>
        </p:nvSpPr>
        <p:spPr>
          <a:xfrm>
            <a:off x="4877133" y="3299460"/>
            <a:ext cx="443341" cy="13758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zT</a:t>
            </a:r>
          </a:p>
        </p:txBody>
      </p:sp>
      <p:sp>
        <p:nvSpPr>
          <p:cNvPr id="287" name="矩形 286">
            <a:extLst>
              <a:ext uri="{FF2B5EF4-FFF2-40B4-BE49-F238E27FC236}">
                <a16:creationId xmlns:a16="http://schemas.microsoft.com/office/drawing/2014/main" id="{5B380870-21A9-425E-96F8-0690061825E2}"/>
              </a:ext>
            </a:extLst>
          </p:cNvPr>
          <p:cNvSpPr>
            <a:spLocks noGrp="1"/>
          </p:cNvSpPr>
          <p:nvPr/>
        </p:nvSpPr>
        <p:spPr>
          <a:xfrm>
            <a:off x="4877133" y="3452336"/>
            <a:ext cx="443341" cy="142685"/>
          </a:xfrm>
          <a:prstGeom prst="rect">
            <a:avLst/>
          </a:prstGeom>
          <a:noFill/>
          <a:ln w="7620">
            <a:noFill/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88" name="矩形 287">
            <a:extLst>
              <a:ext uri="{FF2B5EF4-FFF2-40B4-BE49-F238E27FC236}">
                <a16:creationId xmlns:a16="http://schemas.microsoft.com/office/drawing/2014/main" id="{CF6A9C86-8017-4A23-945B-208AA79F14DC}"/>
              </a:ext>
            </a:extLst>
          </p:cNvPr>
          <p:cNvSpPr>
            <a:spLocks noGrp="1"/>
          </p:cNvSpPr>
          <p:nvPr/>
        </p:nvSpPr>
        <p:spPr>
          <a:xfrm>
            <a:off x="4877133" y="4124992"/>
            <a:ext cx="73890" cy="7134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89" name="矩形 288">
            <a:extLst>
              <a:ext uri="{FF2B5EF4-FFF2-40B4-BE49-F238E27FC236}">
                <a16:creationId xmlns:a16="http://schemas.microsoft.com/office/drawing/2014/main" id="{BCED28B6-73EF-4AE6-9B7C-401462B0AD88}"/>
              </a:ext>
            </a:extLst>
          </p:cNvPr>
          <p:cNvSpPr>
            <a:spLocks noGrp="1"/>
          </p:cNvSpPr>
          <p:nvPr/>
        </p:nvSpPr>
        <p:spPr>
          <a:xfrm>
            <a:off x="4951024" y="4124992"/>
            <a:ext cx="73890" cy="7134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90" name="矩形 289">
            <a:extLst>
              <a:ext uri="{FF2B5EF4-FFF2-40B4-BE49-F238E27FC236}">
                <a16:creationId xmlns:a16="http://schemas.microsoft.com/office/drawing/2014/main" id="{315A8A22-EE1F-4919-B7D7-D9078E402430}"/>
              </a:ext>
            </a:extLst>
          </p:cNvPr>
          <p:cNvSpPr>
            <a:spLocks noGrp="1"/>
          </p:cNvSpPr>
          <p:nvPr/>
        </p:nvSpPr>
        <p:spPr>
          <a:xfrm>
            <a:off x="5024914" y="4124992"/>
            <a:ext cx="73890" cy="7134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91" name="矩形 290">
            <a:extLst>
              <a:ext uri="{FF2B5EF4-FFF2-40B4-BE49-F238E27FC236}">
                <a16:creationId xmlns:a16="http://schemas.microsoft.com/office/drawing/2014/main" id="{808B9139-6382-4BA7-BD86-AA2148E74A76}"/>
              </a:ext>
            </a:extLst>
          </p:cNvPr>
          <p:cNvSpPr>
            <a:spLocks noGrp="1"/>
          </p:cNvSpPr>
          <p:nvPr/>
        </p:nvSpPr>
        <p:spPr>
          <a:xfrm>
            <a:off x="5098804" y="4124992"/>
            <a:ext cx="73890" cy="7134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92" name="矩形 291">
            <a:extLst>
              <a:ext uri="{FF2B5EF4-FFF2-40B4-BE49-F238E27FC236}">
                <a16:creationId xmlns:a16="http://schemas.microsoft.com/office/drawing/2014/main" id="{DEDCB72E-E96C-4D0D-804E-E4C867403122}"/>
              </a:ext>
            </a:extLst>
          </p:cNvPr>
          <p:cNvSpPr>
            <a:spLocks noGrp="1"/>
          </p:cNvSpPr>
          <p:nvPr/>
        </p:nvSpPr>
        <p:spPr>
          <a:xfrm>
            <a:off x="5172694" y="4124992"/>
            <a:ext cx="73890" cy="7134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93" name="矩形 292">
            <a:extLst>
              <a:ext uri="{FF2B5EF4-FFF2-40B4-BE49-F238E27FC236}">
                <a16:creationId xmlns:a16="http://schemas.microsoft.com/office/drawing/2014/main" id="{79BB659C-AF85-43F7-BE7C-FB6C499D6FF9}"/>
              </a:ext>
            </a:extLst>
          </p:cNvPr>
          <p:cNvSpPr>
            <a:spLocks noGrp="1"/>
          </p:cNvSpPr>
          <p:nvPr/>
        </p:nvSpPr>
        <p:spPr>
          <a:xfrm>
            <a:off x="5246584" y="4124992"/>
            <a:ext cx="73890" cy="7134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94" name="矩形 293">
            <a:extLst>
              <a:ext uri="{FF2B5EF4-FFF2-40B4-BE49-F238E27FC236}">
                <a16:creationId xmlns:a16="http://schemas.microsoft.com/office/drawing/2014/main" id="{53FA8FB2-4AB0-4849-BEA9-41098E6AB4C6}"/>
              </a:ext>
            </a:extLst>
          </p:cNvPr>
          <p:cNvSpPr>
            <a:spLocks noGrp="1"/>
          </p:cNvSpPr>
          <p:nvPr/>
        </p:nvSpPr>
        <p:spPr>
          <a:xfrm>
            <a:off x="4877133" y="4196334"/>
            <a:ext cx="73890" cy="7134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95" name="矩形 294">
            <a:extLst>
              <a:ext uri="{FF2B5EF4-FFF2-40B4-BE49-F238E27FC236}">
                <a16:creationId xmlns:a16="http://schemas.microsoft.com/office/drawing/2014/main" id="{D6CDBA7E-61E4-4B63-A2C7-75CD5390FC65}"/>
              </a:ext>
            </a:extLst>
          </p:cNvPr>
          <p:cNvSpPr>
            <a:spLocks noGrp="1"/>
          </p:cNvSpPr>
          <p:nvPr/>
        </p:nvSpPr>
        <p:spPr>
          <a:xfrm>
            <a:off x="4951024" y="4196334"/>
            <a:ext cx="73890" cy="7134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96" name="矩形 295">
            <a:extLst>
              <a:ext uri="{FF2B5EF4-FFF2-40B4-BE49-F238E27FC236}">
                <a16:creationId xmlns:a16="http://schemas.microsoft.com/office/drawing/2014/main" id="{824DD0AB-FE94-45B9-AD76-1683AB5DC297}"/>
              </a:ext>
            </a:extLst>
          </p:cNvPr>
          <p:cNvSpPr>
            <a:spLocks noGrp="1"/>
          </p:cNvSpPr>
          <p:nvPr/>
        </p:nvSpPr>
        <p:spPr>
          <a:xfrm>
            <a:off x="5024914" y="4196334"/>
            <a:ext cx="73890" cy="7134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97" name="矩形 296">
            <a:extLst>
              <a:ext uri="{FF2B5EF4-FFF2-40B4-BE49-F238E27FC236}">
                <a16:creationId xmlns:a16="http://schemas.microsoft.com/office/drawing/2014/main" id="{1E98EFFF-4625-4811-A30B-0C6B7260B758}"/>
              </a:ext>
            </a:extLst>
          </p:cNvPr>
          <p:cNvSpPr>
            <a:spLocks noGrp="1"/>
          </p:cNvSpPr>
          <p:nvPr/>
        </p:nvSpPr>
        <p:spPr>
          <a:xfrm>
            <a:off x="5098804" y="4196334"/>
            <a:ext cx="73890" cy="7134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98" name="矩形 297">
            <a:extLst>
              <a:ext uri="{FF2B5EF4-FFF2-40B4-BE49-F238E27FC236}">
                <a16:creationId xmlns:a16="http://schemas.microsoft.com/office/drawing/2014/main" id="{7D4E7560-1869-4D5C-87A6-9A50CF9C9C52}"/>
              </a:ext>
            </a:extLst>
          </p:cNvPr>
          <p:cNvSpPr>
            <a:spLocks noGrp="1"/>
          </p:cNvSpPr>
          <p:nvPr/>
        </p:nvSpPr>
        <p:spPr>
          <a:xfrm>
            <a:off x="5172694" y="4196334"/>
            <a:ext cx="73890" cy="7134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99" name="矩形 298">
            <a:extLst>
              <a:ext uri="{FF2B5EF4-FFF2-40B4-BE49-F238E27FC236}">
                <a16:creationId xmlns:a16="http://schemas.microsoft.com/office/drawing/2014/main" id="{450DED3B-CD77-44B1-9953-8D95B7BCB7D4}"/>
              </a:ext>
            </a:extLst>
          </p:cNvPr>
          <p:cNvSpPr>
            <a:spLocks noGrp="1"/>
          </p:cNvSpPr>
          <p:nvPr/>
        </p:nvSpPr>
        <p:spPr>
          <a:xfrm>
            <a:off x="5246584" y="4196334"/>
            <a:ext cx="73890" cy="7134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300" name="zQ">
            <a:extLst>
              <a:ext uri="{FF2B5EF4-FFF2-40B4-BE49-F238E27FC236}">
                <a16:creationId xmlns:a16="http://schemas.microsoft.com/office/drawing/2014/main" id="{AA7644D4-CEB5-480E-ACC7-AE22DAF03649}"/>
              </a:ext>
            </a:extLst>
          </p:cNvPr>
          <p:cNvSpPr>
            <a:spLocks noGrp="1"/>
          </p:cNvSpPr>
          <p:nvPr/>
        </p:nvSpPr>
        <p:spPr>
          <a:xfrm>
            <a:off x="4877133" y="3972116"/>
            <a:ext cx="443341" cy="13758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zQ</a:t>
            </a:r>
          </a:p>
        </p:txBody>
      </p:sp>
      <p:sp>
        <p:nvSpPr>
          <p:cNvPr id="301" name="矩形 300">
            <a:extLst>
              <a:ext uri="{FF2B5EF4-FFF2-40B4-BE49-F238E27FC236}">
                <a16:creationId xmlns:a16="http://schemas.microsoft.com/office/drawing/2014/main" id="{F3599045-E55A-459D-AEA4-9BAC27F0A5DA}"/>
              </a:ext>
            </a:extLst>
          </p:cNvPr>
          <p:cNvSpPr>
            <a:spLocks noGrp="1"/>
          </p:cNvSpPr>
          <p:nvPr/>
        </p:nvSpPr>
        <p:spPr>
          <a:xfrm>
            <a:off x="4877133" y="4124992"/>
            <a:ext cx="443341" cy="142685"/>
          </a:xfrm>
          <a:prstGeom prst="rect">
            <a:avLst/>
          </a:prstGeom>
          <a:noFill/>
          <a:ln w="7620">
            <a:noFill/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302" name="L_action&#10;first-10 motor MSE">
            <a:extLst>
              <a:ext uri="{FF2B5EF4-FFF2-40B4-BE49-F238E27FC236}">
                <a16:creationId xmlns:a16="http://schemas.microsoft.com/office/drawing/2014/main" id="{01E28B72-6C6C-473D-AC71-6C22EA5F9378}"/>
              </a:ext>
            </a:extLst>
          </p:cNvPr>
          <p:cNvSpPr>
            <a:spLocks noGrp="1"/>
          </p:cNvSpPr>
          <p:nvPr/>
        </p:nvSpPr>
        <p:spPr>
          <a:xfrm>
            <a:off x="3903821" y="3686747"/>
            <a:ext cx="942737" cy="29556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L_action</a:t>
            </a:r>
          </a:p>
          <a:p>
            <a: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first-10 motor MSE</a:t>
            </a:r>
          </a:p>
        </p:txBody>
      </p:sp>
      <p:sp>
        <p:nvSpPr>
          <p:cNvPr id="303" name="L_future&#10;clean-future NMSE">
            <a:extLst>
              <a:ext uri="{FF2B5EF4-FFF2-40B4-BE49-F238E27FC236}">
                <a16:creationId xmlns:a16="http://schemas.microsoft.com/office/drawing/2014/main" id="{CD4B7941-6B11-49A3-BBCE-B6BFAF6483B0}"/>
              </a:ext>
            </a:extLst>
          </p:cNvPr>
          <p:cNvSpPr>
            <a:spLocks noGrp="1"/>
          </p:cNvSpPr>
          <p:nvPr/>
        </p:nvSpPr>
        <p:spPr>
          <a:xfrm>
            <a:off x="5254228" y="3686747"/>
            <a:ext cx="815340" cy="29556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L_future</a:t>
            </a:r>
          </a:p>
          <a:p>
            <a: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clean-future NMSE</a:t>
            </a:r>
          </a:p>
        </p:txBody>
      </p:sp>
      <p:sp>
        <p:nvSpPr>
          <p:cNvPr id="304" name="Frozen BF16&#10;action reader">
            <a:extLst>
              <a:ext uri="{FF2B5EF4-FFF2-40B4-BE49-F238E27FC236}">
                <a16:creationId xmlns:a16="http://schemas.microsoft.com/office/drawing/2014/main" id="{7FB3DC65-B8C9-42AA-8329-E54EEB92361D}"/>
              </a:ext>
            </a:extLst>
          </p:cNvPr>
          <p:cNvSpPr>
            <a:spLocks noGrp="1"/>
          </p:cNvSpPr>
          <p:nvPr/>
        </p:nvSpPr>
        <p:spPr>
          <a:xfrm>
            <a:off x="5911596" y="3309652"/>
            <a:ext cx="738902" cy="21402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722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Frozen BF16</a:t>
            </a:r>
          </a:p>
          <a:p>
            <a: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722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action reader</a:t>
            </a:r>
          </a:p>
        </p:txBody>
      </p:sp>
      <p:sp>
        <p:nvSpPr>
          <p:cNvPr id="305" name="矩形 304">
            <a:extLst>
              <a:ext uri="{FF2B5EF4-FFF2-40B4-BE49-F238E27FC236}">
                <a16:creationId xmlns:a16="http://schemas.microsoft.com/office/drawing/2014/main" id="{89C18611-1711-421C-A354-9EFC9BA4DA6C}"/>
              </a:ext>
            </a:extLst>
          </p:cNvPr>
          <p:cNvSpPr>
            <a:spLocks noGrp="1"/>
          </p:cNvSpPr>
          <p:nvPr/>
        </p:nvSpPr>
        <p:spPr>
          <a:xfrm>
            <a:off x="5993130" y="3549158"/>
            <a:ext cx="55205" cy="259890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306" name="矩形 305">
            <a:extLst>
              <a:ext uri="{FF2B5EF4-FFF2-40B4-BE49-F238E27FC236}">
                <a16:creationId xmlns:a16="http://schemas.microsoft.com/office/drawing/2014/main" id="{29F1A197-6182-46DE-9F48-35AADEC6711E}"/>
              </a:ext>
            </a:extLst>
          </p:cNvPr>
          <p:cNvSpPr>
            <a:spLocks noGrp="1"/>
          </p:cNvSpPr>
          <p:nvPr/>
        </p:nvSpPr>
        <p:spPr>
          <a:xfrm>
            <a:off x="6103541" y="3584829"/>
            <a:ext cx="55205" cy="198739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307" name="矩形 306">
            <a:extLst>
              <a:ext uri="{FF2B5EF4-FFF2-40B4-BE49-F238E27FC236}">
                <a16:creationId xmlns:a16="http://schemas.microsoft.com/office/drawing/2014/main" id="{CB9C638A-B740-4980-BFA5-5F6E0B31B167}"/>
              </a:ext>
            </a:extLst>
          </p:cNvPr>
          <p:cNvSpPr>
            <a:spLocks noGrp="1"/>
          </p:cNvSpPr>
          <p:nvPr/>
        </p:nvSpPr>
        <p:spPr>
          <a:xfrm>
            <a:off x="6213951" y="3549158"/>
            <a:ext cx="55205" cy="259890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308" name="矩形 307">
            <a:extLst>
              <a:ext uri="{FF2B5EF4-FFF2-40B4-BE49-F238E27FC236}">
                <a16:creationId xmlns:a16="http://schemas.microsoft.com/office/drawing/2014/main" id="{570FC7F3-06FD-4E72-96D1-A0B8CB80D2C6}"/>
              </a:ext>
            </a:extLst>
          </p:cNvPr>
          <p:cNvSpPr>
            <a:spLocks noGrp="1"/>
          </p:cNvSpPr>
          <p:nvPr/>
        </p:nvSpPr>
        <p:spPr>
          <a:xfrm>
            <a:off x="6324362" y="3584829"/>
            <a:ext cx="55205" cy="198739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309" name="矩形 308">
            <a:extLst>
              <a:ext uri="{FF2B5EF4-FFF2-40B4-BE49-F238E27FC236}">
                <a16:creationId xmlns:a16="http://schemas.microsoft.com/office/drawing/2014/main" id="{6E6C8482-0642-4582-B530-71E2AA047F2A}"/>
              </a:ext>
            </a:extLst>
          </p:cNvPr>
          <p:cNvSpPr>
            <a:spLocks noGrp="1"/>
          </p:cNvSpPr>
          <p:nvPr/>
        </p:nvSpPr>
        <p:spPr>
          <a:xfrm>
            <a:off x="6434773" y="3549158"/>
            <a:ext cx="55205" cy="259890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310" name="矩形 309">
            <a:extLst>
              <a:ext uri="{FF2B5EF4-FFF2-40B4-BE49-F238E27FC236}">
                <a16:creationId xmlns:a16="http://schemas.microsoft.com/office/drawing/2014/main" id="{5266D0CE-CEEF-4C4C-89F9-1F78F9E771E8}"/>
              </a:ext>
            </a:extLst>
          </p:cNvPr>
          <p:cNvSpPr>
            <a:spLocks noGrp="1"/>
          </p:cNvSpPr>
          <p:nvPr/>
        </p:nvSpPr>
        <p:spPr>
          <a:xfrm>
            <a:off x="6545183" y="3584829"/>
            <a:ext cx="55205" cy="198739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311" name="矩形 310">
            <a:extLst>
              <a:ext uri="{FF2B5EF4-FFF2-40B4-BE49-F238E27FC236}">
                <a16:creationId xmlns:a16="http://schemas.microsoft.com/office/drawing/2014/main" id="{2F39F452-1328-479F-B1D3-4626FC364BD6}"/>
              </a:ext>
            </a:extLst>
          </p:cNvPr>
          <p:cNvSpPr>
            <a:spLocks noGrp="1"/>
          </p:cNvSpPr>
          <p:nvPr/>
        </p:nvSpPr>
        <p:spPr>
          <a:xfrm>
            <a:off x="5993130" y="4221813"/>
            <a:ext cx="55205" cy="259890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312" name="矩形 311">
            <a:extLst>
              <a:ext uri="{FF2B5EF4-FFF2-40B4-BE49-F238E27FC236}">
                <a16:creationId xmlns:a16="http://schemas.microsoft.com/office/drawing/2014/main" id="{9CC49462-6FB9-454B-B9BE-6EB248FE826E}"/>
              </a:ext>
            </a:extLst>
          </p:cNvPr>
          <p:cNvSpPr>
            <a:spLocks noGrp="1"/>
          </p:cNvSpPr>
          <p:nvPr/>
        </p:nvSpPr>
        <p:spPr>
          <a:xfrm>
            <a:off x="6103541" y="4257485"/>
            <a:ext cx="55205" cy="198739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313" name="矩形 312">
            <a:extLst>
              <a:ext uri="{FF2B5EF4-FFF2-40B4-BE49-F238E27FC236}">
                <a16:creationId xmlns:a16="http://schemas.microsoft.com/office/drawing/2014/main" id="{5D643ACC-CAA0-4C04-825B-7BEDEDEEB889}"/>
              </a:ext>
            </a:extLst>
          </p:cNvPr>
          <p:cNvSpPr>
            <a:spLocks noGrp="1"/>
          </p:cNvSpPr>
          <p:nvPr/>
        </p:nvSpPr>
        <p:spPr>
          <a:xfrm>
            <a:off x="6213951" y="4221813"/>
            <a:ext cx="55205" cy="259890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314" name="矩形 313">
            <a:extLst>
              <a:ext uri="{FF2B5EF4-FFF2-40B4-BE49-F238E27FC236}">
                <a16:creationId xmlns:a16="http://schemas.microsoft.com/office/drawing/2014/main" id="{8EAF6D69-9583-4573-934D-EF14A3E166B9}"/>
              </a:ext>
            </a:extLst>
          </p:cNvPr>
          <p:cNvSpPr>
            <a:spLocks noGrp="1"/>
          </p:cNvSpPr>
          <p:nvPr/>
        </p:nvSpPr>
        <p:spPr>
          <a:xfrm>
            <a:off x="6324362" y="4257485"/>
            <a:ext cx="55205" cy="198739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315" name="矩形 314">
            <a:extLst>
              <a:ext uri="{FF2B5EF4-FFF2-40B4-BE49-F238E27FC236}">
                <a16:creationId xmlns:a16="http://schemas.microsoft.com/office/drawing/2014/main" id="{5BA0D901-6894-4F6D-AC7B-DDCBD78D3686}"/>
              </a:ext>
            </a:extLst>
          </p:cNvPr>
          <p:cNvSpPr>
            <a:spLocks noGrp="1"/>
          </p:cNvSpPr>
          <p:nvPr/>
        </p:nvSpPr>
        <p:spPr>
          <a:xfrm>
            <a:off x="6434773" y="4221813"/>
            <a:ext cx="55205" cy="259890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316" name="矩形 315">
            <a:extLst>
              <a:ext uri="{FF2B5EF4-FFF2-40B4-BE49-F238E27FC236}">
                <a16:creationId xmlns:a16="http://schemas.microsoft.com/office/drawing/2014/main" id="{6C287C28-90AC-46E8-9949-AD7FE48C13C6}"/>
              </a:ext>
            </a:extLst>
          </p:cNvPr>
          <p:cNvSpPr>
            <a:spLocks noGrp="1"/>
          </p:cNvSpPr>
          <p:nvPr/>
        </p:nvSpPr>
        <p:spPr>
          <a:xfrm>
            <a:off x="6545183" y="4257485"/>
            <a:ext cx="55205" cy="198739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317" name="same frozen reader">
            <a:extLst>
              <a:ext uri="{FF2B5EF4-FFF2-40B4-BE49-F238E27FC236}">
                <a16:creationId xmlns:a16="http://schemas.microsoft.com/office/drawing/2014/main" id="{ABE850B0-6262-46ED-8D58-3D3070E2FDB1}"/>
              </a:ext>
            </a:extLst>
          </p:cNvPr>
          <p:cNvSpPr>
            <a:spLocks noGrp="1"/>
          </p:cNvSpPr>
          <p:nvPr/>
        </p:nvSpPr>
        <p:spPr>
          <a:xfrm>
            <a:off x="5947267" y="3977211"/>
            <a:ext cx="789861" cy="15287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defPPr>
            <a:lvl1pPr algn="ct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1pPr>
            <a:lvl2pPr algn="ct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2pPr>
            <a:lvl3pPr algn="ct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3pPr>
            <a:lvl4pPr algn="ct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4pPr>
            <a:lvl5pPr algn="ct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5pPr>
            <a:lvl6pPr algn="ct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6pPr>
            <a:lvl7pPr algn="ct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7pPr>
            <a:lvl8pPr algn="ct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8pPr>
            <a:lvl9pPr algn="ct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pPr>
            <a:r>
              <a:rPr sz="682" b="0">
                <a:solidFill>
                  <a:srgbClr val="5D6773"/>
                </a:solidFill>
                <a:latin typeface="Arial"/>
                <a:ea typeface="Arial"/>
                <a:cs typeface="Arial"/>
              </a:rPr>
              <a:t>same frozen reader</a:t>
            </a:r>
          </a:p>
        </p:txBody>
      </p:sp>
      <p:sp>
        <p:nvSpPr>
          <p:cNvPr id="318" name="pT(a)">
            <a:extLst>
              <a:ext uri="{FF2B5EF4-FFF2-40B4-BE49-F238E27FC236}">
                <a16:creationId xmlns:a16="http://schemas.microsoft.com/office/drawing/2014/main" id="{CC3B052B-9911-4499-9BC8-28503DF13124}"/>
              </a:ext>
            </a:extLst>
          </p:cNvPr>
          <p:cNvSpPr>
            <a:spLocks noGrp="1"/>
          </p:cNvSpPr>
          <p:nvPr/>
        </p:nvSpPr>
        <p:spPr>
          <a:xfrm>
            <a:off x="7267099" y="3324939"/>
            <a:ext cx="535067" cy="1426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pT(a)</a:t>
            </a:r>
          </a:p>
        </p:txBody>
      </p:sp>
      <p:sp>
        <p:nvSpPr>
          <p:cNvPr id="319" name="矩形 318">
            <a:extLst>
              <a:ext uri="{FF2B5EF4-FFF2-40B4-BE49-F238E27FC236}">
                <a16:creationId xmlns:a16="http://schemas.microsoft.com/office/drawing/2014/main" id="{F0517164-FCA6-4287-85EB-9FA61363381D}"/>
              </a:ext>
            </a:extLst>
          </p:cNvPr>
          <p:cNvSpPr>
            <a:spLocks noGrp="1"/>
          </p:cNvSpPr>
          <p:nvPr/>
        </p:nvSpPr>
        <p:spPr>
          <a:xfrm>
            <a:off x="7267099" y="3651075"/>
            <a:ext cx="61151" cy="61151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320" name="矩形 319">
            <a:extLst>
              <a:ext uri="{FF2B5EF4-FFF2-40B4-BE49-F238E27FC236}">
                <a16:creationId xmlns:a16="http://schemas.microsoft.com/office/drawing/2014/main" id="{584449AA-793F-4A96-93F1-5828205B9D4A}"/>
              </a:ext>
            </a:extLst>
          </p:cNvPr>
          <p:cNvSpPr>
            <a:spLocks noGrp="1"/>
          </p:cNvSpPr>
          <p:nvPr/>
        </p:nvSpPr>
        <p:spPr>
          <a:xfrm>
            <a:off x="7343537" y="3564446"/>
            <a:ext cx="61151" cy="147780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321" name="矩形 320">
            <a:extLst>
              <a:ext uri="{FF2B5EF4-FFF2-40B4-BE49-F238E27FC236}">
                <a16:creationId xmlns:a16="http://schemas.microsoft.com/office/drawing/2014/main" id="{30925D60-E1E2-4127-8514-E63EFC7664C0}"/>
              </a:ext>
            </a:extLst>
          </p:cNvPr>
          <p:cNvSpPr>
            <a:spLocks noGrp="1"/>
          </p:cNvSpPr>
          <p:nvPr/>
        </p:nvSpPr>
        <p:spPr>
          <a:xfrm>
            <a:off x="7419975" y="3482912"/>
            <a:ext cx="61151" cy="229314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322" name="矩形 321">
            <a:extLst>
              <a:ext uri="{FF2B5EF4-FFF2-40B4-BE49-F238E27FC236}">
                <a16:creationId xmlns:a16="http://schemas.microsoft.com/office/drawing/2014/main" id="{389C9AED-5134-4E76-8EA2-BAF3EA71CA80}"/>
              </a:ext>
            </a:extLst>
          </p:cNvPr>
          <p:cNvSpPr>
            <a:spLocks noGrp="1"/>
          </p:cNvSpPr>
          <p:nvPr/>
        </p:nvSpPr>
        <p:spPr>
          <a:xfrm>
            <a:off x="7496413" y="3549158"/>
            <a:ext cx="61151" cy="163068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323" name="矩形 322">
            <a:extLst>
              <a:ext uri="{FF2B5EF4-FFF2-40B4-BE49-F238E27FC236}">
                <a16:creationId xmlns:a16="http://schemas.microsoft.com/office/drawing/2014/main" id="{7C710679-3678-4A28-BBC7-9842F042B9A0}"/>
              </a:ext>
            </a:extLst>
          </p:cNvPr>
          <p:cNvSpPr>
            <a:spLocks noGrp="1"/>
          </p:cNvSpPr>
          <p:nvPr/>
        </p:nvSpPr>
        <p:spPr>
          <a:xfrm>
            <a:off x="7572851" y="3615404"/>
            <a:ext cx="61151" cy="96822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324" name="矩形 323">
            <a:extLst>
              <a:ext uri="{FF2B5EF4-FFF2-40B4-BE49-F238E27FC236}">
                <a16:creationId xmlns:a16="http://schemas.microsoft.com/office/drawing/2014/main" id="{C22749EB-306B-4B97-ABDE-F6DE784C1C8C}"/>
              </a:ext>
            </a:extLst>
          </p:cNvPr>
          <p:cNvSpPr>
            <a:spLocks noGrp="1"/>
          </p:cNvSpPr>
          <p:nvPr/>
        </p:nvSpPr>
        <p:spPr>
          <a:xfrm>
            <a:off x="7649289" y="3661267"/>
            <a:ext cx="61151" cy="50959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cxnSp>
        <p:nvCxnSpPr>
          <p:cNvPr id="325" name="直接箭头连接符 324">
            <a:extLst>
              <a:ext uri="{FF2B5EF4-FFF2-40B4-BE49-F238E27FC236}">
                <a16:creationId xmlns:a16="http://schemas.microsoft.com/office/drawing/2014/main" id="{D8FC3995-CEF5-4C55-8258-FB4A8E673FF0}"/>
              </a:ext>
            </a:extLst>
          </p:cNvPr>
          <p:cNvCxnSpPr/>
          <p:nvPr/>
        </p:nvCxnSpPr>
        <p:spPr>
          <a:xfrm>
            <a:off x="7267099" y="3712226"/>
            <a:ext cx="504492" cy="0"/>
          </a:xfrm>
          <a:prstGeom prst="straightConnector1">
            <a:avLst/>
          </a:prstGeom>
          <a:ln w="4077">
            <a:solidFill>
              <a:srgbClr val="697681"/>
            </a:solidFill>
            <a:prstDash val="solid"/>
          </a:ln>
        </p:spPr>
      </p:cxnSp>
      <p:sp>
        <p:nvSpPr>
          <p:cNvPr id="326" name="pQ(a)">
            <a:extLst>
              <a:ext uri="{FF2B5EF4-FFF2-40B4-BE49-F238E27FC236}">
                <a16:creationId xmlns:a16="http://schemas.microsoft.com/office/drawing/2014/main" id="{0E2F8A00-C1D8-4F7F-99D5-5D3ED7E4A185}"/>
              </a:ext>
            </a:extLst>
          </p:cNvPr>
          <p:cNvSpPr>
            <a:spLocks noGrp="1"/>
          </p:cNvSpPr>
          <p:nvPr/>
        </p:nvSpPr>
        <p:spPr>
          <a:xfrm>
            <a:off x="7267099" y="3997595"/>
            <a:ext cx="535067" cy="1426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pQ(a)</a:t>
            </a:r>
          </a:p>
        </p:txBody>
      </p:sp>
      <p:sp>
        <p:nvSpPr>
          <p:cNvPr id="327" name="矩形 326">
            <a:extLst>
              <a:ext uri="{FF2B5EF4-FFF2-40B4-BE49-F238E27FC236}">
                <a16:creationId xmlns:a16="http://schemas.microsoft.com/office/drawing/2014/main" id="{A598CF31-BC08-46D6-BA2E-37478ECEBA41}"/>
              </a:ext>
            </a:extLst>
          </p:cNvPr>
          <p:cNvSpPr>
            <a:spLocks noGrp="1"/>
          </p:cNvSpPr>
          <p:nvPr/>
        </p:nvSpPr>
        <p:spPr>
          <a:xfrm>
            <a:off x="7267099" y="4323731"/>
            <a:ext cx="61151" cy="61151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328" name="矩形 327">
            <a:extLst>
              <a:ext uri="{FF2B5EF4-FFF2-40B4-BE49-F238E27FC236}">
                <a16:creationId xmlns:a16="http://schemas.microsoft.com/office/drawing/2014/main" id="{FDEA03EE-A266-4839-8E4D-1BD959B0727D}"/>
              </a:ext>
            </a:extLst>
          </p:cNvPr>
          <p:cNvSpPr>
            <a:spLocks noGrp="1"/>
          </p:cNvSpPr>
          <p:nvPr/>
        </p:nvSpPr>
        <p:spPr>
          <a:xfrm>
            <a:off x="7343537" y="4237101"/>
            <a:ext cx="61151" cy="147780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329" name="矩形 328">
            <a:extLst>
              <a:ext uri="{FF2B5EF4-FFF2-40B4-BE49-F238E27FC236}">
                <a16:creationId xmlns:a16="http://schemas.microsoft.com/office/drawing/2014/main" id="{72EDDABD-1C0E-4615-B2A3-541F3D90F6D3}"/>
              </a:ext>
            </a:extLst>
          </p:cNvPr>
          <p:cNvSpPr>
            <a:spLocks noGrp="1"/>
          </p:cNvSpPr>
          <p:nvPr/>
        </p:nvSpPr>
        <p:spPr>
          <a:xfrm>
            <a:off x="7419975" y="4155567"/>
            <a:ext cx="61151" cy="229314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330" name="矩形 329">
            <a:extLst>
              <a:ext uri="{FF2B5EF4-FFF2-40B4-BE49-F238E27FC236}">
                <a16:creationId xmlns:a16="http://schemas.microsoft.com/office/drawing/2014/main" id="{6C5EC445-9C5B-4C1C-8DE5-9D85D2C496C7}"/>
              </a:ext>
            </a:extLst>
          </p:cNvPr>
          <p:cNvSpPr>
            <a:spLocks noGrp="1"/>
          </p:cNvSpPr>
          <p:nvPr/>
        </p:nvSpPr>
        <p:spPr>
          <a:xfrm>
            <a:off x="7496413" y="4221813"/>
            <a:ext cx="61151" cy="163068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331" name="矩形 330">
            <a:extLst>
              <a:ext uri="{FF2B5EF4-FFF2-40B4-BE49-F238E27FC236}">
                <a16:creationId xmlns:a16="http://schemas.microsoft.com/office/drawing/2014/main" id="{90060F1E-FC63-45B8-8FA9-153B28045290}"/>
              </a:ext>
            </a:extLst>
          </p:cNvPr>
          <p:cNvSpPr>
            <a:spLocks noGrp="1"/>
          </p:cNvSpPr>
          <p:nvPr/>
        </p:nvSpPr>
        <p:spPr>
          <a:xfrm>
            <a:off x="7572851" y="4288060"/>
            <a:ext cx="61151" cy="96822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332" name="矩形 331">
            <a:extLst>
              <a:ext uri="{FF2B5EF4-FFF2-40B4-BE49-F238E27FC236}">
                <a16:creationId xmlns:a16="http://schemas.microsoft.com/office/drawing/2014/main" id="{0BECF423-FB77-4094-A07D-D988CF5EB82C}"/>
              </a:ext>
            </a:extLst>
          </p:cNvPr>
          <p:cNvSpPr>
            <a:spLocks noGrp="1"/>
          </p:cNvSpPr>
          <p:nvPr/>
        </p:nvSpPr>
        <p:spPr>
          <a:xfrm>
            <a:off x="7649289" y="4333923"/>
            <a:ext cx="61151" cy="50959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cxnSp>
        <p:nvCxnSpPr>
          <p:cNvPr id="333" name="直接箭头连接符 332">
            <a:extLst>
              <a:ext uri="{FF2B5EF4-FFF2-40B4-BE49-F238E27FC236}">
                <a16:creationId xmlns:a16="http://schemas.microsoft.com/office/drawing/2014/main" id="{76EFC08B-1EA0-4F4A-9334-B90EB0D51E22}"/>
              </a:ext>
            </a:extLst>
          </p:cNvPr>
          <p:cNvCxnSpPr/>
          <p:nvPr/>
        </p:nvCxnSpPr>
        <p:spPr>
          <a:xfrm>
            <a:off x="7267099" y="4384881"/>
            <a:ext cx="504492" cy="0"/>
          </a:xfrm>
          <a:prstGeom prst="straightConnector1">
            <a:avLst/>
          </a:prstGeom>
          <a:ln w="4077">
            <a:solidFill>
              <a:srgbClr val="697681"/>
            </a:solidFill>
            <a:prstDash val="solid"/>
          </a:ln>
        </p:spPr>
      </p:cxnSp>
      <p:sp>
        <p:nvSpPr>
          <p:cNvPr id="334" name="L_reader-KL&#10;soft-bin action&#10;consistency">
            <a:extLst>
              <a:ext uri="{FF2B5EF4-FFF2-40B4-BE49-F238E27FC236}">
                <a16:creationId xmlns:a16="http://schemas.microsoft.com/office/drawing/2014/main" id="{EE84F74C-F159-4850-BD88-FEEF89CA4161}"/>
              </a:ext>
            </a:extLst>
          </p:cNvPr>
          <p:cNvSpPr>
            <a:spLocks noGrp="1"/>
          </p:cNvSpPr>
          <p:nvPr/>
        </p:nvSpPr>
        <p:spPr>
          <a:xfrm>
            <a:off x="7888796" y="3727514"/>
            <a:ext cx="800052" cy="35671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L_reader-KL</a:t>
            </a:r>
          </a:p>
          <a:p>
            <a: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soft-bin action</a:t>
            </a:r>
          </a:p>
          <a:p>
            <a: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consistency</a:t>
            </a:r>
          </a:p>
        </p:txBody>
      </p:sp>
      <p:cxnSp>
        <p:nvCxnSpPr>
          <p:cNvPr id="335" name="直接箭头连接符 334">
            <a:extLst>
              <a:ext uri="{FF2B5EF4-FFF2-40B4-BE49-F238E27FC236}">
                <a16:creationId xmlns:a16="http://schemas.microsoft.com/office/drawing/2014/main" id="{2789E490-E573-480F-B45D-0BDB8F309A6D}"/>
              </a:ext>
            </a:extLst>
          </p:cNvPr>
          <p:cNvCxnSpPr/>
          <p:nvPr/>
        </p:nvCxnSpPr>
        <p:spPr>
          <a:xfrm>
            <a:off x="7802166" y="3656171"/>
            <a:ext cx="0" cy="728710"/>
          </a:xfrm>
          <a:prstGeom prst="straightConnector1">
            <a:avLst/>
          </a:prstGeom>
          <a:ln w="4077">
            <a:solidFill>
              <a:srgbClr val="697681"/>
            </a:solidFill>
            <a:prstDash val="solid"/>
          </a:ln>
        </p:spPr>
      </p:cxnSp>
      <p:cxnSp>
        <p:nvCxnSpPr>
          <p:cNvPr id="336" name="直接箭头连接符 335">
            <a:extLst>
              <a:ext uri="{FF2B5EF4-FFF2-40B4-BE49-F238E27FC236}">
                <a16:creationId xmlns:a16="http://schemas.microsoft.com/office/drawing/2014/main" id="{6F5641EF-BD8B-4237-9DF7-FB2B294F8384}"/>
              </a:ext>
            </a:extLst>
          </p:cNvPr>
          <p:cNvCxnSpPr/>
          <p:nvPr/>
        </p:nvCxnSpPr>
        <p:spPr>
          <a:xfrm>
            <a:off x="2792921" y="4553045"/>
            <a:ext cx="4779931" cy="0"/>
          </a:xfrm>
          <a:prstGeom prst="straightConnector1">
            <a:avLst/>
          </a:prstGeom>
          <a:ln w="4077">
            <a:solidFill>
              <a:srgbClr val="B96813"/>
            </a:solidFill>
            <a:prstDash val="dash"/>
          </a:ln>
        </p:spPr>
      </p:cxnSp>
      <p:cxnSp>
        <p:nvCxnSpPr>
          <p:cNvPr id="337" name="直接箭头连接符 336">
            <a:extLst>
              <a:ext uri="{FF2B5EF4-FFF2-40B4-BE49-F238E27FC236}">
                <a16:creationId xmlns:a16="http://schemas.microsoft.com/office/drawing/2014/main" id="{2DFBC484-CD0A-4489-93F7-C990E8842AB1}"/>
              </a:ext>
            </a:extLst>
          </p:cNvPr>
          <p:cNvCxnSpPr/>
          <p:nvPr/>
        </p:nvCxnSpPr>
        <p:spPr>
          <a:xfrm>
            <a:off x="2792921" y="4451128"/>
            <a:ext cx="0" cy="101918"/>
          </a:xfrm>
          <a:prstGeom prst="straightConnector1">
            <a:avLst/>
          </a:prstGeom>
          <a:ln w="4077">
            <a:solidFill>
              <a:srgbClr val="B96813"/>
            </a:solidFill>
            <a:prstDash val="dash"/>
          </a:ln>
        </p:spPr>
      </p:cxnSp>
      <p:sp>
        <p:nvSpPr>
          <p:cNvPr id="338" name="gradient to codebooks + gains">
            <a:extLst>
              <a:ext uri="{FF2B5EF4-FFF2-40B4-BE49-F238E27FC236}">
                <a16:creationId xmlns:a16="http://schemas.microsoft.com/office/drawing/2014/main" id="{90CE0D69-FC0B-4FD7-B8AA-E1533BEA76DF}"/>
              </a:ext>
            </a:extLst>
          </p:cNvPr>
          <p:cNvSpPr>
            <a:spLocks noGrp="1"/>
          </p:cNvSpPr>
          <p:nvPr/>
        </p:nvSpPr>
        <p:spPr>
          <a:xfrm>
            <a:off x="3827383" y="4522470"/>
            <a:ext cx="2446020" cy="12739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762" b="0">
                <a:solidFill>
                  <a:srgbClr val="B96813"/>
                </a:solidFill>
                <a:latin typeface="Arial"/>
                <a:ea typeface="Arial"/>
                <a:cs typeface="Arial"/>
              </a:defRPr>
            </a:defPPr>
            <a:lvl1pPr algn="ctr">
              <a:defRPr sz="762" b="0">
                <a:solidFill>
                  <a:srgbClr val="B96813"/>
                </a:solidFill>
                <a:latin typeface="Arial"/>
                <a:ea typeface="Arial"/>
                <a:cs typeface="Arial"/>
              </a:defRPr>
            </a:lvl1pPr>
            <a:lvl2pPr algn="ctr">
              <a:defRPr sz="762" b="0">
                <a:solidFill>
                  <a:srgbClr val="B96813"/>
                </a:solidFill>
                <a:latin typeface="Arial"/>
                <a:ea typeface="Arial"/>
                <a:cs typeface="Arial"/>
              </a:defRPr>
            </a:lvl2pPr>
            <a:lvl3pPr algn="ctr">
              <a:defRPr sz="762" b="0">
                <a:solidFill>
                  <a:srgbClr val="B96813"/>
                </a:solidFill>
                <a:latin typeface="Arial"/>
                <a:ea typeface="Arial"/>
                <a:cs typeface="Arial"/>
              </a:defRPr>
            </a:lvl3pPr>
            <a:lvl4pPr algn="ctr">
              <a:defRPr sz="762" b="0">
                <a:solidFill>
                  <a:srgbClr val="B96813"/>
                </a:solidFill>
                <a:latin typeface="Arial"/>
                <a:ea typeface="Arial"/>
                <a:cs typeface="Arial"/>
              </a:defRPr>
            </a:lvl4pPr>
            <a:lvl5pPr algn="ctr">
              <a:defRPr sz="762" b="0">
                <a:solidFill>
                  <a:srgbClr val="B96813"/>
                </a:solidFill>
                <a:latin typeface="Arial"/>
                <a:ea typeface="Arial"/>
                <a:cs typeface="Arial"/>
              </a:defRPr>
            </a:lvl5pPr>
            <a:lvl6pPr algn="ctr">
              <a:defRPr sz="762" b="0">
                <a:solidFill>
                  <a:srgbClr val="B96813"/>
                </a:solidFill>
                <a:latin typeface="Arial"/>
                <a:ea typeface="Arial"/>
                <a:cs typeface="Arial"/>
              </a:defRPr>
            </a:lvl6pPr>
            <a:lvl7pPr algn="ctr">
              <a:defRPr sz="762" b="0">
                <a:solidFill>
                  <a:srgbClr val="B96813"/>
                </a:solidFill>
                <a:latin typeface="Arial"/>
                <a:ea typeface="Arial"/>
                <a:cs typeface="Arial"/>
              </a:defRPr>
            </a:lvl7pPr>
            <a:lvl8pPr algn="ctr">
              <a:defRPr sz="762" b="0">
                <a:solidFill>
                  <a:srgbClr val="B96813"/>
                </a:solidFill>
                <a:latin typeface="Arial"/>
                <a:ea typeface="Arial"/>
                <a:cs typeface="Arial"/>
              </a:defRPr>
            </a:lvl8pPr>
            <a:lvl9pPr algn="ctr">
              <a:defRPr sz="762" b="0">
                <a:solidFill>
                  <a:srgbClr val="B96813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762" b="0">
                <a:solidFill>
                  <a:srgbClr val="B96813"/>
                </a:solidFill>
                <a:latin typeface="Arial"/>
                <a:ea typeface="Arial"/>
                <a:cs typeface="Arial"/>
              </a:defRPr>
            </a:pPr>
            <a:r>
              <a:rPr sz="762" b="0">
                <a:solidFill>
                  <a:srgbClr val="B96813"/>
                </a:solidFill>
                <a:latin typeface="Arial"/>
                <a:ea typeface="Arial"/>
                <a:cs typeface="Arial"/>
              </a:rPr>
              <a:t>gradient to codebooks + gains</a:t>
            </a:r>
          </a:p>
        </p:txBody>
      </p:sp>
      <p:sp>
        <p:nvSpPr>
          <p:cNvPr id="339" name="L = L_action + λ L_future + β L_reader-KL">
            <a:extLst>
              <a:ext uri="{FF2B5EF4-FFF2-40B4-BE49-F238E27FC236}">
                <a16:creationId xmlns:a16="http://schemas.microsoft.com/office/drawing/2014/main" id="{5471B35D-4890-4F07-8306-8E4CFC6762A9}"/>
              </a:ext>
            </a:extLst>
          </p:cNvPr>
          <p:cNvSpPr>
            <a:spLocks noGrp="1"/>
          </p:cNvSpPr>
          <p:nvPr/>
        </p:nvSpPr>
        <p:spPr>
          <a:xfrm>
            <a:off x="3139440" y="4675346"/>
            <a:ext cx="4586288" cy="12739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0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L = L_action + λ L_future + β L_reader-KL</a:t>
            </a:r>
          </a:p>
        </p:txBody>
      </p:sp>
      <p:sp>
        <p:nvSpPr>
          <p:cNvPr id="340" name="Calibration only">
            <a:extLst>
              <a:ext uri="{FF2B5EF4-FFF2-40B4-BE49-F238E27FC236}">
                <a16:creationId xmlns:a16="http://schemas.microsoft.com/office/drawing/2014/main" id="{E1715759-F4E5-45C9-B6E1-C9DC045F2CA9}"/>
              </a:ext>
            </a:extLst>
          </p:cNvPr>
          <p:cNvSpPr>
            <a:spLocks noGrp="1"/>
          </p:cNvSpPr>
          <p:nvPr/>
        </p:nvSpPr>
        <p:spPr>
          <a:xfrm>
            <a:off x="7649289" y="4654963"/>
            <a:ext cx="993696" cy="1172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defPPr>
            <a:lvl1pPr algn="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1pPr>
            <a:lvl2pPr algn="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2pPr>
            <a:lvl3pPr algn="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3pPr>
            <a:lvl4pPr algn="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4pPr>
            <a:lvl5pPr algn="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5pPr>
            <a:lvl6pPr algn="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6pPr>
            <a:lvl7pPr algn="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7pPr>
            <a:lvl8pPr algn="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8pPr>
            <a:lvl9pPr algn="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pPr>
            <a:r>
              <a:rPr sz="682" b="0">
                <a:solidFill>
                  <a:srgbClr val="5D6773"/>
                </a:solidFill>
                <a:latin typeface="Arial"/>
                <a:ea typeface="Arial"/>
                <a:cs typeface="Arial"/>
              </a:rPr>
              <a:t>Calibration only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5E3CFFFB-BB4A-43C7-AE94-36282174E364}"/>
              </a:ext>
            </a:extLst>
          </p:cNvPr>
          <p:cNvSpPr>
            <a:spLocks noGrp="1"/>
          </p:cNvSpPr>
          <p:nvPr/>
        </p:nvSpPr>
        <p:spPr>
          <a:xfrm>
            <a:off x="904875" y="704850"/>
            <a:ext cx="6900863" cy="3811905"/>
          </a:xfrm>
          <a:prstGeom prst="rect">
            <a:avLst/>
          </a:prstGeom>
          <a:solidFill>
            <a:srgbClr val="FFFFFF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103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103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103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103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103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103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103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103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103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103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cxnSp>
        <p:nvCxnSpPr>
          <p:cNvPr id="5" name="连接符: 肘形 4">
            <a:extLst>
              <a:ext uri="{FF2B5EF4-FFF2-40B4-BE49-F238E27FC236}">
                <a16:creationId xmlns:a16="http://schemas.microsoft.com/office/drawing/2014/main" id="{550180F4-D8C9-49D1-B50E-DF3317ACF110}"/>
              </a:ext>
            </a:extLst>
          </p:cNvPr>
          <p:cNvCxnSpPr>
            <a:stCxn id="183" idx="2"/>
            <a:endCxn id="184" idx="6"/>
          </p:cNvCxnSpPr>
          <p:nvPr/>
        </p:nvCxnSpPr>
        <p:spPr>
          <a:xfrm flipH="1">
            <a:off x="7128796" y="3642646"/>
            <a:ext cx="348330" cy="115015"/>
          </a:xfrm>
          <a:prstGeom prst="bentConnector3">
            <a:avLst>
              <a:gd name="adj1" fmla="val 0"/>
            </a:avLst>
          </a:prstGeom>
          <a:ln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6" name="连接符: 肘形 5">
            <a:extLst>
              <a:ext uri="{FF2B5EF4-FFF2-40B4-BE49-F238E27FC236}">
                <a16:creationId xmlns:a16="http://schemas.microsoft.com/office/drawing/2014/main" id="{FD172D56-90A0-4923-9AAA-1CC364592458}"/>
              </a:ext>
            </a:extLst>
          </p:cNvPr>
          <p:cNvCxnSpPr>
            <a:stCxn id="178" idx="2"/>
            <a:endCxn id="184" idx="2"/>
          </p:cNvCxnSpPr>
          <p:nvPr/>
        </p:nvCxnSpPr>
        <p:spPr>
          <a:xfrm>
            <a:off x="6464999" y="3642646"/>
            <a:ext cx="433768" cy="115015"/>
          </a:xfrm>
          <a:prstGeom prst="bentConnector3">
            <a:avLst>
              <a:gd name="adj1" fmla="val 0"/>
            </a:avLst>
          </a:prstGeom>
          <a:ln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06D572D9-B375-4689-88CE-68B26B4896CF}"/>
              </a:ext>
            </a:extLst>
          </p:cNvPr>
          <p:cNvCxnSpPr>
            <a:stCxn id="173" idx="2"/>
            <a:endCxn id="183" idx="0"/>
          </p:cNvCxnSpPr>
          <p:nvPr/>
        </p:nvCxnSpPr>
        <p:spPr>
          <a:xfrm>
            <a:off x="7411403" y="3333750"/>
            <a:ext cx="65723" cy="177451"/>
          </a:xfrm>
          <a:prstGeom prst="straightConnector1">
            <a:avLst/>
          </a:prstGeom>
          <a:ln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4997C7D4-5825-4A37-81AA-F4CB240E16E3}"/>
              </a:ext>
            </a:extLst>
          </p:cNvPr>
          <p:cNvCxnSpPr>
            <a:stCxn id="172" idx="2"/>
            <a:endCxn id="178" idx="0"/>
          </p:cNvCxnSpPr>
          <p:nvPr/>
        </p:nvCxnSpPr>
        <p:spPr>
          <a:xfrm flipH="1">
            <a:off x="6464999" y="3333750"/>
            <a:ext cx="72295" cy="177451"/>
          </a:xfrm>
          <a:prstGeom prst="straightConnector1">
            <a:avLst/>
          </a:prstGeom>
          <a:ln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EE0A9A3C-A419-41D0-AF3A-A61FEE56F9F7}"/>
              </a:ext>
            </a:extLst>
          </p:cNvPr>
          <p:cNvCxnSpPr>
            <a:stCxn id="171" idx="2"/>
            <a:endCxn id="173" idx="0"/>
          </p:cNvCxnSpPr>
          <p:nvPr/>
        </p:nvCxnSpPr>
        <p:spPr>
          <a:xfrm>
            <a:off x="7411403" y="2821115"/>
            <a:ext cx="0" cy="328612"/>
          </a:xfrm>
          <a:prstGeom prst="straightConnector1">
            <a:avLst/>
          </a:prstGeom>
          <a:ln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FA59E054-A53A-4894-B573-7D8FFC929DBE}"/>
              </a:ext>
            </a:extLst>
          </p:cNvPr>
          <p:cNvCxnSpPr>
            <a:stCxn id="153" idx="2"/>
            <a:endCxn id="172" idx="0"/>
          </p:cNvCxnSpPr>
          <p:nvPr/>
        </p:nvCxnSpPr>
        <p:spPr>
          <a:xfrm>
            <a:off x="6537294" y="2821115"/>
            <a:ext cx="0" cy="328612"/>
          </a:xfrm>
          <a:prstGeom prst="straightConnector1">
            <a:avLst/>
          </a:prstGeom>
          <a:ln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EFCBBCDC-8E0D-480C-8D59-D970B21B5264}"/>
              </a:ext>
            </a:extLst>
          </p:cNvPr>
          <p:cNvCxnSpPr>
            <a:stCxn id="116" idx="3"/>
            <a:endCxn id="134" idx="1"/>
          </p:cNvCxnSpPr>
          <p:nvPr/>
        </p:nvCxnSpPr>
        <p:spPr>
          <a:xfrm>
            <a:off x="4683919" y="2525364"/>
            <a:ext cx="525780" cy="26288"/>
          </a:xfrm>
          <a:prstGeom prst="straightConnector1">
            <a:avLst/>
          </a:prstGeom>
          <a:ln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BD00AB54-737F-4682-9116-E1C663B5ECA0}"/>
              </a:ext>
            </a:extLst>
          </p:cNvPr>
          <p:cNvCxnSpPr>
            <a:stCxn id="115" idx="3"/>
            <a:endCxn id="116" idx="1"/>
          </p:cNvCxnSpPr>
          <p:nvPr/>
        </p:nvCxnSpPr>
        <p:spPr>
          <a:xfrm>
            <a:off x="4066127" y="2525364"/>
            <a:ext cx="138018" cy="0"/>
          </a:xfrm>
          <a:prstGeom prst="straightConnector1">
            <a:avLst/>
          </a:prstGeom>
          <a:ln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71AFD460-3CF4-4559-8DB4-3641274728A3}"/>
              </a:ext>
            </a:extLst>
          </p:cNvPr>
          <p:cNvCxnSpPr>
            <a:stCxn id="114" idx="3"/>
            <a:endCxn id="115" idx="1"/>
          </p:cNvCxnSpPr>
          <p:nvPr/>
        </p:nvCxnSpPr>
        <p:spPr>
          <a:xfrm>
            <a:off x="3422046" y="2525364"/>
            <a:ext cx="111729" cy="0"/>
          </a:xfrm>
          <a:prstGeom prst="straightConnector1">
            <a:avLst/>
          </a:prstGeom>
          <a:ln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CC51FDB0-0E8D-4E16-8B8D-F4B104502CFA}"/>
              </a:ext>
            </a:extLst>
          </p:cNvPr>
          <p:cNvCxnSpPr>
            <a:stCxn id="113" idx="3"/>
            <a:endCxn id="114" idx="1"/>
          </p:cNvCxnSpPr>
          <p:nvPr/>
        </p:nvCxnSpPr>
        <p:spPr>
          <a:xfrm flipV="1">
            <a:off x="2856834" y="2525364"/>
            <a:ext cx="184022" cy="19716"/>
          </a:xfrm>
          <a:prstGeom prst="straightConnector1">
            <a:avLst/>
          </a:prstGeom>
          <a:ln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7F030E4D-DF92-4845-B959-D2FC30BF665F}"/>
              </a:ext>
            </a:extLst>
          </p:cNvPr>
          <p:cNvCxnSpPr>
            <a:stCxn id="52" idx="3"/>
            <a:endCxn id="78" idx="1"/>
          </p:cNvCxnSpPr>
          <p:nvPr/>
        </p:nvCxnSpPr>
        <p:spPr>
          <a:xfrm flipV="1">
            <a:off x="6261259" y="1391650"/>
            <a:ext cx="676942" cy="6572"/>
          </a:xfrm>
          <a:prstGeom prst="straightConnector1">
            <a:avLst/>
          </a:prstGeom>
          <a:ln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AFC5AA88-88D6-44C8-B0D6-5349329A7E8B}"/>
              </a:ext>
            </a:extLst>
          </p:cNvPr>
          <p:cNvCxnSpPr>
            <a:stCxn id="51" idx="3"/>
            <a:endCxn id="52" idx="1"/>
          </p:cNvCxnSpPr>
          <p:nvPr/>
        </p:nvCxnSpPr>
        <p:spPr>
          <a:xfrm>
            <a:off x="4881087" y="1398222"/>
            <a:ext cx="328612" cy="0"/>
          </a:xfrm>
          <a:prstGeom prst="straightConnector1">
            <a:avLst/>
          </a:prstGeom>
          <a:ln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547E8AB5-1C6A-4BAE-804E-463FE419EB60}"/>
              </a:ext>
            </a:extLst>
          </p:cNvPr>
          <p:cNvCxnSpPr>
            <a:stCxn id="50" idx="3"/>
            <a:endCxn id="51" idx="1"/>
          </p:cNvCxnSpPr>
          <p:nvPr/>
        </p:nvCxnSpPr>
        <p:spPr>
          <a:xfrm>
            <a:off x="4237006" y="1398222"/>
            <a:ext cx="151162" cy="0"/>
          </a:xfrm>
          <a:prstGeom prst="straightConnector1">
            <a:avLst/>
          </a:prstGeom>
          <a:ln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F88B1D2F-6809-4707-8E25-3188C02B9DC4}"/>
              </a:ext>
            </a:extLst>
          </p:cNvPr>
          <p:cNvCxnSpPr>
            <a:stCxn id="49" idx="3"/>
            <a:endCxn id="50" idx="1"/>
          </p:cNvCxnSpPr>
          <p:nvPr/>
        </p:nvCxnSpPr>
        <p:spPr>
          <a:xfrm>
            <a:off x="3566637" y="1398222"/>
            <a:ext cx="131444" cy="0"/>
          </a:xfrm>
          <a:prstGeom prst="straightConnector1">
            <a:avLst/>
          </a:prstGeom>
          <a:ln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A55EAD1A-4413-421C-B1FE-CBFCB695FC86}"/>
              </a:ext>
            </a:extLst>
          </p:cNvPr>
          <p:cNvCxnSpPr>
            <a:stCxn id="48" idx="3"/>
            <a:endCxn id="49" idx="1"/>
          </p:cNvCxnSpPr>
          <p:nvPr/>
        </p:nvCxnSpPr>
        <p:spPr>
          <a:xfrm>
            <a:off x="2810828" y="1391650"/>
            <a:ext cx="295751" cy="6572"/>
          </a:xfrm>
          <a:prstGeom prst="straightConnector1">
            <a:avLst/>
          </a:prstGeom>
          <a:ln w="9525">
            <a:solidFill>
              <a:srgbClr val="18222F"/>
            </a:solidFill>
            <a:prstDash val="solid"/>
            <a:tailEnd type="triangle" w="sm" len="sm"/>
          </a:ln>
        </p:spPr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33400"/>
          </a:xfrm>
          <a:prstGeom prst="rect">
            <a:avLst/>
          </a:prstGeom>
        </p:spPr>
        <p:txBody>
          <a:bodyPr vert="horz" lIns="0" tIns="0" rIns="0" bIns="0" anchor="ctr">
            <a:noAutofit/>
          </a:bodyPr>
          <a:lstStyle>
            <a:def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Q0: paired transforms and microscaling VQ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(a) Paired transforms and microscaling VQ">
            <a:extLst>
              <a:ext uri="{FF2B5EF4-FFF2-40B4-BE49-F238E27FC236}">
                <a16:creationId xmlns:a16="http://schemas.microsoft.com/office/drawing/2014/main" id="{CD0956F6-1B3D-4C51-A644-E0B6224C980C}"/>
              </a:ext>
            </a:extLst>
          </p:cNvPr>
          <p:cNvSpPr>
            <a:spLocks noGrp="1"/>
          </p:cNvSpPr>
          <p:nvPr/>
        </p:nvSpPr>
        <p:spPr>
          <a:xfrm>
            <a:off x="970598" y="737711"/>
            <a:ext cx="6769417" cy="23002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9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139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139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139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139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139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139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139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139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139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9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397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(a) Paired transforms and microscaling VQ</a:t>
            </a:r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8738CC02-A33B-4194-A2D2-0546CF2E6D64}"/>
              </a:ext>
            </a:extLst>
          </p:cNvPr>
          <p:cNvCxnSpPr/>
          <p:nvPr/>
        </p:nvCxnSpPr>
        <p:spPr>
          <a:xfrm>
            <a:off x="957453" y="1000601"/>
            <a:ext cx="6795706" cy="0"/>
          </a:xfrm>
          <a:prstGeom prst="straightConnector1">
            <a:avLst/>
          </a:prstGeom>
          <a:ln w="5258">
            <a:solidFill>
              <a:srgbClr val="697681"/>
            </a:solidFill>
            <a:prstDash val="solid"/>
          </a:ln>
        </p:spPr>
      </p:cxnSp>
      <p:sp>
        <p:nvSpPr>
          <p:cNvPr id="22" name="Activation transform&#10;and quantization&#10;(per token)">
            <a:extLst>
              <a:ext uri="{FF2B5EF4-FFF2-40B4-BE49-F238E27FC236}">
                <a16:creationId xmlns:a16="http://schemas.microsoft.com/office/drawing/2014/main" id="{22015FC2-C05A-4243-A6FA-9FFE8F17035D}"/>
              </a:ext>
            </a:extLst>
          </p:cNvPr>
          <p:cNvSpPr>
            <a:spLocks noGrp="1"/>
          </p:cNvSpPr>
          <p:nvPr/>
        </p:nvSpPr>
        <p:spPr>
          <a:xfrm>
            <a:off x="1003459" y="1158335"/>
            <a:ext cx="1117283" cy="62436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0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10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10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10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10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10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10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10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10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10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0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035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Activation transform</a:t>
            </a:r>
          </a:p>
          <a:p>
            <a:pPr algn="l">
              <a:defRPr sz="10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035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and quantization</a:t>
            </a:r>
          </a:p>
          <a:p>
            <a:pPr algn="l">
              <a:defRPr sz="10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035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(per token)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FF1EB24-BDA5-41B8-8729-DEE2733F46DF}"/>
              </a:ext>
            </a:extLst>
          </p:cNvPr>
          <p:cNvSpPr>
            <a:spLocks noGrp="1"/>
          </p:cNvSpPr>
          <p:nvPr/>
        </p:nvSpPr>
        <p:spPr>
          <a:xfrm>
            <a:off x="2219325" y="1178052"/>
            <a:ext cx="98584" cy="106799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12E7449-C980-48D4-9610-5A734F870D63}"/>
              </a:ext>
            </a:extLst>
          </p:cNvPr>
          <p:cNvSpPr>
            <a:spLocks noGrp="1"/>
          </p:cNvSpPr>
          <p:nvPr/>
        </p:nvSpPr>
        <p:spPr>
          <a:xfrm>
            <a:off x="2317909" y="1178052"/>
            <a:ext cx="98584" cy="106799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3595A9D-E9EF-4E96-B7A8-8FB8151F04C6}"/>
              </a:ext>
            </a:extLst>
          </p:cNvPr>
          <p:cNvSpPr>
            <a:spLocks noGrp="1"/>
          </p:cNvSpPr>
          <p:nvPr/>
        </p:nvSpPr>
        <p:spPr>
          <a:xfrm>
            <a:off x="2416493" y="1178052"/>
            <a:ext cx="98584" cy="106799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0D73E23-A861-427A-9C5D-66F1092D12FB}"/>
              </a:ext>
            </a:extLst>
          </p:cNvPr>
          <p:cNvSpPr>
            <a:spLocks noGrp="1"/>
          </p:cNvSpPr>
          <p:nvPr/>
        </p:nvSpPr>
        <p:spPr>
          <a:xfrm>
            <a:off x="2515076" y="1178052"/>
            <a:ext cx="98584" cy="106799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2755834-5C78-40F9-8EA7-B95F5434669F}"/>
              </a:ext>
            </a:extLst>
          </p:cNvPr>
          <p:cNvSpPr>
            <a:spLocks noGrp="1"/>
          </p:cNvSpPr>
          <p:nvPr/>
        </p:nvSpPr>
        <p:spPr>
          <a:xfrm>
            <a:off x="2613660" y="1178052"/>
            <a:ext cx="98584" cy="106799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24ECACA-10D2-4785-A12A-36C8978A0B49}"/>
              </a:ext>
            </a:extLst>
          </p:cNvPr>
          <p:cNvSpPr>
            <a:spLocks noGrp="1"/>
          </p:cNvSpPr>
          <p:nvPr/>
        </p:nvSpPr>
        <p:spPr>
          <a:xfrm>
            <a:off x="2712244" y="1178052"/>
            <a:ext cx="98584" cy="106799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65CD7A97-1447-466F-BB7D-26A0D6968AD1}"/>
              </a:ext>
            </a:extLst>
          </p:cNvPr>
          <p:cNvSpPr>
            <a:spLocks noGrp="1"/>
          </p:cNvSpPr>
          <p:nvPr/>
        </p:nvSpPr>
        <p:spPr>
          <a:xfrm>
            <a:off x="2219325" y="1284851"/>
            <a:ext cx="98584" cy="106799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C8922CAB-7076-4388-843A-B31C219B55BE}"/>
              </a:ext>
            </a:extLst>
          </p:cNvPr>
          <p:cNvSpPr>
            <a:spLocks noGrp="1"/>
          </p:cNvSpPr>
          <p:nvPr/>
        </p:nvSpPr>
        <p:spPr>
          <a:xfrm>
            <a:off x="2317909" y="1284851"/>
            <a:ext cx="98584" cy="106799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DBBE93C-0EE1-4BBB-98CF-58F5F7703CF6}"/>
              </a:ext>
            </a:extLst>
          </p:cNvPr>
          <p:cNvSpPr>
            <a:spLocks noGrp="1"/>
          </p:cNvSpPr>
          <p:nvPr/>
        </p:nvSpPr>
        <p:spPr>
          <a:xfrm>
            <a:off x="2416493" y="1284851"/>
            <a:ext cx="98584" cy="106799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60A3694B-E134-44F4-9DED-8B2FD1802DB4}"/>
              </a:ext>
            </a:extLst>
          </p:cNvPr>
          <p:cNvSpPr>
            <a:spLocks noGrp="1"/>
          </p:cNvSpPr>
          <p:nvPr/>
        </p:nvSpPr>
        <p:spPr>
          <a:xfrm>
            <a:off x="2515076" y="1284851"/>
            <a:ext cx="98584" cy="106799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091FDA6-108E-47FF-AF6A-FB73498C34DD}"/>
              </a:ext>
            </a:extLst>
          </p:cNvPr>
          <p:cNvSpPr>
            <a:spLocks noGrp="1"/>
          </p:cNvSpPr>
          <p:nvPr/>
        </p:nvSpPr>
        <p:spPr>
          <a:xfrm>
            <a:off x="2613660" y="1284851"/>
            <a:ext cx="98584" cy="106799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618A7219-5A0D-4CB7-A97A-881370516A4F}"/>
              </a:ext>
            </a:extLst>
          </p:cNvPr>
          <p:cNvSpPr>
            <a:spLocks noGrp="1"/>
          </p:cNvSpPr>
          <p:nvPr/>
        </p:nvSpPr>
        <p:spPr>
          <a:xfrm>
            <a:off x="2712244" y="1284851"/>
            <a:ext cx="98584" cy="106799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C910EAF8-F144-4652-A711-7B8952EAA288}"/>
              </a:ext>
            </a:extLst>
          </p:cNvPr>
          <p:cNvSpPr>
            <a:spLocks noGrp="1"/>
          </p:cNvSpPr>
          <p:nvPr/>
        </p:nvSpPr>
        <p:spPr>
          <a:xfrm>
            <a:off x="2219325" y="1391650"/>
            <a:ext cx="98584" cy="106799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6187BD4-184E-4F14-9183-DDD3C735B4A4}"/>
              </a:ext>
            </a:extLst>
          </p:cNvPr>
          <p:cNvSpPr>
            <a:spLocks noGrp="1"/>
          </p:cNvSpPr>
          <p:nvPr/>
        </p:nvSpPr>
        <p:spPr>
          <a:xfrm>
            <a:off x="2317909" y="1391650"/>
            <a:ext cx="98584" cy="106799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41668C01-1E7E-4B19-B087-B4D9550EBD87}"/>
              </a:ext>
            </a:extLst>
          </p:cNvPr>
          <p:cNvSpPr>
            <a:spLocks noGrp="1"/>
          </p:cNvSpPr>
          <p:nvPr/>
        </p:nvSpPr>
        <p:spPr>
          <a:xfrm>
            <a:off x="2416493" y="1391650"/>
            <a:ext cx="98584" cy="106799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87DAFADF-FDB1-4851-AD63-AE3BC84C9661}"/>
              </a:ext>
            </a:extLst>
          </p:cNvPr>
          <p:cNvSpPr>
            <a:spLocks noGrp="1"/>
          </p:cNvSpPr>
          <p:nvPr/>
        </p:nvSpPr>
        <p:spPr>
          <a:xfrm>
            <a:off x="2515076" y="1391650"/>
            <a:ext cx="98584" cy="106799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71D959A9-5190-4CB2-A58A-8BDAC700B1FC}"/>
              </a:ext>
            </a:extLst>
          </p:cNvPr>
          <p:cNvSpPr>
            <a:spLocks noGrp="1"/>
          </p:cNvSpPr>
          <p:nvPr/>
        </p:nvSpPr>
        <p:spPr>
          <a:xfrm>
            <a:off x="2613660" y="1391650"/>
            <a:ext cx="98584" cy="106799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EBBA0BC4-C535-48E5-9BB0-89525B7BA603}"/>
              </a:ext>
            </a:extLst>
          </p:cNvPr>
          <p:cNvSpPr>
            <a:spLocks noGrp="1"/>
          </p:cNvSpPr>
          <p:nvPr/>
        </p:nvSpPr>
        <p:spPr>
          <a:xfrm>
            <a:off x="2712244" y="1391650"/>
            <a:ext cx="98584" cy="106799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685C1059-7B2D-49D2-AA0C-08F1A44962B7}"/>
              </a:ext>
            </a:extLst>
          </p:cNvPr>
          <p:cNvSpPr>
            <a:spLocks noGrp="1"/>
          </p:cNvSpPr>
          <p:nvPr/>
        </p:nvSpPr>
        <p:spPr>
          <a:xfrm>
            <a:off x="2219325" y="1498449"/>
            <a:ext cx="98584" cy="106799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9AC6D8E1-07D0-48F4-A406-89D486966E1A}"/>
              </a:ext>
            </a:extLst>
          </p:cNvPr>
          <p:cNvSpPr>
            <a:spLocks noGrp="1"/>
          </p:cNvSpPr>
          <p:nvPr/>
        </p:nvSpPr>
        <p:spPr>
          <a:xfrm>
            <a:off x="2317909" y="1498449"/>
            <a:ext cx="98584" cy="106799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E3CE0852-6340-429F-ABCA-A965A0CA918D}"/>
              </a:ext>
            </a:extLst>
          </p:cNvPr>
          <p:cNvSpPr>
            <a:spLocks noGrp="1"/>
          </p:cNvSpPr>
          <p:nvPr/>
        </p:nvSpPr>
        <p:spPr>
          <a:xfrm>
            <a:off x="2416493" y="1498449"/>
            <a:ext cx="98584" cy="106799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E86F9E00-449D-49D7-96D1-AFD1B6F1FE9C}"/>
              </a:ext>
            </a:extLst>
          </p:cNvPr>
          <p:cNvSpPr>
            <a:spLocks noGrp="1"/>
          </p:cNvSpPr>
          <p:nvPr/>
        </p:nvSpPr>
        <p:spPr>
          <a:xfrm>
            <a:off x="2515076" y="1498449"/>
            <a:ext cx="98584" cy="106799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A0AE49E2-F5CE-4584-A17E-B7054ED3084C}"/>
              </a:ext>
            </a:extLst>
          </p:cNvPr>
          <p:cNvSpPr>
            <a:spLocks noGrp="1"/>
          </p:cNvSpPr>
          <p:nvPr/>
        </p:nvSpPr>
        <p:spPr>
          <a:xfrm>
            <a:off x="2613660" y="1498449"/>
            <a:ext cx="98584" cy="106799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7912A8B0-0936-4F9B-AD2B-B1330F7A6E4D}"/>
              </a:ext>
            </a:extLst>
          </p:cNvPr>
          <p:cNvSpPr>
            <a:spLocks noGrp="1"/>
          </p:cNvSpPr>
          <p:nvPr/>
        </p:nvSpPr>
        <p:spPr>
          <a:xfrm>
            <a:off x="2712244" y="1498449"/>
            <a:ext cx="98584" cy="106799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47" name="X">
            <a:extLst>
              <a:ext uri="{FF2B5EF4-FFF2-40B4-BE49-F238E27FC236}">
                <a16:creationId xmlns:a16="http://schemas.microsoft.com/office/drawing/2014/main" id="{4E7921FF-2DA3-4073-8128-6E8389D3399F}"/>
              </a:ext>
            </a:extLst>
          </p:cNvPr>
          <p:cNvSpPr>
            <a:spLocks noGrp="1"/>
          </p:cNvSpPr>
          <p:nvPr/>
        </p:nvSpPr>
        <p:spPr>
          <a:xfrm>
            <a:off x="2219325" y="980884"/>
            <a:ext cx="591503" cy="17745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08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108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108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108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108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108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108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108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108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108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08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087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D25F2C27-CDBA-4160-9A4B-19E4FF394877}"/>
              </a:ext>
            </a:extLst>
          </p:cNvPr>
          <p:cNvSpPr>
            <a:spLocks noGrp="1"/>
          </p:cNvSpPr>
          <p:nvPr/>
        </p:nvSpPr>
        <p:spPr>
          <a:xfrm>
            <a:off x="2219325" y="1178052"/>
            <a:ext cx="591503" cy="427196"/>
          </a:xfrm>
          <a:prstGeom prst="rect">
            <a:avLst/>
          </a:prstGeom>
          <a:noFill/>
          <a:ln w="7620">
            <a:noFill/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49" name="S⁻¹">
            <a:extLst>
              <a:ext uri="{FF2B5EF4-FFF2-40B4-BE49-F238E27FC236}">
                <a16:creationId xmlns:a16="http://schemas.microsoft.com/office/drawing/2014/main" id="{DFF4C1AC-3BB6-416E-9D7A-128AD63CF166}"/>
              </a:ext>
            </a:extLst>
          </p:cNvPr>
          <p:cNvSpPr>
            <a:spLocks noGrp="1"/>
          </p:cNvSpPr>
          <p:nvPr/>
        </p:nvSpPr>
        <p:spPr>
          <a:xfrm>
            <a:off x="3106579" y="1184624"/>
            <a:ext cx="460058" cy="427196"/>
          </a:xfrm>
          <a:prstGeom prst="rect">
            <a:avLst/>
          </a:prstGeom>
          <a:solidFill>
            <a:srgbClr val="EDF0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129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129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129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129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129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129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129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129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129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129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9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294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S⁻¹</a:t>
            </a:r>
          </a:p>
        </p:txBody>
      </p:sp>
      <p:sp>
        <p:nvSpPr>
          <p:cNvPr id="50" name="signed&#10;H128">
            <a:extLst>
              <a:ext uri="{FF2B5EF4-FFF2-40B4-BE49-F238E27FC236}">
                <a16:creationId xmlns:a16="http://schemas.microsoft.com/office/drawing/2014/main" id="{6ABEC037-0B51-4466-BCE0-7D0635242829}"/>
              </a:ext>
            </a:extLst>
          </p:cNvPr>
          <p:cNvSpPr>
            <a:spLocks noGrp="1"/>
          </p:cNvSpPr>
          <p:nvPr/>
        </p:nvSpPr>
        <p:spPr>
          <a:xfrm>
            <a:off x="3698081" y="1184624"/>
            <a:ext cx="538925" cy="427196"/>
          </a:xfrm>
          <a:prstGeom prst="rect">
            <a:avLst/>
          </a:prstGeom>
          <a:solidFill>
            <a:srgbClr val="EDF0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108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108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108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108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108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108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108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108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108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108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08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087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signed</a:t>
            </a:r>
          </a:p>
          <a:p>
            <a:pPr algn="ctr">
              <a:defRPr sz="108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087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H128</a:t>
            </a:r>
          </a:p>
        </p:txBody>
      </p:sp>
      <p:sp>
        <p:nvSpPr>
          <p:cNvPr id="51" name="U128">
            <a:extLst>
              <a:ext uri="{FF2B5EF4-FFF2-40B4-BE49-F238E27FC236}">
                <a16:creationId xmlns:a16="http://schemas.microsoft.com/office/drawing/2014/main" id="{2CF3342C-3159-4BCE-941C-170FE4DC8497}"/>
              </a:ext>
            </a:extLst>
          </p:cNvPr>
          <p:cNvSpPr>
            <a:spLocks noGrp="1"/>
          </p:cNvSpPr>
          <p:nvPr/>
        </p:nvSpPr>
        <p:spPr>
          <a:xfrm>
            <a:off x="4388168" y="1184624"/>
            <a:ext cx="492919" cy="427196"/>
          </a:xfrm>
          <a:prstGeom prst="rect">
            <a:avLst/>
          </a:prstGeom>
          <a:solidFill>
            <a:srgbClr val="F9E2C4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129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129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129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129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129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129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129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129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129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129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9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294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U128</a:t>
            </a:r>
          </a:p>
        </p:txBody>
      </p:sp>
      <p:sp>
        <p:nvSpPr>
          <p:cNvPr id="52" name="dynamic A4&#10;q ∈ [−7, 7]">
            <a:extLst>
              <a:ext uri="{FF2B5EF4-FFF2-40B4-BE49-F238E27FC236}">
                <a16:creationId xmlns:a16="http://schemas.microsoft.com/office/drawing/2014/main" id="{CE75BF7D-A1A0-46EC-89B1-E18148D78554}"/>
              </a:ext>
            </a:extLst>
          </p:cNvPr>
          <p:cNvSpPr>
            <a:spLocks noGrp="1"/>
          </p:cNvSpPr>
          <p:nvPr/>
        </p:nvSpPr>
        <p:spPr>
          <a:xfrm>
            <a:off x="5209699" y="1184624"/>
            <a:ext cx="1051560" cy="427196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108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108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108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108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108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108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108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108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108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108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08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087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dynamic A4</a:t>
            </a:r>
          </a:p>
          <a:p>
            <a:pPr algn="ctr">
              <a:defRPr sz="108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087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q ∈ [−7, 7]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6218BC5C-603F-4264-B23F-0D020EA25016}"/>
              </a:ext>
            </a:extLst>
          </p:cNvPr>
          <p:cNvSpPr>
            <a:spLocks noGrp="1"/>
          </p:cNvSpPr>
          <p:nvPr/>
        </p:nvSpPr>
        <p:spPr>
          <a:xfrm>
            <a:off x="6938201" y="1178052"/>
            <a:ext cx="98584" cy="106799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437E1F3E-666F-499B-AEAC-9BAF3C1F7859}"/>
              </a:ext>
            </a:extLst>
          </p:cNvPr>
          <p:cNvSpPr>
            <a:spLocks noGrp="1"/>
          </p:cNvSpPr>
          <p:nvPr/>
        </p:nvSpPr>
        <p:spPr>
          <a:xfrm>
            <a:off x="7036784" y="1178052"/>
            <a:ext cx="98584" cy="106799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E6E7FFA8-18BD-4C72-933F-A8E9A5D39B13}"/>
              </a:ext>
            </a:extLst>
          </p:cNvPr>
          <p:cNvSpPr>
            <a:spLocks noGrp="1"/>
          </p:cNvSpPr>
          <p:nvPr/>
        </p:nvSpPr>
        <p:spPr>
          <a:xfrm>
            <a:off x="7135368" y="1178052"/>
            <a:ext cx="98584" cy="106799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362966A7-0C6A-46E0-8F0F-39674FBCAD33}"/>
              </a:ext>
            </a:extLst>
          </p:cNvPr>
          <p:cNvSpPr>
            <a:spLocks noGrp="1"/>
          </p:cNvSpPr>
          <p:nvPr/>
        </p:nvSpPr>
        <p:spPr>
          <a:xfrm>
            <a:off x="7233952" y="1178052"/>
            <a:ext cx="98584" cy="106799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F1C76C94-C52B-4866-8C00-ADE42D9E6E0B}"/>
              </a:ext>
            </a:extLst>
          </p:cNvPr>
          <p:cNvSpPr>
            <a:spLocks noGrp="1"/>
          </p:cNvSpPr>
          <p:nvPr/>
        </p:nvSpPr>
        <p:spPr>
          <a:xfrm>
            <a:off x="7332535" y="1178052"/>
            <a:ext cx="98584" cy="106799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ACB83F9D-891F-4CE8-BB25-0BD7ACFD9E11}"/>
              </a:ext>
            </a:extLst>
          </p:cNvPr>
          <p:cNvSpPr>
            <a:spLocks noGrp="1"/>
          </p:cNvSpPr>
          <p:nvPr/>
        </p:nvSpPr>
        <p:spPr>
          <a:xfrm>
            <a:off x="7431119" y="1178052"/>
            <a:ext cx="98584" cy="106799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6DA1B3CA-E0A1-4E9D-83CF-209B4D1B1E5C}"/>
              </a:ext>
            </a:extLst>
          </p:cNvPr>
          <p:cNvSpPr>
            <a:spLocks noGrp="1"/>
          </p:cNvSpPr>
          <p:nvPr/>
        </p:nvSpPr>
        <p:spPr>
          <a:xfrm>
            <a:off x="6938201" y="1284851"/>
            <a:ext cx="98584" cy="106799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D0745FC8-5AB1-40D8-B292-3CB2D4329843}"/>
              </a:ext>
            </a:extLst>
          </p:cNvPr>
          <p:cNvSpPr>
            <a:spLocks noGrp="1"/>
          </p:cNvSpPr>
          <p:nvPr/>
        </p:nvSpPr>
        <p:spPr>
          <a:xfrm>
            <a:off x="7036784" y="1284851"/>
            <a:ext cx="98584" cy="106799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C6DAB635-F3B9-4987-899B-083BA799B51F}"/>
              </a:ext>
            </a:extLst>
          </p:cNvPr>
          <p:cNvSpPr>
            <a:spLocks noGrp="1"/>
          </p:cNvSpPr>
          <p:nvPr/>
        </p:nvSpPr>
        <p:spPr>
          <a:xfrm>
            <a:off x="7135368" y="1284851"/>
            <a:ext cx="98584" cy="106799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A77CE041-5B74-4E38-8FD9-C80077C1C8C6}"/>
              </a:ext>
            </a:extLst>
          </p:cNvPr>
          <p:cNvSpPr>
            <a:spLocks noGrp="1"/>
          </p:cNvSpPr>
          <p:nvPr/>
        </p:nvSpPr>
        <p:spPr>
          <a:xfrm>
            <a:off x="7233952" y="1284851"/>
            <a:ext cx="98584" cy="106799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78867B2D-52B5-4178-8E87-49C03C1BE1EC}"/>
              </a:ext>
            </a:extLst>
          </p:cNvPr>
          <p:cNvSpPr>
            <a:spLocks noGrp="1"/>
          </p:cNvSpPr>
          <p:nvPr/>
        </p:nvSpPr>
        <p:spPr>
          <a:xfrm>
            <a:off x="7332535" y="1284851"/>
            <a:ext cx="98584" cy="106799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AE740373-5C5E-45CC-B682-A0F0F4C6EC96}"/>
              </a:ext>
            </a:extLst>
          </p:cNvPr>
          <p:cNvSpPr>
            <a:spLocks noGrp="1"/>
          </p:cNvSpPr>
          <p:nvPr/>
        </p:nvSpPr>
        <p:spPr>
          <a:xfrm>
            <a:off x="7431119" y="1284851"/>
            <a:ext cx="98584" cy="106799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73D564ED-E64E-4815-97BD-C9BB866FA4AF}"/>
              </a:ext>
            </a:extLst>
          </p:cNvPr>
          <p:cNvSpPr>
            <a:spLocks noGrp="1"/>
          </p:cNvSpPr>
          <p:nvPr/>
        </p:nvSpPr>
        <p:spPr>
          <a:xfrm>
            <a:off x="6938201" y="1391650"/>
            <a:ext cx="98584" cy="106799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1622EF1E-CCED-49AC-8371-719336376270}"/>
              </a:ext>
            </a:extLst>
          </p:cNvPr>
          <p:cNvSpPr>
            <a:spLocks noGrp="1"/>
          </p:cNvSpPr>
          <p:nvPr/>
        </p:nvSpPr>
        <p:spPr>
          <a:xfrm>
            <a:off x="7036784" y="1391650"/>
            <a:ext cx="98584" cy="106799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179C89DD-D1A1-4775-B060-6D186E57CEA1}"/>
              </a:ext>
            </a:extLst>
          </p:cNvPr>
          <p:cNvSpPr>
            <a:spLocks noGrp="1"/>
          </p:cNvSpPr>
          <p:nvPr/>
        </p:nvSpPr>
        <p:spPr>
          <a:xfrm>
            <a:off x="7135368" y="1391650"/>
            <a:ext cx="98584" cy="106799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7314F02E-890B-4813-B76F-5EB3590CAF60}"/>
              </a:ext>
            </a:extLst>
          </p:cNvPr>
          <p:cNvSpPr>
            <a:spLocks noGrp="1"/>
          </p:cNvSpPr>
          <p:nvPr/>
        </p:nvSpPr>
        <p:spPr>
          <a:xfrm>
            <a:off x="7233952" y="1391650"/>
            <a:ext cx="98584" cy="106799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CAE48219-0ED0-4274-9755-2CDBA8990EB7}"/>
              </a:ext>
            </a:extLst>
          </p:cNvPr>
          <p:cNvSpPr>
            <a:spLocks noGrp="1"/>
          </p:cNvSpPr>
          <p:nvPr/>
        </p:nvSpPr>
        <p:spPr>
          <a:xfrm>
            <a:off x="7332535" y="1391650"/>
            <a:ext cx="98584" cy="106799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122D6384-F547-4A07-9FDA-6E07D3BD4C75}"/>
              </a:ext>
            </a:extLst>
          </p:cNvPr>
          <p:cNvSpPr>
            <a:spLocks noGrp="1"/>
          </p:cNvSpPr>
          <p:nvPr/>
        </p:nvSpPr>
        <p:spPr>
          <a:xfrm>
            <a:off x="7431119" y="1391650"/>
            <a:ext cx="98584" cy="106799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F2F74B1F-8B1D-49B0-B877-49CE7EEA39B3}"/>
              </a:ext>
            </a:extLst>
          </p:cNvPr>
          <p:cNvSpPr>
            <a:spLocks noGrp="1"/>
          </p:cNvSpPr>
          <p:nvPr/>
        </p:nvSpPr>
        <p:spPr>
          <a:xfrm>
            <a:off x="6938201" y="1498449"/>
            <a:ext cx="98584" cy="106799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DADD06C3-2E45-467D-B770-086CE5E13ABB}"/>
              </a:ext>
            </a:extLst>
          </p:cNvPr>
          <p:cNvSpPr>
            <a:spLocks noGrp="1"/>
          </p:cNvSpPr>
          <p:nvPr/>
        </p:nvSpPr>
        <p:spPr>
          <a:xfrm>
            <a:off x="7036784" y="1498449"/>
            <a:ext cx="98584" cy="106799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2BE34FD9-F5DC-455E-84EB-5A18576BA4AF}"/>
              </a:ext>
            </a:extLst>
          </p:cNvPr>
          <p:cNvSpPr>
            <a:spLocks noGrp="1"/>
          </p:cNvSpPr>
          <p:nvPr/>
        </p:nvSpPr>
        <p:spPr>
          <a:xfrm>
            <a:off x="7135368" y="1498449"/>
            <a:ext cx="98584" cy="106799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A28BB449-0117-4075-A859-8163152089DF}"/>
              </a:ext>
            </a:extLst>
          </p:cNvPr>
          <p:cNvSpPr>
            <a:spLocks noGrp="1"/>
          </p:cNvSpPr>
          <p:nvPr/>
        </p:nvSpPr>
        <p:spPr>
          <a:xfrm>
            <a:off x="7233952" y="1498449"/>
            <a:ext cx="98584" cy="106799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85583F68-B70E-4839-91B5-F3B7955966D9}"/>
              </a:ext>
            </a:extLst>
          </p:cNvPr>
          <p:cNvSpPr>
            <a:spLocks noGrp="1"/>
          </p:cNvSpPr>
          <p:nvPr/>
        </p:nvSpPr>
        <p:spPr>
          <a:xfrm>
            <a:off x="7332535" y="1498449"/>
            <a:ext cx="98584" cy="106799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FA000CE6-C18C-4423-8E7E-AF752B7E165E}"/>
              </a:ext>
            </a:extLst>
          </p:cNvPr>
          <p:cNvSpPr>
            <a:spLocks noGrp="1"/>
          </p:cNvSpPr>
          <p:nvPr/>
        </p:nvSpPr>
        <p:spPr>
          <a:xfrm>
            <a:off x="7431119" y="1498449"/>
            <a:ext cx="98584" cy="106799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77" name="Xq">
            <a:extLst>
              <a:ext uri="{FF2B5EF4-FFF2-40B4-BE49-F238E27FC236}">
                <a16:creationId xmlns:a16="http://schemas.microsoft.com/office/drawing/2014/main" id="{B823BAFB-FBEB-4536-94D1-F6338169AA45}"/>
              </a:ext>
            </a:extLst>
          </p:cNvPr>
          <p:cNvSpPr>
            <a:spLocks noGrp="1"/>
          </p:cNvSpPr>
          <p:nvPr/>
        </p:nvSpPr>
        <p:spPr>
          <a:xfrm>
            <a:off x="6938201" y="980884"/>
            <a:ext cx="591503" cy="17745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08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108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108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108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108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108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108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108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108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108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08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087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Xq</a:t>
            </a: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9D507C5A-731C-44AF-8512-FB8D7CAED83E}"/>
              </a:ext>
            </a:extLst>
          </p:cNvPr>
          <p:cNvSpPr>
            <a:spLocks noGrp="1"/>
          </p:cNvSpPr>
          <p:nvPr/>
        </p:nvSpPr>
        <p:spPr>
          <a:xfrm>
            <a:off x="6938201" y="1178052"/>
            <a:ext cx="591503" cy="427196"/>
          </a:xfrm>
          <a:prstGeom prst="rect">
            <a:avLst/>
          </a:prstGeom>
          <a:noFill/>
          <a:ln w="7620">
            <a:noFill/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79" name="per-token symmetric quantization; BF16 operand after dequantization">
            <a:extLst>
              <a:ext uri="{FF2B5EF4-FFF2-40B4-BE49-F238E27FC236}">
                <a16:creationId xmlns:a16="http://schemas.microsoft.com/office/drawing/2014/main" id="{7A46199A-1D02-4DD9-92FD-2C7C7F4EC835}"/>
              </a:ext>
            </a:extLst>
          </p:cNvPr>
          <p:cNvSpPr>
            <a:spLocks noGrp="1"/>
          </p:cNvSpPr>
          <p:nvPr/>
        </p:nvSpPr>
        <p:spPr>
          <a:xfrm>
            <a:off x="2219325" y="1657826"/>
            <a:ext cx="5389245" cy="17087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88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defPPr>
            <a:lvl1pPr algn="l">
              <a:defRPr sz="88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1pPr>
            <a:lvl2pPr algn="l">
              <a:defRPr sz="88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2pPr>
            <a:lvl3pPr algn="l">
              <a:defRPr sz="88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3pPr>
            <a:lvl4pPr algn="l">
              <a:defRPr sz="88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4pPr>
            <a:lvl5pPr algn="l">
              <a:defRPr sz="88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5pPr>
            <a:lvl6pPr algn="l">
              <a:defRPr sz="88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6pPr>
            <a:lvl7pPr algn="l">
              <a:defRPr sz="88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7pPr>
            <a:lvl8pPr algn="l">
              <a:defRPr sz="88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8pPr>
            <a:lvl9pPr algn="l">
              <a:defRPr sz="88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88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pPr>
            <a:r>
              <a:rPr sz="880" b="0">
                <a:solidFill>
                  <a:srgbClr val="5D6773"/>
                </a:solidFill>
                <a:latin typeface="Arial"/>
                <a:ea typeface="Arial"/>
                <a:cs typeface="Arial"/>
              </a:rPr>
              <a:t>per-token symmetric quantization; BF16 operand after dequantization</a:t>
            </a:r>
          </a:p>
        </p:txBody>
      </p:sp>
      <p:cxnSp>
        <p:nvCxnSpPr>
          <p:cNvPr id="80" name="直接箭头连接符 79">
            <a:extLst>
              <a:ext uri="{FF2B5EF4-FFF2-40B4-BE49-F238E27FC236}">
                <a16:creationId xmlns:a16="http://schemas.microsoft.com/office/drawing/2014/main" id="{B83F51A7-D74B-4735-BBFD-A01221CE718E}"/>
              </a:ext>
            </a:extLst>
          </p:cNvPr>
          <p:cNvCxnSpPr/>
          <p:nvPr/>
        </p:nvCxnSpPr>
        <p:spPr>
          <a:xfrm>
            <a:off x="1003459" y="1953578"/>
            <a:ext cx="6703695" cy="0"/>
          </a:xfrm>
          <a:prstGeom prst="straightConnector1">
            <a:avLst/>
          </a:prstGeom>
          <a:ln w="5258">
            <a:solidFill>
              <a:srgbClr val="697681"/>
            </a:solidFill>
            <a:prstDash val="dash"/>
          </a:ln>
        </p:spPr>
      </p:cxnSp>
      <p:sp>
        <p:nvSpPr>
          <p:cNvPr id="81" name="Weight transform&#10;and microscaling VQ&#10;(per output row)">
            <a:extLst>
              <a:ext uri="{FF2B5EF4-FFF2-40B4-BE49-F238E27FC236}">
                <a16:creationId xmlns:a16="http://schemas.microsoft.com/office/drawing/2014/main" id="{9C01A4C9-364D-4FFE-AE25-399BCF5D7AF0}"/>
              </a:ext>
            </a:extLst>
          </p:cNvPr>
          <p:cNvSpPr>
            <a:spLocks noGrp="1"/>
          </p:cNvSpPr>
          <p:nvPr/>
        </p:nvSpPr>
        <p:spPr>
          <a:xfrm>
            <a:off x="1003459" y="2269046"/>
            <a:ext cx="1150144" cy="657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0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10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10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10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10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10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10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10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10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10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0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035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Weight transform</a:t>
            </a:r>
          </a:p>
          <a:p>
            <a:pPr algn="l">
              <a:defRPr sz="10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035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and microscaling VQ</a:t>
            </a:r>
          </a:p>
          <a:p>
            <a:pPr algn="l">
              <a:defRPr sz="10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035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(per output row)</a:t>
            </a: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174D0556-0062-4616-B4AC-1A3842A4AA8C}"/>
              </a:ext>
            </a:extLst>
          </p:cNvPr>
          <p:cNvSpPr>
            <a:spLocks noGrp="1"/>
          </p:cNvSpPr>
          <p:nvPr/>
        </p:nvSpPr>
        <p:spPr>
          <a:xfrm>
            <a:off x="2153603" y="2249329"/>
            <a:ext cx="117205" cy="118300"/>
          </a:xfrm>
          <a:prstGeom prst="rect">
            <a:avLst/>
          </a:prstGeom>
          <a:solidFill>
            <a:srgbClr val="DAEFE6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9A9B1392-22C0-456B-B2B5-A88A5DDAF041}"/>
              </a:ext>
            </a:extLst>
          </p:cNvPr>
          <p:cNvSpPr>
            <a:spLocks noGrp="1"/>
          </p:cNvSpPr>
          <p:nvPr/>
        </p:nvSpPr>
        <p:spPr>
          <a:xfrm>
            <a:off x="2270808" y="2249329"/>
            <a:ext cx="117205" cy="118300"/>
          </a:xfrm>
          <a:prstGeom prst="rect">
            <a:avLst/>
          </a:prstGeom>
          <a:solidFill>
            <a:srgbClr val="DAEFE6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3301DB4F-C0F6-47DF-BD50-47C0859EEFF6}"/>
              </a:ext>
            </a:extLst>
          </p:cNvPr>
          <p:cNvSpPr>
            <a:spLocks noGrp="1"/>
          </p:cNvSpPr>
          <p:nvPr/>
        </p:nvSpPr>
        <p:spPr>
          <a:xfrm>
            <a:off x="2388013" y="2249329"/>
            <a:ext cx="117205" cy="118300"/>
          </a:xfrm>
          <a:prstGeom prst="rect">
            <a:avLst/>
          </a:prstGeom>
          <a:solidFill>
            <a:srgbClr val="DAEFE6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39E33B4D-816B-4B88-9770-999A364D75F6}"/>
              </a:ext>
            </a:extLst>
          </p:cNvPr>
          <p:cNvSpPr>
            <a:spLocks noGrp="1"/>
          </p:cNvSpPr>
          <p:nvPr/>
        </p:nvSpPr>
        <p:spPr>
          <a:xfrm>
            <a:off x="2505218" y="2249329"/>
            <a:ext cx="117205" cy="118300"/>
          </a:xfrm>
          <a:prstGeom prst="rect">
            <a:avLst/>
          </a:prstGeom>
          <a:solidFill>
            <a:srgbClr val="DAEFE6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7062EC07-0646-41B7-AEB8-7F0423E5A8CA}"/>
              </a:ext>
            </a:extLst>
          </p:cNvPr>
          <p:cNvSpPr>
            <a:spLocks noGrp="1"/>
          </p:cNvSpPr>
          <p:nvPr/>
        </p:nvSpPr>
        <p:spPr>
          <a:xfrm>
            <a:off x="2622423" y="2249329"/>
            <a:ext cx="117205" cy="118300"/>
          </a:xfrm>
          <a:prstGeom prst="rect">
            <a:avLst/>
          </a:prstGeom>
          <a:solidFill>
            <a:srgbClr val="DAEFE6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9ADDDA4E-9490-45F8-A214-CA813F17D43C}"/>
              </a:ext>
            </a:extLst>
          </p:cNvPr>
          <p:cNvSpPr>
            <a:spLocks noGrp="1"/>
          </p:cNvSpPr>
          <p:nvPr/>
        </p:nvSpPr>
        <p:spPr>
          <a:xfrm>
            <a:off x="2739628" y="2249329"/>
            <a:ext cx="117205" cy="118300"/>
          </a:xfrm>
          <a:prstGeom prst="rect">
            <a:avLst/>
          </a:prstGeom>
          <a:solidFill>
            <a:srgbClr val="DAEFE6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003E6ACA-21EC-40D6-9454-40FDF9771597}"/>
              </a:ext>
            </a:extLst>
          </p:cNvPr>
          <p:cNvSpPr>
            <a:spLocks noGrp="1"/>
          </p:cNvSpPr>
          <p:nvPr/>
        </p:nvSpPr>
        <p:spPr>
          <a:xfrm>
            <a:off x="2153603" y="2367629"/>
            <a:ext cx="117205" cy="118300"/>
          </a:xfrm>
          <a:prstGeom prst="rect">
            <a:avLst/>
          </a:prstGeom>
          <a:solidFill>
            <a:srgbClr val="DAEFE6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5506472D-7592-4B07-94EC-D1FE0A8FBB4F}"/>
              </a:ext>
            </a:extLst>
          </p:cNvPr>
          <p:cNvSpPr>
            <a:spLocks noGrp="1"/>
          </p:cNvSpPr>
          <p:nvPr/>
        </p:nvSpPr>
        <p:spPr>
          <a:xfrm>
            <a:off x="2270808" y="2367629"/>
            <a:ext cx="117205" cy="118300"/>
          </a:xfrm>
          <a:prstGeom prst="rect">
            <a:avLst/>
          </a:prstGeom>
          <a:solidFill>
            <a:srgbClr val="DAEFE6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0EE20E91-AF4B-44AF-8D5E-DD5C8951327B}"/>
              </a:ext>
            </a:extLst>
          </p:cNvPr>
          <p:cNvSpPr>
            <a:spLocks noGrp="1"/>
          </p:cNvSpPr>
          <p:nvPr/>
        </p:nvSpPr>
        <p:spPr>
          <a:xfrm>
            <a:off x="2388013" y="2367629"/>
            <a:ext cx="117205" cy="118300"/>
          </a:xfrm>
          <a:prstGeom prst="rect">
            <a:avLst/>
          </a:prstGeom>
          <a:solidFill>
            <a:srgbClr val="DAEFE6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18520D3F-089E-4224-8AC0-3D9EF97D5D60}"/>
              </a:ext>
            </a:extLst>
          </p:cNvPr>
          <p:cNvSpPr>
            <a:spLocks noGrp="1"/>
          </p:cNvSpPr>
          <p:nvPr/>
        </p:nvSpPr>
        <p:spPr>
          <a:xfrm>
            <a:off x="2505218" y="2367629"/>
            <a:ext cx="117205" cy="118300"/>
          </a:xfrm>
          <a:prstGeom prst="rect">
            <a:avLst/>
          </a:prstGeom>
          <a:solidFill>
            <a:srgbClr val="DAEFE6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53DE0D87-3B5A-48E2-B5DE-1F0D169DE476}"/>
              </a:ext>
            </a:extLst>
          </p:cNvPr>
          <p:cNvSpPr>
            <a:spLocks noGrp="1"/>
          </p:cNvSpPr>
          <p:nvPr/>
        </p:nvSpPr>
        <p:spPr>
          <a:xfrm>
            <a:off x="2622423" y="2367629"/>
            <a:ext cx="117205" cy="118300"/>
          </a:xfrm>
          <a:prstGeom prst="rect">
            <a:avLst/>
          </a:prstGeom>
          <a:solidFill>
            <a:srgbClr val="DAEFE6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D6FB8C4C-CA18-4BD7-9D2D-BE172074FA87}"/>
              </a:ext>
            </a:extLst>
          </p:cNvPr>
          <p:cNvSpPr>
            <a:spLocks noGrp="1"/>
          </p:cNvSpPr>
          <p:nvPr/>
        </p:nvSpPr>
        <p:spPr>
          <a:xfrm>
            <a:off x="2739628" y="2367629"/>
            <a:ext cx="117205" cy="118300"/>
          </a:xfrm>
          <a:prstGeom prst="rect">
            <a:avLst/>
          </a:prstGeom>
          <a:solidFill>
            <a:srgbClr val="DAEFE6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89639F16-EF95-4CBD-8C37-BEE3B7B4134D}"/>
              </a:ext>
            </a:extLst>
          </p:cNvPr>
          <p:cNvSpPr>
            <a:spLocks noGrp="1"/>
          </p:cNvSpPr>
          <p:nvPr/>
        </p:nvSpPr>
        <p:spPr>
          <a:xfrm>
            <a:off x="2153603" y="2485930"/>
            <a:ext cx="117205" cy="118300"/>
          </a:xfrm>
          <a:prstGeom prst="rect">
            <a:avLst/>
          </a:prstGeom>
          <a:solidFill>
            <a:srgbClr val="DAEFE6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064EE02A-F9A2-444D-98C7-FFDF51C68732}"/>
              </a:ext>
            </a:extLst>
          </p:cNvPr>
          <p:cNvSpPr>
            <a:spLocks noGrp="1"/>
          </p:cNvSpPr>
          <p:nvPr/>
        </p:nvSpPr>
        <p:spPr>
          <a:xfrm>
            <a:off x="2270808" y="2485930"/>
            <a:ext cx="117205" cy="118300"/>
          </a:xfrm>
          <a:prstGeom prst="rect">
            <a:avLst/>
          </a:prstGeom>
          <a:solidFill>
            <a:srgbClr val="DAEFE6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9444F73A-8CFE-478B-B7DE-0724E76AA6A4}"/>
              </a:ext>
            </a:extLst>
          </p:cNvPr>
          <p:cNvSpPr>
            <a:spLocks noGrp="1"/>
          </p:cNvSpPr>
          <p:nvPr/>
        </p:nvSpPr>
        <p:spPr>
          <a:xfrm>
            <a:off x="2388013" y="2485930"/>
            <a:ext cx="117205" cy="118300"/>
          </a:xfrm>
          <a:prstGeom prst="rect">
            <a:avLst/>
          </a:prstGeom>
          <a:solidFill>
            <a:srgbClr val="DAEFE6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7E7B3473-583D-42D2-B828-D154B846A2A4}"/>
              </a:ext>
            </a:extLst>
          </p:cNvPr>
          <p:cNvSpPr>
            <a:spLocks noGrp="1"/>
          </p:cNvSpPr>
          <p:nvPr/>
        </p:nvSpPr>
        <p:spPr>
          <a:xfrm>
            <a:off x="2505218" y="2485930"/>
            <a:ext cx="117205" cy="118300"/>
          </a:xfrm>
          <a:prstGeom prst="rect">
            <a:avLst/>
          </a:prstGeom>
          <a:solidFill>
            <a:srgbClr val="DAEFE6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36C7A882-F379-4E74-B89D-589ECAC09446}"/>
              </a:ext>
            </a:extLst>
          </p:cNvPr>
          <p:cNvSpPr>
            <a:spLocks noGrp="1"/>
          </p:cNvSpPr>
          <p:nvPr/>
        </p:nvSpPr>
        <p:spPr>
          <a:xfrm>
            <a:off x="2622423" y="2485930"/>
            <a:ext cx="117205" cy="118300"/>
          </a:xfrm>
          <a:prstGeom prst="rect">
            <a:avLst/>
          </a:prstGeom>
          <a:solidFill>
            <a:srgbClr val="DAEFE6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6ED7041C-C08A-4AC0-B555-4688EF9EA56E}"/>
              </a:ext>
            </a:extLst>
          </p:cNvPr>
          <p:cNvSpPr>
            <a:spLocks noGrp="1"/>
          </p:cNvSpPr>
          <p:nvPr/>
        </p:nvSpPr>
        <p:spPr>
          <a:xfrm>
            <a:off x="2739628" y="2485930"/>
            <a:ext cx="117205" cy="118300"/>
          </a:xfrm>
          <a:prstGeom prst="rect">
            <a:avLst/>
          </a:prstGeom>
          <a:solidFill>
            <a:srgbClr val="DAEFE6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BF1F6253-6685-4A1F-9942-5F3B0ADFA30C}"/>
              </a:ext>
            </a:extLst>
          </p:cNvPr>
          <p:cNvSpPr>
            <a:spLocks noGrp="1"/>
          </p:cNvSpPr>
          <p:nvPr/>
        </p:nvSpPr>
        <p:spPr>
          <a:xfrm>
            <a:off x="2153603" y="2604230"/>
            <a:ext cx="117205" cy="118300"/>
          </a:xfrm>
          <a:prstGeom prst="rect">
            <a:avLst/>
          </a:prstGeom>
          <a:solidFill>
            <a:srgbClr val="DAEFE6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69DBB5CD-4714-457E-A09A-F79F2DF7C537}"/>
              </a:ext>
            </a:extLst>
          </p:cNvPr>
          <p:cNvSpPr>
            <a:spLocks noGrp="1"/>
          </p:cNvSpPr>
          <p:nvPr/>
        </p:nvSpPr>
        <p:spPr>
          <a:xfrm>
            <a:off x="2270808" y="2604230"/>
            <a:ext cx="117205" cy="118300"/>
          </a:xfrm>
          <a:prstGeom prst="rect">
            <a:avLst/>
          </a:prstGeom>
          <a:solidFill>
            <a:srgbClr val="DAEFE6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6159F88F-38A3-4600-B30E-7374275AC2DB}"/>
              </a:ext>
            </a:extLst>
          </p:cNvPr>
          <p:cNvSpPr>
            <a:spLocks noGrp="1"/>
          </p:cNvSpPr>
          <p:nvPr/>
        </p:nvSpPr>
        <p:spPr>
          <a:xfrm>
            <a:off x="2388013" y="2604230"/>
            <a:ext cx="117205" cy="118300"/>
          </a:xfrm>
          <a:prstGeom prst="rect">
            <a:avLst/>
          </a:prstGeom>
          <a:solidFill>
            <a:srgbClr val="DAEFE6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A9E93A7B-F2AE-4A19-A6DC-AD46E76E363A}"/>
              </a:ext>
            </a:extLst>
          </p:cNvPr>
          <p:cNvSpPr>
            <a:spLocks noGrp="1"/>
          </p:cNvSpPr>
          <p:nvPr/>
        </p:nvSpPr>
        <p:spPr>
          <a:xfrm>
            <a:off x="2505218" y="2604230"/>
            <a:ext cx="117205" cy="118300"/>
          </a:xfrm>
          <a:prstGeom prst="rect">
            <a:avLst/>
          </a:prstGeom>
          <a:solidFill>
            <a:srgbClr val="DAEFE6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1143EAA9-EA2B-4F94-8158-AE3A53C96A35}"/>
              </a:ext>
            </a:extLst>
          </p:cNvPr>
          <p:cNvSpPr>
            <a:spLocks noGrp="1"/>
          </p:cNvSpPr>
          <p:nvPr/>
        </p:nvSpPr>
        <p:spPr>
          <a:xfrm>
            <a:off x="2622423" y="2604230"/>
            <a:ext cx="117205" cy="118300"/>
          </a:xfrm>
          <a:prstGeom prst="rect">
            <a:avLst/>
          </a:prstGeom>
          <a:solidFill>
            <a:srgbClr val="DAEFE6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518094FE-332A-424B-A04B-AD5641862AC4}"/>
              </a:ext>
            </a:extLst>
          </p:cNvPr>
          <p:cNvSpPr>
            <a:spLocks noGrp="1"/>
          </p:cNvSpPr>
          <p:nvPr/>
        </p:nvSpPr>
        <p:spPr>
          <a:xfrm>
            <a:off x="2739628" y="2604230"/>
            <a:ext cx="117205" cy="118300"/>
          </a:xfrm>
          <a:prstGeom prst="rect">
            <a:avLst/>
          </a:prstGeom>
          <a:solidFill>
            <a:srgbClr val="DAEFE6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06" name="矩形 105">
            <a:extLst>
              <a:ext uri="{FF2B5EF4-FFF2-40B4-BE49-F238E27FC236}">
                <a16:creationId xmlns:a16="http://schemas.microsoft.com/office/drawing/2014/main" id="{95EF406C-AAA2-4F8F-8352-CB3D638B4D8E}"/>
              </a:ext>
            </a:extLst>
          </p:cNvPr>
          <p:cNvSpPr>
            <a:spLocks noGrp="1"/>
          </p:cNvSpPr>
          <p:nvPr/>
        </p:nvSpPr>
        <p:spPr>
          <a:xfrm>
            <a:off x="2153603" y="2722531"/>
            <a:ext cx="117205" cy="118300"/>
          </a:xfrm>
          <a:prstGeom prst="rect">
            <a:avLst/>
          </a:prstGeom>
          <a:solidFill>
            <a:srgbClr val="DAEFE6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C5EFF0A9-0F98-412B-BBA3-1B9CCB8A012D}"/>
              </a:ext>
            </a:extLst>
          </p:cNvPr>
          <p:cNvSpPr>
            <a:spLocks noGrp="1"/>
          </p:cNvSpPr>
          <p:nvPr/>
        </p:nvSpPr>
        <p:spPr>
          <a:xfrm>
            <a:off x="2270808" y="2722531"/>
            <a:ext cx="117205" cy="118300"/>
          </a:xfrm>
          <a:prstGeom prst="rect">
            <a:avLst/>
          </a:prstGeom>
          <a:solidFill>
            <a:srgbClr val="DAEFE6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id="{B1EA06DF-6F1C-40EA-9EEA-B538334A82C9}"/>
              </a:ext>
            </a:extLst>
          </p:cNvPr>
          <p:cNvSpPr>
            <a:spLocks noGrp="1"/>
          </p:cNvSpPr>
          <p:nvPr/>
        </p:nvSpPr>
        <p:spPr>
          <a:xfrm>
            <a:off x="2388013" y="2722531"/>
            <a:ext cx="117205" cy="118300"/>
          </a:xfrm>
          <a:prstGeom prst="rect">
            <a:avLst/>
          </a:prstGeom>
          <a:solidFill>
            <a:srgbClr val="DAEFE6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3A8CC898-4C94-4F47-8566-E519BA2A1371}"/>
              </a:ext>
            </a:extLst>
          </p:cNvPr>
          <p:cNvSpPr>
            <a:spLocks noGrp="1"/>
          </p:cNvSpPr>
          <p:nvPr/>
        </p:nvSpPr>
        <p:spPr>
          <a:xfrm>
            <a:off x="2505218" y="2722531"/>
            <a:ext cx="117205" cy="118300"/>
          </a:xfrm>
          <a:prstGeom prst="rect">
            <a:avLst/>
          </a:prstGeom>
          <a:solidFill>
            <a:srgbClr val="DAEFE6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D563295C-2492-4F0F-B722-BF5C1DD18DB7}"/>
              </a:ext>
            </a:extLst>
          </p:cNvPr>
          <p:cNvSpPr>
            <a:spLocks noGrp="1"/>
          </p:cNvSpPr>
          <p:nvPr/>
        </p:nvSpPr>
        <p:spPr>
          <a:xfrm>
            <a:off x="2622423" y="2722531"/>
            <a:ext cx="117205" cy="118300"/>
          </a:xfrm>
          <a:prstGeom prst="rect">
            <a:avLst/>
          </a:prstGeom>
          <a:solidFill>
            <a:srgbClr val="DAEFE6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546777F7-8B77-4868-BB97-72C1178E8A86}"/>
              </a:ext>
            </a:extLst>
          </p:cNvPr>
          <p:cNvSpPr>
            <a:spLocks noGrp="1"/>
          </p:cNvSpPr>
          <p:nvPr/>
        </p:nvSpPr>
        <p:spPr>
          <a:xfrm>
            <a:off x="2739628" y="2722531"/>
            <a:ext cx="117205" cy="118300"/>
          </a:xfrm>
          <a:prstGeom prst="rect">
            <a:avLst/>
          </a:prstGeom>
          <a:solidFill>
            <a:srgbClr val="DAEFE6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12" name="W">
            <a:extLst>
              <a:ext uri="{FF2B5EF4-FFF2-40B4-BE49-F238E27FC236}">
                <a16:creationId xmlns:a16="http://schemas.microsoft.com/office/drawing/2014/main" id="{0C5C3003-9632-4C06-8F2F-00799EF98BD1}"/>
              </a:ext>
            </a:extLst>
          </p:cNvPr>
          <p:cNvSpPr>
            <a:spLocks noGrp="1"/>
          </p:cNvSpPr>
          <p:nvPr/>
        </p:nvSpPr>
        <p:spPr>
          <a:xfrm>
            <a:off x="2153603" y="2052161"/>
            <a:ext cx="703231" cy="17745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08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108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108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108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108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108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108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108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108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108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08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087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W</a:t>
            </a:r>
          </a:p>
        </p:txBody>
      </p:sp>
      <p:sp>
        <p:nvSpPr>
          <p:cNvPr id="113" name="矩形 112">
            <a:extLst>
              <a:ext uri="{FF2B5EF4-FFF2-40B4-BE49-F238E27FC236}">
                <a16:creationId xmlns:a16="http://schemas.microsoft.com/office/drawing/2014/main" id="{F6A9540E-7804-4B0A-995D-170637415523}"/>
              </a:ext>
            </a:extLst>
          </p:cNvPr>
          <p:cNvSpPr>
            <a:spLocks noGrp="1"/>
          </p:cNvSpPr>
          <p:nvPr/>
        </p:nvSpPr>
        <p:spPr>
          <a:xfrm>
            <a:off x="2153603" y="2249329"/>
            <a:ext cx="703231" cy="591503"/>
          </a:xfrm>
          <a:prstGeom prst="rect">
            <a:avLst/>
          </a:prstGeom>
          <a:noFill/>
          <a:ln w="7620">
            <a:noFill/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14" name="S">
            <a:extLst>
              <a:ext uri="{FF2B5EF4-FFF2-40B4-BE49-F238E27FC236}">
                <a16:creationId xmlns:a16="http://schemas.microsoft.com/office/drawing/2014/main" id="{F5D9172E-F6C3-43F2-A1ED-D5FC68BCA052}"/>
              </a:ext>
            </a:extLst>
          </p:cNvPr>
          <p:cNvSpPr>
            <a:spLocks noGrp="1"/>
          </p:cNvSpPr>
          <p:nvPr/>
        </p:nvSpPr>
        <p:spPr>
          <a:xfrm>
            <a:off x="3040856" y="2295335"/>
            <a:ext cx="381190" cy="460058"/>
          </a:xfrm>
          <a:prstGeom prst="rect">
            <a:avLst/>
          </a:prstGeom>
          <a:solidFill>
            <a:srgbClr val="EDF0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129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129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129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129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129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129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129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129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129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129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9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294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115" name="signed&#10;H128">
            <a:extLst>
              <a:ext uri="{FF2B5EF4-FFF2-40B4-BE49-F238E27FC236}">
                <a16:creationId xmlns:a16="http://schemas.microsoft.com/office/drawing/2014/main" id="{9445FE47-87EC-403F-951F-D50A4156ACAD}"/>
              </a:ext>
            </a:extLst>
          </p:cNvPr>
          <p:cNvSpPr>
            <a:spLocks noGrp="1"/>
          </p:cNvSpPr>
          <p:nvPr/>
        </p:nvSpPr>
        <p:spPr>
          <a:xfrm>
            <a:off x="3533775" y="2295335"/>
            <a:ext cx="532352" cy="460058"/>
          </a:xfrm>
          <a:prstGeom prst="rect">
            <a:avLst/>
          </a:prstGeom>
          <a:solidFill>
            <a:srgbClr val="EDF0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108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108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108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108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108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108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108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108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108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108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08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087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signed</a:t>
            </a:r>
          </a:p>
          <a:p>
            <a:pPr algn="ctr">
              <a:defRPr sz="108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087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H128</a:t>
            </a:r>
          </a:p>
        </p:txBody>
      </p:sp>
      <p:sp>
        <p:nvSpPr>
          <p:cNvPr id="116" name="U128">
            <a:extLst>
              <a:ext uri="{FF2B5EF4-FFF2-40B4-BE49-F238E27FC236}">
                <a16:creationId xmlns:a16="http://schemas.microsoft.com/office/drawing/2014/main" id="{A82476F9-EBF8-481C-B34A-ECFFCD2983D3}"/>
              </a:ext>
            </a:extLst>
          </p:cNvPr>
          <p:cNvSpPr>
            <a:spLocks noGrp="1"/>
          </p:cNvSpPr>
          <p:nvPr/>
        </p:nvSpPr>
        <p:spPr>
          <a:xfrm>
            <a:off x="4204145" y="2295335"/>
            <a:ext cx="479774" cy="460058"/>
          </a:xfrm>
          <a:prstGeom prst="rect">
            <a:avLst/>
          </a:prstGeom>
          <a:solidFill>
            <a:srgbClr val="F9E2C4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129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129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129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129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129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129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129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129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129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129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94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294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U128</a:t>
            </a:r>
          </a:p>
        </p:txBody>
      </p:sp>
      <p:sp>
        <p:nvSpPr>
          <p:cNvPr id="117" name="矩形 116">
            <a:extLst>
              <a:ext uri="{FF2B5EF4-FFF2-40B4-BE49-F238E27FC236}">
                <a16:creationId xmlns:a16="http://schemas.microsoft.com/office/drawing/2014/main" id="{7DF7014D-F143-460C-9AC1-2D2C8A6367FE}"/>
              </a:ext>
            </a:extLst>
          </p:cNvPr>
          <p:cNvSpPr>
            <a:spLocks noGrp="1"/>
          </p:cNvSpPr>
          <p:nvPr/>
        </p:nvSpPr>
        <p:spPr>
          <a:xfrm>
            <a:off x="5209699" y="2433352"/>
            <a:ext cx="98584" cy="118300"/>
          </a:xfrm>
          <a:prstGeom prst="rect">
            <a:avLst/>
          </a:prstGeom>
          <a:solidFill>
            <a:srgbClr val="DAEFE6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FA066565-1845-4844-BC9F-9D57FA5DF63F}"/>
              </a:ext>
            </a:extLst>
          </p:cNvPr>
          <p:cNvSpPr>
            <a:spLocks noGrp="1"/>
          </p:cNvSpPr>
          <p:nvPr/>
        </p:nvSpPr>
        <p:spPr>
          <a:xfrm>
            <a:off x="5308283" y="2433352"/>
            <a:ext cx="98584" cy="118300"/>
          </a:xfrm>
          <a:prstGeom prst="rect">
            <a:avLst/>
          </a:prstGeom>
          <a:solidFill>
            <a:srgbClr val="DAEFE6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C57DD3E3-6ED7-4071-A271-E5A9C582E53F}"/>
              </a:ext>
            </a:extLst>
          </p:cNvPr>
          <p:cNvSpPr>
            <a:spLocks noGrp="1"/>
          </p:cNvSpPr>
          <p:nvPr/>
        </p:nvSpPr>
        <p:spPr>
          <a:xfrm>
            <a:off x="5406866" y="2433352"/>
            <a:ext cx="98584" cy="118300"/>
          </a:xfrm>
          <a:prstGeom prst="rect">
            <a:avLst/>
          </a:prstGeom>
          <a:solidFill>
            <a:srgbClr val="DAEFE6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14B4E3A8-4449-4F33-91BC-98BD3EB48310}"/>
              </a:ext>
            </a:extLst>
          </p:cNvPr>
          <p:cNvSpPr>
            <a:spLocks noGrp="1"/>
          </p:cNvSpPr>
          <p:nvPr/>
        </p:nvSpPr>
        <p:spPr>
          <a:xfrm>
            <a:off x="5505450" y="2433352"/>
            <a:ext cx="98584" cy="118300"/>
          </a:xfrm>
          <a:prstGeom prst="rect">
            <a:avLst/>
          </a:prstGeom>
          <a:solidFill>
            <a:srgbClr val="DAEFE6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id="{FA93E477-F8D5-4E5F-A2FB-001F5878B81D}"/>
              </a:ext>
            </a:extLst>
          </p:cNvPr>
          <p:cNvSpPr>
            <a:spLocks noGrp="1"/>
          </p:cNvSpPr>
          <p:nvPr/>
        </p:nvSpPr>
        <p:spPr>
          <a:xfrm>
            <a:off x="5604034" y="2433352"/>
            <a:ext cx="98584" cy="118300"/>
          </a:xfrm>
          <a:prstGeom prst="rect">
            <a:avLst/>
          </a:prstGeom>
          <a:solidFill>
            <a:srgbClr val="DAEFE6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5FA88A4D-74FC-419A-9A97-1E0D23E5A452}"/>
              </a:ext>
            </a:extLst>
          </p:cNvPr>
          <p:cNvSpPr>
            <a:spLocks noGrp="1"/>
          </p:cNvSpPr>
          <p:nvPr/>
        </p:nvSpPr>
        <p:spPr>
          <a:xfrm>
            <a:off x="5702618" y="2433352"/>
            <a:ext cx="98584" cy="118300"/>
          </a:xfrm>
          <a:prstGeom prst="rect">
            <a:avLst/>
          </a:prstGeom>
          <a:solidFill>
            <a:srgbClr val="DAEFE6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5DC104D4-E7E8-4F77-ADB0-8FE8A27EF03D}"/>
              </a:ext>
            </a:extLst>
          </p:cNvPr>
          <p:cNvSpPr>
            <a:spLocks noGrp="1"/>
          </p:cNvSpPr>
          <p:nvPr/>
        </p:nvSpPr>
        <p:spPr>
          <a:xfrm>
            <a:off x="5801201" y="2433352"/>
            <a:ext cx="98584" cy="118300"/>
          </a:xfrm>
          <a:prstGeom prst="rect">
            <a:avLst/>
          </a:prstGeom>
          <a:solidFill>
            <a:srgbClr val="DAEFE6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B0AFB634-A79A-464B-9318-92A8416C6920}"/>
              </a:ext>
            </a:extLst>
          </p:cNvPr>
          <p:cNvSpPr>
            <a:spLocks noGrp="1"/>
          </p:cNvSpPr>
          <p:nvPr/>
        </p:nvSpPr>
        <p:spPr>
          <a:xfrm>
            <a:off x="5899785" y="2433352"/>
            <a:ext cx="98584" cy="118300"/>
          </a:xfrm>
          <a:prstGeom prst="rect">
            <a:avLst/>
          </a:prstGeom>
          <a:solidFill>
            <a:srgbClr val="DAEFE6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25" name="矩形 124">
            <a:extLst>
              <a:ext uri="{FF2B5EF4-FFF2-40B4-BE49-F238E27FC236}">
                <a16:creationId xmlns:a16="http://schemas.microsoft.com/office/drawing/2014/main" id="{6FD7587B-120E-40FE-B3A6-112D5D9011B0}"/>
              </a:ext>
            </a:extLst>
          </p:cNvPr>
          <p:cNvSpPr>
            <a:spLocks noGrp="1"/>
          </p:cNvSpPr>
          <p:nvPr/>
        </p:nvSpPr>
        <p:spPr>
          <a:xfrm>
            <a:off x="5209699" y="2551652"/>
            <a:ext cx="98584" cy="118300"/>
          </a:xfrm>
          <a:prstGeom prst="rect">
            <a:avLst/>
          </a:prstGeom>
          <a:solidFill>
            <a:srgbClr val="DAEFE6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82D83539-B71C-4EBE-8B5E-0C3D4678D18A}"/>
              </a:ext>
            </a:extLst>
          </p:cNvPr>
          <p:cNvSpPr>
            <a:spLocks noGrp="1"/>
          </p:cNvSpPr>
          <p:nvPr/>
        </p:nvSpPr>
        <p:spPr>
          <a:xfrm>
            <a:off x="5308283" y="2551652"/>
            <a:ext cx="98584" cy="118300"/>
          </a:xfrm>
          <a:prstGeom prst="rect">
            <a:avLst/>
          </a:prstGeom>
          <a:solidFill>
            <a:srgbClr val="DAEFE6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27" name="矩形 126">
            <a:extLst>
              <a:ext uri="{FF2B5EF4-FFF2-40B4-BE49-F238E27FC236}">
                <a16:creationId xmlns:a16="http://schemas.microsoft.com/office/drawing/2014/main" id="{8F41C1E6-5532-4A31-BB72-D097088A923C}"/>
              </a:ext>
            </a:extLst>
          </p:cNvPr>
          <p:cNvSpPr>
            <a:spLocks noGrp="1"/>
          </p:cNvSpPr>
          <p:nvPr/>
        </p:nvSpPr>
        <p:spPr>
          <a:xfrm>
            <a:off x="5406866" y="2551652"/>
            <a:ext cx="98584" cy="118300"/>
          </a:xfrm>
          <a:prstGeom prst="rect">
            <a:avLst/>
          </a:prstGeom>
          <a:solidFill>
            <a:srgbClr val="DAEFE6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86804883-4577-4010-A0D7-6E9ACFAE4F89}"/>
              </a:ext>
            </a:extLst>
          </p:cNvPr>
          <p:cNvSpPr>
            <a:spLocks noGrp="1"/>
          </p:cNvSpPr>
          <p:nvPr/>
        </p:nvSpPr>
        <p:spPr>
          <a:xfrm>
            <a:off x="5505450" y="2551652"/>
            <a:ext cx="98584" cy="118300"/>
          </a:xfrm>
          <a:prstGeom prst="rect">
            <a:avLst/>
          </a:prstGeom>
          <a:solidFill>
            <a:srgbClr val="DAEFE6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29" name="矩形 128">
            <a:extLst>
              <a:ext uri="{FF2B5EF4-FFF2-40B4-BE49-F238E27FC236}">
                <a16:creationId xmlns:a16="http://schemas.microsoft.com/office/drawing/2014/main" id="{A674B25F-ACAC-4923-8843-601CDF649550}"/>
              </a:ext>
            </a:extLst>
          </p:cNvPr>
          <p:cNvSpPr>
            <a:spLocks noGrp="1"/>
          </p:cNvSpPr>
          <p:nvPr/>
        </p:nvSpPr>
        <p:spPr>
          <a:xfrm>
            <a:off x="5604034" y="2551652"/>
            <a:ext cx="98584" cy="118300"/>
          </a:xfrm>
          <a:prstGeom prst="rect">
            <a:avLst/>
          </a:prstGeom>
          <a:solidFill>
            <a:srgbClr val="DAEFE6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D7B494FF-8860-4F19-BE69-610CC5BFB0F5}"/>
              </a:ext>
            </a:extLst>
          </p:cNvPr>
          <p:cNvSpPr>
            <a:spLocks noGrp="1"/>
          </p:cNvSpPr>
          <p:nvPr/>
        </p:nvSpPr>
        <p:spPr>
          <a:xfrm>
            <a:off x="5702618" y="2551652"/>
            <a:ext cx="98584" cy="118300"/>
          </a:xfrm>
          <a:prstGeom prst="rect">
            <a:avLst/>
          </a:prstGeom>
          <a:solidFill>
            <a:srgbClr val="DAEFE6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31" name="矩形 130">
            <a:extLst>
              <a:ext uri="{FF2B5EF4-FFF2-40B4-BE49-F238E27FC236}">
                <a16:creationId xmlns:a16="http://schemas.microsoft.com/office/drawing/2014/main" id="{6735C911-ED59-4B59-82EF-66B9D4A71F5C}"/>
              </a:ext>
            </a:extLst>
          </p:cNvPr>
          <p:cNvSpPr>
            <a:spLocks noGrp="1"/>
          </p:cNvSpPr>
          <p:nvPr/>
        </p:nvSpPr>
        <p:spPr>
          <a:xfrm>
            <a:off x="5801201" y="2551652"/>
            <a:ext cx="98584" cy="118300"/>
          </a:xfrm>
          <a:prstGeom prst="rect">
            <a:avLst/>
          </a:prstGeom>
          <a:solidFill>
            <a:srgbClr val="DAEFE6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3642C16F-0F89-40F7-8F27-BB9877E28286}"/>
              </a:ext>
            </a:extLst>
          </p:cNvPr>
          <p:cNvSpPr>
            <a:spLocks noGrp="1"/>
          </p:cNvSpPr>
          <p:nvPr/>
        </p:nvSpPr>
        <p:spPr>
          <a:xfrm>
            <a:off x="5899785" y="2551652"/>
            <a:ext cx="98584" cy="118300"/>
          </a:xfrm>
          <a:prstGeom prst="rect">
            <a:avLst/>
          </a:prstGeom>
          <a:solidFill>
            <a:srgbClr val="DAEFE6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33" name="d = 4 vectors">
            <a:extLst>
              <a:ext uri="{FF2B5EF4-FFF2-40B4-BE49-F238E27FC236}">
                <a16:creationId xmlns:a16="http://schemas.microsoft.com/office/drawing/2014/main" id="{55D8292B-8796-4CB2-8C71-DF254F86E25E}"/>
              </a:ext>
            </a:extLst>
          </p:cNvPr>
          <p:cNvSpPr>
            <a:spLocks noGrp="1"/>
          </p:cNvSpPr>
          <p:nvPr/>
        </p:nvSpPr>
        <p:spPr>
          <a:xfrm>
            <a:off x="5209699" y="2236184"/>
            <a:ext cx="788670" cy="17745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82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2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2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2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2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2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2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2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2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2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82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d = 4 vectors</a:t>
            </a:r>
          </a:p>
        </p:txBody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id="{F6C3525D-56AD-4773-8349-07B2E44F1438}"/>
              </a:ext>
            </a:extLst>
          </p:cNvPr>
          <p:cNvSpPr>
            <a:spLocks noGrp="1"/>
          </p:cNvSpPr>
          <p:nvPr/>
        </p:nvSpPr>
        <p:spPr>
          <a:xfrm>
            <a:off x="5209699" y="2433352"/>
            <a:ext cx="788670" cy="236601"/>
          </a:xfrm>
          <a:prstGeom prst="rect">
            <a:avLst/>
          </a:prstGeom>
          <a:noFill/>
          <a:ln w="7620">
            <a:noFill/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35" name="reshape&#10;by 4">
            <a:extLst>
              <a:ext uri="{FF2B5EF4-FFF2-40B4-BE49-F238E27FC236}">
                <a16:creationId xmlns:a16="http://schemas.microsoft.com/office/drawing/2014/main" id="{DBA418D9-04BE-4B45-BEBB-7F69BD3D4B73}"/>
              </a:ext>
            </a:extLst>
          </p:cNvPr>
          <p:cNvSpPr>
            <a:spLocks noGrp="1"/>
          </p:cNvSpPr>
          <p:nvPr/>
        </p:nvSpPr>
        <p:spPr>
          <a:xfrm>
            <a:off x="4710208" y="2328196"/>
            <a:ext cx="460058" cy="42719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88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8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8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8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8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8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8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8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8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8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88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80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reshape</a:t>
            </a:r>
          </a:p>
          <a:p>
            <a:pPr algn="ctr">
              <a:defRPr sz="88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80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by 4</a:t>
            </a:r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388CB830-634E-4A1C-9030-14F665672FD2}"/>
              </a:ext>
            </a:extLst>
          </p:cNvPr>
          <p:cNvSpPr>
            <a:spLocks noGrp="1"/>
          </p:cNvSpPr>
          <p:nvPr/>
        </p:nvSpPr>
        <p:spPr>
          <a:xfrm>
            <a:off x="6241542" y="2347913"/>
            <a:ext cx="147876" cy="118300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37" name="矩形 136">
            <a:extLst>
              <a:ext uri="{FF2B5EF4-FFF2-40B4-BE49-F238E27FC236}">
                <a16:creationId xmlns:a16="http://schemas.microsoft.com/office/drawing/2014/main" id="{25B85418-2986-4518-9979-8F247D8C948B}"/>
              </a:ext>
            </a:extLst>
          </p:cNvPr>
          <p:cNvSpPr>
            <a:spLocks noGrp="1"/>
          </p:cNvSpPr>
          <p:nvPr/>
        </p:nvSpPr>
        <p:spPr>
          <a:xfrm>
            <a:off x="6389418" y="2347913"/>
            <a:ext cx="147876" cy="118300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100270AB-47C7-40DA-A99B-42AE306794DB}"/>
              </a:ext>
            </a:extLst>
          </p:cNvPr>
          <p:cNvSpPr>
            <a:spLocks noGrp="1"/>
          </p:cNvSpPr>
          <p:nvPr/>
        </p:nvSpPr>
        <p:spPr>
          <a:xfrm>
            <a:off x="6537293" y="2347913"/>
            <a:ext cx="147876" cy="118300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39" name="矩形 138">
            <a:extLst>
              <a:ext uri="{FF2B5EF4-FFF2-40B4-BE49-F238E27FC236}">
                <a16:creationId xmlns:a16="http://schemas.microsoft.com/office/drawing/2014/main" id="{F08D1AD1-B94A-4B8E-ABA4-9DA72F7C0726}"/>
              </a:ext>
            </a:extLst>
          </p:cNvPr>
          <p:cNvSpPr>
            <a:spLocks noGrp="1"/>
          </p:cNvSpPr>
          <p:nvPr/>
        </p:nvSpPr>
        <p:spPr>
          <a:xfrm>
            <a:off x="6685169" y="2347913"/>
            <a:ext cx="147876" cy="118300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40" name="矩形 139">
            <a:extLst>
              <a:ext uri="{FF2B5EF4-FFF2-40B4-BE49-F238E27FC236}">
                <a16:creationId xmlns:a16="http://schemas.microsoft.com/office/drawing/2014/main" id="{599B8977-BB3A-44CB-A194-8200F6ABE3F8}"/>
              </a:ext>
            </a:extLst>
          </p:cNvPr>
          <p:cNvSpPr>
            <a:spLocks noGrp="1"/>
          </p:cNvSpPr>
          <p:nvPr/>
        </p:nvSpPr>
        <p:spPr>
          <a:xfrm>
            <a:off x="6241542" y="2466213"/>
            <a:ext cx="147876" cy="118300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41" name="矩形 140">
            <a:extLst>
              <a:ext uri="{FF2B5EF4-FFF2-40B4-BE49-F238E27FC236}">
                <a16:creationId xmlns:a16="http://schemas.microsoft.com/office/drawing/2014/main" id="{F163A84C-C3F3-4521-937A-61DCA506AF1C}"/>
              </a:ext>
            </a:extLst>
          </p:cNvPr>
          <p:cNvSpPr>
            <a:spLocks noGrp="1"/>
          </p:cNvSpPr>
          <p:nvPr/>
        </p:nvSpPr>
        <p:spPr>
          <a:xfrm>
            <a:off x="6389418" y="2466213"/>
            <a:ext cx="147876" cy="118300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42" name="矩形 141">
            <a:extLst>
              <a:ext uri="{FF2B5EF4-FFF2-40B4-BE49-F238E27FC236}">
                <a16:creationId xmlns:a16="http://schemas.microsoft.com/office/drawing/2014/main" id="{5F821DE9-0696-4EEE-AC47-D5269F671671}"/>
              </a:ext>
            </a:extLst>
          </p:cNvPr>
          <p:cNvSpPr>
            <a:spLocks noGrp="1"/>
          </p:cNvSpPr>
          <p:nvPr/>
        </p:nvSpPr>
        <p:spPr>
          <a:xfrm>
            <a:off x="6537293" y="2466213"/>
            <a:ext cx="147876" cy="118300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43" name="矩形 142">
            <a:extLst>
              <a:ext uri="{FF2B5EF4-FFF2-40B4-BE49-F238E27FC236}">
                <a16:creationId xmlns:a16="http://schemas.microsoft.com/office/drawing/2014/main" id="{C62302C9-F182-4E90-A036-12949B0B62DB}"/>
              </a:ext>
            </a:extLst>
          </p:cNvPr>
          <p:cNvSpPr>
            <a:spLocks noGrp="1"/>
          </p:cNvSpPr>
          <p:nvPr/>
        </p:nvSpPr>
        <p:spPr>
          <a:xfrm>
            <a:off x="6685169" y="2466213"/>
            <a:ext cx="147876" cy="118300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44" name="矩形 143">
            <a:extLst>
              <a:ext uri="{FF2B5EF4-FFF2-40B4-BE49-F238E27FC236}">
                <a16:creationId xmlns:a16="http://schemas.microsoft.com/office/drawing/2014/main" id="{3FF0D538-5725-4030-907B-CF9AC5CB93FE}"/>
              </a:ext>
            </a:extLst>
          </p:cNvPr>
          <p:cNvSpPr>
            <a:spLocks noGrp="1"/>
          </p:cNvSpPr>
          <p:nvPr/>
        </p:nvSpPr>
        <p:spPr>
          <a:xfrm>
            <a:off x="6241542" y="2584513"/>
            <a:ext cx="147876" cy="118300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45" name="矩形 144">
            <a:extLst>
              <a:ext uri="{FF2B5EF4-FFF2-40B4-BE49-F238E27FC236}">
                <a16:creationId xmlns:a16="http://schemas.microsoft.com/office/drawing/2014/main" id="{DBC66C42-892F-4F5E-8F1E-BBADA31E13A0}"/>
              </a:ext>
            </a:extLst>
          </p:cNvPr>
          <p:cNvSpPr>
            <a:spLocks noGrp="1"/>
          </p:cNvSpPr>
          <p:nvPr/>
        </p:nvSpPr>
        <p:spPr>
          <a:xfrm>
            <a:off x="6389418" y="2584513"/>
            <a:ext cx="147876" cy="118300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46" name="矩形 145">
            <a:extLst>
              <a:ext uri="{FF2B5EF4-FFF2-40B4-BE49-F238E27FC236}">
                <a16:creationId xmlns:a16="http://schemas.microsoft.com/office/drawing/2014/main" id="{7C069AB5-6395-40B2-9023-B62E7F97EE2E}"/>
              </a:ext>
            </a:extLst>
          </p:cNvPr>
          <p:cNvSpPr>
            <a:spLocks noGrp="1"/>
          </p:cNvSpPr>
          <p:nvPr/>
        </p:nvSpPr>
        <p:spPr>
          <a:xfrm>
            <a:off x="6537293" y="2584513"/>
            <a:ext cx="147876" cy="118300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47" name="矩形 146">
            <a:extLst>
              <a:ext uri="{FF2B5EF4-FFF2-40B4-BE49-F238E27FC236}">
                <a16:creationId xmlns:a16="http://schemas.microsoft.com/office/drawing/2014/main" id="{F3120F32-30B9-4E47-B304-B48FD9ECF34E}"/>
              </a:ext>
            </a:extLst>
          </p:cNvPr>
          <p:cNvSpPr>
            <a:spLocks noGrp="1"/>
          </p:cNvSpPr>
          <p:nvPr/>
        </p:nvSpPr>
        <p:spPr>
          <a:xfrm>
            <a:off x="6685169" y="2584513"/>
            <a:ext cx="147876" cy="118300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48" name="矩形 147">
            <a:extLst>
              <a:ext uri="{FF2B5EF4-FFF2-40B4-BE49-F238E27FC236}">
                <a16:creationId xmlns:a16="http://schemas.microsoft.com/office/drawing/2014/main" id="{A2149369-754A-4B3C-BD5F-C66DA995F151}"/>
              </a:ext>
            </a:extLst>
          </p:cNvPr>
          <p:cNvSpPr>
            <a:spLocks noGrp="1"/>
          </p:cNvSpPr>
          <p:nvPr/>
        </p:nvSpPr>
        <p:spPr>
          <a:xfrm>
            <a:off x="6241542" y="2702814"/>
            <a:ext cx="147876" cy="118300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49" name="矩形 148">
            <a:extLst>
              <a:ext uri="{FF2B5EF4-FFF2-40B4-BE49-F238E27FC236}">
                <a16:creationId xmlns:a16="http://schemas.microsoft.com/office/drawing/2014/main" id="{A6EDBDD9-3688-4B6E-A08D-6AAA3FE83840}"/>
              </a:ext>
            </a:extLst>
          </p:cNvPr>
          <p:cNvSpPr>
            <a:spLocks noGrp="1"/>
          </p:cNvSpPr>
          <p:nvPr/>
        </p:nvSpPr>
        <p:spPr>
          <a:xfrm>
            <a:off x="6389418" y="2702814"/>
            <a:ext cx="147876" cy="118300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50" name="矩形 149">
            <a:extLst>
              <a:ext uri="{FF2B5EF4-FFF2-40B4-BE49-F238E27FC236}">
                <a16:creationId xmlns:a16="http://schemas.microsoft.com/office/drawing/2014/main" id="{66841219-CF99-4C2F-8DD1-EF478EDD48CB}"/>
              </a:ext>
            </a:extLst>
          </p:cNvPr>
          <p:cNvSpPr>
            <a:spLocks noGrp="1"/>
          </p:cNvSpPr>
          <p:nvPr/>
        </p:nvSpPr>
        <p:spPr>
          <a:xfrm>
            <a:off x="6537293" y="2702814"/>
            <a:ext cx="147876" cy="118300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51" name="矩形 150">
            <a:extLst>
              <a:ext uri="{FF2B5EF4-FFF2-40B4-BE49-F238E27FC236}">
                <a16:creationId xmlns:a16="http://schemas.microsoft.com/office/drawing/2014/main" id="{A2AC80A8-0FE6-422B-BEFC-F9C1B38E41CD}"/>
              </a:ext>
            </a:extLst>
          </p:cNvPr>
          <p:cNvSpPr>
            <a:spLocks noGrp="1"/>
          </p:cNvSpPr>
          <p:nvPr/>
        </p:nvSpPr>
        <p:spPr>
          <a:xfrm>
            <a:off x="6685169" y="2702814"/>
            <a:ext cx="147876" cy="118300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52" name="C1: 256 × 4">
            <a:extLst>
              <a:ext uri="{FF2B5EF4-FFF2-40B4-BE49-F238E27FC236}">
                <a16:creationId xmlns:a16="http://schemas.microsoft.com/office/drawing/2014/main" id="{907E66FA-58DD-4D9B-92EE-21B28F2AD121}"/>
              </a:ext>
            </a:extLst>
          </p:cNvPr>
          <p:cNvSpPr>
            <a:spLocks noGrp="1"/>
          </p:cNvSpPr>
          <p:nvPr/>
        </p:nvSpPr>
        <p:spPr>
          <a:xfrm>
            <a:off x="6241542" y="2150745"/>
            <a:ext cx="591503" cy="17745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82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2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2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2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2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2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2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2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2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2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82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C1: 256 × 4</a:t>
            </a:r>
          </a:p>
        </p:txBody>
      </p:sp>
      <p:sp>
        <p:nvSpPr>
          <p:cNvPr id="153" name="矩形 152">
            <a:extLst>
              <a:ext uri="{FF2B5EF4-FFF2-40B4-BE49-F238E27FC236}">
                <a16:creationId xmlns:a16="http://schemas.microsoft.com/office/drawing/2014/main" id="{3BF58E65-763C-488E-A664-F287D5940368}"/>
              </a:ext>
            </a:extLst>
          </p:cNvPr>
          <p:cNvSpPr>
            <a:spLocks noGrp="1"/>
          </p:cNvSpPr>
          <p:nvPr/>
        </p:nvSpPr>
        <p:spPr>
          <a:xfrm>
            <a:off x="6241542" y="2347913"/>
            <a:ext cx="591503" cy="473202"/>
          </a:xfrm>
          <a:prstGeom prst="rect">
            <a:avLst/>
          </a:prstGeom>
          <a:noFill/>
          <a:ln w="7620">
            <a:noFill/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54" name="矩形 153">
            <a:extLst>
              <a:ext uri="{FF2B5EF4-FFF2-40B4-BE49-F238E27FC236}">
                <a16:creationId xmlns:a16="http://schemas.microsoft.com/office/drawing/2014/main" id="{DD09CD8E-83BA-45DE-B2E1-58EA46AEC7CB}"/>
              </a:ext>
            </a:extLst>
          </p:cNvPr>
          <p:cNvSpPr>
            <a:spLocks noGrp="1"/>
          </p:cNvSpPr>
          <p:nvPr/>
        </p:nvSpPr>
        <p:spPr>
          <a:xfrm>
            <a:off x="7115651" y="2347913"/>
            <a:ext cx="147876" cy="118300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55" name="矩形 154">
            <a:extLst>
              <a:ext uri="{FF2B5EF4-FFF2-40B4-BE49-F238E27FC236}">
                <a16:creationId xmlns:a16="http://schemas.microsoft.com/office/drawing/2014/main" id="{3BCA38B8-CF26-4FA9-9332-4A8D813AA3A3}"/>
              </a:ext>
            </a:extLst>
          </p:cNvPr>
          <p:cNvSpPr>
            <a:spLocks noGrp="1"/>
          </p:cNvSpPr>
          <p:nvPr/>
        </p:nvSpPr>
        <p:spPr>
          <a:xfrm>
            <a:off x="7263527" y="2347913"/>
            <a:ext cx="147876" cy="118300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56" name="矩形 155">
            <a:extLst>
              <a:ext uri="{FF2B5EF4-FFF2-40B4-BE49-F238E27FC236}">
                <a16:creationId xmlns:a16="http://schemas.microsoft.com/office/drawing/2014/main" id="{5D11B647-C83B-4319-9D50-8DCC4315A612}"/>
              </a:ext>
            </a:extLst>
          </p:cNvPr>
          <p:cNvSpPr>
            <a:spLocks noGrp="1"/>
          </p:cNvSpPr>
          <p:nvPr/>
        </p:nvSpPr>
        <p:spPr>
          <a:xfrm>
            <a:off x="7411402" y="2347913"/>
            <a:ext cx="147876" cy="118300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57" name="矩形 156">
            <a:extLst>
              <a:ext uri="{FF2B5EF4-FFF2-40B4-BE49-F238E27FC236}">
                <a16:creationId xmlns:a16="http://schemas.microsoft.com/office/drawing/2014/main" id="{CDD854F4-BD2E-4BF5-9C83-55D6CF370D97}"/>
              </a:ext>
            </a:extLst>
          </p:cNvPr>
          <p:cNvSpPr>
            <a:spLocks noGrp="1"/>
          </p:cNvSpPr>
          <p:nvPr/>
        </p:nvSpPr>
        <p:spPr>
          <a:xfrm>
            <a:off x="7559278" y="2347913"/>
            <a:ext cx="147876" cy="118300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58" name="矩形 157">
            <a:extLst>
              <a:ext uri="{FF2B5EF4-FFF2-40B4-BE49-F238E27FC236}">
                <a16:creationId xmlns:a16="http://schemas.microsoft.com/office/drawing/2014/main" id="{E6D475A1-526A-4482-8677-FAD803F23EA2}"/>
              </a:ext>
            </a:extLst>
          </p:cNvPr>
          <p:cNvSpPr>
            <a:spLocks noGrp="1"/>
          </p:cNvSpPr>
          <p:nvPr/>
        </p:nvSpPr>
        <p:spPr>
          <a:xfrm>
            <a:off x="7115651" y="2466213"/>
            <a:ext cx="147876" cy="118300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59" name="矩形 158">
            <a:extLst>
              <a:ext uri="{FF2B5EF4-FFF2-40B4-BE49-F238E27FC236}">
                <a16:creationId xmlns:a16="http://schemas.microsoft.com/office/drawing/2014/main" id="{BAF95564-C0CE-414F-908A-86BC307094CE}"/>
              </a:ext>
            </a:extLst>
          </p:cNvPr>
          <p:cNvSpPr>
            <a:spLocks noGrp="1"/>
          </p:cNvSpPr>
          <p:nvPr/>
        </p:nvSpPr>
        <p:spPr>
          <a:xfrm>
            <a:off x="7263527" y="2466213"/>
            <a:ext cx="147876" cy="118300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60" name="矩形 159">
            <a:extLst>
              <a:ext uri="{FF2B5EF4-FFF2-40B4-BE49-F238E27FC236}">
                <a16:creationId xmlns:a16="http://schemas.microsoft.com/office/drawing/2014/main" id="{5839143A-5055-4EB7-A31F-CF1AE2AE30D5}"/>
              </a:ext>
            </a:extLst>
          </p:cNvPr>
          <p:cNvSpPr>
            <a:spLocks noGrp="1"/>
          </p:cNvSpPr>
          <p:nvPr/>
        </p:nvSpPr>
        <p:spPr>
          <a:xfrm>
            <a:off x="7411402" y="2466213"/>
            <a:ext cx="147876" cy="118300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61" name="矩形 160">
            <a:extLst>
              <a:ext uri="{FF2B5EF4-FFF2-40B4-BE49-F238E27FC236}">
                <a16:creationId xmlns:a16="http://schemas.microsoft.com/office/drawing/2014/main" id="{9522AFAD-FF62-4A96-BE3A-FED924CDF097}"/>
              </a:ext>
            </a:extLst>
          </p:cNvPr>
          <p:cNvSpPr>
            <a:spLocks noGrp="1"/>
          </p:cNvSpPr>
          <p:nvPr/>
        </p:nvSpPr>
        <p:spPr>
          <a:xfrm>
            <a:off x="7559278" y="2466213"/>
            <a:ext cx="147876" cy="118300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62" name="矩形 161">
            <a:extLst>
              <a:ext uri="{FF2B5EF4-FFF2-40B4-BE49-F238E27FC236}">
                <a16:creationId xmlns:a16="http://schemas.microsoft.com/office/drawing/2014/main" id="{1B2FF8EB-4FE7-47F4-8DC2-3ADBDB6DD3F9}"/>
              </a:ext>
            </a:extLst>
          </p:cNvPr>
          <p:cNvSpPr>
            <a:spLocks noGrp="1"/>
          </p:cNvSpPr>
          <p:nvPr/>
        </p:nvSpPr>
        <p:spPr>
          <a:xfrm>
            <a:off x="7115651" y="2584513"/>
            <a:ext cx="147876" cy="118300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63" name="矩形 162">
            <a:extLst>
              <a:ext uri="{FF2B5EF4-FFF2-40B4-BE49-F238E27FC236}">
                <a16:creationId xmlns:a16="http://schemas.microsoft.com/office/drawing/2014/main" id="{6EB0208C-AEF5-4CB9-9429-7EA7BF08746D}"/>
              </a:ext>
            </a:extLst>
          </p:cNvPr>
          <p:cNvSpPr>
            <a:spLocks noGrp="1"/>
          </p:cNvSpPr>
          <p:nvPr/>
        </p:nvSpPr>
        <p:spPr>
          <a:xfrm>
            <a:off x="7263527" y="2584513"/>
            <a:ext cx="147876" cy="118300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64" name="矩形 163">
            <a:extLst>
              <a:ext uri="{FF2B5EF4-FFF2-40B4-BE49-F238E27FC236}">
                <a16:creationId xmlns:a16="http://schemas.microsoft.com/office/drawing/2014/main" id="{2221B306-F928-47E5-8E1E-F6EEEFA59C4C}"/>
              </a:ext>
            </a:extLst>
          </p:cNvPr>
          <p:cNvSpPr>
            <a:spLocks noGrp="1"/>
          </p:cNvSpPr>
          <p:nvPr/>
        </p:nvSpPr>
        <p:spPr>
          <a:xfrm>
            <a:off x="7411402" y="2584513"/>
            <a:ext cx="147876" cy="118300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65" name="矩形 164">
            <a:extLst>
              <a:ext uri="{FF2B5EF4-FFF2-40B4-BE49-F238E27FC236}">
                <a16:creationId xmlns:a16="http://schemas.microsoft.com/office/drawing/2014/main" id="{6D099A0C-FE3E-4425-84C9-CB4776680943}"/>
              </a:ext>
            </a:extLst>
          </p:cNvPr>
          <p:cNvSpPr>
            <a:spLocks noGrp="1"/>
          </p:cNvSpPr>
          <p:nvPr/>
        </p:nvSpPr>
        <p:spPr>
          <a:xfrm>
            <a:off x="7559278" y="2584513"/>
            <a:ext cx="147876" cy="118300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66" name="矩形 165">
            <a:extLst>
              <a:ext uri="{FF2B5EF4-FFF2-40B4-BE49-F238E27FC236}">
                <a16:creationId xmlns:a16="http://schemas.microsoft.com/office/drawing/2014/main" id="{B67333B7-CFB8-45D6-820A-D3CC31990CDF}"/>
              </a:ext>
            </a:extLst>
          </p:cNvPr>
          <p:cNvSpPr>
            <a:spLocks noGrp="1"/>
          </p:cNvSpPr>
          <p:nvPr/>
        </p:nvSpPr>
        <p:spPr>
          <a:xfrm>
            <a:off x="7115651" y="2702814"/>
            <a:ext cx="147876" cy="118300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67" name="矩形 166">
            <a:extLst>
              <a:ext uri="{FF2B5EF4-FFF2-40B4-BE49-F238E27FC236}">
                <a16:creationId xmlns:a16="http://schemas.microsoft.com/office/drawing/2014/main" id="{7617EDE4-B47E-4C9A-A75D-9EE6C1E10DE8}"/>
              </a:ext>
            </a:extLst>
          </p:cNvPr>
          <p:cNvSpPr>
            <a:spLocks noGrp="1"/>
          </p:cNvSpPr>
          <p:nvPr/>
        </p:nvSpPr>
        <p:spPr>
          <a:xfrm>
            <a:off x="7263527" y="2702814"/>
            <a:ext cx="147876" cy="118300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68" name="矩形 167">
            <a:extLst>
              <a:ext uri="{FF2B5EF4-FFF2-40B4-BE49-F238E27FC236}">
                <a16:creationId xmlns:a16="http://schemas.microsoft.com/office/drawing/2014/main" id="{B52BCFDA-6344-4ACC-BEF4-EBCEC55A9FAB}"/>
              </a:ext>
            </a:extLst>
          </p:cNvPr>
          <p:cNvSpPr>
            <a:spLocks noGrp="1"/>
          </p:cNvSpPr>
          <p:nvPr/>
        </p:nvSpPr>
        <p:spPr>
          <a:xfrm>
            <a:off x="7411402" y="2702814"/>
            <a:ext cx="147876" cy="118300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69" name="矩形 168">
            <a:extLst>
              <a:ext uri="{FF2B5EF4-FFF2-40B4-BE49-F238E27FC236}">
                <a16:creationId xmlns:a16="http://schemas.microsoft.com/office/drawing/2014/main" id="{30CFFB17-EC77-43BF-9B64-21742AF17B38}"/>
              </a:ext>
            </a:extLst>
          </p:cNvPr>
          <p:cNvSpPr>
            <a:spLocks noGrp="1"/>
          </p:cNvSpPr>
          <p:nvPr/>
        </p:nvSpPr>
        <p:spPr>
          <a:xfrm>
            <a:off x="7559278" y="2702814"/>
            <a:ext cx="147876" cy="118300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70" name="C2: 256 × 4">
            <a:extLst>
              <a:ext uri="{FF2B5EF4-FFF2-40B4-BE49-F238E27FC236}">
                <a16:creationId xmlns:a16="http://schemas.microsoft.com/office/drawing/2014/main" id="{012C2047-FD9E-43EF-AD6E-F324CBAF20F1}"/>
              </a:ext>
            </a:extLst>
          </p:cNvPr>
          <p:cNvSpPr>
            <a:spLocks noGrp="1"/>
          </p:cNvSpPr>
          <p:nvPr/>
        </p:nvSpPr>
        <p:spPr>
          <a:xfrm>
            <a:off x="7115651" y="2150745"/>
            <a:ext cx="591503" cy="17745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82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2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2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2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2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2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2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2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2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2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82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C2: 256 × 4</a:t>
            </a:r>
          </a:p>
        </p:txBody>
      </p:sp>
      <p:sp>
        <p:nvSpPr>
          <p:cNvPr id="171" name="矩形 170">
            <a:extLst>
              <a:ext uri="{FF2B5EF4-FFF2-40B4-BE49-F238E27FC236}">
                <a16:creationId xmlns:a16="http://schemas.microsoft.com/office/drawing/2014/main" id="{1D3C6E3E-CAF8-4638-B6D8-AD05A84085A4}"/>
              </a:ext>
            </a:extLst>
          </p:cNvPr>
          <p:cNvSpPr>
            <a:spLocks noGrp="1"/>
          </p:cNvSpPr>
          <p:nvPr/>
        </p:nvSpPr>
        <p:spPr>
          <a:xfrm>
            <a:off x="7115651" y="2347913"/>
            <a:ext cx="591503" cy="473202"/>
          </a:xfrm>
          <a:prstGeom prst="rect">
            <a:avLst/>
          </a:prstGeom>
          <a:noFill/>
          <a:ln w="7620">
            <a:noFill/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72" name="i1">
            <a:extLst>
              <a:ext uri="{FF2B5EF4-FFF2-40B4-BE49-F238E27FC236}">
                <a16:creationId xmlns:a16="http://schemas.microsoft.com/office/drawing/2014/main" id="{3EEA6AA3-A59C-47A1-AD5E-28F967D18C66}"/>
              </a:ext>
            </a:extLst>
          </p:cNvPr>
          <p:cNvSpPr>
            <a:spLocks noGrp="1"/>
          </p:cNvSpPr>
          <p:nvPr/>
        </p:nvSpPr>
        <p:spPr>
          <a:xfrm>
            <a:off x="6241542" y="3149727"/>
            <a:ext cx="591503" cy="184023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88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8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8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8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8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8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8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8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8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8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88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80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i1</a:t>
            </a:r>
          </a:p>
        </p:txBody>
      </p:sp>
      <p:sp>
        <p:nvSpPr>
          <p:cNvPr id="173" name="i2">
            <a:extLst>
              <a:ext uri="{FF2B5EF4-FFF2-40B4-BE49-F238E27FC236}">
                <a16:creationId xmlns:a16="http://schemas.microsoft.com/office/drawing/2014/main" id="{1BAF2747-CCA7-4170-883F-7771EE5D3C14}"/>
              </a:ext>
            </a:extLst>
          </p:cNvPr>
          <p:cNvSpPr>
            <a:spLocks noGrp="1"/>
          </p:cNvSpPr>
          <p:nvPr/>
        </p:nvSpPr>
        <p:spPr>
          <a:xfrm>
            <a:off x="7115651" y="3149727"/>
            <a:ext cx="591503" cy="184023"/>
          </a:xfrm>
          <a:prstGeom prst="rect">
            <a:avLst/>
          </a:prstGeom>
          <a:solidFill>
            <a:srgbClr val="DAEFE6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88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8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8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8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8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8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8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8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8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8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88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80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i2</a:t>
            </a:r>
          </a:p>
        </p:txBody>
      </p:sp>
      <p:sp>
        <p:nvSpPr>
          <p:cNvPr id="174" name="矩形 173">
            <a:extLst>
              <a:ext uri="{FF2B5EF4-FFF2-40B4-BE49-F238E27FC236}">
                <a16:creationId xmlns:a16="http://schemas.microsoft.com/office/drawing/2014/main" id="{A864DCDF-A8C8-4EE2-87DC-51C970AFEA2B}"/>
              </a:ext>
            </a:extLst>
          </p:cNvPr>
          <p:cNvSpPr>
            <a:spLocks noGrp="1"/>
          </p:cNvSpPr>
          <p:nvPr/>
        </p:nvSpPr>
        <p:spPr>
          <a:xfrm>
            <a:off x="6241542" y="3511201"/>
            <a:ext cx="111728" cy="131445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75" name="矩形 174">
            <a:extLst>
              <a:ext uri="{FF2B5EF4-FFF2-40B4-BE49-F238E27FC236}">
                <a16:creationId xmlns:a16="http://schemas.microsoft.com/office/drawing/2014/main" id="{BA30145F-7E26-4E41-A15C-C60B12A38D95}"/>
              </a:ext>
            </a:extLst>
          </p:cNvPr>
          <p:cNvSpPr>
            <a:spLocks noGrp="1"/>
          </p:cNvSpPr>
          <p:nvPr/>
        </p:nvSpPr>
        <p:spPr>
          <a:xfrm>
            <a:off x="6353270" y="3511201"/>
            <a:ext cx="111728" cy="131445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76" name="矩形 175">
            <a:extLst>
              <a:ext uri="{FF2B5EF4-FFF2-40B4-BE49-F238E27FC236}">
                <a16:creationId xmlns:a16="http://schemas.microsoft.com/office/drawing/2014/main" id="{3A437319-08F3-4866-83E8-68ECDBE0A87C}"/>
              </a:ext>
            </a:extLst>
          </p:cNvPr>
          <p:cNvSpPr>
            <a:spLocks noGrp="1"/>
          </p:cNvSpPr>
          <p:nvPr/>
        </p:nvSpPr>
        <p:spPr>
          <a:xfrm>
            <a:off x="6464999" y="3511201"/>
            <a:ext cx="111728" cy="131445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77" name="矩形 176">
            <a:extLst>
              <a:ext uri="{FF2B5EF4-FFF2-40B4-BE49-F238E27FC236}">
                <a16:creationId xmlns:a16="http://schemas.microsoft.com/office/drawing/2014/main" id="{EB1D204A-8388-419A-96ED-1AF76FBB377F}"/>
              </a:ext>
            </a:extLst>
          </p:cNvPr>
          <p:cNvSpPr>
            <a:spLocks noGrp="1"/>
          </p:cNvSpPr>
          <p:nvPr/>
        </p:nvSpPr>
        <p:spPr>
          <a:xfrm>
            <a:off x="6576727" y="3511201"/>
            <a:ext cx="111728" cy="131445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78" name="矩形 177">
            <a:extLst>
              <a:ext uri="{FF2B5EF4-FFF2-40B4-BE49-F238E27FC236}">
                <a16:creationId xmlns:a16="http://schemas.microsoft.com/office/drawing/2014/main" id="{FF6FDA06-B701-4925-A3FE-E3622CAC4A1F}"/>
              </a:ext>
            </a:extLst>
          </p:cNvPr>
          <p:cNvSpPr>
            <a:spLocks noGrp="1"/>
          </p:cNvSpPr>
          <p:nvPr/>
        </p:nvSpPr>
        <p:spPr>
          <a:xfrm>
            <a:off x="6241542" y="3511201"/>
            <a:ext cx="446913" cy="131445"/>
          </a:xfrm>
          <a:prstGeom prst="rect">
            <a:avLst/>
          </a:prstGeom>
          <a:noFill/>
          <a:ln w="7620">
            <a:noFill/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79" name="矩形 178">
            <a:extLst>
              <a:ext uri="{FF2B5EF4-FFF2-40B4-BE49-F238E27FC236}">
                <a16:creationId xmlns:a16="http://schemas.microsoft.com/office/drawing/2014/main" id="{9C7CDB23-ED69-4FE4-A6AC-DAF54B445354}"/>
              </a:ext>
            </a:extLst>
          </p:cNvPr>
          <p:cNvSpPr>
            <a:spLocks noGrp="1"/>
          </p:cNvSpPr>
          <p:nvPr/>
        </p:nvSpPr>
        <p:spPr>
          <a:xfrm>
            <a:off x="7253669" y="3511201"/>
            <a:ext cx="111728" cy="131445"/>
          </a:xfrm>
          <a:prstGeom prst="rect">
            <a:avLst/>
          </a:prstGeom>
          <a:solidFill>
            <a:srgbClr val="DAEFE6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80" name="矩形 179">
            <a:extLst>
              <a:ext uri="{FF2B5EF4-FFF2-40B4-BE49-F238E27FC236}">
                <a16:creationId xmlns:a16="http://schemas.microsoft.com/office/drawing/2014/main" id="{7D8260A4-096C-4565-8E11-E5225430698D}"/>
              </a:ext>
            </a:extLst>
          </p:cNvPr>
          <p:cNvSpPr>
            <a:spLocks noGrp="1"/>
          </p:cNvSpPr>
          <p:nvPr/>
        </p:nvSpPr>
        <p:spPr>
          <a:xfrm>
            <a:off x="7365397" y="3511201"/>
            <a:ext cx="111728" cy="131445"/>
          </a:xfrm>
          <a:prstGeom prst="rect">
            <a:avLst/>
          </a:prstGeom>
          <a:solidFill>
            <a:srgbClr val="DAEFE6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81" name="矩形 180">
            <a:extLst>
              <a:ext uri="{FF2B5EF4-FFF2-40B4-BE49-F238E27FC236}">
                <a16:creationId xmlns:a16="http://schemas.microsoft.com/office/drawing/2014/main" id="{156AF99D-0563-445F-A1D9-DD82C097D715}"/>
              </a:ext>
            </a:extLst>
          </p:cNvPr>
          <p:cNvSpPr>
            <a:spLocks noGrp="1"/>
          </p:cNvSpPr>
          <p:nvPr/>
        </p:nvSpPr>
        <p:spPr>
          <a:xfrm>
            <a:off x="7477125" y="3511201"/>
            <a:ext cx="111728" cy="131445"/>
          </a:xfrm>
          <a:prstGeom prst="rect">
            <a:avLst/>
          </a:prstGeom>
          <a:solidFill>
            <a:srgbClr val="DAEFE6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82" name="矩形 181">
            <a:extLst>
              <a:ext uri="{FF2B5EF4-FFF2-40B4-BE49-F238E27FC236}">
                <a16:creationId xmlns:a16="http://schemas.microsoft.com/office/drawing/2014/main" id="{C739C3F1-4C54-44D4-9515-BDE908E1A3D5}"/>
              </a:ext>
            </a:extLst>
          </p:cNvPr>
          <p:cNvSpPr>
            <a:spLocks noGrp="1"/>
          </p:cNvSpPr>
          <p:nvPr/>
        </p:nvSpPr>
        <p:spPr>
          <a:xfrm>
            <a:off x="7588853" y="3511201"/>
            <a:ext cx="111728" cy="131445"/>
          </a:xfrm>
          <a:prstGeom prst="rect">
            <a:avLst/>
          </a:prstGeom>
          <a:solidFill>
            <a:srgbClr val="DAEFE6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83" name="矩形 182">
            <a:extLst>
              <a:ext uri="{FF2B5EF4-FFF2-40B4-BE49-F238E27FC236}">
                <a16:creationId xmlns:a16="http://schemas.microsoft.com/office/drawing/2014/main" id="{7542AF1B-CD34-4225-845F-74A673837574}"/>
              </a:ext>
            </a:extLst>
          </p:cNvPr>
          <p:cNvSpPr>
            <a:spLocks noGrp="1"/>
          </p:cNvSpPr>
          <p:nvPr/>
        </p:nvSpPr>
        <p:spPr>
          <a:xfrm>
            <a:off x="7253669" y="3511201"/>
            <a:ext cx="446913" cy="131445"/>
          </a:xfrm>
          <a:prstGeom prst="rect">
            <a:avLst/>
          </a:prstGeom>
          <a:noFill/>
          <a:ln w="7620">
            <a:noFill/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84" name="椭圆 183">
            <a:extLst>
              <a:ext uri="{FF2B5EF4-FFF2-40B4-BE49-F238E27FC236}">
                <a16:creationId xmlns:a16="http://schemas.microsoft.com/office/drawing/2014/main" id="{14C314B7-E6EF-417A-AE90-9B535B408197}"/>
              </a:ext>
            </a:extLst>
          </p:cNvPr>
          <p:cNvSpPr>
            <a:spLocks noGrp="1"/>
          </p:cNvSpPr>
          <p:nvPr/>
        </p:nvSpPr>
        <p:spPr>
          <a:xfrm>
            <a:off x="6898767" y="3642646"/>
            <a:ext cx="230029" cy="230029"/>
          </a:xfrm>
          <a:prstGeom prst="ellipse">
            <a:avLst/>
          </a:prstGeom>
          <a:solidFill>
            <a:srgbClr val="FFFFFF"/>
          </a:solidFill>
          <a:ln w="7620">
            <a:solidFill>
              <a:srgbClr val="18222F"/>
            </a:solidFill>
          </a:ln>
        </p:spPr>
        <p:txBody>
          <a:bodyPr lIns="0" tIns="0" rIns="0" bIns="0" anchor="ctr"/>
          <a:lstStyle>
            <a:defPPr algn="ctr">
              <a:defRPr sz="1397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1397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1397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1397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1397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1397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1397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1397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1397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1397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97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397">
                <a:solidFill>
                  <a:srgbClr val="18222F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85" name="two additive codebooks">
            <a:extLst>
              <a:ext uri="{FF2B5EF4-FFF2-40B4-BE49-F238E27FC236}">
                <a16:creationId xmlns:a16="http://schemas.microsoft.com/office/drawing/2014/main" id="{DE947B21-C47E-4865-8356-37D444C33D2C}"/>
              </a:ext>
            </a:extLst>
          </p:cNvPr>
          <p:cNvSpPr>
            <a:spLocks noGrp="1"/>
          </p:cNvSpPr>
          <p:nvPr/>
        </p:nvSpPr>
        <p:spPr>
          <a:xfrm>
            <a:off x="6162675" y="1965770"/>
            <a:ext cx="1610201" cy="16430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8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8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two additive codebooks</a:t>
            </a:r>
          </a:p>
        </p:txBody>
      </p:sp>
      <p:sp>
        <p:nvSpPr>
          <p:cNvPr id="186" name="Ŵ[r,b] = gᵣ 2ᵉʳᵇ (C1[i1] + C2[i2])">
            <a:extLst>
              <a:ext uri="{FF2B5EF4-FFF2-40B4-BE49-F238E27FC236}">
                <a16:creationId xmlns:a16="http://schemas.microsoft.com/office/drawing/2014/main" id="{BE250799-A692-4426-A586-EAE786381AB6}"/>
              </a:ext>
            </a:extLst>
          </p:cNvPr>
          <p:cNvSpPr>
            <a:spLocks noGrp="1"/>
          </p:cNvSpPr>
          <p:nvPr/>
        </p:nvSpPr>
        <p:spPr>
          <a:xfrm>
            <a:off x="1877568" y="3202305"/>
            <a:ext cx="3746182" cy="407479"/>
          </a:xfrm>
          <a:prstGeom prst="rect">
            <a:avLst/>
          </a:prstGeom>
          <a:solidFill>
            <a:srgbClr val="FFFFFF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1449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1449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1449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1449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1449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1449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1449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1449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1449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1449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449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449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Ŵ[r,b] = gᵣ 2ᵉʳᵇ (C1[i1] + C2[i2])</a:t>
            </a:r>
          </a:p>
        </p:txBody>
      </p:sp>
      <p:sp>
        <p:nvSpPr>
          <p:cNvPr id="187" name="gᵣ: row gain&#10;(trainable)">
            <a:extLst>
              <a:ext uri="{FF2B5EF4-FFF2-40B4-BE49-F238E27FC236}">
                <a16:creationId xmlns:a16="http://schemas.microsoft.com/office/drawing/2014/main" id="{18A6CFDE-E077-447A-AFC0-ACCDB51CC9B3}"/>
              </a:ext>
            </a:extLst>
          </p:cNvPr>
          <p:cNvSpPr>
            <a:spLocks noGrp="1"/>
          </p:cNvSpPr>
          <p:nvPr/>
        </p:nvSpPr>
        <p:spPr>
          <a:xfrm>
            <a:off x="2219325" y="3760946"/>
            <a:ext cx="952976" cy="394335"/>
          </a:xfrm>
          <a:prstGeom prst="rect">
            <a:avLst/>
          </a:prstGeom>
          <a:solidFill>
            <a:srgbClr val="F9E2C4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103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103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103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103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103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103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103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103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103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103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03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035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gᵣ: row gain</a:t>
            </a:r>
          </a:p>
          <a:p>
            <a:pPr algn="ctr">
              <a:defRPr sz="103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035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(trainable)</a:t>
            </a:r>
          </a:p>
        </p:txBody>
      </p:sp>
      <p:sp>
        <p:nvSpPr>
          <p:cNvPr id="188" name="eᵣᵦ: B32 exponent&#10;(stored, frozen)">
            <a:extLst>
              <a:ext uri="{FF2B5EF4-FFF2-40B4-BE49-F238E27FC236}">
                <a16:creationId xmlns:a16="http://schemas.microsoft.com/office/drawing/2014/main" id="{590D781C-3EEC-4F48-BD90-6E00661CB03F}"/>
              </a:ext>
            </a:extLst>
          </p:cNvPr>
          <p:cNvSpPr>
            <a:spLocks noGrp="1"/>
          </p:cNvSpPr>
          <p:nvPr/>
        </p:nvSpPr>
        <p:spPr>
          <a:xfrm>
            <a:off x="3303746" y="3760946"/>
            <a:ext cx="1478756" cy="394335"/>
          </a:xfrm>
          <a:prstGeom prst="rect">
            <a:avLst/>
          </a:prstGeom>
          <a:solidFill>
            <a:srgbClr val="EDF0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103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103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103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103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103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103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103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103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103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103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03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035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eᵣᵦ: B32 exponent</a:t>
            </a:r>
          </a:p>
          <a:p>
            <a:pPr algn="ctr">
              <a:defRPr sz="103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035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(stored, frozen)</a:t>
            </a:r>
          </a:p>
        </p:txBody>
      </p:sp>
      <p:sp>
        <p:nvSpPr>
          <p:cNvPr id="189" name="~4.27 effective bpw">
            <a:extLst>
              <a:ext uri="{FF2B5EF4-FFF2-40B4-BE49-F238E27FC236}">
                <a16:creationId xmlns:a16="http://schemas.microsoft.com/office/drawing/2014/main" id="{D804C058-C0C1-47CB-B7DE-A00F9F6BB816}"/>
              </a:ext>
            </a:extLst>
          </p:cNvPr>
          <p:cNvSpPr>
            <a:spLocks noGrp="1"/>
          </p:cNvSpPr>
          <p:nvPr/>
        </p:nvSpPr>
        <p:spPr>
          <a:xfrm>
            <a:off x="5045393" y="3846386"/>
            <a:ext cx="2431733" cy="26289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94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1294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1294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1294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1294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1294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1294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1294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1294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1294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94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294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~4.27 effective bpw</a:t>
            </a:r>
          </a:p>
        </p:txBody>
      </p:sp>
      <p:sp>
        <p:nvSpPr>
          <p:cNvPr id="190" name="Xₜ = X S⁻¹ R,   Wₜ = W S R,   R = H128 U128">
            <a:extLst>
              <a:ext uri="{FF2B5EF4-FFF2-40B4-BE49-F238E27FC236}">
                <a16:creationId xmlns:a16="http://schemas.microsoft.com/office/drawing/2014/main" id="{2BC8A772-7150-4BE2-B297-81737AB01929}"/>
              </a:ext>
            </a:extLst>
          </p:cNvPr>
          <p:cNvSpPr>
            <a:spLocks noGrp="1"/>
          </p:cNvSpPr>
          <p:nvPr/>
        </p:nvSpPr>
        <p:spPr>
          <a:xfrm>
            <a:off x="1003459" y="4253865"/>
            <a:ext cx="6703695" cy="210312"/>
          </a:xfrm>
          <a:prstGeom prst="rect">
            <a:avLst/>
          </a:prstGeom>
          <a:solidFill>
            <a:srgbClr val="EDF0F3"/>
          </a:solidFill>
          <a:ln w="7620">
            <a:noFill/>
          </a:ln>
        </p:spPr>
        <p:txBody>
          <a:bodyPr lIns="28575" tIns="28575" rIns="28575" bIns="28575" anchor="ctr">
            <a:noAutofit/>
          </a:bodyPr>
          <a:lstStyle>
            <a:defPPr algn="ctr">
              <a:defRPr sz="119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119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119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119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119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119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119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119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119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119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9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190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Xₜ = X S⁻¹ R,   Wₜ = W S R,   R = H128 U128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802428B-436C-4E34-A2E8-5B061277BA48}"/>
              </a:ext>
            </a:extLst>
          </p:cNvPr>
          <p:cNvSpPr>
            <a:spLocks noGrp="1"/>
          </p:cNvSpPr>
          <p:nvPr/>
        </p:nvSpPr>
        <p:spPr>
          <a:xfrm>
            <a:off x="381000" y="866775"/>
            <a:ext cx="2938939" cy="2817495"/>
          </a:xfrm>
          <a:prstGeom prst="rect">
            <a:avLst/>
          </a:prstGeom>
          <a:solidFill>
            <a:srgbClr val="FFFFFF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6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6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6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6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6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6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6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6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6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6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E33FA793-B13B-4269-B534-2D45AD461281}"/>
              </a:ext>
            </a:extLst>
          </p:cNvPr>
          <p:cNvCxnSpPr>
            <a:stCxn id="26" idx="3"/>
            <a:endCxn id="27" idx="1"/>
          </p:cNvCxnSpPr>
          <p:nvPr/>
        </p:nvCxnSpPr>
        <p:spPr>
          <a:xfrm>
            <a:off x="2615566" y="2683574"/>
            <a:ext cx="87438" cy="0"/>
          </a:xfrm>
          <a:prstGeom prst="straightConnector1">
            <a:avLst/>
          </a:prstGeom>
          <a:ln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A1F6E55E-7F9A-4D8F-8FA0-393B06024AB7}"/>
              </a:ext>
            </a:extLst>
          </p:cNvPr>
          <p:cNvCxnSpPr>
            <a:stCxn id="25" idx="2"/>
            <a:endCxn id="26" idx="2"/>
          </p:cNvCxnSpPr>
          <p:nvPr/>
        </p:nvCxnSpPr>
        <p:spPr>
          <a:xfrm>
            <a:off x="1733884" y="2873026"/>
            <a:ext cx="614506" cy="0"/>
          </a:xfrm>
          <a:prstGeom prst="straightConnector1">
            <a:avLst/>
          </a:prstGeom>
          <a:ln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1ABEC259-AC34-4CF6-AE4E-30066E09BF82}"/>
              </a:ext>
            </a:extLst>
          </p:cNvPr>
          <p:cNvCxnSpPr>
            <a:stCxn id="24" idx="2"/>
            <a:endCxn id="26" idx="2"/>
          </p:cNvCxnSpPr>
          <p:nvPr/>
        </p:nvCxnSpPr>
        <p:spPr>
          <a:xfrm>
            <a:off x="1204389" y="2873026"/>
            <a:ext cx="1144001" cy="0"/>
          </a:xfrm>
          <a:prstGeom prst="straightConnector1">
            <a:avLst/>
          </a:prstGeom>
          <a:ln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9EE99A7B-CB52-4420-B3DB-1229653540C1}"/>
              </a:ext>
            </a:extLst>
          </p:cNvPr>
          <p:cNvCxnSpPr>
            <a:stCxn id="23" idx="2"/>
            <a:endCxn id="26" idx="2"/>
          </p:cNvCxnSpPr>
          <p:nvPr/>
        </p:nvCxnSpPr>
        <p:spPr>
          <a:xfrm>
            <a:off x="708899" y="2873026"/>
            <a:ext cx="1639491" cy="0"/>
          </a:xfrm>
          <a:prstGeom prst="straightConnector1">
            <a:avLst/>
          </a:prstGeom>
          <a:ln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58A4CA97-2EFF-4A7D-9894-6296E45A71C4}"/>
              </a:ext>
            </a:extLst>
          </p:cNvPr>
          <p:cNvCxnSpPr>
            <a:stCxn id="18" idx="3"/>
            <a:endCxn id="19" idx="1"/>
          </p:cNvCxnSpPr>
          <p:nvPr/>
        </p:nvCxnSpPr>
        <p:spPr>
          <a:xfrm>
            <a:off x="2396967" y="1697451"/>
            <a:ext cx="179736" cy="0"/>
          </a:xfrm>
          <a:prstGeom prst="straightConnector1">
            <a:avLst/>
          </a:prstGeom>
          <a:ln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E019DE36-1AA8-405D-A67A-1DC20C3E3449}"/>
              </a:ext>
            </a:extLst>
          </p:cNvPr>
          <p:cNvCxnSpPr>
            <a:stCxn id="17" idx="3"/>
            <a:endCxn id="18" idx="1"/>
          </p:cNvCxnSpPr>
          <p:nvPr/>
        </p:nvCxnSpPr>
        <p:spPr>
          <a:xfrm>
            <a:off x="1818894" y="1697451"/>
            <a:ext cx="126302" cy="0"/>
          </a:xfrm>
          <a:prstGeom prst="straightConnector1">
            <a:avLst/>
          </a:prstGeom>
          <a:ln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344C77EB-BC40-461C-B53F-00CCDB772F7C}"/>
              </a:ext>
            </a:extLst>
          </p:cNvPr>
          <p:cNvCxnSpPr>
            <a:stCxn id="16" idx="3"/>
            <a:endCxn id="17" idx="1"/>
          </p:cNvCxnSpPr>
          <p:nvPr/>
        </p:nvCxnSpPr>
        <p:spPr>
          <a:xfrm>
            <a:off x="1289399" y="1697451"/>
            <a:ext cx="116586" cy="0"/>
          </a:xfrm>
          <a:prstGeom prst="straightConnector1">
            <a:avLst/>
          </a:prstGeom>
          <a:ln w="9525">
            <a:solidFill>
              <a:srgbClr val="18222F"/>
            </a:solidFill>
            <a:prstDash val="solid"/>
            <a:tailEnd type="triangle" w="sm" len="sm"/>
          </a:ln>
        </p:spPr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33400"/>
          </a:xfrm>
          <a:prstGeom prst="rect">
            <a:avLst/>
          </a:prstGeom>
        </p:spPr>
        <p:txBody>
          <a:bodyPr vert="horz" lIns="0" tIns="0" rIns="0" bIns="0" anchor="ctr">
            <a:noAutofit/>
          </a:bodyPr>
          <a:lstStyle>
            <a:def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Q0: staged calibration and task objectives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(b) Activation-first calibration">
            <a:extLst>
              <a:ext uri="{FF2B5EF4-FFF2-40B4-BE49-F238E27FC236}">
                <a16:creationId xmlns:a16="http://schemas.microsoft.com/office/drawing/2014/main" id="{21F05C62-E470-4B49-8817-8FA910A318EE}"/>
              </a:ext>
            </a:extLst>
          </p:cNvPr>
          <p:cNvSpPr>
            <a:spLocks noGrp="1"/>
          </p:cNvSpPr>
          <p:nvPr/>
        </p:nvSpPr>
        <p:spPr>
          <a:xfrm>
            <a:off x="429578" y="891064"/>
            <a:ext cx="2841784" cy="17002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03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103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103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103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103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103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103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103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103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103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03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03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(b) Activation-first calibration</a:t>
            </a: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2C4285B5-F7A9-419A-80D1-64BA1AA0551A}"/>
              </a:ext>
            </a:extLst>
          </p:cNvPr>
          <p:cNvCxnSpPr/>
          <p:nvPr/>
        </p:nvCxnSpPr>
        <p:spPr>
          <a:xfrm>
            <a:off x="419862" y="1085374"/>
            <a:ext cx="2861215" cy="0"/>
          </a:xfrm>
          <a:prstGeom prst="straightConnector1">
            <a:avLst/>
          </a:prstGeom>
          <a:ln w="3886">
            <a:solidFill>
              <a:srgbClr val="697681"/>
            </a:solidFill>
            <a:prstDash val="solid"/>
          </a:ln>
        </p:spPr>
      </p:cxnSp>
      <p:sp>
        <p:nvSpPr>
          <p:cNvPr id="14" name="Stage 1: learn U128; 8 updates">
            <a:extLst>
              <a:ext uri="{FF2B5EF4-FFF2-40B4-BE49-F238E27FC236}">
                <a16:creationId xmlns:a16="http://schemas.microsoft.com/office/drawing/2014/main" id="{286F5332-E968-423E-A579-A2E28EDF9BB3}"/>
              </a:ext>
            </a:extLst>
          </p:cNvPr>
          <p:cNvSpPr>
            <a:spLocks noGrp="1"/>
          </p:cNvSpPr>
          <p:nvPr/>
        </p:nvSpPr>
        <p:spPr>
          <a:xfrm>
            <a:off x="453866" y="1148525"/>
            <a:ext cx="2793206" cy="208883"/>
          </a:xfrm>
          <a:prstGeom prst="rect">
            <a:avLst/>
          </a:prstGeom>
          <a:solidFill>
            <a:srgbClr val="DCEBFA"/>
          </a:solidFill>
          <a:ln w="7620">
            <a:noFill/>
          </a:ln>
        </p:spPr>
        <p:txBody>
          <a:bodyPr lIns="28575" tIns="28575" rIns="28575" bIns="28575" anchor="ctr">
            <a:noAutofit/>
          </a:bodyPr>
          <a:lstStyle>
            <a:defPPr algn="ctr">
              <a:defRPr sz="88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8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8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8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8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8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8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8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8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8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88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80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Stage 1: learn U128; 8 updates</a:t>
            </a:r>
          </a:p>
        </p:txBody>
      </p:sp>
      <p:sp>
        <p:nvSpPr>
          <p:cNvPr id="15" name="W16A4 • action + future loss">
            <a:extLst>
              <a:ext uri="{FF2B5EF4-FFF2-40B4-BE49-F238E27FC236}">
                <a16:creationId xmlns:a16="http://schemas.microsoft.com/office/drawing/2014/main" id="{DF08BE50-D35D-48B6-9D31-A45FA755FF3B}"/>
              </a:ext>
            </a:extLst>
          </p:cNvPr>
          <p:cNvSpPr>
            <a:spLocks noGrp="1"/>
          </p:cNvSpPr>
          <p:nvPr/>
        </p:nvSpPr>
        <p:spPr>
          <a:xfrm>
            <a:off x="487871" y="1371981"/>
            <a:ext cx="2696051" cy="13115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72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72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72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72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72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72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72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72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72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72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72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727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W16A4 • action + future loss</a:t>
            </a:r>
          </a:p>
        </p:txBody>
      </p:sp>
      <p:sp>
        <p:nvSpPr>
          <p:cNvPr id="16" name="S&#10;frozen">
            <a:extLst>
              <a:ext uri="{FF2B5EF4-FFF2-40B4-BE49-F238E27FC236}">
                <a16:creationId xmlns:a16="http://schemas.microsoft.com/office/drawing/2014/main" id="{1A3723F2-C94D-442D-84D4-A4A6D945636C}"/>
              </a:ext>
            </a:extLst>
          </p:cNvPr>
          <p:cNvSpPr>
            <a:spLocks noGrp="1"/>
          </p:cNvSpPr>
          <p:nvPr/>
        </p:nvSpPr>
        <p:spPr>
          <a:xfrm>
            <a:off x="939641" y="1556576"/>
            <a:ext cx="349758" cy="281750"/>
          </a:xfrm>
          <a:prstGeom prst="rect">
            <a:avLst/>
          </a:prstGeom>
          <a:solidFill>
            <a:srgbClr val="EDF0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S</a:t>
            </a:r>
          </a:p>
          <a:p>
            <a: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frozen</a:t>
            </a:r>
          </a:p>
        </p:txBody>
      </p:sp>
      <p:sp>
        <p:nvSpPr>
          <p:cNvPr id="17" name="H128&#10;frozen">
            <a:extLst>
              <a:ext uri="{FF2B5EF4-FFF2-40B4-BE49-F238E27FC236}">
                <a16:creationId xmlns:a16="http://schemas.microsoft.com/office/drawing/2014/main" id="{375884E7-4DAB-46E9-B0AF-342AC210C17F}"/>
              </a:ext>
            </a:extLst>
          </p:cNvPr>
          <p:cNvSpPr>
            <a:spLocks noGrp="1"/>
          </p:cNvSpPr>
          <p:nvPr/>
        </p:nvSpPr>
        <p:spPr>
          <a:xfrm>
            <a:off x="1405985" y="1556576"/>
            <a:ext cx="412909" cy="281750"/>
          </a:xfrm>
          <a:prstGeom prst="rect">
            <a:avLst/>
          </a:prstGeom>
          <a:solidFill>
            <a:srgbClr val="EDF0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H128</a:t>
            </a:r>
          </a:p>
          <a:p>
            <a: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frozen</a:t>
            </a:r>
          </a:p>
        </p:txBody>
      </p:sp>
      <p:sp>
        <p:nvSpPr>
          <p:cNvPr id="18" name="U128&#10;trainable">
            <a:extLst>
              <a:ext uri="{FF2B5EF4-FFF2-40B4-BE49-F238E27FC236}">
                <a16:creationId xmlns:a16="http://schemas.microsoft.com/office/drawing/2014/main" id="{334F0B7A-BBBC-467E-82BD-AFCEBDDBE9BE}"/>
              </a:ext>
            </a:extLst>
          </p:cNvPr>
          <p:cNvSpPr>
            <a:spLocks noGrp="1"/>
          </p:cNvSpPr>
          <p:nvPr/>
        </p:nvSpPr>
        <p:spPr>
          <a:xfrm>
            <a:off x="1945196" y="1556576"/>
            <a:ext cx="451771" cy="281750"/>
          </a:xfrm>
          <a:prstGeom prst="rect">
            <a:avLst/>
          </a:prstGeom>
          <a:solidFill>
            <a:srgbClr val="F9E2C4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U128</a:t>
            </a:r>
          </a:p>
          <a:p>
            <a: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trainable</a:t>
            </a:r>
          </a:p>
        </p:txBody>
      </p:sp>
      <p:sp>
        <p:nvSpPr>
          <p:cNvPr id="19" name="W16A4&#10;student">
            <a:extLst>
              <a:ext uri="{FF2B5EF4-FFF2-40B4-BE49-F238E27FC236}">
                <a16:creationId xmlns:a16="http://schemas.microsoft.com/office/drawing/2014/main" id="{9344F3A6-E07D-47BA-81F8-9BE10FA0AD5E}"/>
              </a:ext>
            </a:extLst>
          </p:cNvPr>
          <p:cNvSpPr>
            <a:spLocks noGrp="1"/>
          </p:cNvSpPr>
          <p:nvPr/>
        </p:nvSpPr>
        <p:spPr>
          <a:xfrm>
            <a:off x="2576703" y="1556576"/>
            <a:ext cx="616934" cy="281750"/>
          </a:xfrm>
          <a:prstGeom prst="rect">
            <a:avLst/>
          </a:prstGeom>
          <a:solidFill>
            <a:srgbClr val="EDF0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W16A4</a:t>
            </a:r>
          </a:p>
          <a:p>
            <a: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student</a:t>
            </a:r>
          </a:p>
        </p:txBody>
      </p:sp>
      <p:sp>
        <p:nvSpPr>
          <p:cNvPr id="20" name="X">
            <a:extLst>
              <a:ext uri="{FF2B5EF4-FFF2-40B4-BE49-F238E27FC236}">
                <a16:creationId xmlns:a16="http://schemas.microsoft.com/office/drawing/2014/main" id="{F1271F14-CC91-4E16-8AEA-E3FBA87802C3}"/>
              </a:ext>
            </a:extLst>
          </p:cNvPr>
          <p:cNvSpPr>
            <a:spLocks noGrp="1"/>
          </p:cNvSpPr>
          <p:nvPr/>
        </p:nvSpPr>
        <p:spPr>
          <a:xfrm>
            <a:off x="599599" y="1610011"/>
            <a:ext cx="242888" cy="14573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956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956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956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956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956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956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956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956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956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956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956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956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21" name="Freeze R0 = H128 U128">
            <a:extLst>
              <a:ext uri="{FF2B5EF4-FFF2-40B4-BE49-F238E27FC236}">
                <a16:creationId xmlns:a16="http://schemas.microsoft.com/office/drawing/2014/main" id="{6275B649-81A4-4180-8544-2E86D2780A68}"/>
              </a:ext>
            </a:extLst>
          </p:cNvPr>
          <p:cNvSpPr>
            <a:spLocks noGrp="1"/>
          </p:cNvSpPr>
          <p:nvPr/>
        </p:nvSpPr>
        <p:spPr>
          <a:xfrm>
            <a:off x="1206818" y="1945196"/>
            <a:ext cx="1943100" cy="17002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956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956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956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956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956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956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956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956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956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956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956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956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Freeze R0 = H128 U128</a:t>
            </a:r>
          </a:p>
        </p:txBody>
      </p:sp>
      <p:sp>
        <p:nvSpPr>
          <p:cNvPr id="22" name="Stage 2: learn VQ; 8 updates">
            <a:extLst>
              <a:ext uri="{FF2B5EF4-FFF2-40B4-BE49-F238E27FC236}">
                <a16:creationId xmlns:a16="http://schemas.microsoft.com/office/drawing/2014/main" id="{DA90AA85-DA54-498D-801E-A6E017BE5F94}"/>
              </a:ext>
            </a:extLst>
          </p:cNvPr>
          <p:cNvSpPr>
            <a:spLocks noGrp="1"/>
          </p:cNvSpPr>
          <p:nvPr/>
        </p:nvSpPr>
        <p:spPr>
          <a:xfrm>
            <a:off x="453866" y="2217230"/>
            <a:ext cx="2793206" cy="194310"/>
          </a:xfrm>
          <a:prstGeom prst="rect">
            <a:avLst/>
          </a:prstGeom>
          <a:solidFill>
            <a:srgbClr val="DCEBFA"/>
          </a:solidFill>
          <a:ln w="7620">
            <a:noFill/>
          </a:ln>
        </p:spPr>
        <p:txBody>
          <a:bodyPr lIns="28575" tIns="28575" rIns="28575" bIns="28575" anchor="ctr">
            <a:noAutofit/>
          </a:bodyPr>
          <a:lstStyle>
            <a:defPPr algn="ctr">
              <a:defRPr sz="88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8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8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8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8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8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8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8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8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8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88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80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Stage 2: learn VQ; 8 updates</a:t>
            </a:r>
          </a:p>
        </p:txBody>
      </p:sp>
      <p:sp>
        <p:nvSpPr>
          <p:cNvPr id="23" name="R0&#10;frozen">
            <a:extLst>
              <a:ext uri="{FF2B5EF4-FFF2-40B4-BE49-F238E27FC236}">
                <a16:creationId xmlns:a16="http://schemas.microsoft.com/office/drawing/2014/main" id="{C2969E9E-8A0F-49EA-BF6B-AD413436257B}"/>
              </a:ext>
            </a:extLst>
          </p:cNvPr>
          <p:cNvSpPr>
            <a:spLocks noGrp="1"/>
          </p:cNvSpPr>
          <p:nvPr/>
        </p:nvSpPr>
        <p:spPr>
          <a:xfrm>
            <a:off x="502444" y="2494121"/>
            <a:ext cx="412909" cy="378905"/>
          </a:xfrm>
          <a:prstGeom prst="rect">
            <a:avLst/>
          </a:prstGeom>
          <a:solidFill>
            <a:srgbClr val="EDF0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R0</a:t>
            </a:r>
          </a:p>
          <a:p>
            <a: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frozen</a:t>
            </a:r>
          </a:p>
        </p:txBody>
      </p:sp>
      <p:sp>
        <p:nvSpPr>
          <p:cNvPr id="24" name="i1, i2&#10;frozen">
            <a:extLst>
              <a:ext uri="{FF2B5EF4-FFF2-40B4-BE49-F238E27FC236}">
                <a16:creationId xmlns:a16="http://schemas.microsoft.com/office/drawing/2014/main" id="{E6CDB528-8821-41FB-87CE-8389B09DCAE7}"/>
              </a:ext>
            </a:extLst>
          </p:cNvPr>
          <p:cNvSpPr>
            <a:spLocks noGrp="1"/>
          </p:cNvSpPr>
          <p:nvPr/>
        </p:nvSpPr>
        <p:spPr>
          <a:xfrm>
            <a:off x="997934" y="2494121"/>
            <a:ext cx="412909" cy="378905"/>
          </a:xfrm>
          <a:prstGeom prst="rect">
            <a:avLst/>
          </a:prstGeom>
          <a:solidFill>
            <a:srgbClr val="EDF0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i1, i2</a:t>
            </a:r>
          </a:p>
          <a:p>
            <a: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frozen</a:t>
            </a:r>
          </a:p>
        </p:txBody>
      </p:sp>
      <p:sp>
        <p:nvSpPr>
          <p:cNvPr id="25" name="B32 exp.&#10;frozen">
            <a:extLst>
              <a:ext uri="{FF2B5EF4-FFF2-40B4-BE49-F238E27FC236}">
                <a16:creationId xmlns:a16="http://schemas.microsoft.com/office/drawing/2014/main" id="{C4BF53F4-89A6-4499-A3F6-CFE45C0303BA}"/>
              </a:ext>
            </a:extLst>
          </p:cNvPr>
          <p:cNvSpPr>
            <a:spLocks noGrp="1"/>
          </p:cNvSpPr>
          <p:nvPr/>
        </p:nvSpPr>
        <p:spPr>
          <a:xfrm>
            <a:off x="1488567" y="2494121"/>
            <a:ext cx="490633" cy="378905"/>
          </a:xfrm>
          <a:prstGeom prst="rect">
            <a:avLst/>
          </a:prstGeom>
          <a:solidFill>
            <a:srgbClr val="EDF0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6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6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6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6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6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6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6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6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6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6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76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B32 exp.</a:t>
            </a:r>
          </a:p>
          <a:p>
            <a:pPr algn="ctr">
              <a:defRPr sz="76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frozen</a:t>
            </a:r>
          </a:p>
        </p:txBody>
      </p:sp>
      <p:sp>
        <p:nvSpPr>
          <p:cNvPr id="26" name="C1, C2&#10;trainable">
            <a:extLst>
              <a:ext uri="{FF2B5EF4-FFF2-40B4-BE49-F238E27FC236}">
                <a16:creationId xmlns:a16="http://schemas.microsoft.com/office/drawing/2014/main" id="{BBD1993B-CC48-4A1A-8EF5-755201C912D1}"/>
              </a:ext>
            </a:extLst>
          </p:cNvPr>
          <p:cNvSpPr>
            <a:spLocks noGrp="1"/>
          </p:cNvSpPr>
          <p:nvPr/>
        </p:nvSpPr>
        <p:spPr>
          <a:xfrm>
            <a:off x="2081213" y="2494121"/>
            <a:ext cx="534353" cy="378905"/>
          </a:xfrm>
          <a:prstGeom prst="rect">
            <a:avLst/>
          </a:prstGeom>
          <a:solidFill>
            <a:srgbClr val="F9E2C4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C1, C2</a:t>
            </a:r>
          </a:p>
          <a:p>
            <a: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trainable</a:t>
            </a:r>
          </a:p>
        </p:txBody>
      </p:sp>
      <p:sp>
        <p:nvSpPr>
          <p:cNvPr id="27" name="row gains&#10;trainable">
            <a:extLst>
              <a:ext uri="{FF2B5EF4-FFF2-40B4-BE49-F238E27FC236}">
                <a16:creationId xmlns:a16="http://schemas.microsoft.com/office/drawing/2014/main" id="{67CECCDD-2C91-4E0A-B282-8E15B6C41362}"/>
              </a:ext>
            </a:extLst>
          </p:cNvPr>
          <p:cNvSpPr>
            <a:spLocks noGrp="1"/>
          </p:cNvSpPr>
          <p:nvPr/>
        </p:nvSpPr>
        <p:spPr>
          <a:xfrm>
            <a:off x="2703004" y="2494121"/>
            <a:ext cx="534353" cy="378905"/>
          </a:xfrm>
          <a:prstGeom prst="rect">
            <a:avLst/>
          </a:prstGeom>
          <a:solidFill>
            <a:srgbClr val="F9E2C4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row gains</a:t>
            </a:r>
          </a:p>
          <a:p>
            <a: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trainable</a:t>
            </a:r>
          </a:p>
        </p:txBody>
      </p: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15C6FEC4-DE24-4BA0-80CD-484C619A6794}"/>
              </a:ext>
            </a:extLst>
          </p:cNvPr>
          <p:cNvCxnSpPr/>
          <p:nvPr/>
        </p:nvCxnSpPr>
        <p:spPr>
          <a:xfrm>
            <a:off x="599599" y="3033332"/>
            <a:ext cx="2574608" cy="0"/>
          </a:xfrm>
          <a:prstGeom prst="straightConnector1">
            <a:avLst/>
          </a:prstGeom>
          <a:ln w="3886">
            <a:solidFill>
              <a:srgbClr val="697681"/>
            </a:solidFill>
            <a:prstDash val="solid"/>
          </a:ln>
        </p:spPr>
      </p:cxnSp>
      <p:sp>
        <p:nvSpPr>
          <p:cNvPr id="29" name="C80: 40 tasks × 2 demonstrations&#10;Base model frozen • fixed f">
            <a:extLst>
              <a:ext uri="{FF2B5EF4-FFF2-40B4-BE49-F238E27FC236}">
                <a16:creationId xmlns:a16="http://schemas.microsoft.com/office/drawing/2014/main" id="{D3079A4B-C89F-42B8-8A9F-37000EC10CC2}"/>
              </a:ext>
            </a:extLst>
          </p:cNvPr>
          <p:cNvSpPr>
            <a:spLocks noGrp="1"/>
          </p:cNvSpPr>
          <p:nvPr/>
        </p:nvSpPr>
        <p:spPr>
          <a:xfrm>
            <a:off x="453866" y="3247073"/>
            <a:ext cx="2793206" cy="267176"/>
          </a:xfrm>
          <a:prstGeom prst="rect">
            <a:avLst/>
          </a:prstGeom>
          <a:solidFill>
            <a:srgbClr val="EDF0F3"/>
          </a:solidFill>
          <a:ln w="7620">
            <a:noFill/>
          </a:ln>
        </p:spPr>
        <p:txBody>
          <a:bodyPr lIns="28575" tIns="28575" rIns="28575" bIns="28575" anchor="ctr">
            <a:noAutofit/>
          </a:bodyPr>
          <a:lstStyle>
            <a:def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C80: 40 tasks × 2 demonstrations</a:t>
            </a:r>
          </a:p>
          <a:p>
            <a: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Base model frozen • fixed final update 8</a:t>
            </a:r>
          </a:p>
        </p:txBody>
      </p:sp>
      <p:sp>
        <p:nvSpPr>
          <p:cNvPr id="30" name="Orange: trainable     Gray: frozen">
            <a:extLst>
              <a:ext uri="{FF2B5EF4-FFF2-40B4-BE49-F238E27FC236}">
                <a16:creationId xmlns:a16="http://schemas.microsoft.com/office/drawing/2014/main" id="{A55FC272-3D78-499D-8DA1-86971ECE9172}"/>
              </a:ext>
            </a:extLst>
          </p:cNvPr>
          <p:cNvSpPr>
            <a:spLocks noGrp="1"/>
          </p:cNvSpPr>
          <p:nvPr/>
        </p:nvSpPr>
        <p:spPr>
          <a:xfrm>
            <a:off x="866775" y="3538538"/>
            <a:ext cx="2210276" cy="12144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727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defPPr>
            <a:lvl1pPr algn="l">
              <a:defRPr sz="727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1pPr>
            <a:lvl2pPr algn="l">
              <a:defRPr sz="727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2pPr>
            <a:lvl3pPr algn="l">
              <a:defRPr sz="727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3pPr>
            <a:lvl4pPr algn="l">
              <a:defRPr sz="727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4pPr>
            <a:lvl5pPr algn="l">
              <a:defRPr sz="727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5pPr>
            <a:lvl6pPr algn="l">
              <a:defRPr sz="727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6pPr>
            <a:lvl7pPr algn="l">
              <a:defRPr sz="727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7pPr>
            <a:lvl8pPr algn="l">
              <a:defRPr sz="727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8pPr>
            <a:lvl9pPr algn="l">
              <a:defRPr sz="727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727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pPr>
            <a:r>
              <a:rPr sz="727" b="0">
                <a:solidFill>
                  <a:srgbClr val="5D6773"/>
                </a:solidFill>
                <a:latin typeface="Arial"/>
                <a:ea typeface="Arial"/>
                <a:cs typeface="Arial"/>
              </a:rPr>
              <a:t>Orange: trainable     Gray: frozen</a:t>
            </a:r>
          </a:p>
        </p:txBody>
      </p:sp>
      <p:sp>
        <p:nvSpPr>
          <p:cNvPr id="31" name="Stage 1">
            <a:extLst>
              <a:ext uri="{FF2B5EF4-FFF2-40B4-BE49-F238E27FC236}">
                <a16:creationId xmlns:a16="http://schemas.microsoft.com/office/drawing/2014/main" id="{9E03DA7E-9EB1-4FC7-A783-BFBB908D2C43}"/>
              </a:ext>
            </a:extLst>
          </p:cNvPr>
          <p:cNvSpPr>
            <a:spLocks noGrp="1"/>
          </p:cNvSpPr>
          <p:nvPr/>
        </p:nvSpPr>
        <p:spPr>
          <a:xfrm>
            <a:off x="3600450" y="2438400"/>
            <a:ext cx="46196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72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75E"/>
                </a:solidFill>
                <a:latin typeface="Arial"/>
                <a:ea typeface="Arial"/>
                <a:cs typeface="Arial"/>
              </a:rPr>
              <a:t>Stage 1</a:t>
            </a:r>
          </a:p>
        </p:txBody>
      </p:sp>
      <p:sp>
        <p:nvSpPr>
          <p:cNvPr id="32" name="Learn U128 with BF16 weights and A4&#10;8 updates on 8 batches of 10 conte">
            <a:extLst>
              <a:ext uri="{FF2B5EF4-FFF2-40B4-BE49-F238E27FC236}">
                <a16:creationId xmlns:a16="http://schemas.microsoft.com/office/drawing/2014/main" id="{6D79A3A6-6E61-4166-BF5E-E5BAFCAB51E7}"/>
              </a:ext>
            </a:extLst>
          </p:cNvPr>
          <p:cNvSpPr>
            <a:spLocks noGrp="1"/>
          </p:cNvSpPr>
          <p:nvPr/>
        </p:nvSpPr>
        <p:spPr>
          <a:xfrm>
            <a:off x="3600450" y="2800350"/>
            <a:ext cx="4619625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Learn U128 with BF16 weights and A4</a:t>
            </a:r>
          </a:p>
          <a:p>
            <a: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8 updates on 8 batches of 10 contexts</a:t>
            </a:r>
          </a:p>
        </p:txBody>
      </p:sp>
      <p:sp>
        <p:nvSpPr>
          <p:cNvPr id="33" name="Stage 2">
            <a:extLst>
              <a:ext uri="{FF2B5EF4-FFF2-40B4-BE49-F238E27FC236}">
                <a16:creationId xmlns:a16="http://schemas.microsoft.com/office/drawing/2014/main" id="{1FFCFC1C-4BB4-440D-8411-568E3E113847}"/>
              </a:ext>
            </a:extLst>
          </p:cNvPr>
          <p:cNvSpPr>
            <a:spLocks noGrp="1"/>
          </p:cNvSpPr>
          <p:nvPr/>
        </p:nvSpPr>
        <p:spPr>
          <a:xfrm>
            <a:off x="3600450" y="3590925"/>
            <a:ext cx="46196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72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75E"/>
                </a:solidFill>
                <a:latin typeface="Arial"/>
                <a:ea typeface="Arial"/>
                <a:cs typeface="Arial"/>
              </a:rPr>
              <a:t>Stage 2</a:t>
            </a:r>
          </a:p>
        </p:txBody>
      </p:sp>
      <p:sp>
        <p:nvSpPr>
          <p:cNvPr id="34" name="Freeze R0; fit VQ0, then tune books + gains&#10;A + Z + frozen-reader soft">
            <a:extLst>
              <a:ext uri="{FF2B5EF4-FFF2-40B4-BE49-F238E27FC236}">
                <a16:creationId xmlns:a16="http://schemas.microsoft.com/office/drawing/2014/main" id="{F30B10B0-012C-4395-A918-7E0FC8F000AC}"/>
              </a:ext>
            </a:extLst>
          </p:cNvPr>
          <p:cNvSpPr>
            <a:spLocks noGrp="1"/>
          </p:cNvSpPr>
          <p:nvPr/>
        </p:nvSpPr>
        <p:spPr>
          <a:xfrm>
            <a:off x="3600450" y="3924300"/>
            <a:ext cx="4619625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Freeze R0; fit VQ0, then tune books + gains</a:t>
            </a:r>
          </a:p>
          <a:p>
            <a: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A + Z + frozen-reader soft-bin KL</a:t>
            </a:r>
          </a:p>
        </p:txBody>
      </p:sp>
      <p:sp>
        <p:nvSpPr>
          <p:cNvPr id="35" name="L = L_action + λ L_future + β L_reader-KL">
            <a:extLst>
              <a:ext uri="{FF2B5EF4-FFF2-40B4-BE49-F238E27FC236}">
                <a16:creationId xmlns:a16="http://schemas.microsoft.com/office/drawing/2014/main" id="{A25B8934-6783-4A28-BF6C-BC59C41ADC53}"/>
              </a:ext>
            </a:extLst>
          </p:cNvPr>
          <p:cNvSpPr>
            <a:spLocks noGrp="1"/>
          </p:cNvSpPr>
          <p:nvPr/>
        </p:nvSpPr>
        <p:spPr>
          <a:xfrm>
            <a:off x="3600450" y="1066800"/>
            <a:ext cx="47625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75E"/>
                </a:solidFill>
                <a:latin typeface="Arial"/>
                <a:ea typeface="Arial"/>
                <a:cs typeface="Arial"/>
              </a:rPr>
              <a:t>L = L_action + λ L_future + β L_reader-KL</a:t>
            </a:r>
          </a:p>
        </p:txBody>
      </p:sp>
      <p:sp>
        <p:nvSpPr>
          <p:cNvPr id="36" name="Supervise motor action, clean future and the&#10;action readout of the ima">
            <a:extLst>
              <a:ext uri="{FF2B5EF4-FFF2-40B4-BE49-F238E27FC236}">
                <a16:creationId xmlns:a16="http://schemas.microsoft.com/office/drawing/2014/main" id="{B7E29ED7-2116-403D-BA15-09EE8CE20093}"/>
              </a:ext>
            </a:extLst>
          </p:cNvPr>
          <p:cNvSpPr>
            <a:spLocks noGrp="1"/>
          </p:cNvSpPr>
          <p:nvPr/>
        </p:nvSpPr>
        <p:spPr>
          <a:xfrm>
            <a:off x="3600450" y="1514475"/>
            <a:ext cx="47625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Supervise motor action, clean future and the</a:t>
            </a:r>
          </a:p>
          <a:p>
            <a: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action readout of the imagined future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196B6A08-EF08-4F1D-9C52-CF1D62EE596E}"/>
              </a:ext>
            </a:extLst>
          </p:cNvPr>
          <p:cNvSpPr>
            <a:spLocks noGrp="1"/>
          </p:cNvSpPr>
          <p:nvPr/>
        </p:nvSpPr>
        <p:spPr>
          <a:xfrm>
            <a:off x="333375" y="876300"/>
            <a:ext cx="8459153" cy="1707118"/>
          </a:xfrm>
          <a:prstGeom prst="rect">
            <a:avLst/>
          </a:prstGeom>
          <a:solidFill>
            <a:srgbClr val="FFFFFF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D25AAECD-9267-4667-938F-F12BEDE2D6A4}"/>
              </a:ext>
            </a:extLst>
          </p:cNvPr>
          <p:cNvCxnSpPr>
            <a:stCxn id="104" idx="3"/>
            <a:endCxn id="120" idx="1"/>
          </p:cNvCxnSpPr>
          <p:nvPr/>
        </p:nvCxnSpPr>
        <p:spPr>
          <a:xfrm>
            <a:off x="6648013" y="2137530"/>
            <a:ext cx="1048901" cy="2548"/>
          </a:xfrm>
          <a:prstGeom prst="straightConnector1">
            <a:avLst/>
          </a:prstGeom>
          <a:ln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BC4233D4-C645-470E-A121-F346A8B9CF54}"/>
              </a:ext>
            </a:extLst>
          </p:cNvPr>
          <p:cNvCxnSpPr>
            <a:stCxn id="98" idx="3"/>
            <a:endCxn id="112" idx="1"/>
          </p:cNvCxnSpPr>
          <p:nvPr/>
        </p:nvCxnSpPr>
        <p:spPr>
          <a:xfrm>
            <a:off x="6648013" y="1464874"/>
            <a:ext cx="1048901" cy="2548"/>
          </a:xfrm>
          <a:prstGeom prst="straightConnector1">
            <a:avLst/>
          </a:prstGeom>
          <a:ln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7" name="连接符: 肘形 6">
            <a:extLst>
              <a:ext uri="{FF2B5EF4-FFF2-40B4-BE49-F238E27FC236}">
                <a16:creationId xmlns:a16="http://schemas.microsoft.com/office/drawing/2014/main" id="{67CC2A88-0244-45E3-92C3-2ACC0A760B27}"/>
              </a:ext>
            </a:extLst>
          </p:cNvPr>
          <p:cNvCxnSpPr>
            <a:stCxn id="89" idx="3"/>
            <a:endCxn id="99" idx="1"/>
          </p:cNvCxnSpPr>
          <p:nvPr/>
        </p:nvCxnSpPr>
        <p:spPr>
          <a:xfrm>
            <a:off x="5368099" y="1977010"/>
            <a:ext cx="672656" cy="155423"/>
          </a:xfrm>
          <a:prstGeom prst="bentConnector3">
            <a:avLst>
              <a:gd name="adj1" fmla="val 50000"/>
            </a:avLst>
          </a:prstGeom>
          <a:ln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8" name="连接符: 肘形 7">
            <a:extLst>
              <a:ext uri="{FF2B5EF4-FFF2-40B4-BE49-F238E27FC236}">
                <a16:creationId xmlns:a16="http://schemas.microsoft.com/office/drawing/2014/main" id="{9CA7E098-E53C-4E55-9C32-BAFF0B2BB856}"/>
              </a:ext>
            </a:extLst>
          </p:cNvPr>
          <p:cNvCxnSpPr>
            <a:stCxn id="75" idx="3"/>
            <a:endCxn id="93" idx="1"/>
          </p:cNvCxnSpPr>
          <p:nvPr/>
        </p:nvCxnSpPr>
        <p:spPr>
          <a:xfrm>
            <a:off x="5368099" y="1304354"/>
            <a:ext cx="672656" cy="155424"/>
          </a:xfrm>
          <a:prstGeom prst="bentConnector3">
            <a:avLst>
              <a:gd name="adj1" fmla="val 50000"/>
            </a:avLst>
          </a:prstGeom>
          <a:ln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572ACE73-697E-4C5A-8FEC-9ADE0AE81AFE}"/>
              </a:ext>
            </a:extLst>
          </p:cNvPr>
          <p:cNvCxnSpPr>
            <a:stCxn id="75" idx="2"/>
            <a:endCxn id="89" idx="0"/>
          </p:cNvCxnSpPr>
          <p:nvPr/>
        </p:nvCxnSpPr>
        <p:spPr>
          <a:xfrm>
            <a:off x="5146429" y="1375696"/>
            <a:ext cx="0" cy="529971"/>
          </a:xfrm>
          <a:prstGeom prst="straightConnector1">
            <a:avLst/>
          </a:prstGeom>
          <a:ln w="9525">
            <a:solidFill>
              <a:srgbClr val="5D6773"/>
            </a:solidFill>
            <a:prstDash val="dash"/>
            <a:tailEnd type="triangle" w="sm" len="sm"/>
          </a:ln>
        </p:spPr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20AAEDE2-22C2-46A2-897D-9CF274EC2946}"/>
              </a:ext>
            </a:extLst>
          </p:cNvPr>
          <p:cNvCxnSpPr>
            <a:stCxn id="47" idx="2"/>
            <a:endCxn id="61" idx="0"/>
          </p:cNvCxnSpPr>
          <p:nvPr/>
        </p:nvCxnSpPr>
        <p:spPr>
          <a:xfrm>
            <a:off x="3773091" y="1375696"/>
            <a:ext cx="0" cy="529971"/>
          </a:xfrm>
          <a:prstGeom prst="straightConnector1">
            <a:avLst/>
          </a:prstGeom>
          <a:ln w="9525">
            <a:solidFill>
              <a:srgbClr val="5D6773"/>
            </a:solidFill>
            <a:prstDash val="dash"/>
            <a:tailEnd type="triangle" w="sm" len="sm"/>
          </a:ln>
        </p:spPr>
      </p:cxnSp>
      <p:cxnSp>
        <p:nvCxnSpPr>
          <p:cNvPr id="11" name="连接符: 肘形 10">
            <a:extLst>
              <a:ext uri="{FF2B5EF4-FFF2-40B4-BE49-F238E27FC236}">
                <a16:creationId xmlns:a16="http://schemas.microsoft.com/office/drawing/2014/main" id="{275F3138-85FB-461C-BF60-F469773512F5}"/>
              </a:ext>
            </a:extLst>
          </p:cNvPr>
          <p:cNvCxnSpPr>
            <a:stCxn id="33" idx="2"/>
            <a:endCxn id="89" idx="2"/>
          </p:cNvCxnSpPr>
          <p:nvPr/>
        </p:nvCxnSpPr>
        <p:spPr>
          <a:xfrm flipV="1">
            <a:off x="2941189" y="2048352"/>
            <a:ext cx="2205240" cy="76437"/>
          </a:xfrm>
          <a:prstGeom prst="bentConnector4">
            <a:avLst>
              <a:gd name="adj1" fmla="val 0"/>
              <a:gd name="adj2" fmla="val 50000"/>
            </a:avLst>
          </a:prstGeom>
          <a:ln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12" name="连接符: 肘形 11">
            <a:extLst>
              <a:ext uri="{FF2B5EF4-FFF2-40B4-BE49-F238E27FC236}">
                <a16:creationId xmlns:a16="http://schemas.microsoft.com/office/drawing/2014/main" id="{8AF0811B-B4EC-4C86-9FC0-4E569D28A8CD}"/>
              </a:ext>
            </a:extLst>
          </p:cNvPr>
          <p:cNvCxnSpPr>
            <a:stCxn id="27" idx="0"/>
            <a:endCxn id="75" idx="0"/>
          </p:cNvCxnSpPr>
          <p:nvPr/>
        </p:nvCxnSpPr>
        <p:spPr>
          <a:xfrm flipV="1">
            <a:off x="2941189" y="1233011"/>
            <a:ext cx="2205240" cy="20384"/>
          </a:xfrm>
          <a:prstGeom prst="bentConnector4">
            <a:avLst>
              <a:gd name="adj1" fmla="val 0"/>
              <a:gd name="adj2" fmla="val 50000"/>
            </a:avLst>
          </a:prstGeom>
          <a:ln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EAEA0439-36C7-496F-8498-6442E745509E}"/>
              </a:ext>
            </a:extLst>
          </p:cNvPr>
          <p:cNvCxnSpPr>
            <a:stCxn id="33" idx="3"/>
            <a:endCxn id="61" idx="1"/>
          </p:cNvCxnSpPr>
          <p:nvPr/>
        </p:nvCxnSpPr>
        <p:spPr>
          <a:xfrm flipV="1">
            <a:off x="2968791" y="1977010"/>
            <a:ext cx="595369" cy="48410"/>
          </a:xfrm>
          <a:prstGeom prst="straightConnector1">
            <a:avLst/>
          </a:prstGeom>
          <a:ln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B4464201-B99D-41D2-A6B3-BB76DD04D0AF}"/>
              </a:ext>
            </a:extLst>
          </p:cNvPr>
          <p:cNvCxnSpPr>
            <a:stCxn id="27" idx="3"/>
            <a:endCxn id="47" idx="1"/>
          </p:cNvCxnSpPr>
          <p:nvPr/>
        </p:nvCxnSpPr>
        <p:spPr>
          <a:xfrm flipV="1">
            <a:off x="2968791" y="1304354"/>
            <a:ext cx="595369" cy="48411"/>
          </a:xfrm>
          <a:prstGeom prst="straightConnector1">
            <a:avLst/>
          </a:prstGeom>
          <a:ln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15" name="连接符: 肘形 14">
            <a:extLst>
              <a:ext uri="{FF2B5EF4-FFF2-40B4-BE49-F238E27FC236}">
                <a16:creationId xmlns:a16="http://schemas.microsoft.com/office/drawing/2014/main" id="{FF1F3BF5-9017-416E-B2D4-3665A4A03E11}"/>
              </a:ext>
            </a:extLst>
          </p:cNvPr>
          <p:cNvCxnSpPr>
            <a:stCxn id="19" idx="3"/>
            <a:endCxn id="28" idx="2"/>
          </p:cNvCxnSpPr>
          <p:nvPr/>
        </p:nvCxnSpPr>
        <p:spPr>
          <a:xfrm>
            <a:off x="1296496" y="1704380"/>
            <a:ext cx="1092640" cy="445889"/>
          </a:xfrm>
          <a:prstGeom prst="bentConnector2">
            <a:avLst/>
          </a:prstGeom>
          <a:ln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16" name="连接符: 肘形 15">
            <a:extLst>
              <a:ext uri="{FF2B5EF4-FFF2-40B4-BE49-F238E27FC236}">
                <a16:creationId xmlns:a16="http://schemas.microsoft.com/office/drawing/2014/main" id="{E53FA6C7-E960-4DF9-9681-7AB142D02A66}"/>
              </a:ext>
            </a:extLst>
          </p:cNvPr>
          <p:cNvCxnSpPr>
            <a:stCxn id="19" idx="3"/>
            <a:endCxn id="22" idx="2"/>
          </p:cNvCxnSpPr>
          <p:nvPr/>
        </p:nvCxnSpPr>
        <p:spPr>
          <a:xfrm flipV="1">
            <a:off x="1296496" y="1477614"/>
            <a:ext cx="1092640" cy="226766"/>
          </a:xfrm>
          <a:prstGeom prst="bentConnector2">
            <a:avLst/>
          </a:prstGeom>
          <a:ln w="9525">
            <a:solidFill>
              <a:srgbClr val="18222F"/>
            </a:solidFill>
            <a:prstDash val="solid"/>
            <a:tailEnd type="triangle" w="sm" len="sm"/>
          </a:ln>
        </p:spPr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33400"/>
          </a:xfrm>
          <a:prstGeom prst="rect">
            <a:avLst/>
          </a:prstGeom>
        </p:spPr>
        <p:txBody>
          <a:bodyPr vert="horz" lIns="0" tIns="0" rIns="0" bIns="0" anchor="ctr">
            <a:noAutofit/>
          </a:bodyPr>
          <a:lstStyle>
            <a:def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Q0: frozen-reader supervision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(c) Task-aware calibration through a frozen future-to-action reader">
            <a:extLst>
              <a:ext uri="{FF2B5EF4-FFF2-40B4-BE49-F238E27FC236}">
                <a16:creationId xmlns:a16="http://schemas.microsoft.com/office/drawing/2014/main" id="{354D63E9-C2CF-4B2C-8201-6147AD7A0C3E}"/>
              </a:ext>
            </a:extLst>
          </p:cNvPr>
          <p:cNvSpPr>
            <a:spLocks noGrp="1"/>
          </p:cNvSpPr>
          <p:nvPr/>
        </p:nvSpPr>
        <p:spPr>
          <a:xfrm>
            <a:off x="384334" y="901779"/>
            <a:ext cx="8357235" cy="17835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08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(c) Task-aware calibration through a frozen future-to-action reader</a:t>
            </a: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F10CA065-D2DD-4976-812F-30F3B0511A63}"/>
              </a:ext>
            </a:extLst>
          </p:cNvPr>
          <p:cNvCxnSpPr/>
          <p:nvPr/>
        </p:nvCxnSpPr>
        <p:spPr>
          <a:xfrm>
            <a:off x="374142" y="1105614"/>
            <a:ext cx="8377619" cy="0"/>
          </a:xfrm>
          <a:prstGeom prst="straightConnector1">
            <a:avLst/>
          </a:prstGeom>
          <a:ln w="4077">
            <a:solidFill>
              <a:srgbClr val="697681"/>
            </a:solidFill>
            <a:prstDash val="solid"/>
          </a:ln>
        </p:spPr>
      </p:cxnSp>
      <p:sp>
        <p:nvSpPr>
          <p:cNvPr id="19" name="Observation +&#10;instruction + proprio">
            <a:extLst>
              <a:ext uri="{FF2B5EF4-FFF2-40B4-BE49-F238E27FC236}">
                <a16:creationId xmlns:a16="http://schemas.microsoft.com/office/drawing/2014/main" id="{B767B1CD-3B71-4417-91B9-5255BB3C1AE8}"/>
              </a:ext>
            </a:extLst>
          </p:cNvPr>
          <p:cNvSpPr>
            <a:spLocks noGrp="1"/>
          </p:cNvSpPr>
          <p:nvPr/>
        </p:nvSpPr>
        <p:spPr>
          <a:xfrm>
            <a:off x="420005" y="1513284"/>
            <a:ext cx="876491" cy="382191"/>
          </a:xfrm>
          <a:prstGeom prst="rect">
            <a:avLst/>
          </a:prstGeom>
          <a:solidFill>
            <a:srgbClr val="FFFFFF"/>
          </a:solidFill>
          <a:ln w="7620">
            <a:noFill/>
          </a:ln>
        </p:spPr>
        <p:txBody>
          <a:bodyPr lIns="28575" tIns="28575" rIns="28575" bIns="28575" anchor="ctr">
            <a:noAutofit/>
          </a:bodyPr>
          <a:lstStyle>
            <a:def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Observation +</a:t>
            </a:r>
          </a:p>
          <a:p>
            <a: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instruction + proprio</a:t>
            </a:r>
          </a:p>
        </p:txBody>
      </p:sp>
      <p:sp>
        <p:nvSpPr>
          <p:cNvPr id="20" name="BF16 teacher&#10;(frozen)">
            <a:extLst>
              <a:ext uri="{FF2B5EF4-FFF2-40B4-BE49-F238E27FC236}">
                <a16:creationId xmlns:a16="http://schemas.microsoft.com/office/drawing/2014/main" id="{5C7A4297-2D99-4C7F-A54F-587B8604DD7F}"/>
              </a:ext>
            </a:extLst>
          </p:cNvPr>
          <p:cNvSpPr>
            <a:spLocks noGrp="1"/>
          </p:cNvSpPr>
          <p:nvPr/>
        </p:nvSpPr>
        <p:spPr>
          <a:xfrm>
            <a:off x="1505426" y="1212628"/>
            <a:ext cx="764381" cy="27008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84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defPPr>
            <a:lvl1pPr algn="ctr">
              <a:defRPr sz="84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lvl1pPr>
            <a:lvl2pPr algn="ctr">
              <a:defRPr sz="84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lvl2pPr>
            <a:lvl3pPr algn="ctr">
              <a:defRPr sz="84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lvl3pPr>
            <a:lvl4pPr algn="ctr">
              <a:defRPr sz="84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lvl4pPr>
            <a:lvl5pPr algn="ctr">
              <a:defRPr sz="84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lvl5pPr>
            <a:lvl6pPr algn="ctr">
              <a:defRPr sz="84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lvl6pPr>
            <a:lvl7pPr algn="ctr">
              <a:defRPr sz="84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lvl7pPr>
            <a:lvl8pPr algn="ctr">
              <a:defRPr sz="84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lvl8pPr>
            <a:lvl9pPr algn="ctr">
              <a:defRPr sz="84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84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pPr>
            <a:r>
              <a:rPr sz="843" b="1">
                <a:solidFill>
                  <a:srgbClr val="303A45"/>
                </a:solidFill>
                <a:latin typeface="Arial"/>
                <a:ea typeface="Arial"/>
                <a:cs typeface="Arial"/>
              </a:rPr>
              <a:t>BF16 teacher</a:t>
            </a:r>
          </a:p>
          <a:p>
            <a:pPr algn="ctr">
              <a:defRPr sz="84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pPr>
            <a:r>
              <a:rPr sz="843" b="1">
                <a:solidFill>
                  <a:srgbClr val="303A45"/>
                </a:solidFill>
                <a:latin typeface="Arial"/>
                <a:ea typeface="Arial"/>
                <a:cs typeface="Arial"/>
              </a:rPr>
              <a:t>(frozen)</a:t>
            </a:r>
          </a:p>
        </p:txBody>
      </p:sp>
      <p:sp>
        <p:nvSpPr>
          <p:cNvPr id="21" name="Quantized student Q0&#10;(codebooks + gains&#10;trainable)">
            <a:extLst>
              <a:ext uri="{FF2B5EF4-FFF2-40B4-BE49-F238E27FC236}">
                <a16:creationId xmlns:a16="http://schemas.microsoft.com/office/drawing/2014/main" id="{FD0839E7-89F6-4D8A-B3BD-B3615FE9CCD2}"/>
              </a:ext>
            </a:extLst>
          </p:cNvPr>
          <p:cNvSpPr>
            <a:spLocks noGrp="1"/>
          </p:cNvSpPr>
          <p:nvPr/>
        </p:nvSpPr>
        <p:spPr>
          <a:xfrm>
            <a:off x="1423892" y="1885283"/>
            <a:ext cx="942737" cy="35671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80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defPPr>
            <a:lvl1pPr algn="ctr">
              <a:defRPr sz="80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lvl1pPr>
            <a:lvl2pPr algn="ctr">
              <a:defRPr sz="80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lvl2pPr>
            <a:lvl3pPr algn="ctr">
              <a:defRPr sz="80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lvl3pPr>
            <a:lvl4pPr algn="ctr">
              <a:defRPr sz="80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lvl4pPr>
            <a:lvl5pPr algn="ctr">
              <a:defRPr sz="80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lvl5pPr>
            <a:lvl6pPr algn="ctr">
              <a:defRPr sz="80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lvl6pPr>
            <a:lvl7pPr algn="ctr">
              <a:defRPr sz="80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lvl7pPr>
            <a:lvl8pPr algn="ctr">
              <a:defRPr sz="80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lvl8pPr>
            <a:lvl9pPr algn="ctr">
              <a:defRPr sz="80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80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pPr>
            <a:r>
              <a:rPr sz="803" b="1">
                <a:solidFill>
                  <a:srgbClr val="303A45"/>
                </a:solidFill>
                <a:latin typeface="Arial"/>
                <a:ea typeface="Arial"/>
                <a:cs typeface="Arial"/>
              </a:rPr>
              <a:t>Quantized student Q0</a:t>
            </a:r>
          </a:p>
          <a:p>
            <a:pPr algn="ctr">
              <a:defRPr sz="80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pPr>
            <a:r>
              <a:rPr sz="803" b="1">
                <a:solidFill>
                  <a:srgbClr val="303A45"/>
                </a:solidFill>
                <a:latin typeface="Arial"/>
                <a:ea typeface="Arial"/>
                <a:cs typeface="Arial"/>
              </a:rPr>
              <a:t>(codebooks + gains</a:t>
            </a:r>
          </a:p>
          <a:p>
            <a:pPr algn="ctr">
              <a:defRPr sz="803" b="1">
                <a:solidFill>
                  <a:srgbClr val="303A45"/>
                </a:solidFill>
                <a:latin typeface="Arial"/>
                <a:ea typeface="Arial"/>
                <a:cs typeface="Arial"/>
              </a:defRPr>
            </a:pPr>
            <a:r>
              <a:rPr sz="803" b="1">
                <a:solidFill>
                  <a:srgbClr val="303A45"/>
                </a:solidFill>
                <a:latin typeface="Arial"/>
                <a:ea typeface="Arial"/>
                <a:cs typeface="Arial"/>
              </a:rPr>
              <a:t>trainable)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899FB10-C272-461D-899D-26BB3CFF2C0F}"/>
              </a:ext>
            </a:extLst>
          </p:cNvPr>
          <p:cNvSpPr>
            <a:spLocks noGrp="1"/>
          </p:cNvSpPr>
          <p:nvPr/>
        </p:nvSpPr>
        <p:spPr>
          <a:xfrm>
            <a:off x="2361533" y="1217724"/>
            <a:ext cx="55205" cy="259890"/>
          </a:xfrm>
          <a:prstGeom prst="rect">
            <a:avLst/>
          </a:prstGeom>
          <a:solidFill>
            <a:srgbClr val="EDF0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B10E4EC-A48A-4CD5-BB53-F0DA3EEAA180}"/>
              </a:ext>
            </a:extLst>
          </p:cNvPr>
          <p:cNvSpPr>
            <a:spLocks noGrp="1"/>
          </p:cNvSpPr>
          <p:nvPr/>
        </p:nvSpPr>
        <p:spPr>
          <a:xfrm>
            <a:off x="2471944" y="1253395"/>
            <a:ext cx="55205" cy="198739"/>
          </a:xfrm>
          <a:prstGeom prst="rect">
            <a:avLst/>
          </a:prstGeom>
          <a:solidFill>
            <a:srgbClr val="EDF0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A4E5D8C-489B-47E9-94BC-29C9C026F94E}"/>
              </a:ext>
            </a:extLst>
          </p:cNvPr>
          <p:cNvSpPr>
            <a:spLocks noGrp="1"/>
          </p:cNvSpPr>
          <p:nvPr/>
        </p:nvSpPr>
        <p:spPr>
          <a:xfrm>
            <a:off x="2582355" y="1217724"/>
            <a:ext cx="55205" cy="259890"/>
          </a:xfrm>
          <a:prstGeom prst="rect">
            <a:avLst/>
          </a:prstGeom>
          <a:solidFill>
            <a:srgbClr val="EDF0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640C28A-1125-47E3-AC56-617E508287D3}"/>
              </a:ext>
            </a:extLst>
          </p:cNvPr>
          <p:cNvSpPr>
            <a:spLocks noGrp="1"/>
          </p:cNvSpPr>
          <p:nvPr/>
        </p:nvSpPr>
        <p:spPr>
          <a:xfrm>
            <a:off x="2692765" y="1253395"/>
            <a:ext cx="55205" cy="198739"/>
          </a:xfrm>
          <a:prstGeom prst="rect">
            <a:avLst/>
          </a:prstGeom>
          <a:solidFill>
            <a:srgbClr val="EDF0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00036D1-604D-46F9-89EF-3F3EA7499DCE}"/>
              </a:ext>
            </a:extLst>
          </p:cNvPr>
          <p:cNvSpPr>
            <a:spLocks noGrp="1"/>
          </p:cNvSpPr>
          <p:nvPr/>
        </p:nvSpPr>
        <p:spPr>
          <a:xfrm>
            <a:off x="2803176" y="1217724"/>
            <a:ext cx="55205" cy="259890"/>
          </a:xfrm>
          <a:prstGeom prst="rect">
            <a:avLst/>
          </a:prstGeom>
          <a:solidFill>
            <a:srgbClr val="EDF0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781E1D8-BB9E-426C-BB6D-3DB595BBD9BC}"/>
              </a:ext>
            </a:extLst>
          </p:cNvPr>
          <p:cNvSpPr>
            <a:spLocks noGrp="1"/>
          </p:cNvSpPr>
          <p:nvPr/>
        </p:nvSpPr>
        <p:spPr>
          <a:xfrm>
            <a:off x="2913586" y="1253395"/>
            <a:ext cx="55205" cy="198739"/>
          </a:xfrm>
          <a:prstGeom prst="rect">
            <a:avLst/>
          </a:prstGeom>
          <a:solidFill>
            <a:srgbClr val="EDF0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1DE0338-5908-4AC4-B86C-6E1B710811B1}"/>
              </a:ext>
            </a:extLst>
          </p:cNvPr>
          <p:cNvSpPr>
            <a:spLocks noGrp="1"/>
          </p:cNvSpPr>
          <p:nvPr/>
        </p:nvSpPr>
        <p:spPr>
          <a:xfrm>
            <a:off x="2361533" y="1890379"/>
            <a:ext cx="55205" cy="259890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96A77F6-BAA2-4CC1-9E57-BDA22E67254F}"/>
              </a:ext>
            </a:extLst>
          </p:cNvPr>
          <p:cNvSpPr>
            <a:spLocks noGrp="1"/>
          </p:cNvSpPr>
          <p:nvPr/>
        </p:nvSpPr>
        <p:spPr>
          <a:xfrm>
            <a:off x="2471944" y="1926050"/>
            <a:ext cx="55205" cy="198739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C18CCEBB-EA35-44D1-9991-52E168DC7C4F}"/>
              </a:ext>
            </a:extLst>
          </p:cNvPr>
          <p:cNvSpPr>
            <a:spLocks noGrp="1"/>
          </p:cNvSpPr>
          <p:nvPr/>
        </p:nvSpPr>
        <p:spPr>
          <a:xfrm>
            <a:off x="2582355" y="1890379"/>
            <a:ext cx="55205" cy="259890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34363CF-C1FF-40AC-BA3A-5AFD070E7985}"/>
              </a:ext>
            </a:extLst>
          </p:cNvPr>
          <p:cNvSpPr>
            <a:spLocks noGrp="1"/>
          </p:cNvSpPr>
          <p:nvPr/>
        </p:nvSpPr>
        <p:spPr>
          <a:xfrm>
            <a:off x="2692765" y="1926050"/>
            <a:ext cx="55205" cy="198739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E40EA493-C9AF-4A02-A00E-3DE45B3DE740}"/>
              </a:ext>
            </a:extLst>
          </p:cNvPr>
          <p:cNvSpPr>
            <a:spLocks noGrp="1"/>
          </p:cNvSpPr>
          <p:nvPr/>
        </p:nvSpPr>
        <p:spPr>
          <a:xfrm>
            <a:off x="2803176" y="1890379"/>
            <a:ext cx="55205" cy="259890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EB94C9C8-9103-44CD-B86D-3E847A26EB8D}"/>
              </a:ext>
            </a:extLst>
          </p:cNvPr>
          <p:cNvSpPr>
            <a:spLocks noGrp="1"/>
          </p:cNvSpPr>
          <p:nvPr/>
        </p:nvSpPr>
        <p:spPr>
          <a:xfrm>
            <a:off x="2913586" y="1926050"/>
            <a:ext cx="55205" cy="198739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16F13236-61E7-4930-8927-9F793C582010}"/>
              </a:ext>
            </a:extLst>
          </p:cNvPr>
          <p:cNvSpPr>
            <a:spLocks noGrp="1"/>
          </p:cNvSpPr>
          <p:nvPr/>
        </p:nvSpPr>
        <p:spPr>
          <a:xfrm>
            <a:off x="3564160" y="1233011"/>
            <a:ext cx="69644" cy="7134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011CB831-4AF2-4754-97DB-933B8D9460FF}"/>
              </a:ext>
            </a:extLst>
          </p:cNvPr>
          <p:cNvSpPr>
            <a:spLocks noGrp="1"/>
          </p:cNvSpPr>
          <p:nvPr/>
        </p:nvSpPr>
        <p:spPr>
          <a:xfrm>
            <a:off x="3633803" y="1233011"/>
            <a:ext cx="69644" cy="7134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3068A62D-FCD8-4411-A191-4A10DCCD5D73}"/>
              </a:ext>
            </a:extLst>
          </p:cNvPr>
          <p:cNvSpPr>
            <a:spLocks noGrp="1"/>
          </p:cNvSpPr>
          <p:nvPr/>
        </p:nvSpPr>
        <p:spPr>
          <a:xfrm>
            <a:off x="3703447" y="1233011"/>
            <a:ext cx="69644" cy="7134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2D9120EA-6D83-42AB-91B3-31F0DC801879}"/>
              </a:ext>
            </a:extLst>
          </p:cNvPr>
          <p:cNvSpPr>
            <a:spLocks noGrp="1"/>
          </p:cNvSpPr>
          <p:nvPr/>
        </p:nvSpPr>
        <p:spPr>
          <a:xfrm>
            <a:off x="3773091" y="1233011"/>
            <a:ext cx="69644" cy="7134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D2F0280A-01C0-4B8D-A566-493A1C16ADA1}"/>
              </a:ext>
            </a:extLst>
          </p:cNvPr>
          <p:cNvSpPr>
            <a:spLocks noGrp="1"/>
          </p:cNvSpPr>
          <p:nvPr/>
        </p:nvSpPr>
        <p:spPr>
          <a:xfrm>
            <a:off x="3842734" y="1233011"/>
            <a:ext cx="69644" cy="7134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C9D7A6D2-C06D-4440-8405-DA3776C1B27E}"/>
              </a:ext>
            </a:extLst>
          </p:cNvPr>
          <p:cNvSpPr>
            <a:spLocks noGrp="1"/>
          </p:cNvSpPr>
          <p:nvPr/>
        </p:nvSpPr>
        <p:spPr>
          <a:xfrm>
            <a:off x="3912378" y="1233011"/>
            <a:ext cx="69644" cy="7134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EA47CBCD-8BA0-48CD-A885-D0939F1B35E3}"/>
              </a:ext>
            </a:extLst>
          </p:cNvPr>
          <p:cNvSpPr>
            <a:spLocks noGrp="1"/>
          </p:cNvSpPr>
          <p:nvPr/>
        </p:nvSpPr>
        <p:spPr>
          <a:xfrm>
            <a:off x="3564160" y="1304354"/>
            <a:ext cx="69644" cy="7134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8D18963D-5643-44AE-9EC2-2ADCCA004BBF}"/>
              </a:ext>
            </a:extLst>
          </p:cNvPr>
          <p:cNvSpPr>
            <a:spLocks noGrp="1"/>
          </p:cNvSpPr>
          <p:nvPr/>
        </p:nvSpPr>
        <p:spPr>
          <a:xfrm>
            <a:off x="3633803" y="1304354"/>
            <a:ext cx="69644" cy="7134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3C760DD6-9CC5-4EBE-8B90-D5C2D2287EE4}"/>
              </a:ext>
            </a:extLst>
          </p:cNvPr>
          <p:cNvSpPr>
            <a:spLocks noGrp="1"/>
          </p:cNvSpPr>
          <p:nvPr/>
        </p:nvSpPr>
        <p:spPr>
          <a:xfrm>
            <a:off x="3703447" y="1304354"/>
            <a:ext cx="69644" cy="7134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0A49EA52-B4D6-4AFB-B977-0FAD93978ECF}"/>
              </a:ext>
            </a:extLst>
          </p:cNvPr>
          <p:cNvSpPr>
            <a:spLocks noGrp="1"/>
          </p:cNvSpPr>
          <p:nvPr/>
        </p:nvSpPr>
        <p:spPr>
          <a:xfrm>
            <a:off x="3773091" y="1304354"/>
            <a:ext cx="69644" cy="7134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4FC5E628-E7EF-47F6-B51C-82585BF8B1DB}"/>
              </a:ext>
            </a:extLst>
          </p:cNvPr>
          <p:cNvSpPr>
            <a:spLocks noGrp="1"/>
          </p:cNvSpPr>
          <p:nvPr/>
        </p:nvSpPr>
        <p:spPr>
          <a:xfrm>
            <a:off x="3842734" y="1304354"/>
            <a:ext cx="69644" cy="7134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F7EAC230-4D60-4887-A37C-CBD070975ED3}"/>
              </a:ext>
            </a:extLst>
          </p:cNvPr>
          <p:cNvSpPr>
            <a:spLocks noGrp="1"/>
          </p:cNvSpPr>
          <p:nvPr/>
        </p:nvSpPr>
        <p:spPr>
          <a:xfrm>
            <a:off x="3912378" y="1304354"/>
            <a:ext cx="69644" cy="7134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46" name="aT">
            <a:extLst>
              <a:ext uri="{FF2B5EF4-FFF2-40B4-BE49-F238E27FC236}">
                <a16:creationId xmlns:a16="http://schemas.microsoft.com/office/drawing/2014/main" id="{F1074D48-242C-494D-B278-FE98E33ACBD5}"/>
              </a:ext>
            </a:extLst>
          </p:cNvPr>
          <p:cNvSpPr>
            <a:spLocks noGrp="1"/>
          </p:cNvSpPr>
          <p:nvPr/>
        </p:nvSpPr>
        <p:spPr>
          <a:xfrm>
            <a:off x="3564160" y="1080135"/>
            <a:ext cx="417862" cy="13758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aT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1FA20136-0C47-4DE9-B4A9-60844AF9CBCA}"/>
              </a:ext>
            </a:extLst>
          </p:cNvPr>
          <p:cNvSpPr>
            <a:spLocks noGrp="1"/>
          </p:cNvSpPr>
          <p:nvPr/>
        </p:nvSpPr>
        <p:spPr>
          <a:xfrm>
            <a:off x="3564160" y="1233011"/>
            <a:ext cx="417862" cy="142685"/>
          </a:xfrm>
          <a:prstGeom prst="rect">
            <a:avLst/>
          </a:prstGeom>
          <a:noFill/>
          <a:ln w="7620">
            <a:noFill/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E8A1D5C0-F9DD-4CF2-B97F-CB483F45879E}"/>
              </a:ext>
            </a:extLst>
          </p:cNvPr>
          <p:cNvSpPr>
            <a:spLocks noGrp="1"/>
          </p:cNvSpPr>
          <p:nvPr/>
        </p:nvSpPr>
        <p:spPr>
          <a:xfrm>
            <a:off x="3564160" y="1905667"/>
            <a:ext cx="69644" cy="7134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7C108DDB-B2A0-405E-A62E-B8992D90DA50}"/>
              </a:ext>
            </a:extLst>
          </p:cNvPr>
          <p:cNvSpPr>
            <a:spLocks noGrp="1"/>
          </p:cNvSpPr>
          <p:nvPr/>
        </p:nvSpPr>
        <p:spPr>
          <a:xfrm>
            <a:off x="3633803" y="1905667"/>
            <a:ext cx="69644" cy="7134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C982649E-8FCF-4650-B014-28AD5F294988}"/>
              </a:ext>
            </a:extLst>
          </p:cNvPr>
          <p:cNvSpPr>
            <a:spLocks noGrp="1"/>
          </p:cNvSpPr>
          <p:nvPr/>
        </p:nvSpPr>
        <p:spPr>
          <a:xfrm>
            <a:off x="3703447" y="1905667"/>
            <a:ext cx="69644" cy="7134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0CF79735-0987-4D75-BB30-320ABF52A831}"/>
              </a:ext>
            </a:extLst>
          </p:cNvPr>
          <p:cNvSpPr>
            <a:spLocks noGrp="1"/>
          </p:cNvSpPr>
          <p:nvPr/>
        </p:nvSpPr>
        <p:spPr>
          <a:xfrm>
            <a:off x="3773091" y="1905667"/>
            <a:ext cx="69644" cy="7134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FC0EC572-688B-412A-94B2-D1C3CF2F04D7}"/>
              </a:ext>
            </a:extLst>
          </p:cNvPr>
          <p:cNvSpPr>
            <a:spLocks noGrp="1"/>
          </p:cNvSpPr>
          <p:nvPr/>
        </p:nvSpPr>
        <p:spPr>
          <a:xfrm>
            <a:off x="3842734" y="1905667"/>
            <a:ext cx="69644" cy="7134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87E5900E-7FF0-4C14-95E1-8AFB53F9C69F}"/>
              </a:ext>
            </a:extLst>
          </p:cNvPr>
          <p:cNvSpPr>
            <a:spLocks noGrp="1"/>
          </p:cNvSpPr>
          <p:nvPr/>
        </p:nvSpPr>
        <p:spPr>
          <a:xfrm>
            <a:off x="3912378" y="1905667"/>
            <a:ext cx="69644" cy="7134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231A1BF2-43B4-456C-964B-2B1D085ABE7B}"/>
              </a:ext>
            </a:extLst>
          </p:cNvPr>
          <p:cNvSpPr>
            <a:spLocks noGrp="1"/>
          </p:cNvSpPr>
          <p:nvPr/>
        </p:nvSpPr>
        <p:spPr>
          <a:xfrm>
            <a:off x="3564160" y="1977009"/>
            <a:ext cx="69644" cy="7134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943375E8-D553-4377-AEF0-699507E5DACE}"/>
              </a:ext>
            </a:extLst>
          </p:cNvPr>
          <p:cNvSpPr>
            <a:spLocks noGrp="1"/>
          </p:cNvSpPr>
          <p:nvPr/>
        </p:nvSpPr>
        <p:spPr>
          <a:xfrm>
            <a:off x="3633803" y="1977009"/>
            <a:ext cx="69644" cy="7134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2D951727-68A5-4931-8985-12B99B8C1219}"/>
              </a:ext>
            </a:extLst>
          </p:cNvPr>
          <p:cNvSpPr>
            <a:spLocks noGrp="1"/>
          </p:cNvSpPr>
          <p:nvPr/>
        </p:nvSpPr>
        <p:spPr>
          <a:xfrm>
            <a:off x="3703447" y="1977009"/>
            <a:ext cx="69644" cy="7134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8FBC594A-5D4E-4275-96EE-40C2D29A30E1}"/>
              </a:ext>
            </a:extLst>
          </p:cNvPr>
          <p:cNvSpPr>
            <a:spLocks noGrp="1"/>
          </p:cNvSpPr>
          <p:nvPr/>
        </p:nvSpPr>
        <p:spPr>
          <a:xfrm>
            <a:off x="3773091" y="1977009"/>
            <a:ext cx="69644" cy="7134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1C842C7B-2127-4315-9B9F-B0A3C34B40A8}"/>
              </a:ext>
            </a:extLst>
          </p:cNvPr>
          <p:cNvSpPr>
            <a:spLocks noGrp="1"/>
          </p:cNvSpPr>
          <p:nvPr/>
        </p:nvSpPr>
        <p:spPr>
          <a:xfrm>
            <a:off x="3842734" y="1977009"/>
            <a:ext cx="69644" cy="7134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246FED51-CE62-4CAB-8405-BEABA24CA447}"/>
              </a:ext>
            </a:extLst>
          </p:cNvPr>
          <p:cNvSpPr>
            <a:spLocks noGrp="1"/>
          </p:cNvSpPr>
          <p:nvPr/>
        </p:nvSpPr>
        <p:spPr>
          <a:xfrm>
            <a:off x="3912378" y="1977009"/>
            <a:ext cx="69644" cy="7134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60" name="aQ">
            <a:extLst>
              <a:ext uri="{FF2B5EF4-FFF2-40B4-BE49-F238E27FC236}">
                <a16:creationId xmlns:a16="http://schemas.microsoft.com/office/drawing/2014/main" id="{EE3BAF6C-5151-4F5A-9A33-2930299ACF5B}"/>
              </a:ext>
            </a:extLst>
          </p:cNvPr>
          <p:cNvSpPr>
            <a:spLocks noGrp="1"/>
          </p:cNvSpPr>
          <p:nvPr/>
        </p:nvSpPr>
        <p:spPr>
          <a:xfrm>
            <a:off x="3564160" y="1752791"/>
            <a:ext cx="417862" cy="13758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aQ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9D58C19E-82F7-48B3-B801-6271A83DCD81}"/>
              </a:ext>
            </a:extLst>
          </p:cNvPr>
          <p:cNvSpPr>
            <a:spLocks noGrp="1"/>
          </p:cNvSpPr>
          <p:nvPr/>
        </p:nvSpPr>
        <p:spPr>
          <a:xfrm>
            <a:off x="3564160" y="1905667"/>
            <a:ext cx="417862" cy="142685"/>
          </a:xfrm>
          <a:prstGeom prst="rect">
            <a:avLst/>
          </a:prstGeom>
          <a:noFill/>
          <a:ln w="7620">
            <a:noFill/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C2026442-5F97-4F74-BC69-2340D2E3C283}"/>
              </a:ext>
            </a:extLst>
          </p:cNvPr>
          <p:cNvSpPr>
            <a:spLocks noGrp="1"/>
          </p:cNvSpPr>
          <p:nvPr/>
        </p:nvSpPr>
        <p:spPr>
          <a:xfrm>
            <a:off x="4924758" y="1233011"/>
            <a:ext cx="73890" cy="7134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53C83A00-13C6-459B-B928-4EA4A531895B}"/>
              </a:ext>
            </a:extLst>
          </p:cNvPr>
          <p:cNvSpPr>
            <a:spLocks noGrp="1"/>
          </p:cNvSpPr>
          <p:nvPr/>
        </p:nvSpPr>
        <p:spPr>
          <a:xfrm>
            <a:off x="4998649" y="1233011"/>
            <a:ext cx="73890" cy="7134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D28370DF-F13E-42CB-973C-A1A45AFD2CD0}"/>
              </a:ext>
            </a:extLst>
          </p:cNvPr>
          <p:cNvSpPr>
            <a:spLocks noGrp="1"/>
          </p:cNvSpPr>
          <p:nvPr/>
        </p:nvSpPr>
        <p:spPr>
          <a:xfrm>
            <a:off x="5072539" y="1233011"/>
            <a:ext cx="73890" cy="7134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FDAA3859-B4C0-4270-BCD9-557B0D90EAE0}"/>
              </a:ext>
            </a:extLst>
          </p:cNvPr>
          <p:cNvSpPr>
            <a:spLocks noGrp="1"/>
          </p:cNvSpPr>
          <p:nvPr/>
        </p:nvSpPr>
        <p:spPr>
          <a:xfrm>
            <a:off x="5146429" y="1233011"/>
            <a:ext cx="73890" cy="7134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B8339FCE-26C5-4084-8E19-5FCD096F15A3}"/>
              </a:ext>
            </a:extLst>
          </p:cNvPr>
          <p:cNvSpPr>
            <a:spLocks noGrp="1"/>
          </p:cNvSpPr>
          <p:nvPr/>
        </p:nvSpPr>
        <p:spPr>
          <a:xfrm>
            <a:off x="5220319" y="1233011"/>
            <a:ext cx="73890" cy="7134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2568651F-CE78-45E4-BD28-215B5641D7B6}"/>
              </a:ext>
            </a:extLst>
          </p:cNvPr>
          <p:cNvSpPr>
            <a:spLocks noGrp="1"/>
          </p:cNvSpPr>
          <p:nvPr/>
        </p:nvSpPr>
        <p:spPr>
          <a:xfrm>
            <a:off x="5294209" y="1233011"/>
            <a:ext cx="73890" cy="7134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2D6AD2E3-039A-4B77-A1D7-F5E68D68A0F5}"/>
              </a:ext>
            </a:extLst>
          </p:cNvPr>
          <p:cNvSpPr>
            <a:spLocks noGrp="1"/>
          </p:cNvSpPr>
          <p:nvPr/>
        </p:nvSpPr>
        <p:spPr>
          <a:xfrm>
            <a:off x="4924758" y="1304354"/>
            <a:ext cx="73890" cy="7134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BF3C63AF-E35B-4A77-B38E-E28951BFDBF5}"/>
              </a:ext>
            </a:extLst>
          </p:cNvPr>
          <p:cNvSpPr>
            <a:spLocks noGrp="1"/>
          </p:cNvSpPr>
          <p:nvPr/>
        </p:nvSpPr>
        <p:spPr>
          <a:xfrm>
            <a:off x="4998649" y="1304354"/>
            <a:ext cx="73890" cy="7134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606D811C-FAEE-45AC-A93F-EA19DE022BF8}"/>
              </a:ext>
            </a:extLst>
          </p:cNvPr>
          <p:cNvSpPr>
            <a:spLocks noGrp="1"/>
          </p:cNvSpPr>
          <p:nvPr/>
        </p:nvSpPr>
        <p:spPr>
          <a:xfrm>
            <a:off x="5072539" y="1304354"/>
            <a:ext cx="73890" cy="7134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6C375708-FC72-452C-ADD5-C0E78E62C295}"/>
              </a:ext>
            </a:extLst>
          </p:cNvPr>
          <p:cNvSpPr>
            <a:spLocks noGrp="1"/>
          </p:cNvSpPr>
          <p:nvPr/>
        </p:nvSpPr>
        <p:spPr>
          <a:xfrm>
            <a:off x="5146429" y="1304354"/>
            <a:ext cx="73890" cy="7134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D3F6B7CD-760E-4812-AAFF-47EB3CF7F3C2}"/>
              </a:ext>
            </a:extLst>
          </p:cNvPr>
          <p:cNvSpPr>
            <a:spLocks noGrp="1"/>
          </p:cNvSpPr>
          <p:nvPr/>
        </p:nvSpPr>
        <p:spPr>
          <a:xfrm>
            <a:off x="5220319" y="1304354"/>
            <a:ext cx="73890" cy="7134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4C5C7A99-CAC5-4125-ABE3-DD0134C4E38E}"/>
              </a:ext>
            </a:extLst>
          </p:cNvPr>
          <p:cNvSpPr>
            <a:spLocks noGrp="1"/>
          </p:cNvSpPr>
          <p:nvPr/>
        </p:nvSpPr>
        <p:spPr>
          <a:xfrm>
            <a:off x="5294209" y="1304354"/>
            <a:ext cx="73890" cy="7134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74" name="zT">
            <a:extLst>
              <a:ext uri="{FF2B5EF4-FFF2-40B4-BE49-F238E27FC236}">
                <a16:creationId xmlns:a16="http://schemas.microsoft.com/office/drawing/2014/main" id="{C28ECFEF-E3C7-4E07-957A-2CFD1086D59C}"/>
              </a:ext>
            </a:extLst>
          </p:cNvPr>
          <p:cNvSpPr>
            <a:spLocks noGrp="1"/>
          </p:cNvSpPr>
          <p:nvPr/>
        </p:nvSpPr>
        <p:spPr>
          <a:xfrm>
            <a:off x="4924758" y="1080135"/>
            <a:ext cx="443341" cy="13758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zT</a:t>
            </a: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BCFC88C6-E662-4DB1-8766-1F81D9553EF8}"/>
              </a:ext>
            </a:extLst>
          </p:cNvPr>
          <p:cNvSpPr>
            <a:spLocks noGrp="1"/>
          </p:cNvSpPr>
          <p:nvPr/>
        </p:nvSpPr>
        <p:spPr>
          <a:xfrm>
            <a:off x="4924758" y="1233011"/>
            <a:ext cx="443341" cy="142685"/>
          </a:xfrm>
          <a:prstGeom prst="rect">
            <a:avLst/>
          </a:prstGeom>
          <a:noFill/>
          <a:ln w="7620">
            <a:noFill/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E47260B2-793B-42B7-8220-13FDF3DF1FCD}"/>
              </a:ext>
            </a:extLst>
          </p:cNvPr>
          <p:cNvSpPr>
            <a:spLocks noGrp="1"/>
          </p:cNvSpPr>
          <p:nvPr/>
        </p:nvSpPr>
        <p:spPr>
          <a:xfrm>
            <a:off x="4924758" y="1905667"/>
            <a:ext cx="73890" cy="7134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88E2C46D-0BF9-4DFB-B57E-86E4BE264FCC}"/>
              </a:ext>
            </a:extLst>
          </p:cNvPr>
          <p:cNvSpPr>
            <a:spLocks noGrp="1"/>
          </p:cNvSpPr>
          <p:nvPr/>
        </p:nvSpPr>
        <p:spPr>
          <a:xfrm>
            <a:off x="4998649" y="1905667"/>
            <a:ext cx="73890" cy="7134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54D89CEA-F62E-42CD-AE54-E4995C8181F9}"/>
              </a:ext>
            </a:extLst>
          </p:cNvPr>
          <p:cNvSpPr>
            <a:spLocks noGrp="1"/>
          </p:cNvSpPr>
          <p:nvPr/>
        </p:nvSpPr>
        <p:spPr>
          <a:xfrm>
            <a:off x="5072539" y="1905667"/>
            <a:ext cx="73890" cy="7134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4784B330-9922-4F6C-A427-4EA2697E4303}"/>
              </a:ext>
            </a:extLst>
          </p:cNvPr>
          <p:cNvSpPr>
            <a:spLocks noGrp="1"/>
          </p:cNvSpPr>
          <p:nvPr/>
        </p:nvSpPr>
        <p:spPr>
          <a:xfrm>
            <a:off x="5146429" y="1905667"/>
            <a:ext cx="73890" cy="7134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DA2E3DB7-30F7-4CB5-AD8E-4EB51CE40FDF}"/>
              </a:ext>
            </a:extLst>
          </p:cNvPr>
          <p:cNvSpPr>
            <a:spLocks noGrp="1"/>
          </p:cNvSpPr>
          <p:nvPr/>
        </p:nvSpPr>
        <p:spPr>
          <a:xfrm>
            <a:off x="5220319" y="1905667"/>
            <a:ext cx="73890" cy="7134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584F4084-8349-48F6-BA2B-C2EC09C8AB6D}"/>
              </a:ext>
            </a:extLst>
          </p:cNvPr>
          <p:cNvSpPr>
            <a:spLocks noGrp="1"/>
          </p:cNvSpPr>
          <p:nvPr/>
        </p:nvSpPr>
        <p:spPr>
          <a:xfrm>
            <a:off x="5294209" y="1905667"/>
            <a:ext cx="73890" cy="7134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8DFA52BE-E0DF-4FE8-92F1-EEE5E349A8BC}"/>
              </a:ext>
            </a:extLst>
          </p:cNvPr>
          <p:cNvSpPr>
            <a:spLocks noGrp="1"/>
          </p:cNvSpPr>
          <p:nvPr/>
        </p:nvSpPr>
        <p:spPr>
          <a:xfrm>
            <a:off x="4924758" y="1977009"/>
            <a:ext cx="73890" cy="7134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713AACC0-79CF-4A98-B871-27C86B0A8FE2}"/>
              </a:ext>
            </a:extLst>
          </p:cNvPr>
          <p:cNvSpPr>
            <a:spLocks noGrp="1"/>
          </p:cNvSpPr>
          <p:nvPr/>
        </p:nvSpPr>
        <p:spPr>
          <a:xfrm>
            <a:off x="4998649" y="1977009"/>
            <a:ext cx="73890" cy="7134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68D31895-DC5B-458F-A9A1-34C0A49B3285}"/>
              </a:ext>
            </a:extLst>
          </p:cNvPr>
          <p:cNvSpPr>
            <a:spLocks noGrp="1"/>
          </p:cNvSpPr>
          <p:nvPr/>
        </p:nvSpPr>
        <p:spPr>
          <a:xfrm>
            <a:off x="5072539" y="1977009"/>
            <a:ext cx="73890" cy="7134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DF6E9630-1A36-4B6A-BC62-E6395D17A72B}"/>
              </a:ext>
            </a:extLst>
          </p:cNvPr>
          <p:cNvSpPr>
            <a:spLocks noGrp="1"/>
          </p:cNvSpPr>
          <p:nvPr/>
        </p:nvSpPr>
        <p:spPr>
          <a:xfrm>
            <a:off x="5146429" y="1977009"/>
            <a:ext cx="73890" cy="7134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B5CD74CB-641D-4581-BB27-D1C141EF9E6B}"/>
              </a:ext>
            </a:extLst>
          </p:cNvPr>
          <p:cNvSpPr>
            <a:spLocks noGrp="1"/>
          </p:cNvSpPr>
          <p:nvPr/>
        </p:nvSpPr>
        <p:spPr>
          <a:xfrm>
            <a:off x="5220319" y="1977009"/>
            <a:ext cx="73890" cy="7134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DDA22E96-AEF0-414E-880D-A491F575C8EF}"/>
              </a:ext>
            </a:extLst>
          </p:cNvPr>
          <p:cNvSpPr>
            <a:spLocks noGrp="1"/>
          </p:cNvSpPr>
          <p:nvPr/>
        </p:nvSpPr>
        <p:spPr>
          <a:xfrm>
            <a:off x="5294209" y="1977009"/>
            <a:ext cx="73890" cy="7134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88" name="zQ">
            <a:extLst>
              <a:ext uri="{FF2B5EF4-FFF2-40B4-BE49-F238E27FC236}">
                <a16:creationId xmlns:a16="http://schemas.microsoft.com/office/drawing/2014/main" id="{68535A85-D795-4255-9876-249CF9BB8BA2}"/>
              </a:ext>
            </a:extLst>
          </p:cNvPr>
          <p:cNvSpPr>
            <a:spLocks noGrp="1"/>
          </p:cNvSpPr>
          <p:nvPr/>
        </p:nvSpPr>
        <p:spPr>
          <a:xfrm>
            <a:off x="4924758" y="1752791"/>
            <a:ext cx="443341" cy="13758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zQ</a:t>
            </a:r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4C7FDD0F-60A8-4C45-BDBF-3F13DD9B8B43}"/>
              </a:ext>
            </a:extLst>
          </p:cNvPr>
          <p:cNvSpPr>
            <a:spLocks noGrp="1"/>
          </p:cNvSpPr>
          <p:nvPr/>
        </p:nvSpPr>
        <p:spPr>
          <a:xfrm>
            <a:off x="4924758" y="1905667"/>
            <a:ext cx="443341" cy="142685"/>
          </a:xfrm>
          <a:prstGeom prst="rect">
            <a:avLst/>
          </a:prstGeom>
          <a:noFill/>
          <a:ln w="7620">
            <a:noFill/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90" name="L_action&#10;first-10 motor MSE">
            <a:extLst>
              <a:ext uri="{FF2B5EF4-FFF2-40B4-BE49-F238E27FC236}">
                <a16:creationId xmlns:a16="http://schemas.microsoft.com/office/drawing/2014/main" id="{4CA0CBC1-6A73-493F-8B0A-B100CA327871}"/>
              </a:ext>
            </a:extLst>
          </p:cNvPr>
          <p:cNvSpPr>
            <a:spLocks noGrp="1"/>
          </p:cNvSpPr>
          <p:nvPr/>
        </p:nvSpPr>
        <p:spPr>
          <a:xfrm>
            <a:off x="3951446" y="1467422"/>
            <a:ext cx="942737" cy="29556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L_action</a:t>
            </a:r>
          </a:p>
          <a:p>
            <a: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first-10 motor MSE</a:t>
            </a:r>
          </a:p>
        </p:txBody>
      </p:sp>
      <p:sp>
        <p:nvSpPr>
          <p:cNvPr id="91" name="L_future&#10;clean-future NMSE">
            <a:extLst>
              <a:ext uri="{FF2B5EF4-FFF2-40B4-BE49-F238E27FC236}">
                <a16:creationId xmlns:a16="http://schemas.microsoft.com/office/drawing/2014/main" id="{79904EB7-4152-400A-8055-FCD708126692}"/>
              </a:ext>
            </a:extLst>
          </p:cNvPr>
          <p:cNvSpPr>
            <a:spLocks noGrp="1"/>
          </p:cNvSpPr>
          <p:nvPr/>
        </p:nvSpPr>
        <p:spPr>
          <a:xfrm>
            <a:off x="5301853" y="1467422"/>
            <a:ext cx="815340" cy="29556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L_future</a:t>
            </a:r>
          </a:p>
          <a:p>
            <a: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clean-future NMSE</a:t>
            </a:r>
          </a:p>
        </p:txBody>
      </p:sp>
      <p:sp>
        <p:nvSpPr>
          <p:cNvPr id="92" name="Frozen BF16&#10;action reader">
            <a:extLst>
              <a:ext uri="{FF2B5EF4-FFF2-40B4-BE49-F238E27FC236}">
                <a16:creationId xmlns:a16="http://schemas.microsoft.com/office/drawing/2014/main" id="{7AB39F6B-D30A-4D13-A7DD-27A4E1935246}"/>
              </a:ext>
            </a:extLst>
          </p:cNvPr>
          <p:cNvSpPr>
            <a:spLocks noGrp="1"/>
          </p:cNvSpPr>
          <p:nvPr/>
        </p:nvSpPr>
        <p:spPr>
          <a:xfrm>
            <a:off x="5959221" y="1090327"/>
            <a:ext cx="738902" cy="21402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722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Frozen BF16</a:t>
            </a:r>
          </a:p>
          <a:p>
            <a: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722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action reader</a:t>
            </a: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09B65673-058C-4C5D-B176-A92F02D7F8AC}"/>
              </a:ext>
            </a:extLst>
          </p:cNvPr>
          <p:cNvSpPr>
            <a:spLocks noGrp="1"/>
          </p:cNvSpPr>
          <p:nvPr/>
        </p:nvSpPr>
        <p:spPr>
          <a:xfrm>
            <a:off x="6040755" y="1329833"/>
            <a:ext cx="55205" cy="259890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74DE0541-07FE-4D13-A987-9171E52DFF42}"/>
              </a:ext>
            </a:extLst>
          </p:cNvPr>
          <p:cNvSpPr>
            <a:spLocks noGrp="1"/>
          </p:cNvSpPr>
          <p:nvPr/>
        </p:nvSpPr>
        <p:spPr>
          <a:xfrm>
            <a:off x="6151166" y="1365504"/>
            <a:ext cx="55205" cy="198739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BE7D3B0E-6E25-4465-8B61-8A9904F6CB04}"/>
              </a:ext>
            </a:extLst>
          </p:cNvPr>
          <p:cNvSpPr>
            <a:spLocks noGrp="1"/>
          </p:cNvSpPr>
          <p:nvPr/>
        </p:nvSpPr>
        <p:spPr>
          <a:xfrm>
            <a:off x="6261576" y="1329833"/>
            <a:ext cx="55205" cy="259890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DD51753E-1F14-491C-8896-EA7BECD98D09}"/>
              </a:ext>
            </a:extLst>
          </p:cNvPr>
          <p:cNvSpPr>
            <a:spLocks noGrp="1"/>
          </p:cNvSpPr>
          <p:nvPr/>
        </p:nvSpPr>
        <p:spPr>
          <a:xfrm>
            <a:off x="6371987" y="1365504"/>
            <a:ext cx="55205" cy="198739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A1AA19A5-13BB-4939-8B13-5CDA91C419E2}"/>
              </a:ext>
            </a:extLst>
          </p:cNvPr>
          <p:cNvSpPr>
            <a:spLocks noGrp="1"/>
          </p:cNvSpPr>
          <p:nvPr/>
        </p:nvSpPr>
        <p:spPr>
          <a:xfrm>
            <a:off x="6482398" y="1329833"/>
            <a:ext cx="55205" cy="259890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251FE52D-6D51-4756-BB72-6420CE3BA340}"/>
              </a:ext>
            </a:extLst>
          </p:cNvPr>
          <p:cNvSpPr>
            <a:spLocks noGrp="1"/>
          </p:cNvSpPr>
          <p:nvPr/>
        </p:nvSpPr>
        <p:spPr>
          <a:xfrm>
            <a:off x="6592808" y="1365504"/>
            <a:ext cx="55205" cy="198739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B3E3FB64-6AB8-4998-8037-B21A8FFE81F1}"/>
              </a:ext>
            </a:extLst>
          </p:cNvPr>
          <p:cNvSpPr>
            <a:spLocks noGrp="1"/>
          </p:cNvSpPr>
          <p:nvPr/>
        </p:nvSpPr>
        <p:spPr>
          <a:xfrm>
            <a:off x="6040755" y="2002488"/>
            <a:ext cx="55205" cy="259890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65A19140-731C-42AB-B479-0F69F869C7CB}"/>
              </a:ext>
            </a:extLst>
          </p:cNvPr>
          <p:cNvSpPr>
            <a:spLocks noGrp="1"/>
          </p:cNvSpPr>
          <p:nvPr/>
        </p:nvSpPr>
        <p:spPr>
          <a:xfrm>
            <a:off x="6151166" y="2038160"/>
            <a:ext cx="55205" cy="198739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AF6E56CE-EAAB-465D-8517-3C9A427DDD55}"/>
              </a:ext>
            </a:extLst>
          </p:cNvPr>
          <p:cNvSpPr>
            <a:spLocks noGrp="1"/>
          </p:cNvSpPr>
          <p:nvPr/>
        </p:nvSpPr>
        <p:spPr>
          <a:xfrm>
            <a:off x="6261576" y="2002488"/>
            <a:ext cx="55205" cy="259890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49337A09-2E4A-417F-B319-FF6C220CCCD6}"/>
              </a:ext>
            </a:extLst>
          </p:cNvPr>
          <p:cNvSpPr>
            <a:spLocks noGrp="1"/>
          </p:cNvSpPr>
          <p:nvPr/>
        </p:nvSpPr>
        <p:spPr>
          <a:xfrm>
            <a:off x="6371987" y="2038160"/>
            <a:ext cx="55205" cy="198739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E91C7E35-9268-42AD-8D22-ED9E72E4925E}"/>
              </a:ext>
            </a:extLst>
          </p:cNvPr>
          <p:cNvSpPr>
            <a:spLocks noGrp="1"/>
          </p:cNvSpPr>
          <p:nvPr/>
        </p:nvSpPr>
        <p:spPr>
          <a:xfrm>
            <a:off x="6482398" y="2002488"/>
            <a:ext cx="55205" cy="259890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3B241972-8D3A-415D-9D61-6245496B79C8}"/>
              </a:ext>
            </a:extLst>
          </p:cNvPr>
          <p:cNvSpPr>
            <a:spLocks noGrp="1"/>
          </p:cNvSpPr>
          <p:nvPr/>
        </p:nvSpPr>
        <p:spPr>
          <a:xfrm>
            <a:off x="6592808" y="2038160"/>
            <a:ext cx="55205" cy="198739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05" name="same frozen reader">
            <a:extLst>
              <a:ext uri="{FF2B5EF4-FFF2-40B4-BE49-F238E27FC236}">
                <a16:creationId xmlns:a16="http://schemas.microsoft.com/office/drawing/2014/main" id="{5288CA19-7B52-4C0E-83AF-D6DE113B93DD}"/>
              </a:ext>
            </a:extLst>
          </p:cNvPr>
          <p:cNvSpPr>
            <a:spLocks noGrp="1"/>
          </p:cNvSpPr>
          <p:nvPr/>
        </p:nvSpPr>
        <p:spPr>
          <a:xfrm>
            <a:off x="5994892" y="1757886"/>
            <a:ext cx="789861" cy="15287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defPPr>
            <a:lvl1pPr algn="ct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1pPr>
            <a:lvl2pPr algn="ct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2pPr>
            <a:lvl3pPr algn="ct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3pPr>
            <a:lvl4pPr algn="ct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4pPr>
            <a:lvl5pPr algn="ct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5pPr>
            <a:lvl6pPr algn="ct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6pPr>
            <a:lvl7pPr algn="ct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7pPr>
            <a:lvl8pPr algn="ct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8pPr>
            <a:lvl9pPr algn="ct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pPr>
            <a:r>
              <a:rPr sz="682" b="0">
                <a:solidFill>
                  <a:srgbClr val="5D6773"/>
                </a:solidFill>
                <a:latin typeface="Arial"/>
                <a:ea typeface="Arial"/>
                <a:cs typeface="Arial"/>
              </a:rPr>
              <a:t>same frozen reader</a:t>
            </a:r>
          </a:p>
        </p:txBody>
      </p:sp>
      <p:sp>
        <p:nvSpPr>
          <p:cNvPr id="106" name="pT(a)">
            <a:extLst>
              <a:ext uri="{FF2B5EF4-FFF2-40B4-BE49-F238E27FC236}">
                <a16:creationId xmlns:a16="http://schemas.microsoft.com/office/drawing/2014/main" id="{008EC1A2-3348-4057-9958-FAEAF2DDDDBB}"/>
              </a:ext>
            </a:extLst>
          </p:cNvPr>
          <p:cNvSpPr>
            <a:spLocks noGrp="1"/>
          </p:cNvSpPr>
          <p:nvPr/>
        </p:nvSpPr>
        <p:spPr>
          <a:xfrm>
            <a:off x="7314724" y="1105614"/>
            <a:ext cx="535067" cy="1426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pT(a)</a:t>
            </a:r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49AA54FD-8B99-4420-9110-F00A11711259}"/>
              </a:ext>
            </a:extLst>
          </p:cNvPr>
          <p:cNvSpPr>
            <a:spLocks noGrp="1"/>
          </p:cNvSpPr>
          <p:nvPr/>
        </p:nvSpPr>
        <p:spPr>
          <a:xfrm>
            <a:off x="7314724" y="1431750"/>
            <a:ext cx="61151" cy="61151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id="{748ED1FE-1356-4FD7-BE1A-7C31D12F4689}"/>
              </a:ext>
            </a:extLst>
          </p:cNvPr>
          <p:cNvSpPr>
            <a:spLocks noGrp="1"/>
          </p:cNvSpPr>
          <p:nvPr/>
        </p:nvSpPr>
        <p:spPr>
          <a:xfrm>
            <a:off x="7391162" y="1345121"/>
            <a:ext cx="61151" cy="147780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4DA35439-B14B-4071-9848-999136BAA360}"/>
              </a:ext>
            </a:extLst>
          </p:cNvPr>
          <p:cNvSpPr>
            <a:spLocks noGrp="1"/>
          </p:cNvSpPr>
          <p:nvPr/>
        </p:nvSpPr>
        <p:spPr>
          <a:xfrm>
            <a:off x="7467600" y="1263587"/>
            <a:ext cx="61151" cy="229314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4129A52D-D2FC-4118-87E5-97243068D816}"/>
              </a:ext>
            </a:extLst>
          </p:cNvPr>
          <p:cNvSpPr>
            <a:spLocks noGrp="1"/>
          </p:cNvSpPr>
          <p:nvPr/>
        </p:nvSpPr>
        <p:spPr>
          <a:xfrm>
            <a:off x="7544038" y="1329833"/>
            <a:ext cx="61151" cy="163068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0839C289-7BE2-45CC-87EF-F06888C139F7}"/>
              </a:ext>
            </a:extLst>
          </p:cNvPr>
          <p:cNvSpPr>
            <a:spLocks noGrp="1"/>
          </p:cNvSpPr>
          <p:nvPr/>
        </p:nvSpPr>
        <p:spPr>
          <a:xfrm>
            <a:off x="7620476" y="1396079"/>
            <a:ext cx="61151" cy="96822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CCD256F7-76E7-4020-90E8-9AA17B87C4C8}"/>
              </a:ext>
            </a:extLst>
          </p:cNvPr>
          <p:cNvSpPr>
            <a:spLocks noGrp="1"/>
          </p:cNvSpPr>
          <p:nvPr/>
        </p:nvSpPr>
        <p:spPr>
          <a:xfrm>
            <a:off x="7696914" y="1441942"/>
            <a:ext cx="61151" cy="50959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cxnSp>
        <p:nvCxnSpPr>
          <p:cNvPr id="113" name="直接箭头连接符 112">
            <a:extLst>
              <a:ext uri="{FF2B5EF4-FFF2-40B4-BE49-F238E27FC236}">
                <a16:creationId xmlns:a16="http://schemas.microsoft.com/office/drawing/2014/main" id="{E144944A-F9C5-445C-B1C4-121908A9FE7D}"/>
              </a:ext>
            </a:extLst>
          </p:cNvPr>
          <p:cNvCxnSpPr/>
          <p:nvPr/>
        </p:nvCxnSpPr>
        <p:spPr>
          <a:xfrm>
            <a:off x="7314724" y="1492901"/>
            <a:ext cx="504492" cy="0"/>
          </a:xfrm>
          <a:prstGeom prst="straightConnector1">
            <a:avLst/>
          </a:prstGeom>
          <a:ln w="4077">
            <a:solidFill>
              <a:srgbClr val="697681"/>
            </a:solidFill>
            <a:prstDash val="solid"/>
          </a:ln>
        </p:spPr>
      </p:cxnSp>
      <p:sp>
        <p:nvSpPr>
          <p:cNvPr id="114" name="pQ(a)">
            <a:extLst>
              <a:ext uri="{FF2B5EF4-FFF2-40B4-BE49-F238E27FC236}">
                <a16:creationId xmlns:a16="http://schemas.microsoft.com/office/drawing/2014/main" id="{FA27A527-E9FE-4044-A28A-99F93F0CB892}"/>
              </a:ext>
            </a:extLst>
          </p:cNvPr>
          <p:cNvSpPr>
            <a:spLocks noGrp="1"/>
          </p:cNvSpPr>
          <p:nvPr/>
        </p:nvSpPr>
        <p:spPr>
          <a:xfrm>
            <a:off x="7314724" y="1778270"/>
            <a:ext cx="535067" cy="1426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pQ(a)</a:t>
            </a:r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9FDA59E1-855A-4A8A-80AA-F78CEB6FE3DD}"/>
              </a:ext>
            </a:extLst>
          </p:cNvPr>
          <p:cNvSpPr>
            <a:spLocks noGrp="1"/>
          </p:cNvSpPr>
          <p:nvPr/>
        </p:nvSpPr>
        <p:spPr>
          <a:xfrm>
            <a:off x="7314724" y="2104406"/>
            <a:ext cx="61151" cy="61151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F3010A14-D0EB-4D33-A375-F8401921BF69}"/>
              </a:ext>
            </a:extLst>
          </p:cNvPr>
          <p:cNvSpPr>
            <a:spLocks noGrp="1"/>
          </p:cNvSpPr>
          <p:nvPr/>
        </p:nvSpPr>
        <p:spPr>
          <a:xfrm>
            <a:off x="7391162" y="2017776"/>
            <a:ext cx="61151" cy="147780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17" name="矩形 116">
            <a:extLst>
              <a:ext uri="{FF2B5EF4-FFF2-40B4-BE49-F238E27FC236}">
                <a16:creationId xmlns:a16="http://schemas.microsoft.com/office/drawing/2014/main" id="{4EA161EF-A968-42A9-B5B1-7C9F74AF6DE9}"/>
              </a:ext>
            </a:extLst>
          </p:cNvPr>
          <p:cNvSpPr>
            <a:spLocks noGrp="1"/>
          </p:cNvSpPr>
          <p:nvPr/>
        </p:nvSpPr>
        <p:spPr>
          <a:xfrm>
            <a:off x="7467600" y="1936242"/>
            <a:ext cx="61151" cy="229314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D33B843C-10B3-4855-A3CE-16D744E33D72}"/>
              </a:ext>
            </a:extLst>
          </p:cNvPr>
          <p:cNvSpPr>
            <a:spLocks noGrp="1"/>
          </p:cNvSpPr>
          <p:nvPr/>
        </p:nvSpPr>
        <p:spPr>
          <a:xfrm>
            <a:off x="7544038" y="2002488"/>
            <a:ext cx="61151" cy="163068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738FCD44-1EB8-494E-8C59-B69CCB3110C1}"/>
              </a:ext>
            </a:extLst>
          </p:cNvPr>
          <p:cNvSpPr>
            <a:spLocks noGrp="1"/>
          </p:cNvSpPr>
          <p:nvPr/>
        </p:nvSpPr>
        <p:spPr>
          <a:xfrm>
            <a:off x="7620476" y="2068735"/>
            <a:ext cx="61151" cy="96822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4C77962C-6C18-49C0-A1EB-8590B8226EED}"/>
              </a:ext>
            </a:extLst>
          </p:cNvPr>
          <p:cNvSpPr>
            <a:spLocks noGrp="1"/>
          </p:cNvSpPr>
          <p:nvPr/>
        </p:nvSpPr>
        <p:spPr>
          <a:xfrm>
            <a:off x="7696914" y="2114598"/>
            <a:ext cx="61151" cy="50959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40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cxnSp>
        <p:nvCxnSpPr>
          <p:cNvPr id="121" name="直接箭头连接符 120">
            <a:extLst>
              <a:ext uri="{FF2B5EF4-FFF2-40B4-BE49-F238E27FC236}">
                <a16:creationId xmlns:a16="http://schemas.microsoft.com/office/drawing/2014/main" id="{140B47E2-7F08-42A2-92E4-8B059DB40771}"/>
              </a:ext>
            </a:extLst>
          </p:cNvPr>
          <p:cNvCxnSpPr/>
          <p:nvPr/>
        </p:nvCxnSpPr>
        <p:spPr>
          <a:xfrm>
            <a:off x="7314724" y="2165556"/>
            <a:ext cx="504492" cy="0"/>
          </a:xfrm>
          <a:prstGeom prst="straightConnector1">
            <a:avLst/>
          </a:prstGeom>
          <a:ln w="4077">
            <a:solidFill>
              <a:srgbClr val="697681"/>
            </a:solidFill>
            <a:prstDash val="solid"/>
          </a:ln>
        </p:spPr>
      </p:cxnSp>
      <p:sp>
        <p:nvSpPr>
          <p:cNvPr id="122" name="L_reader-KL&#10;soft-bin action&#10;consistency">
            <a:extLst>
              <a:ext uri="{FF2B5EF4-FFF2-40B4-BE49-F238E27FC236}">
                <a16:creationId xmlns:a16="http://schemas.microsoft.com/office/drawing/2014/main" id="{B7452DEE-0FC8-4752-BEC5-66DA3A7C0F34}"/>
              </a:ext>
            </a:extLst>
          </p:cNvPr>
          <p:cNvSpPr>
            <a:spLocks noGrp="1"/>
          </p:cNvSpPr>
          <p:nvPr/>
        </p:nvSpPr>
        <p:spPr>
          <a:xfrm>
            <a:off x="7936421" y="1508189"/>
            <a:ext cx="800052" cy="35671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L_reader-KL</a:t>
            </a:r>
          </a:p>
          <a:p>
            <a: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soft-bin action</a:t>
            </a:r>
          </a:p>
          <a:p>
            <a: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consistency</a:t>
            </a:r>
          </a:p>
        </p:txBody>
      </p:sp>
      <p:cxnSp>
        <p:nvCxnSpPr>
          <p:cNvPr id="123" name="直接箭头连接符 122">
            <a:extLst>
              <a:ext uri="{FF2B5EF4-FFF2-40B4-BE49-F238E27FC236}">
                <a16:creationId xmlns:a16="http://schemas.microsoft.com/office/drawing/2014/main" id="{0EBFA066-9530-4C36-BAAB-0BD5D973CF35}"/>
              </a:ext>
            </a:extLst>
          </p:cNvPr>
          <p:cNvCxnSpPr/>
          <p:nvPr/>
        </p:nvCxnSpPr>
        <p:spPr>
          <a:xfrm>
            <a:off x="7849791" y="1436846"/>
            <a:ext cx="0" cy="728710"/>
          </a:xfrm>
          <a:prstGeom prst="straightConnector1">
            <a:avLst/>
          </a:prstGeom>
          <a:ln w="4077">
            <a:solidFill>
              <a:srgbClr val="697681"/>
            </a:solidFill>
            <a:prstDash val="solid"/>
          </a:ln>
        </p:spPr>
      </p:cxnSp>
      <p:cxnSp>
        <p:nvCxnSpPr>
          <p:cNvPr id="124" name="直接箭头连接符 123">
            <a:extLst>
              <a:ext uri="{FF2B5EF4-FFF2-40B4-BE49-F238E27FC236}">
                <a16:creationId xmlns:a16="http://schemas.microsoft.com/office/drawing/2014/main" id="{1A9924F7-6A82-4255-AC1B-4BC573EACACF}"/>
              </a:ext>
            </a:extLst>
          </p:cNvPr>
          <p:cNvCxnSpPr/>
          <p:nvPr/>
        </p:nvCxnSpPr>
        <p:spPr>
          <a:xfrm>
            <a:off x="2840546" y="2333720"/>
            <a:ext cx="4779931" cy="0"/>
          </a:xfrm>
          <a:prstGeom prst="straightConnector1">
            <a:avLst/>
          </a:prstGeom>
          <a:ln w="4077">
            <a:solidFill>
              <a:srgbClr val="B96813"/>
            </a:solidFill>
            <a:prstDash val="dash"/>
          </a:ln>
        </p:spPr>
      </p:cxnSp>
      <p:cxnSp>
        <p:nvCxnSpPr>
          <p:cNvPr id="125" name="直接箭头连接符 124">
            <a:extLst>
              <a:ext uri="{FF2B5EF4-FFF2-40B4-BE49-F238E27FC236}">
                <a16:creationId xmlns:a16="http://schemas.microsoft.com/office/drawing/2014/main" id="{C5E18E35-97AC-4B05-9527-CD77D88FA7FB}"/>
              </a:ext>
            </a:extLst>
          </p:cNvPr>
          <p:cNvCxnSpPr/>
          <p:nvPr/>
        </p:nvCxnSpPr>
        <p:spPr>
          <a:xfrm>
            <a:off x="2840546" y="2231803"/>
            <a:ext cx="0" cy="101918"/>
          </a:xfrm>
          <a:prstGeom prst="straightConnector1">
            <a:avLst/>
          </a:prstGeom>
          <a:ln w="4077">
            <a:solidFill>
              <a:srgbClr val="B96813"/>
            </a:solidFill>
            <a:prstDash val="dash"/>
          </a:ln>
        </p:spPr>
      </p:cxnSp>
      <p:sp>
        <p:nvSpPr>
          <p:cNvPr id="126" name="gradient to codebooks + gains">
            <a:extLst>
              <a:ext uri="{FF2B5EF4-FFF2-40B4-BE49-F238E27FC236}">
                <a16:creationId xmlns:a16="http://schemas.microsoft.com/office/drawing/2014/main" id="{B93AFA2B-C6D8-4B8C-97B7-85A09E5F50C1}"/>
              </a:ext>
            </a:extLst>
          </p:cNvPr>
          <p:cNvSpPr>
            <a:spLocks noGrp="1"/>
          </p:cNvSpPr>
          <p:nvPr/>
        </p:nvSpPr>
        <p:spPr>
          <a:xfrm>
            <a:off x="3875008" y="2303145"/>
            <a:ext cx="2446020" cy="12739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762" b="0">
                <a:solidFill>
                  <a:srgbClr val="B96813"/>
                </a:solidFill>
                <a:latin typeface="Arial"/>
                <a:ea typeface="Arial"/>
                <a:cs typeface="Arial"/>
              </a:defRPr>
            </a:defPPr>
            <a:lvl1pPr algn="ctr">
              <a:defRPr sz="762" b="0">
                <a:solidFill>
                  <a:srgbClr val="B96813"/>
                </a:solidFill>
                <a:latin typeface="Arial"/>
                <a:ea typeface="Arial"/>
                <a:cs typeface="Arial"/>
              </a:defRPr>
            </a:lvl1pPr>
            <a:lvl2pPr algn="ctr">
              <a:defRPr sz="762" b="0">
                <a:solidFill>
                  <a:srgbClr val="B96813"/>
                </a:solidFill>
                <a:latin typeface="Arial"/>
                <a:ea typeface="Arial"/>
                <a:cs typeface="Arial"/>
              </a:defRPr>
            </a:lvl2pPr>
            <a:lvl3pPr algn="ctr">
              <a:defRPr sz="762" b="0">
                <a:solidFill>
                  <a:srgbClr val="B96813"/>
                </a:solidFill>
                <a:latin typeface="Arial"/>
                <a:ea typeface="Arial"/>
                <a:cs typeface="Arial"/>
              </a:defRPr>
            </a:lvl3pPr>
            <a:lvl4pPr algn="ctr">
              <a:defRPr sz="762" b="0">
                <a:solidFill>
                  <a:srgbClr val="B96813"/>
                </a:solidFill>
                <a:latin typeface="Arial"/>
                <a:ea typeface="Arial"/>
                <a:cs typeface="Arial"/>
              </a:defRPr>
            </a:lvl4pPr>
            <a:lvl5pPr algn="ctr">
              <a:defRPr sz="762" b="0">
                <a:solidFill>
                  <a:srgbClr val="B96813"/>
                </a:solidFill>
                <a:latin typeface="Arial"/>
                <a:ea typeface="Arial"/>
                <a:cs typeface="Arial"/>
              </a:defRPr>
            </a:lvl5pPr>
            <a:lvl6pPr algn="ctr">
              <a:defRPr sz="762" b="0">
                <a:solidFill>
                  <a:srgbClr val="B96813"/>
                </a:solidFill>
                <a:latin typeface="Arial"/>
                <a:ea typeface="Arial"/>
                <a:cs typeface="Arial"/>
              </a:defRPr>
            </a:lvl6pPr>
            <a:lvl7pPr algn="ctr">
              <a:defRPr sz="762" b="0">
                <a:solidFill>
                  <a:srgbClr val="B96813"/>
                </a:solidFill>
                <a:latin typeface="Arial"/>
                <a:ea typeface="Arial"/>
                <a:cs typeface="Arial"/>
              </a:defRPr>
            </a:lvl7pPr>
            <a:lvl8pPr algn="ctr">
              <a:defRPr sz="762" b="0">
                <a:solidFill>
                  <a:srgbClr val="B96813"/>
                </a:solidFill>
                <a:latin typeface="Arial"/>
                <a:ea typeface="Arial"/>
                <a:cs typeface="Arial"/>
              </a:defRPr>
            </a:lvl8pPr>
            <a:lvl9pPr algn="ctr">
              <a:defRPr sz="762" b="0">
                <a:solidFill>
                  <a:srgbClr val="B96813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762" b="0">
                <a:solidFill>
                  <a:srgbClr val="B96813"/>
                </a:solidFill>
                <a:latin typeface="Arial"/>
                <a:ea typeface="Arial"/>
                <a:cs typeface="Arial"/>
              </a:defRPr>
            </a:pPr>
            <a:r>
              <a:rPr sz="762" b="0">
                <a:solidFill>
                  <a:srgbClr val="B96813"/>
                </a:solidFill>
                <a:latin typeface="Arial"/>
                <a:ea typeface="Arial"/>
                <a:cs typeface="Arial"/>
              </a:rPr>
              <a:t>gradient to codebooks + gains</a:t>
            </a:r>
          </a:p>
        </p:txBody>
      </p:sp>
      <p:sp>
        <p:nvSpPr>
          <p:cNvPr id="127" name="L = L_action + λ L_future + β L_reader-KL">
            <a:extLst>
              <a:ext uri="{FF2B5EF4-FFF2-40B4-BE49-F238E27FC236}">
                <a16:creationId xmlns:a16="http://schemas.microsoft.com/office/drawing/2014/main" id="{D0F53BDD-722F-40EE-BEF6-AA10328C0BD2}"/>
              </a:ext>
            </a:extLst>
          </p:cNvPr>
          <p:cNvSpPr>
            <a:spLocks noGrp="1"/>
          </p:cNvSpPr>
          <p:nvPr/>
        </p:nvSpPr>
        <p:spPr>
          <a:xfrm>
            <a:off x="3187065" y="2456021"/>
            <a:ext cx="4586288" cy="12739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0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0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L = L_action + λ L_future + β L_reader-KL</a:t>
            </a:r>
          </a:p>
        </p:txBody>
      </p:sp>
      <p:sp>
        <p:nvSpPr>
          <p:cNvPr id="128" name="Calibration only">
            <a:extLst>
              <a:ext uri="{FF2B5EF4-FFF2-40B4-BE49-F238E27FC236}">
                <a16:creationId xmlns:a16="http://schemas.microsoft.com/office/drawing/2014/main" id="{FB9ECBC5-3AE9-465B-BF74-C407A9D6D38C}"/>
              </a:ext>
            </a:extLst>
          </p:cNvPr>
          <p:cNvSpPr>
            <a:spLocks noGrp="1"/>
          </p:cNvSpPr>
          <p:nvPr/>
        </p:nvSpPr>
        <p:spPr>
          <a:xfrm>
            <a:off x="7696914" y="2435638"/>
            <a:ext cx="993696" cy="1172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defPPr>
            <a:lvl1pPr algn="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1pPr>
            <a:lvl2pPr algn="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2pPr>
            <a:lvl3pPr algn="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3pPr>
            <a:lvl4pPr algn="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4pPr>
            <a:lvl5pPr algn="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5pPr>
            <a:lvl6pPr algn="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6pPr>
            <a:lvl7pPr algn="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7pPr>
            <a:lvl8pPr algn="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8pPr>
            <a:lvl9pPr algn="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pPr>
            <a:r>
              <a:rPr sz="682" b="0">
                <a:solidFill>
                  <a:srgbClr val="5D6773"/>
                </a:solidFill>
                <a:latin typeface="Arial"/>
                <a:ea typeface="Arial"/>
                <a:cs typeface="Arial"/>
              </a:rPr>
              <a:t>Calibration only</a:t>
            </a:r>
          </a:p>
        </p:txBody>
      </p:sp>
      <p:graphicFrame>
        <p:nvGraphicFramePr>
          <p:cNvPr id="129" name="表格 128">
            <a:extLst>
              <a:ext uri="{FF2B5EF4-FFF2-40B4-BE49-F238E27FC236}">
                <a16:creationId xmlns:a16="http://schemas.microsoft.com/office/drawing/2014/main" id="{A033F954-43B8-4846-82BB-17477926547B}"/>
              </a:ext>
            </a:extLst>
          </p:cNvPr>
          <p:cNvGraphicFramePr/>
          <p:nvPr/>
        </p:nvGraphicFramePr>
        <p:xfrm>
          <a:off x="609600" y="2895600"/>
          <a:ext cx="7905750" cy="1438276"/>
        </p:xfrm>
        <a:graphic>
          <a:graphicData uri="http://schemas.openxmlformats.org/drawingml/2006/table">
            <a:tbl>
              <a:tblPr/>
              <a:tblGrid>
                <a:gridCol w="1619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8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9569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Objective</a:t>
                      </a:r>
                    </a:p>
                  </a:txBody>
                  <a:tcPr marL="66675" marR="66675" marT="19050" marB="1905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Compared quantities</a:t>
                      </a:r>
                    </a:p>
                  </a:txBody>
                  <a:tcPr marL="66675" marR="66675" marT="19050" marB="1905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Purpose</a:t>
                      </a:r>
                    </a:p>
                  </a:txBody>
                  <a:tcPr marL="66675" marR="66675" marT="19050" marB="1905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569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L_action</a:t>
                      </a:r>
                    </a:p>
                  </a:txBody>
                  <a:tcPr marL="66675" marR="66675" marT="19050" marB="1905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First 10 motor actions</a:t>
                      </a:r>
                    </a:p>
                  </a:txBody>
                  <a:tcPr marL="66675" marR="66675" marT="19050" marB="1905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Match near-term control</a:t>
                      </a:r>
                    </a:p>
                  </a:txBody>
                  <a:tcPr marL="66675" marR="66675" marT="19050" marB="1905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569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L_future</a:t>
                      </a:r>
                    </a:p>
                  </a:txBody>
                  <a:tcPr marL="66675" marR="66675" marT="19050" marB="1905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Clean predicted future latent</a:t>
                      </a:r>
                    </a:p>
                  </a:txBody>
                  <a:tcPr marL="66675" marR="66675" marT="19050" marB="1905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Preserve imagined future</a:t>
                      </a:r>
                    </a:p>
                  </a:txBody>
                  <a:tcPr marL="66675" marR="66675" marT="19050" marB="1905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569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L_reader-KL</a:t>
                      </a:r>
                    </a:p>
                  </a:txBody>
                  <a:tcPr marL="66675" marR="66675" marT="19050" marB="1905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Soft-bin motor readout of zT / zQ</a:t>
                      </a:r>
                    </a:p>
                  </a:txBody>
                  <a:tcPr marL="66675" marR="66675" marT="19050" marB="1905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Preserve control-relevant future</a:t>
                      </a:r>
                    </a:p>
                  </a:txBody>
                  <a:tcPr marL="66675" marR="66675" marT="19050" marB="1905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0" name="Reader parameters are frozen; its input gradient updates the student c">
            <a:extLst>
              <a:ext uri="{FF2B5EF4-FFF2-40B4-BE49-F238E27FC236}">
                <a16:creationId xmlns:a16="http://schemas.microsoft.com/office/drawing/2014/main" id="{EF7FD4C8-AC25-4583-910D-DFB3DB5AAD58}"/>
              </a:ext>
            </a:extLst>
          </p:cNvPr>
          <p:cNvSpPr>
            <a:spLocks noGrp="1"/>
          </p:cNvSpPr>
          <p:nvPr/>
        </p:nvSpPr>
        <p:spPr>
          <a:xfrm>
            <a:off x="609600" y="4476750"/>
            <a:ext cx="7905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773"/>
                </a:solidFill>
                <a:latin typeface="Arial"/>
                <a:ea typeface="Arial"/>
                <a:cs typeface="Arial"/>
              </a:rPr>
              <a:t>Reader parameters are frozen; its input gradient updates the student codebooks and row gains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33400"/>
          </a:xfrm>
          <a:prstGeom prst="rect">
            <a:avLst/>
          </a:prstGeom>
        </p:spPr>
        <p:txBody>
          <a:bodyPr vert="horz" lIns="0" tIns="0" rIns="0" bIns="0" anchor="ctr">
            <a:noAutofit/>
          </a:bodyPr>
          <a:lstStyle>
            <a:def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Fast-WAM: paired LIBERO-Plus results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4C7D1040-B63A-4224-B027-BC81D9542A8B}"/>
              </a:ext>
            </a:extLst>
          </p:cNvPr>
          <p:cNvGraphicFramePr/>
          <p:nvPr/>
        </p:nvGraphicFramePr>
        <p:xfrm>
          <a:off x="609600" y="1047750"/>
          <a:ext cx="7905750" cy="2400300"/>
        </p:xfrm>
        <a:graphic>
          <a:graphicData uri="http://schemas.openxmlformats.org/drawingml/2006/table">
            <a:tbl>
              <a:tblPr/>
              <a:tblGrid>
                <a:gridCol w="4857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006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Configuration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Success</a:t>
                      </a:r>
                    </a:p>
                  </a:txBody>
                  <a:tcPr marL="95250" marR="95250" marT="76200" marB="7620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Rate</a:t>
                      </a:r>
                    </a:p>
                  </a:txBody>
                  <a:tcPr marL="95250" marR="95250" marT="76200" marB="7620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BF16 reference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216 / 280</a:t>
                      </a:r>
                    </a:p>
                  </a:txBody>
                  <a:tcPr marL="95250" marR="95250" marT="76200" marB="7620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77.14%</a:t>
                      </a:r>
                    </a:p>
                  </a:txBody>
                  <a:tcPr marL="95250" marR="95250" marT="76200" marB="7620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W16A4 with frozen R0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203 / 280</a:t>
                      </a:r>
                    </a:p>
                  </a:txBody>
                  <a:tcPr marL="95250" marR="95250" marT="76200" marB="7620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72.50%</a:t>
                      </a:r>
                    </a:p>
                  </a:txBody>
                  <a:tcPr marL="95250" marR="95250" marT="76200" marB="7620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Q0 with A + Z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204 / 280</a:t>
                      </a:r>
                    </a:p>
                  </a:txBody>
                  <a:tcPr marL="95250" marR="95250" marT="76200" marB="7620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72.86%</a:t>
                      </a:r>
                    </a:p>
                  </a:txBody>
                  <a:tcPr marL="95250" marR="95250" marT="76200" marB="7620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4275E"/>
                          </a:solidFill>
                          <a:latin typeface="Arial"/>
                          <a:ea typeface="Arial"/>
                          <a:cs typeface="Arial"/>
                        </a:rPr>
                        <a:t>Q0 with A + Z + reader-KL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4275E"/>
                          </a:solidFill>
                          <a:latin typeface="Arial"/>
                          <a:ea typeface="Arial"/>
                          <a:cs typeface="Arial"/>
                        </a:rPr>
                        <a:t>208 / 280</a:t>
                      </a:r>
                    </a:p>
                  </a:txBody>
                  <a:tcPr marL="95250" marR="95250" marT="76200" marB="7620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4275E"/>
                          </a:solidFill>
                          <a:latin typeface="Arial"/>
                          <a:ea typeface="Arial"/>
                          <a:cs typeface="Arial"/>
                        </a:rPr>
                        <a:t>74.29%</a:t>
                      </a:r>
                    </a:p>
                  </a:txBody>
                  <a:tcPr marL="95250" marR="95250" marT="76200" marB="7620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EAF2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ader-KL: +4 successes over matched A + Z">
            <a:extLst>
              <a:ext uri="{FF2B5EF4-FFF2-40B4-BE49-F238E27FC236}">
                <a16:creationId xmlns:a16="http://schemas.microsoft.com/office/drawing/2014/main" id="{EB8800CD-10BF-4012-A4C5-F0318DFB7872}"/>
              </a:ext>
            </a:extLst>
          </p:cNvPr>
          <p:cNvSpPr>
            <a:spLocks noGrp="1"/>
          </p:cNvSpPr>
          <p:nvPr/>
        </p:nvSpPr>
        <p:spPr>
          <a:xfrm>
            <a:off x="609600" y="3686175"/>
            <a:ext cx="7905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75E"/>
                </a:solidFill>
                <a:latin typeface="Arial"/>
                <a:ea typeface="Arial"/>
                <a:cs typeface="Arial"/>
              </a:rPr>
              <a:t>Reader-KL: +4 successes over matched A + Z</a:t>
            </a:r>
          </a:p>
        </p:txBody>
      </p:sp>
      <p:sp>
        <p:nvSpPr>
          <p:cNvPr id="6" name="14 wins / 10 losses / 256 ties; strongest net gain: camera viewpoints ">
            <a:extLst>
              <a:ext uri="{FF2B5EF4-FFF2-40B4-BE49-F238E27FC236}">
                <a16:creationId xmlns:a16="http://schemas.microsoft.com/office/drawing/2014/main" id="{02A01701-3EF6-483C-A0B0-A29574D2C067}"/>
              </a:ext>
            </a:extLst>
          </p:cNvPr>
          <p:cNvSpPr>
            <a:spLocks noGrp="1"/>
          </p:cNvSpPr>
          <p:nvPr/>
        </p:nvSpPr>
        <p:spPr>
          <a:xfrm>
            <a:off x="609600" y="4105275"/>
            <a:ext cx="7905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7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14 wins / 10 losses / 256 ties; strongest net gain: camera viewpoints (+5/40)</a:t>
            </a:r>
          </a:p>
        </p:txBody>
      </p:sp>
      <p:sp>
        <p:nvSpPr>
          <p:cNvPr id="7" name="Frozen 280-episode perturbation cohort; descriptive paired evidence, o">
            <a:extLst>
              <a:ext uri="{FF2B5EF4-FFF2-40B4-BE49-F238E27FC236}">
                <a16:creationId xmlns:a16="http://schemas.microsoft.com/office/drawing/2014/main" id="{30E762F0-479D-46A8-B28D-209A8B76F83C}"/>
              </a:ext>
            </a:extLst>
          </p:cNvPr>
          <p:cNvSpPr>
            <a:spLocks noGrp="1"/>
          </p:cNvSpPr>
          <p:nvPr/>
        </p:nvSpPr>
        <p:spPr>
          <a:xfrm>
            <a:off x="609600" y="4476750"/>
            <a:ext cx="7905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773"/>
                </a:solidFill>
                <a:latin typeface="Arial"/>
                <a:ea typeface="Arial"/>
                <a:cs typeface="Arial"/>
              </a:rPr>
              <a:t>Frozen 280-episode perturbation cohort; descriptive paired evidence, one evaluation panel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B826A31-E797-4707-B10F-FEF32AA38234}"/>
              </a:ext>
            </a:extLst>
          </p:cNvPr>
          <p:cNvSpPr>
            <a:spLocks noGrp="1"/>
          </p:cNvSpPr>
          <p:nvPr/>
        </p:nvSpPr>
        <p:spPr>
          <a:xfrm>
            <a:off x="6257925" y="85725"/>
            <a:ext cx="2496979" cy="4713684"/>
          </a:xfrm>
          <a:prstGeom prst="rect">
            <a:avLst/>
          </a:prstGeom>
          <a:solidFill>
            <a:srgbClr val="FFFFFF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9D37851-CCA2-411E-9B9D-355D42EC4D8B}"/>
              </a:ext>
            </a:extLst>
          </p:cNvPr>
          <p:cNvSpPr>
            <a:spLocks noGrp="1"/>
          </p:cNvSpPr>
          <p:nvPr/>
        </p:nvSpPr>
        <p:spPr>
          <a:xfrm>
            <a:off x="3295650" y="85725"/>
            <a:ext cx="2904649" cy="4713684"/>
          </a:xfrm>
          <a:prstGeom prst="rect">
            <a:avLst/>
          </a:prstGeom>
          <a:solidFill>
            <a:srgbClr val="FFFFFF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5D048F6-B5F6-4D0B-A602-EABF2B921F28}"/>
              </a:ext>
            </a:extLst>
          </p:cNvPr>
          <p:cNvSpPr>
            <a:spLocks noGrp="1"/>
          </p:cNvSpPr>
          <p:nvPr/>
        </p:nvSpPr>
        <p:spPr>
          <a:xfrm>
            <a:off x="238125" y="85725"/>
            <a:ext cx="3006566" cy="4713684"/>
          </a:xfrm>
          <a:prstGeom prst="rect">
            <a:avLst/>
          </a:prstGeom>
          <a:solidFill>
            <a:srgbClr val="FFFFFF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cxnSp>
        <p:nvCxnSpPr>
          <p:cNvPr id="5" name="连接符: 肘形 4">
            <a:extLst>
              <a:ext uri="{FF2B5EF4-FFF2-40B4-BE49-F238E27FC236}">
                <a16:creationId xmlns:a16="http://schemas.microsoft.com/office/drawing/2014/main" id="{B77C7A0D-D1BF-4071-BD69-AA065B3357A4}"/>
              </a:ext>
            </a:extLst>
          </p:cNvPr>
          <p:cNvCxnSpPr>
            <a:stCxn id="289" idx="2"/>
            <a:endCxn id="292" idx="0"/>
          </p:cNvCxnSpPr>
          <p:nvPr/>
        </p:nvCxnSpPr>
        <p:spPr>
          <a:xfrm>
            <a:off x="7506415" y="1329119"/>
            <a:ext cx="272629" cy="402574"/>
          </a:xfrm>
          <a:prstGeom prst="bentConnector4">
            <a:avLst>
              <a:gd name="adj1" fmla="val 0"/>
              <a:gd name="adj2" fmla="val 50000"/>
            </a:avLst>
          </a:prstGeom>
          <a:ln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B9FC0D4B-0ABA-49E0-89B1-961799709125}"/>
              </a:ext>
            </a:extLst>
          </p:cNvPr>
          <p:cNvCxnSpPr>
            <a:stCxn id="195" idx="3"/>
            <a:endCxn id="212" idx="1"/>
          </p:cNvCxnSpPr>
          <p:nvPr/>
        </p:nvCxnSpPr>
        <p:spPr>
          <a:xfrm>
            <a:off x="5497068" y="4391740"/>
            <a:ext cx="295561" cy="2548"/>
          </a:xfrm>
          <a:prstGeom prst="straightConnector1">
            <a:avLst/>
          </a:prstGeom>
          <a:ln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7" name="连接符: 肘形 6">
            <a:extLst>
              <a:ext uri="{FF2B5EF4-FFF2-40B4-BE49-F238E27FC236}">
                <a16:creationId xmlns:a16="http://schemas.microsoft.com/office/drawing/2014/main" id="{2A2B024D-45B4-434B-A9C2-11DE9921FAEB}"/>
              </a:ext>
            </a:extLst>
          </p:cNvPr>
          <p:cNvCxnSpPr>
            <a:stCxn id="194" idx="3"/>
            <a:endCxn id="195" idx="1"/>
          </p:cNvCxnSpPr>
          <p:nvPr/>
        </p:nvCxnSpPr>
        <p:spPr>
          <a:xfrm flipV="1">
            <a:off x="4299537" y="4391740"/>
            <a:ext cx="356712" cy="122302"/>
          </a:xfrm>
          <a:prstGeom prst="bentConnector3">
            <a:avLst>
              <a:gd name="adj1" fmla="val 50000"/>
            </a:avLst>
          </a:prstGeom>
          <a:ln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8" name="连接符: 肘形 7">
            <a:extLst>
              <a:ext uri="{FF2B5EF4-FFF2-40B4-BE49-F238E27FC236}">
                <a16:creationId xmlns:a16="http://schemas.microsoft.com/office/drawing/2014/main" id="{D40B2B7C-B36D-47C2-ABA0-AF0B57DA95A2}"/>
              </a:ext>
            </a:extLst>
          </p:cNvPr>
          <p:cNvCxnSpPr>
            <a:stCxn id="193" idx="3"/>
            <a:endCxn id="195" idx="1"/>
          </p:cNvCxnSpPr>
          <p:nvPr/>
        </p:nvCxnSpPr>
        <p:spPr>
          <a:xfrm>
            <a:off x="4299537" y="4243959"/>
            <a:ext cx="356712" cy="147780"/>
          </a:xfrm>
          <a:prstGeom prst="bentConnector3">
            <a:avLst>
              <a:gd name="adj1" fmla="val 50000"/>
            </a:avLst>
          </a:prstGeom>
          <a:ln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509E6065-D5D0-4472-A5B3-A4BA528C424E}"/>
              </a:ext>
            </a:extLst>
          </p:cNvPr>
          <p:cNvCxnSpPr>
            <a:stCxn id="175" idx="3"/>
            <a:endCxn id="189" idx="1"/>
          </p:cNvCxnSpPr>
          <p:nvPr/>
        </p:nvCxnSpPr>
        <p:spPr>
          <a:xfrm>
            <a:off x="5858876" y="3303771"/>
            <a:ext cx="66245" cy="12739"/>
          </a:xfrm>
          <a:prstGeom prst="straightConnector1">
            <a:avLst/>
          </a:prstGeom>
          <a:ln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1ECFFA02-B874-4242-8B8E-A5E63598104D}"/>
              </a:ext>
            </a:extLst>
          </p:cNvPr>
          <p:cNvCxnSpPr>
            <a:stCxn id="174" idx="3"/>
            <a:endCxn id="175" idx="1"/>
          </p:cNvCxnSpPr>
          <p:nvPr/>
        </p:nvCxnSpPr>
        <p:spPr>
          <a:xfrm>
            <a:off x="5272850" y="3303771"/>
            <a:ext cx="76438" cy="0"/>
          </a:xfrm>
          <a:prstGeom prst="straightConnector1">
            <a:avLst/>
          </a:prstGeom>
          <a:ln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BF5F2C8E-6D57-4818-B6FA-9817AAAFF4A1}"/>
              </a:ext>
            </a:extLst>
          </p:cNvPr>
          <p:cNvCxnSpPr>
            <a:stCxn id="173" idx="3"/>
            <a:endCxn id="174" idx="1"/>
          </p:cNvCxnSpPr>
          <p:nvPr/>
        </p:nvCxnSpPr>
        <p:spPr>
          <a:xfrm>
            <a:off x="4773454" y="3303771"/>
            <a:ext cx="81534" cy="0"/>
          </a:xfrm>
          <a:prstGeom prst="straightConnector1">
            <a:avLst/>
          </a:prstGeom>
          <a:ln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E45321EF-71E3-4486-9524-3D4C6F9A8A7C}"/>
              </a:ext>
            </a:extLst>
          </p:cNvPr>
          <p:cNvCxnSpPr>
            <a:stCxn id="172" idx="3"/>
            <a:endCxn id="173" idx="1"/>
          </p:cNvCxnSpPr>
          <p:nvPr/>
        </p:nvCxnSpPr>
        <p:spPr>
          <a:xfrm>
            <a:off x="4396359" y="3303771"/>
            <a:ext cx="76438" cy="0"/>
          </a:xfrm>
          <a:prstGeom prst="straightConnector1">
            <a:avLst/>
          </a:prstGeom>
          <a:ln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5906AC64-D804-449D-98A7-5990B14AE390}"/>
              </a:ext>
            </a:extLst>
          </p:cNvPr>
          <p:cNvCxnSpPr>
            <a:stCxn id="171" idx="3"/>
            <a:endCxn id="172" idx="1"/>
          </p:cNvCxnSpPr>
          <p:nvPr/>
        </p:nvCxnSpPr>
        <p:spPr>
          <a:xfrm>
            <a:off x="4014168" y="3303771"/>
            <a:ext cx="81534" cy="0"/>
          </a:xfrm>
          <a:prstGeom prst="straightConnector1">
            <a:avLst/>
          </a:prstGeom>
          <a:ln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0B52E825-0F38-4A70-A1F6-B60BF5718F18}"/>
              </a:ext>
            </a:extLst>
          </p:cNvPr>
          <p:cNvCxnSpPr>
            <a:stCxn id="170" idx="3"/>
            <a:endCxn id="171" idx="1"/>
          </p:cNvCxnSpPr>
          <p:nvPr/>
        </p:nvCxnSpPr>
        <p:spPr>
          <a:xfrm flipV="1">
            <a:off x="3677841" y="3303771"/>
            <a:ext cx="91725" cy="28027"/>
          </a:xfrm>
          <a:prstGeom prst="straightConnector1">
            <a:avLst/>
          </a:prstGeom>
          <a:ln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E71FB7A2-1947-482A-8E5F-6CFE8F5D2FFC}"/>
              </a:ext>
            </a:extLst>
          </p:cNvPr>
          <p:cNvCxnSpPr>
            <a:stCxn id="143" idx="2"/>
            <a:endCxn id="149" idx="0"/>
          </p:cNvCxnSpPr>
          <p:nvPr/>
        </p:nvCxnSpPr>
        <p:spPr>
          <a:xfrm>
            <a:off x="5820656" y="1308735"/>
            <a:ext cx="2548" cy="448437"/>
          </a:xfrm>
          <a:prstGeom prst="straightConnector1">
            <a:avLst/>
          </a:prstGeom>
          <a:ln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01F1FFDB-F880-40FA-A0F4-AC337492B9D5}"/>
              </a:ext>
            </a:extLst>
          </p:cNvPr>
          <p:cNvCxnSpPr>
            <a:stCxn id="144" idx="6"/>
            <a:endCxn id="149" idx="1"/>
          </p:cNvCxnSpPr>
          <p:nvPr/>
        </p:nvCxnSpPr>
        <p:spPr>
          <a:xfrm flipV="1">
            <a:off x="5476684" y="1833610"/>
            <a:ext cx="107014" cy="12739"/>
          </a:xfrm>
          <a:prstGeom prst="straightConnector1">
            <a:avLst/>
          </a:prstGeom>
          <a:ln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3A331767-E875-4DBD-BA2A-188F9B53ADA5}"/>
              </a:ext>
            </a:extLst>
          </p:cNvPr>
          <p:cNvCxnSpPr>
            <a:stCxn id="142" idx="2"/>
            <a:endCxn id="144" idx="0"/>
          </p:cNvCxnSpPr>
          <p:nvPr/>
        </p:nvCxnSpPr>
        <p:spPr>
          <a:xfrm>
            <a:off x="5252466" y="1308735"/>
            <a:ext cx="129945" cy="443341"/>
          </a:xfrm>
          <a:prstGeom prst="straightConnector1">
            <a:avLst/>
          </a:prstGeom>
          <a:ln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33D2D044-A5AC-4C1B-8804-4C6AD0A8E436}"/>
              </a:ext>
            </a:extLst>
          </p:cNvPr>
          <p:cNvCxnSpPr>
            <a:stCxn id="141" idx="6"/>
            <a:endCxn id="144" idx="2"/>
          </p:cNvCxnSpPr>
          <p:nvPr/>
        </p:nvCxnSpPr>
        <p:spPr>
          <a:xfrm>
            <a:off x="4253674" y="1838706"/>
            <a:ext cx="1034463" cy="7644"/>
          </a:xfrm>
          <a:prstGeom prst="straightConnector1">
            <a:avLst/>
          </a:prstGeom>
          <a:ln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19" name="连接符: 肘形 18">
            <a:extLst>
              <a:ext uri="{FF2B5EF4-FFF2-40B4-BE49-F238E27FC236}">
                <a16:creationId xmlns:a16="http://schemas.microsoft.com/office/drawing/2014/main" id="{5ECC213F-63A6-4602-96EF-408B13FB08B3}"/>
              </a:ext>
            </a:extLst>
          </p:cNvPr>
          <p:cNvCxnSpPr>
            <a:stCxn id="140" idx="2"/>
            <a:endCxn id="141" idx="6"/>
          </p:cNvCxnSpPr>
          <p:nvPr/>
        </p:nvCxnSpPr>
        <p:spPr>
          <a:xfrm flipH="1">
            <a:off x="4253674" y="1660350"/>
            <a:ext cx="326137" cy="178356"/>
          </a:xfrm>
          <a:prstGeom prst="bentConnector3">
            <a:avLst>
              <a:gd name="adj1" fmla="val 0"/>
            </a:avLst>
          </a:prstGeom>
          <a:ln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20" name="连接符: 肘形 19">
            <a:extLst>
              <a:ext uri="{FF2B5EF4-FFF2-40B4-BE49-F238E27FC236}">
                <a16:creationId xmlns:a16="http://schemas.microsoft.com/office/drawing/2014/main" id="{461D2C46-73CA-46F8-80FB-98D4C91A0D96}"/>
              </a:ext>
            </a:extLst>
          </p:cNvPr>
          <p:cNvCxnSpPr>
            <a:stCxn id="134" idx="2"/>
            <a:endCxn id="141" idx="2"/>
          </p:cNvCxnSpPr>
          <p:nvPr/>
        </p:nvCxnSpPr>
        <p:spPr>
          <a:xfrm>
            <a:off x="3744088" y="1660350"/>
            <a:ext cx="315943" cy="178356"/>
          </a:xfrm>
          <a:prstGeom prst="bentConnector3">
            <a:avLst>
              <a:gd name="adj1" fmla="val 0"/>
            </a:avLst>
          </a:prstGeom>
          <a:ln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21" name="连接符: 肘形 20">
            <a:extLst>
              <a:ext uri="{FF2B5EF4-FFF2-40B4-BE49-F238E27FC236}">
                <a16:creationId xmlns:a16="http://schemas.microsoft.com/office/drawing/2014/main" id="{629AEC39-B249-45B9-BB45-BC3AE241D4E5}"/>
              </a:ext>
            </a:extLst>
          </p:cNvPr>
          <p:cNvCxnSpPr>
            <a:stCxn id="128" idx="3"/>
            <a:endCxn id="140" idx="0"/>
          </p:cNvCxnSpPr>
          <p:nvPr/>
        </p:nvCxnSpPr>
        <p:spPr>
          <a:xfrm>
            <a:off x="4432031" y="1160955"/>
            <a:ext cx="147779" cy="346519"/>
          </a:xfrm>
          <a:prstGeom prst="bentConnector2">
            <a:avLst/>
          </a:prstGeom>
          <a:ln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EB9BCEEC-443A-4FBF-BF19-611CE6475D3D}"/>
              </a:ext>
            </a:extLst>
          </p:cNvPr>
          <p:cNvCxnSpPr>
            <a:stCxn id="127" idx="2"/>
            <a:endCxn id="134" idx="0"/>
          </p:cNvCxnSpPr>
          <p:nvPr/>
        </p:nvCxnSpPr>
        <p:spPr>
          <a:xfrm flipH="1">
            <a:off x="3744088" y="1013174"/>
            <a:ext cx="191096" cy="494300"/>
          </a:xfrm>
          <a:prstGeom prst="straightConnector1">
            <a:avLst/>
          </a:prstGeom>
          <a:ln w="9525">
            <a:solidFill>
              <a:srgbClr val="18222F"/>
            </a:solidFill>
            <a:prstDash val="solid"/>
            <a:tailEnd type="triangle" w="sm" len="sm"/>
          </a:ln>
        </p:spPr>
      </p:cxnSp>
      <p:sp>
        <p:nvSpPr>
          <p:cNvPr id="23" name="(a) Compressed resident state">
            <a:extLst>
              <a:ext uri="{FF2B5EF4-FFF2-40B4-BE49-F238E27FC236}">
                <a16:creationId xmlns:a16="http://schemas.microsoft.com/office/drawing/2014/main" id="{837CEA66-9CCB-4058-B4B2-33719B123A41}"/>
              </a:ext>
            </a:extLst>
          </p:cNvPr>
          <p:cNvSpPr>
            <a:spLocks noGrp="1"/>
          </p:cNvSpPr>
          <p:nvPr/>
        </p:nvSpPr>
        <p:spPr>
          <a:xfrm>
            <a:off x="289084" y="111204"/>
            <a:ext cx="2904649" cy="17835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08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(a) Compressed resident state</a:t>
            </a:r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4BECFDAA-7E73-4C67-B57B-730C28FB07B5}"/>
              </a:ext>
            </a:extLst>
          </p:cNvPr>
          <p:cNvCxnSpPr/>
          <p:nvPr/>
        </p:nvCxnSpPr>
        <p:spPr>
          <a:xfrm>
            <a:off x="278892" y="315039"/>
            <a:ext cx="2925032" cy="0"/>
          </a:xfrm>
          <a:prstGeom prst="straightConnector1">
            <a:avLst/>
          </a:prstGeom>
          <a:ln w="4077">
            <a:solidFill>
              <a:srgbClr val="697681"/>
            </a:solidFill>
            <a:prstDash val="solid"/>
          </a:ln>
        </p:spPr>
      </p:cxnSp>
      <p:sp>
        <p:nvSpPr>
          <p:cNvPr id="25" name="Packed weights (resident in GPU memory)">
            <a:extLst>
              <a:ext uri="{FF2B5EF4-FFF2-40B4-BE49-F238E27FC236}">
                <a16:creationId xmlns:a16="http://schemas.microsoft.com/office/drawing/2014/main" id="{1854A842-A090-4258-A63A-F8356214B43B}"/>
              </a:ext>
            </a:extLst>
          </p:cNvPr>
          <p:cNvSpPr>
            <a:spLocks noGrp="1"/>
          </p:cNvSpPr>
          <p:nvPr/>
        </p:nvSpPr>
        <p:spPr>
          <a:xfrm>
            <a:off x="329851" y="365998"/>
            <a:ext cx="2802731" cy="15287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92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Packed weights (resident in GPU memory)</a:t>
            </a:r>
          </a:p>
        </p:txBody>
      </p:sp>
      <p:sp>
        <p:nvSpPr>
          <p:cNvPr id="26" name="i1, i2: uint8">
            <a:extLst>
              <a:ext uri="{FF2B5EF4-FFF2-40B4-BE49-F238E27FC236}">
                <a16:creationId xmlns:a16="http://schemas.microsoft.com/office/drawing/2014/main" id="{47975C20-9A27-460A-AAEE-C4C54AA18331}"/>
              </a:ext>
            </a:extLst>
          </p:cNvPr>
          <p:cNvSpPr>
            <a:spLocks noGrp="1"/>
          </p:cNvSpPr>
          <p:nvPr/>
        </p:nvSpPr>
        <p:spPr>
          <a:xfrm>
            <a:off x="360426" y="564737"/>
            <a:ext cx="2598896" cy="1426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8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8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8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8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8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8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8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8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8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8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8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8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i1, i2: uint8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8B98DC9-5513-40EC-BB95-646644051C4F}"/>
              </a:ext>
            </a:extLst>
          </p:cNvPr>
          <p:cNvSpPr>
            <a:spLocks noGrp="1"/>
          </p:cNvSpPr>
          <p:nvPr/>
        </p:nvSpPr>
        <p:spPr>
          <a:xfrm>
            <a:off x="554069" y="778764"/>
            <a:ext cx="219123" cy="178356"/>
          </a:xfrm>
          <a:prstGeom prst="rect">
            <a:avLst/>
          </a:prstGeom>
          <a:solidFill>
            <a:srgbClr val="DAEFE6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4F5B350-63DB-4EA6-AE58-067915134B57}"/>
              </a:ext>
            </a:extLst>
          </p:cNvPr>
          <p:cNvSpPr>
            <a:spLocks noGrp="1"/>
          </p:cNvSpPr>
          <p:nvPr/>
        </p:nvSpPr>
        <p:spPr>
          <a:xfrm>
            <a:off x="773192" y="778764"/>
            <a:ext cx="219123" cy="178356"/>
          </a:xfrm>
          <a:prstGeom prst="rect">
            <a:avLst/>
          </a:prstGeom>
          <a:solidFill>
            <a:srgbClr val="DAEFE6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5D2F2DB-5095-4744-B242-C534FAF7ADC0}"/>
              </a:ext>
            </a:extLst>
          </p:cNvPr>
          <p:cNvSpPr>
            <a:spLocks noGrp="1"/>
          </p:cNvSpPr>
          <p:nvPr/>
        </p:nvSpPr>
        <p:spPr>
          <a:xfrm>
            <a:off x="992315" y="778764"/>
            <a:ext cx="219123" cy="178356"/>
          </a:xfrm>
          <a:prstGeom prst="rect">
            <a:avLst/>
          </a:prstGeom>
          <a:solidFill>
            <a:srgbClr val="DAEFE6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226CEEA-6B0F-463F-89B7-4F8A1B813533}"/>
              </a:ext>
            </a:extLst>
          </p:cNvPr>
          <p:cNvSpPr>
            <a:spLocks noGrp="1"/>
          </p:cNvSpPr>
          <p:nvPr/>
        </p:nvSpPr>
        <p:spPr>
          <a:xfrm>
            <a:off x="1211437" y="778764"/>
            <a:ext cx="219123" cy="178356"/>
          </a:xfrm>
          <a:prstGeom prst="rect">
            <a:avLst/>
          </a:prstGeom>
          <a:solidFill>
            <a:srgbClr val="DAEFE6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D6DA26B8-80B1-4F3B-9659-1B0283A764F8}"/>
              </a:ext>
            </a:extLst>
          </p:cNvPr>
          <p:cNvSpPr>
            <a:spLocks noGrp="1"/>
          </p:cNvSpPr>
          <p:nvPr/>
        </p:nvSpPr>
        <p:spPr>
          <a:xfrm>
            <a:off x="1430560" y="778764"/>
            <a:ext cx="219123" cy="178356"/>
          </a:xfrm>
          <a:prstGeom prst="rect">
            <a:avLst/>
          </a:prstGeom>
          <a:solidFill>
            <a:srgbClr val="DAEFE6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B873A332-15A3-4F64-A9A0-4BBC3901C020}"/>
              </a:ext>
            </a:extLst>
          </p:cNvPr>
          <p:cNvSpPr>
            <a:spLocks noGrp="1"/>
          </p:cNvSpPr>
          <p:nvPr/>
        </p:nvSpPr>
        <p:spPr>
          <a:xfrm>
            <a:off x="1649682" y="778764"/>
            <a:ext cx="219123" cy="178356"/>
          </a:xfrm>
          <a:prstGeom prst="rect">
            <a:avLst/>
          </a:prstGeom>
          <a:solidFill>
            <a:srgbClr val="DAEFE6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B6A49EE2-5434-4A82-AD89-3C39585B07C8}"/>
              </a:ext>
            </a:extLst>
          </p:cNvPr>
          <p:cNvSpPr>
            <a:spLocks noGrp="1"/>
          </p:cNvSpPr>
          <p:nvPr/>
        </p:nvSpPr>
        <p:spPr>
          <a:xfrm>
            <a:off x="1868805" y="778764"/>
            <a:ext cx="219123" cy="178356"/>
          </a:xfrm>
          <a:prstGeom prst="rect">
            <a:avLst/>
          </a:prstGeom>
          <a:solidFill>
            <a:srgbClr val="DAEFE6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0C65E38D-F896-4594-AA90-F1008B30E27F}"/>
              </a:ext>
            </a:extLst>
          </p:cNvPr>
          <p:cNvSpPr>
            <a:spLocks noGrp="1"/>
          </p:cNvSpPr>
          <p:nvPr/>
        </p:nvSpPr>
        <p:spPr>
          <a:xfrm>
            <a:off x="2087928" y="778764"/>
            <a:ext cx="219123" cy="178356"/>
          </a:xfrm>
          <a:prstGeom prst="rect">
            <a:avLst/>
          </a:prstGeom>
          <a:solidFill>
            <a:srgbClr val="DAEFE6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9E4B98A4-A22D-4FC3-A7B5-C6F42C7A2D55}"/>
              </a:ext>
            </a:extLst>
          </p:cNvPr>
          <p:cNvSpPr>
            <a:spLocks noGrp="1"/>
          </p:cNvSpPr>
          <p:nvPr/>
        </p:nvSpPr>
        <p:spPr>
          <a:xfrm>
            <a:off x="2307050" y="778764"/>
            <a:ext cx="219123" cy="178356"/>
          </a:xfrm>
          <a:prstGeom prst="rect">
            <a:avLst/>
          </a:prstGeom>
          <a:solidFill>
            <a:srgbClr val="DAEFE6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99D8F137-7B45-424C-A5AD-DD1DAB70C44B}"/>
              </a:ext>
            </a:extLst>
          </p:cNvPr>
          <p:cNvSpPr>
            <a:spLocks noGrp="1"/>
          </p:cNvSpPr>
          <p:nvPr/>
        </p:nvSpPr>
        <p:spPr>
          <a:xfrm>
            <a:off x="2526173" y="778764"/>
            <a:ext cx="219123" cy="178356"/>
          </a:xfrm>
          <a:prstGeom prst="rect">
            <a:avLst/>
          </a:prstGeom>
          <a:solidFill>
            <a:srgbClr val="DAEFE6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FDF0E541-348C-49A5-AC8C-89FD2995EF67}"/>
              </a:ext>
            </a:extLst>
          </p:cNvPr>
          <p:cNvSpPr>
            <a:spLocks noGrp="1"/>
          </p:cNvSpPr>
          <p:nvPr/>
        </p:nvSpPr>
        <p:spPr>
          <a:xfrm>
            <a:off x="554069" y="778764"/>
            <a:ext cx="2191226" cy="178356"/>
          </a:xfrm>
          <a:prstGeom prst="rect">
            <a:avLst/>
          </a:prstGeom>
          <a:noFill/>
          <a:ln w="7620">
            <a:noFill/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38" name="i1">
            <a:extLst>
              <a:ext uri="{FF2B5EF4-FFF2-40B4-BE49-F238E27FC236}">
                <a16:creationId xmlns:a16="http://schemas.microsoft.com/office/drawing/2014/main" id="{A656EF53-4A01-4398-BF0C-9590B5C3FC24}"/>
              </a:ext>
            </a:extLst>
          </p:cNvPr>
          <p:cNvSpPr>
            <a:spLocks noGrp="1"/>
          </p:cNvSpPr>
          <p:nvPr/>
        </p:nvSpPr>
        <p:spPr>
          <a:xfrm>
            <a:off x="334947" y="783860"/>
            <a:ext cx="203835" cy="1426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8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i1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416388AB-70E2-4FD0-9BBA-ADE5EC14755B}"/>
              </a:ext>
            </a:extLst>
          </p:cNvPr>
          <p:cNvSpPr>
            <a:spLocks noGrp="1"/>
          </p:cNvSpPr>
          <p:nvPr/>
        </p:nvSpPr>
        <p:spPr>
          <a:xfrm>
            <a:off x="554069" y="1013174"/>
            <a:ext cx="219123" cy="178356"/>
          </a:xfrm>
          <a:prstGeom prst="rect">
            <a:avLst/>
          </a:prstGeom>
          <a:solidFill>
            <a:srgbClr val="DAEFE6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228BD06B-7F97-4AE0-A4ED-7EB7429517FA}"/>
              </a:ext>
            </a:extLst>
          </p:cNvPr>
          <p:cNvSpPr>
            <a:spLocks noGrp="1"/>
          </p:cNvSpPr>
          <p:nvPr/>
        </p:nvSpPr>
        <p:spPr>
          <a:xfrm>
            <a:off x="773192" y="1013174"/>
            <a:ext cx="219123" cy="178356"/>
          </a:xfrm>
          <a:prstGeom prst="rect">
            <a:avLst/>
          </a:prstGeom>
          <a:solidFill>
            <a:srgbClr val="DAEFE6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F8BF58EE-2B6A-43A5-991F-8FE3B3C782C1}"/>
              </a:ext>
            </a:extLst>
          </p:cNvPr>
          <p:cNvSpPr>
            <a:spLocks noGrp="1"/>
          </p:cNvSpPr>
          <p:nvPr/>
        </p:nvSpPr>
        <p:spPr>
          <a:xfrm>
            <a:off x="992315" y="1013174"/>
            <a:ext cx="219123" cy="178356"/>
          </a:xfrm>
          <a:prstGeom prst="rect">
            <a:avLst/>
          </a:prstGeom>
          <a:solidFill>
            <a:srgbClr val="DAEFE6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58DADF27-8BBB-401B-801D-84090BAEAE89}"/>
              </a:ext>
            </a:extLst>
          </p:cNvPr>
          <p:cNvSpPr>
            <a:spLocks noGrp="1"/>
          </p:cNvSpPr>
          <p:nvPr/>
        </p:nvSpPr>
        <p:spPr>
          <a:xfrm>
            <a:off x="1211437" y="1013174"/>
            <a:ext cx="219123" cy="178356"/>
          </a:xfrm>
          <a:prstGeom prst="rect">
            <a:avLst/>
          </a:prstGeom>
          <a:solidFill>
            <a:srgbClr val="DAEFE6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ABD6B793-EF8B-4D8D-BB7A-BB1379B6CA90}"/>
              </a:ext>
            </a:extLst>
          </p:cNvPr>
          <p:cNvSpPr>
            <a:spLocks noGrp="1"/>
          </p:cNvSpPr>
          <p:nvPr/>
        </p:nvSpPr>
        <p:spPr>
          <a:xfrm>
            <a:off x="1430560" y="1013174"/>
            <a:ext cx="219123" cy="178356"/>
          </a:xfrm>
          <a:prstGeom prst="rect">
            <a:avLst/>
          </a:prstGeom>
          <a:solidFill>
            <a:srgbClr val="DAEFE6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03585466-25CB-4F3D-832A-39062A6ED707}"/>
              </a:ext>
            </a:extLst>
          </p:cNvPr>
          <p:cNvSpPr>
            <a:spLocks noGrp="1"/>
          </p:cNvSpPr>
          <p:nvPr/>
        </p:nvSpPr>
        <p:spPr>
          <a:xfrm>
            <a:off x="1649682" y="1013174"/>
            <a:ext cx="219123" cy="178356"/>
          </a:xfrm>
          <a:prstGeom prst="rect">
            <a:avLst/>
          </a:prstGeom>
          <a:solidFill>
            <a:srgbClr val="DAEFE6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3BDE5C2A-2C20-4017-8E83-94BED720D94A}"/>
              </a:ext>
            </a:extLst>
          </p:cNvPr>
          <p:cNvSpPr>
            <a:spLocks noGrp="1"/>
          </p:cNvSpPr>
          <p:nvPr/>
        </p:nvSpPr>
        <p:spPr>
          <a:xfrm>
            <a:off x="1868805" y="1013174"/>
            <a:ext cx="219123" cy="178356"/>
          </a:xfrm>
          <a:prstGeom prst="rect">
            <a:avLst/>
          </a:prstGeom>
          <a:solidFill>
            <a:srgbClr val="DAEFE6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F2E61F66-C46F-486C-8A36-B49110CFD1EA}"/>
              </a:ext>
            </a:extLst>
          </p:cNvPr>
          <p:cNvSpPr>
            <a:spLocks noGrp="1"/>
          </p:cNvSpPr>
          <p:nvPr/>
        </p:nvSpPr>
        <p:spPr>
          <a:xfrm>
            <a:off x="2087928" y="1013174"/>
            <a:ext cx="219123" cy="178356"/>
          </a:xfrm>
          <a:prstGeom prst="rect">
            <a:avLst/>
          </a:prstGeom>
          <a:solidFill>
            <a:srgbClr val="DAEFE6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0D0CB75F-9E7E-4978-87C9-455C8BF5F744}"/>
              </a:ext>
            </a:extLst>
          </p:cNvPr>
          <p:cNvSpPr>
            <a:spLocks noGrp="1"/>
          </p:cNvSpPr>
          <p:nvPr/>
        </p:nvSpPr>
        <p:spPr>
          <a:xfrm>
            <a:off x="2307050" y="1013174"/>
            <a:ext cx="219123" cy="178356"/>
          </a:xfrm>
          <a:prstGeom prst="rect">
            <a:avLst/>
          </a:prstGeom>
          <a:solidFill>
            <a:srgbClr val="DAEFE6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E24B49DC-CEC1-4FE9-944B-0AF00D84533B}"/>
              </a:ext>
            </a:extLst>
          </p:cNvPr>
          <p:cNvSpPr>
            <a:spLocks noGrp="1"/>
          </p:cNvSpPr>
          <p:nvPr/>
        </p:nvSpPr>
        <p:spPr>
          <a:xfrm>
            <a:off x="2526173" y="1013174"/>
            <a:ext cx="219123" cy="178356"/>
          </a:xfrm>
          <a:prstGeom prst="rect">
            <a:avLst/>
          </a:prstGeom>
          <a:solidFill>
            <a:srgbClr val="DAEFE6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00426F67-24FF-4659-A1DE-AC03142BAE2D}"/>
              </a:ext>
            </a:extLst>
          </p:cNvPr>
          <p:cNvSpPr>
            <a:spLocks noGrp="1"/>
          </p:cNvSpPr>
          <p:nvPr/>
        </p:nvSpPr>
        <p:spPr>
          <a:xfrm>
            <a:off x="554069" y="1013174"/>
            <a:ext cx="2191226" cy="178356"/>
          </a:xfrm>
          <a:prstGeom prst="rect">
            <a:avLst/>
          </a:prstGeom>
          <a:noFill/>
          <a:ln w="7620">
            <a:noFill/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50" name="i2">
            <a:extLst>
              <a:ext uri="{FF2B5EF4-FFF2-40B4-BE49-F238E27FC236}">
                <a16:creationId xmlns:a16="http://schemas.microsoft.com/office/drawing/2014/main" id="{E0496F19-A70F-444B-84FF-329AAB7F7475}"/>
              </a:ext>
            </a:extLst>
          </p:cNvPr>
          <p:cNvSpPr>
            <a:spLocks noGrp="1"/>
          </p:cNvSpPr>
          <p:nvPr/>
        </p:nvSpPr>
        <p:spPr>
          <a:xfrm>
            <a:off x="334947" y="1013174"/>
            <a:ext cx="203835" cy="1426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8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i2</a:t>
            </a:r>
          </a:p>
        </p:txBody>
      </p:sp>
      <p:sp>
        <p:nvSpPr>
          <p:cNvPr id="51" name="d = 4">
            <a:extLst>
              <a:ext uri="{FF2B5EF4-FFF2-40B4-BE49-F238E27FC236}">
                <a16:creationId xmlns:a16="http://schemas.microsoft.com/office/drawing/2014/main" id="{45D7E711-B91D-4DDB-9059-BD1B043CB6CB}"/>
              </a:ext>
            </a:extLst>
          </p:cNvPr>
          <p:cNvSpPr>
            <a:spLocks noGrp="1"/>
          </p:cNvSpPr>
          <p:nvPr/>
        </p:nvSpPr>
        <p:spPr>
          <a:xfrm>
            <a:off x="2786063" y="855202"/>
            <a:ext cx="382191" cy="24460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92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d = 4</a:t>
            </a:r>
          </a:p>
        </p:txBody>
      </p:sp>
      <p:sp>
        <p:nvSpPr>
          <p:cNvPr id="52" name="C1: 256 × 4, BF16">
            <a:extLst>
              <a:ext uri="{FF2B5EF4-FFF2-40B4-BE49-F238E27FC236}">
                <a16:creationId xmlns:a16="http://schemas.microsoft.com/office/drawing/2014/main" id="{4FB5C935-B7B8-4B3A-9225-BC516F475C33}"/>
              </a:ext>
            </a:extLst>
          </p:cNvPr>
          <p:cNvSpPr>
            <a:spLocks noGrp="1"/>
          </p:cNvSpPr>
          <p:nvPr/>
        </p:nvSpPr>
        <p:spPr>
          <a:xfrm>
            <a:off x="365522" y="1293447"/>
            <a:ext cx="1324928" cy="15287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C1: 256 × 4, BF16</a:t>
            </a:r>
          </a:p>
        </p:txBody>
      </p:sp>
      <p:sp>
        <p:nvSpPr>
          <p:cNvPr id="53" name="C2: 256 × 4, BF16">
            <a:extLst>
              <a:ext uri="{FF2B5EF4-FFF2-40B4-BE49-F238E27FC236}">
                <a16:creationId xmlns:a16="http://schemas.microsoft.com/office/drawing/2014/main" id="{4BBF379E-41CD-47DE-8D92-87A03AD019F7}"/>
              </a:ext>
            </a:extLst>
          </p:cNvPr>
          <p:cNvSpPr>
            <a:spLocks noGrp="1"/>
          </p:cNvSpPr>
          <p:nvPr/>
        </p:nvSpPr>
        <p:spPr>
          <a:xfrm>
            <a:off x="1802559" y="1293447"/>
            <a:ext cx="1324928" cy="15287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C2: 256 × 4, BF16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E92E9042-4BB9-43A0-8D5E-847F864CEC1F}"/>
              </a:ext>
            </a:extLst>
          </p:cNvPr>
          <p:cNvSpPr>
            <a:spLocks noGrp="1"/>
          </p:cNvSpPr>
          <p:nvPr/>
        </p:nvSpPr>
        <p:spPr>
          <a:xfrm>
            <a:off x="431768" y="1512570"/>
            <a:ext cx="312122" cy="137589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2E63D8F3-C813-4C23-8D58-81B3B9DDECE7}"/>
              </a:ext>
            </a:extLst>
          </p:cNvPr>
          <p:cNvSpPr>
            <a:spLocks noGrp="1"/>
          </p:cNvSpPr>
          <p:nvPr/>
        </p:nvSpPr>
        <p:spPr>
          <a:xfrm>
            <a:off x="743891" y="1512570"/>
            <a:ext cx="312122" cy="137589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2C9FA999-7F50-4E8D-87B3-FFA6FAD8F07C}"/>
              </a:ext>
            </a:extLst>
          </p:cNvPr>
          <p:cNvSpPr>
            <a:spLocks noGrp="1"/>
          </p:cNvSpPr>
          <p:nvPr/>
        </p:nvSpPr>
        <p:spPr>
          <a:xfrm>
            <a:off x="1056013" y="1512570"/>
            <a:ext cx="312122" cy="137589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3A8D49DD-22B4-411F-9FD9-3F91AE2636F6}"/>
              </a:ext>
            </a:extLst>
          </p:cNvPr>
          <p:cNvSpPr>
            <a:spLocks noGrp="1"/>
          </p:cNvSpPr>
          <p:nvPr/>
        </p:nvSpPr>
        <p:spPr>
          <a:xfrm>
            <a:off x="1368135" y="1512570"/>
            <a:ext cx="312122" cy="137589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E1084EFC-8C62-497A-89EF-212CA6C4D08C}"/>
              </a:ext>
            </a:extLst>
          </p:cNvPr>
          <p:cNvSpPr>
            <a:spLocks noGrp="1"/>
          </p:cNvSpPr>
          <p:nvPr/>
        </p:nvSpPr>
        <p:spPr>
          <a:xfrm>
            <a:off x="431768" y="1650159"/>
            <a:ext cx="312122" cy="137589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F9EDE630-3728-48D1-9A46-14EAE0A290E0}"/>
              </a:ext>
            </a:extLst>
          </p:cNvPr>
          <p:cNvSpPr>
            <a:spLocks noGrp="1"/>
          </p:cNvSpPr>
          <p:nvPr/>
        </p:nvSpPr>
        <p:spPr>
          <a:xfrm>
            <a:off x="743891" y="1650159"/>
            <a:ext cx="312122" cy="137589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0F796AAA-0631-4C65-80C5-E30F00F14D10}"/>
              </a:ext>
            </a:extLst>
          </p:cNvPr>
          <p:cNvSpPr>
            <a:spLocks noGrp="1"/>
          </p:cNvSpPr>
          <p:nvPr/>
        </p:nvSpPr>
        <p:spPr>
          <a:xfrm>
            <a:off x="1056013" y="1650159"/>
            <a:ext cx="312122" cy="137589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ECDFF212-4B04-466E-AF08-F1259CF8B1A1}"/>
              </a:ext>
            </a:extLst>
          </p:cNvPr>
          <p:cNvSpPr>
            <a:spLocks noGrp="1"/>
          </p:cNvSpPr>
          <p:nvPr/>
        </p:nvSpPr>
        <p:spPr>
          <a:xfrm>
            <a:off x="1368135" y="1650159"/>
            <a:ext cx="312122" cy="137589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C910F9F8-B7AE-410F-B587-7BA3C9FD0E08}"/>
              </a:ext>
            </a:extLst>
          </p:cNvPr>
          <p:cNvSpPr>
            <a:spLocks noGrp="1"/>
          </p:cNvSpPr>
          <p:nvPr/>
        </p:nvSpPr>
        <p:spPr>
          <a:xfrm>
            <a:off x="431768" y="1787747"/>
            <a:ext cx="312122" cy="137589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9E4C83E8-D7D4-488D-8439-19C851D01B75}"/>
              </a:ext>
            </a:extLst>
          </p:cNvPr>
          <p:cNvSpPr>
            <a:spLocks noGrp="1"/>
          </p:cNvSpPr>
          <p:nvPr/>
        </p:nvSpPr>
        <p:spPr>
          <a:xfrm>
            <a:off x="743891" y="1787747"/>
            <a:ext cx="312122" cy="137589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5D19386F-DAEF-42F1-8B07-1314E7132F4B}"/>
              </a:ext>
            </a:extLst>
          </p:cNvPr>
          <p:cNvSpPr>
            <a:spLocks noGrp="1"/>
          </p:cNvSpPr>
          <p:nvPr/>
        </p:nvSpPr>
        <p:spPr>
          <a:xfrm>
            <a:off x="1056013" y="1787747"/>
            <a:ext cx="312122" cy="137589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3218D2E4-35AF-406C-9B14-22D7E9CB456E}"/>
              </a:ext>
            </a:extLst>
          </p:cNvPr>
          <p:cNvSpPr>
            <a:spLocks noGrp="1"/>
          </p:cNvSpPr>
          <p:nvPr/>
        </p:nvSpPr>
        <p:spPr>
          <a:xfrm>
            <a:off x="1368135" y="1787747"/>
            <a:ext cx="312122" cy="137589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0D0701C5-B1BF-4D0B-84AD-D677A830EF55}"/>
              </a:ext>
            </a:extLst>
          </p:cNvPr>
          <p:cNvSpPr>
            <a:spLocks noGrp="1"/>
          </p:cNvSpPr>
          <p:nvPr/>
        </p:nvSpPr>
        <p:spPr>
          <a:xfrm>
            <a:off x="431768" y="1925336"/>
            <a:ext cx="312122" cy="137589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7A4DB8E7-5BD0-4940-9EEC-6D9859D062B8}"/>
              </a:ext>
            </a:extLst>
          </p:cNvPr>
          <p:cNvSpPr>
            <a:spLocks noGrp="1"/>
          </p:cNvSpPr>
          <p:nvPr/>
        </p:nvSpPr>
        <p:spPr>
          <a:xfrm>
            <a:off x="743891" y="1925336"/>
            <a:ext cx="312122" cy="137589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30C069B6-98FB-452A-8A41-F90B22C1BB85}"/>
              </a:ext>
            </a:extLst>
          </p:cNvPr>
          <p:cNvSpPr>
            <a:spLocks noGrp="1"/>
          </p:cNvSpPr>
          <p:nvPr/>
        </p:nvSpPr>
        <p:spPr>
          <a:xfrm>
            <a:off x="1056013" y="1925336"/>
            <a:ext cx="312122" cy="137589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856DDC62-577A-4780-8DDD-33887667A537}"/>
              </a:ext>
            </a:extLst>
          </p:cNvPr>
          <p:cNvSpPr>
            <a:spLocks noGrp="1"/>
          </p:cNvSpPr>
          <p:nvPr/>
        </p:nvSpPr>
        <p:spPr>
          <a:xfrm>
            <a:off x="1368135" y="1925336"/>
            <a:ext cx="312122" cy="137589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E1B39B00-7D27-406E-8D8F-83F96902994E}"/>
              </a:ext>
            </a:extLst>
          </p:cNvPr>
          <p:cNvSpPr>
            <a:spLocks noGrp="1"/>
          </p:cNvSpPr>
          <p:nvPr/>
        </p:nvSpPr>
        <p:spPr>
          <a:xfrm>
            <a:off x="431768" y="2062925"/>
            <a:ext cx="312122" cy="137589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1921AD40-BEAF-4F50-9E45-C18571DFAE87}"/>
              </a:ext>
            </a:extLst>
          </p:cNvPr>
          <p:cNvSpPr>
            <a:spLocks noGrp="1"/>
          </p:cNvSpPr>
          <p:nvPr/>
        </p:nvSpPr>
        <p:spPr>
          <a:xfrm>
            <a:off x="743891" y="2062925"/>
            <a:ext cx="312122" cy="137589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68903EBC-12AA-4671-AF74-E34F90966873}"/>
              </a:ext>
            </a:extLst>
          </p:cNvPr>
          <p:cNvSpPr>
            <a:spLocks noGrp="1"/>
          </p:cNvSpPr>
          <p:nvPr/>
        </p:nvSpPr>
        <p:spPr>
          <a:xfrm>
            <a:off x="1056013" y="2062925"/>
            <a:ext cx="312122" cy="137589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586A7EBF-1DD3-4D84-ACA2-5393F614FB36}"/>
              </a:ext>
            </a:extLst>
          </p:cNvPr>
          <p:cNvSpPr>
            <a:spLocks noGrp="1"/>
          </p:cNvSpPr>
          <p:nvPr/>
        </p:nvSpPr>
        <p:spPr>
          <a:xfrm>
            <a:off x="1368135" y="2062925"/>
            <a:ext cx="312122" cy="137589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F49AA135-9742-4436-A276-CCBC98E06303}"/>
              </a:ext>
            </a:extLst>
          </p:cNvPr>
          <p:cNvSpPr>
            <a:spLocks noGrp="1"/>
          </p:cNvSpPr>
          <p:nvPr/>
        </p:nvSpPr>
        <p:spPr>
          <a:xfrm>
            <a:off x="431768" y="1512570"/>
            <a:ext cx="1248489" cy="687943"/>
          </a:xfrm>
          <a:prstGeom prst="rect">
            <a:avLst/>
          </a:prstGeom>
          <a:noFill/>
          <a:ln w="7620">
            <a:noFill/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14A9F77E-CFD5-416C-89A8-FC3B1553B133}"/>
              </a:ext>
            </a:extLst>
          </p:cNvPr>
          <p:cNvSpPr>
            <a:spLocks noGrp="1"/>
          </p:cNvSpPr>
          <p:nvPr/>
        </p:nvSpPr>
        <p:spPr>
          <a:xfrm>
            <a:off x="1812750" y="1512570"/>
            <a:ext cx="312122" cy="137589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5FAB414D-4A65-4304-8695-568B147AC4AB}"/>
              </a:ext>
            </a:extLst>
          </p:cNvPr>
          <p:cNvSpPr>
            <a:spLocks noGrp="1"/>
          </p:cNvSpPr>
          <p:nvPr/>
        </p:nvSpPr>
        <p:spPr>
          <a:xfrm>
            <a:off x="2124873" y="1512570"/>
            <a:ext cx="312122" cy="137589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39DFF786-C48E-47B9-8936-1727270B7E91}"/>
              </a:ext>
            </a:extLst>
          </p:cNvPr>
          <p:cNvSpPr>
            <a:spLocks noGrp="1"/>
          </p:cNvSpPr>
          <p:nvPr/>
        </p:nvSpPr>
        <p:spPr>
          <a:xfrm>
            <a:off x="2436995" y="1512570"/>
            <a:ext cx="312122" cy="137589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5907BFC1-EBDB-4AAE-9466-04B64A54D505}"/>
              </a:ext>
            </a:extLst>
          </p:cNvPr>
          <p:cNvSpPr>
            <a:spLocks noGrp="1"/>
          </p:cNvSpPr>
          <p:nvPr/>
        </p:nvSpPr>
        <p:spPr>
          <a:xfrm>
            <a:off x="2749117" y="1512570"/>
            <a:ext cx="312122" cy="137589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9D69BC52-2EA7-4BA5-B8A2-A36EC90BAE58}"/>
              </a:ext>
            </a:extLst>
          </p:cNvPr>
          <p:cNvSpPr>
            <a:spLocks noGrp="1"/>
          </p:cNvSpPr>
          <p:nvPr/>
        </p:nvSpPr>
        <p:spPr>
          <a:xfrm>
            <a:off x="1812750" y="1650159"/>
            <a:ext cx="312122" cy="137589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A99E73FC-6137-49B6-9B16-813733949A5E}"/>
              </a:ext>
            </a:extLst>
          </p:cNvPr>
          <p:cNvSpPr>
            <a:spLocks noGrp="1"/>
          </p:cNvSpPr>
          <p:nvPr/>
        </p:nvSpPr>
        <p:spPr>
          <a:xfrm>
            <a:off x="2124873" y="1650159"/>
            <a:ext cx="312122" cy="137589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BC9671F2-C38E-4789-9AB2-DF56B68995D1}"/>
              </a:ext>
            </a:extLst>
          </p:cNvPr>
          <p:cNvSpPr>
            <a:spLocks noGrp="1"/>
          </p:cNvSpPr>
          <p:nvPr/>
        </p:nvSpPr>
        <p:spPr>
          <a:xfrm>
            <a:off x="2436995" y="1650159"/>
            <a:ext cx="312122" cy="137589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54140ADA-35E3-4143-B074-88231D67FB90}"/>
              </a:ext>
            </a:extLst>
          </p:cNvPr>
          <p:cNvSpPr>
            <a:spLocks noGrp="1"/>
          </p:cNvSpPr>
          <p:nvPr/>
        </p:nvSpPr>
        <p:spPr>
          <a:xfrm>
            <a:off x="2749117" y="1650159"/>
            <a:ext cx="312122" cy="137589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8EBD9E1A-21F9-4FC3-9041-C16999519987}"/>
              </a:ext>
            </a:extLst>
          </p:cNvPr>
          <p:cNvSpPr>
            <a:spLocks noGrp="1"/>
          </p:cNvSpPr>
          <p:nvPr/>
        </p:nvSpPr>
        <p:spPr>
          <a:xfrm>
            <a:off x="1812750" y="1787747"/>
            <a:ext cx="312122" cy="137589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9B3A6FAB-4E03-4FC6-AE60-DB0CC9087F50}"/>
              </a:ext>
            </a:extLst>
          </p:cNvPr>
          <p:cNvSpPr>
            <a:spLocks noGrp="1"/>
          </p:cNvSpPr>
          <p:nvPr/>
        </p:nvSpPr>
        <p:spPr>
          <a:xfrm>
            <a:off x="2124873" y="1787747"/>
            <a:ext cx="312122" cy="137589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82F7EC47-27D9-4DFA-A2CB-B184101668DA}"/>
              </a:ext>
            </a:extLst>
          </p:cNvPr>
          <p:cNvSpPr>
            <a:spLocks noGrp="1"/>
          </p:cNvSpPr>
          <p:nvPr/>
        </p:nvSpPr>
        <p:spPr>
          <a:xfrm>
            <a:off x="2436995" y="1787747"/>
            <a:ext cx="312122" cy="137589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E95B190F-BC72-4F86-9219-85FFB2392771}"/>
              </a:ext>
            </a:extLst>
          </p:cNvPr>
          <p:cNvSpPr>
            <a:spLocks noGrp="1"/>
          </p:cNvSpPr>
          <p:nvPr/>
        </p:nvSpPr>
        <p:spPr>
          <a:xfrm>
            <a:off x="2749117" y="1787747"/>
            <a:ext cx="312122" cy="137589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91D044EE-9DB1-4860-ADFC-06F4215327D1}"/>
              </a:ext>
            </a:extLst>
          </p:cNvPr>
          <p:cNvSpPr>
            <a:spLocks noGrp="1"/>
          </p:cNvSpPr>
          <p:nvPr/>
        </p:nvSpPr>
        <p:spPr>
          <a:xfrm>
            <a:off x="1812750" y="1925336"/>
            <a:ext cx="312122" cy="137589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F81BC1B6-8777-4837-996B-8E40443A78FB}"/>
              </a:ext>
            </a:extLst>
          </p:cNvPr>
          <p:cNvSpPr>
            <a:spLocks noGrp="1"/>
          </p:cNvSpPr>
          <p:nvPr/>
        </p:nvSpPr>
        <p:spPr>
          <a:xfrm>
            <a:off x="2124873" y="1925336"/>
            <a:ext cx="312122" cy="137589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1A1E56BF-887F-4F6D-A4FF-70E158DEA1E7}"/>
              </a:ext>
            </a:extLst>
          </p:cNvPr>
          <p:cNvSpPr>
            <a:spLocks noGrp="1"/>
          </p:cNvSpPr>
          <p:nvPr/>
        </p:nvSpPr>
        <p:spPr>
          <a:xfrm>
            <a:off x="2436995" y="1925336"/>
            <a:ext cx="312122" cy="137589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F548F85F-01EB-46A1-878B-64B418EC5A9B}"/>
              </a:ext>
            </a:extLst>
          </p:cNvPr>
          <p:cNvSpPr>
            <a:spLocks noGrp="1"/>
          </p:cNvSpPr>
          <p:nvPr/>
        </p:nvSpPr>
        <p:spPr>
          <a:xfrm>
            <a:off x="2749117" y="1925336"/>
            <a:ext cx="312122" cy="137589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31FA047E-9274-49CE-B2FD-5A904C8D23D2}"/>
              </a:ext>
            </a:extLst>
          </p:cNvPr>
          <p:cNvSpPr>
            <a:spLocks noGrp="1"/>
          </p:cNvSpPr>
          <p:nvPr/>
        </p:nvSpPr>
        <p:spPr>
          <a:xfrm>
            <a:off x="1812750" y="2062925"/>
            <a:ext cx="312122" cy="137589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7A573568-997A-4EAC-A8C9-F1058C0E69C3}"/>
              </a:ext>
            </a:extLst>
          </p:cNvPr>
          <p:cNvSpPr>
            <a:spLocks noGrp="1"/>
          </p:cNvSpPr>
          <p:nvPr/>
        </p:nvSpPr>
        <p:spPr>
          <a:xfrm>
            <a:off x="2124873" y="2062925"/>
            <a:ext cx="312122" cy="137589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8AD8336B-0B64-4B69-9416-24DE8DAE81F5}"/>
              </a:ext>
            </a:extLst>
          </p:cNvPr>
          <p:cNvSpPr>
            <a:spLocks noGrp="1"/>
          </p:cNvSpPr>
          <p:nvPr/>
        </p:nvSpPr>
        <p:spPr>
          <a:xfrm>
            <a:off x="2436995" y="2062925"/>
            <a:ext cx="312122" cy="137589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2288FCF8-9682-44B5-A760-1F1385E156FE}"/>
              </a:ext>
            </a:extLst>
          </p:cNvPr>
          <p:cNvSpPr>
            <a:spLocks noGrp="1"/>
          </p:cNvSpPr>
          <p:nvPr/>
        </p:nvSpPr>
        <p:spPr>
          <a:xfrm>
            <a:off x="2749117" y="2062925"/>
            <a:ext cx="312122" cy="137589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140A690F-EE48-498F-BE17-88F5298937E7}"/>
              </a:ext>
            </a:extLst>
          </p:cNvPr>
          <p:cNvSpPr>
            <a:spLocks noGrp="1"/>
          </p:cNvSpPr>
          <p:nvPr/>
        </p:nvSpPr>
        <p:spPr>
          <a:xfrm>
            <a:off x="1812750" y="1512570"/>
            <a:ext cx="1248489" cy="687943"/>
          </a:xfrm>
          <a:prstGeom prst="rect">
            <a:avLst/>
          </a:prstGeom>
          <a:noFill/>
          <a:ln w="7620">
            <a:noFill/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96" name="row gains: BF16">
            <a:extLst>
              <a:ext uri="{FF2B5EF4-FFF2-40B4-BE49-F238E27FC236}">
                <a16:creationId xmlns:a16="http://schemas.microsoft.com/office/drawing/2014/main" id="{13170943-A4DB-4EC1-A3A2-971FB8EA4C22}"/>
              </a:ext>
            </a:extLst>
          </p:cNvPr>
          <p:cNvSpPr>
            <a:spLocks noGrp="1"/>
          </p:cNvSpPr>
          <p:nvPr/>
        </p:nvSpPr>
        <p:spPr>
          <a:xfrm>
            <a:off x="360426" y="2287143"/>
            <a:ext cx="1273969" cy="1426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row gains: BF16</a:t>
            </a:r>
          </a:p>
        </p:txBody>
      </p:sp>
      <p:sp>
        <p:nvSpPr>
          <p:cNvPr id="97" name="B32 exponents: uint8">
            <a:extLst>
              <a:ext uri="{FF2B5EF4-FFF2-40B4-BE49-F238E27FC236}">
                <a16:creationId xmlns:a16="http://schemas.microsoft.com/office/drawing/2014/main" id="{6472F279-6E80-4D07-9096-9BDAC4D4A487}"/>
              </a:ext>
            </a:extLst>
          </p:cNvPr>
          <p:cNvSpPr>
            <a:spLocks noGrp="1"/>
          </p:cNvSpPr>
          <p:nvPr/>
        </p:nvSpPr>
        <p:spPr>
          <a:xfrm>
            <a:off x="1787271" y="2287143"/>
            <a:ext cx="1324928" cy="1426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B32 exponents: uint8</a:t>
            </a:r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6C4826D4-7994-43C7-AD35-82CCBE5D7931}"/>
              </a:ext>
            </a:extLst>
          </p:cNvPr>
          <p:cNvSpPr>
            <a:spLocks noGrp="1"/>
          </p:cNvSpPr>
          <p:nvPr/>
        </p:nvSpPr>
        <p:spPr>
          <a:xfrm>
            <a:off x="360426" y="2485882"/>
            <a:ext cx="212328" cy="178356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CE565E23-6642-44B6-99FF-2A60C59CCAD9}"/>
              </a:ext>
            </a:extLst>
          </p:cNvPr>
          <p:cNvSpPr>
            <a:spLocks noGrp="1"/>
          </p:cNvSpPr>
          <p:nvPr/>
        </p:nvSpPr>
        <p:spPr>
          <a:xfrm>
            <a:off x="572754" y="2485882"/>
            <a:ext cx="212328" cy="178356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9CD6E2B4-96C8-423C-802E-AE861C7C7F86}"/>
              </a:ext>
            </a:extLst>
          </p:cNvPr>
          <p:cNvSpPr>
            <a:spLocks noGrp="1"/>
          </p:cNvSpPr>
          <p:nvPr/>
        </p:nvSpPr>
        <p:spPr>
          <a:xfrm>
            <a:off x="785082" y="2485882"/>
            <a:ext cx="212328" cy="178356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C8D3C7E5-A768-4780-8C33-F530AA8C48D2}"/>
              </a:ext>
            </a:extLst>
          </p:cNvPr>
          <p:cNvSpPr>
            <a:spLocks noGrp="1"/>
          </p:cNvSpPr>
          <p:nvPr/>
        </p:nvSpPr>
        <p:spPr>
          <a:xfrm>
            <a:off x="997410" y="2485882"/>
            <a:ext cx="212328" cy="178356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757D7556-B31F-4FE9-B8CD-E23AE3D1CD7C}"/>
              </a:ext>
            </a:extLst>
          </p:cNvPr>
          <p:cNvSpPr>
            <a:spLocks noGrp="1"/>
          </p:cNvSpPr>
          <p:nvPr/>
        </p:nvSpPr>
        <p:spPr>
          <a:xfrm>
            <a:off x="1209739" y="2485882"/>
            <a:ext cx="212328" cy="178356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EF1DA165-5147-4F68-B409-DBE9CB6ACCBF}"/>
              </a:ext>
            </a:extLst>
          </p:cNvPr>
          <p:cNvSpPr>
            <a:spLocks noGrp="1"/>
          </p:cNvSpPr>
          <p:nvPr/>
        </p:nvSpPr>
        <p:spPr>
          <a:xfrm>
            <a:off x="1422067" y="2485882"/>
            <a:ext cx="212328" cy="178356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F04E8C80-8F87-4A74-825C-D8D1DA398EAC}"/>
              </a:ext>
            </a:extLst>
          </p:cNvPr>
          <p:cNvSpPr>
            <a:spLocks noGrp="1"/>
          </p:cNvSpPr>
          <p:nvPr/>
        </p:nvSpPr>
        <p:spPr>
          <a:xfrm>
            <a:off x="360426" y="2485882"/>
            <a:ext cx="1273969" cy="178356"/>
          </a:xfrm>
          <a:prstGeom prst="rect">
            <a:avLst/>
          </a:prstGeom>
          <a:noFill/>
          <a:ln w="7620">
            <a:noFill/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C9104816-8FD5-4966-9B26-43A3046FF0EB}"/>
              </a:ext>
            </a:extLst>
          </p:cNvPr>
          <p:cNvSpPr>
            <a:spLocks noGrp="1"/>
          </p:cNvSpPr>
          <p:nvPr/>
        </p:nvSpPr>
        <p:spPr>
          <a:xfrm>
            <a:off x="1802559" y="2485882"/>
            <a:ext cx="212328" cy="178356"/>
          </a:xfrm>
          <a:prstGeom prst="rect">
            <a:avLst/>
          </a:prstGeom>
          <a:solidFill>
            <a:srgbClr val="DAEFE6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06" name="矩形 105">
            <a:extLst>
              <a:ext uri="{FF2B5EF4-FFF2-40B4-BE49-F238E27FC236}">
                <a16:creationId xmlns:a16="http://schemas.microsoft.com/office/drawing/2014/main" id="{7ED55C71-11FD-4EF8-87E8-53A42E251C2D}"/>
              </a:ext>
            </a:extLst>
          </p:cNvPr>
          <p:cNvSpPr>
            <a:spLocks noGrp="1"/>
          </p:cNvSpPr>
          <p:nvPr/>
        </p:nvSpPr>
        <p:spPr>
          <a:xfrm>
            <a:off x="2014887" y="2485882"/>
            <a:ext cx="212328" cy="178356"/>
          </a:xfrm>
          <a:prstGeom prst="rect">
            <a:avLst/>
          </a:prstGeom>
          <a:solidFill>
            <a:srgbClr val="DAEFE6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EC41CAAC-66B3-4F1D-B657-1EBECB1F6918}"/>
              </a:ext>
            </a:extLst>
          </p:cNvPr>
          <p:cNvSpPr>
            <a:spLocks noGrp="1"/>
          </p:cNvSpPr>
          <p:nvPr/>
        </p:nvSpPr>
        <p:spPr>
          <a:xfrm>
            <a:off x="2227215" y="2485882"/>
            <a:ext cx="212328" cy="178356"/>
          </a:xfrm>
          <a:prstGeom prst="rect">
            <a:avLst/>
          </a:prstGeom>
          <a:solidFill>
            <a:srgbClr val="DAEFE6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id="{64BA185E-CA1C-4F93-8050-FA21F6B1DD31}"/>
              </a:ext>
            </a:extLst>
          </p:cNvPr>
          <p:cNvSpPr>
            <a:spLocks noGrp="1"/>
          </p:cNvSpPr>
          <p:nvPr/>
        </p:nvSpPr>
        <p:spPr>
          <a:xfrm>
            <a:off x="2439543" y="2485882"/>
            <a:ext cx="212328" cy="178356"/>
          </a:xfrm>
          <a:prstGeom prst="rect">
            <a:avLst/>
          </a:prstGeom>
          <a:solidFill>
            <a:srgbClr val="DAEFE6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DBD291C5-A88E-4DB8-A427-5451C99F6D4E}"/>
              </a:ext>
            </a:extLst>
          </p:cNvPr>
          <p:cNvSpPr>
            <a:spLocks noGrp="1"/>
          </p:cNvSpPr>
          <p:nvPr/>
        </p:nvSpPr>
        <p:spPr>
          <a:xfrm>
            <a:off x="2651871" y="2485882"/>
            <a:ext cx="212328" cy="178356"/>
          </a:xfrm>
          <a:prstGeom prst="rect">
            <a:avLst/>
          </a:prstGeom>
          <a:solidFill>
            <a:srgbClr val="DAEFE6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AA74D623-6E0B-488F-8980-3F21B0F8A6CE}"/>
              </a:ext>
            </a:extLst>
          </p:cNvPr>
          <p:cNvSpPr>
            <a:spLocks noGrp="1"/>
          </p:cNvSpPr>
          <p:nvPr/>
        </p:nvSpPr>
        <p:spPr>
          <a:xfrm>
            <a:off x="2864199" y="2485882"/>
            <a:ext cx="212328" cy="178356"/>
          </a:xfrm>
          <a:prstGeom prst="rect">
            <a:avLst/>
          </a:prstGeom>
          <a:solidFill>
            <a:srgbClr val="DAEFE6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47896E4A-37E9-49A3-8C88-ED6E7FABD00C}"/>
              </a:ext>
            </a:extLst>
          </p:cNvPr>
          <p:cNvSpPr>
            <a:spLocks noGrp="1"/>
          </p:cNvSpPr>
          <p:nvPr/>
        </p:nvSpPr>
        <p:spPr>
          <a:xfrm>
            <a:off x="1802559" y="2485882"/>
            <a:ext cx="1273969" cy="178356"/>
          </a:xfrm>
          <a:prstGeom prst="rect">
            <a:avLst/>
          </a:prstGeom>
          <a:noFill/>
          <a:ln w="7620">
            <a:noFill/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12" name="~4.27 effective bpw">
            <a:extLst>
              <a:ext uri="{FF2B5EF4-FFF2-40B4-BE49-F238E27FC236}">
                <a16:creationId xmlns:a16="http://schemas.microsoft.com/office/drawing/2014/main" id="{402FA44A-BCD4-4A40-B0C7-5BD8D745526A}"/>
              </a:ext>
            </a:extLst>
          </p:cNvPr>
          <p:cNvSpPr>
            <a:spLocks noGrp="1"/>
          </p:cNvSpPr>
          <p:nvPr/>
        </p:nvSpPr>
        <p:spPr>
          <a:xfrm>
            <a:off x="543878" y="2786539"/>
            <a:ext cx="2395061" cy="17835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124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1124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1124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1124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1124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1124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1124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1124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1124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1124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4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124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~4.27 effective bpw</a:t>
            </a:r>
          </a:p>
        </p:txBody>
      </p:sp>
      <p:sp>
        <p:nvSpPr>
          <p:cNvPr id="113" name="Packed target weights; not the whole model">
            <a:extLst>
              <a:ext uri="{FF2B5EF4-FFF2-40B4-BE49-F238E27FC236}">
                <a16:creationId xmlns:a16="http://schemas.microsoft.com/office/drawing/2014/main" id="{19DF461D-55D3-4084-9BC2-B87B3655B240}"/>
              </a:ext>
            </a:extLst>
          </p:cNvPr>
          <p:cNvSpPr>
            <a:spLocks noGrp="1"/>
          </p:cNvSpPr>
          <p:nvPr/>
        </p:nvSpPr>
        <p:spPr>
          <a:xfrm>
            <a:off x="391001" y="2964894"/>
            <a:ext cx="2700814" cy="1426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defPPr>
            <a:lvl1pPr algn="ct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1pPr>
            <a:lvl2pPr algn="ct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2pPr>
            <a:lvl3pPr algn="ct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3pPr>
            <a:lvl4pPr algn="ct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4pPr>
            <a:lvl5pPr algn="ct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5pPr>
            <a:lvl6pPr algn="ct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6pPr>
            <a:lvl7pPr algn="ct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7pPr>
            <a:lvl8pPr algn="ct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8pPr>
            <a:lvl9pPr algn="ct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68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pPr>
            <a:r>
              <a:rPr sz="682" b="0">
                <a:solidFill>
                  <a:srgbClr val="5D6773"/>
                </a:solidFill>
                <a:latin typeface="Arial"/>
                <a:ea typeface="Arial"/>
                <a:cs typeface="Arial"/>
              </a:rPr>
              <a:t>Packed target weights; not the whole model</a:t>
            </a:r>
          </a:p>
        </p:txBody>
      </p:sp>
      <p:cxnSp>
        <p:nvCxnSpPr>
          <p:cNvPr id="114" name="直接箭头连接符 113">
            <a:extLst>
              <a:ext uri="{FF2B5EF4-FFF2-40B4-BE49-F238E27FC236}">
                <a16:creationId xmlns:a16="http://schemas.microsoft.com/office/drawing/2014/main" id="{803B99A1-A529-4E22-A2A7-A7BA2AC3E504}"/>
              </a:ext>
            </a:extLst>
          </p:cNvPr>
          <p:cNvCxnSpPr/>
          <p:nvPr/>
        </p:nvCxnSpPr>
        <p:spPr>
          <a:xfrm>
            <a:off x="289084" y="3189113"/>
            <a:ext cx="2904649" cy="0"/>
          </a:xfrm>
          <a:prstGeom prst="straightConnector1">
            <a:avLst/>
          </a:prstGeom>
          <a:ln w="4077">
            <a:solidFill>
              <a:srgbClr val="697681"/>
            </a:solidFill>
            <a:prstDash val="dash"/>
          </a:ln>
        </p:spPr>
      </p:cxnSp>
      <p:sp>
        <p:nvSpPr>
          <p:cNvPr id="115" name="Transform state (frozen)">
            <a:extLst>
              <a:ext uri="{FF2B5EF4-FFF2-40B4-BE49-F238E27FC236}">
                <a16:creationId xmlns:a16="http://schemas.microsoft.com/office/drawing/2014/main" id="{368F7BB9-A2AA-4A98-B66C-96FFCD6A4FB7}"/>
              </a:ext>
            </a:extLst>
          </p:cNvPr>
          <p:cNvSpPr>
            <a:spLocks noGrp="1"/>
          </p:cNvSpPr>
          <p:nvPr/>
        </p:nvSpPr>
        <p:spPr>
          <a:xfrm>
            <a:off x="329851" y="3245168"/>
            <a:ext cx="2802731" cy="15287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92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Transform state (frozen)</a:t>
            </a:r>
          </a:p>
        </p:txBody>
      </p:sp>
      <p:sp>
        <p:nvSpPr>
          <p:cNvPr id="116" name="Smooth S">
            <a:extLst>
              <a:ext uri="{FF2B5EF4-FFF2-40B4-BE49-F238E27FC236}">
                <a16:creationId xmlns:a16="http://schemas.microsoft.com/office/drawing/2014/main" id="{613F545D-CD19-40F2-B81D-9B075E9CDF63}"/>
              </a:ext>
            </a:extLst>
          </p:cNvPr>
          <p:cNvSpPr>
            <a:spLocks noGrp="1"/>
          </p:cNvSpPr>
          <p:nvPr/>
        </p:nvSpPr>
        <p:spPr>
          <a:xfrm>
            <a:off x="360426" y="3474482"/>
            <a:ext cx="789861" cy="356711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92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Smooth S</a:t>
            </a:r>
          </a:p>
        </p:txBody>
      </p:sp>
      <p:sp>
        <p:nvSpPr>
          <p:cNvPr id="117" name="Signed H128">
            <a:extLst>
              <a:ext uri="{FF2B5EF4-FFF2-40B4-BE49-F238E27FC236}">
                <a16:creationId xmlns:a16="http://schemas.microsoft.com/office/drawing/2014/main" id="{E4174194-5502-4D6A-83B0-D1BD1EB31DE3}"/>
              </a:ext>
            </a:extLst>
          </p:cNvPr>
          <p:cNvSpPr>
            <a:spLocks noGrp="1"/>
          </p:cNvSpPr>
          <p:nvPr/>
        </p:nvSpPr>
        <p:spPr>
          <a:xfrm>
            <a:off x="1226725" y="3474482"/>
            <a:ext cx="830628" cy="356711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92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Signed H128</a:t>
            </a:r>
          </a:p>
        </p:txBody>
      </p:sp>
      <p:sp>
        <p:nvSpPr>
          <p:cNvPr id="118" name="U128&#10;FP32 execution">
            <a:extLst>
              <a:ext uri="{FF2B5EF4-FFF2-40B4-BE49-F238E27FC236}">
                <a16:creationId xmlns:a16="http://schemas.microsoft.com/office/drawing/2014/main" id="{6A3C4578-180D-429E-898F-5EF33D0772AE}"/>
              </a:ext>
            </a:extLst>
          </p:cNvPr>
          <p:cNvSpPr>
            <a:spLocks noGrp="1"/>
          </p:cNvSpPr>
          <p:nvPr/>
        </p:nvSpPr>
        <p:spPr>
          <a:xfrm>
            <a:off x="2143982" y="3474482"/>
            <a:ext cx="917258" cy="356711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U128</a:t>
            </a:r>
          </a:p>
          <a:p>
            <a: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FP32 execution</a:t>
            </a:r>
          </a:p>
        </p:txBody>
      </p:sp>
      <p:sp>
        <p:nvSpPr>
          <p:cNvPr id="119" name="Query-local conditioning cache">
            <a:extLst>
              <a:ext uri="{FF2B5EF4-FFF2-40B4-BE49-F238E27FC236}">
                <a16:creationId xmlns:a16="http://schemas.microsoft.com/office/drawing/2014/main" id="{10F0C5E6-C32A-4389-83FB-A373BDA68EC4}"/>
              </a:ext>
            </a:extLst>
          </p:cNvPr>
          <p:cNvSpPr>
            <a:spLocks noGrp="1"/>
          </p:cNvSpPr>
          <p:nvPr/>
        </p:nvSpPr>
        <p:spPr>
          <a:xfrm>
            <a:off x="329851" y="3958590"/>
            <a:ext cx="2802731" cy="1630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92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Query-local conditioning cache</a:t>
            </a:r>
          </a:p>
        </p:txBody>
      </p:sp>
      <p:sp>
        <p:nvSpPr>
          <p:cNvPr id="120" name="Text projection + cross-attention K/V&#10;Reuse within one query">
            <a:extLst>
              <a:ext uri="{FF2B5EF4-FFF2-40B4-BE49-F238E27FC236}">
                <a16:creationId xmlns:a16="http://schemas.microsoft.com/office/drawing/2014/main" id="{B9A8865E-F93B-4769-AF31-729F28E7A4A3}"/>
              </a:ext>
            </a:extLst>
          </p:cNvPr>
          <p:cNvSpPr>
            <a:spLocks noGrp="1"/>
          </p:cNvSpPr>
          <p:nvPr/>
        </p:nvSpPr>
        <p:spPr>
          <a:xfrm>
            <a:off x="360426" y="4162425"/>
            <a:ext cx="2700814" cy="331232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8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Text projection + cross-attention K/V</a:t>
            </a:r>
          </a:p>
          <a:p>
            <a:pPr algn="ctr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8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Reuse within one query</a:t>
            </a:r>
          </a:p>
        </p:txBody>
      </p:sp>
      <p:sp>
        <p:nvSpPr>
          <p:cNvPr id="121" name="Unquantized T5 / VAE / KV remain BF16">
            <a:extLst>
              <a:ext uri="{FF2B5EF4-FFF2-40B4-BE49-F238E27FC236}">
                <a16:creationId xmlns:a16="http://schemas.microsoft.com/office/drawing/2014/main" id="{988FD538-14B9-4AA0-98F7-81408F86612C}"/>
              </a:ext>
            </a:extLst>
          </p:cNvPr>
          <p:cNvSpPr>
            <a:spLocks noGrp="1"/>
          </p:cNvSpPr>
          <p:nvPr/>
        </p:nvSpPr>
        <p:spPr>
          <a:xfrm>
            <a:off x="314563" y="4595574"/>
            <a:ext cx="2828211" cy="13249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Unquantized T5 / VAE / KV remain BF16</a:t>
            </a:r>
          </a:p>
        </p:txBody>
      </p:sp>
      <p:sp>
        <p:nvSpPr>
          <p:cNvPr id="122" name="(b) Per-Linear execution">
            <a:extLst>
              <a:ext uri="{FF2B5EF4-FFF2-40B4-BE49-F238E27FC236}">
                <a16:creationId xmlns:a16="http://schemas.microsoft.com/office/drawing/2014/main" id="{F5C8320B-37B3-4F60-B73B-EED3A79114BB}"/>
              </a:ext>
            </a:extLst>
          </p:cNvPr>
          <p:cNvSpPr>
            <a:spLocks noGrp="1"/>
          </p:cNvSpPr>
          <p:nvPr/>
        </p:nvSpPr>
        <p:spPr>
          <a:xfrm>
            <a:off x="3346609" y="111204"/>
            <a:ext cx="2802731" cy="17835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08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(b) Per-Linear execution</a:t>
            </a:r>
          </a:p>
        </p:txBody>
      </p:sp>
      <p:cxnSp>
        <p:nvCxnSpPr>
          <p:cNvPr id="123" name="直接箭头连接符 122">
            <a:extLst>
              <a:ext uri="{FF2B5EF4-FFF2-40B4-BE49-F238E27FC236}">
                <a16:creationId xmlns:a16="http://schemas.microsoft.com/office/drawing/2014/main" id="{0BB43882-D51B-4C43-99AC-F815C9764309}"/>
              </a:ext>
            </a:extLst>
          </p:cNvPr>
          <p:cNvCxnSpPr/>
          <p:nvPr/>
        </p:nvCxnSpPr>
        <p:spPr>
          <a:xfrm>
            <a:off x="3336417" y="315039"/>
            <a:ext cx="2823115" cy="0"/>
          </a:xfrm>
          <a:prstGeom prst="straightConnector1">
            <a:avLst/>
          </a:prstGeom>
          <a:ln w="4077">
            <a:solidFill>
              <a:srgbClr val="697681"/>
            </a:solidFill>
            <a:prstDash val="solid"/>
          </a:ln>
        </p:spPr>
      </p:cxnSp>
      <p:sp>
        <p:nvSpPr>
          <p:cNvPr id="124" name="Weight pathway">
            <a:extLst>
              <a:ext uri="{FF2B5EF4-FFF2-40B4-BE49-F238E27FC236}">
                <a16:creationId xmlns:a16="http://schemas.microsoft.com/office/drawing/2014/main" id="{AE6E3FC1-11CE-47B7-975C-211EC9A09356}"/>
              </a:ext>
            </a:extLst>
          </p:cNvPr>
          <p:cNvSpPr>
            <a:spLocks noGrp="1"/>
          </p:cNvSpPr>
          <p:nvPr/>
        </p:nvSpPr>
        <p:spPr>
          <a:xfrm>
            <a:off x="3382280" y="365998"/>
            <a:ext cx="2700814" cy="1630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92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Weight pathway</a:t>
            </a:r>
          </a:p>
        </p:txBody>
      </p:sp>
      <p:sp>
        <p:nvSpPr>
          <p:cNvPr id="125" name="椭圆 124">
            <a:extLst>
              <a:ext uri="{FF2B5EF4-FFF2-40B4-BE49-F238E27FC236}">
                <a16:creationId xmlns:a16="http://schemas.microsoft.com/office/drawing/2014/main" id="{64780318-0273-4E24-850F-38C248B22581}"/>
              </a:ext>
            </a:extLst>
          </p:cNvPr>
          <p:cNvSpPr>
            <a:spLocks noGrp="1"/>
          </p:cNvSpPr>
          <p:nvPr/>
        </p:nvSpPr>
        <p:spPr>
          <a:xfrm>
            <a:off x="3407759" y="574929"/>
            <a:ext cx="203835" cy="203835"/>
          </a:xfrm>
          <a:prstGeom prst="ellipse">
            <a:avLst/>
          </a:prstGeom>
          <a:solidFill>
            <a:srgbClr val="DCEBFA"/>
          </a:solidFill>
          <a:ln w="7620">
            <a:solidFill>
              <a:srgbClr val="18222F"/>
            </a:solidFill>
          </a:ln>
        </p:spPr>
        <p:txBody>
          <a:bodyPr lIns="0" tIns="0" rIns="0" bIns="0" anchor="ctr"/>
          <a:lstStyle>
            <a:defPPr algn="ctr">
              <a:defRPr sz="1003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1003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1003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1003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1003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1003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1003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1003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1003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1003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003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003">
                <a:solidFill>
                  <a:srgbClr val="18222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6" name="Shape-tuned tile decoder">
            <a:extLst>
              <a:ext uri="{FF2B5EF4-FFF2-40B4-BE49-F238E27FC236}">
                <a16:creationId xmlns:a16="http://schemas.microsoft.com/office/drawing/2014/main" id="{62FFD74B-E06C-4FAF-A233-48E132E03862}"/>
              </a:ext>
            </a:extLst>
          </p:cNvPr>
          <p:cNvSpPr>
            <a:spLocks noGrp="1"/>
          </p:cNvSpPr>
          <p:nvPr/>
        </p:nvSpPr>
        <p:spPr>
          <a:xfrm>
            <a:off x="3703320" y="600408"/>
            <a:ext cx="2420541" cy="1630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0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10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10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10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10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10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10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10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10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10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00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00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Shape-tuned tile decoder</a:t>
            </a:r>
          </a:p>
        </p:txBody>
      </p:sp>
      <p:sp>
        <p:nvSpPr>
          <p:cNvPr id="127" name="i1[r,:]">
            <a:extLst>
              <a:ext uri="{FF2B5EF4-FFF2-40B4-BE49-F238E27FC236}">
                <a16:creationId xmlns:a16="http://schemas.microsoft.com/office/drawing/2014/main" id="{46DF5694-554D-4F6C-A1AF-F0BB61D28C11}"/>
              </a:ext>
            </a:extLst>
          </p:cNvPr>
          <p:cNvSpPr>
            <a:spLocks noGrp="1"/>
          </p:cNvSpPr>
          <p:nvPr/>
        </p:nvSpPr>
        <p:spPr>
          <a:xfrm>
            <a:off x="3438335" y="850106"/>
            <a:ext cx="993696" cy="163068"/>
          </a:xfrm>
          <a:prstGeom prst="rect">
            <a:avLst/>
          </a:prstGeom>
          <a:solidFill>
            <a:srgbClr val="DAEFE6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i1[r,:]</a:t>
            </a:r>
          </a:p>
        </p:txBody>
      </p:sp>
      <p:sp>
        <p:nvSpPr>
          <p:cNvPr id="128" name="i2[r,:]">
            <a:extLst>
              <a:ext uri="{FF2B5EF4-FFF2-40B4-BE49-F238E27FC236}">
                <a16:creationId xmlns:a16="http://schemas.microsoft.com/office/drawing/2014/main" id="{D2A7124A-A5AA-4531-A0E7-97A78C46D41E}"/>
              </a:ext>
            </a:extLst>
          </p:cNvPr>
          <p:cNvSpPr>
            <a:spLocks noGrp="1"/>
          </p:cNvSpPr>
          <p:nvPr/>
        </p:nvSpPr>
        <p:spPr>
          <a:xfrm>
            <a:off x="3438335" y="1079421"/>
            <a:ext cx="993696" cy="163068"/>
          </a:xfrm>
          <a:prstGeom prst="rect">
            <a:avLst/>
          </a:prstGeom>
          <a:solidFill>
            <a:srgbClr val="DAEFE6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i2[r,:]</a:t>
            </a:r>
          </a:p>
        </p:txBody>
      </p:sp>
      <p:sp>
        <p:nvSpPr>
          <p:cNvPr id="129" name="矩形 128">
            <a:extLst>
              <a:ext uri="{FF2B5EF4-FFF2-40B4-BE49-F238E27FC236}">
                <a16:creationId xmlns:a16="http://schemas.microsoft.com/office/drawing/2014/main" id="{6F1DFBC1-BCA3-4F46-819D-0339D9B19EE9}"/>
              </a:ext>
            </a:extLst>
          </p:cNvPr>
          <p:cNvSpPr>
            <a:spLocks noGrp="1"/>
          </p:cNvSpPr>
          <p:nvPr/>
        </p:nvSpPr>
        <p:spPr>
          <a:xfrm>
            <a:off x="3474006" y="1507474"/>
            <a:ext cx="135041" cy="152876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E3DBDF72-5ECC-4F79-87EC-94FABA14832D}"/>
              </a:ext>
            </a:extLst>
          </p:cNvPr>
          <p:cNvSpPr>
            <a:spLocks noGrp="1"/>
          </p:cNvSpPr>
          <p:nvPr/>
        </p:nvSpPr>
        <p:spPr>
          <a:xfrm>
            <a:off x="3609046" y="1507474"/>
            <a:ext cx="135041" cy="152876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31" name="矩形 130">
            <a:extLst>
              <a:ext uri="{FF2B5EF4-FFF2-40B4-BE49-F238E27FC236}">
                <a16:creationId xmlns:a16="http://schemas.microsoft.com/office/drawing/2014/main" id="{C85B2F59-9212-4E8D-8E96-8E9228A56903}"/>
              </a:ext>
            </a:extLst>
          </p:cNvPr>
          <p:cNvSpPr>
            <a:spLocks noGrp="1"/>
          </p:cNvSpPr>
          <p:nvPr/>
        </p:nvSpPr>
        <p:spPr>
          <a:xfrm>
            <a:off x="3744087" y="1507474"/>
            <a:ext cx="135041" cy="152876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61D3471B-69D0-49EC-A96A-4DD7A24635FA}"/>
              </a:ext>
            </a:extLst>
          </p:cNvPr>
          <p:cNvSpPr>
            <a:spLocks noGrp="1"/>
          </p:cNvSpPr>
          <p:nvPr/>
        </p:nvSpPr>
        <p:spPr>
          <a:xfrm>
            <a:off x="3879128" y="1507474"/>
            <a:ext cx="135041" cy="152876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33" name="C1[i1]">
            <a:extLst>
              <a:ext uri="{FF2B5EF4-FFF2-40B4-BE49-F238E27FC236}">
                <a16:creationId xmlns:a16="http://schemas.microsoft.com/office/drawing/2014/main" id="{BD944C3F-C290-407E-B770-4A4309AA5DB7}"/>
              </a:ext>
            </a:extLst>
          </p:cNvPr>
          <p:cNvSpPr>
            <a:spLocks noGrp="1"/>
          </p:cNvSpPr>
          <p:nvPr/>
        </p:nvSpPr>
        <p:spPr>
          <a:xfrm>
            <a:off x="3474006" y="1354598"/>
            <a:ext cx="540163" cy="13758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C1[i1]</a:t>
            </a:r>
          </a:p>
        </p:txBody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id="{115B7A6D-DD11-49AD-91C5-4B3B0C4DEC65}"/>
              </a:ext>
            </a:extLst>
          </p:cNvPr>
          <p:cNvSpPr>
            <a:spLocks noGrp="1"/>
          </p:cNvSpPr>
          <p:nvPr/>
        </p:nvSpPr>
        <p:spPr>
          <a:xfrm>
            <a:off x="3474006" y="1507474"/>
            <a:ext cx="540163" cy="152876"/>
          </a:xfrm>
          <a:prstGeom prst="rect">
            <a:avLst/>
          </a:prstGeom>
          <a:noFill/>
          <a:ln w="7620">
            <a:noFill/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35" name="矩形 134">
            <a:extLst>
              <a:ext uri="{FF2B5EF4-FFF2-40B4-BE49-F238E27FC236}">
                <a16:creationId xmlns:a16="http://schemas.microsoft.com/office/drawing/2014/main" id="{B5321C60-B785-44F1-A117-BF095087525C}"/>
              </a:ext>
            </a:extLst>
          </p:cNvPr>
          <p:cNvSpPr>
            <a:spLocks noGrp="1"/>
          </p:cNvSpPr>
          <p:nvPr/>
        </p:nvSpPr>
        <p:spPr>
          <a:xfrm>
            <a:off x="4309729" y="1507474"/>
            <a:ext cx="135041" cy="152876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EBA1A5F8-D89D-454A-BA88-AB242354B890}"/>
              </a:ext>
            </a:extLst>
          </p:cNvPr>
          <p:cNvSpPr>
            <a:spLocks noGrp="1"/>
          </p:cNvSpPr>
          <p:nvPr/>
        </p:nvSpPr>
        <p:spPr>
          <a:xfrm>
            <a:off x="4444770" y="1507474"/>
            <a:ext cx="135041" cy="152876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37" name="矩形 136">
            <a:extLst>
              <a:ext uri="{FF2B5EF4-FFF2-40B4-BE49-F238E27FC236}">
                <a16:creationId xmlns:a16="http://schemas.microsoft.com/office/drawing/2014/main" id="{5736EC36-0CBF-4C43-B754-719C41A7B94F}"/>
              </a:ext>
            </a:extLst>
          </p:cNvPr>
          <p:cNvSpPr>
            <a:spLocks noGrp="1"/>
          </p:cNvSpPr>
          <p:nvPr/>
        </p:nvSpPr>
        <p:spPr>
          <a:xfrm>
            <a:off x="4579811" y="1507474"/>
            <a:ext cx="135041" cy="152876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78B59D18-1E14-4676-AD86-40E4F33C2A40}"/>
              </a:ext>
            </a:extLst>
          </p:cNvPr>
          <p:cNvSpPr>
            <a:spLocks noGrp="1"/>
          </p:cNvSpPr>
          <p:nvPr/>
        </p:nvSpPr>
        <p:spPr>
          <a:xfrm>
            <a:off x="4714851" y="1507474"/>
            <a:ext cx="135041" cy="152876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39" name="C2[i2]">
            <a:extLst>
              <a:ext uri="{FF2B5EF4-FFF2-40B4-BE49-F238E27FC236}">
                <a16:creationId xmlns:a16="http://schemas.microsoft.com/office/drawing/2014/main" id="{963213D3-4D8C-45F5-926E-80E8D9556D5E}"/>
              </a:ext>
            </a:extLst>
          </p:cNvPr>
          <p:cNvSpPr>
            <a:spLocks noGrp="1"/>
          </p:cNvSpPr>
          <p:nvPr/>
        </p:nvSpPr>
        <p:spPr>
          <a:xfrm>
            <a:off x="4309729" y="1354598"/>
            <a:ext cx="540163" cy="13758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C2[i2]</a:t>
            </a:r>
          </a:p>
        </p:txBody>
      </p:sp>
      <p:sp>
        <p:nvSpPr>
          <p:cNvPr id="140" name="矩形 139">
            <a:extLst>
              <a:ext uri="{FF2B5EF4-FFF2-40B4-BE49-F238E27FC236}">
                <a16:creationId xmlns:a16="http://schemas.microsoft.com/office/drawing/2014/main" id="{88A1076C-FBD1-46CD-B9A5-D64C6A53DC21}"/>
              </a:ext>
            </a:extLst>
          </p:cNvPr>
          <p:cNvSpPr>
            <a:spLocks noGrp="1"/>
          </p:cNvSpPr>
          <p:nvPr/>
        </p:nvSpPr>
        <p:spPr>
          <a:xfrm>
            <a:off x="4309729" y="1507474"/>
            <a:ext cx="540163" cy="152876"/>
          </a:xfrm>
          <a:prstGeom prst="rect">
            <a:avLst/>
          </a:prstGeom>
          <a:noFill/>
          <a:ln w="7620">
            <a:noFill/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41" name="椭圆 140">
            <a:extLst>
              <a:ext uri="{FF2B5EF4-FFF2-40B4-BE49-F238E27FC236}">
                <a16:creationId xmlns:a16="http://schemas.microsoft.com/office/drawing/2014/main" id="{4E065DBB-55E2-4B50-945E-682D44661E1D}"/>
              </a:ext>
            </a:extLst>
          </p:cNvPr>
          <p:cNvSpPr>
            <a:spLocks noGrp="1"/>
          </p:cNvSpPr>
          <p:nvPr/>
        </p:nvSpPr>
        <p:spPr>
          <a:xfrm>
            <a:off x="4060031" y="1741884"/>
            <a:ext cx="193643" cy="193643"/>
          </a:xfrm>
          <a:prstGeom prst="ellipse">
            <a:avLst/>
          </a:prstGeom>
          <a:solidFill>
            <a:srgbClr val="FFFFFF"/>
          </a:solidFill>
          <a:ln w="7620">
            <a:solidFill>
              <a:srgbClr val="18222F"/>
            </a:solidFill>
          </a:ln>
        </p:spPr>
        <p:txBody>
          <a:bodyPr lIns="0" tIns="0" rIns="0" bIns="0" anchor="ctr"/>
          <a:lstStyle>
            <a:defPPr algn="ctr">
              <a:defRPr sz="963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963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963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963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963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963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963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963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963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963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963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963">
                <a:solidFill>
                  <a:srgbClr val="18222F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42" name="2ᵉ&#10;B32 exp.">
            <a:extLst>
              <a:ext uri="{FF2B5EF4-FFF2-40B4-BE49-F238E27FC236}">
                <a16:creationId xmlns:a16="http://schemas.microsoft.com/office/drawing/2014/main" id="{02B89242-7D3B-481F-8478-A90CE56E17F8}"/>
              </a:ext>
            </a:extLst>
          </p:cNvPr>
          <p:cNvSpPr>
            <a:spLocks noGrp="1"/>
          </p:cNvSpPr>
          <p:nvPr/>
        </p:nvSpPr>
        <p:spPr>
          <a:xfrm>
            <a:off x="5048631" y="982599"/>
            <a:ext cx="407670" cy="326136"/>
          </a:xfrm>
          <a:prstGeom prst="rect">
            <a:avLst/>
          </a:prstGeom>
          <a:solidFill>
            <a:srgbClr val="DAEFE6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2ᵉ</a:t>
            </a:r>
          </a:p>
          <a:p>
            <a: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B32 exp.</a:t>
            </a:r>
          </a:p>
        </p:txBody>
      </p:sp>
      <p:sp>
        <p:nvSpPr>
          <p:cNvPr id="143" name="gᵣ&#10;row gain">
            <a:extLst>
              <a:ext uri="{FF2B5EF4-FFF2-40B4-BE49-F238E27FC236}">
                <a16:creationId xmlns:a16="http://schemas.microsoft.com/office/drawing/2014/main" id="{1FA3C0C4-10D1-4B72-85EF-DD04076AE024}"/>
              </a:ext>
            </a:extLst>
          </p:cNvPr>
          <p:cNvSpPr>
            <a:spLocks noGrp="1"/>
          </p:cNvSpPr>
          <p:nvPr/>
        </p:nvSpPr>
        <p:spPr>
          <a:xfrm>
            <a:off x="5578602" y="982599"/>
            <a:ext cx="484108" cy="326136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gᵣ</a:t>
            </a:r>
          </a:p>
          <a:p>
            <a: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row gain</a:t>
            </a:r>
          </a:p>
        </p:txBody>
      </p:sp>
      <p:sp>
        <p:nvSpPr>
          <p:cNvPr id="144" name="椭圆 143">
            <a:extLst>
              <a:ext uri="{FF2B5EF4-FFF2-40B4-BE49-F238E27FC236}">
                <a16:creationId xmlns:a16="http://schemas.microsoft.com/office/drawing/2014/main" id="{EE28E1AD-16A0-4B08-95AE-5ECEAF210E9A}"/>
              </a:ext>
            </a:extLst>
          </p:cNvPr>
          <p:cNvSpPr>
            <a:spLocks noGrp="1"/>
          </p:cNvSpPr>
          <p:nvPr/>
        </p:nvSpPr>
        <p:spPr>
          <a:xfrm>
            <a:off x="5288137" y="1752076"/>
            <a:ext cx="188547" cy="188547"/>
          </a:xfrm>
          <a:prstGeom prst="ellipse">
            <a:avLst/>
          </a:prstGeom>
          <a:solidFill>
            <a:srgbClr val="FFFFFF"/>
          </a:solidFill>
          <a:ln w="7620">
            <a:solidFill>
              <a:srgbClr val="18222F"/>
            </a:solidFill>
          </a:ln>
        </p:spPr>
        <p:txBody>
          <a:bodyPr lIns="0" tIns="0" rIns="0" bIns="0" anchor="ctr"/>
          <a:lstStyle>
            <a:defPPr algn="ctr">
              <a:defRPr sz="963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963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963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963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963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963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963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963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963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963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963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963">
                <a:solidFill>
                  <a:srgbClr val="18222F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145" name="矩形 144">
            <a:extLst>
              <a:ext uri="{FF2B5EF4-FFF2-40B4-BE49-F238E27FC236}">
                <a16:creationId xmlns:a16="http://schemas.microsoft.com/office/drawing/2014/main" id="{1F191E2A-7166-4328-B489-C5ED3ABAED92}"/>
              </a:ext>
            </a:extLst>
          </p:cNvPr>
          <p:cNvSpPr>
            <a:spLocks noGrp="1"/>
          </p:cNvSpPr>
          <p:nvPr/>
        </p:nvSpPr>
        <p:spPr>
          <a:xfrm>
            <a:off x="5583698" y="1757172"/>
            <a:ext cx="119753" cy="152876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46" name="矩形 145">
            <a:extLst>
              <a:ext uri="{FF2B5EF4-FFF2-40B4-BE49-F238E27FC236}">
                <a16:creationId xmlns:a16="http://schemas.microsoft.com/office/drawing/2014/main" id="{5715612C-0ADF-497B-9367-7098A72A5F7F}"/>
              </a:ext>
            </a:extLst>
          </p:cNvPr>
          <p:cNvSpPr>
            <a:spLocks noGrp="1"/>
          </p:cNvSpPr>
          <p:nvPr/>
        </p:nvSpPr>
        <p:spPr>
          <a:xfrm>
            <a:off x="5703451" y="1757172"/>
            <a:ext cx="119753" cy="152876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47" name="矩形 146">
            <a:extLst>
              <a:ext uri="{FF2B5EF4-FFF2-40B4-BE49-F238E27FC236}">
                <a16:creationId xmlns:a16="http://schemas.microsoft.com/office/drawing/2014/main" id="{6ECDDD84-514F-418E-BBE3-4E994F943BD3}"/>
              </a:ext>
            </a:extLst>
          </p:cNvPr>
          <p:cNvSpPr>
            <a:spLocks noGrp="1"/>
          </p:cNvSpPr>
          <p:nvPr/>
        </p:nvSpPr>
        <p:spPr>
          <a:xfrm>
            <a:off x="5823204" y="1757172"/>
            <a:ext cx="119753" cy="152876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48" name="矩形 147">
            <a:extLst>
              <a:ext uri="{FF2B5EF4-FFF2-40B4-BE49-F238E27FC236}">
                <a16:creationId xmlns:a16="http://schemas.microsoft.com/office/drawing/2014/main" id="{CA71EA26-A9F0-4703-A6B4-8628F57DD0B4}"/>
              </a:ext>
            </a:extLst>
          </p:cNvPr>
          <p:cNvSpPr>
            <a:spLocks noGrp="1"/>
          </p:cNvSpPr>
          <p:nvPr/>
        </p:nvSpPr>
        <p:spPr>
          <a:xfrm>
            <a:off x="5942957" y="1757172"/>
            <a:ext cx="119753" cy="152876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49" name="矩形 148">
            <a:extLst>
              <a:ext uri="{FF2B5EF4-FFF2-40B4-BE49-F238E27FC236}">
                <a16:creationId xmlns:a16="http://schemas.microsoft.com/office/drawing/2014/main" id="{4ACF3688-183D-4539-A301-58B2B4E7AC87}"/>
              </a:ext>
            </a:extLst>
          </p:cNvPr>
          <p:cNvSpPr>
            <a:spLocks noGrp="1"/>
          </p:cNvSpPr>
          <p:nvPr/>
        </p:nvSpPr>
        <p:spPr>
          <a:xfrm>
            <a:off x="5583698" y="1757172"/>
            <a:ext cx="479012" cy="152876"/>
          </a:xfrm>
          <a:prstGeom prst="rect">
            <a:avLst/>
          </a:prstGeom>
          <a:noFill/>
          <a:ln w="7620">
            <a:noFill/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50" name="Ŵ = BF16[gᵣ 2ᵉ (C1[i1] + C2[i2])]">
            <a:extLst>
              <a:ext uri="{FF2B5EF4-FFF2-40B4-BE49-F238E27FC236}">
                <a16:creationId xmlns:a16="http://schemas.microsoft.com/office/drawing/2014/main" id="{B2DE0D9A-9217-459F-83F0-6AF056B09186}"/>
              </a:ext>
            </a:extLst>
          </p:cNvPr>
          <p:cNvSpPr>
            <a:spLocks noGrp="1"/>
          </p:cNvSpPr>
          <p:nvPr/>
        </p:nvSpPr>
        <p:spPr>
          <a:xfrm>
            <a:off x="3417951" y="2047637"/>
            <a:ext cx="2649855" cy="17835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92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Ŵ = BF16[gᵣ 2ᵉ (C1[i1] + C2[i2])]</a:t>
            </a:r>
          </a:p>
        </p:txBody>
      </p:sp>
      <p:sp>
        <p:nvSpPr>
          <p:cNvPr id="151" name="Shared BF16 weight scratch&#10;Global memory • one layer • stabl">
            <a:extLst>
              <a:ext uri="{FF2B5EF4-FFF2-40B4-BE49-F238E27FC236}">
                <a16:creationId xmlns:a16="http://schemas.microsoft.com/office/drawing/2014/main" id="{26712315-56B7-42A4-A66F-B7B89B8E85A7}"/>
              </a:ext>
            </a:extLst>
          </p:cNvPr>
          <p:cNvSpPr>
            <a:spLocks noGrp="1"/>
          </p:cNvSpPr>
          <p:nvPr/>
        </p:nvSpPr>
        <p:spPr>
          <a:xfrm>
            <a:off x="3407759" y="2317718"/>
            <a:ext cx="2654951" cy="331232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92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Shared BF16 weight scratch</a:t>
            </a:r>
          </a:p>
          <a:p>
            <a: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92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Global memory • one layer • stable address</a:t>
            </a:r>
          </a:p>
        </p:txBody>
      </p:sp>
      <p:cxnSp>
        <p:nvCxnSpPr>
          <p:cNvPr id="152" name="直接箭头连接符 151">
            <a:extLst>
              <a:ext uri="{FF2B5EF4-FFF2-40B4-BE49-F238E27FC236}">
                <a16:creationId xmlns:a16="http://schemas.microsoft.com/office/drawing/2014/main" id="{37D3A499-F636-4FE3-9206-4A5C4E7ACCD8}"/>
              </a:ext>
            </a:extLst>
          </p:cNvPr>
          <p:cNvCxnSpPr/>
          <p:nvPr/>
        </p:nvCxnSpPr>
        <p:spPr>
          <a:xfrm>
            <a:off x="3346609" y="2786539"/>
            <a:ext cx="2802731" cy="0"/>
          </a:xfrm>
          <a:prstGeom prst="straightConnector1">
            <a:avLst/>
          </a:prstGeom>
          <a:ln w="4077">
            <a:solidFill>
              <a:srgbClr val="697681"/>
            </a:solidFill>
            <a:prstDash val="dash"/>
          </a:ln>
        </p:spPr>
      </p:cxnSp>
      <p:sp>
        <p:nvSpPr>
          <p:cNvPr id="153" name="Activation pathway (per input X)">
            <a:extLst>
              <a:ext uri="{FF2B5EF4-FFF2-40B4-BE49-F238E27FC236}">
                <a16:creationId xmlns:a16="http://schemas.microsoft.com/office/drawing/2014/main" id="{C52D29E0-E137-41A9-A7EC-5013B662E84E}"/>
              </a:ext>
            </a:extLst>
          </p:cNvPr>
          <p:cNvSpPr>
            <a:spLocks noGrp="1"/>
          </p:cNvSpPr>
          <p:nvPr/>
        </p:nvSpPr>
        <p:spPr>
          <a:xfrm>
            <a:off x="3382280" y="2842593"/>
            <a:ext cx="2700814" cy="1630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92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Activation pathway (per input X)</a:t>
            </a:r>
          </a:p>
        </p:txBody>
      </p:sp>
      <p:sp>
        <p:nvSpPr>
          <p:cNvPr id="154" name="矩形 153">
            <a:extLst>
              <a:ext uri="{FF2B5EF4-FFF2-40B4-BE49-F238E27FC236}">
                <a16:creationId xmlns:a16="http://schemas.microsoft.com/office/drawing/2014/main" id="{DFD2AC1F-7B38-4F44-938C-AD129C3FFDC5}"/>
              </a:ext>
            </a:extLst>
          </p:cNvPr>
          <p:cNvSpPr>
            <a:spLocks noGrp="1"/>
          </p:cNvSpPr>
          <p:nvPr/>
        </p:nvSpPr>
        <p:spPr>
          <a:xfrm>
            <a:off x="3397568" y="3214592"/>
            <a:ext cx="56055" cy="78137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55" name="矩形 154">
            <a:extLst>
              <a:ext uri="{FF2B5EF4-FFF2-40B4-BE49-F238E27FC236}">
                <a16:creationId xmlns:a16="http://schemas.microsoft.com/office/drawing/2014/main" id="{B4F1E10F-C0CB-47E7-BD42-995BD0FF5230}"/>
              </a:ext>
            </a:extLst>
          </p:cNvPr>
          <p:cNvSpPr>
            <a:spLocks noGrp="1"/>
          </p:cNvSpPr>
          <p:nvPr/>
        </p:nvSpPr>
        <p:spPr>
          <a:xfrm>
            <a:off x="3453622" y="3214592"/>
            <a:ext cx="56055" cy="78137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56" name="矩形 155">
            <a:extLst>
              <a:ext uri="{FF2B5EF4-FFF2-40B4-BE49-F238E27FC236}">
                <a16:creationId xmlns:a16="http://schemas.microsoft.com/office/drawing/2014/main" id="{6877BE73-138B-44D3-B6E9-16C91AEA9DC1}"/>
              </a:ext>
            </a:extLst>
          </p:cNvPr>
          <p:cNvSpPr>
            <a:spLocks noGrp="1"/>
          </p:cNvSpPr>
          <p:nvPr/>
        </p:nvSpPr>
        <p:spPr>
          <a:xfrm>
            <a:off x="3509677" y="3214592"/>
            <a:ext cx="56055" cy="78137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57" name="矩形 156">
            <a:extLst>
              <a:ext uri="{FF2B5EF4-FFF2-40B4-BE49-F238E27FC236}">
                <a16:creationId xmlns:a16="http://schemas.microsoft.com/office/drawing/2014/main" id="{4D13F924-6D60-4BDA-85F4-C0ECB135076F}"/>
              </a:ext>
            </a:extLst>
          </p:cNvPr>
          <p:cNvSpPr>
            <a:spLocks noGrp="1"/>
          </p:cNvSpPr>
          <p:nvPr/>
        </p:nvSpPr>
        <p:spPr>
          <a:xfrm>
            <a:off x="3565731" y="3214592"/>
            <a:ext cx="56055" cy="78137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58" name="矩形 157">
            <a:extLst>
              <a:ext uri="{FF2B5EF4-FFF2-40B4-BE49-F238E27FC236}">
                <a16:creationId xmlns:a16="http://schemas.microsoft.com/office/drawing/2014/main" id="{DF4EE924-6E27-4352-9B54-9518BD0846FF}"/>
              </a:ext>
            </a:extLst>
          </p:cNvPr>
          <p:cNvSpPr>
            <a:spLocks noGrp="1"/>
          </p:cNvSpPr>
          <p:nvPr/>
        </p:nvSpPr>
        <p:spPr>
          <a:xfrm>
            <a:off x="3621786" y="3214592"/>
            <a:ext cx="56055" cy="78137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59" name="矩形 158">
            <a:extLst>
              <a:ext uri="{FF2B5EF4-FFF2-40B4-BE49-F238E27FC236}">
                <a16:creationId xmlns:a16="http://schemas.microsoft.com/office/drawing/2014/main" id="{43D01DB3-9B6F-4178-9F63-0A43955505ED}"/>
              </a:ext>
            </a:extLst>
          </p:cNvPr>
          <p:cNvSpPr>
            <a:spLocks noGrp="1"/>
          </p:cNvSpPr>
          <p:nvPr/>
        </p:nvSpPr>
        <p:spPr>
          <a:xfrm>
            <a:off x="3397568" y="3292729"/>
            <a:ext cx="56055" cy="78137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60" name="矩形 159">
            <a:extLst>
              <a:ext uri="{FF2B5EF4-FFF2-40B4-BE49-F238E27FC236}">
                <a16:creationId xmlns:a16="http://schemas.microsoft.com/office/drawing/2014/main" id="{5F28BD18-2DF0-4559-A280-8CF6EAF306FA}"/>
              </a:ext>
            </a:extLst>
          </p:cNvPr>
          <p:cNvSpPr>
            <a:spLocks noGrp="1"/>
          </p:cNvSpPr>
          <p:nvPr/>
        </p:nvSpPr>
        <p:spPr>
          <a:xfrm>
            <a:off x="3453622" y="3292729"/>
            <a:ext cx="56055" cy="78137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61" name="矩形 160">
            <a:extLst>
              <a:ext uri="{FF2B5EF4-FFF2-40B4-BE49-F238E27FC236}">
                <a16:creationId xmlns:a16="http://schemas.microsoft.com/office/drawing/2014/main" id="{6E4F0793-0CEE-4928-8653-17CB16F6E443}"/>
              </a:ext>
            </a:extLst>
          </p:cNvPr>
          <p:cNvSpPr>
            <a:spLocks noGrp="1"/>
          </p:cNvSpPr>
          <p:nvPr/>
        </p:nvSpPr>
        <p:spPr>
          <a:xfrm>
            <a:off x="3509677" y="3292729"/>
            <a:ext cx="56055" cy="78137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62" name="矩形 161">
            <a:extLst>
              <a:ext uri="{FF2B5EF4-FFF2-40B4-BE49-F238E27FC236}">
                <a16:creationId xmlns:a16="http://schemas.microsoft.com/office/drawing/2014/main" id="{F42E0FF2-CC27-48A6-8FEB-CBF869342D80}"/>
              </a:ext>
            </a:extLst>
          </p:cNvPr>
          <p:cNvSpPr>
            <a:spLocks noGrp="1"/>
          </p:cNvSpPr>
          <p:nvPr/>
        </p:nvSpPr>
        <p:spPr>
          <a:xfrm>
            <a:off x="3565731" y="3292729"/>
            <a:ext cx="56055" cy="78137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63" name="矩形 162">
            <a:extLst>
              <a:ext uri="{FF2B5EF4-FFF2-40B4-BE49-F238E27FC236}">
                <a16:creationId xmlns:a16="http://schemas.microsoft.com/office/drawing/2014/main" id="{0A8CBCDE-D840-48CF-B874-BD11D495BD2F}"/>
              </a:ext>
            </a:extLst>
          </p:cNvPr>
          <p:cNvSpPr>
            <a:spLocks noGrp="1"/>
          </p:cNvSpPr>
          <p:nvPr/>
        </p:nvSpPr>
        <p:spPr>
          <a:xfrm>
            <a:off x="3621786" y="3292729"/>
            <a:ext cx="56055" cy="78137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64" name="矩形 163">
            <a:extLst>
              <a:ext uri="{FF2B5EF4-FFF2-40B4-BE49-F238E27FC236}">
                <a16:creationId xmlns:a16="http://schemas.microsoft.com/office/drawing/2014/main" id="{BE9F958B-3B09-4FF5-A405-2078024E6B77}"/>
              </a:ext>
            </a:extLst>
          </p:cNvPr>
          <p:cNvSpPr>
            <a:spLocks noGrp="1"/>
          </p:cNvSpPr>
          <p:nvPr/>
        </p:nvSpPr>
        <p:spPr>
          <a:xfrm>
            <a:off x="3397568" y="3370866"/>
            <a:ext cx="56055" cy="78137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65" name="矩形 164">
            <a:extLst>
              <a:ext uri="{FF2B5EF4-FFF2-40B4-BE49-F238E27FC236}">
                <a16:creationId xmlns:a16="http://schemas.microsoft.com/office/drawing/2014/main" id="{6B4CE91F-F9F5-480F-A198-04C2BEB900E2}"/>
              </a:ext>
            </a:extLst>
          </p:cNvPr>
          <p:cNvSpPr>
            <a:spLocks noGrp="1"/>
          </p:cNvSpPr>
          <p:nvPr/>
        </p:nvSpPr>
        <p:spPr>
          <a:xfrm>
            <a:off x="3453622" y="3370866"/>
            <a:ext cx="56055" cy="78137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66" name="矩形 165">
            <a:extLst>
              <a:ext uri="{FF2B5EF4-FFF2-40B4-BE49-F238E27FC236}">
                <a16:creationId xmlns:a16="http://schemas.microsoft.com/office/drawing/2014/main" id="{94ABA9B3-94A0-4818-A282-A149371EB1F2}"/>
              </a:ext>
            </a:extLst>
          </p:cNvPr>
          <p:cNvSpPr>
            <a:spLocks noGrp="1"/>
          </p:cNvSpPr>
          <p:nvPr/>
        </p:nvSpPr>
        <p:spPr>
          <a:xfrm>
            <a:off x="3509677" y="3370866"/>
            <a:ext cx="56055" cy="78137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67" name="矩形 166">
            <a:extLst>
              <a:ext uri="{FF2B5EF4-FFF2-40B4-BE49-F238E27FC236}">
                <a16:creationId xmlns:a16="http://schemas.microsoft.com/office/drawing/2014/main" id="{B050E419-2A56-4838-A745-426CB61E8DE4}"/>
              </a:ext>
            </a:extLst>
          </p:cNvPr>
          <p:cNvSpPr>
            <a:spLocks noGrp="1"/>
          </p:cNvSpPr>
          <p:nvPr/>
        </p:nvSpPr>
        <p:spPr>
          <a:xfrm>
            <a:off x="3565731" y="3370866"/>
            <a:ext cx="56055" cy="78137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68" name="矩形 167">
            <a:extLst>
              <a:ext uri="{FF2B5EF4-FFF2-40B4-BE49-F238E27FC236}">
                <a16:creationId xmlns:a16="http://schemas.microsoft.com/office/drawing/2014/main" id="{BD77DDBF-F5C3-452F-A928-11760E7A67E3}"/>
              </a:ext>
            </a:extLst>
          </p:cNvPr>
          <p:cNvSpPr>
            <a:spLocks noGrp="1"/>
          </p:cNvSpPr>
          <p:nvPr/>
        </p:nvSpPr>
        <p:spPr>
          <a:xfrm>
            <a:off x="3621786" y="3370866"/>
            <a:ext cx="56055" cy="78137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69" name="X">
            <a:extLst>
              <a:ext uri="{FF2B5EF4-FFF2-40B4-BE49-F238E27FC236}">
                <a16:creationId xmlns:a16="http://schemas.microsoft.com/office/drawing/2014/main" id="{951EFBBE-3459-495F-83C6-1693DF5B93EE}"/>
              </a:ext>
            </a:extLst>
          </p:cNvPr>
          <p:cNvSpPr>
            <a:spLocks noGrp="1"/>
          </p:cNvSpPr>
          <p:nvPr/>
        </p:nvSpPr>
        <p:spPr>
          <a:xfrm>
            <a:off x="3397568" y="3061716"/>
            <a:ext cx="280273" cy="13758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170" name="矩形 169">
            <a:extLst>
              <a:ext uri="{FF2B5EF4-FFF2-40B4-BE49-F238E27FC236}">
                <a16:creationId xmlns:a16="http://schemas.microsoft.com/office/drawing/2014/main" id="{69E1E8FA-7DD6-41DD-8748-698698AC825B}"/>
              </a:ext>
            </a:extLst>
          </p:cNvPr>
          <p:cNvSpPr>
            <a:spLocks noGrp="1"/>
          </p:cNvSpPr>
          <p:nvPr/>
        </p:nvSpPr>
        <p:spPr>
          <a:xfrm>
            <a:off x="3397568" y="3214592"/>
            <a:ext cx="280273" cy="234410"/>
          </a:xfrm>
          <a:prstGeom prst="rect">
            <a:avLst/>
          </a:prstGeom>
          <a:noFill/>
          <a:ln w="7620">
            <a:noFill/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71" name="S⁻¹">
            <a:extLst>
              <a:ext uri="{FF2B5EF4-FFF2-40B4-BE49-F238E27FC236}">
                <a16:creationId xmlns:a16="http://schemas.microsoft.com/office/drawing/2014/main" id="{93D3C34E-3C35-4B3D-8D6C-9077BE40E428}"/>
              </a:ext>
            </a:extLst>
          </p:cNvPr>
          <p:cNvSpPr>
            <a:spLocks noGrp="1"/>
          </p:cNvSpPr>
          <p:nvPr/>
        </p:nvSpPr>
        <p:spPr>
          <a:xfrm>
            <a:off x="3769566" y="3163634"/>
            <a:ext cx="244602" cy="280273"/>
          </a:xfrm>
          <a:prstGeom prst="rect">
            <a:avLst/>
          </a:prstGeom>
          <a:solidFill>
            <a:srgbClr val="EDF0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92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S⁻¹</a:t>
            </a:r>
          </a:p>
        </p:txBody>
      </p:sp>
      <p:sp>
        <p:nvSpPr>
          <p:cNvPr id="172" name="H128">
            <a:extLst>
              <a:ext uri="{FF2B5EF4-FFF2-40B4-BE49-F238E27FC236}">
                <a16:creationId xmlns:a16="http://schemas.microsoft.com/office/drawing/2014/main" id="{09C237C7-D1FB-44AD-A8CE-8799F2F6ACCA}"/>
              </a:ext>
            </a:extLst>
          </p:cNvPr>
          <p:cNvSpPr>
            <a:spLocks noGrp="1"/>
          </p:cNvSpPr>
          <p:nvPr/>
        </p:nvSpPr>
        <p:spPr>
          <a:xfrm>
            <a:off x="4095702" y="3163634"/>
            <a:ext cx="300657" cy="280273"/>
          </a:xfrm>
          <a:prstGeom prst="rect">
            <a:avLst/>
          </a:prstGeom>
          <a:solidFill>
            <a:srgbClr val="EDF0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6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6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6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6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6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6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6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6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6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6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76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762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H128</a:t>
            </a:r>
          </a:p>
        </p:txBody>
      </p:sp>
      <p:sp>
        <p:nvSpPr>
          <p:cNvPr id="173" name="U128">
            <a:extLst>
              <a:ext uri="{FF2B5EF4-FFF2-40B4-BE49-F238E27FC236}">
                <a16:creationId xmlns:a16="http://schemas.microsoft.com/office/drawing/2014/main" id="{96CC400C-2CF1-4F5C-B281-D6305B27CA8E}"/>
              </a:ext>
            </a:extLst>
          </p:cNvPr>
          <p:cNvSpPr>
            <a:spLocks noGrp="1"/>
          </p:cNvSpPr>
          <p:nvPr/>
        </p:nvSpPr>
        <p:spPr>
          <a:xfrm>
            <a:off x="4472797" y="3163634"/>
            <a:ext cx="300657" cy="280273"/>
          </a:xfrm>
          <a:prstGeom prst="rect">
            <a:avLst/>
          </a:prstGeom>
          <a:solidFill>
            <a:srgbClr val="EDF0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6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6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6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6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6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6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6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6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6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6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76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762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U128</a:t>
            </a:r>
          </a:p>
        </p:txBody>
      </p:sp>
      <p:sp>
        <p:nvSpPr>
          <p:cNvPr id="174" name="round /&#10;clamp A4">
            <a:extLst>
              <a:ext uri="{FF2B5EF4-FFF2-40B4-BE49-F238E27FC236}">
                <a16:creationId xmlns:a16="http://schemas.microsoft.com/office/drawing/2014/main" id="{AF51A85C-1067-469B-8C5C-EDF619A29555}"/>
              </a:ext>
            </a:extLst>
          </p:cNvPr>
          <p:cNvSpPr>
            <a:spLocks noGrp="1"/>
          </p:cNvSpPr>
          <p:nvPr/>
        </p:nvSpPr>
        <p:spPr>
          <a:xfrm>
            <a:off x="4854988" y="3163634"/>
            <a:ext cx="417862" cy="280273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0" tIns="0" rIns="0" bIns="0" anchor="ctr">
            <a:noAutofit/>
          </a:bodyPr>
          <a:lstStyle>
            <a:defPPr algn="ctr">
              <a:defRPr sz="63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3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3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3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3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3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3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3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3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3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63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round /</a:t>
            </a:r>
          </a:p>
          <a:p>
            <a:pPr algn="ctr">
              <a:defRPr sz="63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clamp A4</a:t>
            </a:r>
          </a:p>
        </p:txBody>
      </p:sp>
      <p:sp>
        <p:nvSpPr>
          <p:cNvPr id="175" name="dequantize&#10;BF16">
            <a:extLst>
              <a:ext uri="{FF2B5EF4-FFF2-40B4-BE49-F238E27FC236}">
                <a16:creationId xmlns:a16="http://schemas.microsoft.com/office/drawing/2014/main" id="{7DC2FDEF-FBA5-4569-BCB9-6071332B5758}"/>
              </a:ext>
            </a:extLst>
          </p:cNvPr>
          <p:cNvSpPr>
            <a:spLocks noGrp="1"/>
          </p:cNvSpPr>
          <p:nvPr/>
        </p:nvSpPr>
        <p:spPr>
          <a:xfrm>
            <a:off x="5349288" y="3163634"/>
            <a:ext cx="509588" cy="280273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0" tIns="0" rIns="0" bIns="0" anchor="ctr">
            <a:noAutofit/>
          </a:bodyPr>
          <a:lstStyle>
            <a:defPPr algn="ctr">
              <a:defRPr sz="63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3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3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3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3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3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3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3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3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3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63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dequantize</a:t>
            </a:r>
          </a:p>
          <a:p>
            <a:pPr algn="ctr">
              <a:defRPr sz="63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BF16</a:t>
            </a:r>
          </a:p>
        </p:txBody>
      </p:sp>
      <p:sp>
        <p:nvSpPr>
          <p:cNvPr id="176" name="矩形 175">
            <a:extLst>
              <a:ext uri="{FF2B5EF4-FFF2-40B4-BE49-F238E27FC236}">
                <a16:creationId xmlns:a16="http://schemas.microsoft.com/office/drawing/2014/main" id="{4D8E7AAA-052D-40E8-96EC-91BBCB71ADD0}"/>
              </a:ext>
            </a:extLst>
          </p:cNvPr>
          <p:cNvSpPr>
            <a:spLocks noGrp="1"/>
          </p:cNvSpPr>
          <p:nvPr/>
        </p:nvSpPr>
        <p:spPr>
          <a:xfrm>
            <a:off x="5925121" y="3199305"/>
            <a:ext cx="52233" cy="78137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77" name="矩形 176">
            <a:extLst>
              <a:ext uri="{FF2B5EF4-FFF2-40B4-BE49-F238E27FC236}">
                <a16:creationId xmlns:a16="http://schemas.microsoft.com/office/drawing/2014/main" id="{3CA8B897-FCAE-49DF-9D29-CC167A3B7802}"/>
              </a:ext>
            </a:extLst>
          </p:cNvPr>
          <p:cNvSpPr>
            <a:spLocks noGrp="1"/>
          </p:cNvSpPr>
          <p:nvPr/>
        </p:nvSpPr>
        <p:spPr>
          <a:xfrm>
            <a:off x="5977354" y="3199305"/>
            <a:ext cx="52233" cy="78137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78" name="矩形 177">
            <a:extLst>
              <a:ext uri="{FF2B5EF4-FFF2-40B4-BE49-F238E27FC236}">
                <a16:creationId xmlns:a16="http://schemas.microsoft.com/office/drawing/2014/main" id="{4AC32D99-D8E5-4778-A162-0D07A0B30BF6}"/>
              </a:ext>
            </a:extLst>
          </p:cNvPr>
          <p:cNvSpPr>
            <a:spLocks noGrp="1"/>
          </p:cNvSpPr>
          <p:nvPr/>
        </p:nvSpPr>
        <p:spPr>
          <a:xfrm>
            <a:off x="6029587" y="3199305"/>
            <a:ext cx="52233" cy="78137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79" name="矩形 178">
            <a:extLst>
              <a:ext uri="{FF2B5EF4-FFF2-40B4-BE49-F238E27FC236}">
                <a16:creationId xmlns:a16="http://schemas.microsoft.com/office/drawing/2014/main" id="{99A0CB0E-3651-4305-A266-E2C5EE304CF3}"/>
              </a:ext>
            </a:extLst>
          </p:cNvPr>
          <p:cNvSpPr>
            <a:spLocks noGrp="1"/>
          </p:cNvSpPr>
          <p:nvPr/>
        </p:nvSpPr>
        <p:spPr>
          <a:xfrm>
            <a:off x="6081820" y="3199305"/>
            <a:ext cx="52233" cy="78137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80" name="矩形 179">
            <a:extLst>
              <a:ext uri="{FF2B5EF4-FFF2-40B4-BE49-F238E27FC236}">
                <a16:creationId xmlns:a16="http://schemas.microsoft.com/office/drawing/2014/main" id="{35BA075E-A811-401F-81BE-1C77BDC9A08A}"/>
              </a:ext>
            </a:extLst>
          </p:cNvPr>
          <p:cNvSpPr>
            <a:spLocks noGrp="1"/>
          </p:cNvSpPr>
          <p:nvPr/>
        </p:nvSpPr>
        <p:spPr>
          <a:xfrm>
            <a:off x="5925121" y="3277441"/>
            <a:ext cx="52233" cy="78137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81" name="矩形 180">
            <a:extLst>
              <a:ext uri="{FF2B5EF4-FFF2-40B4-BE49-F238E27FC236}">
                <a16:creationId xmlns:a16="http://schemas.microsoft.com/office/drawing/2014/main" id="{DD51C5D9-9D10-4A0B-99C1-6A483F007B0A}"/>
              </a:ext>
            </a:extLst>
          </p:cNvPr>
          <p:cNvSpPr>
            <a:spLocks noGrp="1"/>
          </p:cNvSpPr>
          <p:nvPr/>
        </p:nvSpPr>
        <p:spPr>
          <a:xfrm>
            <a:off x="5977354" y="3277441"/>
            <a:ext cx="52233" cy="78137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82" name="矩形 181">
            <a:extLst>
              <a:ext uri="{FF2B5EF4-FFF2-40B4-BE49-F238E27FC236}">
                <a16:creationId xmlns:a16="http://schemas.microsoft.com/office/drawing/2014/main" id="{6C8064DD-7D64-4FB7-9757-BF0A4169556E}"/>
              </a:ext>
            </a:extLst>
          </p:cNvPr>
          <p:cNvSpPr>
            <a:spLocks noGrp="1"/>
          </p:cNvSpPr>
          <p:nvPr/>
        </p:nvSpPr>
        <p:spPr>
          <a:xfrm>
            <a:off x="6029587" y="3277441"/>
            <a:ext cx="52233" cy="78137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83" name="矩形 182">
            <a:extLst>
              <a:ext uri="{FF2B5EF4-FFF2-40B4-BE49-F238E27FC236}">
                <a16:creationId xmlns:a16="http://schemas.microsoft.com/office/drawing/2014/main" id="{935BE36C-6234-4F11-B1E5-4C9BC6F22FB1}"/>
              </a:ext>
            </a:extLst>
          </p:cNvPr>
          <p:cNvSpPr>
            <a:spLocks noGrp="1"/>
          </p:cNvSpPr>
          <p:nvPr/>
        </p:nvSpPr>
        <p:spPr>
          <a:xfrm>
            <a:off x="6081820" y="3277441"/>
            <a:ext cx="52233" cy="78137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84" name="矩形 183">
            <a:extLst>
              <a:ext uri="{FF2B5EF4-FFF2-40B4-BE49-F238E27FC236}">
                <a16:creationId xmlns:a16="http://schemas.microsoft.com/office/drawing/2014/main" id="{13A3E018-89DD-47AA-9DCC-E32CAD690140}"/>
              </a:ext>
            </a:extLst>
          </p:cNvPr>
          <p:cNvSpPr>
            <a:spLocks noGrp="1"/>
          </p:cNvSpPr>
          <p:nvPr/>
        </p:nvSpPr>
        <p:spPr>
          <a:xfrm>
            <a:off x="5925121" y="3355578"/>
            <a:ext cx="52233" cy="78137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85" name="矩形 184">
            <a:extLst>
              <a:ext uri="{FF2B5EF4-FFF2-40B4-BE49-F238E27FC236}">
                <a16:creationId xmlns:a16="http://schemas.microsoft.com/office/drawing/2014/main" id="{B363DFA7-EC9A-456C-85E1-5BFD79A7D6E2}"/>
              </a:ext>
            </a:extLst>
          </p:cNvPr>
          <p:cNvSpPr>
            <a:spLocks noGrp="1"/>
          </p:cNvSpPr>
          <p:nvPr/>
        </p:nvSpPr>
        <p:spPr>
          <a:xfrm>
            <a:off x="5977354" y="3355578"/>
            <a:ext cx="52233" cy="78137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86" name="矩形 185">
            <a:extLst>
              <a:ext uri="{FF2B5EF4-FFF2-40B4-BE49-F238E27FC236}">
                <a16:creationId xmlns:a16="http://schemas.microsoft.com/office/drawing/2014/main" id="{EE2DDF65-3908-46FE-8EF3-5BAA2BD811E3}"/>
              </a:ext>
            </a:extLst>
          </p:cNvPr>
          <p:cNvSpPr>
            <a:spLocks noGrp="1"/>
          </p:cNvSpPr>
          <p:nvPr/>
        </p:nvSpPr>
        <p:spPr>
          <a:xfrm>
            <a:off x="6029587" y="3355578"/>
            <a:ext cx="52233" cy="78137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87" name="矩形 186">
            <a:extLst>
              <a:ext uri="{FF2B5EF4-FFF2-40B4-BE49-F238E27FC236}">
                <a16:creationId xmlns:a16="http://schemas.microsoft.com/office/drawing/2014/main" id="{2FFBD0C3-1F1F-42A1-9464-9DDD37C0648F}"/>
              </a:ext>
            </a:extLst>
          </p:cNvPr>
          <p:cNvSpPr>
            <a:spLocks noGrp="1"/>
          </p:cNvSpPr>
          <p:nvPr/>
        </p:nvSpPr>
        <p:spPr>
          <a:xfrm>
            <a:off x="6081820" y="3355578"/>
            <a:ext cx="52233" cy="78137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88" name="X̂">
            <a:extLst>
              <a:ext uri="{FF2B5EF4-FFF2-40B4-BE49-F238E27FC236}">
                <a16:creationId xmlns:a16="http://schemas.microsoft.com/office/drawing/2014/main" id="{0F67BEF3-D4E9-45CE-88F6-1E6E6DEBA634}"/>
              </a:ext>
            </a:extLst>
          </p:cNvPr>
          <p:cNvSpPr>
            <a:spLocks noGrp="1"/>
          </p:cNvSpPr>
          <p:nvPr/>
        </p:nvSpPr>
        <p:spPr>
          <a:xfrm>
            <a:off x="5925121" y="3046428"/>
            <a:ext cx="208931" cy="13758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X̂</a:t>
            </a:r>
          </a:p>
        </p:txBody>
      </p:sp>
      <p:sp>
        <p:nvSpPr>
          <p:cNvPr id="189" name="矩形 188">
            <a:extLst>
              <a:ext uri="{FF2B5EF4-FFF2-40B4-BE49-F238E27FC236}">
                <a16:creationId xmlns:a16="http://schemas.microsoft.com/office/drawing/2014/main" id="{F6AC83DB-81EB-4E3A-AEBA-51EF32BC1F19}"/>
              </a:ext>
            </a:extLst>
          </p:cNvPr>
          <p:cNvSpPr>
            <a:spLocks noGrp="1"/>
          </p:cNvSpPr>
          <p:nvPr/>
        </p:nvSpPr>
        <p:spPr>
          <a:xfrm>
            <a:off x="5925121" y="3199305"/>
            <a:ext cx="208931" cy="234410"/>
          </a:xfrm>
          <a:prstGeom prst="rect">
            <a:avLst/>
          </a:prstGeom>
          <a:noFill/>
          <a:ln w="7620">
            <a:noFill/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90" name="FP32 H/U scratch reuses weight buffer&#10;H → U → A4 → decode → ">
            <a:extLst>
              <a:ext uri="{FF2B5EF4-FFF2-40B4-BE49-F238E27FC236}">
                <a16:creationId xmlns:a16="http://schemas.microsoft.com/office/drawing/2014/main" id="{3FBF7E1F-EF95-4E97-9D6D-736F9091F4FF}"/>
              </a:ext>
            </a:extLst>
          </p:cNvPr>
          <p:cNvSpPr>
            <a:spLocks noGrp="1"/>
          </p:cNvSpPr>
          <p:nvPr/>
        </p:nvSpPr>
        <p:spPr>
          <a:xfrm>
            <a:off x="3713512" y="3622262"/>
            <a:ext cx="2333911" cy="275177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FP32 H/U scratch reuses weight buffer</a:t>
            </a:r>
          </a:p>
          <a:p>
            <a: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H → U → A4 → decode → GEMM</a:t>
            </a:r>
          </a:p>
        </p:txBody>
      </p:sp>
      <p:sp>
        <p:nvSpPr>
          <p:cNvPr id="191" name="Compute (GEMM)">
            <a:extLst>
              <a:ext uri="{FF2B5EF4-FFF2-40B4-BE49-F238E27FC236}">
                <a16:creationId xmlns:a16="http://schemas.microsoft.com/office/drawing/2014/main" id="{4ED6716B-CBD6-464A-AD66-B34B4992D766}"/>
              </a:ext>
            </a:extLst>
          </p:cNvPr>
          <p:cNvSpPr>
            <a:spLocks noGrp="1"/>
          </p:cNvSpPr>
          <p:nvPr/>
        </p:nvSpPr>
        <p:spPr>
          <a:xfrm>
            <a:off x="3382280" y="3999357"/>
            <a:ext cx="2700814" cy="15287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92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Compute (GEMM)</a:t>
            </a:r>
          </a:p>
        </p:txBody>
      </p:sp>
      <p:sp>
        <p:nvSpPr>
          <p:cNvPr id="192" name="椭圆 191">
            <a:extLst>
              <a:ext uri="{FF2B5EF4-FFF2-40B4-BE49-F238E27FC236}">
                <a16:creationId xmlns:a16="http://schemas.microsoft.com/office/drawing/2014/main" id="{12BA51C4-570A-46B9-BFAB-CD2AA62E7914}"/>
              </a:ext>
            </a:extLst>
          </p:cNvPr>
          <p:cNvSpPr>
            <a:spLocks noGrp="1"/>
          </p:cNvSpPr>
          <p:nvPr/>
        </p:nvSpPr>
        <p:spPr>
          <a:xfrm>
            <a:off x="3423047" y="4213384"/>
            <a:ext cx="203835" cy="203835"/>
          </a:xfrm>
          <a:prstGeom prst="ellipse">
            <a:avLst/>
          </a:prstGeom>
          <a:solidFill>
            <a:srgbClr val="DCEBFA"/>
          </a:solidFill>
          <a:ln w="7620">
            <a:solidFill>
              <a:srgbClr val="18222F"/>
            </a:solidFill>
          </a:ln>
        </p:spPr>
        <p:txBody>
          <a:bodyPr lIns="0" tIns="0" rIns="0" bIns="0" anchor="ctr"/>
          <a:lstStyle>
            <a:defPPr algn="ctr">
              <a:defRPr sz="963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963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963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963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963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963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963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963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963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963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963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963">
                <a:solidFill>
                  <a:srgbClr val="18222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93" name="Ŵ (BF16)">
            <a:extLst>
              <a:ext uri="{FF2B5EF4-FFF2-40B4-BE49-F238E27FC236}">
                <a16:creationId xmlns:a16="http://schemas.microsoft.com/office/drawing/2014/main" id="{26DB6EA1-DCDD-4451-B46A-7074D4759070}"/>
              </a:ext>
            </a:extLst>
          </p:cNvPr>
          <p:cNvSpPr>
            <a:spLocks noGrp="1"/>
          </p:cNvSpPr>
          <p:nvPr/>
        </p:nvSpPr>
        <p:spPr>
          <a:xfrm>
            <a:off x="3703320" y="4152233"/>
            <a:ext cx="596217" cy="183452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Ŵ (BF16)</a:t>
            </a:r>
          </a:p>
        </p:txBody>
      </p:sp>
      <p:sp>
        <p:nvSpPr>
          <p:cNvPr id="194" name="X̂ (BF16)">
            <a:extLst>
              <a:ext uri="{FF2B5EF4-FFF2-40B4-BE49-F238E27FC236}">
                <a16:creationId xmlns:a16="http://schemas.microsoft.com/office/drawing/2014/main" id="{BF3BA06E-32C8-4749-B358-461EB74FE72B}"/>
              </a:ext>
            </a:extLst>
          </p:cNvPr>
          <p:cNvSpPr>
            <a:spLocks noGrp="1"/>
          </p:cNvSpPr>
          <p:nvPr/>
        </p:nvSpPr>
        <p:spPr>
          <a:xfrm>
            <a:off x="3703320" y="4422315"/>
            <a:ext cx="596217" cy="18345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X̂ (BF16)</a:t>
            </a:r>
          </a:p>
        </p:txBody>
      </p:sp>
      <p:sp>
        <p:nvSpPr>
          <p:cNvPr id="195" name="cuBLAS BF16&#10;GEMM">
            <a:extLst>
              <a:ext uri="{FF2B5EF4-FFF2-40B4-BE49-F238E27FC236}">
                <a16:creationId xmlns:a16="http://schemas.microsoft.com/office/drawing/2014/main" id="{5AC8E660-3272-4235-9E98-90D6FB97E816}"/>
              </a:ext>
            </a:extLst>
          </p:cNvPr>
          <p:cNvSpPr>
            <a:spLocks noGrp="1"/>
          </p:cNvSpPr>
          <p:nvPr/>
        </p:nvSpPr>
        <p:spPr>
          <a:xfrm>
            <a:off x="4656249" y="4213384"/>
            <a:ext cx="840819" cy="356711"/>
          </a:xfrm>
          <a:prstGeom prst="rect">
            <a:avLst/>
          </a:prstGeom>
          <a:solidFill>
            <a:srgbClr val="F9E2C4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92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cuBLAS BF16</a:t>
            </a:r>
          </a:p>
          <a:p>
            <a:pPr algn="ctr">
              <a:defRPr sz="92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92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GEMM</a:t>
            </a:r>
          </a:p>
        </p:txBody>
      </p:sp>
      <p:sp>
        <p:nvSpPr>
          <p:cNvPr id="196" name="矩形 195">
            <a:extLst>
              <a:ext uri="{FF2B5EF4-FFF2-40B4-BE49-F238E27FC236}">
                <a16:creationId xmlns:a16="http://schemas.microsoft.com/office/drawing/2014/main" id="{ACE495A8-2C68-423E-ADA5-3E41FB8BD32F}"/>
              </a:ext>
            </a:extLst>
          </p:cNvPr>
          <p:cNvSpPr>
            <a:spLocks noGrp="1"/>
          </p:cNvSpPr>
          <p:nvPr/>
        </p:nvSpPr>
        <p:spPr>
          <a:xfrm>
            <a:off x="5792629" y="4279630"/>
            <a:ext cx="61151" cy="76438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97" name="矩形 196">
            <a:extLst>
              <a:ext uri="{FF2B5EF4-FFF2-40B4-BE49-F238E27FC236}">
                <a16:creationId xmlns:a16="http://schemas.microsoft.com/office/drawing/2014/main" id="{AC15F453-6F34-4EA4-983C-874E2AB7073D}"/>
              </a:ext>
            </a:extLst>
          </p:cNvPr>
          <p:cNvSpPr>
            <a:spLocks noGrp="1"/>
          </p:cNvSpPr>
          <p:nvPr/>
        </p:nvSpPr>
        <p:spPr>
          <a:xfrm>
            <a:off x="5853779" y="4279630"/>
            <a:ext cx="61151" cy="76438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98" name="矩形 197">
            <a:extLst>
              <a:ext uri="{FF2B5EF4-FFF2-40B4-BE49-F238E27FC236}">
                <a16:creationId xmlns:a16="http://schemas.microsoft.com/office/drawing/2014/main" id="{A455908D-AD2D-490C-A695-FF347B2DD217}"/>
              </a:ext>
            </a:extLst>
          </p:cNvPr>
          <p:cNvSpPr>
            <a:spLocks noGrp="1"/>
          </p:cNvSpPr>
          <p:nvPr/>
        </p:nvSpPr>
        <p:spPr>
          <a:xfrm>
            <a:off x="5914930" y="4279630"/>
            <a:ext cx="61151" cy="76438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99" name="矩形 198">
            <a:extLst>
              <a:ext uri="{FF2B5EF4-FFF2-40B4-BE49-F238E27FC236}">
                <a16:creationId xmlns:a16="http://schemas.microsoft.com/office/drawing/2014/main" id="{5D84C86C-D781-4679-8B6E-E7A79BA6EFC4}"/>
              </a:ext>
            </a:extLst>
          </p:cNvPr>
          <p:cNvSpPr>
            <a:spLocks noGrp="1"/>
          </p:cNvSpPr>
          <p:nvPr/>
        </p:nvSpPr>
        <p:spPr>
          <a:xfrm>
            <a:off x="5976080" y="4279630"/>
            <a:ext cx="61151" cy="76438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00" name="矩形 199">
            <a:extLst>
              <a:ext uri="{FF2B5EF4-FFF2-40B4-BE49-F238E27FC236}">
                <a16:creationId xmlns:a16="http://schemas.microsoft.com/office/drawing/2014/main" id="{360A3771-0D68-42CA-AF24-E486B5FA7C76}"/>
              </a:ext>
            </a:extLst>
          </p:cNvPr>
          <p:cNvSpPr>
            <a:spLocks noGrp="1"/>
          </p:cNvSpPr>
          <p:nvPr/>
        </p:nvSpPr>
        <p:spPr>
          <a:xfrm>
            <a:off x="6037231" y="4279630"/>
            <a:ext cx="61151" cy="76438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01" name="矩形 200">
            <a:extLst>
              <a:ext uri="{FF2B5EF4-FFF2-40B4-BE49-F238E27FC236}">
                <a16:creationId xmlns:a16="http://schemas.microsoft.com/office/drawing/2014/main" id="{6BC76D33-EC21-41D0-9F65-B49401443529}"/>
              </a:ext>
            </a:extLst>
          </p:cNvPr>
          <p:cNvSpPr>
            <a:spLocks noGrp="1"/>
          </p:cNvSpPr>
          <p:nvPr/>
        </p:nvSpPr>
        <p:spPr>
          <a:xfrm>
            <a:off x="5792629" y="4356068"/>
            <a:ext cx="61151" cy="76438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02" name="矩形 201">
            <a:extLst>
              <a:ext uri="{FF2B5EF4-FFF2-40B4-BE49-F238E27FC236}">
                <a16:creationId xmlns:a16="http://schemas.microsoft.com/office/drawing/2014/main" id="{31C3B93B-5E82-457F-B25A-E06FD1D93133}"/>
              </a:ext>
            </a:extLst>
          </p:cNvPr>
          <p:cNvSpPr>
            <a:spLocks noGrp="1"/>
          </p:cNvSpPr>
          <p:nvPr/>
        </p:nvSpPr>
        <p:spPr>
          <a:xfrm>
            <a:off x="5853779" y="4356068"/>
            <a:ext cx="61151" cy="76438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03" name="矩形 202">
            <a:extLst>
              <a:ext uri="{FF2B5EF4-FFF2-40B4-BE49-F238E27FC236}">
                <a16:creationId xmlns:a16="http://schemas.microsoft.com/office/drawing/2014/main" id="{8A75D1C5-3CE5-459C-B7B5-684C2CBF48D3}"/>
              </a:ext>
            </a:extLst>
          </p:cNvPr>
          <p:cNvSpPr>
            <a:spLocks noGrp="1"/>
          </p:cNvSpPr>
          <p:nvPr/>
        </p:nvSpPr>
        <p:spPr>
          <a:xfrm>
            <a:off x="5914930" y="4356068"/>
            <a:ext cx="61151" cy="76438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04" name="矩形 203">
            <a:extLst>
              <a:ext uri="{FF2B5EF4-FFF2-40B4-BE49-F238E27FC236}">
                <a16:creationId xmlns:a16="http://schemas.microsoft.com/office/drawing/2014/main" id="{F89736C6-F81C-40C9-A927-3AA4ECB957F6}"/>
              </a:ext>
            </a:extLst>
          </p:cNvPr>
          <p:cNvSpPr>
            <a:spLocks noGrp="1"/>
          </p:cNvSpPr>
          <p:nvPr/>
        </p:nvSpPr>
        <p:spPr>
          <a:xfrm>
            <a:off x="5976080" y="4356068"/>
            <a:ext cx="61151" cy="76438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05" name="矩形 204">
            <a:extLst>
              <a:ext uri="{FF2B5EF4-FFF2-40B4-BE49-F238E27FC236}">
                <a16:creationId xmlns:a16="http://schemas.microsoft.com/office/drawing/2014/main" id="{38212A9B-3D06-44F2-99E4-30EE01BDC0BF}"/>
              </a:ext>
            </a:extLst>
          </p:cNvPr>
          <p:cNvSpPr>
            <a:spLocks noGrp="1"/>
          </p:cNvSpPr>
          <p:nvPr/>
        </p:nvSpPr>
        <p:spPr>
          <a:xfrm>
            <a:off x="6037231" y="4356068"/>
            <a:ext cx="61151" cy="76438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06" name="矩形 205">
            <a:extLst>
              <a:ext uri="{FF2B5EF4-FFF2-40B4-BE49-F238E27FC236}">
                <a16:creationId xmlns:a16="http://schemas.microsoft.com/office/drawing/2014/main" id="{7E0D2414-7344-406C-8753-B7F1AE88120C}"/>
              </a:ext>
            </a:extLst>
          </p:cNvPr>
          <p:cNvSpPr>
            <a:spLocks noGrp="1"/>
          </p:cNvSpPr>
          <p:nvPr/>
        </p:nvSpPr>
        <p:spPr>
          <a:xfrm>
            <a:off x="5792629" y="4432506"/>
            <a:ext cx="61151" cy="76438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07" name="矩形 206">
            <a:extLst>
              <a:ext uri="{FF2B5EF4-FFF2-40B4-BE49-F238E27FC236}">
                <a16:creationId xmlns:a16="http://schemas.microsoft.com/office/drawing/2014/main" id="{D3C9ECCC-4BA6-40E9-A428-0399EF269A26}"/>
              </a:ext>
            </a:extLst>
          </p:cNvPr>
          <p:cNvSpPr>
            <a:spLocks noGrp="1"/>
          </p:cNvSpPr>
          <p:nvPr/>
        </p:nvSpPr>
        <p:spPr>
          <a:xfrm>
            <a:off x="5853779" y="4432506"/>
            <a:ext cx="61151" cy="76438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08" name="矩形 207">
            <a:extLst>
              <a:ext uri="{FF2B5EF4-FFF2-40B4-BE49-F238E27FC236}">
                <a16:creationId xmlns:a16="http://schemas.microsoft.com/office/drawing/2014/main" id="{C5B088BD-C41C-4C01-98B1-197D36058F8A}"/>
              </a:ext>
            </a:extLst>
          </p:cNvPr>
          <p:cNvSpPr>
            <a:spLocks noGrp="1"/>
          </p:cNvSpPr>
          <p:nvPr/>
        </p:nvSpPr>
        <p:spPr>
          <a:xfrm>
            <a:off x="5914930" y="4432506"/>
            <a:ext cx="61151" cy="76438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09" name="矩形 208">
            <a:extLst>
              <a:ext uri="{FF2B5EF4-FFF2-40B4-BE49-F238E27FC236}">
                <a16:creationId xmlns:a16="http://schemas.microsoft.com/office/drawing/2014/main" id="{D67E7CE5-19A8-4F1A-B4EA-3F312BD2B4F5}"/>
              </a:ext>
            </a:extLst>
          </p:cNvPr>
          <p:cNvSpPr>
            <a:spLocks noGrp="1"/>
          </p:cNvSpPr>
          <p:nvPr/>
        </p:nvSpPr>
        <p:spPr>
          <a:xfrm>
            <a:off x="5976080" y="4432506"/>
            <a:ext cx="61151" cy="76438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10" name="矩形 209">
            <a:extLst>
              <a:ext uri="{FF2B5EF4-FFF2-40B4-BE49-F238E27FC236}">
                <a16:creationId xmlns:a16="http://schemas.microsoft.com/office/drawing/2014/main" id="{1A09F990-59E6-4788-9DF5-B522F39BA63E}"/>
              </a:ext>
            </a:extLst>
          </p:cNvPr>
          <p:cNvSpPr>
            <a:spLocks noGrp="1"/>
          </p:cNvSpPr>
          <p:nvPr/>
        </p:nvSpPr>
        <p:spPr>
          <a:xfrm>
            <a:off x="6037231" y="4432506"/>
            <a:ext cx="61151" cy="76438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11" name="Y">
            <a:extLst>
              <a:ext uri="{FF2B5EF4-FFF2-40B4-BE49-F238E27FC236}">
                <a16:creationId xmlns:a16="http://schemas.microsoft.com/office/drawing/2014/main" id="{51281CE0-F1FD-4C4B-AB50-976631EA0BDE}"/>
              </a:ext>
            </a:extLst>
          </p:cNvPr>
          <p:cNvSpPr>
            <a:spLocks noGrp="1"/>
          </p:cNvSpPr>
          <p:nvPr/>
        </p:nvSpPr>
        <p:spPr>
          <a:xfrm>
            <a:off x="5792629" y="4126754"/>
            <a:ext cx="305753" cy="13758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Y</a:t>
            </a:r>
          </a:p>
        </p:txBody>
      </p:sp>
      <p:sp>
        <p:nvSpPr>
          <p:cNvPr id="212" name="矩形 211">
            <a:extLst>
              <a:ext uri="{FF2B5EF4-FFF2-40B4-BE49-F238E27FC236}">
                <a16:creationId xmlns:a16="http://schemas.microsoft.com/office/drawing/2014/main" id="{EB97E36F-25CE-48D2-B852-785DA5EA6985}"/>
              </a:ext>
            </a:extLst>
          </p:cNvPr>
          <p:cNvSpPr>
            <a:spLocks noGrp="1"/>
          </p:cNvSpPr>
          <p:nvPr/>
        </p:nvSpPr>
        <p:spPr>
          <a:xfrm>
            <a:off x="5792629" y="4279630"/>
            <a:ext cx="305753" cy="229314"/>
          </a:xfrm>
          <a:prstGeom prst="rect">
            <a:avLst/>
          </a:prstGeom>
          <a:noFill/>
          <a:ln w="7620">
            <a:noFill/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13" name="Current MMA operands: BF16 × BF16">
            <a:extLst>
              <a:ext uri="{FF2B5EF4-FFF2-40B4-BE49-F238E27FC236}">
                <a16:creationId xmlns:a16="http://schemas.microsoft.com/office/drawing/2014/main" id="{FBCFB02D-737A-4F9D-822E-08286F1CD30F}"/>
              </a:ext>
            </a:extLst>
          </p:cNvPr>
          <p:cNvSpPr>
            <a:spLocks noGrp="1"/>
          </p:cNvSpPr>
          <p:nvPr/>
        </p:nvSpPr>
        <p:spPr>
          <a:xfrm>
            <a:off x="3728799" y="4636341"/>
            <a:ext cx="2293144" cy="12739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883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defPPr>
            <a:lvl1pPr algn="ctr">
              <a:defRPr sz="883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lvl1pPr>
            <a:lvl2pPr algn="ctr">
              <a:defRPr sz="883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lvl2pPr>
            <a:lvl3pPr algn="ctr">
              <a:defRPr sz="883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lvl3pPr>
            <a:lvl4pPr algn="ctr">
              <a:defRPr sz="883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lvl4pPr>
            <a:lvl5pPr algn="ctr">
              <a:defRPr sz="883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lvl5pPr>
            <a:lvl6pPr algn="ctr">
              <a:defRPr sz="883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lvl6pPr>
            <a:lvl7pPr algn="ctr">
              <a:defRPr sz="883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lvl7pPr>
            <a:lvl8pPr algn="ctr">
              <a:defRPr sz="883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lvl8pPr>
            <a:lvl9pPr algn="ctr">
              <a:defRPr sz="883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883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pPr>
            <a:r>
              <a:rPr sz="883" b="1">
                <a:solidFill>
                  <a:srgbClr val="B96813"/>
                </a:solidFill>
                <a:latin typeface="Arial"/>
                <a:ea typeface="Arial"/>
                <a:cs typeface="Arial"/>
              </a:rPr>
              <a:t>Current MMA operands: BF16 × BF16</a:t>
            </a:r>
          </a:p>
        </p:txBody>
      </p:sp>
      <p:sp>
        <p:nvSpPr>
          <p:cNvPr id="214" name="(c) Query execution schedule">
            <a:extLst>
              <a:ext uri="{FF2B5EF4-FFF2-40B4-BE49-F238E27FC236}">
                <a16:creationId xmlns:a16="http://schemas.microsoft.com/office/drawing/2014/main" id="{A459AE9D-079D-4C44-8D8B-3ABDF1E12BFB}"/>
              </a:ext>
            </a:extLst>
          </p:cNvPr>
          <p:cNvSpPr>
            <a:spLocks noGrp="1"/>
          </p:cNvSpPr>
          <p:nvPr/>
        </p:nvSpPr>
        <p:spPr>
          <a:xfrm>
            <a:off x="6308884" y="111204"/>
            <a:ext cx="2395061" cy="17835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08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08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(c) Query execution schedule</a:t>
            </a:r>
          </a:p>
        </p:txBody>
      </p:sp>
      <p:cxnSp>
        <p:nvCxnSpPr>
          <p:cNvPr id="215" name="直接箭头连接符 214">
            <a:extLst>
              <a:ext uri="{FF2B5EF4-FFF2-40B4-BE49-F238E27FC236}">
                <a16:creationId xmlns:a16="http://schemas.microsoft.com/office/drawing/2014/main" id="{C5A880E4-2E07-4ABF-901F-8DC33F36BCEA}"/>
              </a:ext>
            </a:extLst>
          </p:cNvPr>
          <p:cNvCxnSpPr/>
          <p:nvPr/>
        </p:nvCxnSpPr>
        <p:spPr>
          <a:xfrm>
            <a:off x="6298692" y="315039"/>
            <a:ext cx="2415445" cy="0"/>
          </a:xfrm>
          <a:prstGeom prst="straightConnector1">
            <a:avLst/>
          </a:prstGeom>
          <a:ln w="4077">
            <a:solidFill>
              <a:srgbClr val="697681"/>
            </a:solidFill>
            <a:prstDash val="solid"/>
          </a:ln>
        </p:spPr>
      </p:cxnSp>
      <p:sp>
        <p:nvSpPr>
          <p:cNvPr id="216" name="Prepared GPU datum (single query)">
            <a:extLst>
              <a:ext uri="{FF2B5EF4-FFF2-40B4-BE49-F238E27FC236}">
                <a16:creationId xmlns:a16="http://schemas.microsoft.com/office/drawing/2014/main" id="{8CA8B72A-A444-4DD6-832C-CE83969DB2C8}"/>
              </a:ext>
            </a:extLst>
          </p:cNvPr>
          <p:cNvSpPr>
            <a:spLocks noGrp="1"/>
          </p:cNvSpPr>
          <p:nvPr/>
        </p:nvSpPr>
        <p:spPr>
          <a:xfrm>
            <a:off x="6334363" y="376190"/>
            <a:ext cx="2344103" cy="1630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92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Prepared GPU datum (single query)</a:t>
            </a:r>
          </a:p>
        </p:txBody>
      </p:sp>
      <p:sp>
        <p:nvSpPr>
          <p:cNvPr id="217" name="矩形 216">
            <a:extLst>
              <a:ext uri="{FF2B5EF4-FFF2-40B4-BE49-F238E27FC236}">
                <a16:creationId xmlns:a16="http://schemas.microsoft.com/office/drawing/2014/main" id="{3E089615-7919-4337-89FF-72ABB24AE5C3}"/>
              </a:ext>
            </a:extLst>
          </p:cNvPr>
          <p:cNvSpPr>
            <a:spLocks noGrp="1"/>
          </p:cNvSpPr>
          <p:nvPr/>
        </p:nvSpPr>
        <p:spPr>
          <a:xfrm>
            <a:off x="6370034" y="676847"/>
            <a:ext cx="58603" cy="58603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18" name="矩形 217">
            <a:extLst>
              <a:ext uri="{FF2B5EF4-FFF2-40B4-BE49-F238E27FC236}">
                <a16:creationId xmlns:a16="http://schemas.microsoft.com/office/drawing/2014/main" id="{78AB7B30-A009-4BF8-9ECC-DA92B448E6FF}"/>
              </a:ext>
            </a:extLst>
          </p:cNvPr>
          <p:cNvSpPr>
            <a:spLocks noGrp="1"/>
          </p:cNvSpPr>
          <p:nvPr/>
        </p:nvSpPr>
        <p:spPr>
          <a:xfrm>
            <a:off x="6428637" y="676847"/>
            <a:ext cx="58603" cy="58603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19" name="矩形 218">
            <a:extLst>
              <a:ext uri="{FF2B5EF4-FFF2-40B4-BE49-F238E27FC236}">
                <a16:creationId xmlns:a16="http://schemas.microsoft.com/office/drawing/2014/main" id="{72A9E54A-051D-4F43-B1F6-46F97AE25A61}"/>
              </a:ext>
            </a:extLst>
          </p:cNvPr>
          <p:cNvSpPr>
            <a:spLocks noGrp="1"/>
          </p:cNvSpPr>
          <p:nvPr/>
        </p:nvSpPr>
        <p:spPr>
          <a:xfrm>
            <a:off x="6487239" y="676847"/>
            <a:ext cx="58603" cy="58603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20" name="矩形 219">
            <a:extLst>
              <a:ext uri="{FF2B5EF4-FFF2-40B4-BE49-F238E27FC236}">
                <a16:creationId xmlns:a16="http://schemas.microsoft.com/office/drawing/2014/main" id="{B1EF4432-A648-46A3-8191-3F7733665CB8}"/>
              </a:ext>
            </a:extLst>
          </p:cNvPr>
          <p:cNvSpPr>
            <a:spLocks noGrp="1"/>
          </p:cNvSpPr>
          <p:nvPr/>
        </p:nvSpPr>
        <p:spPr>
          <a:xfrm>
            <a:off x="6545842" y="676847"/>
            <a:ext cx="58603" cy="58603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21" name="矩形 220">
            <a:extLst>
              <a:ext uri="{FF2B5EF4-FFF2-40B4-BE49-F238E27FC236}">
                <a16:creationId xmlns:a16="http://schemas.microsoft.com/office/drawing/2014/main" id="{5FDBCDA6-EC1B-45B5-9AC9-8C4795C63E85}"/>
              </a:ext>
            </a:extLst>
          </p:cNvPr>
          <p:cNvSpPr>
            <a:spLocks noGrp="1"/>
          </p:cNvSpPr>
          <p:nvPr/>
        </p:nvSpPr>
        <p:spPr>
          <a:xfrm>
            <a:off x="6604445" y="676847"/>
            <a:ext cx="58603" cy="58603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22" name="矩形 221">
            <a:extLst>
              <a:ext uri="{FF2B5EF4-FFF2-40B4-BE49-F238E27FC236}">
                <a16:creationId xmlns:a16="http://schemas.microsoft.com/office/drawing/2014/main" id="{2B25D123-949C-4670-8786-60D20AAD9A36}"/>
              </a:ext>
            </a:extLst>
          </p:cNvPr>
          <p:cNvSpPr>
            <a:spLocks noGrp="1"/>
          </p:cNvSpPr>
          <p:nvPr/>
        </p:nvSpPr>
        <p:spPr>
          <a:xfrm>
            <a:off x="6663047" y="676847"/>
            <a:ext cx="58603" cy="58603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23" name="矩形 222">
            <a:extLst>
              <a:ext uri="{FF2B5EF4-FFF2-40B4-BE49-F238E27FC236}">
                <a16:creationId xmlns:a16="http://schemas.microsoft.com/office/drawing/2014/main" id="{102821EA-BC2F-4CE0-9836-E9D43F52C692}"/>
              </a:ext>
            </a:extLst>
          </p:cNvPr>
          <p:cNvSpPr>
            <a:spLocks noGrp="1"/>
          </p:cNvSpPr>
          <p:nvPr/>
        </p:nvSpPr>
        <p:spPr>
          <a:xfrm>
            <a:off x="6721650" y="676847"/>
            <a:ext cx="58603" cy="58603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24" name="矩形 223">
            <a:extLst>
              <a:ext uri="{FF2B5EF4-FFF2-40B4-BE49-F238E27FC236}">
                <a16:creationId xmlns:a16="http://schemas.microsoft.com/office/drawing/2014/main" id="{E8C80D94-66E0-4C00-B87B-830AF0B27268}"/>
              </a:ext>
            </a:extLst>
          </p:cNvPr>
          <p:cNvSpPr>
            <a:spLocks noGrp="1"/>
          </p:cNvSpPr>
          <p:nvPr/>
        </p:nvSpPr>
        <p:spPr>
          <a:xfrm>
            <a:off x="6780252" y="676847"/>
            <a:ext cx="58603" cy="58603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25" name="矩形 224">
            <a:extLst>
              <a:ext uri="{FF2B5EF4-FFF2-40B4-BE49-F238E27FC236}">
                <a16:creationId xmlns:a16="http://schemas.microsoft.com/office/drawing/2014/main" id="{C3F40DAC-B829-43E8-AC3D-46D3AC481E04}"/>
              </a:ext>
            </a:extLst>
          </p:cNvPr>
          <p:cNvSpPr>
            <a:spLocks noGrp="1"/>
          </p:cNvSpPr>
          <p:nvPr/>
        </p:nvSpPr>
        <p:spPr>
          <a:xfrm>
            <a:off x="6370034" y="735449"/>
            <a:ext cx="58603" cy="58603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26" name="矩形 225">
            <a:extLst>
              <a:ext uri="{FF2B5EF4-FFF2-40B4-BE49-F238E27FC236}">
                <a16:creationId xmlns:a16="http://schemas.microsoft.com/office/drawing/2014/main" id="{1573997D-3A43-4436-920B-556D1012E559}"/>
              </a:ext>
            </a:extLst>
          </p:cNvPr>
          <p:cNvSpPr>
            <a:spLocks noGrp="1"/>
          </p:cNvSpPr>
          <p:nvPr/>
        </p:nvSpPr>
        <p:spPr>
          <a:xfrm>
            <a:off x="6428637" y="735449"/>
            <a:ext cx="58603" cy="58603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27" name="矩形 226">
            <a:extLst>
              <a:ext uri="{FF2B5EF4-FFF2-40B4-BE49-F238E27FC236}">
                <a16:creationId xmlns:a16="http://schemas.microsoft.com/office/drawing/2014/main" id="{8C1C4C33-DC20-410D-B32C-0E98679E6CAA}"/>
              </a:ext>
            </a:extLst>
          </p:cNvPr>
          <p:cNvSpPr>
            <a:spLocks noGrp="1"/>
          </p:cNvSpPr>
          <p:nvPr/>
        </p:nvSpPr>
        <p:spPr>
          <a:xfrm>
            <a:off x="6487239" y="735449"/>
            <a:ext cx="58603" cy="58603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28" name="矩形 227">
            <a:extLst>
              <a:ext uri="{FF2B5EF4-FFF2-40B4-BE49-F238E27FC236}">
                <a16:creationId xmlns:a16="http://schemas.microsoft.com/office/drawing/2014/main" id="{60E9AAB4-1E60-4291-87B2-D58E9D61D337}"/>
              </a:ext>
            </a:extLst>
          </p:cNvPr>
          <p:cNvSpPr>
            <a:spLocks noGrp="1"/>
          </p:cNvSpPr>
          <p:nvPr/>
        </p:nvSpPr>
        <p:spPr>
          <a:xfrm>
            <a:off x="6545842" y="735449"/>
            <a:ext cx="58603" cy="58603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29" name="矩形 228">
            <a:extLst>
              <a:ext uri="{FF2B5EF4-FFF2-40B4-BE49-F238E27FC236}">
                <a16:creationId xmlns:a16="http://schemas.microsoft.com/office/drawing/2014/main" id="{F5F82180-F6F0-4D14-8181-93A01CA45297}"/>
              </a:ext>
            </a:extLst>
          </p:cNvPr>
          <p:cNvSpPr>
            <a:spLocks noGrp="1"/>
          </p:cNvSpPr>
          <p:nvPr/>
        </p:nvSpPr>
        <p:spPr>
          <a:xfrm>
            <a:off x="6604445" y="735449"/>
            <a:ext cx="58603" cy="58603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30" name="矩形 229">
            <a:extLst>
              <a:ext uri="{FF2B5EF4-FFF2-40B4-BE49-F238E27FC236}">
                <a16:creationId xmlns:a16="http://schemas.microsoft.com/office/drawing/2014/main" id="{3B0CE64D-A778-4E32-9AA8-7C567CD811CC}"/>
              </a:ext>
            </a:extLst>
          </p:cNvPr>
          <p:cNvSpPr>
            <a:spLocks noGrp="1"/>
          </p:cNvSpPr>
          <p:nvPr/>
        </p:nvSpPr>
        <p:spPr>
          <a:xfrm>
            <a:off x="6663047" y="735449"/>
            <a:ext cx="58603" cy="58603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31" name="矩形 230">
            <a:extLst>
              <a:ext uri="{FF2B5EF4-FFF2-40B4-BE49-F238E27FC236}">
                <a16:creationId xmlns:a16="http://schemas.microsoft.com/office/drawing/2014/main" id="{08609E7A-6FC2-45F2-B21B-8DB85E5803CA}"/>
              </a:ext>
            </a:extLst>
          </p:cNvPr>
          <p:cNvSpPr>
            <a:spLocks noGrp="1"/>
          </p:cNvSpPr>
          <p:nvPr/>
        </p:nvSpPr>
        <p:spPr>
          <a:xfrm>
            <a:off x="6721650" y="735449"/>
            <a:ext cx="58603" cy="58603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32" name="矩形 231">
            <a:extLst>
              <a:ext uri="{FF2B5EF4-FFF2-40B4-BE49-F238E27FC236}">
                <a16:creationId xmlns:a16="http://schemas.microsoft.com/office/drawing/2014/main" id="{03315A30-C0C3-4755-B8E2-9A57018F5018}"/>
              </a:ext>
            </a:extLst>
          </p:cNvPr>
          <p:cNvSpPr>
            <a:spLocks noGrp="1"/>
          </p:cNvSpPr>
          <p:nvPr/>
        </p:nvSpPr>
        <p:spPr>
          <a:xfrm>
            <a:off x="6780252" y="735449"/>
            <a:ext cx="58603" cy="58603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33" name="矩形 232">
            <a:extLst>
              <a:ext uri="{FF2B5EF4-FFF2-40B4-BE49-F238E27FC236}">
                <a16:creationId xmlns:a16="http://schemas.microsoft.com/office/drawing/2014/main" id="{D2E490D7-E8D8-400E-8F70-B45F64AA1B6A}"/>
              </a:ext>
            </a:extLst>
          </p:cNvPr>
          <p:cNvSpPr>
            <a:spLocks noGrp="1"/>
          </p:cNvSpPr>
          <p:nvPr/>
        </p:nvSpPr>
        <p:spPr>
          <a:xfrm>
            <a:off x="6370034" y="676847"/>
            <a:ext cx="468821" cy="117205"/>
          </a:xfrm>
          <a:prstGeom prst="rect">
            <a:avLst/>
          </a:prstGeom>
          <a:noFill/>
          <a:ln w="7620">
            <a:noFill/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34" name="video latent">
            <a:extLst>
              <a:ext uri="{FF2B5EF4-FFF2-40B4-BE49-F238E27FC236}">
                <a16:creationId xmlns:a16="http://schemas.microsoft.com/office/drawing/2014/main" id="{1BB0817E-62A4-46C8-8AAA-D36F681A3F0D}"/>
              </a:ext>
            </a:extLst>
          </p:cNvPr>
          <p:cNvSpPr>
            <a:spLocks noGrp="1"/>
          </p:cNvSpPr>
          <p:nvPr/>
        </p:nvSpPr>
        <p:spPr>
          <a:xfrm>
            <a:off x="6349651" y="534162"/>
            <a:ext cx="535067" cy="12230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82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video latent</a:t>
            </a:r>
          </a:p>
        </p:txBody>
      </p:sp>
      <p:sp>
        <p:nvSpPr>
          <p:cNvPr id="235" name="矩形 234">
            <a:extLst>
              <a:ext uri="{FF2B5EF4-FFF2-40B4-BE49-F238E27FC236}">
                <a16:creationId xmlns:a16="http://schemas.microsoft.com/office/drawing/2014/main" id="{1463EA17-B8BC-4DC6-A6E7-54A686D2BF63}"/>
              </a:ext>
            </a:extLst>
          </p:cNvPr>
          <p:cNvSpPr>
            <a:spLocks noGrp="1"/>
          </p:cNvSpPr>
          <p:nvPr/>
        </p:nvSpPr>
        <p:spPr>
          <a:xfrm>
            <a:off x="6966252" y="676847"/>
            <a:ext cx="58603" cy="58603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36" name="矩形 235">
            <a:extLst>
              <a:ext uri="{FF2B5EF4-FFF2-40B4-BE49-F238E27FC236}">
                <a16:creationId xmlns:a16="http://schemas.microsoft.com/office/drawing/2014/main" id="{12AAA2EA-1D3D-4162-9398-CE6E14696BE6}"/>
              </a:ext>
            </a:extLst>
          </p:cNvPr>
          <p:cNvSpPr>
            <a:spLocks noGrp="1"/>
          </p:cNvSpPr>
          <p:nvPr/>
        </p:nvSpPr>
        <p:spPr>
          <a:xfrm>
            <a:off x="7024854" y="676847"/>
            <a:ext cx="58603" cy="58603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37" name="矩形 236">
            <a:extLst>
              <a:ext uri="{FF2B5EF4-FFF2-40B4-BE49-F238E27FC236}">
                <a16:creationId xmlns:a16="http://schemas.microsoft.com/office/drawing/2014/main" id="{FB9D6629-FD5C-4ACB-B734-161CC48F2512}"/>
              </a:ext>
            </a:extLst>
          </p:cNvPr>
          <p:cNvSpPr>
            <a:spLocks noGrp="1"/>
          </p:cNvSpPr>
          <p:nvPr/>
        </p:nvSpPr>
        <p:spPr>
          <a:xfrm>
            <a:off x="7083457" y="676847"/>
            <a:ext cx="58603" cy="58603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38" name="矩形 237">
            <a:extLst>
              <a:ext uri="{FF2B5EF4-FFF2-40B4-BE49-F238E27FC236}">
                <a16:creationId xmlns:a16="http://schemas.microsoft.com/office/drawing/2014/main" id="{6A08E1D2-444C-4B62-86DA-41BAB61BBAC3}"/>
              </a:ext>
            </a:extLst>
          </p:cNvPr>
          <p:cNvSpPr>
            <a:spLocks noGrp="1"/>
          </p:cNvSpPr>
          <p:nvPr/>
        </p:nvSpPr>
        <p:spPr>
          <a:xfrm>
            <a:off x="7142059" y="676847"/>
            <a:ext cx="58603" cy="58603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39" name="矩形 238">
            <a:extLst>
              <a:ext uri="{FF2B5EF4-FFF2-40B4-BE49-F238E27FC236}">
                <a16:creationId xmlns:a16="http://schemas.microsoft.com/office/drawing/2014/main" id="{A8F84290-D8B2-4846-9527-03689E418FC0}"/>
              </a:ext>
            </a:extLst>
          </p:cNvPr>
          <p:cNvSpPr>
            <a:spLocks noGrp="1"/>
          </p:cNvSpPr>
          <p:nvPr/>
        </p:nvSpPr>
        <p:spPr>
          <a:xfrm>
            <a:off x="7200662" y="676847"/>
            <a:ext cx="58603" cy="58603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40" name="矩形 239">
            <a:extLst>
              <a:ext uri="{FF2B5EF4-FFF2-40B4-BE49-F238E27FC236}">
                <a16:creationId xmlns:a16="http://schemas.microsoft.com/office/drawing/2014/main" id="{7F2696CD-E2AE-4FBC-B7E6-F166DAC98473}"/>
              </a:ext>
            </a:extLst>
          </p:cNvPr>
          <p:cNvSpPr>
            <a:spLocks noGrp="1"/>
          </p:cNvSpPr>
          <p:nvPr/>
        </p:nvSpPr>
        <p:spPr>
          <a:xfrm>
            <a:off x="7259264" y="676847"/>
            <a:ext cx="58603" cy="58603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41" name="矩形 240">
            <a:extLst>
              <a:ext uri="{FF2B5EF4-FFF2-40B4-BE49-F238E27FC236}">
                <a16:creationId xmlns:a16="http://schemas.microsoft.com/office/drawing/2014/main" id="{5CA4D1EA-2E73-4471-8F6F-291AA10E9E6C}"/>
              </a:ext>
            </a:extLst>
          </p:cNvPr>
          <p:cNvSpPr>
            <a:spLocks noGrp="1"/>
          </p:cNvSpPr>
          <p:nvPr/>
        </p:nvSpPr>
        <p:spPr>
          <a:xfrm>
            <a:off x="7317867" y="676847"/>
            <a:ext cx="58603" cy="58603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42" name="矩形 241">
            <a:extLst>
              <a:ext uri="{FF2B5EF4-FFF2-40B4-BE49-F238E27FC236}">
                <a16:creationId xmlns:a16="http://schemas.microsoft.com/office/drawing/2014/main" id="{865ABFE9-68CA-4E10-97C0-58430CD86867}"/>
              </a:ext>
            </a:extLst>
          </p:cNvPr>
          <p:cNvSpPr>
            <a:spLocks noGrp="1"/>
          </p:cNvSpPr>
          <p:nvPr/>
        </p:nvSpPr>
        <p:spPr>
          <a:xfrm>
            <a:off x="7376470" y="676847"/>
            <a:ext cx="58603" cy="58603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43" name="矩形 242">
            <a:extLst>
              <a:ext uri="{FF2B5EF4-FFF2-40B4-BE49-F238E27FC236}">
                <a16:creationId xmlns:a16="http://schemas.microsoft.com/office/drawing/2014/main" id="{DC3BFB13-68CE-45BA-954C-B8B726674C8B}"/>
              </a:ext>
            </a:extLst>
          </p:cNvPr>
          <p:cNvSpPr>
            <a:spLocks noGrp="1"/>
          </p:cNvSpPr>
          <p:nvPr/>
        </p:nvSpPr>
        <p:spPr>
          <a:xfrm>
            <a:off x="6966252" y="735449"/>
            <a:ext cx="58603" cy="58603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44" name="矩形 243">
            <a:extLst>
              <a:ext uri="{FF2B5EF4-FFF2-40B4-BE49-F238E27FC236}">
                <a16:creationId xmlns:a16="http://schemas.microsoft.com/office/drawing/2014/main" id="{54AE0147-EE64-4A38-941A-111B4868F8E3}"/>
              </a:ext>
            </a:extLst>
          </p:cNvPr>
          <p:cNvSpPr>
            <a:spLocks noGrp="1"/>
          </p:cNvSpPr>
          <p:nvPr/>
        </p:nvSpPr>
        <p:spPr>
          <a:xfrm>
            <a:off x="7024854" y="735449"/>
            <a:ext cx="58603" cy="58603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45" name="矩形 244">
            <a:extLst>
              <a:ext uri="{FF2B5EF4-FFF2-40B4-BE49-F238E27FC236}">
                <a16:creationId xmlns:a16="http://schemas.microsoft.com/office/drawing/2014/main" id="{BFC3A5E3-A6BC-4635-905F-81EC02A797AD}"/>
              </a:ext>
            </a:extLst>
          </p:cNvPr>
          <p:cNvSpPr>
            <a:spLocks noGrp="1"/>
          </p:cNvSpPr>
          <p:nvPr/>
        </p:nvSpPr>
        <p:spPr>
          <a:xfrm>
            <a:off x="7083457" y="735449"/>
            <a:ext cx="58603" cy="58603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46" name="矩形 245">
            <a:extLst>
              <a:ext uri="{FF2B5EF4-FFF2-40B4-BE49-F238E27FC236}">
                <a16:creationId xmlns:a16="http://schemas.microsoft.com/office/drawing/2014/main" id="{85A603CB-BF9F-449B-BD93-2EDDBF4119C3}"/>
              </a:ext>
            </a:extLst>
          </p:cNvPr>
          <p:cNvSpPr>
            <a:spLocks noGrp="1"/>
          </p:cNvSpPr>
          <p:nvPr/>
        </p:nvSpPr>
        <p:spPr>
          <a:xfrm>
            <a:off x="7142059" y="735449"/>
            <a:ext cx="58603" cy="58603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47" name="矩形 246">
            <a:extLst>
              <a:ext uri="{FF2B5EF4-FFF2-40B4-BE49-F238E27FC236}">
                <a16:creationId xmlns:a16="http://schemas.microsoft.com/office/drawing/2014/main" id="{242DF0B9-FF4E-42D4-8AFA-075B6CDAF665}"/>
              </a:ext>
            </a:extLst>
          </p:cNvPr>
          <p:cNvSpPr>
            <a:spLocks noGrp="1"/>
          </p:cNvSpPr>
          <p:nvPr/>
        </p:nvSpPr>
        <p:spPr>
          <a:xfrm>
            <a:off x="7200662" y="735449"/>
            <a:ext cx="58603" cy="58603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48" name="矩形 247">
            <a:extLst>
              <a:ext uri="{FF2B5EF4-FFF2-40B4-BE49-F238E27FC236}">
                <a16:creationId xmlns:a16="http://schemas.microsoft.com/office/drawing/2014/main" id="{916DA6A9-A0FE-4FF7-83A4-6E3CEF8DAC8B}"/>
              </a:ext>
            </a:extLst>
          </p:cNvPr>
          <p:cNvSpPr>
            <a:spLocks noGrp="1"/>
          </p:cNvSpPr>
          <p:nvPr/>
        </p:nvSpPr>
        <p:spPr>
          <a:xfrm>
            <a:off x="7259264" y="735449"/>
            <a:ext cx="58603" cy="58603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49" name="矩形 248">
            <a:extLst>
              <a:ext uri="{FF2B5EF4-FFF2-40B4-BE49-F238E27FC236}">
                <a16:creationId xmlns:a16="http://schemas.microsoft.com/office/drawing/2014/main" id="{79F7B5CC-F0AD-4ABB-BB5F-FAAC404EEC79}"/>
              </a:ext>
            </a:extLst>
          </p:cNvPr>
          <p:cNvSpPr>
            <a:spLocks noGrp="1"/>
          </p:cNvSpPr>
          <p:nvPr/>
        </p:nvSpPr>
        <p:spPr>
          <a:xfrm>
            <a:off x="7317867" y="735449"/>
            <a:ext cx="58603" cy="58603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50" name="矩形 249">
            <a:extLst>
              <a:ext uri="{FF2B5EF4-FFF2-40B4-BE49-F238E27FC236}">
                <a16:creationId xmlns:a16="http://schemas.microsoft.com/office/drawing/2014/main" id="{8FF68B44-C2AD-4CF2-8077-1CE06DC9230A}"/>
              </a:ext>
            </a:extLst>
          </p:cNvPr>
          <p:cNvSpPr>
            <a:spLocks noGrp="1"/>
          </p:cNvSpPr>
          <p:nvPr/>
        </p:nvSpPr>
        <p:spPr>
          <a:xfrm>
            <a:off x="7376470" y="735449"/>
            <a:ext cx="58603" cy="58603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51" name="矩形 250">
            <a:extLst>
              <a:ext uri="{FF2B5EF4-FFF2-40B4-BE49-F238E27FC236}">
                <a16:creationId xmlns:a16="http://schemas.microsoft.com/office/drawing/2014/main" id="{05A3521E-DB33-4D5C-A40F-30E707C64352}"/>
              </a:ext>
            </a:extLst>
          </p:cNvPr>
          <p:cNvSpPr>
            <a:spLocks noGrp="1"/>
          </p:cNvSpPr>
          <p:nvPr/>
        </p:nvSpPr>
        <p:spPr>
          <a:xfrm>
            <a:off x="6966252" y="676847"/>
            <a:ext cx="468821" cy="117205"/>
          </a:xfrm>
          <a:prstGeom prst="rect">
            <a:avLst/>
          </a:prstGeom>
          <a:noFill/>
          <a:ln w="7620">
            <a:noFill/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52" name="action">
            <a:extLst>
              <a:ext uri="{FF2B5EF4-FFF2-40B4-BE49-F238E27FC236}">
                <a16:creationId xmlns:a16="http://schemas.microsoft.com/office/drawing/2014/main" id="{2527DEC4-5303-4FC9-A424-C3302DE0A423}"/>
              </a:ext>
            </a:extLst>
          </p:cNvPr>
          <p:cNvSpPr>
            <a:spLocks noGrp="1"/>
          </p:cNvSpPr>
          <p:nvPr/>
        </p:nvSpPr>
        <p:spPr>
          <a:xfrm>
            <a:off x="6945868" y="534162"/>
            <a:ext cx="535067" cy="12230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82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action</a:t>
            </a:r>
          </a:p>
        </p:txBody>
      </p:sp>
      <p:sp>
        <p:nvSpPr>
          <p:cNvPr id="253" name="矩形 252">
            <a:extLst>
              <a:ext uri="{FF2B5EF4-FFF2-40B4-BE49-F238E27FC236}">
                <a16:creationId xmlns:a16="http://schemas.microsoft.com/office/drawing/2014/main" id="{4E6ED1CD-706F-4F26-8733-B61FC75976D7}"/>
              </a:ext>
            </a:extLst>
          </p:cNvPr>
          <p:cNvSpPr>
            <a:spLocks noGrp="1"/>
          </p:cNvSpPr>
          <p:nvPr/>
        </p:nvSpPr>
        <p:spPr>
          <a:xfrm>
            <a:off x="7562469" y="676847"/>
            <a:ext cx="58603" cy="58603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54" name="矩形 253">
            <a:extLst>
              <a:ext uri="{FF2B5EF4-FFF2-40B4-BE49-F238E27FC236}">
                <a16:creationId xmlns:a16="http://schemas.microsoft.com/office/drawing/2014/main" id="{73ADCC12-C0B8-4827-8437-F920F92D5FDC}"/>
              </a:ext>
            </a:extLst>
          </p:cNvPr>
          <p:cNvSpPr>
            <a:spLocks noGrp="1"/>
          </p:cNvSpPr>
          <p:nvPr/>
        </p:nvSpPr>
        <p:spPr>
          <a:xfrm>
            <a:off x="7621072" y="676847"/>
            <a:ext cx="58603" cy="58603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55" name="矩形 254">
            <a:extLst>
              <a:ext uri="{FF2B5EF4-FFF2-40B4-BE49-F238E27FC236}">
                <a16:creationId xmlns:a16="http://schemas.microsoft.com/office/drawing/2014/main" id="{97C3E35D-09CE-4F17-B544-EFB422DCE101}"/>
              </a:ext>
            </a:extLst>
          </p:cNvPr>
          <p:cNvSpPr>
            <a:spLocks noGrp="1"/>
          </p:cNvSpPr>
          <p:nvPr/>
        </p:nvSpPr>
        <p:spPr>
          <a:xfrm>
            <a:off x="7679674" y="676847"/>
            <a:ext cx="58603" cy="58603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56" name="矩形 255">
            <a:extLst>
              <a:ext uri="{FF2B5EF4-FFF2-40B4-BE49-F238E27FC236}">
                <a16:creationId xmlns:a16="http://schemas.microsoft.com/office/drawing/2014/main" id="{6E159999-0AF1-42E9-B1E2-FFA906169731}"/>
              </a:ext>
            </a:extLst>
          </p:cNvPr>
          <p:cNvSpPr>
            <a:spLocks noGrp="1"/>
          </p:cNvSpPr>
          <p:nvPr/>
        </p:nvSpPr>
        <p:spPr>
          <a:xfrm>
            <a:off x="7738277" y="676847"/>
            <a:ext cx="58603" cy="58603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57" name="矩形 256">
            <a:extLst>
              <a:ext uri="{FF2B5EF4-FFF2-40B4-BE49-F238E27FC236}">
                <a16:creationId xmlns:a16="http://schemas.microsoft.com/office/drawing/2014/main" id="{221AA672-A911-490D-9300-A95882D8063B}"/>
              </a:ext>
            </a:extLst>
          </p:cNvPr>
          <p:cNvSpPr>
            <a:spLocks noGrp="1"/>
          </p:cNvSpPr>
          <p:nvPr/>
        </p:nvSpPr>
        <p:spPr>
          <a:xfrm>
            <a:off x="7796879" y="676847"/>
            <a:ext cx="58603" cy="58603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58" name="矩形 257">
            <a:extLst>
              <a:ext uri="{FF2B5EF4-FFF2-40B4-BE49-F238E27FC236}">
                <a16:creationId xmlns:a16="http://schemas.microsoft.com/office/drawing/2014/main" id="{92212BCA-FE5C-4EF5-ACF4-DACE604E4BA1}"/>
              </a:ext>
            </a:extLst>
          </p:cNvPr>
          <p:cNvSpPr>
            <a:spLocks noGrp="1"/>
          </p:cNvSpPr>
          <p:nvPr/>
        </p:nvSpPr>
        <p:spPr>
          <a:xfrm>
            <a:off x="7855482" y="676847"/>
            <a:ext cx="58603" cy="58603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59" name="矩形 258">
            <a:extLst>
              <a:ext uri="{FF2B5EF4-FFF2-40B4-BE49-F238E27FC236}">
                <a16:creationId xmlns:a16="http://schemas.microsoft.com/office/drawing/2014/main" id="{AFCC451D-5459-4FB1-8857-70474864D204}"/>
              </a:ext>
            </a:extLst>
          </p:cNvPr>
          <p:cNvSpPr>
            <a:spLocks noGrp="1"/>
          </p:cNvSpPr>
          <p:nvPr/>
        </p:nvSpPr>
        <p:spPr>
          <a:xfrm>
            <a:off x="7914084" y="676847"/>
            <a:ext cx="58603" cy="58603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60" name="矩形 259">
            <a:extLst>
              <a:ext uri="{FF2B5EF4-FFF2-40B4-BE49-F238E27FC236}">
                <a16:creationId xmlns:a16="http://schemas.microsoft.com/office/drawing/2014/main" id="{17272E74-A391-4836-86BB-9FB5D09A71EA}"/>
              </a:ext>
            </a:extLst>
          </p:cNvPr>
          <p:cNvSpPr>
            <a:spLocks noGrp="1"/>
          </p:cNvSpPr>
          <p:nvPr/>
        </p:nvSpPr>
        <p:spPr>
          <a:xfrm>
            <a:off x="7972687" y="676847"/>
            <a:ext cx="58603" cy="58603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61" name="矩形 260">
            <a:extLst>
              <a:ext uri="{FF2B5EF4-FFF2-40B4-BE49-F238E27FC236}">
                <a16:creationId xmlns:a16="http://schemas.microsoft.com/office/drawing/2014/main" id="{15A29D81-A87F-4E7D-BC61-EA13C007E9BC}"/>
              </a:ext>
            </a:extLst>
          </p:cNvPr>
          <p:cNvSpPr>
            <a:spLocks noGrp="1"/>
          </p:cNvSpPr>
          <p:nvPr/>
        </p:nvSpPr>
        <p:spPr>
          <a:xfrm>
            <a:off x="7562469" y="735449"/>
            <a:ext cx="58603" cy="58603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62" name="矩形 261">
            <a:extLst>
              <a:ext uri="{FF2B5EF4-FFF2-40B4-BE49-F238E27FC236}">
                <a16:creationId xmlns:a16="http://schemas.microsoft.com/office/drawing/2014/main" id="{012EDC61-D8CD-4B58-8237-BF74CB122DFF}"/>
              </a:ext>
            </a:extLst>
          </p:cNvPr>
          <p:cNvSpPr>
            <a:spLocks noGrp="1"/>
          </p:cNvSpPr>
          <p:nvPr/>
        </p:nvSpPr>
        <p:spPr>
          <a:xfrm>
            <a:off x="7621072" y="735449"/>
            <a:ext cx="58603" cy="58603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63" name="矩形 262">
            <a:extLst>
              <a:ext uri="{FF2B5EF4-FFF2-40B4-BE49-F238E27FC236}">
                <a16:creationId xmlns:a16="http://schemas.microsoft.com/office/drawing/2014/main" id="{B1F4D7EE-D470-4838-BDA9-9F4A63D4E176}"/>
              </a:ext>
            </a:extLst>
          </p:cNvPr>
          <p:cNvSpPr>
            <a:spLocks noGrp="1"/>
          </p:cNvSpPr>
          <p:nvPr/>
        </p:nvSpPr>
        <p:spPr>
          <a:xfrm>
            <a:off x="7679674" y="735449"/>
            <a:ext cx="58603" cy="58603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64" name="矩形 263">
            <a:extLst>
              <a:ext uri="{FF2B5EF4-FFF2-40B4-BE49-F238E27FC236}">
                <a16:creationId xmlns:a16="http://schemas.microsoft.com/office/drawing/2014/main" id="{98FF26B0-28DD-45FA-8BCA-0A88B90537F6}"/>
              </a:ext>
            </a:extLst>
          </p:cNvPr>
          <p:cNvSpPr>
            <a:spLocks noGrp="1"/>
          </p:cNvSpPr>
          <p:nvPr/>
        </p:nvSpPr>
        <p:spPr>
          <a:xfrm>
            <a:off x="7738277" y="735449"/>
            <a:ext cx="58603" cy="58603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65" name="矩形 264">
            <a:extLst>
              <a:ext uri="{FF2B5EF4-FFF2-40B4-BE49-F238E27FC236}">
                <a16:creationId xmlns:a16="http://schemas.microsoft.com/office/drawing/2014/main" id="{4AD588B5-0359-4B61-A774-7124CCECDE58}"/>
              </a:ext>
            </a:extLst>
          </p:cNvPr>
          <p:cNvSpPr>
            <a:spLocks noGrp="1"/>
          </p:cNvSpPr>
          <p:nvPr/>
        </p:nvSpPr>
        <p:spPr>
          <a:xfrm>
            <a:off x="7796879" y="735449"/>
            <a:ext cx="58603" cy="58603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66" name="矩形 265">
            <a:extLst>
              <a:ext uri="{FF2B5EF4-FFF2-40B4-BE49-F238E27FC236}">
                <a16:creationId xmlns:a16="http://schemas.microsoft.com/office/drawing/2014/main" id="{AEA294DB-FFB0-4F02-B84A-661C2F74637E}"/>
              </a:ext>
            </a:extLst>
          </p:cNvPr>
          <p:cNvSpPr>
            <a:spLocks noGrp="1"/>
          </p:cNvSpPr>
          <p:nvPr/>
        </p:nvSpPr>
        <p:spPr>
          <a:xfrm>
            <a:off x="7855482" y="735449"/>
            <a:ext cx="58603" cy="58603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67" name="矩形 266">
            <a:extLst>
              <a:ext uri="{FF2B5EF4-FFF2-40B4-BE49-F238E27FC236}">
                <a16:creationId xmlns:a16="http://schemas.microsoft.com/office/drawing/2014/main" id="{572C052E-5DF5-4623-8976-9435E4D00E2F}"/>
              </a:ext>
            </a:extLst>
          </p:cNvPr>
          <p:cNvSpPr>
            <a:spLocks noGrp="1"/>
          </p:cNvSpPr>
          <p:nvPr/>
        </p:nvSpPr>
        <p:spPr>
          <a:xfrm>
            <a:off x="7914084" y="735449"/>
            <a:ext cx="58603" cy="58603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68" name="矩形 267">
            <a:extLst>
              <a:ext uri="{FF2B5EF4-FFF2-40B4-BE49-F238E27FC236}">
                <a16:creationId xmlns:a16="http://schemas.microsoft.com/office/drawing/2014/main" id="{339E4374-FA90-47B6-B5B9-E12BA6EBD783}"/>
              </a:ext>
            </a:extLst>
          </p:cNvPr>
          <p:cNvSpPr>
            <a:spLocks noGrp="1"/>
          </p:cNvSpPr>
          <p:nvPr/>
        </p:nvSpPr>
        <p:spPr>
          <a:xfrm>
            <a:off x="7972687" y="735449"/>
            <a:ext cx="58603" cy="58603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69" name="矩形 268">
            <a:extLst>
              <a:ext uri="{FF2B5EF4-FFF2-40B4-BE49-F238E27FC236}">
                <a16:creationId xmlns:a16="http://schemas.microsoft.com/office/drawing/2014/main" id="{649C5859-9013-4A41-B33B-DC5981014567}"/>
              </a:ext>
            </a:extLst>
          </p:cNvPr>
          <p:cNvSpPr>
            <a:spLocks noGrp="1"/>
          </p:cNvSpPr>
          <p:nvPr/>
        </p:nvSpPr>
        <p:spPr>
          <a:xfrm>
            <a:off x="7562469" y="676847"/>
            <a:ext cx="468821" cy="117205"/>
          </a:xfrm>
          <a:prstGeom prst="rect">
            <a:avLst/>
          </a:prstGeom>
          <a:noFill/>
          <a:ln w="7620">
            <a:noFill/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70" name="T5 input">
            <a:extLst>
              <a:ext uri="{FF2B5EF4-FFF2-40B4-BE49-F238E27FC236}">
                <a16:creationId xmlns:a16="http://schemas.microsoft.com/office/drawing/2014/main" id="{313C3137-64B9-4F3B-A0FF-DF49B9685F3A}"/>
              </a:ext>
            </a:extLst>
          </p:cNvPr>
          <p:cNvSpPr>
            <a:spLocks noGrp="1"/>
          </p:cNvSpPr>
          <p:nvPr/>
        </p:nvSpPr>
        <p:spPr>
          <a:xfrm>
            <a:off x="7542086" y="534162"/>
            <a:ext cx="535067" cy="12230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82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T5 input</a:t>
            </a:r>
          </a:p>
        </p:txBody>
      </p:sp>
      <p:sp>
        <p:nvSpPr>
          <p:cNvPr id="271" name="矩形 270">
            <a:extLst>
              <a:ext uri="{FF2B5EF4-FFF2-40B4-BE49-F238E27FC236}">
                <a16:creationId xmlns:a16="http://schemas.microsoft.com/office/drawing/2014/main" id="{53721272-1B0C-4265-ACFE-F40ADF6E631B}"/>
              </a:ext>
            </a:extLst>
          </p:cNvPr>
          <p:cNvSpPr>
            <a:spLocks noGrp="1"/>
          </p:cNvSpPr>
          <p:nvPr/>
        </p:nvSpPr>
        <p:spPr>
          <a:xfrm>
            <a:off x="8158686" y="676847"/>
            <a:ext cx="58603" cy="58603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72" name="矩形 271">
            <a:extLst>
              <a:ext uri="{FF2B5EF4-FFF2-40B4-BE49-F238E27FC236}">
                <a16:creationId xmlns:a16="http://schemas.microsoft.com/office/drawing/2014/main" id="{8DFA1CC5-A65B-4D85-9AB8-57C5D9143919}"/>
              </a:ext>
            </a:extLst>
          </p:cNvPr>
          <p:cNvSpPr>
            <a:spLocks noGrp="1"/>
          </p:cNvSpPr>
          <p:nvPr/>
        </p:nvSpPr>
        <p:spPr>
          <a:xfrm>
            <a:off x="8217289" y="676847"/>
            <a:ext cx="58603" cy="58603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73" name="矩形 272">
            <a:extLst>
              <a:ext uri="{FF2B5EF4-FFF2-40B4-BE49-F238E27FC236}">
                <a16:creationId xmlns:a16="http://schemas.microsoft.com/office/drawing/2014/main" id="{C22353E2-3676-41D3-ABB2-3240FDB789FA}"/>
              </a:ext>
            </a:extLst>
          </p:cNvPr>
          <p:cNvSpPr>
            <a:spLocks noGrp="1"/>
          </p:cNvSpPr>
          <p:nvPr/>
        </p:nvSpPr>
        <p:spPr>
          <a:xfrm>
            <a:off x="8275892" y="676847"/>
            <a:ext cx="58603" cy="58603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74" name="矩形 273">
            <a:extLst>
              <a:ext uri="{FF2B5EF4-FFF2-40B4-BE49-F238E27FC236}">
                <a16:creationId xmlns:a16="http://schemas.microsoft.com/office/drawing/2014/main" id="{7FE30640-FFBC-405C-AE3A-F9197B168BB5}"/>
              </a:ext>
            </a:extLst>
          </p:cNvPr>
          <p:cNvSpPr>
            <a:spLocks noGrp="1"/>
          </p:cNvSpPr>
          <p:nvPr/>
        </p:nvSpPr>
        <p:spPr>
          <a:xfrm>
            <a:off x="8334494" y="676847"/>
            <a:ext cx="58603" cy="58603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75" name="矩形 274">
            <a:extLst>
              <a:ext uri="{FF2B5EF4-FFF2-40B4-BE49-F238E27FC236}">
                <a16:creationId xmlns:a16="http://schemas.microsoft.com/office/drawing/2014/main" id="{E199C4E7-4FAE-4F8A-A132-11DEF14C4229}"/>
              </a:ext>
            </a:extLst>
          </p:cNvPr>
          <p:cNvSpPr>
            <a:spLocks noGrp="1"/>
          </p:cNvSpPr>
          <p:nvPr/>
        </p:nvSpPr>
        <p:spPr>
          <a:xfrm>
            <a:off x="8393097" y="676847"/>
            <a:ext cx="58603" cy="58603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76" name="矩形 275">
            <a:extLst>
              <a:ext uri="{FF2B5EF4-FFF2-40B4-BE49-F238E27FC236}">
                <a16:creationId xmlns:a16="http://schemas.microsoft.com/office/drawing/2014/main" id="{EF7E4DC7-C0C3-462B-AFB9-37BD97A68D8E}"/>
              </a:ext>
            </a:extLst>
          </p:cNvPr>
          <p:cNvSpPr>
            <a:spLocks noGrp="1"/>
          </p:cNvSpPr>
          <p:nvPr/>
        </p:nvSpPr>
        <p:spPr>
          <a:xfrm>
            <a:off x="8451699" y="676847"/>
            <a:ext cx="58603" cy="58603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77" name="矩形 276">
            <a:extLst>
              <a:ext uri="{FF2B5EF4-FFF2-40B4-BE49-F238E27FC236}">
                <a16:creationId xmlns:a16="http://schemas.microsoft.com/office/drawing/2014/main" id="{3357FB29-5DD7-4DD2-B3CE-2099393E9F41}"/>
              </a:ext>
            </a:extLst>
          </p:cNvPr>
          <p:cNvSpPr>
            <a:spLocks noGrp="1"/>
          </p:cNvSpPr>
          <p:nvPr/>
        </p:nvSpPr>
        <p:spPr>
          <a:xfrm>
            <a:off x="8510302" y="676847"/>
            <a:ext cx="58603" cy="58603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78" name="矩形 277">
            <a:extLst>
              <a:ext uri="{FF2B5EF4-FFF2-40B4-BE49-F238E27FC236}">
                <a16:creationId xmlns:a16="http://schemas.microsoft.com/office/drawing/2014/main" id="{9D252BB6-1D86-45CD-80B2-B48BB031316C}"/>
              </a:ext>
            </a:extLst>
          </p:cNvPr>
          <p:cNvSpPr>
            <a:spLocks noGrp="1"/>
          </p:cNvSpPr>
          <p:nvPr/>
        </p:nvSpPr>
        <p:spPr>
          <a:xfrm>
            <a:off x="8568904" y="676847"/>
            <a:ext cx="58603" cy="58603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79" name="矩形 278">
            <a:extLst>
              <a:ext uri="{FF2B5EF4-FFF2-40B4-BE49-F238E27FC236}">
                <a16:creationId xmlns:a16="http://schemas.microsoft.com/office/drawing/2014/main" id="{8F6B1FD2-E92A-4107-8F86-0F8076F39B2E}"/>
              </a:ext>
            </a:extLst>
          </p:cNvPr>
          <p:cNvSpPr>
            <a:spLocks noGrp="1"/>
          </p:cNvSpPr>
          <p:nvPr/>
        </p:nvSpPr>
        <p:spPr>
          <a:xfrm>
            <a:off x="8158686" y="735449"/>
            <a:ext cx="58603" cy="58603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80" name="矩形 279">
            <a:extLst>
              <a:ext uri="{FF2B5EF4-FFF2-40B4-BE49-F238E27FC236}">
                <a16:creationId xmlns:a16="http://schemas.microsoft.com/office/drawing/2014/main" id="{0313717B-797F-4C8F-8D9B-84FB5DBF934E}"/>
              </a:ext>
            </a:extLst>
          </p:cNvPr>
          <p:cNvSpPr>
            <a:spLocks noGrp="1"/>
          </p:cNvSpPr>
          <p:nvPr/>
        </p:nvSpPr>
        <p:spPr>
          <a:xfrm>
            <a:off x="8217289" y="735449"/>
            <a:ext cx="58603" cy="58603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81" name="矩形 280">
            <a:extLst>
              <a:ext uri="{FF2B5EF4-FFF2-40B4-BE49-F238E27FC236}">
                <a16:creationId xmlns:a16="http://schemas.microsoft.com/office/drawing/2014/main" id="{C2ADD77C-4352-4CC8-A620-6F056CB99126}"/>
              </a:ext>
            </a:extLst>
          </p:cNvPr>
          <p:cNvSpPr>
            <a:spLocks noGrp="1"/>
          </p:cNvSpPr>
          <p:nvPr/>
        </p:nvSpPr>
        <p:spPr>
          <a:xfrm>
            <a:off x="8275892" y="735449"/>
            <a:ext cx="58603" cy="58603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82" name="矩形 281">
            <a:extLst>
              <a:ext uri="{FF2B5EF4-FFF2-40B4-BE49-F238E27FC236}">
                <a16:creationId xmlns:a16="http://schemas.microsoft.com/office/drawing/2014/main" id="{1C8C334E-88E0-418B-9C52-C59207F4E610}"/>
              </a:ext>
            </a:extLst>
          </p:cNvPr>
          <p:cNvSpPr>
            <a:spLocks noGrp="1"/>
          </p:cNvSpPr>
          <p:nvPr/>
        </p:nvSpPr>
        <p:spPr>
          <a:xfrm>
            <a:off x="8334494" y="735449"/>
            <a:ext cx="58603" cy="58603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83" name="矩形 282">
            <a:extLst>
              <a:ext uri="{FF2B5EF4-FFF2-40B4-BE49-F238E27FC236}">
                <a16:creationId xmlns:a16="http://schemas.microsoft.com/office/drawing/2014/main" id="{E35BC293-0204-48BE-869E-48B4719A4709}"/>
              </a:ext>
            </a:extLst>
          </p:cNvPr>
          <p:cNvSpPr>
            <a:spLocks noGrp="1"/>
          </p:cNvSpPr>
          <p:nvPr/>
        </p:nvSpPr>
        <p:spPr>
          <a:xfrm>
            <a:off x="8393097" y="735449"/>
            <a:ext cx="58603" cy="58603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84" name="矩形 283">
            <a:extLst>
              <a:ext uri="{FF2B5EF4-FFF2-40B4-BE49-F238E27FC236}">
                <a16:creationId xmlns:a16="http://schemas.microsoft.com/office/drawing/2014/main" id="{ACF56F78-6E37-4100-A82F-1778C65D3981}"/>
              </a:ext>
            </a:extLst>
          </p:cNvPr>
          <p:cNvSpPr>
            <a:spLocks noGrp="1"/>
          </p:cNvSpPr>
          <p:nvPr/>
        </p:nvSpPr>
        <p:spPr>
          <a:xfrm>
            <a:off x="8451699" y="735449"/>
            <a:ext cx="58603" cy="58603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85" name="矩形 284">
            <a:extLst>
              <a:ext uri="{FF2B5EF4-FFF2-40B4-BE49-F238E27FC236}">
                <a16:creationId xmlns:a16="http://schemas.microsoft.com/office/drawing/2014/main" id="{3249A0D0-0E3A-42C1-B399-C41757F5F863}"/>
              </a:ext>
            </a:extLst>
          </p:cNvPr>
          <p:cNvSpPr>
            <a:spLocks noGrp="1"/>
          </p:cNvSpPr>
          <p:nvPr/>
        </p:nvSpPr>
        <p:spPr>
          <a:xfrm>
            <a:off x="8510302" y="735449"/>
            <a:ext cx="58603" cy="58603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86" name="矩形 285">
            <a:extLst>
              <a:ext uri="{FF2B5EF4-FFF2-40B4-BE49-F238E27FC236}">
                <a16:creationId xmlns:a16="http://schemas.microsoft.com/office/drawing/2014/main" id="{89B2D762-75AB-4BDC-BF57-A76D5A2858BD}"/>
              </a:ext>
            </a:extLst>
          </p:cNvPr>
          <p:cNvSpPr>
            <a:spLocks noGrp="1"/>
          </p:cNvSpPr>
          <p:nvPr/>
        </p:nvSpPr>
        <p:spPr>
          <a:xfrm>
            <a:off x="8568904" y="735449"/>
            <a:ext cx="58603" cy="58603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87" name="矩形 286">
            <a:extLst>
              <a:ext uri="{FF2B5EF4-FFF2-40B4-BE49-F238E27FC236}">
                <a16:creationId xmlns:a16="http://schemas.microsoft.com/office/drawing/2014/main" id="{2566240F-64C5-4E01-882A-3E8D3F410FC9}"/>
              </a:ext>
            </a:extLst>
          </p:cNvPr>
          <p:cNvSpPr>
            <a:spLocks noGrp="1"/>
          </p:cNvSpPr>
          <p:nvPr/>
        </p:nvSpPr>
        <p:spPr>
          <a:xfrm>
            <a:off x="8158686" y="676847"/>
            <a:ext cx="468821" cy="117205"/>
          </a:xfrm>
          <a:prstGeom prst="rect">
            <a:avLst/>
          </a:prstGeom>
          <a:noFill/>
          <a:ln w="7620">
            <a:noFill/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88" name="other cond.">
            <a:extLst>
              <a:ext uri="{FF2B5EF4-FFF2-40B4-BE49-F238E27FC236}">
                <a16:creationId xmlns:a16="http://schemas.microsoft.com/office/drawing/2014/main" id="{7F55DAAD-2EC9-46FC-BA82-EF684FF0C6B4}"/>
              </a:ext>
            </a:extLst>
          </p:cNvPr>
          <p:cNvSpPr>
            <a:spLocks noGrp="1"/>
          </p:cNvSpPr>
          <p:nvPr/>
        </p:nvSpPr>
        <p:spPr>
          <a:xfrm>
            <a:off x="8138303" y="534162"/>
            <a:ext cx="535067" cy="12230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82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other cond.</a:t>
            </a:r>
          </a:p>
        </p:txBody>
      </p:sp>
      <p:sp>
        <p:nvSpPr>
          <p:cNvPr id="289" name="Condition-cache setup (per query)&#10;Run T5, cache projections ">
            <a:extLst>
              <a:ext uri="{FF2B5EF4-FFF2-40B4-BE49-F238E27FC236}">
                <a16:creationId xmlns:a16="http://schemas.microsoft.com/office/drawing/2014/main" id="{A8DE8E84-AC4A-4FE1-9505-9C609AFB3B06}"/>
              </a:ext>
            </a:extLst>
          </p:cNvPr>
          <p:cNvSpPr>
            <a:spLocks noGrp="1"/>
          </p:cNvSpPr>
          <p:nvPr/>
        </p:nvSpPr>
        <p:spPr>
          <a:xfrm>
            <a:off x="6344555" y="982599"/>
            <a:ext cx="2323719" cy="346520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8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Condition-cache setup (per query)</a:t>
            </a:r>
          </a:p>
          <a:p>
            <a:pPr algn="ctr">
              <a:defRPr sz="88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8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Run T5, cache projections and K/V</a:t>
            </a:r>
          </a:p>
        </p:txBody>
      </p:sp>
      <p:sp>
        <p:nvSpPr>
          <p:cNvPr id="290" name="CUDA Graph execution">
            <a:extLst>
              <a:ext uri="{FF2B5EF4-FFF2-40B4-BE49-F238E27FC236}">
                <a16:creationId xmlns:a16="http://schemas.microsoft.com/office/drawing/2014/main" id="{65756601-D050-468E-8AC6-6EA950B85ED7}"/>
              </a:ext>
            </a:extLst>
          </p:cNvPr>
          <p:cNvSpPr>
            <a:spLocks noGrp="1"/>
          </p:cNvSpPr>
          <p:nvPr/>
        </p:nvSpPr>
        <p:spPr>
          <a:xfrm>
            <a:off x="6334363" y="1476899"/>
            <a:ext cx="2344103" cy="15797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96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96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96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96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96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96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96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96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96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96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96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96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CUDA Graph execution</a:t>
            </a:r>
          </a:p>
        </p:txBody>
      </p:sp>
      <p:sp>
        <p:nvSpPr>
          <p:cNvPr id="291" name="video_step">
            <a:extLst>
              <a:ext uri="{FF2B5EF4-FFF2-40B4-BE49-F238E27FC236}">
                <a16:creationId xmlns:a16="http://schemas.microsoft.com/office/drawing/2014/main" id="{6A2F8ADF-E6DA-4B2B-9E2C-703A0CF706A4}"/>
              </a:ext>
            </a:extLst>
          </p:cNvPr>
          <p:cNvSpPr>
            <a:spLocks noGrp="1"/>
          </p:cNvSpPr>
          <p:nvPr/>
        </p:nvSpPr>
        <p:spPr>
          <a:xfrm>
            <a:off x="6359843" y="1721549"/>
            <a:ext cx="687705" cy="24460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7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7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7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7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7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7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7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7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7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7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7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735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video_step</a:t>
            </a:r>
          </a:p>
        </p:txBody>
      </p:sp>
      <p:sp>
        <p:nvSpPr>
          <p:cNvPr id="292" name="矩形 291">
            <a:extLst>
              <a:ext uri="{FF2B5EF4-FFF2-40B4-BE49-F238E27FC236}">
                <a16:creationId xmlns:a16="http://schemas.microsoft.com/office/drawing/2014/main" id="{F7F52B8E-B241-4F6E-B65F-7196A1F48B65}"/>
              </a:ext>
            </a:extLst>
          </p:cNvPr>
          <p:cNvSpPr>
            <a:spLocks noGrp="1"/>
          </p:cNvSpPr>
          <p:nvPr/>
        </p:nvSpPr>
        <p:spPr>
          <a:xfrm>
            <a:off x="6976443" y="1731693"/>
            <a:ext cx="1605201" cy="188547"/>
          </a:xfrm>
          <a:prstGeom prst="rect">
            <a:avLst/>
          </a:prstGeom>
          <a:solidFill>
            <a:srgbClr val="FFFFFF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93" name="1">
            <a:extLst>
              <a:ext uri="{FF2B5EF4-FFF2-40B4-BE49-F238E27FC236}">
                <a16:creationId xmlns:a16="http://schemas.microsoft.com/office/drawing/2014/main" id="{63ED142B-71A7-45D3-8896-EF863E90AF9B}"/>
              </a:ext>
            </a:extLst>
          </p:cNvPr>
          <p:cNvSpPr>
            <a:spLocks noGrp="1"/>
          </p:cNvSpPr>
          <p:nvPr/>
        </p:nvSpPr>
        <p:spPr>
          <a:xfrm>
            <a:off x="6996827" y="1746980"/>
            <a:ext cx="147780" cy="15797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82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94" name="2">
            <a:extLst>
              <a:ext uri="{FF2B5EF4-FFF2-40B4-BE49-F238E27FC236}">
                <a16:creationId xmlns:a16="http://schemas.microsoft.com/office/drawing/2014/main" id="{BD0104A4-E2BF-4AC1-9F10-5F356F9A8FD4}"/>
              </a:ext>
            </a:extLst>
          </p:cNvPr>
          <p:cNvSpPr>
            <a:spLocks noGrp="1"/>
          </p:cNvSpPr>
          <p:nvPr/>
        </p:nvSpPr>
        <p:spPr>
          <a:xfrm>
            <a:off x="7149703" y="1746980"/>
            <a:ext cx="147780" cy="15797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82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95" name="3">
            <a:extLst>
              <a:ext uri="{FF2B5EF4-FFF2-40B4-BE49-F238E27FC236}">
                <a16:creationId xmlns:a16="http://schemas.microsoft.com/office/drawing/2014/main" id="{B83A1B38-D40D-44A1-9AA6-AED10742A3BE}"/>
              </a:ext>
            </a:extLst>
          </p:cNvPr>
          <p:cNvSpPr>
            <a:spLocks noGrp="1"/>
          </p:cNvSpPr>
          <p:nvPr/>
        </p:nvSpPr>
        <p:spPr>
          <a:xfrm>
            <a:off x="7302579" y="1746980"/>
            <a:ext cx="147780" cy="15797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82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96" name="4">
            <a:extLst>
              <a:ext uri="{FF2B5EF4-FFF2-40B4-BE49-F238E27FC236}">
                <a16:creationId xmlns:a16="http://schemas.microsoft.com/office/drawing/2014/main" id="{DAB883FD-C559-445A-B15D-243DA0702817}"/>
              </a:ext>
            </a:extLst>
          </p:cNvPr>
          <p:cNvSpPr>
            <a:spLocks noGrp="1"/>
          </p:cNvSpPr>
          <p:nvPr/>
        </p:nvSpPr>
        <p:spPr>
          <a:xfrm>
            <a:off x="7455456" y="1746980"/>
            <a:ext cx="147780" cy="15797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82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97" name="5">
            <a:extLst>
              <a:ext uri="{FF2B5EF4-FFF2-40B4-BE49-F238E27FC236}">
                <a16:creationId xmlns:a16="http://schemas.microsoft.com/office/drawing/2014/main" id="{642DF163-58FF-4D7E-ACA6-CE8A3DC0F0FF}"/>
              </a:ext>
            </a:extLst>
          </p:cNvPr>
          <p:cNvSpPr>
            <a:spLocks noGrp="1"/>
          </p:cNvSpPr>
          <p:nvPr/>
        </p:nvSpPr>
        <p:spPr>
          <a:xfrm>
            <a:off x="7608332" y="1746980"/>
            <a:ext cx="147780" cy="15797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82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98" name="6">
            <a:extLst>
              <a:ext uri="{FF2B5EF4-FFF2-40B4-BE49-F238E27FC236}">
                <a16:creationId xmlns:a16="http://schemas.microsoft.com/office/drawing/2014/main" id="{72C11A6D-67D7-4993-9B80-CC398EC9B308}"/>
              </a:ext>
            </a:extLst>
          </p:cNvPr>
          <p:cNvSpPr>
            <a:spLocks noGrp="1"/>
          </p:cNvSpPr>
          <p:nvPr/>
        </p:nvSpPr>
        <p:spPr>
          <a:xfrm>
            <a:off x="7761208" y="1746980"/>
            <a:ext cx="147780" cy="15797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82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99" name="7">
            <a:extLst>
              <a:ext uri="{FF2B5EF4-FFF2-40B4-BE49-F238E27FC236}">
                <a16:creationId xmlns:a16="http://schemas.microsoft.com/office/drawing/2014/main" id="{F9A27F6D-2370-462C-A985-BE1D57A3350B}"/>
              </a:ext>
            </a:extLst>
          </p:cNvPr>
          <p:cNvSpPr>
            <a:spLocks noGrp="1"/>
          </p:cNvSpPr>
          <p:nvPr/>
        </p:nvSpPr>
        <p:spPr>
          <a:xfrm>
            <a:off x="7914084" y="1746980"/>
            <a:ext cx="147780" cy="15797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82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300" name="8">
            <a:extLst>
              <a:ext uri="{FF2B5EF4-FFF2-40B4-BE49-F238E27FC236}">
                <a16:creationId xmlns:a16="http://schemas.microsoft.com/office/drawing/2014/main" id="{084164BD-AA3F-43AF-BB36-33AC0691D754}"/>
              </a:ext>
            </a:extLst>
          </p:cNvPr>
          <p:cNvSpPr>
            <a:spLocks noGrp="1"/>
          </p:cNvSpPr>
          <p:nvPr/>
        </p:nvSpPr>
        <p:spPr>
          <a:xfrm>
            <a:off x="8066961" y="1746980"/>
            <a:ext cx="147780" cy="15797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82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301" name="9">
            <a:extLst>
              <a:ext uri="{FF2B5EF4-FFF2-40B4-BE49-F238E27FC236}">
                <a16:creationId xmlns:a16="http://schemas.microsoft.com/office/drawing/2014/main" id="{487CC086-9E8E-428D-A7AE-0AC569B8626A}"/>
              </a:ext>
            </a:extLst>
          </p:cNvPr>
          <p:cNvSpPr>
            <a:spLocks noGrp="1"/>
          </p:cNvSpPr>
          <p:nvPr/>
        </p:nvSpPr>
        <p:spPr>
          <a:xfrm>
            <a:off x="8219837" y="1746980"/>
            <a:ext cx="147780" cy="15797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82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302" name="10">
            <a:extLst>
              <a:ext uri="{FF2B5EF4-FFF2-40B4-BE49-F238E27FC236}">
                <a16:creationId xmlns:a16="http://schemas.microsoft.com/office/drawing/2014/main" id="{C8192919-D91F-45FD-BB11-052F0476E6D1}"/>
              </a:ext>
            </a:extLst>
          </p:cNvPr>
          <p:cNvSpPr>
            <a:spLocks noGrp="1"/>
          </p:cNvSpPr>
          <p:nvPr/>
        </p:nvSpPr>
        <p:spPr>
          <a:xfrm>
            <a:off x="8372713" y="1746980"/>
            <a:ext cx="147780" cy="15797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82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03" name="×10">
            <a:extLst>
              <a:ext uri="{FF2B5EF4-FFF2-40B4-BE49-F238E27FC236}">
                <a16:creationId xmlns:a16="http://schemas.microsoft.com/office/drawing/2014/main" id="{1655AFB9-DE5C-4ABB-ABD9-D89FA1DF4A69}"/>
              </a:ext>
            </a:extLst>
          </p:cNvPr>
          <p:cNvSpPr>
            <a:spLocks noGrp="1"/>
          </p:cNvSpPr>
          <p:nvPr/>
        </p:nvSpPr>
        <p:spPr>
          <a:xfrm>
            <a:off x="8545973" y="1736789"/>
            <a:ext cx="178356" cy="18345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×10</a:t>
            </a:r>
          </a:p>
        </p:txBody>
      </p:sp>
      <p:sp>
        <p:nvSpPr>
          <p:cNvPr id="304" name="decode  |  GEMM  |  attention">
            <a:extLst>
              <a:ext uri="{FF2B5EF4-FFF2-40B4-BE49-F238E27FC236}">
                <a16:creationId xmlns:a16="http://schemas.microsoft.com/office/drawing/2014/main" id="{4ACA45AD-59F7-437C-A06E-79BA06D11D6B}"/>
              </a:ext>
            </a:extLst>
          </p:cNvPr>
          <p:cNvSpPr>
            <a:spLocks noGrp="1"/>
          </p:cNvSpPr>
          <p:nvPr/>
        </p:nvSpPr>
        <p:spPr>
          <a:xfrm>
            <a:off x="6843951" y="2149554"/>
            <a:ext cx="1763173" cy="173260"/>
          </a:xfrm>
          <a:prstGeom prst="rect">
            <a:avLst/>
          </a:prstGeom>
          <a:solidFill>
            <a:srgbClr val="F9E2C4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decode  |  GEMM  |  attention</a:t>
            </a:r>
          </a:p>
        </p:txBody>
      </p:sp>
      <p:sp>
        <p:nvSpPr>
          <p:cNvPr id="305" name="video_prefill">
            <a:extLst>
              <a:ext uri="{FF2B5EF4-FFF2-40B4-BE49-F238E27FC236}">
                <a16:creationId xmlns:a16="http://schemas.microsoft.com/office/drawing/2014/main" id="{F4336AE9-9D4C-4415-A7D8-DAA4A3DA76F2}"/>
              </a:ext>
            </a:extLst>
          </p:cNvPr>
          <p:cNvSpPr>
            <a:spLocks noGrp="1"/>
          </p:cNvSpPr>
          <p:nvPr/>
        </p:nvSpPr>
        <p:spPr>
          <a:xfrm>
            <a:off x="6359843" y="2506313"/>
            <a:ext cx="687705" cy="24460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7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7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7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7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7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7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7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7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7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7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7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735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video_prefill</a:t>
            </a:r>
          </a:p>
        </p:txBody>
      </p:sp>
      <p:sp>
        <p:nvSpPr>
          <p:cNvPr id="306" name="矩形 305">
            <a:extLst>
              <a:ext uri="{FF2B5EF4-FFF2-40B4-BE49-F238E27FC236}">
                <a16:creationId xmlns:a16="http://schemas.microsoft.com/office/drawing/2014/main" id="{77C0EEDC-9543-4552-B6CE-9C124B9BD4D6}"/>
              </a:ext>
            </a:extLst>
          </p:cNvPr>
          <p:cNvSpPr>
            <a:spLocks noGrp="1"/>
          </p:cNvSpPr>
          <p:nvPr/>
        </p:nvSpPr>
        <p:spPr>
          <a:xfrm>
            <a:off x="6976443" y="2516457"/>
            <a:ext cx="1605201" cy="188547"/>
          </a:xfrm>
          <a:prstGeom prst="rect">
            <a:avLst/>
          </a:prstGeom>
          <a:solidFill>
            <a:srgbClr val="FFFFFF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307" name="1">
            <a:extLst>
              <a:ext uri="{FF2B5EF4-FFF2-40B4-BE49-F238E27FC236}">
                <a16:creationId xmlns:a16="http://schemas.microsoft.com/office/drawing/2014/main" id="{8849C381-DDA5-4628-9804-D46FCFE96D53}"/>
              </a:ext>
            </a:extLst>
          </p:cNvPr>
          <p:cNvSpPr>
            <a:spLocks noGrp="1"/>
          </p:cNvSpPr>
          <p:nvPr/>
        </p:nvSpPr>
        <p:spPr>
          <a:xfrm>
            <a:off x="6996827" y="2531745"/>
            <a:ext cx="147780" cy="15797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82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08" name="×1">
            <a:extLst>
              <a:ext uri="{FF2B5EF4-FFF2-40B4-BE49-F238E27FC236}">
                <a16:creationId xmlns:a16="http://schemas.microsoft.com/office/drawing/2014/main" id="{9029DDC9-13F3-437F-BCF3-2C90AA95FF08}"/>
              </a:ext>
            </a:extLst>
          </p:cNvPr>
          <p:cNvSpPr>
            <a:spLocks noGrp="1"/>
          </p:cNvSpPr>
          <p:nvPr/>
        </p:nvSpPr>
        <p:spPr>
          <a:xfrm>
            <a:off x="8545973" y="2521553"/>
            <a:ext cx="178356" cy="18345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×1</a:t>
            </a:r>
          </a:p>
        </p:txBody>
      </p:sp>
      <p:sp>
        <p:nvSpPr>
          <p:cNvPr id="309" name="action_step">
            <a:extLst>
              <a:ext uri="{FF2B5EF4-FFF2-40B4-BE49-F238E27FC236}">
                <a16:creationId xmlns:a16="http://schemas.microsoft.com/office/drawing/2014/main" id="{97E09714-A0ED-4DC3-90C9-3DA3CF03BAA7}"/>
              </a:ext>
            </a:extLst>
          </p:cNvPr>
          <p:cNvSpPr>
            <a:spLocks noGrp="1"/>
          </p:cNvSpPr>
          <p:nvPr/>
        </p:nvSpPr>
        <p:spPr>
          <a:xfrm>
            <a:off x="6359843" y="2868073"/>
            <a:ext cx="687705" cy="24460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7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7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7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7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7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7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7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7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7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7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735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735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action_step</a:t>
            </a:r>
          </a:p>
        </p:txBody>
      </p:sp>
      <p:sp>
        <p:nvSpPr>
          <p:cNvPr id="310" name="矩形 309">
            <a:extLst>
              <a:ext uri="{FF2B5EF4-FFF2-40B4-BE49-F238E27FC236}">
                <a16:creationId xmlns:a16="http://schemas.microsoft.com/office/drawing/2014/main" id="{822E4CF9-D2C3-44D8-B5D7-9A1C6754A3C6}"/>
              </a:ext>
            </a:extLst>
          </p:cNvPr>
          <p:cNvSpPr>
            <a:spLocks noGrp="1"/>
          </p:cNvSpPr>
          <p:nvPr/>
        </p:nvSpPr>
        <p:spPr>
          <a:xfrm>
            <a:off x="6976443" y="2878265"/>
            <a:ext cx="1605201" cy="188547"/>
          </a:xfrm>
          <a:prstGeom prst="rect">
            <a:avLst/>
          </a:prstGeom>
          <a:solidFill>
            <a:srgbClr val="FFFFFF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2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311" name="1">
            <a:extLst>
              <a:ext uri="{FF2B5EF4-FFF2-40B4-BE49-F238E27FC236}">
                <a16:creationId xmlns:a16="http://schemas.microsoft.com/office/drawing/2014/main" id="{569CCC5E-F4AF-48BF-A039-0954F9762542}"/>
              </a:ext>
            </a:extLst>
          </p:cNvPr>
          <p:cNvSpPr>
            <a:spLocks noGrp="1"/>
          </p:cNvSpPr>
          <p:nvPr/>
        </p:nvSpPr>
        <p:spPr>
          <a:xfrm>
            <a:off x="6996827" y="2893552"/>
            <a:ext cx="147780" cy="15797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82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12" name="2">
            <a:extLst>
              <a:ext uri="{FF2B5EF4-FFF2-40B4-BE49-F238E27FC236}">
                <a16:creationId xmlns:a16="http://schemas.microsoft.com/office/drawing/2014/main" id="{69BEA95D-6FA0-4A9E-B281-2DF5D760D9E1}"/>
              </a:ext>
            </a:extLst>
          </p:cNvPr>
          <p:cNvSpPr>
            <a:spLocks noGrp="1"/>
          </p:cNvSpPr>
          <p:nvPr/>
        </p:nvSpPr>
        <p:spPr>
          <a:xfrm>
            <a:off x="7149703" y="2893552"/>
            <a:ext cx="147780" cy="15797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82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13" name="3">
            <a:extLst>
              <a:ext uri="{FF2B5EF4-FFF2-40B4-BE49-F238E27FC236}">
                <a16:creationId xmlns:a16="http://schemas.microsoft.com/office/drawing/2014/main" id="{937228BE-A687-491F-9CE8-6EE79027D9CD}"/>
              </a:ext>
            </a:extLst>
          </p:cNvPr>
          <p:cNvSpPr>
            <a:spLocks noGrp="1"/>
          </p:cNvSpPr>
          <p:nvPr/>
        </p:nvSpPr>
        <p:spPr>
          <a:xfrm>
            <a:off x="7302579" y="2893552"/>
            <a:ext cx="147780" cy="15797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82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14" name="4">
            <a:extLst>
              <a:ext uri="{FF2B5EF4-FFF2-40B4-BE49-F238E27FC236}">
                <a16:creationId xmlns:a16="http://schemas.microsoft.com/office/drawing/2014/main" id="{7D5D58DC-0CD9-4E5F-BF6A-97A823090376}"/>
              </a:ext>
            </a:extLst>
          </p:cNvPr>
          <p:cNvSpPr>
            <a:spLocks noGrp="1"/>
          </p:cNvSpPr>
          <p:nvPr/>
        </p:nvSpPr>
        <p:spPr>
          <a:xfrm>
            <a:off x="7455456" y="2893552"/>
            <a:ext cx="147780" cy="15797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82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15" name="5">
            <a:extLst>
              <a:ext uri="{FF2B5EF4-FFF2-40B4-BE49-F238E27FC236}">
                <a16:creationId xmlns:a16="http://schemas.microsoft.com/office/drawing/2014/main" id="{11551A0C-B23F-4A60-9E64-E827A0C7B9FB}"/>
              </a:ext>
            </a:extLst>
          </p:cNvPr>
          <p:cNvSpPr>
            <a:spLocks noGrp="1"/>
          </p:cNvSpPr>
          <p:nvPr/>
        </p:nvSpPr>
        <p:spPr>
          <a:xfrm>
            <a:off x="7608332" y="2893552"/>
            <a:ext cx="147780" cy="15797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82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16" name="6">
            <a:extLst>
              <a:ext uri="{FF2B5EF4-FFF2-40B4-BE49-F238E27FC236}">
                <a16:creationId xmlns:a16="http://schemas.microsoft.com/office/drawing/2014/main" id="{75112EED-9DF2-4625-BA77-7AE80B8E3185}"/>
              </a:ext>
            </a:extLst>
          </p:cNvPr>
          <p:cNvSpPr>
            <a:spLocks noGrp="1"/>
          </p:cNvSpPr>
          <p:nvPr/>
        </p:nvSpPr>
        <p:spPr>
          <a:xfrm>
            <a:off x="7761208" y="2893552"/>
            <a:ext cx="147780" cy="15797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82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17" name="7">
            <a:extLst>
              <a:ext uri="{FF2B5EF4-FFF2-40B4-BE49-F238E27FC236}">
                <a16:creationId xmlns:a16="http://schemas.microsoft.com/office/drawing/2014/main" id="{18C455A5-E035-45CD-A847-298914E8AE64}"/>
              </a:ext>
            </a:extLst>
          </p:cNvPr>
          <p:cNvSpPr>
            <a:spLocks noGrp="1"/>
          </p:cNvSpPr>
          <p:nvPr/>
        </p:nvSpPr>
        <p:spPr>
          <a:xfrm>
            <a:off x="7914084" y="2893552"/>
            <a:ext cx="147780" cy="15797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82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318" name="8">
            <a:extLst>
              <a:ext uri="{FF2B5EF4-FFF2-40B4-BE49-F238E27FC236}">
                <a16:creationId xmlns:a16="http://schemas.microsoft.com/office/drawing/2014/main" id="{8B290B43-65BD-4ACC-9CF1-35F7C30A4950}"/>
              </a:ext>
            </a:extLst>
          </p:cNvPr>
          <p:cNvSpPr>
            <a:spLocks noGrp="1"/>
          </p:cNvSpPr>
          <p:nvPr/>
        </p:nvSpPr>
        <p:spPr>
          <a:xfrm>
            <a:off x="8066961" y="2893552"/>
            <a:ext cx="147780" cy="15797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82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319" name="9">
            <a:extLst>
              <a:ext uri="{FF2B5EF4-FFF2-40B4-BE49-F238E27FC236}">
                <a16:creationId xmlns:a16="http://schemas.microsoft.com/office/drawing/2014/main" id="{54834D11-135E-4AE5-A441-1060E1726482}"/>
              </a:ext>
            </a:extLst>
          </p:cNvPr>
          <p:cNvSpPr>
            <a:spLocks noGrp="1"/>
          </p:cNvSpPr>
          <p:nvPr/>
        </p:nvSpPr>
        <p:spPr>
          <a:xfrm>
            <a:off x="8219837" y="2893552"/>
            <a:ext cx="147780" cy="15797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82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320" name="10">
            <a:extLst>
              <a:ext uri="{FF2B5EF4-FFF2-40B4-BE49-F238E27FC236}">
                <a16:creationId xmlns:a16="http://schemas.microsoft.com/office/drawing/2014/main" id="{72FEF343-186A-40FD-9D09-C6D20E43AC49}"/>
              </a:ext>
            </a:extLst>
          </p:cNvPr>
          <p:cNvSpPr>
            <a:spLocks noGrp="1"/>
          </p:cNvSpPr>
          <p:nvPr/>
        </p:nvSpPr>
        <p:spPr>
          <a:xfrm>
            <a:off x="8372713" y="2893552"/>
            <a:ext cx="147780" cy="15797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68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82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21" name="×10">
            <a:extLst>
              <a:ext uri="{FF2B5EF4-FFF2-40B4-BE49-F238E27FC236}">
                <a16:creationId xmlns:a16="http://schemas.microsoft.com/office/drawing/2014/main" id="{2C427690-C3C0-481E-B96D-E90DEEE9E564}"/>
              </a:ext>
            </a:extLst>
          </p:cNvPr>
          <p:cNvSpPr>
            <a:spLocks noGrp="1"/>
          </p:cNvSpPr>
          <p:nvPr/>
        </p:nvSpPr>
        <p:spPr>
          <a:xfrm>
            <a:off x="8545973" y="2883360"/>
            <a:ext cx="178356" cy="18345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×10</a:t>
            </a:r>
          </a:p>
        </p:txBody>
      </p:sp>
      <p:sp>
        <p:nvSpPr>
          <p:cNvPr id="322" name="decode  |  GEMM  |  attention">
            <a:extLst>
              <a:ext uri="{FF2B5EF4-FFF2-40B4-BE49-F238E27FC236}">
                <a16:creationId xmlns:a16="http://schemas.microsoft.com/office/drawing/2014/main" id="{887C63FC-967B-4D01-8B57-E380A969ADFC}"/>
              </a:ext>
            </a:extLst>
          </p:cNvPr>
          <p:cNvSpPr>
            <a:spLocks noGrp="1"/>
          </p:cNvSpPr>
          <p:nvPr/>
        </p:nvSpPr>
        <p:spPr>
          <a:xfrm>
            <a:off x="6843951" y="3301222"/>
            <a:ext cx="1763173" cy="173260"/>
          </a:xfrm>
          <a:prstGeom prst="rect">
            <a:avLst/>
          </a:prstGeom>
          <a:solidFill>
            <a:srgbClr val="F9E2C4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80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decode  |  GEMM  |  attention</a:t>
            </a:r>
          </a:p>
        </p:txBody>
      </p:sp>
      <p:sp>
        <p:nvSpPr>
          <p:cNvPr id="323" name="5,258 target Linear calls / query">
            <a:extLst>
              <a:ext uri="{FF2B5EF4-FFF2-40B4-BE49-F238E27FC236}">
                <a16:creationId xmlns:a16="http://schemas.microsoft.com/office/drawing/2014/main" id="{88EC72D4-14EB-4551-BF35-57E3C53BB1DC}"/>
              </a:ext>
            </a:extLst>
          </p:cNvPr>
          <p:cNvSpPr>
            <a:spLocks noGrp="1"/>
          </p:cNvSpPr>
          <p:nvPr/>
        </p:nvSpPr>
        <p:spPr>
          <a:xfrm>
            <a:off x="6410801" y="3632454"/>
            <a:ext cx="2242185" cy="17835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96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96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96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96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96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96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96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96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96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96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96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96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5,258 target Linear calls / query</a:t>
            </a:r>
          </a:p>
        </p:txBody>
      </p:sp>
      <p:sp>
        <p:nvSpPr>
          <p:cNvPr id="324" name="10 video + 1 prefill + 10 action replays">
            <a:extLst>
              <a:ext uri="{FF2B5EF4-FFF2-40B4-BE49-F238E27FC236}">
                <a16:creationId xmlns:a16="http://schemas.microsoft.com/office/drawing/2014/main" id="{B8423B3C-58E8-4E4C-8D33-EABFA25DE602}"/>
              </a:ext>
            </a:extLst>
          </p:cNvPr>
          <p:cNvSpPr>
            <a:spLocks noGrp="1"/>
          </p:cNvSpPr>
          <p:nvPr/>
        </p:nvSpPr>
        <p:spPr>
          <a:xfrm>
            <a:off x="6385322" y="3810810"/>
            <a:ext cx="2293144" cy="13758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72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defPPr>
            <a:lvl1pPr algn="ctr">
              <a:defRPr sz="72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1pPr>
            <a:lvl2pPr algn="ctr">
              <a:defRPr sz="72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2pPr>
            <a:lvl3pPr algn="ctr">
              <a:defRPr sz="72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3pPr>
            <a:lvl4pPr algn="ctr">
              <a:defRPr sz="72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4pPr>
            <a:lvl5pPr algn="ctr">
              <a:defRPr sz="72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5pPr>
            <a:lvl6pPr algn="ctr">
              <a:defRPr sz="72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6pPr>
            <a:lvl7pPr algn="ctr">
              <a:defRPr sz="72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7pPr>
            <a:lvl8pPr algn="ctr">
              <a:defRPr sz="72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8pPr>
            <a:lvl9pPr algn="ctr">
              <a:defRPr sz="72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722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pPr>
            <a:r>
              <a:rPr sz="722" b="0">
                <a:solidFill>
                  <a:srgbClr val="5D6773"/>
                </a:solidFill>
                <a:latin typeface="Arial"/>
                <a:ea typeface="Arial"/>
                <a:cs typeface="Arial"/>
              </a:rPr>
              <a:t>10 video + 1 prefill + 10 action replays</a:t>
            </a:r>
          </a:p>
        </p:txBody>
      </p:sp>
      <p:sp>
        <p:nvSpPr>
          <p:cNvPr id="325" name="Outputs">
            <a:extLst>
              <a:ext uri="{FF2B5EF4-FFF2-40B4-BE49-F238E27FC236}">
                <a16:creationId xmlns:a16="http://schemas.microsoft.com/office/drawing/2014/main" id="{CE8FA6F9-E9D7-4813-BF80-EDA744A0D3D2}"/>
              </a:ext>
            </a:extLst>
          </p:cNvPr>
          <p:cNvSpPr>
            <a:spLocks noGrp="1"/>
          </p:cNvSpPr>
          <p:nvPr/>
        </p:nvSpPr>
        <p:spPr>
          <a:xfrm>
            <a:off x="6344555" y="4050316"/>
            <a:ext cx="2293144" cy="1477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92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92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Outputs</a:t>
            </a:r>
          </a:p>
        </p:txBody>
      </p:sp>
      <p:sp>
        <p:nvSpPr>
          <p:cNvPr id="326" name="矩形 325">
            <a:extLst>
              <a:ext uri="{FF2B5EF4-FFF2-40B4-BE49-F238E27FC236}">
                <a16:creationId xmlns:a16="http://schemas.microsoft.com/office/drawing/2014/main" id="{D06B1DFC-858A-4828-868C-1E7F04354B4D}"/>
              </a:ext>
            </a:extLst>
          </p:cNvPr>
          <p:cNvSpPr>
            <a:spLocks noGrp="1"/>
          </p:cNvSpPr>
          <p:nvPr/>
        </p:nvSpPr>
        <p:spPr>
          <a:xfrm>
            <a:off x="6436281" y="4340781"/>
            <a:ext cx="87139" cy="67945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327" name="矩形 326">
            <a:extLst>
              <a:ext uri="{FF2B5EF4-FFF2-40B4-BE49-F238E27FC236}">
                <a16:creationId xmlns:a16="http://schemas.microsoft.com/office/drawing/2014/main" id="{FF877D52-BFB0-401A-915A-13CFE94AD28B}"/>
              </a:ext>
            </a:extLst>
          </p:cNvPr>
          <p:cNvSpPr>
            <a:spLocks noGrp="1"/>
          </p:cNvSpPr>
          <p:nvPr/>
        </p:nvSpPr>
        <p:spPr>
          <a:xfrm>
            <a:off x="6523420" y="4340781"/>
            <a:ext cx="87139" cy="67945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328" name="矩形 327">
            <a:extLst>
              <a:ext uri="{FF2B5EF4-FFF2-40B4-BE49-F238E27FC236}">
                <a16:creationId xmlns:a16="http://schemas.microsoft.com/office/drawing/2014/main" id="{0B00EA39-02AD-4B7A-A19F-4DD234E6BB17}"/>
              </a:ext>
            </a:extLst>
          </p:cNvPr>
          <p:cNvSpPr>
            <a:spLocks noGrp="1"/>
          </p:cNvSpPr>
          <p:nvPr/>
        </p:nvSpPr>
        <p:spPr>
          <a:xfrm>
            <a:off x="6610560" y="4340781"/>
            <a:ext cx="87139" cy="67945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329" name="矩形 328">
            <a:extLst>
              <a:ext uri="{FF2B5EF4-FFF2-40B4-BE49-F238E27FC236}">
                <a16:creationId xmlns:a16="http://schemas.microsoft.com/office/drawing/2014/main" id="{A26F9AB7-7BBE-4DAC-AB9F-6E364F6DA756}"/>
              </a:ext>
            </a:extLst>
          </p:cNvPr>
          <p:cNvSpPr>
            <a:spLocks noGrp="1"/>
          </p:cNvSpPr>
          <p:nvPr/>
        </p:nvSpPr>
        <p:spPr>
          <a:xfrm>
            <a:off x="6697699" y="4340781"/>
            <a:ext cx="87139" cy="67945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330" name="矩形 329">
            <a:extLst>
              <a:ext uri="{FF2B5EF4-FFF2-40B4-BE49-F238E27FC236}">
                <a16:creationId xmlns:a16="http://schemas.microsoft.com/office/drawing/2014/main" id="{03675447-33DF-4DAD-84DA-511BFD4E748F}"/>
              </a:ext>
            </a:extLst>
          </p:cNvPr>
          <p:cNvSpPr>
            <a:spLocks noGrp="1"/>
          </p:cNvSpPr>
          <p:nvPr/>
        </p:nvSpPr>
        <p:spPr>
          <a:xfrm>
            <a:off x="6784838" y="4340781"/>
            <a:ext cx="87139" cy="67945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331" name="矩形 330">
            <a:extLst>
              <a:ext uri="{FF2B5EF4-FFF2-40B4-BE49-F238E27FC236}">
                <a16:creationId xmlns:a16="http://schemas.microsoft.com/office/drawing/2014/main" id="{B4CEB36B-2A33-4DDC-9CA2-BF232E25170D}"/>
              </a:ext>
            </a:extLst>
          </p:cNvPr>
          <p:cNvSpPr>
            <a:spLocks noGrp="1"/>
          </p:cNvSpPr>
          <p:nvPr/>
        </p:nvSpPr>
        <p:spPr>
          <a:xfrm>
            <a:off x="6871978" y="4340781"/>
            <a:ext cx="87139" cy="67945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332" name="矩形 331">
            <a:extLst>
              <a:ext uri="{FF2B5EF4-FFF2-40B4-BE49-F238E27FC236}">
                <a16:creationId xmlns:a16="http://schemas.microsoft.com/office/drawing/2014/main" id="{F6399BFB-448C-44D6-A272-AA3056E6B0B3}"/>
              </a:ext>
            </a:extLst>
          </p:cNvPr>
          <p:cNvSpPr>
            <a:spLocks noGrp="1"/>
          </p:cNvSpPr>
          <p:nvPr/>
        </p:nvSpPr>
        <p:spPr>
          <a:xfrm>
            <a:off x="6959117" y="4340781"/>
            <a:ext cx="87139" cy="67945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333" name="矩形 332">
            <a:extLst>
              <a:ext uri="{FF2B5EF4-FFF2-40B4-BE49-F238E27FC236}">
                <a16:creationId xmlns:a16="http://schemas.microsoft.com/office/drawing/2014/main" id="{AE5E6197-465F-4EFD-B476-76F2CAF3FBC3}"/>
              </a:ext>
            </a:extLst>
          </p:cNvPr>
          <p:cNvSpPr>
            <a:spLocks noGrp="1"/>
          </p:cNvSpPr>
          <p:nvPr/>
        </p:nvSpPr>
        <p:spPr>
          <a:xfrm>
            <a:off x="7046257" y="4340781"/>
            <a:ext cx="87139" cy="67945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334" name="矩形 333">
            <a:extLst>
              <a:ext uri="{FF2B5EF4-FFF2-40B4-BE49-F238E27FC236}">
                <a16:creationId xmlns:a16="http://schemas.microsoft.com/office/drawing/2014/main" id="{FEDEA4A1-40D1-406D-A120-6FCAA977855A}"/>
              </a:ext>
            </a:extLst>
          </p:cNvPr>
          <p:cNvSpPr>
            <a:spLocks noGrp="1"/>
          </p:cNvSpPr>
          <p:nvPr/>
        </p:nvSpPr>
        <p:spPr>
          <a:xfrm>
            <a:off x="7133396" y="4340781"/>
            <a:ext cx="87139" cy="67945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335" name="矩形 334">
            <a:extLst>
              <a:ext uri="{FF2B5EF4-FFF2-40B4-BE49-F238E27FC236}">
                <a16:creationId xmlns:a16="http://schemas.microsoft.com/office/drawing/2014/main" id="{8A1F2E10-6C18-4327-92C8-18A1EED61E41}"/>
              </a:ext>
            </a:extLst>
          </p:cNvPr>
          <p:cNvSpPr>
            <a:spLocks noGrp="1"/>
          </p:cNvSpPr>
          <p:nvPr/>
        </p:nvSpPr>
        <p:spPr>
          <a:xfrm>
            <a:off x="7220536" y="4340781"/>
            <a:ext cx="87139" cy="67945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336" name="矩形 335">
            <a:extLst>
              <a:ext uri="{FF2B5EF4-FFF2-40B4-BE49-F238E27FC236}">
                <a16:creationId xmlns:a16="http://schemas.microsoft.com/office/drawing/2014/main" id="{0D48DBFB-D26D-43D6-8E81-242CDC068336}"/>
              </a:ext>
            </a:extLst>
          </p:cNvPr>
          <p:cNvSpPr>
            <a:spLocks noGrp="1"/>
          </p:cNvSpPr>
          <p:nvPr/>
        </p:nvSpPr>
        <p:spPr>
          <a:xfrm>
            <a:off x="6436281" y="4408726"/>
            <a:ext cx="87139" cy="67945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337" name="矩形 336">
            <a:extLst>
              <a:ext uri="{FF2B5EF4-FFF2-40B4-BE49-F238E27FC236}">
                <a16:creationId xmlns:a16="http://schemas.microsoft.com/office/drawing/2014/main" id="{508DF48F-8DD6-4002-88DE-40C4B492382C}"/>
              </a:ext>
            </a:extLst>
          </p:cNvPr>
          <p:cNvSpPr>
            <a:spLocks noGrp="1"/>
          </p:cNvSpPr>
          <p:nvPr/>
        </p:nvSpPr>
        <p:spPr>
          <a:xfrm>
            <a:off x="6523420" y="4408726"/>
            <a:ext cx="87139" cy="67945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338" name="矩形 337">
            <a:extLst>
              <a:ext uri="{FF2B5EF4-FFF2-40B4-BE49-F238E27FC236}">
                <a16:creationId xmlns:a16="http://schemas.microsoft.com/office/drawing/2014/main" id="{E80C2204-55B5-4249-AFF9-2AC584D9134E}"/>
              </a:ext>
            </a:extLst>
          </p:cNvPr>
          <p:cNvSpPr>
            <a:spLocks noGrp="1"/>
          </p:cNvSpPr>
          <p:nvPr/>
        </p:nvSpPr>
        <p:spPr>
          <a:xfrm>
            <a:off x="6610560" y="4408726"/>
            <a:ext cx="87139" cy="67945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339" name="矩形 338">
            <a:extLst>
              <a:ext uri="{FF2B5EF4-FFF2-40B4-BE49-F238E27FC236}">
                <a16:creationId xmlns:a16="http://schemas.microsoft.com/office/drawing/2014/main" id="{DCEDA763-68D6-4E3D-A20E-06E8084BC472}"/>
              </a:ext>
            </a:extLst>
          </p:cNvPr>
          <p:cNvSpPr>
            <a:spLocks noGrp="1"/>
          </p:cNvSpPr>
          <p:nvPr/>
        </p:nvSpPr>
        <p:spPr>
          <a:xfrm>
            <a:off x="6697699" y="4408726"/>
            <a:ext cx="87139" cy="67945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340" name="矩形 339">
            <a:extLst>
              <a:ext uri="{FF2B5EF4-FFF2-40B4-BE49-F238E27FC236}">
                <a16:creationId xmlns:a16="http://schemas.microsoft.com/office/drawing/2014/main" id="{DA125DF4-412B-4DEE-B1B8-CEE7C8BDD3D0}"/>
              </a:ext>
            </a:extLst>
          </p:cNvPr>
          <p:cNvSpPr>
            <a:spLocks noGrp="1"/>
          </p:cNvSpPr>
          <p:nvPr/>
        </p:nvSpPr>
        <p:spPr>
          <a:xfrm>
            <a:off x="6784838" y="4408726"/>
            <a:ext cx="87139" cy="67945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341" name="矩形 340">
            <a:extLst>
              <a:ext uri="{FF2B5EF4-FFF2-40B4-BE49-F238E27FC236}">
                <a16:creationId xmlns:a16="http://schemas.microsoft.com/office/drawing/2014/main" id="{C6D4E81B-A240-4E7B-94C4-5F6A30A23CB6}"/>
              </a:ext>
            </a:extLst>
          </p:cNvPr>
          <p:cNvSpPr>
            <a:spLocks noGrp="1"/>
          </p:cNvSpPr>
          <p:nvPr/>
        </p:nvSpPr>
        <p:spPr>
          <a:xfrm>
            <a:off x="6871978" y="4408726"/>
            <a:ext cx="87139" cy="67945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342" name="矩形 341">
            <a:extLst>
              <a:ext uri="{FF2B5EF4-FFF2-40B4-BE49-F238E27FC236}">
                <a16:creationId xmlns:a16="http://schemas.microsoft.com/office/drawing/2014/main" id="{86AD2F43-73DC-4AB5-82EF-A248CBB5536D}"/>
              </a:ext>
            </a:extLst>
          </p:cNvPr>
          <p:cNvSpPr>
            <a:spLocks noGrp="1"/>
          </p:cNvSpPr>
          <p:nvPr/>
        </p:nvSpPr>
        <p:spPr>
          <a:xfrm>
            <a:off x="6959117" y="4408726"/>
            <a:ext cx="87139" cy="67945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343" name="矩形 342">
            <a:extLst>
              <a:ext uri="{FF2B5EF4-FFF2-40B4-BE49-F238E27FC236}">
                <a16:creationId xmlns:a16="http://schemas.microsoft.com/office/drawing/2014/main" id="{500A7CEB-0D52-4EF4-9A83-5CB2228D423D}"/>
              </a:ext>
            </a:extLst>
          </p:cNvPr>
          <p:cNvSpPr>
            <a:spLocks noGrp="1"/>
          </p:cNvSpPr>
          <p:nvPr/>
        </p:nvSpPr>
        <p:spPr>
          <a:xfrm>
            <a:off x="7046257" y="4408726"/>
            <a:ext cx="87139" cy="67945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344" name="矩形 343">
            <a:extLst>
              <a:ext uri="{FF2B5EF4-FFF2-40B4-BE49-F238E27FC236}">
                <a16:creationId xmlns:a16="http://schemas.microsoft.com/office/drawing/2014/main" id="{E0D7B64E-E8A8-4EF8-B388-E6D40C1CB4CA}"/>
              </a:ext>
            </a:extLst>
          </p:cNvPr>
          <p:cNvSpPr>
            <a:spLocks noGrp="1"/>
          </p:cNvSpPr>
          <p:nvPr/>
        </p:nvSpPr>
        <p:spPr>
          <a:xfrm>
            <a:off x="7133396" y="4408726"/>
            <a:ext cx="87139" cy="67945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345" name="矩形 344">
            <a:extLst>
              <a:ext uri="{FF2B5EF4-FFF2-40B4-BE49-F238E27FC236}">
                <a16:creationId xmlns:a16="http://schemas.microsoft.com/office/drawing/2014/main" id="{5DAD8450-D019-4D8D-999D-D609482EFECA}"/>
              </a:ext>
            </a:extLst>
          </p:cNvPr>
          <p:cNvSpPr>
            <a:spLocks noGrp="1"/>
          </p:cNvSpPr>
          <p:nvPr/>
        </p:nvSpPr>
        <p:spPr>
          <a:xfrm>
            <a:off x="7220536" y="4408726"/>
            <a:ext cx="87139" cy="67945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346" name="矩形 345">
            <a:extLst>
              <a:ext uri="{FF2B5EF4-FFF2-40B4-BE49-F238E27FC236}">
                <a16:creationId xmlns:a16="http://schemas.microsoft.com/office/drawing/2014/main" id="{064CC9DB-0AF8-417B-BBFE-1C081B502624}"/>
              </a:ext>
            </a:extLst>
          </p:cNvPr>
          <p:cNvSpPr>
            <a:spLocks noGrp="1"/>
          </p:cNvSpPr>
          <p:nvPr/>
        </p:nvSpPr>
        <p:spPr>
          <a:xfrm>
            <a:off x="6436281" y="4476671"/>
            <a:ext cx="87139" cy="67945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347" name="矩形 346">
            <a:extLst>
              <a:ext uri="{FF2B5EF4-FFF2-40B4-BE49-F238E27FC236}">
                <a16:creationId xmlns:a16="http://schemas.microsoft.com/office/drawing/2014/main" id="{F65B0567-56B5-49C3-ADBB-1AB462B14C45}"/>
              </a:ext>
            </a:extLst>
          </p:cNvPr>
          <p:cNvSpPr>
            <a:spLocks noGrp="1"/>
          </p:cNvSpPr>
          <p:nvPr/>
        </p:nvSpPr>
        <p:spPr>
          <a:xfrm>
            <a:off x="6523420" y="4476671"/>
            <a:ext cx="87139" cy="67945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348" name="矩形 347">
            <a:extLst>
              <a:ext uri="{FF2B5EF4-FFF2-40B4-BE49-F238E27FC236}">
                <a16:creationId xmlns:a16="http://schemas.microsoft.com/office/drawing/2014/main" id="{782FB324-4D42-4BC7-A0AC-640713C725F3}"/>
              </a:ext>
            </a:extLst>
          </p:cNvPr>
          <p:cNvSpPr>
            <a:spLocks noGrp="1"/>
          </p:cNvSpPr>
          <p:nvPr/>
        </p:nvSpPr>
        <p:spPr>
          <a:xfrm>
            <a:off x="6610560" y="4476671"/>
            <a:ext cx="87139" cy="67945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349" name="矩形 348">
            <a:extLst>
              <a:ext uri="{FF2B5EF4-FFF2-40B4-BE49-F238E27FC236}">
                <a16:creationId xmlns:a16="http://schemas.microsoft.com/office/drawing/2014/main" id="{645CEA9B-FF3E-42CC-85E4-62E89D5115C0}"/>
              </a:ext>
            </a:extLst>
          </p:cNvPr>
          <p:cNvSpPr>
            <a:spLocks noGrp="1"/>
          </p:cNvSpPr>
          <p:nvPr/>
        </p:nvSpPr>
        <p:spPr>
          <a:xfrm>
            <a:off x="6697699" y="4476671"/>
            <a:ext cx="87139" cy="67945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350" name="矩形 349">
            <a:extLst>
              <a:ext uri="{FF2B5EF4-FFF2-40B4-BE49-F238E27FC236}">
                <a16:creationId xmlns:a16="http://schemas.microsoft.com/office/drawing/2014/main" id="{E855EDAE-766F-4B28-B499-C5226FFD8F64}"/>
              </a:ext>
            </a:extLst>
          </p:cNvPr>
          <p:cNvSpPr>
            <a:spLocks noGrp="1"/>
          </p:cNvSpPr>
          <p:nvPr/>
        </p:nvSpPr>
        <p:spPr>
          <a:xfrm>
            <a:off x="6784838" y="4476671"/>
            <a:ext cx="87139" cy="67945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351" name="矩形 350">
            <a:extLst>
              <a:ext uri="{FF2B5EF4-FFF2-40B4-BE49-F238E27FC236}">
                <a16:creationId xmlns:a16="http://schemas.microsoft.com/office/drawing/2014/main" id="{A24BB107-CEAC-41E8-B2CB-DB511FEB0D71}"/>
              </a:ext>
            </a:extLst>
          </p:cNvPr>
          <p:cNvSpPr>
            <a:spLocks noGrp="1"/>
          </p:cNvSpPr>
          <p:nvPr/>
        </p:nvSpPr>
        <p:spPr>
          <a:xfrm>
            <a:off x="6871978" y="4476671"/>
            <a:ext cx="87139" cy="67945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352" name="矩形 351">
            <a:extLst>
              <a:ext uri="{FF2B5EF4-FFF2-40B4-BE49-F238E27FC236}">
                <a16:creationId xmlns:a16="http://schemas.microsoft.com/office/drawing/2014/main" id="{DA9CC54D-0A5B-415F-AC6C-364D04B3228A}"/>
              </a:ext>
            </a:extLst>
          </p:cNvPr>
          <p:cNvSpPr>
            <a:spLocks noGrp="1"/>
          </p:cNvSpPr>
          <p:nvPr/>
        </p:nvSpPr>
        <p:spPr>
          <a:xfrm>
            <a:off x="6959117" y="4476671"/>
            <a:ext cx="87139" cy="67945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353" name="矩形 352">
            <a:extLst>
              <a:ext uri="{FF2B5EF4-FFF2-40B4-BE49-F238E27FC236}">
                <a16:creationId xmlns:a16="http://schemas.microsoft.com/office/drawing/2014/main" id="{79E3F478-A835-4ADF-9C1F-74F5E10438B1}"/>
              </a:ext>
            </a:extLst>
          </p:cNvPr>
          <p:cNvSpPr>
            <a:spLocks noGrp="1"/>
          </p:cNvSpPr>
          <p:nvPr/>
        </p:nvSpPr>
        <p:spPr>
          <a:xfrm>
            <a:off x="7046257" y="4476671"/>
            <a:ext cx="87139" cy="67945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354" name="矩形 353">
            <a:extLst>
              <a:ext uri="{FF2B5EF4-FFF2-40B4-BE49-F238E27FC236}">
                <a16:creationId xmlns:a16="http://schemas.microsoft.com/office/drawing/2014/main" id="{9F0F84E4-6C43-4655-8DD4-8E6C88E3F839}"/>
              </a:ext>
            </a:extLst>
          </p:cNvPr>
          <p:cNvSpPr>
            <a:spLocks noGrp="1"/>
          </p:cNvSpPr>
          <p:nvPr/>
        </p:nvSpPr>
        <p:spPr>
          <a:xfrm>
            <a:off x="7133396" y="4476671"/>
            <a:ext cx="87139" cy="67945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355" name="矩形 354">
            <a:extLst>
              <a:ext uri="{FF2B5EF4-FFF2-40B4-BE49-F238E27FC236}">
                <a16:creationId xmlns:a16="http://schemas.microsoft.com/office/drawing/2014/main" id="{8CD805A6-4FE4-44FF-BEF2-D61BF39B6CC2}"/>
              </a:ext>
            </a:extLst>
          </p:cNvPr>
          <p:cNvSpPr>
            <a:spLocks noGrp="1"/>
          </p:cNvSpPr>
          <p:nvPr/>
        </p:nvSpPr>
        <p:spPr>
          <a:xfrm>
            <a:off x="7220536" y="4476671"/>
            <a:ext cx="87139" cy="67945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356" name="32 × 7 action">
            <a:extLst>
              <a:ext uri="{FF2B5EF4-FFF2-40B4-BE49-F238E27FC236}">
                <a16:creationId xmlns:a16="http://schemas.microsoft.com/office/drawing/2014/main" id="{97589D40-4EF4-4E9C-A900-DEBF8FCE16EF}"/>
              </a:ext>
            </a:extLst>
          </p:cNvPr>
          <p:cNvSpPr>
            <a:spLocks noGrp="1"/>
          </p:cNvSpPr>
          <p:nvPr/>
        </p:nvSpPr>
        <p:spPr>
          <a:xfrm>
            <a:off x="6436281" y="4187904"/>
            <a:ext cx="871395" cy="13758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32 × 7 action</a:t>
            </a:r>
          </a:p>
        </p:txBody>
      </p:sp>
      <p:sp>
        <p:nvSpPr>
          <p:cNvPr id="357" name="矩形 356">
            <a:extLst>
              <a:ext uri="{FF2B5EF4-FFF2-40B4-BE49-F238E27FC236}">
                <a16:creationId xmlns:a16="http://schemas.microsoft.com/office/drawing/2014/main" id="{611DB645-5806-464A-AFD8-9B917DC7E196}"/>
              </a:ext>
            </a:extLst>
          </p:cNvPr>
          <p:cNvSpPr>
            <a:spLocks noGrp="1"/>
          </p:cNvSpPr>
          <p:nvPr/>
        </p:nvSpPr>
        <p:spPr>
          <a:xfrm>
            <a:off x="6436281" y="4340781"/>
            <a:ext cx="871395" cy="203835"/>
          </a:xfrm>
          <a:prstGeom prst="rect">
            <a:avLst/>
          </a:prstGeom>
          <a:noFill/>
          <a:ln w="7620">
            <a:noFill/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358" name="矩形 357">
            <a:extLst>
              <a:ext uri="{FF2B5EF4-FFF2-40B4-BE49-F238E27FC236}">
                <a16:creationId xmlns:a16="http://schemas.microsoft.com/office/drawing/2014/main" id="{9ECBF5CE-7088-4038-9E53-F9EF0EBA4BAD}"/>
              </a:ext>
            </a:extLst>
          </p:cNvPr>
          <p:cNvSpPr>
            <a:spLocks noGrp="1"/>
          </p:cNvSpPr>
          <p:nvPr/>
        </p:nvSpPr>
        <p:spPr>
          <a:xfrm>
            <a:off x="7664387" y="4340781"/>
            <a:ext cx="87139" cy="67945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359" name="矩形 358">
            <a:extLst>
              <a:ext uri="{FF2B5EF4-FFF2-40B4-BE49-F238E27FC236}">
                <a16:creationId xmlns:a16="http://schemas.microsoft.com/office/drawing/2014/main" id="{8CCC1EC6-C503-4788-AAF8-C0A90A6AFB89}"/>
              </a:ext>
            </a:extLst>
          </p:cNvPr>
          <p:cNvSpPr>
            <a:spLocks noGrp="1"/>
          </p:cNvSpPr>
          <p:nvPr/>
        </p:nvSpPr>
        <p:spPr>
          <a:xfrm>
            <a:off x="7751526" y="4340781"/>
            <a:ext cx="87139" cy="67945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360" name="矩形 359">
            <a:extLst>
              <a:ext uri="{FF2B5EF4-FFF2-40B4-BE49-F238E27FC236}">
                <a16:creationId xmlns:a16="http://schemas.microsoft.com/office/drawing/2014/main" id="{185B0CF0-2AC6-454C-A298-A31EC2D37572}"/>
              </a:ext>
            </a:extLst>
          </p:cNvPr>
          <p:cNvSpPr>
            <a:spLocks noGrp="1"/>
          </p:cNvSpPr>
          <p:nvPr/>
        </p:nvSpPr>
        <p:spPr>
          <a:xfrm>
            <a:off x="7838665" y="4340781"/>
            <a:ext cx="87139" cy="67945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361" name="矩形 360">
            <a:extLst>
              <a:ext uri="{FF2B5EF4-FFF2-40B4-BE49-F238E27FC236}">
                <a16:creationId xmlns:a16="http://schemas.microsoft.com/office/drawing/2014/main" id="{1E9D85A7-1135-44C6-B255-9979957D12F2}"/>
              </a:ext>
            </a:extLst>
          </p:cNvPr>
          <p:cNvSpPr>
            <a:spLocks noGrp="1"/>
          </p:cNvSpPr>
          <p:nvPr/>
        </p:nvSpPr>
        <p:spPr>
          <a:xfrm>
            <a:off x="7925805" y="4340781"/>
            <a:ext cx="87139" cy="67945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362" name="矩形 361">
            <a:extLst>
              <a:ext uri="{FF2B5EF4-FFF2-40B4-BE49-F238E27FC236}">
                <a16:creationId xmlns:a16="http://schemas.microsoft.com/office/drawing/2014/main" id="{E6F5E880-14AF-485F-AAA3-1BE04E07DC96}"/>
              </a:ext>
            </a:extLst>
          </p:cNvPr>
          <p:cNvSpPr>
            <a:spLocks noGrp="1"/>
          </p:cNvSpPr>
          <p:nvPr/>
        </p:nvSpPr>
        <p:spPr>
          <a:xfrm>
            <a:off x="8012944" y="4340781"/>
            <a:ext cx="87139" cy="67945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363" name="矩形 362">
            <a:extLst>
              <a:ext uri="{FF2B5EF4-FFF2-40B4-BE49-F238E27FC236}">
                <a16:creationId xmlns:a16="http://schemas.microsoft.com/office/drawing/2014/main" id="{157E820B-9D4A-4B81-AB2D-965A893A6666}"/>
              </a:ext>
            </a:extLst>
          </p:cNvPr>
          <p:cNvSpPr>
            <a:spLocks noGrp="1"/>
          </p:cNvSpPr>
          <p:nvPr/>
        </p:nvSpPr>
        <p:spPr>
          <a:xfrm>
            <a:off x="8100084" y="4340781"/>
            <a:ext cx="87139" cy="67945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364" name="矩形 363">
            <a:extLst>
              <a:ext uri="{FF2B5EF4-FFF2-40B4-BE49-F238E27FC236}">
                <a16:creationId xmlns:a16="http://schemas.microsoft.com/office/drawing/2014/main" id="{A7249745-3236-476E-B6CE-19FF1277241B}"/>
              </a:ext>
            </a:extLst>
          </p:cNvPr>
          <p:cNvSpPr>
            <a:spLocks noGrp="1"/>
          </p:cNvSpPr>
          <p:nvPr/>
        </p:nvSpPr>
        <p:spPr>
          <a:xfrm>
            <a:off x="8187223" y="4340781"/>
            <a:ext cx="87139" cy="67945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365" name="矩形 364">
            <a:extLst>
              <a:ext uri="{FF2B5EF4-FFF2-40B4-BE49-F238E27FC236}">
                <a16:creationId xmlns:a16="http://schemas.microsoft.com/office/drawing/2014/main" id="{A7D018B2-E4F9-4E5D-9665-B073758AA4DF}"/>
              </a:ext>
            </a:extLst>
          </p:cNvPr>
          <p:cNvSpPr>
            <a:spLocks noGrp="1"/>
          </p:cNvSpPr>
          <p:nvPr/>
        </p:nvSpPr>
        <p:spPr>
          <a:xfrm>
            <a:off x="8274363" y="4340781"/>
            <a:ext cx="87139" cy="67945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366" name="矩形 365">
            <a:extLst>
              <a:ext uri="{FF2B5EF4-FFF2-40B4-BE49-F238E27FC236}">
                <a16:creationId xmlns:a16="http://schemas.microsoft.com/office/drawing/2014/main" id="{325F9601-DFCF-491A-9283-9BF1715BDCA5}"/>
              </a:ext>
            </a:extLst>
          </p:cNvPr>
          <p:cNvSpPr>
            <a:spLocks noGrp="1"/>
          </p:cNvSpPr>
          <p:nvPr/>
        </p:nvSpPr>
        <p:spPr>
          <a:xfrm>
            <a:off x="8361502" y="4340781"/>
            <a:ext cx="87139" cy="67945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367" name="矩形 366">
            <a:extLst>
              <a:ext uri="{FF2B5EF4-FFF2-40B4-BE49-F238E27FC236}">
                <a16:creationId xmlns:a16="http://schemas.microsoft.com/office/drawing/2014/main" id="{CA941516-34A7-459A-89D5-C466B404ACE6}"/>
              </a:ext>
            </a:extLst>
          </p:cNvPr>
          <p:cNvSpPr>
            <a:spLocks noGrp="1"/>
          </p:cNvSpPr>
          <p:nvPr/>
        </p:nvSpPr>
        <p:spPr>
          <a:xfrm>
            <a:off x="8448642" y="4340781"/>
            <a:ext cx="87139" cy="67945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368" name="矩形 367">
            <a:extLst>
              <a:ext uri="{FF2B5EF4-FFF2-40B4-BE49-F238E27FC236}">
                <a16:creationId xmlns:a16="http://schemas.microsoft.com/office/drawing/2014/main" id="{8EDE0608-56B6-492D-B4D5-7DC911412ADD}"/>
              </a:ext>
            </a:extLst>
          </p:cNvPr>
          <p:cNvSpPr>
            <a:spLocks noGrp="1"/>
          </p:cNvSpPr>
          <p:nvPr/>
        </p:nvSpPr>
        <p:spPr>
          <a:xfrm>
            <a:off x="7664387" y="4408726"/>
            <a:ext cx="87139" cy="67945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369" name="矩形 368">
            <a:extLst>
              <a:ext uri="{FF2B5EF4-FFF2-40B4-BE49-F238E27FC236}">
                <a16:creationId xmlns:a16="http://schemas.microsoft.com/office/drawing/2014/main" id="{4FFB4F66-1B0E-4A57-A3C6-1647B0AE58CE}"/>
              </a:ext>
            </a:extLst>
          </p:cNvPr>
          <p:cNvSpPr>
            <a:spLocks noGrp="1"/>
          </p:cNvSpPr>
          <p:nvPr/>
        </p:nvSpPr>
        <p:spPr>
          <a:xfrm>
            <a:off x="7751526" y="4408726"/>
            <a:ext cx="87139" cy="67945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370" name="矩形 369">
            <a:extLst>
              <a:ext uri="{FF2B5EF4-FFF2-40B4-BE49-F238E27FC236}">
                <a16:creationId xmlns:a16="http://schemas.microsoft.com/office/drawing/2014/main" id="{1ACC8E18-B0FF-4D33-98BC-7E5AD5D966B8}"/>
              </a:ext>
            </a:extLst>
          </p:cNvPr>
          <p:cNvSpPr>
            <a:spLocks noGrp="1"/>
          </p:cNvSpPr>
          <p:nvPr/>
        </p:nvSpPr>
        <p:spPr>
          <a:xfrm>
            <a:off x="7838665" y="4408726"/>
            <a:ext cx="87139" cy="67945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371" name="矩形 370">
            <a:extLst>
              <a:ext uri="{FF2B5EF4-FFF2-40B4-BE49-F238E27FC236}">
                <a16:creationId xmlns:a16="http://schemas.microsoft.com/office/drawing/2014/main" id="{74EBD492-EA97-460C-931C-07EA980E9BFE}"/>
              </a:ext>
            </a:extLst>
          </p:cNvPr>
          <p:cNvSpPr>
            <a:spLocks noGrp="1"/>
          </p:cNvSpPr>
          <p:nvPr/>
        </p:nvSpPr>
        <p:spPr>
          <a:xfrm>
            <a:off x="7925805" y="4408726"/>
            <a:ext cx="87139" cy="67945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372" name="矩形 371">
            <a:extLst>
              <a:ext uri="{FF2B5EF4-FFF2-40B4-BE49-F238E27FC236}">
                <a16:creationId xmlns:a16="http://schemas.microsoft.com/office/drawing/2014/main" id="{6EC95F9B-A418-4060-BD04-95653B04C4E7}"/>
              </a:ext>
            </a:extLst>
          </p:cNvPr>
          <p:cNvSpPr>
            <a:spLocks noGrp="1"/>
          </p:cNvSpPr>
          <p:nvPr/>
        </p:nvSpPr>
        <p:spPr>
          <a:xfrm>
            <a:off x="8012944" y="4408726"/>
            <a:ext cx="87139" cy="67945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373" name="矩形 372">
            <a:extLst>
              <a:ext uri="{FF2B5EF4-FFF2-40B4-BE49-F238E27FC236}">
                <a16:creationId xmlns:a16="http://schemas.microsoft.com/office/drawing/2014/main" id="{41FD2164-BDCE-4E79-AE46-D231DD6DD09A}"/>
              </a:ext>
            </a:extLst>
          </p:cNvPr>
          <p:cNvSpPr>
            <a:spLocks noGrp="1"/>
          </p:cNvSpPr>
          <p:nvPr/>
        </p:nvSpPr>
        <p:spPr>
          <a:xfrm>
            <a:off x="8100084" y="4408726"/>
            <a:ext cx="87139" cy="67945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374" name="矩形 373">
            <a:extLst>
              <a:ext uri="{FF2B5EF4-FFF2-40B4-BE49-F238E27FC236}">
                <a16:creationId xmlns:a16="http://schemas.microsoft.com/office/drawing/2014/main" id="{288477B6-5E5A-4117-B463-2A0AB13CA05C}"/>
              </a:ext>
            </a:extLst>
          </p:cNvPr>
          <p:cNvSpPr>
            <a:spLocks noGrp="1"/>
          </p:cNvSpPr>
          <p:nvPr/>
        </p:nvSpPr>
        <p:spPr>
          <a:xfrm>
            <a:off x="8187223" y="4408726"/>
            <a:ext cx="87139" cy="67945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375" name="矩形 374">
            <a:extLst>
              <a:ext uri="{FF2B5EF4-FFF2-40B4-BE49-F238E27FC236}">
                <a16:creationId xmlns:a16="http://schemas.microsoft.com/office/drawing/2014/main" id="{A3B50CF2-B894-4308-A84E-27C4ECB898EE}"/>
              </a:ext>
            </a:extLst>
          </p:cNvPr>
          <p:cNvSpPr>
            <a:spLocks noGrp="1"/>
          </p:cNvSpPr>
          <p:nvPr/>
        </p:nvSpPr>
        <p:spPr>
          <a:xfrm>
            <a:off x="8274363" y="4408726"/>
            <a:ext cx="87139" cy="67945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376" name="矩形 375">
            <a:extLst>
              <a:ext uri="{FF2B5EF4-FFF2-40B4-BE49-F238E27FC236}">
                <a16:creationId xmlns:a16="http://schemas.microsoft.com/office/drawing/2014/main" id="{E145DA6A-9187-472B-80FE-F1F592EFB410}"/>
              </a:ext>
            </a:extLst>
          </p:cNvPr>
          <p:cNvSpPr>
            <a:spLocks noGrp="1"/>
          </p:cNvSpPr>
          <p:nvPr/>
        </p:nvSpPr>
        <p:spPr>
          <a:xfrm>
            <a:off x="8361502" y="4408726"/>
            <a:ext cx="87139" cy="67945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377" name="矩形 376">
            <a:extLst>
              <a:ext uri="{FF2B5EF4-FFF2-40B4-BE49-F238E27FC236}">
                <a16:creationId xmlns:a16="http://schemas.microsoft.com/office/drawing/2014/main" id="{66821497-8A0B-44E6-BDF9-8B146776BA2F}"/>
              </a:ext>
            </a:extLst>
          </p:cNvPr>
          <p:cNvSpPr>
            <a:spLocks noGrp="1"/>
          </p:cNvSpPr>
          <p:nvPr/>
        </p:nvSpPr>
        <p:spPr>
          <a:xfrm>
            <a:off x="8448642" y="4408726"/>
            <a:ext cx="87139" cy="67945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378" name="矩形 377">
            <a:extLst>
              <a:ext uri="{FF2B5EF4-FFF2-40B4-BE49-F238E27FC236}">
                <a16:creationId xmlns:a16="http://schemas.microsoft.com/office/drawing/2014/main" id="{CAC470E1-E773-42D1-875A-D61D0A60B5B6}"/>
              </a:ext>
            </a:extLst>
          </p:cNvPr>
          <p:cNvSpPr>
            <a:spLocks noGrp="1"/>
          </p:cNvSpPr>
          <p:nvPr/>
        </p:nvSpPr>
        <p:spPr>
          <a:xfrm>
            <a:off x="7664387" y="4476671"/>
            <a:ext cx="87139" cy="67945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379" name="矩形 378">
            <a:extLst>
              <a:ext uri="{FF2B5EF4-FFF2-40B4-BE49-F238E27FC236}">
                <a16:creationId xmlns:a16="http://schemas.microsoft.com/office/drawing/2014/main" id="{78444C05-EBD3-452B-8950-4B0A2A4B2EED}"/>
              </a:ext>
            </a:extLst>
          </p:cNvPr>
          <p:cNvSpPr>
            <a:spLocks noGrp="1"/>
          </p:cNvSpPr>
          <p:nvPr/>
        </p:nvSpPr>
        <p:spPr>
          <a:xfrm>
            <a:off x="7751526" y="4476671"/>
            <a:ext cx="87139" cy="67945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380" name="矩形 379">
            <a:extLst>
              <a:ext uri="{FF2B5EF4-FFF2-40B4-BE49-F238E27FC236}">
                <a16:creationId xmlns:a16="http://schemas.microsoft.com/office/drawing/2014/main" id="{466E2637-A822-48FF-9378-A6B735B94F11}"/>
              </a:ext>
            </a:extLst>
          </p:cNvPr>
          <p:cNvSpPr>
            <a:spLocks noGrp="1"/>
          </p:cNvSpPr>
          <p:nvPr/>
        </p:nvSpPr>
        <p:spPr>
          <a:xfrm>
            <a:off x="7838665" y="4476671"/>
            <a:ext cx="87139" cy="67945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381" name="矩形 380">
            <a:extLst>
              <a:ext uri="{FF2B5EF4-FFF2-40B4-BE49-F238E27FC236}">
                <a16:creationId xmlns:a16="http://schemas.microsoft.com/office/drawing/2014/main" id="{D469F753-9BDA-4A02-9357-0DACB7B8BC21}"/>
              </a:ext>
            </a:extLst>
          </p:cNvPr>
          <p:cNvSpPr>
            <a:spLocks noGrp="1"/>
          </p:cNvSpPr>
          <p:nvPr/>
        </p:nvSpPr>
        <p:spPr>
          <a:xfrm>
            <a:off x="7925805" y="4476671"/>
            <a:ext cx="87139" cy="67945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382" name="矩形 381">
            <a:extLst>
              <a:ext uri="{FF2B5EF4-FFF2-40B4-BE49-F238E27FC236}">
                <a16:creationId xmlns:a16="http://schemas.microsoft.com/office/drawing/2014/main" id="{4427877F-C5CB-4AFA-99C3-3985E379F4D7}"/>
              </a:ext>
            </a:extLst>
          </p:cNvPr>
          <p:cNvSpPr>
            <a:spLocks noGrp="1"/>
          </p:cNvSpPr>
          <p:nvPr/>
        </p:nvSpPr>
        <p:spPr>
          <a:xfrm>
            <a:off x="8012944" y="4476671"/>
            <a:ext cx="87139" cy="67945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383" name="矩形 382">
            <a:extLst>
              <a:ext uri="{FF2B5EF4-FFF2-40B4-BE49-F238E27FC236}">
                <a16:creationId xmlns:a16="http://schemas.microsoft.com/office/drawing/2014/main" id="{B6F1D914-882F-40CB-A3AE-357F9057E75A}"/>
              </a:ext>
            </a:extLst>
          </p:cNvPr>
          <p:cNvSpPr>
            <a:spLocks noGrp="1"/>
          </p:cNvSpPr>
          <p:nvPr/>
        </p:nvSpPr>
        <p:spPr>
          <a:xfrm>
            <a:off x="8100084" y="4476671"/>
            <a:ext cx="87139" cy="67945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384" name="矩形 383">
            <a:extLst>
              <a:ext uri="{FF2B5EF4-FFF2-40B4-BE49-F238E27FC236}">
                <a16:creationId xmlns:a16="http://schemas.microsoft.com/office/drawing/2014/main" id="{F50D23C2-A01E-4245-9D89-E348D0A4CAA7}"/>
              </a:ext>
            </a:extLst>
          </p:cNvPr>
          <p:cNvSpPr>
            <a:spLocks noGrp="1"/>
          </p:cNvSpPr>
          <p:nvPr/>
        </p:nvSpPr>
        <p:spPr>
          <a:xfrm>
            <a:off x="8187223" y="4476671"/>
            <a:ext cx="87139" cy="67945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385" name="矩形 384">
            <a:extLst>
              <a:ext uri="{FF2B5EF4-FFF2-40B4-BE49-F238E27FC236}">
                <a16:creationId xmlns:a16="http://schemas.microsoft.com/office/drawing/2014/main" id="{C9E7220E-3912-48D2-BA50-23B3D07C30D0}"/>
              </a:ext>
            </a:extLst>
          </p:cNvPr>
          <p:cNvSpPr>
            <a:spLocks noGrp="1"/>
          </p:cNvSpPr>
          <p:nvPr/>
        </p:nvSpPr>
        <p:spPr>
          <a:xfrm>
            <a:off x="8274363" y="4476671"/>
            <a:ext cx="87139" cy="67945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386" name="矩形 385">
            <a:extLst>
              <a:ext uri="{FF2B5EF4-FFF2-40B4-BE49-F238E27FC236}">
                <a16:creationId xmlns:a16="http://schemas.microsoft.com/office/drawing/2014/main" id="{26A00370-0756-45F8-9FD5-568718C88C48}"/>
              </a:ext>
            </a:extLst>
          </p:cNvPr>
          <p:cNvSpPr>
            <a:spLocks noGrp="1"/>
          </p:cNvSpPr>
          <p:nvPr/>
        </p:nvSpPr>
        <p:spPr>
          <a:xfrm>
            <a:off x="8361502" y="4476671"/>
            <a:ext cx="87139" cy="67945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387" name="矩形 386">
            <a:extLst>
              <a:ext uri="{FF2B5EF4-FFF2-40B4-BE49-F238E27FC236}">
                <a16:creationId xmlns:a16="http://schemas.microsoft.com/office/drawing/2014/main" id="{67EDD235-1063-4E87-A456-FD289616DB70}"/>
              </a:ext>
            </a:extLst>
          </p:cNvPr>
          <p:cNvSpPr>
            <a:spLocks noGrp="1"/>
          </p:cNvSpPr>
          <p:nvPr/>
        </p:nvSpPr>
        <p:spPr>
          <a:xfrm>
            <a:off x="8448642" y="4476671"/>
            <a:ext cx="87139" cy="67945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388" name="future latent">
            <a:extLst>
              <a:ext uri="{FF2B5EF4-FFF2-40B4-BE49-F238E27FC236}">
                <a16:creationId xmlns:a16="http://schemas.microsoft.com/office/drawing/2014/main" id="{777BFF5B-8371-4CAD-8046-9D17B8C6F1FD}"/>
              </a:ext>
            </a:extLst>
          </p:cNvPr>
          <p:cNvSpPr>
            <a:spLocks noGrp="1"/>
          </p:cNvSpPr>
          <p:nvPr/>
        </p:nvSpPr>
        <p:spPr>
          <a:xfrm>
            <a:off x="7664387" y="4187904"/>
            <a:ext cx="871395" cy="13758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843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future latent</a:t>
            </a:r>
          </a:p>
        </p:txBody>
      </p:sp>
      <p:sp>
        <p:nvSpPr>
          <p:cNvPr id="389" name="矩形 388">
            <a:extLst>
              <a:ext uri="{FF2B5EF4-FFF2-40B4-BE49-F238E27FC236}">
                <a16:creationId xmlns:a16="http://schemas.microsoft.com/office/drawing/2014/main" id="{16FEAE67-E3DE-4E4E-B5AB-2662DB165DF1}"/>
              </a:ext>
            </a:extLst>
          </p:cNvPr>
          <p:cNvSpPr>
            <a:spLocks noGrp="1"/>
          </p:cNvSpPr>
          <p:nvPr/>
        </p:nvSpPr>
        <p:spPr>
          <a:xfrm>
            <a:off x="7664387" y="4340781"/>
            <a:ext cx="871395" cy="203835"/>
          </a:xfrm>
          <a:prstGeom prst="rect">
            <a:avLst/>
          </a:prstGeom>
          <a:noFill/>
          <a:ln w="7620">
            <a:noFill/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390" name="Single request / single CUDA stream">
            <a:extLst>
              <a:ext uri="{FF2B5EF4-FFF2-40B4-BE49-F238E27FC236}">
                <a16:creationId xmlns:a16="http://schemas.microsoft.com/office/drawing/2014/main" id="{8E5FC0C0-FEF7-4D53-87D5-A297CB6FD7FC}"/>
              </a:ext>
            </a:extLst>
          </p:cNvPr>
          <p:cNvSpPr>
            <a:spLocks noGrp="1"/>
          </p:cNvSpPr>
          <p:nvPr/>
        </p:nvSpPr>
        <p:spPr>
          <a:xfrm>
            <a:off x="6344555" y="4621054"/>
            <a:ext cx="2318623" cy="13758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84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4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Single request / single CUDA stream</a:t>
            </a:r>
          </a:p>
        </p:txBody>
      </p:sp>
      <p:cxnSp>
        <p:nvCxnSpPr>
          <p:cNvPr id="391" name="直接箭头连接符 390">
            <a:extLst>
              <a:ext uri="{FF2B5EF4-FFF2-40B4-BE49-F238E27FC236}">
                <a16:creationId xmlns:a16="http://schemas.microsoft.com/office/drawing/2014/main" id="{0B0D577C-473A-479F-A676-66B93CC47B8F}"/>
              </a:ext>
            </a:extLst>
          </p:cNvPr>
          <p:cNvCxnSpPr>
            <a:stCxn id="149" idx="3"/>
            <a:endCxn id="151" idx="3"/>
          </p:cNvCxnSpPr>
          <p:nvPr/>
        </p:nvCxnSpPr>
        <p:spPr>
          <a:xfrm flipH="1">
            <a:off x="6062710" y="1833610"/>
            <a:ext cx="0" cy="649724"/>
          </a:xfrm>
          <a:prstGeom prst="straightConnector1">
            <a:avLst/>
          </a:prstGeom>
          <a:ln w="9525">
            <a:solidFill>
              <a:srgbClr val="18222F"/>
            </a:solidFill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35107799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0F505A7-808B-42DC-8C1C-4E180E2D9334}"/>
              </a:ext>
            </a:extLst>
          </p:cNvPr>
          <p:cNvSpPr>
            <a:spLocks noGrp="1"/>
          </p:cNvSpPr>
          <p:nvPr/>
        </p:nvSpPr>
        <p:spPr>
          <a:xfrm>
            <a:off x="3143250" y="876300"/>
            <a:ext cx="2006918" cy="3788569"/>
          </a:xfrm>
          <a:prstGeom prst="rect">
            <a:avLst/>
          </a:prstGeom>
          <a:solidFill>
            <a:srgbClr val="FFFFFF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1E53157-E399-49F8-816F-E876418DD653}"/>
              </a:ext>
            </a:extLst>
          </p:cNvPr>
          <p:cNvSpPr>
            <a:spLocks noGrp="1"/>
          </p:cNvSpPr>
          <p:nvPr/>
        </p:nvSpPr>
        <p:spPr>
          <a:xfrm>
            <a:off x="457200" y="866775"/>
            <a:ext cx="2334578" cy="3788569"/>
          </a:xfrm>
          <a:prstGeom prst="rect">
            <a:avLst/>
          </a:prstGeom>
          <a:solidFill>
            <a:srgbClr val="FFFFFF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cxnSp>
        <p:nvCxnSpPr>
          <p:cNvPr id="6" name="连接符: 肘形 5">
            <a:extLst>
              <a:ext uri="{FF2B5EF4-FFF2-40B4-BE49-F238E27FC236}">
                <a16:creationId xmlns:a16="http://schemas.microsoft.com/office/drawing/2014/main" id="{7FB2E441-337B-4BB9-AC23-A1B279887A49}"/>
              </a:ext>
            </a:extLst>
          </p:cNvPr>
          <p:cNvCxnSpPr>
            <a:stCxn id="191" idx="2"/>
            <a:endCxn id="194" idx="0"/>
          </p:cNvCxnSpPr>
          <p:nvPr/>
        </p:nvCxnSpPr>
        <p:spPr>
          <a:xfrm>
            <a:off x="4146709" y="1875663"/>
            <a:ext cx="219123" cy="323564"/>
          </a:xfrm>
          <a:prstGeom prst="bentConnector4">
            <a:avLst>
              <a:gd name="adj1" fmla="val 0"/>
              <a:gd name="adj2" fmla="val 50000"/>
            </a:avLst>
          </a:prstGeom>
          <a:ln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202C4952-8EB9-4576-B203-41EB7DE0A123}"/>
              </a:ext>
            </a:extLst>
          </p:cNvPr>
          <p:cNvCxnSpPr>
            <a:stCxn id="97" idx="3"/>
            <a:endCxn id="114" idx="1"/>
          </p:cNvCxnSpPr>
          <p:nvPr/>
        </p:nvCxnSpPr>
        <p:spPr>
          <a:xfrm>
            <a:off x="2226564" y="4327685"/>
            <a:ext cx="237554" cy="2047"/>
          </a:xfrm>
          <a:prstGeom prst="straightConnector1">
            <a:avLst/>
          </a:prstGeom>
          <a:ln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8" name="连接符: 肘形 7">
            <a:extLst>
              <a:ext uri="{FF2B5EF4-FFF2-40B4-BE49-F238E27FC236}">
                <a16:creationId xmlns:a16="http://schemas.microsoft.com/office/drawing/2014/main" id="{6CE5F991-C1F5-4FF3-844E-D38E050BB387}"/>
              </a:ext>
            </a:extLst>
          </p:cNvPr>
          <p:cNvCxnSpPr>
            <a:stCxn id="96" idx="3"/>
            <a:endCxn id="97" idx="1"/>
          </p:cNvCxnSpPr>
          <p:nvPr/>
        </p:nvCxnSpPr>
        <p:spPr>
          <a:xfrm flipV="1">
            <a:off x="1264063" y="4327685"/>
            <a:ext cx="286702" cy="98297"/>
          </a:xfrm>
          <a:prstGeom prst="bentConnector3">
            <a:avLst>
              <a:gd name="adj1" fmla="val 50000"/>
            </a:avLst>
          </a:prstGeom>
          <a:ln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9" name="连接符: 肘形 8">
            <a:extLst>
              <a:ext uri="{FF2B5EF4-FFF2-40B4-BE49-F238E27FC236}">
                <a16:creationId xmlns:a16="http://schemas.microsoft.com/office/drawing/2014/main" id="{51715956-2BF9-4376-99A3-E2BD2FD14CB4}"/>
              </a:ext>
            </a:extLst>
          </p:cNvPr>
          <p:cNvCxnSpPr>
            <a:stCxn id="95" idx="3"/>
            <a:endCxn id="97" idx="1"/>
          </p:cNvCxnSpPr>
          <p:nvPr/>
        </p:nvCxnSpPr>
        <p:spPr>
          <a:xfrm>
            <a:off x="1264063" y="4208908"/>
            <a:ext cx="286702" cy="118777"/>
          </a:xfrm>
          <a:prstGeom prst="bentConnector3">
            <a:avLst>
              <a:gd name="adj1" fmla="val 50000"/>
            </a:avLst>
          </a:prstGeom>
          <a:ln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F95F3352-CE9D-4A21-AD31-537638FD9699}"/>
              </a:ext>
            </a:extLst>
          </p:cNvPr>
          <p:cNvCxnSpPr>
            <a:stCxn id="77" idx="3"/>
            <a:endCxn id="91" idx="1"/>
          </p:cNvCxnSpPr>
          <p:nvPr/>
        </p:nvCxnSpPr>
        <p:spPr>
          <a:xfrm>
            <a:off x="2517362" y="3453241"/>
            <a:ext cx="53245" cy="10239"/>
          </a:xfrm>
          <a:prstGeom prst="straightConnector1">
            <a:avLst/>
          </a:prstGeom>
          <a:ln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E3EAC9F6-62FB-47B3-B694-68B991A42BE5}"/>
              </a:ext>
            </a:extLst>
          </p:cNvPr>
          <p:cNvCxnSpPr>
            <a:stCxn id="76" idx="3"/>
            <a:endCxn id="77" idx="1"/>
          </p:cNvCxnSpPr>
          <p:nvPr/>
        </p:nvCxnSpPr>
        <p:spPr>
          <a:xfrm>
            <a:off x="2046351" y="3453241"/>
            <a:ext cx="61436" cy="0"/>
          </a:xfrm>
          <a:prstGeom prst="straightConnector1">
            <a:avLst/>
          </a:prstGeom>
          <a:ln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F7760903-E2FB-4724-8E77-67A30376B22E}"/>
              </a:ext>
            </a:extLst>
          </p:cNvPr>
          <p:cNvCxnSpPr>
            <a:stCxn id="75" idx="3"/>
            <a:endCxn id="76" idx="1"/>
          </p:cNvCxnSpPr>
          <p:nvPr/>
        </p:nvCxnSpPr>
        <p:spPr>
          <a:xfrm>
            <a:off x="1644967" y="3453241"/>
            <a:ext cx="65532" cy="0"/>
          </a:xfrm>
          <a:prstGeom prst="straightConnector1">
            <a:avLst/>
          </a:prstGeom>
          <a:ln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D8BDD526-01F4-419B-8603-71E25D30592A}"/>
              </a:ext>
            </a:extLst>
          </p:cNvPr>
          <p:cNvCxnSpPr>
            <a:stCxn id="74" idx="3"/>
            <a:endCxn id="75" idx="1"/>
          </p:cNvCxnSpPr>
          <p:nvPr/>
        </p:nvCxnSpPr>
        <p:spPr>
          <a:xfrm>
            <a:off x="1341882" y="3453241"/>
            <a:ext cx="61436" cy="0"/>
          </a:xfrm>
          <a:prstGeom prst="straightConnector1">
            <a:avLst/>
          </a:prstGeom>
          <a:ln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6A6112E5-C376-40FD-A108-36B0E195BEAD}"/>
              </a:ext>
            </a:extLst>
          </p:cNvPr>
          <p:cNvCxnSpPr>
            <a:stCxn id="73" idx="3"/>
            <a:endCxn id="74" idx="1"/>
          </p:cNvCxnSpPr>
          <p:nvPr/>
        </p:nvCxnSpPr>
        <p:spPr>
          <a:xfrm>
            <a:off x="1034701" y="3453241"/>
            <a:ext cx="65532" cy="0"/>
          </a:xfrm>
          <a:prstGeom prst="straightConnector1">
            <a:avLst/>
          </a:prstGeom>
          <a:ln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1E4002C9-C5DB-493D-BD0E-ECA269198335}"/>
              </a:ext>
            </a:extLst>
          </p:cNvPr>
          <p:cNvCxnSpPr>
            <a:stCxn id="72" idx="3"/>
            <a:endCxn id="73" idx="1"/>
          </p:cNvCxnSpPr>
          <p:nvPr/>
        </p:nvCxnSpPr>
        <p:spPr>
          <a:xfrm flipV="1">
            <a:off x="764381" y="3453241"/>
            <a:ext cx="73724" cy="22528"/>
          </a:xfrm>
          <a:prstGeom prst="straightConnector1">
            <a:avLst/>
          </a:prstGeom>
          <a:ln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11A1FCF9-4C14-4CD5-BDFE-D88B36CA0798}"/>
              </a:ext>
            </a:extLst>
          </p:cNvPr>
          <p:cNvCxnSpPr>
            <a:stCxn id="45" idx="2"/>
            <a:endCxn id="51" idx="0"/>
          </p:cNvCxnSpPr>
          <p:nvPr/>
        </p:nvCxnSpPr>
        <p:spPr>
          <a:xfrm>
            <a:off x="2486644" y="1849755"/>
            <a:ext cx="2049" cy="360426"/>
          </a:xfrm>
          <a:prstGeom prst="straightConnector1">
            <a:avLst/>
          </a:prstGeom>
          <a:ln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4AADB075-397D-4A2C-A5D6-43FC192BA7E3}"/>
              </a:ext>
            </a:extLst>
          </p:cNvPr>
          <p:cNvCxnSpPr>
            <a:stCxn id="46" idx="6"/>
            <a:endCxn id="51" idx="1"/>
          </p:cNvCxnSpPr>
          <p:nvPr/>
        </p:nvCxnSpPr>
        <p:spPr>
          <a:xfrm flipV="1">
            <a:off x="2210181" y="2271618"/>
            <a:ext cx="86011" cy="10239"/>
          </a:xfrm>
          <a:prstGeom prst="straightConnector1">
            <a:avLst/>
          </a:prstGeom>
          <a:ln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EB7D7985-1717-4B00-AD84-FEDAECC0AC9F}"/>
              </a:ext>
            </a:extLst>
          </p:cNvPr>
          <p:cNvCxnSpPr>
            <a:stCxn id="44" idx="2"/>
            <a:endCxn id="46" idx="0"/>
          </p:cNvCxnSpPr>
          <p:nvPr/>
        </p:nvCxnSpPr>
        <p:spPr>
          <a:xfrm>
            <a:off x="2029968" y="1849755"/>
            <a:ext cx="104441" cy="356330"/>
          </a:xfrm>
          <a:prstGeom prst="straightConnector1">
            <a:avLst/>
          </a:prstGeom>
          <a:ln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A83B0C46-725C-496B-8480-FEB82A7AB373}"/>
              </a:ext>
            </a:extLst>
          </p:cNvPr>
          <p:cNvCxnSpPr>
            <a:stCxn id="43" idx="6"/>
            <a:endCxn id="46" idx="2"/>
          </p:cNvCxnSpPr>
          <p:nvPr/>
        </p:nvCxnSpPr>
        <p:spPr>
          <a:xfrm>
            <a:off x="1227202" y="2275714"/>
            <a:ext cx="831436" cy="6143"/>
          </a:xfrm>
          <a:prstGeom prst="straightConnector1">
            <a:avLst/>
          </a:prstGeom>
          <a:ln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20" name="连接符: 肘形 19">
            <a:extLst>
              <a:ext uri="{FF2B5EF4-FFF2-40B4-BE49-F238E27FC236}">
                <a16:creationId xmlns:a16="http://schemas.microsoft.com/office/drawing/2014/main" id="{AA104D8B-9915-44D4-9A75-B8DBC91855F3}"/>
              </a:ext>
            </a:extLst>
          </p:cNvPr>
          <p:cNvCxnSpPr>
            <a:stCxn id="42" idx="2"/>
            <a:endCxn id="43" idx="6"/>
          </p:cNvCxnSpPr>
          <p:nvPr/>
        </p:nvCxnSpPr>
        <p:spPr>
          <a:xfrm flipH="1">
            <a:off x="1227202" y="2132362"/>
            <a:ext cx="262127" cy="143352"/>
          </a:xfrm>
          <a:prstGeom prst="bentConnector3">
            <a:avLst>
              <a:gd name="adj1" fmla="val 0"/>
            </a:avLst>
          </a:prstGeom>
          <a:ln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21" name="连接符: 肘形 20">
            <a:extLst>
              <a:ext uri="{FF2B5EF4-FFF2-40B4-BE49-F238E27FC236}">
                <a16:creationId xmlns:a16="http://schemas.microsoft.com/office/drawing/2014/main" id="{9AA48B36-57D9-4A11-9A27-83BA81C2EB0C}"/>
              </a:ext>
            </a:extLst>
          </p:cNvPr>
          <p:cNvCxnSpPr>
            <a:stCxn id="36" idx="2"/>
            <a:endCxn id="43" idx="2"/>
          </p:cNvCxnSpPr>
          <p:nvPr/>
        </p:nvCxnSpPr>
        <p:spPr>
          <a:xfrm>
            <a:off x="817626" y="2132362"/>
            <a:ext cx="253937" cy="143352"/>
          </a:xfrm>
          <a:prstGeom prst="bentConnector3">
            <a:avLst>
              <a:gd name="adj1" fmla="val 0"/>
            </a:avLst>
          </a:prstGeom>
          <a:ln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22" name="连接符: 肘形 21">
            <a:extLst>
              <a:ext uri="{FF2B5EF4-FFF2-40B4-BE49-F238E27FC236}">
                <a16:creationId xmlns:a16="http://schemas.microsoft.com/office/drawing/2014/main" id="{8E3B8C65-ECF9-431B-BCCF-2AF446FDE8E9}"/>
              </a:ext>
            </a:extLst>
          </p:cNvPr>
          <p:cNvCxnSpPr>
            <a:stCxn id="30" idx="3"/>
            <a:endCxn id="42" idx="0"/>
          </p:cNvCxnSpPr>
          <p:nvPr/>
        </p:nvCxnSpPr>
        <p:spPr>
          <a:xfrm>
            <a:off x="1370552" y="1730978"/>
            <a:ext cx="118777" cy="278511"/>
          </a:xfrm>
          <a:prstGeom prst="bentConnector2">
            <a:avLst/>
          </a:prstGeom>
          <a:ln w="9525">
            <a:solidFill>
              <a:srgbClr val="18222F"/>
            </a:solidFill>
            <a:prstDash val="solid"/>
            <a:tailEnd type="triangle" w="sm" len="sm"/>
          </a:ln>
        </p:spPr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8C7A988B-286C-40D9-9B05-99BC4A6D3A22}"/>
              </a:ext>
            </a:extLst>
          </p:cNvPr>
          <p:cNvCxnSpPr>
            <a:stCxn id="29" idx="2"/>
            <a:endCxn id="36" idx="0"/>
          </p:cNvCxnSpPr>
          <p:nvPr/>
        </p:nvCxnSpPr>
        <p:spPr>
          <a:xfrm flipH="1">
            <a:off x="817626" y="1612202"/>
            <a:ext cx="153591" cy="397287"/>
          </a:xfrm>
          <a:prstGeom prst="straightConnector1">
            <a:avLst/>
          </a:prstGeom>
          <a:ln w="9525">
            <a:solidFill>
              <a:srgbClr val="18222F"/>
            </a:solidFill>
            <a:prstDash val="solid"/>
            <a:tailEnd type="triangle" w="sm" len="sm"/>
          </a:ln>
        </p:spPr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33400"/>
          </a:xfrm>
          <a:prstGeom prst="rect">
            <a:avLst/>
          </a:prstGeom>
        </p:spPr>
        <p:txBody>
          <a:bodyPr vert="horz" lIns="0" tIns="0" rIns="0" bIns="0" anchor="ctr">
            <a:noAutofit/>
          </a:bodyPr>
          <a:lstStyle>
            <a:def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Engine: per-Linear execution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4" name="(b) Per-Linear execution">
            <a:extLst>
              <a:ext uri="{FF2B5EF4-FFF2-40B4-BE49-F238E27FC236}">
                <a16:creationId xmlns:a16="http://schemas.microsoft.com/office/drawing/2014/main" id="{4AC583AF-ED54-4E4D-BAB2-A7AA4699AE83}"/>
              </a:ext>
            </a:extLst>
          </p:cNvPr>
          <p:cNvSpPr>
            <a:spLocks noGrp="1"/>
          </p:cNvSpPr>
          <p:nvPr/>
        </p:nvSpPr>
        <p:spPr>
          <a:xfrm>
            <a:off x="498158" y="887254"/>
            <a:ext cx="2252663" cy="14335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871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871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871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871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871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871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871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871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871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871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871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71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(b) Per-Linear execution</a:t>
            </a:r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D5F45FB0-2193-4214-9319-8C14553689E3}"/>
              </a:ext>
            </a:extLst>
          </p:cNvPr>
          <p:cNvCxnSpPr/>
          <p:nvPr/>
        </p:nvCxnSpPr>
        <p:spPr>
          <a:xfrm>
            <a:off x="489966" y="1051084"/>
            <a:ext cx="2269046" cy="0"/>
          </a:xfrm>
          <a:prstGeom prst="straightConnector1">
            <a:avLst/>
          </a:prstGeom>
          <a:ln w="3277">
            <a:solidFill>
              <a:srgbClr val="697681"/>
            </a:solidFill>
            <a:prstDash val="solid"/>
          </a:ln>
        </p:spPr>
      </p:cxnSp>
      <p:sp>
        <p:nvSpPr>
          <p:cNvPr id="26" name="Weight pathway">
            <a:extLst>
              <a:ext uri="{FF2B5EF4-FFF2-40B4-BE49-F238E27FC236}">
                <a16:creationId xmlns:a16="http://schemas.microsoft.com/office/drawing/2014/main" id="{1D8A5F59-0206-4F6C-84AB-84AA6B3F8C9E}"/>
              </a:ext>
            </a:extLst>
          </p:cNvPr>
          <p:cNvSpPr>
            <a:spLocks noGrp="1"/>
          </p:cNvSpPr>
          <p:nvPr/>
        </p:nvSpPr>
        <p:spPr>
          <a:xfrm>
            <a:off x="526828" y="1092041"/>
            <a:ext cx="2170748" cy="13106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742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Weight pathway</a:t>
            </a:r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BBCD079E-04FC-4525-8C95-5C3A145269F9}"/>
              </a:ext>
            </a:extLst>
          </p:cNvPr>
          <p:cNvSpPr>
            <a:spLocks noGrp="1"/>
          </p:cNvSpPr>
          <p:nvPr/>
        </p:nvSpPr>
        <p:spPr>
          <a:xfrm>
            <a:off x="547307" y="1259967"/>
            <a:ext cx="163830" cy="163830"/>
          </a:xfrm>
          <a:prstGeom prst="ellipse">
            <a:avLst/>
          </a:prstGeom>
          <a:solidFill>
            <a:srgbClr val="DCEBFA"/>
          </a:solidFill>
          <a:ln w="7620">
            <a:solidFill>
              <a:srgbClr val="18222F"/>
            </a:solidFill>
          </a:ln>
        </p:spPr>
        <p:txBody>
          <a:bodyPr lIns="0" tIns="0" rIns="0" bIns="0" anchor="ctr"/>
          <a:lstStyle>
            <a:defPPr algn="ctr">
              <a:defRPr sz="806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806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806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806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806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806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806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806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806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806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806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6">
                <a:solidFill>
                  <a:srgbClr val="18222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8" name="Shape-tuned tile decoder">
            <a:extLst>
              <a:ext uri="{FF2B5EF4-FFF2-40B4-BE49-F238E27FC236}">
                <a16:creationId xmlns:a16="http://schemas.microsoft.com/office/drawing/2014/main" id="{5C902714-BECB-4D81-9D40-9659524525E3}"/>
              </a:ext>
            </a:extLst>
          </p:cNvPr>
          <p:cNvSpPr>
            <a:spLocks noGrp="1"/>
          </p:cNvSpPr>
          <p:nvPr/>
        </p:nvSpPr>
        <p:spPr>
          <a:xfrm>
            <a:off x="784860" y="1280446"/>
            <a:ext cx="1945481" cy="13106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806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806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806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806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806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806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806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806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806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806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806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06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Shape-tuned tile decoder</a:t>
            </a:r>
          </a:p>
        </p:txBody>
      </p:sp>
      <p:sp>
        <p:nvSpPr>
          <p:cNvPr id="29" name="i1[r,:]">
            <a:extLst>
              <a:ext uri="{FF2B5EF4-FFF2-40B4-BE49-F238E27FC236}">
                <a16:creationId xmlns:a16="http://schemas.microsoft.com/office/drawing/2014/main" id="{14FC6047-FE99-486B-9A70-DB12221283CE}"/>
              </a:ext>
            </a:extLst>
          </p:cNvPr>
          <p:cNvSpPr>
            <a:spLocks noGrp="1"/>
          </p:cNvSpPr>
          <p:nvPr/>
        </p:nvSpPr>
        <p:spPr>
          <a:xfrm>
            <a:off x="571881" y="1481138"/>
            <a:ext cx="798671" cy="131064"/>
          </a:xfrm>
          <a:prstGeom prst="rect">
            <a:avLst/>
          </a:prstGeom>
          <a:solidFill>
            <a:srgbClr val="DAEFE6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i1[r,:]</a:t>
            </a:r>
          </a:p>
        </p:txBody>
      </p:sp>
      <p:sp>
        <p:nvSpPr>
          <p:cNvPr id="30" name="i2[r,:]">
            <a:extLst>
              <a:ext uri="{FF2B5EF4-FFF2-40B4-BE49-F238E27FC236}">
                <a16:creationId xmlns:a16="http://schemas.microsoft.com/office/drawing/2014/main" id="{6850E798-B2A8-4027-AB04-FECD596AF796}"/>
              </a:ext>
            </a:extLst>
          </p:cNvPr>
          <p:cNvSpPr>
            <a:spLocks noGrp="1"/>
          </p:cNvSpPr>
          <p:nvPr/>
        </p:nvSpPr>
        <p:spPr>
          <a:xfrm>
            <a:off x="571881" y="1665446"/>
            <a:ext cx="798671" cy="131064"/>
          </a:xfrm>
          <a:prstGeom prst="rect">
            <a:avLst/>
          </a:prstGeom>
          <a:solidFill>
            <a:srgbClr val="DAEFE6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i2[r,:]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4B49F455-EAAA-4C4C-8721-C2D48FB2AF49}"/>
              </a:ext>
            </a:extLst>
          </p:cNvPr>
          <p:cNvSpPr>
            <a:spLocks noGrp="1"/>
          </p:cNvSpPr>
          <p:nvPr/>
        </p:nvSpPr>
        <p:spPr>
          <a:xfrm>
            <a:off x="600551" y="2009489"/>
            <a:ext cx="108537" cy="122873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496D9DA7-B40A-4D54-816C-A35C858406C2}"/>
              </a:ext>
            </a:extLst>
          </p:cNvPr>
          <p:cNvSpPr>
            <a:spLocks noGrp="1"/>
          </p:cNvSpPr>
          <p:nvPr/>
        </p:nvSpPr>
        <p:spPr>
          <a:xfrm>
            <a:off x="709089" y="2009489"/>
            <a:ext cx="108537" cy="122873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BD23B71-F5EF-4D60-8A20-F3C6E27352B3}"/>
              </a:ext>
            </a:extLst>
          </p:cNvPr>
          <p:cNvSpPr>
            <a:spLocks noGrp="1"/>
          </p:cNvSpPr>
          <p:nvPr/>
        </p:nvSpPr>
        <p:spPr>
          <a:xfrm>
            <a:off x="817626" y="2009489"/>
            <a:ext cx="108537" cy="122873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CDE8D73-F31A-4B70-A927-F0E2DD320572}"/>
              </a:ext>
            </a:extLst>
          </p:cNvPr>
          <p:cNvSpPr>
            <a:spLocks noGrp="1"/>
          </p:cNvSpPr>
          <p:nvPr/>
        </p:nvSpPr>
        <p:spPr>
          <a:xfrm>
            <a:off x="926163" y="2009489"/>
            <a:ext cx="108537" cy="122873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35" name="C1[i1]">
            <a:extLst>
              <a:ext uri="{FF2B5EF4-FFF2-40B4-BE49-F238E27FC236}">
                <a16:creationId xmlns:a16="http://schemas.microsoft.com/office/drawing/2014/main" id="{4F4DF95C-28A0-4E19-AB3A-F0F43CC901C6}"/>
              </a:ext>
            </a:extLst>
          </p:cNvPr>
          <p:cNvSpPr>
            <a:spLocks noGrp="1"/>
          </p:cNvSpPr>
          <p:nvPr/>
        </p:nvSpPr>
        <p:spPr>
          <a:xfrm>
            <a:off x="600551" y="1886617"/>
            <a:ext cx="434150" cy="1105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77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C1[i1]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B6F42F8-B9DC-4295-ACC7-EBA2E1EF287E}"/>
              </a:ext>
            </a:extLst>
          </p:cNvPr>
          <p:cNvSpPr>
            <a:spLocks noGrp="1"/>
          </p:cNvSpPr>
          <p:nvPr/>
        </p:nvSpPr>
        <p:spPr>
          <a:xfrm>
            <a:off x="600551" y="2009489"/>
            <a:ext cx="434150" cy="122873"/>
          </a:xfrm>
          <a:prstGeom prst="rect">
            <a:avLst/>
          </a:prstGeom>
          <a:noFill/>
          <a:ln w="7620">
            <a:noFill/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F750D54B-B7AC-4D43-B05E-21DA53754259}"/>
              </a:ext>
            </a:extLst>
          </p:cNvPr>
          <p:cNvSpPr>
            <a:spLocks noGrp="1"/>
          </p:cNvSpPr>
          <p:nvPr/>
        </p:nvSpPr>
        <p:spPr>
          <a:xfrm>
            <a:off x="1272254" y="2009489"/>
            <a:ext cx="108537" cy="122873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F6B775C8-C4C3-4206-AEB0-A7B8E4F5A912}"/>
              </a:ext>
            </a:extLst>
          </p:cNvPr>
          <p:cNvSpPr>
            <a:spLocks noGrp="1"/>
          </p:cNvSpPr>
          <p:nvPr/>
        </p:nvSpPr>
        <p:spPr>
          <a:xfrm>
            <a:off x="1380792" y="2009489"/>
            <a:ext cx="108537" cy="122873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F77B315C-2465-4061-A356-9D588FC3D7CB}"/>
              </a:ext>
            </a:extLst>
          </p:cNvPr>
          <p:cNvSpPr>
            <a:spLocks noGrp="1"/>
          </p:cNvSpPr>
          <p:nvPr/>
        </p:nvSpPr>
        <p:spPr>
          <a:xfrm>
            <a:off x="1489329" y="2009489"/>
            <a:ext cx="108537" cy="122873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CE720349-F3E5-4D32-9CA0-0F7B7BA8D235}"/>
              </a:ext>
            </a:extLst>
          </p:cNvPr>
          <p:cNvSpPr>
            <a:spLocks noGrp="1"/>
          </p:cNvSpPr>
          <p:nvPr/>
        </p:nvSpPr>
        <p:spPr>
          <a:xfrm>
            <a:off x="1597866" y="2009489"/>
            <a:ext cx="108537" cy="122873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41" name="C2[i2]">
            <a:extLst>
              <a:ext uri="{FF2B5EF4-FFF2-40B4-BE49-F238E27FC236}">
                <a16:creationId xmlns:a16="http://schemas.microsoft.com/office/drawing/2014/main" id="{4721E3A4-8456-439A-BF6B-DAED1C541630}"/>
              </a:ext>
            </a:extLst>
          </p:cNvPr>
          <p:cNvSpPr>
            <a:spLocks noGrp="1"/>
          </p:cNvSpPr>
          <p:nvPr/>
        </p:nvSpPr>
        <p:spPr>
          <a:xfrm>
            <a:off x="1272254" y="1886617"/>
            <a:ext cx="434150" cy="1105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77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C2[i2]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EA83A98F-F3BE-4168-A9FE-3C85FC28BFC2}"/>
              </a:ext>
            </a:extLst>
          </p:cNvPr>
          <p:cNvSpPr>
            <a:spLocks noGrp="1"/>
          </p:cNvSpPr>
          <p:nvPr/>
        </p:nvSpPr>
        <p:spPr>
          <a:xfrm>
            <a:off x="1272254" y="2009489"/>
            <a:ext cx="434150" cy="122873"/>
          </a:xfrm>
          <a:prstGeom prst="rect">
            <a:avLst/>
          </a:prstGeom>
          <a:noFill/>
          <a:ln w="7620">
            <a:noFill/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43" name="椭圆 42">
            <a:extLst>
              <a:ext uri="{FF2B5EF4-FFF2-40B4-BE49-F238E27FC236}">
                <a16:creationId xmlns:a16="http://schemas.microsoft.com/office/drawing/2014/main" id="{587DA687-15A1-4680-83C7-15B95A536FEF}"/>
              </a:ext>
            </a:extLst>
          </p:cNvPr>
          <p:cNvSpPr>
            <a:spLocks noGrp="1"/>
          </p:cNvSpPr>
          <p:nvPr/>
        </p:nvSpPr>
        <p:spPr>
          <a:xfrm>
            <a:off x="1071563" y="2197894"/>
            <a:ext cx="155639" cy="155639"/>
          </a:xfrm>
          <a:prstGeom prst="ellipse">
            <a:avLst/>
          </a:prstGeom>
          <a:solidFill>
            <a:srgbClr val="FFFFFF"/>
          </a:solidFill>
          <a:ln w="7620">
            <a:solidFill>
              <a:srgbClr val="18222F"/>
            </a:solidFill>
          </a:ln>
        </p:spPr>
        <p:txBody>
          <a:bodyPr lIns="0" tIns="0" rIns="0" bIns="0" anchor="ctr"/>
          <a:lstStyle>
            <a:defPPr algn="ctr">
              <a:defRPr sz="774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74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74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74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74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74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74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74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74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74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774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774">
                <a:solidFill>
                  <a:srgbClr val="18222F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44" name="2ᵉ&#10;B32 exp.">
            <a:extLst>
              <a:ext uri="{FF2B5EF4-FFF2-40B4-BE49-F238E27FC236}">
                <a16:creationId xmlns:a16="http://schemas.microsoft.com/office/drawing/2014/main" id="{168E9159-65A7-4219-A50E-C136E2440FC8}"/>
              </a:ext>
            </a:extLst>
          </p:cNvPr>
          <p:cNvSpPr>
            <a:spLocks noGrp="1"/>
          </p:cNvSpPr>
          <p:nvPr/>
        </p:nvSpPr>
        <p:spPr>
          <a:xfrm>
            <a:off x="1866138" y="1587627"/>
            <a:ext cx="327660" cy="262128"/>
          </a:xfrm>
          <a:prstGeom prst="rect">
            <a:avLst/>
          </a:prstGeom>
          <a:solidFill>
            <a:srgbClr val="DAEFE6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77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2ᵉ</a:t>
            </a:r>
          </a:p>
          <a:p>
            <a: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77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B32 exp.</a:t>
            </a:r>
          </a:p>
        </p:txBody>
      </p:sp>
      <p:sp>
        <p:nvSpPr>
          <p:cNvPr id="45" name="gᵣ&#10;row gain">
            <a:extLst>
              <a:ext uri="{FF2B5EF4-FFF2-40B4-BE49-F238E27FC236}">
                <a16:creationId xmlns:a16="http://schemas.microsoft.com/office/drawing/2014/main" id="{3D79DA60-34D0-4644-B04D-49A721F436B3}"/>
              </a:ext>
            </a:extLst>
          </p:cNvPr>
          <p:cNvSpPr>
            <a:spLocks noGrp="1"/>
          </p:cNvSpPr>
          <p:nvPr/>
        </p:nvSpPr>
        <p:spPr>
          <a:xfrm>
            <a:off x="2292096" y="1587627"/>
            <a:ext cx="389096" cy="262128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77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gᵣ</a:t>
            </a:r>
          </a:p>
          <a:p>
            <a: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77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row gain</a:t>
            </a:r>
          </a:p>
        </p:txBody>
      </p:sp>
      <p:sp>
        <p:nvSpPr>
          <p:cNvPr id="46" name="椭圆 45">
            <a:extLst>
              <a:ext uri="{FF2B5EF4-FFF2-40B4-BE49-F238E27FC236}">
                <a16:creationId xmlns:a16="http://schemas.microsoft.com/office/drawing/2014/main" id="{8988B230-2F19-469B-B512-5719D942D458}"/>
              </a:ext>
            </a:extLst>
          </p:cNvPr>
          <p:cNvSpPr>
            <a:spLocks noGrp="1"/>
          </p:cNvSpPr>
          <p:nvPr/>
        </p:nvSpPr>
        <p:spPr>
          <a:xfrm>
            <a:off x="2058638" y="2206085"/>
            <a:ext cx="151543" cy="151543"/>
          </a:xfrm>
          <a:prstGeom prst="ellipse">
            <a:avLst/>
          </a:prstGeom>
          <a:solidFill>
            <a:srgbClr val="FFFFFF"/>
          </a:solidFill>
          <a:ln w="7620">
            <a:solidFill>
              <a:srgbClr val="18222F"/>
            </a:solidFill>
          </a:ln>
        </p:spPr>
        <p:txBody>
          <a:bodyPr lIns="0" tIns="0" rIns="0" bIns="0" anchor="ctr"/>
          <a:lstStyle>
            <a:defPPr algn="ctr">
              <a:defRPr sz="774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74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74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74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74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74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74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74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74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74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774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774">
                <a:solidFill>
                  <a:srgbClr val="18222F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D8A85201-F69E-463E-951A-6DAA8F61890F}"/>
              </a:ext>
            </a:extLst>
          </p:cNvPr>
          <p:cNvSpPr>
            <a:spLocks noGrp="1"/>
          </p:cNvSpPr>
          <p:nvPr/>
        </p:nvSpPr>
        <p:spPr>
          <a:xfrm>
            <a:off x="2296192" y="2210181"/>
            <a:ext cx="96250" cy="122873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531CA495-D08E-4F31-98F8-19B2625984CF}"/>
              </a:ext>
            </a:extLst>
          </p:cNvPr>
          <p:cNvSpPr>
            <a:spLocks noGrp="1"/>
          </p:cNvSpPr>
          <p:nvPr/>
        </p:nvSpPr>
        <p:spPr>
          <a:xfrm>
            <a:off x="2392442" y="2210181"/>
            <a:ext cx="96250" cy="122873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2A565637-BFCE-4EA5-8251-4375119ED4D5}"/>
              </a:ext>
            </a:extLst>
          </p:cNvPr>
          <p:cNvSpPr>
            <a:spLocks noGrp="1"/>
          </p:cNvSpPr>
          <p:nvPr/>
        </p:nvSpPr>
        <p:spPr>
          <a:xfrm>
            <a:off x="2488692" y="2210181"/>
            <a:ext cx="96250" cy="122873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7F22357B-DCDF-41B1-863C-C2ACCD9BBF66}"/>
              </a:ext>
            </a:extLst>
          </p:cNvPr>
          <p:cNvSpPr>
            <a:spLocks noGrp="1"/>
          </p:cNvSpPr>
          <p:nvPr/>
        </p:nvSpPr>
        <p:spPr>
          <a:xfrm>
            <a:off x="2584942" y="2210181"/>
            <a:ext cx="96250" cy="122873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77AD1024-F4B8-4A4E-BB58-FE84EB5F27E3}"/>
              </a:ext>
            </a:extLst>
          </p:cNvPr>
          <p:cNvSpPr>
            <a:spLocks noGrp="1"/>
          </p:cNvSpPr>
          <p:nvPr/>
        </p:nvSpPr>
        <p:spPr>
          <a:xfrm>
            <a:off x="2296192" y="2210181"/>
            <a:ext cx="385001" cy="122873"/>
          </a:xfrm>
          <a:prstGeom prst="rect">
            <a:avLst/>
          </a:prstGeom>
          <a:noFill/>
          <a:ln w="7620">
            <a:noFill/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52" name="Ŵ = BF16[gᵣ 2ᵉ (C1[i1] + C2[i2])]">
            <a:extLst>
              <a:ext uri="{FF2B5EF4-FFF2-40B4-BE49-F238E27FC236}">
                <a16:creationId xmlns:a16="http://schemas.microsoft.com/office/drawing/2014/main" id="{E7A3E5A7-CE41-4E8F-A830-01BCC391899E}"/>
              </a:ext>
            </a:extLst>
          </p:cNvPr>
          <p:cNvSpPr>
            <a:spLocks noGrp="1"/>
          </p:cNvSpPr>
          <p:nvPr/>
        </p:nvSpPr>
        <p:spPr>
          <a:xfrm>
            <a:off x="555498" y="2443639"/>
            <a:ext cx="2129790" cy="14335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742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Ŵ = BF16[gᵣ 2ᵉ (C1[i1] + C2[i2])]</a:t>
            </a:r>
          </a:p>
        </p:txBody>
      </p:sp>
      <p:sp>
        <p:nvSpPr>
          <p:cNvPr id="53" name="Shared BF16 weight scratch&#10;Global memory • one layer • stabl">
            <a:extLst>
              <a:ext uri="{FF2B5EF4-FFF2-40B4-BE49-F238E27FC236}">
                <a16:creationId xmlns:a16="http://schemas.microsoft.com/office/drawing/2014/main" id="{7E3CC976-4B74-4220-A59B-BD8A271114D8}"/>
              </a:ext>
            </a:extLst>
          </p:cNvPr>
          <p:cNvSpPr>
            <a:spLocks noGrp="1"/>
          </p:cNvSpPr>
          <p:nvPr/>
        </p:nvSpPr>
        <p:spPr>
          <a:xfrm>
            <a:off x="547307" y="2660714"/>
            <a:ext cx="2133886" cy="266224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742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Shared BF16 weight scratch</a:t>
            </a:r>
          </a:p>
          <a:p>
            <a: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742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Global memory • one layer • stable address</a:t>
            </a:r>
          </a:p>
        </p:txBody>
      </p: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6AF69A05-0A99-46E3-9688-E11E8F202076}"/>
              </a:ext>
            </a:extLst>
          </p:cNvPr>
          <p:cNvCxnSpPr/>
          <p:nvPr/>
        </p:nvCxnSpPr>
        <p:spPr>
          <a:xfrm>
            <a:off x="498158" y="3037523"/>
            <a:ext cx="2252663" cy="0"/>
          </a:xfrm>
          <a:prstGeom prst="straightConnector1">
            <a:avLst/>
          </a:prstGeom>
          <a:ln w="3277">
            <a:solidFill>
              <a:srgbClr val="697681"/>
            </a:solidFill>
            <a:prstDash val="dash"/>
          </a:ln>
        </p:spPr>
      </p:cxnSp>
      <p:sp>
        <p:nvSpPr>
          <p:cNvPr id="55" name="Activation pathway (per input X)">
            <a:extLst>
              <a:ext uri="{FF2B5EF4-FFF2-40B4-BE49-F238E27FC236}">
                <a16:creationId xmlns:a16="http://schemas.microsoft.com/office/drawing/2014/main" id="{A677A35E-0E51-49E3-A979-5FE5830D4833}"/>
              </a:ext>
            </a:extLst>
          </p:cNvPr>
          <p:cNvSpPr>
            <a:spLocks noGrp="1"/>
          </p:cNvSpPr>
          <p:nvPr/>
        </p:nvSpPr>
        <p:spPr>
          <a:xfrm>
            <a:off x="526828" y="3082576"/>
            <a:ext cx="2170748" cy="13106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742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Activation pathway (per input X)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44BAD531-293B-4A22-A6C0-826140064D05}"/>
              </a:ext>
            </a:extLst>
          </p:cNvPr>
          <p:cNvSpPr>
            <a:spLocks noGrp="1"/>
          </p:cNvSpPr>
          <p:nvPr/>
        </p:nvSpPr>
        <p:spPr>
          <a:xfrm>
            <a:off x="539115" y="3381566"/>
            <a:ext cx="45053" cy="6280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83DF4160-78F0-4F28-BF9D-4A7BD21BCF70}"/>
              </a:ext>
            </a:extLst>
          </p:cNvPr>
          <p:cNvSpPr>
            <a:spLocks noGrp="1"/>
          </p:cNvSpPr>
          <p:nvPr/>
        </p:nvSpPr>
        <p:spPr>
          <a:xfrm>
            <a:off x="584168" y="3381566"/>
            <a:ext cx="45053" cy="6280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E645001A-EDE0-4E74-90FA-1F8CCDB83520}"/>
              </a:ext>
            </a:extLst>
          </p:cNvPr>
          <p:cNvSpPr>
            <a:spLocks noGrp="1"/>
          </p:cNvSpPr>
          <p:nvPr/>
        </p:nvSpPr>
        <p:spPr>
          <a:xfrm>
            <a:off x="629222" y="3381566"/>
            <a:ext cx="45053" cy="6280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64EDA2B2-EEB2-48F6-8DAA-83284C6165A0}"/>
              </a:ext>
            </a:extLst>
          </p:cNvPr>
          <p:cNvSpPr>
            <a:spLocks noGrp="1"/>
          </p:cNvSpPr>
          <p:nvPr/>
        </p:nvSpPr>
        <p:spPr>
          <a:xfrm>
            <a:off x="674275" y="3381566"/>
            <a:ext cx="45053" cy="6280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1967D247-682F-4726-B6D4-ED9709E26D3A}"/>
              </a:ext>
            </a:extLst>
          </p:cNvPr>
          <p:cNvSpPr>
            <a:spLocks noGrp="1"/>
          </p:cNvSpPr>
          <p:nvPr/>
        </p:nvSpPr>
        <p:spPr>
          <a:xfrm>
            <a:off x="719328" y="3381566"/>
            <a:ext cx="45053" cy="6280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65CAE7FA-8AC6-467D-88EF-BA6BFCA3CA1B}"/>
              </a:ext>
            </a:extLst>
          </p:cNvPr>
          <p:cNvSpPr>
            <a:spLocks noGrp="1"/>
          </p:cNvSpPr>
          <p:nvPr/>
        </p:nvSpPr>
        <p:spPr>
          <a:xfrm>
            <a:off x="539115" y="3444367"/>
            <a:ext cx="45053" cy="6280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3004FD06-5C79-4B48-BEE9-927567879C88}"/>
              </a:ext>
            </a:extLst>
          </p:cNvPr>
          <p:cNvSpPr>
            <a:spLocks noGrp="1"/>
          </p:cNvSpPr>
          <p:nvPr/>
        </p:nvSpPr>
        <p:spPr>
          <a:xfrm>
            <a:off x="584168" y="3444367"/>
            <a:ext cx="45053" cy="6280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174D071E-E0DF-4832-A6A8-D592938B66E1}"/>
              </a:ext>
            </a:extLst>
          </p:cNvPr>
          <p:cNvSpPr>
            <a:spLocks noGrp="1"/>
          </p:cNvSpPr>
          <p:nvPr/>
        </p:nvSpPr>
        <p:spPr>
          <a:xfrm>
            <a:off x="629222" y="3444367"/>
            <a:ext cx="45053" cy="6280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16BFCADF-3B66-4EF8-9038-19736BF00A71}"/>
              </a:ext>
            </a:extLst>
          </p:cNvPr>
          <p:cNvSpPr>
            <a:spLocks noGrp="1"/>
          </p:cNvSpPr>
          <p:nvPr/>
        </p:nvSpPr>
        <p:spPr>
          <a:xfrm>
            <a:off x="674275" y="3444367"/>
            <a:ext cx="45053" cy="6280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2CAB9C24-9A40-46A0-ADAB-90449EBAC0C4}"/>
              </a:ext>
            </a:extLst>
          </p:cNvPr>
          <p:cNvSpPr>
            <a:spLocks noGrp="1"/>
          </p:cNvSpPr>
          <p:nvPr/>
        </p:nvSpPr>
        <p:spPr>
          <a:xfrm>
            <a:off x="719328" y="3444367"/>
            <a:ext cx="45053" cy="6280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E5F81632-B971-42E9-86C7-7DE7736FFF74}"/>
              </a:ext>
            </a:extLst>
          </p:cNvPr>
          <p:cNvSpPr>
            <a:spLocks noGrp="1"/>
          </p:cNvSpPr>
          <p:nvPr/>
        </p:nvSpPr>
        <p:spPr>
          <a:xfrm>
            <a:off x="539115" y="3507169"/>
            <a:ext cx="45053" cy="6280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C6501257-659B-4B5F-A492-2943B5479A83}"/>
              </a:ext>
            </a:extLst>
          </p:cNvPr>
          <p:cNvSpPr>
            <a:spLocks noGrp="1"/>
          </p:cNvSpPr>
          <p:nvPr/>
        </p:nvSpPr>
        <p:spPr>
          <a:xfrm>
            <a:off x="584168" y="3507169"/>
            <a:ext cx="45053" cy="6280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D59F1257-DA0A-4EFA-B20D-412736D26C0A}"/>
              </a:ext>
            </a:extLst>
          </p:cNvPr>
          <p:cNvSpPr>
            <a:spLocks noGrp="1"/>
          </p:cNvSpPr>
          <p:nvPr/>
        </p:nvSpPr>
        <p:spPr>
          <a:xfrm>
            <a:off x="629222" y="3507169"/>
            <a:ext cx="45053" cy="6280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315CBC42-E1DC-4A89-8B52-1ABA4E99C657}"/>
              </a:ext>
            </a:extLst>
          </p:cNvPr>
          <p:cNvSpPr>
            <a:spLocks noGrp="1"/>
          </p:cNvSpPr>
          <p:nvPr/>
        </p:nvSpPr>
        <p:spPr>
          <a:xfrm>
            <a:off x="674275" y="3507169"/>
            <a:ext cx="45053" cy="6280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CE4362AE-9EC1-463D-B6DF-11A074CBAF73}"/>
              </a:ext>
            </a:extLst>
          </p:cNvPr>
          <p:cNvSpPr>
            <a:spLocks noGrp="1"/>
          </p:cNvSpPr>
          <p:nvPr/>
        </p:nvSpPr>
        <p:spPr>
          <a:xfrm>
            <a:off x="719328" y="3507169"/>
            <a:ext cx="45053" cy="6280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71" name="X">
            <a:extLst>
              <a:ext uri="{FF2B5EF4-FFF2-40B4-BE49-F238E27FC236}">
                <a16:creationId xmlns:a16="http://schemas.microsoft.com/office/drawing/2014/main" id="{3C490304-FA73-484D-ACE1-8EACBC65CE92}"/>
              </a:ext>
            </a:extLst>
          </p:cNvPr>
          <p:cNvSpPr>
            <a:spLocks noGrp="1"/>
          </p:cNvSpPr>
          <p:nvPr/>
        </p:nvSpPr>
        <p:spPr>
          <a:xfrm>
            <a:off x="539115" y="3258693"/>
            <a:ext cx="225266" cy="1105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77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64DBEE6C-D91E-4851-9308-629A04AF29A7}"/>
              </a:ext>
            </a:extLst>
          </p:cNvPr>
          <p:cNvSpPr>
            <a:spLocks noGrp="1"/>
          </p:cNvSpPr>
          <p:nvPr/>
        </p:nvSpPr>
        <p:spPr>
          <a:xfrm>
            <a:off x="539115" y="3381566"/>
            <a:ext cx="225266" cy="188405"/>
          </a:xfrm>
          <a:prstGeom prst="rect">
            <a:avLst/>
          </a:prstGeom>
          <a:noFill/>
          <a:ln w="7620">
            <a:noFill/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73" name="S⁻¹">
            <a:extLst>
              <a:ext uri="{FF2B5EF4-FFF2-40B4-BE49-F238E27FC236}">
                <a16:creationId xmlns:a16="http://schemas.microsoft.com/office/drawing/2014/main" id="{CD6F4DD8-BFB5-488B-B124-DFAC0E4AB4C7}"/>
              </a:ext>
            </a:extLst>
          </p:cNvPr>
          <p:cNvSpPr>
            <a:spLocks noGrp="1"/>
          </p:cNvSpPr>
          <p:nvPr/>
        </p:nvSpPr>
        <p:spPr>
          <a:xfrm>
            <a:off x="838105" y="3340608"/>
            <a:ext cx="196596" cy="225266"/>
          </a:xfrm>
          <a:prstGeom prst="rect">
            <a:avLst/>
          </a:prstGeom>
          <a:solidFill>
            <a:srgbClr val="EDF0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742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S⁻¹</a:t>
            </a:r>
          </a:p>
        </p:txBody>
      </p:sp>
      <p:sp>
        <p:nvSpPr>
          <p:cNvPr id="74" name="H128">
            <a:extLst>
              <a:ext uri="{FF2B5EF4-FFF2-40B4-BE49-F238E27FC236}">
                <a16:creationId xmlns:a16="http://schemas.microsoft.com/office/drawing/2014/main" id="{9048F093-AEC4-46D3-A464-E77DBA57093C}"/>
              </a:ext>
            </a:extLst>
          </p:cNvPr>
          <p:cNvSpPr>
            <a:spLocks noGrp="1"/>
          </p:cNvSpPr>
          <p:nvPr/>
        </p:nvSpPr>
        <p:spPr>
          <a:xfrm>
            <a:off x="1100233" y="3340608"/>
            <a:ext cx="241649" cy="225266"/>
          </a:xfrm>
          <a:prstGeom prst="rect">
            <a:avLst/>
          </a:prstGeom>
          <a:solidFill>
            <a:srgbClr val="EDF0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61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1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1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1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1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1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1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1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1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1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61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1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H128</a:t>
            </a:r>
          </a:p>
        </p:txBody>
      </p:sp>
      <p:sp>
        <p:nvSpPr>
          <p:cNvPr id="75" name="U128">
            <a:extLst>
              <a:ext uri="{FF2B5EF4-FFF2-40B4-BE49-F238E27FC236}">
                <a16:creationId xmlns:a16="http://schemas.microsoft.com/office/drawing/2014/main" id="{DF6873D8-BA18-4ADD-9C3C-722C61EF431A}"/>
              </a:ext>
            </a:extLst>
          </p:cNvPr>
          <p:cNvSpPr>
            <a:spLocks noGrp="1"/>
          </p:cNvSpPr>
          <p:nvPr/>
        </p:nvSpPr>
        <p:spPr>
          <a:xfrm>
            <a:off x="1403318" y="3340608"/>
            <a:ext cx="241649" cy="225266"/>
          </a:xfrm>
          <a:prstGeom prst="rect">
            <a:avLst/>
          </a:prstGeom>
          <a:solidFill>
            <a:srgbClr val="EDF0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61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1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1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1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1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1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1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1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1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1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613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13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U128</a:t>
            </a:r>
          </a:p>
        </p:txBody>
      </p:sp>
      <p:sp>
        <p:nvSpPr>
          <p:cNvPr id="76" name="round /&#10;clamp A4">
            <a:extLst>
              <a:ext uri="{FF2B5EF4-FFF2-40B4-BE49-F238E27FC236}">
                <a16:creationId xmlns:a16="http://schemas.microsoft.com/office/drawing/2014/main" id="{132EFCFD-B6DC-4DE8-AA8B-8B725EA3DBA5}"/>
              </a:ext>
            </a:extLst>
          </p:cNvPr>
          <p:cNvSpPr>
            <a:spLocks noGrp="1"/>
          </p:cNvSpPr>
          <p:nvPr/>
        </p:nvSpPr>
        <p:spPr>
          <a:xfrm>
            <a:off x="1710499" y="3340608"/>
            <a:ext cx="335852" cy="225266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0" tIns="0" rIns="0" bIns="0" anchor="ctr">
            <a:noAutofit/>
          </a:bodyPr>
          <a:lstStyle>
            <a:defPPr algn="ctr">
              <a:defRPr sz="5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5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5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5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5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5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5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5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5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5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5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round /</a:t>
            </a:r>
          </a:p>
          <a:p>
            <a:pPr algn="ctr">
              <a:defRPr sz="5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clamp A4</a:t>
            </a:r>
          </a:p>
        </p:txBody>
      </p:sp>
      <p:sp>
        <p:nvSpPr>
          <p:cNvPr id="77" name="dequantize&#10;BF16">
            <a:extLst>
              <a:ext uri="{FF2B5EF4-FFF2-40B4-BE49-F238E27FC236}">
                <a16:creationId xmlns:a16="http://schemas.microsoft.com/office/drawing/2014/main" id="{E29E2BC6-5D7A-46FB-9DD3-444E5EA50DE6}"/>
              </a:ext>
            </a:extLst>
          </p:cNvPr>
          <p:cNvSpPr>
            <a:spLocks noGrp="1"/>
          </p:cNvSpPr>
          <p:nvPr/>
        </p:nvSpPr>
        <p:spPr>
          <a:xfrm>
            <a:off x="2107787" y="3340608"/>
            <a:ext cx="409575" cy="225266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0" tIns="0" rIns="0" bIns="0" anchor="ctr">
            <a:noAutofit/>
          </a:bodyPr>
          <a:lstStyle>
            <a:defPPr algn="ctr">
              <a:defRPr sz="5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5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5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5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5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5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5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5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5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5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5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dequantize</a:t>
            </a:r>
          </a:p>
          <a:p>
            <a:pPr algn="ctr">
              <a:defRPr sz="5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BF16</a:t>
            </a: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94CB7AFB-0B7A-4B5C-8884-BF38F864B8AA}"/>
              </a:ext>
            </a:extLst>
          </p:cNvPr>
          <p:cNvSpPr>
            <a:spLocks noGrp="1"/>
          </p:cNvSpPr>
          <p:nvPr/>
        </p:nvSpPr>
        <p:spPr>
          <a:xfrm>
            <a:off x="2570607" y="3369278"/>
            <a:ext cx="41981" cy="6280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BA2AFDE2-2048-4BDE-AEF4-F63CFCBCDC94}"/>
              </a:ext>
            </a:extLst>
          </p:cNvPr>
          <p:cNvSpPr>
            <a:spLocks noGrp="1"/>
          </p:cNvSpPr>
          <p:nvPr/>
        </p:nvSpPr>
        <p:spPr>
          <a:xfrm>
            <a:off x="2612588" y="3369278"/>
            <a:ext cx="41981" cy="6280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0B579088-3B4D-44ED-9CC2-3AD129DE1BB6}"/>
              </a:ext>
            </a:extLst>
          </p:cNvPr>
          <p:cNvSpPr>
            <a:spLocks noGrp="1"/>
          </p:cNvSpPr>
          <p:nvPr/>
        </p:nvSpPr>
        <p:spPr>
          <a:xfrm>
            <a:off x="2654570" y="3369278"/>
            <a:ext cx="41981" cy="6280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D5043C5D-DFDA-4B12-BA8A-26B61602F593}"/>
              </a:ext>
            </a:extLst>
          </p:cNvPr>
          <p:cNvSpPr>
            <a:spLocks noGrp="1"/>
          </p:cNvSpPr>
          <p:nvPr/>
        </p:nvSpPr>
        <p:spPr>
          <a:xfrm>
            <a:off x="2696551" y="3369278"/>
            <a:ext cx="41981" cy="6280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B4C738D7-82C5-4230-AE0B-E290E84FE53A}"/>
              </a:ext>
            </a:extLst>
          </p:cNvPr>
          <p:cNvSpPr>
            <a:spLocks noGrp="1"/>
          </p:cNvSpPr>
          <p:nvPr/>
        </p:nvSpPr>
        <p:spPr>
          <a:xfrm>
            <a:off x="2570607" y="3432080"/>
            <a:ext cx="41981" cy="6280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18595E93-D004-499C-A5EB-3EB0F7122845}"/>
              </a:ext>
            </a:extLst>
          </p:cNvPr>
          <p:cNvSpPr>
            <a:spLocks noGrp="1"/>
          </p:cNvSpPr>
          <p:nvPr/>
        </p:nvSpPr>
        <p:spPr>
          <a:xfrm>
            <a:off x="2612588" y="3432080"/>
            <a:ext cx="41981" cy="6280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2EDA2461-3C3A-40F3-B387-31B7E9E03E61}"/>
              </a:ext>
            </a:extLst>
          </p:cNvPr>
          <p:cNvSpPr>
            <a:spLocks noGrp="1"/>
          </p:cNvSpPr>
          <p:nvPr/>
        </p:nvSpPr>
        <p:spPr>
          <a:xfrm>
            <a:off x="2654570" y="3432080"/>
            <a:ext cx="41981" cy="6280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7DA193E3-3475-4323-AD85-4155ACA23ACC}"/>
              </a:ext>
            </a:extLst>
          </p:cNvPr>
          <p:cNvSpPr>
            <a:spLocks noGrp="1"/>
          </p:cNvSpPr>
          <p:nvPr/>
        </p:nvSpPr>
        <p:spPr>
          <a:xfrm>
            <a:off x="2696551" y="3432080"/>
            <a:ext cx="41981" cy="6280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B61491A4-5D41-4009-A067-9DD2AB291066}"/>
              </a:ext>
            </a:extLst>
          </p:cNvPr>
          <p:cNvSpPr>
            <a:spLocks noGrp="1"/>
          </p:cNvSpPr>
          <p:nvPr/>
        </p:nvSpPr>
        <p:spPr>
          <a:xfrm>
            <a:off x="2570607" y="3494881"/>
            <a:ext cx="41981" cy="6280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C0AA7B56-022C-4C17-9AE1-63437CD9B3AA}"/>
              </a:ext>
            </a:extLst>
          </p:cNvPr>
          <p:cNvSpPr>
            <a:spLocks noGrp="1"/>
          </p:cNvSpPr>
          <p:nvPr/>
        </p:nvSpPr>
        <p:spPr>
          <a:xfrm>
            <a:off x="2612588" y="3494881"/>
            <a:ext cx="41981" cy="6280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D706E709-11B8-4BDB-B45D-D66DCDE33FC5}"/>
              </a:ext>
            </a:extLst>
          </p:cNvPr>
          <p:cNvSpPr>
            <a:spLocks noGrp="1"/>
          </p:cNvSpPr>
          <p:nvPr/>
        </p:nvSpPr>
        <p:spPr>
          <a:xfrm>
            <a:off x="2654570" y="3494881"/>
            <a:ext cx="41981" cy="6280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1E55668E-C2D4-401F-A23F-A7E9204642A5}"/>
              </a:ext>
            </a:extLst>
          </p:cNvPr>
          <p:cNvSpPr>
            <a:spLocks noGrp="1"/>
          </p:cNvSpPr>
          <p:nvPr/>
        </p:nvSpPr>
        <p:spPr>
          <a:xfrm>
            <a:off x="2696551" y="3494881"/>
            <a:ext cx="41981" cy="62802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90" name="X̂">
            <a:extLst>
              <a:ext uri="{FF2B5EF4-FFF2-40B4-BE49-F238E27FC236}">
                <a16:creationId xmlns:a16="http://schemas.microsoft.com/office/drawing/2014/main" id="{E0FFE6AA-F9C5-4056-A55F-C446023198D4}"/>
              </a:ext>
            </a:extLst>
          </p:cNvPr>
          <p:cNvSpPr>
            <a:spLocks noGrp="1"/>
          </p:cNvSpPr>
          <p:nvPr/>
        </p:nvSpPr>
        <p:spPr>
          <a:xfrm>
            <a:off x="2570607" y="3246406"/>
            <a:ext cx="167926" cy="1105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77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X̂</a:t>
            </a:r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FC39AED9-4B12-47C9-BE7D-7A4E312FE02F}"/>
              </a:ext>
            </a:extLst>
          </p:cNvPr>
          <p:cNvSpPr>
            <a:spLocks noGrp="1"/>
          </p:cNvSpPr>
          <p:nvPr/>
        </p:nvSpPr>
        <p:spPr>
          <a:xfrm>
            <a:off x="2570607" y="3369278"/>
            <a:ext cx="167926" cy="188405"/>
          </a:xfrm>
          <a:prstGeom prst="rect">
            <a:avLst/>
          </a:prstGeom>
          <a:noFill/>
          <a:ln w="7620">
            <a:noFill/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92" name="FP32 H/U scratch reuses weight buffer&#10;H → U → A4 → decode → ">
            <a:extLst>
              <a:ext uri="{FF2B5EF4-FFF2-40B4-BE49-F238E27FC236}">
                <a16:creationId xmlns:a16="http://schemas.microsoft.com/office/drawing/2014/main" id="{C2BCD0BB-A8EC-4850-9419-CF1500C53291}"/>
              </a:ext>
            </a:extLst>
          </p:cNvPr>
          <p:cNvSpPr>
            <a:spLocks noGrp="1"/>
          </p:cNvSpPr>
          <p:nvPr/>
        </p:nvSpPr>
        <p:spPr>
          <a:xfrm>
            <a:off x="793051" y="3709226"/>
            <a:ext cx="1875854" cy="221171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77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FP32 H/U scratch reuses weight buffer</a:t>
            </a:r>
          </a:p>
          <a:p>
            <a: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77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H → U → A4 → decode → GEMM</a:t>
            </a:r>
          </a:p>
        </p:txBody>
      </p:sp>
      <p:sp>
        <p:nvSpPr>
          <p:cNvPr id="93" name="Compute (GEMM)">
            <a:extLst>
              <a:ext uri="{FF2B5EF4-FFF2-40B4-BE49-F238E27FC236}">
                <a16:creationId xmlns:a16="http://schemas.microsoft.com/office/drawing/2014/main" id="{E00E23DE-6827-431F-B0D3-C58AF155B290}"/>
              </a:ext>
            </a:extLst>
          </p:cNvPr>
          <p:cNvSpPr>
            <a:spLocks noGrp="1"/>
          </p:cNvSpPr>
          <p:nvPr/>
        </p:nvSpPr>
        <p:spPr>
          <a:xfrm>
            <a:off x="526828" y="4012311"/>
            <a:ext cx="2170748" cy="12287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742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Compute (GEMM)</a:t>
            </a:r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BC66CFED-E726-43BC-91EF-AE4D27717056}"/>
              </a:ext>
            </a:extLst>
          </p:cNvPr>
          <p:cNvSpPr>
            <a:spLocks noGrp="1"/>
          </p:cNvSpPr>
          <p:nvPr/>
        </p:nvSpPr>
        <p:spPr>
          <a:xfrm>
            <a:off x="559594" y="4184333"/>
            <a:ext cx="163830" cy="163830"/>
          </a:xfrm>
          <a:prstGeom prst="ellipse">
            <a:avLst/>
          </a:prstGeom>
          <a:solidFill>
            <a:srgbClr val="DCEBFA"/>
          </a:solidFill>
          <a:ln w="7620">
            <a:solidFill>
              <a:srgbClr val="18222F"/>
            </a:solidFill>
          </a:ln>
        </p:spPr>
        <p:txBody>
          <a:bodyPr lIns="0" tIns="0" rIns="0" bIns="0" anchor="ctr"/>
          <a:lstStyle>
            <a:defPPr algn="ctr">
              <a:defRPr sz="774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74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74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74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74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74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74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74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74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74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774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774">
                <a:solidFill>
                  <a:srgbClr val="18222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5" name="Ŵ (BF16)">
            <a:extLst>
              <a:ext uri="{FF2B5EF4-FFF2-40B4-BE49-F238E27FC236}">
                <a16:creationId xmlns:a16="http://schemas.microsoft.com/office/drawing/2014/main" id="{E91014FE-116F-45CD-AE64-79D46A1B4496}"/>
              </a:ext>
            </a:extLst>
          </p:cNvPr>
          <p:cNvSpPr>
            <a:spLocks noGrp="1"/>
          </p:cNvSpPr>
          <p:nvPr/>
        </p:nvSpPr>
        <p:spPr>
          <a:xfrm>
            <a:off x="784860" y="4135184"/>
            <a:ext cx="479203" cy="147447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Ŵ (BF16)</a:t>
            </a:r>
          </a:p>
        </p:txBody>
      </p:sp>
      <p:sp>
        <p:nvSpPr>
          <p:cNvPr id="96" name="X̂ (BF16)">
            <a:extLst>
              <a:ext uri="{FF2B5EF4-FFF2-40B4-BE49-F238E27FC236}">
                <a16:creationId xmlns:a16="http://schemas.microsoft.com/office/drawing/2014/main" id="{495F34E9-28A5-43BD-B150-F1BF9E2D3AE1}"/>
              </a:ext>
            </a:extLst>
          </p:cNvPr>
          <p:cNvSpPr>
            <a:spLocks noGrp="1"/>
          </p:cNvSpPr>
          <p:nvPr/>
        </p:nvSpPr>
        <p:spPr>
          <a:xfrm>
            <a:off x="784860" y="4352258"/>
            <a:ext cx="479203" cy="147447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X̂ (BF16)</a:t>
            </a:r>
          </a:p>
        </p:txBody>
      </p:sp>
      <p:sp>
        <p:nvSpPr>
          <p:cNvPr id="97" name="cuBLAS BF16&#10;GEMM">
            <a:extLst>
              <a:ext uri="{FF2B5EF4-FFF2-40B4-BE49-F238E27FC236}">
                <a16:creationId xmlns:a16="http://schemas.microsoft.com/office/drawing/2014/main" id="{51CF6BE6-8D13-4334-92C7-3AF7624906BD}"/>
              </a:ext>
            </a:extLst>
          </p:cNvPr>
          <p:cNvSpPr>
            <a:spLocks noGrp="1"/>
          </p:cNvSpPr>
          <p:nvPr/>
        </p:nvSpPr>
        <p:spPr>
          <a:xfrm>
            <a:off x="1550765" y="4184333"/>
            <a:ext cx="675799" cy="286703"/>
          </a:xfrm>
          <a:prstGeom prst="rect">
            <a:avLst/>
          </a:prstGeom>
          <a:solidFill>
            <a:srgbClr val="F9E2C4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742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cuBLAS BF16</a:t>
            </a:r>
          </a:p>
          <a:p>
            <a:pPr algn="ctr">
              <a:defRPr sz="742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742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GEMM</a:t>
            </a:r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6A51D668-5DFD-4873-9B05-49AB86A256E9}"/>
              </a:ext>
            </a:extLst>
          </p:cNvPr>
          <p:cNvSpPr>
            <a:spLocks noGrp="1"/>
          </p:cNvSpPr>
          <p:nvPr/>
        </p:nvSpPr>
        <p:spPr>
          <a:xfrm>
            <a:off x="2464118" y="4237577"/>
            <a:ext cx="49149" cy="61436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89621DA5-BE97-4DE1-9D3E-37ADE53BBE58}"/>
              </a:ext>
            </a:extLst>
          </p:cNvPr>
          <p:cNvSpPr>
            <a:spLocks noGrp="1"/>
          </p:cNvSpPr>
          <p:nvPr/>
        </p:nvSpPr>
        <p:spPr>
          <a:xfrm>
            <a:off x="2513267" y="4237577"/>
            <a:ext cx="49149" cy="61436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98047D5E-94ED-4E2D-A1A8-0A9058107EEF}"/>
              </a:ext>
            </a:extLst>
          </p:cNvPr>
          <p:cNvSpPr>
            <a:spLocks noGrp="1"/>
          </p:cNvSpPr>
          <p:nvPr/>
        </p:nvSpPr>
        <p:spPr>
          <a:xfrm>
            <a:off x="2562416" y="4237577"/>
            <a:ext cx="49149" cy="61436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1BB0D4D2-DF17-4AB9-BE99-514094978B12}"/>
              </a:ext>
            </a:extLst>
          </p:cNvPr>
          <p:cNvSpPr>
            <a:spLocks noGrp="1"/>
          </p:cNvSpPr>
          <p:nvPr/>
        </p:nvSpPr>
        <p:spPr>
          <a:xfrm>
            <a:off x="2611565" y="4237577"/>
            <a:ext cx="49149" cy="61436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C8856775-4A7F-4BB1-B70D-4C0C997C8B0A}"/>
              </a:ext>
            </a:extLst>
          </p:cNvPr>
          <p:cNvSpPr>
            <a:spLocks noGrp="1"/>
          </p:cNvSpPr>
          <p:nvPr/>
        </p:nvSpPr>
        <p:spPr>
          <a:xfrm>
            <a:off x="2660714" y="4237577"/>
            <a:ext cx="49149" cy="61436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00C3EA26-3D41-4F39-82BF-EA71C053FAEF}"/>
              </a:ext>
            </a:extLst>
          </p:cNvPr>
          <p:cNvSpPr>
            <a:spLocks noGrp="1"/>
          </p:cNvSpPr>
          <p:nvPr/>
        </p:nvSpPr>
        <p:spPr>
          <a:xfrm>
            <a:off x="2464118" y="4299014"/>
            <a:ext cx="49149" cy="61436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DBB9B874-7A66-4871-B0D0-5C1B26ED396C}"/>
              </a:ext>
            </a:extLst>
          </p:cNvPr>
          <p:cNvSpPr>
            <a:spLocks noGrp="1"/>
          </p:cNvSpPr>
          <p:nvPr/>
        </p:nvSpPr>
        <p:spPr>
          <a:xfrm>
            <a:off x="2513267" y="4299014"/>
            <a:ext cx="49149" cy="61436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4A7CB09E-E156-46BE-A1A9-6DFAE934B76F}"/>
              </a:ext>
            </a:extLst>
          </p:cNvPr>
          <p:cNvSpPr>
            <a:spLocks noGrp="1"/>
          </p:cNvSpPr>
          <p:nvPr/>
        </p:nvSpPr>
        <p:spPr>
          <a:xfrm>
            <a:off x="2562416" y="4299014"/>
            <a:ext cx="49149" cy="61436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06" name="矩形 105">
            <a:extLst>
              <a:ext uri="{FF2B5EF4-FFF2-40B4-BE49-F238E27FC236}">
                <a16:creationId xmlns:a16="http://schemas.microsoft.com/office/drawing/2014/main" id="{B6747051-6C88-4C20-AA70-5C496D4C8E7A}"/>
              </a:ext>
            </a:extLst>
          </p:cNvPr>
          <p:cNvSpPr>
            <a:spLocks noGrp="1"/>
          </p:cNvSpPr>
          <p:nvPr/>
        </p:nvSpPr>
        <p:spPr>
          <a:xfrm>
            <a:off x="2611565" y="4299014"/>
            <a:ext cx="49149" cy="61436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EA4E019E-FD34-4447-B87A-A520A50640B1}"/>
              </a:ext>
            </a:extLst>
          </p:cNvPr>
          <p:cNvSpPr>
            <a:spLocks noGrp="1"/>
          </p:cNvSpPr>
          <p:nvPr/>
        </p:nvSpPr>
        <p:spPr>
          <a:xfrm>
            <a:off x="2660714" y="4299014"/>
            <a:ext cx="49149" cy="61436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id="{1CE4189A-2263-4FE1-8B61-8CD5F565787B}"/>
              </a:ext>
            </a:extLst>
          </p:cNvPr>
          <p:cNvSpPr>
            <a:spLocks noGrp="1"/>
          </p:cNvSpPr>
          <p:nvPr/>
        </p:nvSpPr>
        <p:spPr>
          <a:xfrm>
            <a:off x="2464118" y="4360450"/>
            <a:ext cx="49149" cy="61436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0EDB8D51-5B9B-478B-908D-9816003DEF58}"/>
              </a:ext>
            </a:extLst>
          </p:cNvPr>
          <p:cNvSpPr>
            <a:spLocks noGrp="1"/>
          </p:cNvSpPr>
          <p:nvPr/>
        </p:nvSpPr>
        <p:spPr>
          <a:xfrm>
            <a:off x="2513267" y="4360450"/>
            <a:ext cx="49149" cy="61436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B4F49EE1-B244-4891-BB3C-0D6D3466B4C3}"/>
              </a:ext>
            </a:extLst>
          </p:cNvPr>
          <p:cNvSpPr>
            <a:spLocks noGrp="1"/>
          </p:cNvSpPr>
          <p:nvPr/>
        </p:nvSpPr>
        <p:spPr>
          <a:xfrm>
            <a:off x="2562416" y="4360450"/>
            <a:ext cx="49149" cy="61436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15FF46E6-8E38-47A5-B9AA-10413F366F07}"/>
              </a:ext>
            </a:extLst>
          </p:cNvPr>
          <p:cNvSpPr>
            <a:spLocks noGrp="1"/>
          </p:cNvSpPr>
          <p:nvPr/>
        </p:nvSpPr>
        <p:spPr>
          <a:xfrm>
            <a:off x="2611565" y="4360450"/>
            <a:ext cx="49149" cy="61436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AA2E78AC-6E9B-4FA8-8ED1-CD1B80A2DC06}"/>
              </a:ext>
            </a:extLst>
          </p:cNvPr>
          <p:cNvSpPr>
            <a:spLocks noGrp="1"/>
          </p:cNvSpPr>
          <p:nvPr/>
        </p:nvSpPr>
        <p:spPr>
          <a:xfrm>
            <a:off x="2660714" y="4360450"/>
            <a:ext cx="49149" cy="61436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13" name="Y">
            <a:extLst>
              <a:ext uri="{FF2B5EF4-FFF2-40B4-BE49-F238E27FC236}">
                <a16:creationId xmlns:a16="http://schemas.microsoft.com/office/drawing/2014/main" id="{DD11DE00-96C8-4F7D-8E2D-8392E6DFA9AA}"/>
              </a:ext>
            </a:extLst>
          </p:cNvPr>
          <p:cNvSpPr>
            <a:spLocks noGrp="1"/>
          </p:cNvSpPr>
          <p:nvPr/>
        </p:nvSpPr>
        <p:spPr>
          <a:xfrm>
            <a:off x="2464118" y="4114705"/>
            <a:ext cx="245745" cy="1105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77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Y</a:t>
            </a:r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0A8343B7-6B2C-4853-AA1B-0822408A6493}"/>
              </a:ext>
            </a:extLst>
          </p:cNvPr>
          <p:cNvSpPr>
            <a:spLocks noGrp="1"/>
          </p:cNvSpPr>
          <p:nvPr/>
        </p:nvSpPr>
        <p:spPr>
          <a:xfrm>
            <a:off x="2464118" y="4237577"/>
            <a:ext cx="245745" cy="184309"/>
          </a:xfrm>
          <a:prstGeom prst="rect">
            <a:avLst/>
          </a:prstGeom>
          <a:noFill/>
          <a:ln w="7620">
            <a:noFill/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15" name="Current MMA operands: BF16 × BF16">
            <a:extLst>
              <a:ext uri="{FF2B5EF4-FFF2-40B4-BE49-F238E27FC236}">
                <a16:creationId xmlns:a16="http://schemas.microsoft.com/office/drawing/2014/main" id="{837133EA-31F8-45D8-8B0F-B6C6DEA55C6F}"/>
              </a:ext>
            </a:extLst>
          </p:cNvPr>
          <p:cNvSpPr>
            <a:spLocks noGrp="1"/>
          </p:cNvSpPr>
          <p:nvPr/>
        </p:nvSpPr>
        <p:spPr>
          <a:xfrm>
            <a:off x="805339" y="4524280"/>
            <a:ext cx="1843088" cy="10239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709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defPPr>
            <a:lvl1pPr algn="ctr">
              <a:defRPr sz="709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lvl1pPr>
            <a:lvl2pPr algn="ctr">
              <a:defRPr sz="709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lvl2pPr>
            <a:lvl3pPr algn="ctr">
              <a:defRPr sz="709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lvl3pPr>
            <a:lvl4pPr algn="ctr">
              <a:defRPr sz="709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lvl4pPr>
            <a:lvl5pPr algn="ctr">
              <a:defRPr sz="709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lvl5pPr>
            <a:lvl6pPr algn="ctr">
              <a:defRPr sz="709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lvl6pPr>
            <a:lvl7pPr algn="ctr">
              <a:defRPr sz="709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lvl7pPr>
            <a:lvl8pPr algn="ctr">
              <a:defRPr sz="709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lvl8pPr>
            <a:lvl9pPr algn="ctr">
              <a:defRPr sz="709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709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pPr>
            <a:r>
              <a:rPr sz="709" b="1">
                <a:solidFill>
                  <a:srgbClr val="B96813"/>
                </a:solidFill>
                <a:latin typeface="Arial"/>
                <a:ea typeface="Arial"/>
                <a:cs typeface="Arial"/>
              </a:rPr>
              <a:t>Current MMA operands: BF16 × BF16</a:t>
            </a:r>
          </a:p>
        </p:txBody>
      </p:sp>
      <p:sp>
        <p:nvSpPr>
          <p:cNvPr id="116" name="(c) Query execution schedule">
            <a:extLst>
              <a:ext uri="{FF2B5EF4-FFF2-40B4-BE49-F238E27FC236}">
                <a16:creationId xmlns:a16="http://schemas.microsoft.com/office/drawing/2014/main" id="{D974AFB8-5C4C-4779-9709-F5EB2F8049C3}"/>
              </a:ext>
            </a:extLst>
          </p:cNvPr>
          <p:cNvSpPr>
            <a:spLocks noGrp="1"/>
          </p:cNvSpPr>
          <p:nvPr/>
        </p:nvSpPr>
        <p:spPr>
          <a:xfrm>
            <a:off x="3184208" y="896779"/>
            <a:ext cx="1925003" cy="14335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871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871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871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871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871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871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871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871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871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871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871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871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(c) Query execution schedule</a:t>
            </a:r>
          </a:p>
        </p:txBody>
      </p:sp>
      <p:cxnSp>
        <p:nvCxnSpPr>
          <p:cNvPr id="117" name="直接箭头连接符 116">
            <a:extLst>
              <a:ext uri="{FF2B5EF4-FFF2-40B4-BE49-F238E27FC236}">
                <a16:creationId xmlns:a16="http://schemas.microsoft.com/office/drawing/2014/main" id="{70F342E4-D23F-49A9-BA0D-7C9D3A6F4A79}"/>
              </a:ext>
            </a:extLst>
          </p:cNvPr>
          <p:cNvCxnSpPr/>
          <p:nvPr/>
        </p:nvCxnSpPr>
        <p:spPr>
          <a:xfrm>
            <a:off x="3176016" y="1060609"/>
            <a:ext cx="1941386" cy="0"/>
          </a:xfrm>
          <a:prstGeom prst="straightConnector1">
            <a:avLst/>
          </a:prstGeom>
          <a:ln w="3277">
            <a:solidFill>
              <a:srgbClr val="697681"/>
            </a:solidFill>
            <a:prstDash val="solid"/>
          </a:ln>
        </p:spPr>
      </p:cxnSp>
      <p:sp>
        <p:nvSpPr>
          <p:cNvPr id="118" name="Prepared GPU datum (single query)">
            <a:extLst>
              <a:ext uri="{FF2B5EF4-FFF2-40B4-BE49-F238E27FC236}">
                <a16:creationId xmlns:a16="http://schemas.microsoft.com/office/drawing/2014/main" id="{0C6DDBC3-842B-4D3D-8D67-88823975595E}"/>
              </a:ext>
            </a:extLst>
          </p:cNvPr>
          <p:cNvSpPr>
            <a:spLocks noGrp="1"/>
          </p:cNvSpPr>
          <p:nvPr/>
        </p:nvSpPr>
        <p:spPr>
          <a:xfrm>
            <a:off x="3204686" y="1109758"/>
            <a:ext cx="1884045" cy="13106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742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Prepared GPU datum (single query)</a:t>
            </a:r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3A7E693E-6AE6-4472-90B2-BFDFDB3D213A}"/>
              </a:ext>
            </a:extLst>
          </p:cNvPr>
          <p:cNvSpPr>
            <a:spLocks noGrp="1"/>
          </p:cNvSpPr>
          <p:nvPr/>
        </p:nvSpPr>
        <p:spPr>
          <a:xfrm>
            <a:off x="3233357" y="1351407"/>
            <a:ext cx="47101" cy="47101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40594C03-15AA-406A-9F44-2C3675B4B444}"/>
              </a:ext>
            </a:extLst>
          </p:cNvPr>
          <p:cNvSpPr>
            <a:spLocks noGrp="1"/>
          </p:cNvSpPr>
          <p:nvPr/>
        </p:nvSpPr>
        <p:spPr>
          <a:xfrm>
            <a:off x="3280458" y="1351407"/>
            <a:ext cx="47101" cy="47101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id="{5C5776D3-2D31-4E80-ACA9-90F3079DD434}"/>
              </a:ext>
            </a:extLst>
          </p:cNvPr>
          <p:cNvSpPr>
            <a:spLocks noGrp="1"/>
          </p:cNvSpPr>
          <p:nvPr/>
        </p:nvSpPr>
        <p:spPr>
          <a:xfrm>
            <a:off x="3327559" y="1351407"/>
            <a:ext cx="47101" cy="47101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7CAB604C-E8E8-4D57-AF87-E12F74452387}"/>
              </a:ext>
            </a:extLst>
          </p:cNvPr>
          <p:cNvSpPr>
            <a:spLocks noGrp="1"/>
          </p:cNvSpPr>
          <p:nvPr/>
        </p:nvSpPr>
        <p:spPr>
          <a:xfrm>
            <a:off x="3374660" y="1351407"/>
            <a:ext cx="47101" cy="47101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6BD63F26-DB38-4265-A4A1-49337FCEF074}"/>
              </a:ext>
            </a:extLst>
          </p:cNvPr>
          <p:cNvSpPr>
            <a:spLocks noGrp="1"/>
          </p:cNvSpPr>
          <p:nvPr/>
        </p:nvSpPr>
        <p:spPr>
          <a:xfrm>
            <a:off x="3421761" y="1351407"/>
            <a:ext cx="47101" cy="47101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F477F6E9-232F-4398-B58C-65E3D5456DD8}"/>
              </a:ext>
            </a:extLst>
          </p:cNvPr>
          <p:cNvSpPr>
            <a:spLocks noGrp="1"/>
          </p:cNvSpPr>
          <p:nvPr/>
        </p:nvSpPr>
        <p:spPr>
          <a:xfrm>
            <a:off x="3468862" y="1351407"/>
            <a:ext cx="47101" cy="47101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25" name="矩形 124">
            <a:extLst>
              <a:ext uri="{FF2B5EF4-FFF2-40B4-BE49-F238E27FC236}">
                <a16:creationId xmlns:a16="http://schemas.microsoft.com/office/drawing/2014/main" id="{B7D8AD64-E03F-4E07-ADC4-2FA496E740C4}"/>
              </a:ext>
            </a:extLst>
          </p:cNvPr>
          <p:cNvSpPr>
            <a:spLocks noGrp="1"/>
          </p:cNvSpPr>
          <p:nvPr/>
        </p:nvSpPr>
        <p:spPr>
          <a:xfrm>
            <a:off x="3515963" y="1351407"/>
            <a:ext cx="47101" cy="47101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A9A12040-E965-4BD1-86E5-0C25E0C6C8B2}"/>
              </a:ext>
            </a:extLst>
          </p:cNvPr>
          <p:cNvSpPr>
            <a:spLocks noGrp="1"/>
          </p:cNvSpPr>
          <p:nvPr/>
        </p:nvSpPr>
        <p:spPr>
          <a:xfrm>
            <a:off x="3563064" y="1351407"/>
            <a:ext cx="47101" cy="47101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27" name="矩形 126">
            <a:extLst>
              <a:ext uri="{FF2B5EF4-FFF2-40B4-BE49-F238E27FC236}">
                <a16:creationId xmlns:a16="http://schemas.microsoft.com/office/drawing/2014/main" id="{BDF21D86-A410-45D4-BC31-0CFFF5146F7A}"/>
              </a:ext>
            </a:extLst>
          </p:cNvPr>
          <p:cNvSpPr>
            <a:spLocks noGrp="1"/>
          </p:cNvSpPr>
          <p:nvPr/>
        </p:nvSpPr>
        <p:spPr>
          <a:xfrm>
            <a:off x="3233357" y="1398508"/>
            <a:ext cx="47101" cy="47101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954195E5-FA41-4487-B57D-63213AF32F01}"/>
              </a:ext>
            </a:extLst>
          </p:cNvPr>
          <p:cNvSpPr>
            <a:spLocks noGrp="1"/>
          </p:cNvSpPr>
          <p:nvPr/>
        </p:nvSpPr>
        <p:spPr>
          <a:xfrm>
            <a:off x="3280458" y="1398508"/>
            <a:ext cx="47101" cy="47101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29" name="矩形 128">
            <a:extLst>
              <a:ext uri="{FF2B5EF4-FFF2-40B4-BE49-F238E27FC236}">
                <a16:creationId xmlns:a16="http://schemas.microsoft.com/office/drawing/2014/main" id="{20528FF2-D584-4ACF-96C5-28E3CC5CE10F}"/>
              </a:ext>
            </a:extLst>
          </p:cNvPr>
          <p:cNvSpPr>
            <a:spLocks noGrp="1"/>
          </p:cNvSpPr>
          <p:nvPr/>
        </p:nvSpPr>
        <p:spPr>
          <a:xfrm>
            <a:off x="3327559" y="1398508"/>
            <a:ext cx="47101" cy="47101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00EEF241-3E74-41B9-ADC9-4EADB34C20F7}"/>
              </a:ext>
            </a:extLst>
          </p:cNvPr>
          <p:cNvSpPr>
            <a:spLocks noGrp="1"/>
          </p:cNvSpPr>
          <p:nvPr/>
        </p:nvSpPr>
        <p:spPr>
          <a:xfrm>
            <a:off x="3374660" y="1398508"/>
            <a:ext cx="47101" cy="47101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31" name="矩形 130">
            <a:extLst>
              <a:ext uri="{FF2B5EF4-FFF2-40B4-BE49-F238E27FC236}">
                <a16:creationId xmlns:a16="http://schemas.microsoft.com/office/drawing/2014/main" id="{C637EE9C-DC2D-44B6-A1D3-7E425C8B346A}"/>
              </a:ext>
            </a:extLst>
          </p:cNvPr>
          <p:cNvSpPr>
            <a:spLocks noGrp="1"/>
          </p:cNvSpPr>
          <p:nvPr/>
        </p:nvSpPr>
        <p:spPr>
          <a:xfrm>
            <a:off x="3421761" y="1398508"/>
            <a:ext cx="47101" cy="47101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EA0AAD29-AC3F-4610-BB04-B116B21E9F2C}"/>
              </a:ext>
            </a:extLst>
          </p:cNvPr>
          <p:cNvSpPr>
            <a:spLocks noGrp="1"/>
          </p:cNvSpPr>
          <p:nvPr/>
        </p:nvSpPr>
        <p:spPr>
          <a:xfrm>
            <a:off x="3468862" y="1398508"/>
            <a:ext cx="47101" cy="47101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33" name="矩形 132">
            <a:extLst>
              <a:ext uri="{FF2B5EF4-FFF2-40B4-BE49-F238E27FC236}">
                <a16:creationId xmlns:a16="http://schemas.microsoft.com/office/drawing/2014/main" id="{BD628898-5741-4D9F-8553-47174366087D}"/>
              </a:ext>
            </a:extLst>
          </p:cNvPr>
          <p:cNvSpPr>
            <a:spLocks noGrp="1"/>
          </p:cNvSpPr>
          <p:nvPr/>
        </p:nvSpPr>
        <p:spPr>
          <a:xfrm>
            <a:off x="3515963" y="1398508"/>
            <a:ext cx="47101" cy="47101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id="{EDB3575D-A91E-45E0-B09A-4BC46F92521B}"/>
              </a:ext>
            </a:extLst>
          </p:cNvPr>
          <p:cNvSpPr>
            <a:spLocks noGrp="1"/>
          </p:cNvSpPr>
          <p:nvPr/>
        </p:nvSpPr>
        <p:spPr>
          <a:xfrm>
            <a:off x="3563064" y="1398508"/>
            <a:ext cx="47101" cy="47101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35" name="矩形 134">
            <a:extLst>
              <a:ext uri="{FF2B5EF4-FFF2-40B4-BE49-F238E27FC236}">
                <a16:creationId xmlns:a16="http://schemas.microsoft.com/office/drawing/2014/main" id="{44E36317-0F3C-4CDA-AA00-942D6CD0613E}"/>
              </a:ext>
            </a:extLst>
          </p:cNvPr>
          <p:cNvSpPr>
            <a:spLocks noGrp="1"/>
          </p:cNvSpPr>
          <p:nvPr/>
        </p:nvSpPr>
        <p:spPr>
          <a:xfrm>
            <a:off x="3233357" y="1351407"/>
            <a:ext cx="376809" cy="94202"/>
          </a:xfrm>
          <a:prstGeom prst="rect">
            <a:avLst/>
          </a:prstGeom>
          <a:noFill/>
          <a:ln w="7620">
            <a:noFill/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36" name="video latent">
            <a:extLst>
              <a:ext uri="{FF2B5EF4-FFF2-40B4-BE49-F238E27FC236}">
                <a16:creationId xmlns:a16="http://schemas.microsoft.com/office/drawing/2014/main" id="{0C4D23B8-9904-469D-B3AF-BCE11DD0491D}"/>
              </a:ext>
            </a:extLst>
          </p:cNvPr>
          <p:cNvSpPr>
            <a:spLocks noGrp="1"/>
          </p:cNvSpPr>
          <p:nvPr/>
        </p:nvSpPr>
        <p:spPr>
          <a:xfrm>
            <a:off x="3216974" y="1236726"/>
            <a:ext cx="430054" cy="9829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548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video latent</a:t>
            </a:r>
          </a:p>
        </p:txBody>
      </p:sp>
      <p:sp>
        <p:nvSpPr>
          <p:cNvPr id="137" name="矩形 136">
            <a:extLst>
              <a:ext uri="{FF2B5EF4-FFF2-40B4-BE49-F238E27FC236}">
                <a16:creationId xmlns:a16="http://schemas.microsoft.com/office/drawing/2014/main" id="{59EEEF5F-7A79-4BEE-B501-B8D784388D41}"/>
              </a:ext>
            </a:extLst>
          </p:cNvPr>
          <p:cNvSpPr>
            <a:spLocks noGrp="1"/>
          </p:cNvSpPr>
          <p:nvPr/>
        </p:nvSpPr>
        <p:spPr>
          <a:xfrm>
            <a:off x="3712559" y="1351407"/>
            <a:ext cx="47101" cy="47101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B5FDFE17-945B-4D2E-B6C3-1BA4A176842C}"/>
              </a:ext>
            </a:extLst>
          </p:cNvPr>
          <p:cNvSpPr>
            <a:spLocks noGrp="1"/>
          </p:cNvSpPr>
          <p:nvPr/>
        </p:nvSpPr>
        <p:spPr>
          <a:xfrm>
            <a:off x="3759660" y="1351407"/>
            <a:ext cx="47101" cy="47101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39" name="矩形 138">
            <a:extLst>
              <a:ext uri="{FF2B5EF4-FFF2-40B4-BE49-F238E27FC236}">
                <a16:creationId xmlns:a16="http://schemas.microsoft.com/office/drawing/2014/main" id="{B222A575-AA9D-481D-B767-BE0A3CEC32CE}"/>
              </a:ext>
            </a:extLst>
          </p:cNvPr>
          <p:cNvSpPr>
            <a:spLocks noGrp="1"/>
          </p:cNvSpPr>
          <p:nvPr/>
        </p:nvSpPr>
        <p:spPr>
          <a:xfrm>
            <a:off x="3806761" y="1351407"/>
            <a:ext cx="47101" cy="47101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40" name="矩形 139">
            <a:extLst>
              <a:ext uri="{FF2B5EF4-FFF2-40B4-BE49-F238E27FC236}">
                <a16:creationId xmlns:a16="http://schemas.microsoft.com/office/drawing/2014/main" id="{2AF68717-CEE1-4FFD-BB64-7FE2D308C079}"/>
              </a:ext>
            </a:extLst>
          </p:cNvPr>
          <p:cNvSpPr>
            <a:spLocks noGrp="1"/>
          </p:cNvSpPr>
          <p:nvPr/>
        </p:nvSpPr>
        <p:spPr>
          <a:xfrm>
            <a:off x="3853863" y="1351407"/>
            <a:ext cx="47101" cy="47101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41" name="矩形 140">
            <a:extLst>
              <a:ext uri="{FF2B5EF4-FFF2-40B4-BE49-F238E27FC236}">
                <a16:creationId xmlns:a16="http://schemas.microsoft.com/office/drawing/2014/main" id="{4818CE29-E410-454F-961F-7BBC9EC35E97}"/>
              </a:ext>
            </a:extLst>
          </p:cNvPr>
          <p:cNvSpPr>
            <a:spLocks noGrp="1"/>
          </p:cNvSpPr>
          <p:nvPr/>
        </p:nvSpPr>
        <p:spPr>
          <a:xfrm>
            <a:off x="3900964" y="1351407"/>
            <a:ext cx="47101" cy="47101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42" name="矩形 141">
            <a:extLst>
              <a:ext uri="{FF2B5EF4-FFF2-40B4-BE49-F238E27FC236}">
                <a16:creationId xmlns:a16="http://schemas.microsoft.com/office/drawing/2014/main" id="{2D311505-D24E-4452-A5C8-18F5593E4B80}"/>
              </a:ext>
            </a:extLst>
          </p:cNvPr>
          <p:cNvSpPr>
            <a:spLocks noGrp="1"/>
          </p:cNvSpPr>
          <p:nvPr/>
        </p:nvSpPr>
        <p:spPr>
          <a:xfrm>
            <a:off x="3948065" y="1351407"/>
            <a:ext cx="47101" cy="47101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43" name="矩形 142">
            <a:extLst>
              <a:ext uri="{FF2B5EF4-FFF2-40B4-BE49-F238E27FC236}">
                <a16:creationId xmlns:a16="http://schemas.microsoft.com/office/drawing/2014/main" id="{604D4841-7FB2-44EA-A50F-9AE598A17202}"/>
              </a:ext>
            </a:extLst>
          </p:cNvPr>
          <p:cNvSpPr>
            <a:spLocks noGrp="1"/>
          </p:cNvSpPr>
          <p:nvPr/>
        </p:nvSpPr>
        <p:spPr>
          <a:xfrm>
            <a:off x="3995166" y="1351407"/>
            <a:ext cx="47101" cy="47101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44" name="矩形 143">
            <a:extLst>
              <a:ext uri="{FF2B5EF4-FFF2-40B4-BE49-F238E27FC236}">
                <a16:creationId xmlns:a16="http://schemas.microsoft.com/office/drawing/2014/main" id="{6D748868-DA1C-44F5-8535-85230317B781}"/>
              </a:ext>
            </a:extLst>
          </p:cNvPr>
          <p:cNvSpPr>
            <a:spLocks noGrp="1"/>
          </p:cNvSpPr>
          <p:nvPr/>
        </p:nvSpPr>
        <p:spPr>
          <a:xfrm>
            <a:off x="4042267" y="1351407"/>
            <a:ext cx="47101" cy="47101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45" name="矩形 144">
            <a:extLst>
              <a:ext uri="{FF2B5EF4-FFF2-40B4-BE49-F238E27FC236}">
                <a16:creationId xmlns:a16="http://schemas.microsoft.com/office/drawing/2014/main" id="{146C3141-69BB-409B-850C-0A83AB3F2278}"/>
              </a:ext>
            </a:extLst>
          </p:cNvPr>
          <p:cNvSpPr>
            <a:spLocks noGrp="1"/>
          </p:cNvSpPr>
          <p:nvPr/>
        </p:nvSpPr>
        <p:spPr>
          <a:xfrm>
            <a:off x="3712559" y="1398508"/>
            <a:ext cx="47101" cy="47101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46" name="矩形 145">
            <a:extLst>
              <a:ext uri="{FF2B5EF4-FFF2-40B4-BE49-F238E27FC236}">
                <a16:creationId xmlns:a16="http://schemas.microsoft.com/office/drawing/2014/main" id="{380A9EBA-8D96-4FC7-B115-0254F8D7F8A7}"/>
              </a:ext>
            </a:extLst>
          </p:cNvPr>
          <p:cNvSpPr>
            <a:spLocks noGrp="1"/>
          </p:cNvSpPr>
          <p:nvPr/>
        </p:nvSpPr>
        <p:spPr>
          <a:xfrm>
            <a:off x="3759660" y="1398508"/>
            <a:ext cx="47101" cy="47101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47" name="矩形 146">
            <a:extLst>
              <a:ext uri="{FF2B5EF4-FFF2-40B4-BE49-F238E27FC236}">
                <a16:creationId xmlns:a16="http://schemas.microsoft.com/office/drawing/2014/main" id="{C7C32CF9-465A-4BD0-A346-7744966520BF}"/>
              </a:ext>
            </a:extLst>
          </p:cNvPr>
          <p:cNvSpPr>
            <a:spLocks noGrp="1"/>
          </p:cNvSpPr>
          <p:nvPr/>
        </p:nvSpPr>
        <p:spPr>
          <a:xfrm>
            <a:off x="3806761" y="1398508"/>
            <a:ext cx="47101" cy="47101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48" name="矩形 147">
            <a:extLst>
              <a:ext uri="{FF2B5EF4-FFF2-40B4-BE49-F238E27FC236}">
                <a16:creationId xmlns:a16="http://schemas.microsoft.com/office/drawing/2014/main" id="{ECAC2479-E169-400F-9D17-14BA507C4DF3}"/>
              </a:ext>
            </a:extLst>
          </p:cNvPr>
          <p:cNvSpPr>
            <a:spLocks noGrp="1"/>
          </p:cNvSpPr>
          <p:nvPr/>
        </p:nvSpPr>
        <p:spPr>
          <a:xfrm>
            <a:off x="3853863" y="1398508"/>
            <a:ext cx="47101" cy="47101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49" name="矩形 148">
            <a:extLst>
              <a:ext uri="{FF2B5EF4-FFF2-40B4-BE49-F238E27FC236}">
                <a16:creationId xmlns:a16="http://schemas.microsoft.com/office/drawing/2014/main" id="{72DFE2BF-3B8D-4054-9BAD-4EDF3E971C67}"/>
              </a:ext>
            </a:extLst>
          </p:cNvPr>
          <p:cNvSpPr>
            <a:spLocks noGrp="1"/>
          </p:cNvSpPr>
          <p:nvPr/>
        </p:nvSpPr>
        <p:spPr>
          <a:xfrm>
            <a:off x="3900964" y="1398508"/>
            <a:ext cx="47101" cy="47101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50" name="矩形 149">
            <a:extLst>
              <a:ext uri="{FF2B5EF4-FFF2-40B4-BE49-F238E27FC236}">
                <a16:creationId xmlns:a16="http://schemas.microsoft.com/office/drawing/2014/main" id="{F9F83D39-9B00-49BF-B9F7-FD1657A80E00}"/>
              </a:ext>
            </a:extLst>
          </p:cNvPr>
          <p:cNvSpPr>
            <a:spLocks noGrp="1"/>
          </p:cNvSpPr>
          <p:nvPr/>
        </p:nvSpPr>
        <p:spPr>
          <a:xfrm>
            <a:off x="3948065" y="1398508"/>
            <a:ext cx="47101" cy="47101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51" name="矩形 150">
            <a:extLst>
              <a:ext uri="{FF2B5EF4-FFF2-40B4-BE49-F238E27FC236}">
                <a16:creationId xmlns:a16="http://schemas.microsoft.com/office/drawing/2014/main" id="{CF8AE5F0-D2DA-4169-9AF3-411BE9E5A9E6}"/>
              </a:ext>
            </a:extLst>
          </p:cNvPr>
          <p:cNvSpPr>
            <a:spLocks noGrp="1"/>
          </p:cNvSpPr>
          <p:nvPr/>
        </p:nvSpPr>
        <p:spPr>
          <a:xfrm>
            <a:off x="3995166" y="1398508"/>
            <a:ext cx="47101" cy="47101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52" name="矩形 151">
            <a:extLst>
              <a:ext uri="{FF2B5EF4-FFF2-40B4-BE49-F238E27FC236}">
                <a16:creationId xmlns:a16="http://schemas.microsoft.com/office/drawing/2014/main" id="{1CF1AC84-2061-4329-950C-DF09A18CC0C4}"/>
              </a:ext>
            </a:extLst>
          </p:cNvPr>
          <p:cNvSpPr>
            <a:spLocks noGrp="1"/>
          </p:cNvSpPr>
          <p:nvPr/>
        </p:nvSpPr>
        <p:spPr>
          <a:xfrm>
            <a:off x="4042267" y="1398508"/>
            <a:ext cx="47101" cy="47101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53" name="矩形 152">
            <a:extLst>
              <a:ext uri="{FF2B5EF4-FFF2-40B4-BE49-F238E27FC236}">
                <a16:creationId xmlns:a16="http://schemas.microsoft.com/office/drawing/2014/main" id="{8459AA2F-64F6-4015-BCD3-1EA6298A8D84}"/>
              </a:ext>
            </a:extLst>
          </p:cNvPr>
          <p:cNvSpPr>
            <a:spLocks noGrp="1"/>
          </p:cNvSpPr>
          <p:nvPr/>
        </p:nvSpPr>
        <p:spPr>
          <a:xfrm>
            <a:off x="3712559" y="1351407"/>
            <a:ext cx="376809" cy="94202"/>
          </a:xfrm>
          <a:prstGeom prst="rect">
            <a:avLst/>
          </a:prstGeom>
          <a:noFill/>
          <a:ln w="7620">
            <a:noFill/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54" name="action">
            <a:extLst>
              <a:ext uri="{FF2B5EF4-FFF2-40B4-BE49-F238E27FC236}">
                <a16:creationId xmlns:a16="http://schemas.microsoft.com/office/drawing/2014/main" id="{DD6924F9-6D3C-4E7D-B6A6-A04255FC1DF1}"/>
              </a:ext>
            </a:extLst>
          </p:cNvPr>
          <p:cNvSpPr>
            <a:spLocks noGrp="1"/>
          </p:cNvSpPr>
          <p:nvPr/>
        </p:nvSpPr>
        <p:spPr>
          <a:xfrm>
            <a:off x="3696176" y="1236726"/>
            <a:ext cx="430054" cy="9829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548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action</a:t>
            </a:r>
          </a:p>
        </p:txBody>
      </p:sp>
      <p:sp>
        <p:nvSpPr>
          <p:cNvPr id="155" name="矩形 154">
            <a:extLst>
              <a:ext uri="{FF2B5EF4-FFF2-40B4-BE49-F238E27FC236}">
                <a16:creationId xmlns:a16="http://schemas.microsoft.com/office/drawing/2014/main" id="{4BA7C372-8F87-4B6D-BDED-BAF5FD5D4FD6}"/>
              </a:ext>
            </a:extLst>
          </p:cNvPr>
          <p:cNvSpPr>
            <a:spLocks noGrp="1"/>
          </p:cNvSpPr>
          <p:nvPr/>
        </p:nvSpPr>
        <p:spPr>
          <a:xfrm>
            <a:off x="4191762" y="1351407"/>
            <a:ext cx="47101" cy="47101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56" name="矩形 155">
            <a:extLst>
              <a:ext uri="{FF2B5EF4-FFF2-40B4-BE49-F238E27FC236}">
                <a16:creationId xmlns:a16="http://schemas.microsoft.com/office/drawing/2014/main" id="{A2F165AD-39B6-4BF8-AD58-BAF071198C18}"/>
              </a:ext>
            </a:extLst>
          </p:cNvPr>
          <p:cNvSpPr>
            <a:spLocks noGrp="1"/>
          </p:cNvSpPr>
          <p:nvPr/>
        </p:nvSpPr>
        <p:spPr>
          <a:xfrm>
            <a:off x="4238863" y="1351407"/>
            <a:ext cx="47101" cy="47101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57" name="矩形 156">
            <a:extLst>
              <a:ext uri="{FF2B5EF4-FFF2-40B4-BE49-F238E27FC236}">
                <a16:creationId xmlns:a16="http://schemas.microsoft.com/office/drawing/2014/main" id="{3C3A1856-BB63-4216-A085-6FC1DB43F3D8}"/>
              </a:ext>
            </a:extLst>
          </p:cNvPr>
          <p:cNvSpPr>
            <a:spLocks noGrp="1"/>
          </p:cNvSpPr>
          <p:nvPr/>
        </p:nvSpPr>
        <p:spPr>
          <a:xfrm>
            <a:off x="4285964" y="1351407"/>
            <a:ext cx="47101" cy="47101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58" name="矩形 157">
            <a:extLst>
              <a:ext uri="{FF2B5EF4-FFF2-40B4-BE49-F238E27FC236}">
                <a16:creationId xmlns:a16="http://schemas.microsoft.com/office/drawing/2014/main" id="{51530672-3FED-45A6-81E6-9CF2A30782FB}"/>
              </a:ext>
            </a:extLst>
          </p:cNvPr>
          <p:cNvSpPr>
            <a:spLocks noGrp="1"/>
          </p:cNvSpPr>
          <p:nvPr/>
        </p:nvSpPr>
        <p:spPr>
          <a:xfrm>
            <a:off x="4333065" y="1351407"/>
            <a:ext cx="47101" cy="47101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59" name="矩形 158">
            <a:extLst>
              <a:ext uri="{FF2B5EF4-FFF2-40B4-BE49-F238E27FC236}">
                <a16:creationId xmlns:a16="http://schemas.microsoft.com/office/drawing/2014/main" id="{87CEB9AF-0B94-47BD-8CE9-C455AEC18D11}"/>
              </a:ext>
            </a:extLst>
          </p:cNvPr>
          <p:cNvSpPr>
            <a:spLocks noGrp="1"/>
          </p:cNvSpPr>
          <p:nvPr/>
        </p:nvSpPr>
        <p:spPr>
          <a:xfrm>
            <a:off x="4380167" y="1351407"/>
            <a:ext cx="47101" cy="47101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60" name="矩形 159">
            <a:extLst>
              <a:ext uri="{FF2B5EF4-FFF2-40B4-BE49-F238E27FC236}">
                <a16:creationId xmlns:a16="http://schemas.microsoft.com/office/drawing/2014/main" id="{375F6709-170F-4E8D-9C9A-4358DA8AD1DA}"/>
              </a:ext>
            </a:extLst>
          </p:cNvPr>
          <p:cNvSpPr>
            <a:spLocks noGrp="1"/>
          </p:cNvSpPr>
          <p:nvPr/>
        </p:nvSpPr>
        <p:spPr>
          <a:xfrm>
            <a:off x="4427268" y="1351407"/>
            <a:ext cx="47101" cy="47101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61" name="矩形 160">
            <a:extLst>
              <a:ext uri="{FF2B5EF4-FFF2-40B4-BE49-F238E27FC236}">
                <a16:creationId xmlns:a16="http://schemas.microsoft.com/office/drawing/2014/main" id="{B7112A46-4790-47A2-9F82-31241A60EA23}"/>
              </a:ext>
            </a:extLst>
          </p:cNvPr>
          <p:cNvSpPr>
            <a:spLocks noGrp="1"/>
          </p:cNvSpPr>
          <p:nvPr/>
        </p:nvSpPr>
        <p:spPr>
          <a:xfrm>
            <a:off x="4474369" y="1351407"/>
            <a:ext cx="47101" cy="47101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62" name="矩形 161">
            <a:extLst>
              <a:ext uri="{FF2B5EF4-FFF2-40B4-BE49-F238E27FC236}">
                <a16:creationId xmlns:a16="http://schemas.microsoft.com/office/drawing/2014/main" id="{69811520-E72F-46C2-BA02-B1D6063CC9E2}"/>
              </a:ext>
            </a:extLst>
          </p:cNvPr>
          <p:cNvSpPr>
            <a:spLocks noGrp="1"/>
          </p:cNvSpPr>
          <p:nvPr/>
        </p:nvSpPr>
        <p:spPr>
          <a:xfrm>
            <a:off x="4521470" y="1351407"/>
            <a:ext cx="47101" cy="47101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63" name="矩形 162">
            <a:extLst>
              <a:ext uri="{FF2B5EF4-FFF2-40B4-BE49-F238E27FC236}">
                <a16:creationId xmlns:a16="http://schemas.microsoft.com/office/drawing/2014/main" id="{60943257-1E64-4D31-9274-F6531775B085}"/>
              </a:ext>
            </a:extLst>
          </p:cNvPr>
          <p:cNvSpPr>
            <a:spLocks noGrp="1"/>
          </p:cNvSpPr>
          <p:nvPr/>
        </p:nvSpPr>
        <p:spPr>
          <a:xfrm>
            <a:off x="4191762" y="1398508"/>
            <a:ext cx="47101" cy="47101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64" name="矩形 163">
            <a:extLst>
              <a:ext uri="{FF2B5EF4-FFF2-40B4-BE49-F238E27FC236}">
                <a16:creationId xmlns:a16="http://schemas.microsoft.com/office/drawing/2014/main" id="{2F20124A-C904-4EFE-AF52-E52E01E49632}"/>
              </a:ext>
            </a:extLst>
          </p:cNvPr>
          <p:cNvSpPr>
            <a:spLocks noGrp="1"/>
          </p:cNvSpPr>
          <p:nvPr/>
        </p:nvSpPr>
        <p:spPr>
          <a:xfrm>
            <a:off x="4238863" y="1398508"/>
            <a:ext cx="47101" cy="47101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65" name="矩形 164">
            <a:extLst>
              <a:ext uri="{FF2B5EF4-FFF2-40B4-BE49-F238E27FC236}">
                <a16:creationId xmlns:a16="http://schemas.microsoft.com/office/drawing/2014/main" id="{619B16FD-018B-486B-99FD-902DACC13F69}"/>
              </a:ext>
            </a:extLst>
          </p:cNvPr>
          <p:cNvSpPr>
            <a:spLocks noGrp="1"/>
          </p:cNvSpPr>
          <p:nvPr/>
        </p:nvSpPr>
        <p:spPr>
          <a:xfrm>
            <a:off x="4285964" y="1398508"/>
            <a:ext cx="47101" cy="47101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66" name="矩形 165">
            <a:extLst>
              <a:ext uri="{FF2B5EF4-FFF2-40B4-BE49-F238E27FC236}">
                <a16:creationId xmlns:a16="http://schemas.microsoft.com/office/drawing/2014/main" id="{92A093DE-FC65-448E-A264-ACA1F6DAF814}"/>
              </a:ext>
            </a:extLst>
          </p:cNvPr>
          <p:cNvSpPr>
            <a:spLocks noGrp="1"/>
          </p:cNvSpPr>
          <p:nvPr/>
        </p:nvSpPr>
        <p:spPr>
          <a:xfrm>
            <a:off x="4333065" y="1398508"/>
            <a:ext cx="47101" cy="47101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67" name="矩形 166">
            <a:extLst>
              <a:ext uri="{FF2B5EF4-FFF2-40B4-BE49-F238E27FC236}">
                <a16:creationId xmlns:a16="http://schemas.microsoft.com/office/drawing/2014/main" id="{0C2AC29A-4509-4997-8D99-4CC42E912441}"/>
              </a:ext>
            </a:extLst>
          </p:cNvPr>
          <p:cNvSpPr>
            <a:spLocks noGrp="1"/>
          </p:cNvSpPr>
          <p:nvPr/>
        </p:nvSpPr>
        <p:spPr>
          <a:xfrm>
            <a:off x="4380167" y="1398508"/>
            <a:ext cx="47101" cy="47101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68" name="矩形 167">
            <a:extLst>
              <a:ext uri="{FF2B5EF4-FFF2-40B4-BE49-F238E27FC236}">
                <a16:creationId xmlns:a16="http://schemas.microsoft.com/office/drawing/2014/main" id="{C25C4A41-1A71-4516-AD83-82030FE9340C}"/>
              </a:ext>
            </a:extLst>
          </p:cNvPr>
          <p:cNvSpPr>
            <a:spLocks noGrp="1"/>
          </p:cNvSpPr>
          <p:nvPr/>
        </p:nvSpPr>
        <p:spPr>
          <a:xfrm>
            <a:off x="4427268" y="1398508"/>
            <a:ext cx="47101" cy="47101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69" name="矩形 168">
            <a:extLst>
              <a:ext uri="{FF2B5EF4-FFF2-40B4-BE49-F238E27FC236}">
                <a16:creationId xmlns:a16="http://schemas.microsoft.com/office/drawing/2014/main" id="{DD311B0A-98E4-433A-8CD8-E60C79C9F77B}"/>
              </a:ext>
            </a:extLst>
          </p:cNvPr>
          <p:cNvSpPr>
            <a:spLocks noGrp="1"/>
          </p:cNvSpPr>
          <p:nvPr/>
        </p:nvSpPr>
        <p:spPr>
          <a:xfrm>
            <a:off x="4474369" y="1398508"/>
            <a:ext cx="47101" cy="47101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70" name="矩形 169">
            <a:extLst>
              <a:ext uri="{FF2B5EF4-FFF2-40B4-BE49-F238E27FC236}">
                <a16:creationId xmlns:a16="http://schemas.microsoft.com/office/drawing/2014/main" id="{4C309C7F-72F9-420A-BA05-30E31E97CF42}"/>
              </a:ext>
            </a:extLst>
          </p:cNvPr>
          <p:cNvSpPr>
            <a:spLocks noGrp="1"/>
          </p:cNvSpPr>
          <p:nvPr/>
        </p:nvSpPr>
        <p:spPr>
          <a:xfrm>
            <a:off x="4521470" y="1398508"/>
            <a:ext cx="47101" cy="47101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71" name="矩形 170">
            <a:extLst>
              <a:ext uri="{FF2B5EF4-FFF2-40B4-BE49-F238E27FC236}">
                <a16:creationId xmlns:a16="http://schemas.microsoft.com/office/drawing/2014/main" id="{539E0100-B154-4BD2-BF06-57981082B5FF}"/>
              </a:ext>
            </a:extLst>
          </p:cNvPr>
          <p:cNvSpPr>
            <a:spLocks noGrp="1"/>
          </p:cNvSpPr>
          <p:nvPr/>
        </p:nvSpPr>
        <p:spPr>
          <a:xfrm>
            <a:off x="4191762" y="1351407"/>
            <a:ext cx="376809" cy="94202"/>
          </a:xfrm>
          <a:prstGeom prst="rect">
            <a:avLst/>
          </a:prstGeom>
          <a:noFill/>
          <a:ln w="7620">
            <a:noFill/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72" name="T5 input">
            <a:extLst>
              <a:ext uri="{FF2B5EF4-FFF2-40B4-BE49-F238E27FC236}">
                <a16:creationId xmlns:a16="http://schemas.microsoft.com/office/drawing/2014/main" id="{11B31CA2-EDFE-4013-8C83-F812EEAE19CA}"/>
              </a:ext>
            </a:extLst>
          </p:cNvPr>
          <p:cNvSpPr>
            <a:spLocks noGrp="1"/>
          </p:cNvSpPr>
          <p:nvPr/>
        </p:nvSpPr>
        <p:spPr>
          <a:xfrm>
            <a:off x="4175379" y="1236726"/>
            <a:ext cx="430054" cy="9829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548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T5 input</a:t>
            </a:r>
          </a:p>
        </p:txBody>
      </p:sp>
      <p:sp>
        <p:nvSpPr>
          <p:cNvPr id="173" name="矩形 172">
            <a:extLst>
              <a:ext uri="{FF2B5EF4-FFF2-40B4-BE49-F238E27FC236}">
                <a16:creationId xmlns:a16="http://schemas.microsoft.com/office/drawing/2014/main" id="{C3FCD9EE-36E2-4476-8A66-417548B951A7}"/>
              </a:ext>
            </a:extLst>
          </p:cNvPr>
          <p:cNvSpPr>
            <a:spLocks noGrp="1"/>
          </p:cNvSpPr>
          <p:nvPr/>
        </p:nvSpPr>
        <p:spPr>
          <a:xfrm>
            <a:off x="4670965" y="1351407"/>
            <a:ext cx="47101" cy="47101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74" name="矩形 173">
            <a:extLst>
              <a:ext uri="{FF2B5EF4-FFF2-40B4-BE49-F238E27FC236}">
                <a16:creationId xmlns:a16="http://schemas.microsoft.com/office/drawing/2014/main" id="{4EA87DC2-3258-4681-B0FF-C019008434AF}"/>
              </a:ext>
            </a:extLst>
          </p:cNvPr>
          <p:cNvSpPr>
            <a:spLocks noGrp="1"/>
          </p:cNvSpPr>
          <p:nvPr/>
        </p:nvSpPr>
        <p:spPr>
          <a:xfrm>
            <a:off x="4718066" y="1351407"/>
            <a:ext cx="47101" cy="47101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75" name="矩形 174">
            <a:extLst>
              <a:ext uri="{FF2B5EF4-FFF2-40B4-BE49-F238E27FC236}">
                <a16:creationId xmlns:a16="http://schemas.microsoft.com/office/drawing/2014/main" id="{5D69A426-845E-4B0F-A228-C047DE9778C8}"/>
              </a:ext>
            </a:extLst>
          </p:cNvPr>
          <p:cNvSpPr>
            <a:spLocks noGrp="1"/>
          </p:cNvSpPr>
          <p:nvPr/>
        </p:nvSpPr>
        <p:spPr>
          <a:xfrm>
            <a:off x="4765167" y="1351407"/>
            <a:ext cx="47101" cy="47101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76" name="矩形 175">
            <a:extLst>
              <a:ext uri="{FF2B5EF4-FFF2-40B4-BE49-F238E27FC236}">
                <a16:creationId xmlns:a16="http://schemas.microsoft.com/office/drawing/2014/main" id="{29F921A0-0D8F-483E-83F4-A5BEE3E387AE}"/>
              </a:ext>
            </a:extLst>
          </p:cNvPr>
          <p:cNvSpPr>
            <a:spLocks noGrp="1"/>
          </p:cNvSpPr>
          <p:nvPr/>
        </p:nvSpPr>
        <p:spPr>
          <a:xfrm>
            <a:off x="4812268" y="1351407"/>
            <a:ext cx="47101" cy="47101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77" name="矩形 176">
            <a:extLst>
              <a:ext uri="{FF2B5EF4-FFF2-40B4-BE49-F238E27FC236}">
                <a16:creationId xmlns:a16="http://schemas.microsoft.com/office/drawing/2014/main" id="{9A48926B-8F43-424A-99D5-56017B5C39A2}"/>
              </a:ext>
            </a:extLst>
          </p:cNvPr>
          <p:cNvSpPr>
            <a:spLocks noGrp="1"/>
          </p:cNvSpPr>
          <p:nvPr/>
        </p:nvSpPr>
        <p:spPr>
          <a:xfrm>
            <a:off x="4859369" y="1351407"/>
            <a:ext cx="47101" cy="47101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78" name="矩形 177">
            <a:extLst>
              <a:ext uri="{FF2B5EF4-FFF2-40B4-BE49-F238E27FC236}">
                <a16:creationId xmlns:a16="http://schemas.microsoft.com/office/drawing/2014/main" id="{E855BDB6-6909-4695-A19D-3107CE17DD5D}"/>
              </a:ext>
            </a:extLst>
          </p:cNvPr>
          <p:cNvSpPr>
            <a:spLocks noGrp="1"/>
          </p:cNvSpPr>
          <p:nvPr/>
        </p:nvSpPr>
        <p:spPr>
          <a:xfrm>
            <a:off x="4906470" y="1351407"/>
            <a:ext cx="47101" cy="47101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79" name="矩形 178">
            <a:extLst>
              <a:ext uri="{FF2B5EF4-FFF2-40B4-BE49-F238E27FC236}">
                <a16:creationId xmlns:a16="http://schemas.microsoft.com/office/drawing/2014/main" id="{91CE7154-9D6E-478B-BE36-E4129D55BA72}"/>
              </a:ext>
            </a:extLst>
          </p:cNvPr>
          <p:cNvSpPr>
            <a:spLocks noGrp="1"/>
          </p:cNvSpPr>
          <p:nvPr/>
        </p:nvSpPr>
        <p:spPr>
          <a:xfrm>
            <a:off x="4953571" y="1351407"/>
            <a:ext cx="47101" cy="47101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80" name="矩形 179">
            <a:extLst>
              <a:ext uri="{FF2B5EF4-FFF2-40B4-BE49-F238E27FC236}">
                <a16:creationId xmlns:a16="http://schemas.microsoft.com/office/drawing/2014/main" id="{8A37F99F-0D91-4101-AE19-F782CF6E2731}"/>
              </a:ext>
            </a:extLst>
          </p:cNvPr>
          <p:cNvSpPr>
            <a:spLocks noGrp="1"/>
          </p:cNvSpPr>
          <p:nvPr/>
        </p:nvSpPr>
        <p:spPr>
          <a:xfrm>
            <a:off x="5000673" y="1351407"/>
            <a:ext cx="47101" cy="47101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81" name="矩形 180">
            <a:extLst>
              <a:ext uri="{FF2B5EF4-FFF2-40B4-BE49-F238E27FC236}">
                <a16:creationId xmlns:a16="http://schemas.microsoft.com/office/drawing/2014/main" id="{E3EF84D4-B198-4FFC-B51E-A71CFC2093EA}"/>
              </a:ext>
            </a:extLst>
          </p:cNvPr>
          <p:cNvSpPr>
            <a:spLocks noGrp="1"/>
          </p:cNvSpPr>
          <p:nvPr/>
        </p:nvSpPr>
        <p:spPr>
          <a:xfrm>
            <a:off x="4670965" y="1398508"/>
            <a:ext cx="47101" cy="47101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82" name="矩形 181">
            <a:extLst>
              <a:ext uri="{FF2B5EF4-FFF2-40B4-BE49-F238E27FC236}">
                <a16:creationId xmlns:a16="http://schemas.microsoft.com/office/drawing/2014/main" id="{235E8B04-9383-45DD-8861-2ADD1F6B4823}"/>
              </a:ext>
            </a:extLst>
          </p:cNvPr>
          <p:cNvSpPr>
            <a:spLocks noGrp="1"/>
          </p:cNvSpPr>
          <p:nvPr/>
        </p:nvSpPr>
        <p:spPr>
          <a:xfrm>
            <a:off x="4718066" y="1398508"/>
            <a:ext cx="47101" cy="47101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83" name="矩形 182">
            <a:extLst>
              <a:ext uri="{FF2B5EF4-FFF2-40B4-BE49-F238E27FC236}">
                <a16:creationId xmlns:a16="http://schemas.microsoft.com/office/drawing/2014/main" id="{57AC74BC-B9B9-4392-9DA9-DB1DC51B3891}"/>
              </a:ext>
            </a:extLst>
          </p:cNvPr>
          <p:cNvSpPr>
            <a:spLocks noGrp="1"/>
          </p:cNvSpPr>
          <p:nvPr/>
        </p:nvSpPr>
        <p:spPr>
          <a:xfrm>
            <a:off x="4765167" y="1398508"/>
            <a:ext cx="47101" cy="47101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84" name="矩形 183">
            <a:extLst>
              <a:ext uri="{FF2B5EF4-FFF2-40B4-BE49-F238E27FC236}">
                <a16:creationId xmlns:a16="http://schemas.microsoft.com/office/drawing/2014/main" id="{3C11F064-DE0B-4A20-8A04-0511874365B8}"/>
              </a:ext>
            </a:extLst>
          </p:cNvPr>
          <p:cNvSpPr>
            <a:spLocks noGrp="1"/>
          </p:cNvSpPr>
          <p:nvPr/>
        </p:nvSpPr>
        <p:spPr>
          <a:xfrm>
            <a:off x="4812268" y="1398508"/>
            <a:ext cx="47101" cy="47101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85" name="矩形 184">
            <a:extLst>
              <a:ext uri="{FF2B5EF4-FFF2-40B4-BE49-F238E27FC236}">
                <a16:creationId xmlns:a16="http://schemas.microsoft.com/office/drawing/2014/main" id="{8C8D1103-DB18-49F0-9BE3-1414A0CE3B24}"/>
              </a:ext>
            </a:extLst>
          </p:cNvPr>
          <p:cNvSpPr>
            <a:spLocks noGrp="1"/>
          </p:cNvSpPr>
          <p:nvPr/>
        </p:nvSpPr>
        <p:spPr>
          <a:xfrm>
            <a:off x="4859369" y="1398508"/>
            <a:ext cx="47101" cy="47101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86" name="矩形 185">
            <a:extLst>
              <a:ext uri="{FF2B5EF4-FFF2-40B4-BE49-F238E27FC236}">
                <a16:creationId xmlns:a16="http://schemas.microsoft.com/office/drawing/2014/main" id="{1528EC44-8AE3-4BF4-8FB1-DD3428093637}"/>
              </a:ext>
            </a:extLst>
          </p:cNvPr>
          <p:cNvSpPr>
            <a:spLocks noGrp="1"/>
          </p:cNvSpPr>
          <p:nvPr/>
        </p:nvSpPr>
        <p:spPr>
          <a:xfrm>
            <a:off x="4906470" y="1398508"/>
            <a:ext cx="47101" cy="47101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87" name="矩形 186">
            <a:extLst>
              <a:ext uri="{FF2B5EF4-FFF2-40B4-BE49-F238E27FC236}">
                <a16:creationId xmlns:a16="http://schemas.microsoft.com/office/drawing/2014/main" id="{001FEB45-4FFB-4B82-978C-2952735677AD}"/>
              </a:ext>
            </a:extLst>
          </p:cNvPr>
          <p:cNvSpPr>
            <a:spLocks noGrp="1"/>
          </p:cNvSpPr>
          <p:nvPr/>
        </p:nvSpPr>
        <p:spPr>
          <a:xfrm>
            <a:off x="4953571" y="1398508"/>
            <a:ext cx="47101" cy="47101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88" name="矩形 187">
            <a:extLst>
              <a:ext uri="{FF2B5EF4-FFF2-40B4-BE49-F238E27FC236}">
                <a16:creationId xmlns:a16="http://schemas.microsoft.com/office/drawing/2014/main" id="{EEA4679B-85D7-48B2-9C88-25B5786E699B}"/>
              </a:ext>
            </a:extLst>
          </p:cNvPr>
          <p:cNvSpPr>
            <a:spLocks noGrp="1"/>
          </p:cNvSpPr>
          <p:nvPr/>
        </p:nvSpPr>
        <p:spPr>
          <a:xfrm>
            <a:off x="5000673" y="1398508"/>
            <a:ext cx="47101" cy="47101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89" name="矩形 188">
            <a:extLst>
              <a:ext uri="{FF2B5EF4-FFF2-40B4-BE49-F238E27FC236}">
                <a16:creationId xmlns:a16="http://schemas.microsoft.com/office/drawing/2014/main" id="{4CDE4B5F-0069-4847-952A-AD6E4B465A44}"/>
              </a:ext>
            </a:extLst>
          </p:cNvPr>
          <p:cNvSpPr>
            <a:spLocks noGrp="1"/>
          </p:cNvSpPr>
          <p:nvPr/>
        </p:nvSpPr>
        <p:spPr>
          <a:xfrm>
            <a:off x="4670965" y="1351407"/>
            <a:ext cx="376809" cy="94202"/>
          </a:xfrm>
          <a:prstGeom prst="rect">
            <a:avLst/>
          </a:prstGeom>
          <a:noFill/>
          <a:ln w="7620">
            <a:noFill/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90" name="other cond.">
            <a:extLst>
              <a:ext uri="{FF2B5EF4-FFF2-40B4-BE49-F238E27FC236}">
                <a16:creationId xmlns:a16="http://schemas.microsoft.com/office/drawing/2014/main" id="{619B307B-CA5F-4C58-92CD-5606246D03B0}"/>
              </a:ext>
            </a:extLst>
          </p:cNvPr>
          <p:cNvSpPr>
            <a:spLocks noGrp="1"/>
          </p:cNvSpPr>
          <p:nvPr/>
        </p:nvSpPr>
        <p:spPr>
          <a:xfrm>
            <a:off x="4654582" y="1236726"/>
            <a:ext cx="430054" cy="9829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548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other cond.</a:t>
            </a:r>
          </a:p>
        </p:txBody>
      </p:sp>
      <p:sp>
        <p:nvSpPr>
          <p:cNvPr id="191" name="Condition-cache setup (per query)&#10;Run T5, cache projections ">
            <a:extLst>
              <a:ext uri="{FF2B5EF4-FFF2-40B4-BE49-F238E27FC236}">
                <a16:creationId xmlns:a16="http://schemas.microsoft.com/office/drawing/2014/main" id="{D6AFA003-2619-4222-882B-1A701F07D1D2}"/>
              </a:ext>
            </a:extLst>
          </p:cNvPr>
          <p:cNvSpPr>
            <a:spLocks noGrp="1"/>
          </p:cNvSpPr>
          <p:nvPr/>
        </p:nvSpPr>
        <p:spPr>
          <a:xfrm>
            <a:off x="3212878" y="1597152"/>
            <a:ext cx="1867662" cy="278511"/>
          </a:xfrm>
          <a:prstGeom prst="rect">
            <a:avLst/>
          </a:prstGeom>
          <a:solidFill>
            <a:srgbClr val="E8E1F3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09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09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09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09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09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09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09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09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09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09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709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709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Condition-cache setup (per query)</a:t>
            </a:r>
          </a:p>
          <a:p>
            <a:pPr algn="ctr">
              <a:defRPr sz="709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709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Run T5, cache projections and K/V</a:t>
            </a:r>
          </a:p>
        </p:txBody>
      </p:sp>
      <p:sp>
        <p:nvSpPr>
          <p:cNvPr id="192" name="CUDA Graph execution">
            <a:extLst>
              <a:ext uri="{FF2B5EF4-FFF2-40B4-BE49-F238E27FC236}">
                <a16:creationId xmlns:a16="http://schemas.microsoft.com/office/drawing/2014/main" id="{BF971061-121F-407C-A6BB-091DA5FC99AE}"/>
              </a:ext>
            </a:extLst>
          </p:cNvPr>
          <p:cNvSpPr>
            <a:spLocks noGrp="1"/>
          </p:cNvSpPr>
          <p:nvPr/>
        </p:nvSpPr>
        <p:spPr>
          <a:xfrm>
            <a:off x="3204686" y="1994440"/>
            <a:ext cx="1884045" cy="1269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774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774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774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774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774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774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774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774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774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774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774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774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CUDA Graph execution</a:t>
            </a:r>
          </a:p>
        </p:txBody>
      </p:sp>
      <p:sp>
        <p:nvSpPr>
          <p:cNvPr id="193" name="video_step">
            <a:extLst>
              <a:ext uri="{FF2B5EF4-FFF2-40B4-BE49-F238E27FC236}">
                <a16:creationId xmlns:a16="http://schemas.microsoft.com/office/drawing/2014/main" id="{218C56DD-5412-457B-8026-83A69BA75232}"/>
              </a:ext>
            </a:extLst>
          </p:cNvPr>
          <p:cNvSpPr>
            <a:spLocks noGrp="1"/>
          </p:cNvSpPr>
          <p:nvPr/>
        </p:nvSpPr>
        <p:spPr>
          <a:xfrm>
            <a:off x="3225165" y="2191036"/>
            <a:ext cx="567690" cy="19659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60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60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60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60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60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60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60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60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60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60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60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video_step</a:t>
            </a:r>
          </a:p>
        </p:txBody>
      </p:sp>
      <p:sp>
        <p:nvSpPr>
          <p:cNvPr id="194" name="矩形 193">
            <a:extLst>
              <a:ext uri="{FF2B5EF4-FFF2-40B4-BE49-F238E27FC236}">
                <a16:creationId xmlns:a16="http://schemas.microsoft.com/office/drawing/2014/main" id="{6C0A4AAB-7CF5-438D-8506-085AC263B412}"/>
              </a:ext>
            </a:extLst>
          </p:cNvPr>
          <p:cNvSpPr>
            <a:spLocks noGrp="1"/>
          </p:cNvSpPr>
          <p:nvPr/>
        </p:nvSpPr>
        <p:spPr>
          <a:xfrm>
            <a:off x="3720751" y="2199227"/>
            <a:ext cx="1290161" cy="151543"/>
          </a:xfrm>
          <a:prstGeom prst="rect">
            <a:avLst/>
          </a:prstGeom>
          <a:solidFill>
            <a:srgbClr val="FFFFFF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58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58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58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58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58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58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58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58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58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58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95" name="1">
            <a:extLst>
              <a:ext uri="{FF2B5EF4-FFF2-40B4-BE49-F238E27FC236}">
                <a16:creationId xmlns:a16="http://schemas.microsoft.com/office/drawing/2014/main" id="{4560ECE9-D222-4DB2-86DD-7567E7C994BB}"/>
              </a:ext>
            </a:extLst>
          </p:cNvPr>
          <p:cNvSpPr>
            <a:spLocks noGrp="1"/>
          </p:cNvSpPr>
          <p:nvPr/>
        </p:nvSpPr>
        <p:spPr>
          <a:xfrm>
            <a:off x="3737134" y="2211515"/>
            <a:ext cx="118777" cy="126968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548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96" name="2">
            <a:extLst>
              <a:ext uri="{FF2B5EF4-FFF2-40B4-BE49-F238E27FC236}">
                <a16:creationId xmlns:a16="http://schemas.microsoft.com/office/drawing/2014/main" id="{C5B9293A-5B15-4591-98CE-A22C00661487}"/>
              </a:ext>
            </a:extLst>
          </p:cNvPr>
          <p:cNvSpPr>
            <a:spLocks noGrp="1"/>
          </p:cNvSpPr>
          <p:nvPr/>
        </p:nvSpPr>
        <p:spPr>
          <a:xfrm>
            <a:off x="3860006" y="2211515"/>
            <a:ext cx="118777" cy="126968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548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97" name="3">
            <a:extLst>
              <a:ext uri="{FF2B5EF4-FFF2-40B4-BE49-F238E27FC236}">
                <a16:creationId xmlns:a16="http://schemas.microsoft.com/office/drawing/2014/main" id="{F995DDF3-4BF0-4BFB-BCF0-C4ADBD09E07E}"/>
              </a:ext>
            </a:extLst>
          </p:cNvPr>
          <p:cNvSpPr>
            <a:spLocks noGrp="1"/>
          </p:cNvSpPr>
          <p:nvPr/>
        </p:nvSpPr>
        <p:spPr>
          <a:xfrm>
            <a:off x="3982879" y="2211515"/>
            <a:ext cx="118777" cy="126968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548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8" name="4">
            <a:extLst>
              <a:ext uri="{FF2B5EF4-FFF2-40B4-BE49-F238E27FC236}">
                <a16:creationId xmlns:a16="http://schemas.microsoft.com/office/drawing/2014/main" id="{73616F6E-B4F6-4834-AD94-5AD780A0124A}"/>
              </a:ext>
            </a:extLst>
          </p:cNvPr>
          <p:cNvSpPr>
            <a:spLocks noGrp="1"/>
          </p:cNvSpPr>
          <p:nvPr/>
        </p:nvSpPr>
        <p:spPr>
          <a:xfrm>
            <a:off x="4105751" y="2211515"/>
            <a:ext cx="118777" cy="126968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548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99" name="5">
            <a:extLst>
              <a:ext uri="{FF2B5EF4-FFF2-40B4-BE49-F238E27FC236}">
                <a16:creationId xmlns:a16="http://schemas.microsoft.com/office/drawing/2014/main" id="{02C3A29B-4151-4674-B06A-B05A2B562EAF}"/>
              </a:ext>
            </a:extLst>
          </p:cNvPr>
          <p:cNvSpPr>
            <a:spLocks noGrp="1"/>
          </p:cNvSpPr>
          <p:nvPr/>
        </p:nvSpPr>
        <p:spPr>
          <a:xfrm>
            <a:off x="4228624" y="2211515"/>
            <a:ext cx="118777" cy="126968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548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00" name="6">
            <a:extLst>
              <a:ext uri="{FF2B5EF4-FFF2-40B4-BE49-F238E27FC236}">
                <a16:creationId xmlns:a16="http://schemas.microsoft.com/office/drawing/2014/main" id="{C42A7355-9F74-4C59-93FF-35A1EA754C98}"/>
              </a:ext>
            </a:extLst>
          </p:cNvPr>
          <p:cNvSpPr>
            <a:spLocks noGrp="1"/>
          </p:cNvSpPr>
          <p:nvPr/>
        </p:nvSpPr>
        <p:spPr>
          <a:xfrm>
            <a:off x="4351496" y="2211515"/>
            <a:ext cx="118777" cy="126968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548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01" name="7">
            <a:extLst>
              <a:ext uri="{FF2B5EF4-FFF2-40B4-BE49-F238E27FC236}">
                <a16:creationId xmlns:a16="http://schemas.microsoft.com/office/drawing/2014/main" id="{F37FC142-A057-42DE-80AF-E0BA43ECDCB9}"/>
              </a:ext>
            </a:extLst>
          </p:cNvPr>
          <p:cNvSpPr>
            <a:spLocks noGrp="1"/>
          </p:cNvSpPr>
          <p:nvPr/>
        </p:nvSpPr>
        <p:spPr>
          <a:xfrm>
            <a:off x="4474369" y="2211515"/>
            <a:ext cx="118777" cy="126968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548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202" name="8">
            <a:extLst>
              <a:ext uri="{FF2B5EF4-FFF2-40B4-BE49-F238E27FC236}">
                <a16:creationId xmlns:a16="http://schemas.microsoft.com/office/drawing/2014/main" id="{DD4F1626-5B7C-4F39-A48C-269E0F9C26DF}"/>
              </a:ext>
            </a:extLst>
          </p:cNvPr>
          <p:cNvSpPr>
            <a:spLocks noGrp="1"/>
          </p:cNvSpPr>
          <p:nvPr/>
        </p:nvSpPr>
        <p:spPr>
          <a:xfrm>
            <a:off x="4597241" y="2211515"/>
            <a:ext cx="118777" cy="126968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548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203" name="9">
            <a:extLst>
              <a:ext uri="{FF2B5EF4-FFF2-40B4-BE49-F238E27FC236}">
                <a16:creationId xmlns:a16="http://schemas.microsoft.com/office/drawing/2014/main" id="{0A18747A-FFFD-4D77-8440-BA16482290A5}"/>
              </a:ext>
            </a:extLst>
          </p:cNvPr>
          <p:cNvSpPr>
            <a:spLocks noGrp="1"/>
          </p:cNvSpPr>
          <p:nvPr/>
        </p:nvSpPr>
        <p:spPr>
          <a:xfrm>
            <a:off x="4720114" y="2211515"/>
            <a:ext cx="118777" cy="126968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548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204" name="10">
            <a:extLst>
              <a:ext uri="{FF2B5EF4-FFF2-40B4-BE49-F238E27FC236}">
                <a16:creationId xmlns:a16="http://schemas.microsoft.com/office/drawing/2014/main" id="{23672896-49F5-4F70-813D-DA77363A82EF}"/>
              </a:ext>
            </a:extLst>
          </p:cNvPr>
          <p:cNvSpPr>
            <a:spLocks noGrp="1"/>
          </p:cNvSpPr>
          <p:nvPr/>
        </p:nvSpPr>
        <p:spPr>
          <a:xfrm>
            <a:off x="4842986" y="2211515"/>
            <a:ext cx="118777" cy="126968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548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205" name="×10">
            <a:extLst>
              <a:ext uri="{FF2B5EF4-FFF2-40B4-BE49-F238E27FC236}">
                <a16:creationId xmlns:a16="http://schemas.microsoft.com/office/drawing/2014/main" id="{316790EA-C539-47B2-863F-5A035D64BD68}"/>
              </a:ext>
            </a:extLst>
          </p:cNvPr>
          <p:cNvSpPr>
            <a:spLocks noGrp="1"/>
          </p:cNvSpPr>
          <p:nvPr/>
        </p:nvSpPr>
        <p:spPr>
          <a:xfrm>
            <a:off x="4982242" y="2203323"/>
            <a:ext cx="143351" cy="14744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×10</a:t>
            </a:r>
          </a:p>
        </p:txBody>
      </p:sp>
      <p:sp>
        <p:nvSpPr>
          <p:cNvPr id="206" name="decode  |  GEMM  |  attention">
            <a:extLst>
              <a:ext uri="{FF2B5EF4-FFF2-40B4-BE49-F238E27FC236}">
                <a16:creationId xmlns:a16="http://schemas.microsoft.com/office/drawing/2014/main" id="{7A2E7794-E868-44B6-84A4-EDCB94EEF504}"/>
              </a:ext>
            </a:extLst>
          </p:cNvPr>
          <p:cNvSpPr>
            <a:spLocks noGrp="1"/>
          </p:cNvSpPr>
          <p:nvPr/>
        </p:nvSpPr>
        <p:spPr>
          <a:xfrm>
            <a:off x="3614261" y="2535079"/>
            <a:ext cx="1417130" cy="139256"/>
          </a:xfrm>
          <a:prstGeom prst="rect">
            <a:avLst/>
          </a:prstGeom>
          <a:solidFill>
            <a:srgbClr val="F9E2C4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decode  |  GEMM  |  attention</a:t>
            </a:r>
          </a:p>
        </p:txBody>
      </p:sp>
      <p:sp>
        <p:nvSpPr>
          <p:cNvPr id="207" name="video_prefill">
            <a:extLst>
              <a:ext uri="{FF2B5EF4-FFF2-40B4-BE49-F238E27FC236}">
                <a16:creationId xmlns:a16="http://schemas.microsoft.com/office/drawing/2014/main" id="{9E41483D-64DA-48E8-B048-F99B6DCB3768}"/>
              </a:ext>
            </a:extLst>
          </p:cNvPr>
          <p:cNvSpPr>
            <a:spLocks noGrp="1"/>
          </p:cNvSpPr>
          <p:nvPr/>
        </p:nvSpPr>
        <p:spPr>
          <a:xfrm>
            <a:off x="3225165" y="2821781"/>
            <a:ext cx="567690" cy="19659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60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60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60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60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60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60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60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60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60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60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60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video_prefill</a:t>
            </a:r>
          </a:p>
        </p:txBody>
      </p:sp>
      <p:sp>
        <p:nvSpPr>
          <p:cNvPr id="208" name="矩形 207">
            <a:extLst>
              <a:ext uri="{FF2B5EF4-FFF2-40B4-BE49-F238E27FC236}">
                <a16:creationId xmlns:a16="http://schemas.microsoft.com/office/drawing/2014/main" id="{15A79261-1ECB-495A-88C1-648BC4146776}"/>
              </a:ext>
            </a:extLst>
          </p:cNvPr>
          <p:cNvSpPr>
            <a:spLocks noGrp="1"/>
          </p:cNvSpPr>
          <p:nvPr/>
        </p:nvSpPr>
        <p:spPr>
          <a:xfrm>
            <a:off x="3720751" y="2829973"/>
            <a:ext cx="1290161" cy="151543"/>
          </a:xfrm>
          <a:prstGeom prst="rect">
            <a:avLst/>
          </a:prstGeom>
          <a:solidFill>
            <a:srgbClr val="FFFFFF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58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58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58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58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58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58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58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58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58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58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09" name="1">
            <a:extLst>
              <a:ext uri="{FF2B5EF4-FFF2-40B4-BE49-F238E27FC236}">
                <a16:creationId xmlns:a16="http://schemas.microsoft.com/office/drawing/2014/main" id="{73D1BEA6-90BE-4804-8E23-C3DE3E87CB6F}"/>
              </a:ext>
            </a:extLst>
          </p:cNvPr>
          <p:cNvSpPr>
            <a:spLocks noGrp="1"/>
          </p:cNvSpPr>
          <p:nvPr/>
        </p:nvSpPr>
        <p:spPr>
          <a:xfrm>
            <a:off x="3737134" y="2842260"/>
            <a:ext cx="118777" cy="126968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548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10" name="×1">
            <a:extLst>
              <a:ext uri="{FF2B5EF4-FFF2-40B4-BE49-F238E27FC236}">
                <a16:creationId xmlns:a16="http://schemas.microsoft.com/office/drawing/2014/main" id="{79340516-DFBE-4708-A955-89BC95B8AEFF}"/>
              </a:ext>
            </a:extLst>
          </p:cNvPr>
          <p:cNvSpPr>
            <a:spLocks noGrp="1"/>
          </p:cNvSpPr>
          <p:nvPr/>
        </p:nvSpPr>
        <p:spPr>
          <a:xfrm>
            <a:off x="4982242" y="2834068"/>
            <a:ext cx="143351" cy="14744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×1</a:t>
            </a:r>
          </a:p>
        </p:txBody>
      </p:sp>
      <p:sp>
        <p:nvSpPr>
          <p:cNvPr id="211" name="action_step">
            <a:extLst>
              <a:ext uri="{FF2B5EF4-FFF2-40B4-BE49-F238E27FC236}">
                <a16:creationId xmlns:a16="http://schemas.microsoft.com/office/drawing/2014/main" id="{7150D410-5370-43E8-AFF1-9EFA315D2453}"/>
              </a:ext>
            </a:extLst>
          </p:cNvPr>
          <p:cNvSpPr>
            <a:spLocks noGrp="1"/>
          </p:cNvSpPr>
          <p:nvPr/>
        </p:nvSpPr>
        <p:spPr>
          <a:xfrm>
            <a:off x="3225165" y="3112579"/>
            <a:ext cx="567690" cy="19659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60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60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60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60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60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60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60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60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60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60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600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action_step</a:t>
            </a:r>
          </a:p>
        </p:txBody>
      </p:sp>
      <p:sp>
        <p:nvSpPr>
          <p:cNvPr id="212" name="矩形 211">
            <a:extLst>
              <a:ext uri="{FF2B5EF4-FFF2-40B4-BE49-F238E27FC236}">
                <a16:creationId xmlns:a16="http://schemas.microsoft.com/office/drawing/2014/main" id="{CDCF9956-288D-4B51-826B-3AE1D6A3D80E}"/>
              </a:ext>
            </a:extLst>
          </p:cNvPr>
          <p:cNvSpPr>
            <a:spLocks noGrp="1"/>
          </p:cNvSpPr>
          <p:nvPr/>
        </p:nvSpPr>
        <p:spPr>
          <a:xfrm>
            <a:off x="3720751" y="3120771"/>
            <a:ext cx="1290161" cy="151543"/>
          </a:xfrm>
          <a:prstGeom prst="rect">
            <a:avLst/>
          </a:prstGeom>
          <a:solidFill>
            <a:srgbClr val="FFFFFF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58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58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58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58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58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58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58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58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58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581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13" name="1">
            <a:extLst>
              <a:ext uri="{FF2B5EF4-FFF2-40B4-BE49-F238E27FC236}">
                <a16:creationId xmlns:a16="http://schemas.microsoft.com/office/drawing/2014/main" id="{A05EF3AE-5077-4697-A22F-B6578A412200}"/>
              </a:ext>
            </a:extLst>
          </p:cNvPr>
          <p:cNvSpPr>
            <a:spLocks noGrp="1"/>
          </p:cNvSpPr>
          <p:nvPr/>
        </p:nvSpPr>
        <p:spPr>
          <a:xfrm>
            <a:off x="3737134" y="3133058"/>
            <a:ext cx="118777" cy="126968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548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14" name="2">
            <a:extLst>
              <a:ext uri="{FF2B5EF4-FFF2-40B4-BE49-F238E27FC236}">
                <a16:creationId xmlns:a16="http://schemas.microsoft.com/office/drawing/2014/main" id="{4269024E-44C3-485A-AF99-A37141B4CFA1}"/>
              </a:ext>
            </a:extLst>
          </p:cNvPr>
          <p:cNvSpPr>
            <a:spLocks noGrp="1"/>
          </p:cNvSpPr>
          <p:nvPr/>
        </p:nvSpPr>
        <p:spPr>
          <a:xfrm>
            <a:off x="3860006" y="3133058"/>
            <a:ext cx="118777" cy="126968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548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15" name="3">
            <a:extLst>
              <a:ext uri="{FF2B5EF4-FFF2-40B4-BE49-F238E27FC236}">
                <a16:creationId xmlns:a16="http://schemas.microsoft.com/office/drawing/2014/main" id="{DDBB3933-88E7-47B3-933B-F42085B20371}"/>
              </a:ext>
            </a:extLst>
          </p:cNvPr>
          <p:cNvSpPr>
            <a:spLocks noGrp="1"/>
          </p:cNvSpPr>
          <p:nvPr/>
        </p:nvSpPr>
        <p:spPr>
          <a:xfrm>
            <a:off x="3982879" y="3133058"/>
            <a:ext cx="118777" cy="126968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548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6" name="4">
            <a:extLst>
              <a:ext uri="{FF2B5EF4-FFF2-40B4-BE49-F238E27FC236}">
                <a16:creationId xmlns:a16="http://schemas.microsoft.com/office/drawing/2014/main" id="{70BB1AFC-3B2F-4D3C-BD6B-CCB4C0E7F3A1}"/>
              </a:ext>
            </a:extLst>
          </p:cNvPr>
          <p:cNvSpPr>
            <a:spLocks noGrp="1"/>
          </p:cNvSpPr>
          <p:nvPr/>
        </p:nvSpPr>
        <p:spPr>
          <a:xfrm>
            <a:off x="4105751" y="3133058"/>
            <a:ext cx="118777" cy="126968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548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17" name="5">
            <a:extLst>
              <a:ext uri="{FF2B5EF4-FFF2-40B4-BE49-F238E27FC236}">
                <a16:creationId xmlns:a16="http://schemas.microsoft.com/office/drawing/2014/main" id="{8F62242B-BE46-49C5-B22D-6A40E181840B}"/>
              </a:ext>
            </a:extLst>
          </p:cNvPr>
          <p:cNvSpPr>
            <a:spLocks noGrp="1"/>
          </p:cNvSpPr>
          <p:nvPr/>
        </p:nvSpPr>
        <p:spPr>
          <a:xfrm>
            <a:off x="4228624" y="3133058"/>
            <a:ext cx="118777" cy="126968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548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18" name="6">
            <a:extLst>
              <a:ext uri="{FF2B5EF4-FFF2-40B4-BE49-F238E27FC236}">
                <a16:creationId xmlns:a16="http://schemas.microsoft.com/office/drawing/2014/main" id="{6C6DC703-5BBC-4B34-BC79-19141C4427E7}"/>
              </a:ext>
            </a:extLst>
          </p:cNvPr>
          <p:cNvSpPr>
            <a:spLocks noGrp="1"/>
          </p:cNvSpPr>
          <p:nvPr/>
        </p:nvSpPr>
        <p:spPr>
          <a:xfrm>
            <a:off x="4351496" y="3133058"/>
            <a:ext cx="118777" cy="126968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548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19" name="7">
            <a:extLst>
              <a:ext uri="{FF2B5EF4-FFF2-40B4-BE49-F238E27FC236}">
                <a16:creationId xmlns:a16="http://schemas.microsoft.com/office/drawing/2014/main" id="{21D72700-2EF3-43A8-ADF9-2EC14EA4A3B6}"/>
              </a:ext>
            </a:extLst>
          </p:cNvPr>
          <p:cNvSpPr>
            <a:spLocks noGrp="1"/>
          </p:cNvSpPr>
          <p:nvPr/>
        </p:nvSpPr>
        <p:spPr>
          <a:xfrm>
            <a:off x="4474369" y="3133058"/>
            <a:ext cx="118777" cy="126968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548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220" name="8">
            <a:extLst>
              <a:ext uri="{FF2B5EF4-FFF2-40B4-BE49-F238E27FC236}">
                <a16:creationId xmlns:a16="http://schemas.microsoft.com/office/drawing/2014/main" id="{DDD45031-1539-4DC3-A735-D5042A8EEEC2}"/>
              </a:ext>
            </a:extLst>
          </p:cNvPr>
          <p:cNvSpPr>
            <a:spLocks noGrp="1"/>
          </p:cNvSpPr>
          <p:nvPr/>
        </p:nvSpPr>
        <p:spPr>
          <a:xfrm>
            <a:off x="4597241" y="3133058"/>
            <a:ext cx="118777" cy="126968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548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221" name="9">
            <a:extLst>
              <a:ext uri="{FF2B5EF4-FFF2-40B4-BE49-F238E27FC236}">
                <a16:creationId xmlns:a16="http://schemas.microsoft.com/office/drawing/2014/main" id="{D3E3D35F-8C15-4BC8-964D-F11AD88FDAE7}"/>
              </a:ext>
            </a:extLst>
          </p:cNvPr>
          <p:cNvSpPr>
            <a:spLocks noGrp="1"/>
          </p:cNvSpPr>
          <p:nvPr/>
        </p:nvSpPr>
        <p:spPr>
          <a:xfrm>
            <a:off x="4720114" y="3133058"/>
            <a:ext cx="118777" cy="126968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548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222" name="10">
            <a:extLst>
              <a:ext uri="{FF2B5EF4-FFF2-40B4-BE49-F238E27FC236}">
                <a16:creationId xmlns:a16="http://schemas.microsoft.com/office/drawing/2014/main" id="{0E66E920-7209-4B73-BAAC-4A1B52494360}"/>
              </a:ext>
            </a:extLst>
          </p:cNvPr>
          <p:cNvSpPr>
            <a:spLocks noGrp="1"/>
          </p:cNvSpPr>
          <p:nvPr/>
        </p:nvSpPr>
        <p:spPr>
          <a:xfrm>
            <a:off x="4842986" y="3133058"/>
            <a:ext cx="118777" cy="126968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548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548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223" name="×10">
            <a:extLst>
              <a:ext uri="{FF2B5EF4-FFF2-40B4-BE49-F238E27FC236}">
                <a16:creationId xmlns:a16="http://schemas.microsoft.com/office/drawing/2014/main" id="{828EB85A-E6FB-4A62-B935-752C5DD9E709}"/>
              </a:ext>
            </a:extLst>
          </p:cNvPr>
          <p:cNvSpPr>
            <a:spLocks noGrp="1"/>
          </p:cNvSpPr>
          <p:nvPr/>
        </p:nvSpPr>
        <p:spPr>
          <a:xfrm>
            <a:off x="4982242" y="3124867"/>
            <a:ext cx="143351" cy="14744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×10</a:t>
            </a:r>
          </a:p>
        </p:txBody>
      </p:sp>
      <p:sp>
        <p:nvSpPr>
          <p:cNvPr id="224" name="decode  |  GEMM  |  attention">
            <a:extLst>
              <a:ext uri="{FF2B5EF4-FFF2-40B4-BE49-F238E27FC236}">
                <a16:creationId xmlns:a16="http://schemas.microsoft.com/office/drawing/2014/main" id="{A48CF247-79CF-44EB-98D1-BA24DD1FC4E4}"/>
              </a:ext>
            </a:extLst>
          </p:cNvPr>
          <p:cNvSpPr>
            <a:spLocks noGrp="1"/>
          </p:cNvSpPr>
          <p:nvPr/>
        </p:nvSpPr>
        <p:spPr>
          <a:xfrm>
            <a:off x="3614261" y="3460718"/>
            <a:ext cx="1417130" cy="139256"/>
          </a:xfrm>
          <a:prstGeom prst="rect">
            <a:avLst/>
          </a:prstGeom>
          <a:solidFill>
            <a:srgbClr val="F9E2C4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64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45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decode  |  GEMM  |  attention</a:t>
            </a:r>
          </a:p>
        </p:txBody>
      </p:sp>
      <p:sp>
        <p:nvSpPr>
          <p:cNvPr id="225" name="5,258 target Linear calls / query">
            <a:extLst>
              <a:ext uri="{FF2B5EF4-FFF2-40B4-BE49-F238E27FC236}">
                <a16:creationId xmlns:a16="http://schemas.microsoft.com/office/drawing/2014/main" id="{C5D1394A-0F10-4CDD-B837-5143ECDC9BC1}"/>
              </a:ext>
            </a:extLst>
          </p:cNvPr>
          <p:cNvSpPr>
            <a:spLocks noGrp="1"/>
          </p:cNvSpPr>
          <p:nvPr/>
        </p:nvSpPr>
        <p:spPr>
          <a:xfrm>
            <a:off x="3266123" y="3726942"/>
            <a:ext cx="1802130" cy="14335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774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74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74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74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74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74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74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74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74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74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774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774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5,258 target Linear calls / query</a:t>
            </a:r>
          </a:p>
        </p:txBody>
      </p:sp>
      <p:sp>
        <p:nvSpPr>
          <p:cNvPr id="226" name="10 video + 1 prefill + 10 action replays">
            <a:extLst>
              <a:ext uri="{FF2B5EF4-FFF2-40B4-BE49-F238E27FC236}">
                <a16:creationId xmlns:a16="http://schemas.microsoft.com/office/drawing/2014/main" id="{11157A06-CF5F-4A83-82B5-F28A922E85CB}"/>
              </a:ext>
            </a:extLst>
          </p:cNvPr>
          <p:cNvSpPr>
            <a:spLocks noGrp="1"/>
          </p:cNvSpPr>
          <p:nvPr/>
        </p:nvSpPr>
        <p:spPr>
          <a:xfrm>
            <a:off x="3245644" y="3870293"/>
            <a:ext cx="1843088" cy="1105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581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defPPr>
            <a:lvl1pPr algn="ctr">
              <a:defRPr sz="581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1pPr>
            <a:lvl2pPr algn="ctr">
              <a:defRPr sz="581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2pPr>
            <a:lvl3pPr algn="ctr">
              <a:defRPr sz="581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3pPr>
            <a:lvl4pPr algn="ctr">
              <a:defRPr sz="581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4pPr>
            <a:lvl5pPr algn="ctr">
              <a:defRPr sz="581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5pPr>
            <a:lvl6pPr algn="ctr">
              <a:defRPr sz="581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6pPr>
            <a:lvl7pPr algn="ctr">
              <a:defRPr sz="581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7pPr>
            <a:lvl8pPr algn="ctr">
              <a:defRPr sz="581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8pPr>
            <a:lvl9pPr algn="ctr">
              <a:defRPr sz="581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581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pPr>
            <a:r>
              <a:rPr sz="581" b="0">
                <a:solidFill>
                  <a:srgbClr val="5D6773"/>
                </a:solidFill>
                <a:latin typeface="Arial"/>
                <a:ea typeface="Arial"/>
                <a:cs typeface="Arial"/>
              </a:rPr>
              <a:t>10 video + 1 prefill + 10 action replays</a:t>
            </a:r>
          </a:p>
        </p:txBody>
      </p:sp>
      <p:sp>
        <p:nvSpPr>
          <p:cNvPr id="227" name="Outputs">
            <a:extLst>
              <a:ext uri="{FF2B5EF4-FFF2-40B4-BE49-F238E27FC236}">
                <a16:creationId xmlns:a16="http://schemas.microsoft.com/office/drawing/2014/main" id="{37B1639C-461F-411B-A3A5-EEF21511565D}"/>
              </a:ext>
            </a:extLst>
          </p:cNvPr>
          <p:cNvSpPr>
            <a:spLocks noGrp="1"/>
          </p:cNvSpPr>
          <p:nvPr/>
        </p:nvSpPr>
        <p:spPr>
          <a:xfrm>
            <a:off x="3212878" y="4062794"/>
            <a:ext cx="1843088" cy="11877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742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742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Outputs</a:t>
            </a:r>
          </a:p>
        </p:txBody>
      </p:sp>
      <p:sp>
        <p:nvSpPr>
          <p:cNvPr id="228" name="矩形 227">
            <a:extLst>
              <a:ext uri="{FF2B5EF4-FFF2-40B4-BE49-F238E27FC236}">
                <a16:creationId xmlns:a16="http://schemas.microsoft.com/office/drawing/2014/main" id="{26A41611-F394-427D-AB44-AED958313D90}"/>
              </a:ext>
            </a:extLst>
          </p:cNvPr>
          <p:cNvSpPr>
            <a:spLocks noGrp="1"/>
          </p:cNvSpPr>
          <p:nvPr/>
        </p:nvSpPr>
        <p:spPr>
          <a:xfrm>
            <a:off x="3286601" y="4296251"/>
            <a:ext cx="70037" cy="54610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29" name="矩形 228">
            <a:extLst>
              <a:ext uri="{FF2B5EF4-FFF2-40B4-BE49-F238E27FC236}">
                <a16:creationId xmlns:a16="http://schemas.microsoft.com/office/drawing/2014/main" id="{8FC25D7E-1081-49D1-9E63-EA05CB5682EE}"/>
              </a:ext>
            </a:extLst>
          </p:cNvPr>
          <p:cNvSpPr>
            <a:spLocks noGrp="1"/>
          </p:cNvSpPr>
          <p:nvPr/>
        </p:nvSpPr>
        <p:spPr>
          <a:xfrm>
            <a:off x="3356639" y="4296251"/>
            <a:ext cx="70037" cy="54610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30" name="矩形 229">
            <a:extLst>
              <a:ext uri="{FF2B5EF4-FFF2-40B4-BE49-F238E27FC236}">
                <a16:creationId xmlns:a16="http://schemas.microsoft.com/office/drawing/2014/main" id="{9CE9D00D-4E94-48FB-B4E6-B68B59EF452D}"/>
              </a:ext>
            </a:extLst>
          </p:cNvPr>
          <p:cNvSpPr>
            <a:spLocks noGrp="1"/>
          </p:cNvSpPr>
          <p:nvPr/>
        </p:nvSpPr>
        <p:spPr>
          <a:xfrm>
            <a:off x="3426676" y="4296251"/>
            <a:ext cx="70037" cy="54610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31" name="矩形 230">
            <a:extLst>
              <a:ext uri="{FF2B5EF4-FFF2-40B4-BE49-F238E27FC236}">
                <a16:creationId xmlns:a16="http://schemas.microsoft.com/office/drawing/2014/main" id="{3D52F686-AF44-472B-BA6E-CDB0DE892567}"/>
              </a:ext>
            </a:extLst>
          </p:cNvPr>
          <p:cNvSpPr>
            <a:spLocks noGrp="1"/>
          </p:cNvSpPr>
          <p:nvPr/>
        </p:nvSpPr>
        <p:spPr>
          <a:xfrm>
            <a:off x="3496713" y="4296251"/>
            <a:ext cx="70037" cy="54610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32" name="矩形 231">
            <a:extLst>
              <a:ext uri="{FF2B5EF4-FFF2-40B4-BE49-F238E27FC236}">
                <a16:creationId xmlns:a16="http://schemas.microsoft.com/office/drawing/2014/main" id="{32720024-3A73-43A6-A878-B76660E00D5E}"/>
              </a:ext>
            </a:extLst>
          </p:cNvPr>
          <p:cNvSpPr>
            <a:spLocks noGrp="1"/>
          </p:cNvSpPr>
          <p:nvPr/>
        </p:nvSpPr>
        <p:spPr>
          <a:xfrm>
            <a:off x="3566751" y="4296251"/>
            <a:ext cx="70037" cy="54610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33" name="矩形 232">
            <a:extLst>
              <a:ext uri="{FF2B5EF4-FFF2-40B4-BE49-F238E27FC236}">
                <a16:creationId xmlns:a16="http://schemas.microsoft.com/office/drawing/2014/main" id="{BF38B1ED-B07A-488A-B629-9F6DB7F41233}"/>
              </a:ext>
            </a:extLst>
          </p:cNvPr>
          <p:cNvSpPr>
            <a:spLocks noGrp="1"/>
          </p:cNvSpPr>
          <p:nvPr/>
        </p:nvSpPr>
        <p:spPr>
          <a:xfrm>
            <a:off x="3636788" y="4296251"/>
            <a:ext cx="70037" cy="54610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34" name="矩形 233">
            <a:extLst>
              <a:ext uri="{FF2B5EF4-FFF2-40B4-BE49-F238E27FC236}">
                <a16:creationId xmlns:a16="http://schemas.microsoft.com/office/drawing/2014/main" id="{C26A16BB-7CDD-4065-BFCD-49C481E1D36E}"/>
              </a:ext>
            </a:extLst>
          </p:cNvPr>
          <p:cNvSpPr>
            <a:spLocks noGrp="1"/>
          </p:cNvSpPr>
          <p:nvPr/>
        </p:nvSpPr>
        <p:spPr>
          <a:xfrm>
            <a:off x="3706825" y="4296251"/>
            <a:ext cx="70037" cy="54610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35" name="矩形 234">
            <a:extLst>
              <a:ext uri="{FF2B5EF4-FFF2-40B4-BE49-F238E27FC236}">
                <a16:creationId xmlns:a16="http://schemas.microsoft.com/office/drawing/2014/main" id="{8169D134-6A33-4403-9821-9B9ABB5B03FC}"/>
              </a:ext>
            </a:extLst>
          </p:cNvPr>
          <p:cNvSpPr>
            <a:spLocks noGrp="1"/>
          </p:cNvSpPr>
          <p:nvPr/>
        </p:nvSpPr>
        <p:spPr>
          <a:xfrm>
            <a:off x="3776863" y="4296251"/>
            <a:ext cx="70037" cy="54610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36" name="矩形 235">
            <a:extLst>
              <a:ext uri="{FF2B5EF4-FFF2-40B4-BE49-F238E27FC236}">
                <a16:creationId xmlns:a16="http://schemas.microsoft.com/office/drawing/2014/main" id="{7DEDC20C-13C9-4FD5-9A7C-529CB5DEFF53}"/>
              </a:ext>
            </a:extLst>
          </p:cNvPr>
          <p:cNvSpPr>
            <a:spLocks noGrp="1"/>
          </p:cNvSpPr>
          <p:nvPr/>
        </p:nvSpPr>
        <p:spPr>
          <a:xfrm>
            <a:off x="3846900" y="4296251"/>
            <a:ext cx="70037" cy="54610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37" name="矩形 236">
            <a:extLst>
              <a:ext uri="{FF2B5EF4-FFF2-40B4-BE49-F238E27FC236}">
                <a16:creationId xmlns:a16="http://schemas.microsoft.com/office/drawing/2014/main" id="{99A7D891-9905-4D56-8A17-9F87408FC286}"/>
              </a:ext>
            </a:extLst>
          </p:cNvPr>
          <p:cNvSpPr>
            <a:spLocks noGrp="1"/>
          </p:cNvSpPr>
          <p:nvPr/>
        </p:nvSpPr>
        <p:spPr>
          <a:xfrm>
            <a:off x="3916937" y="4296251"/>
            <a:ext cx="70037" cy="54610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38" name="矩形 237">
            <a:extLst>
              <a:ext uri="{FF2B5EF4-FFF2-40B4-BE49-F238E27FC236}">
                <a16:creationId xmlns:a16="http://schemas.microsoft.com/office/drawing/2014/main" id="{2F058D62-B81E-4169-B6E8-CF2D1A4A8D95}"/>
              </a:ext>
            </a:extLst>
          </p:cNvPr>
          <p:cNvSpPr>
            <a:spLocks noGrp="1"/>
          </p:cNvSpPr>
          <p:nvPr/>
        </p:nvSpPr>
        <p:spPr>
          <a:xfrm>
            <a:off x="3286601" y="4350861"/>
            <a:ext cx="70037" cy="54610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39" name="矩形 238">
            <a:extLst>
              <a:ext uri="{FF2B5EF4-FFF2-40B4-BE49-F238E27FC236}">
                <a16:creationId xmlns:a16="http://schemas.microsoft.com/office/drawing/2014/main" id="{E9D00EFB-F1F5-42B6-A179-1B68C9D5A7CC}"/>
              </a:ext>
            </a:extLst>
          </p:cNvPr>
          <p:cNvSpPr>
            <a:spLocks noGrp="1"/>
          </p:cNvSpPr>
          <p:nvPr/>
        </p:nvSpPr>
        <p:spPr>
          <a:xfrm>
            <a:off x="3356639" y="4350861"/>
            <a:ext cx="70037" cy="54610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40" name="矩形 239">
            <a:extLst>
              <a:ext uri="{FF2B5EF4-FFF2-40B4-BE49-F238E27FC236}">
                <a16:creationId xmlns:a16="http://schemas.microsoft.com/office/drawing/2014/main" id="{4767ABAD-1D43-4B83-B07F-B86B3446BE15}"/>
              </a:ext>
            </a:extLst>
          </p:cNvPr>
          <p:cNvSpPr>
            <a:spLocks noGrp="1"/>
          </p:cNvSpPr>
          <p:nvPr/>
        </p:nvSpPr>
        <p:spPr>
          <a:xfrm>
            <a:off x="3426676" y="4350861"/>
            <a:ext cx="70037" cy="54610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41" name="矩形 240">
            <a:extLst>
              <a:ext uri="{FF2B5EF4-FFF2-40B4-BE49-F238E27FC236}">
                <a16:creationId xmlns:a16="http://schemas.microsoft.com/office/drawing/2014/main" id="{1018299B-B24B-4A43-BC38-4136782C5451}"/>
              </a:ext>
            </a:extLst>
          </p:cNvPr>
          <p:cNvSpPr>
            <a:spLocks noGrp="1"/>
          </p:cNvSpPr>
          <p:nvPr/>
        </p:nvSpPr>
        <p:spPr>
          <a:xfrm>
            <a:off x="3496713" y="4350861"/>
            <a:ext cx="70037" cy="54610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42" name="矩形 241">
            <a:extLst>
              <a:ext uri="{FF2B5EF4-FFF2-40B4-BE49-F238E27FC236}">
                <a16:creationId xmlns:a16="http://schemas.microsoft.com/office/drawing/2014/main" id="{9D762119-E78F-4153-8BB1-4168DF414C60}"/>
              </a:ext>
            </a:extLst>
          </p:cNvPr>
          <p:cNvSpPr>
            <a:spLocks noGrp="1"/>
          </p:cNvSpPr>
          <p:nvPr/>
        </p:nvSpPr>
        <p:spPr>
          <a:xfrm>
            <a:off x="3566751" y="4350861"/>
            <a:ext cx="70037" cy="54610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43" name="矩形 242">
            <a:extLst>
              <a:ext uri="{FF2B5EF4-FFF2-40B4-BE49-F238E27FC236}">
                <a16:creationId xmlns:a16="http://schemas.microsoft.com/office/drawing/2014/main" id="{C879A03A-F546-4AD8-8095-CFA0A1B0CEF4}"/>
              </a:ext>
            </a:extLst>
          </p:cNvPr>
          <p:cNvSpPr>
            <a:spLocks noGrp="1"/>
          </p:cNvSpPr>
          <p:nvPr/>
        </p:nvSpPr>
        <p:spPr>
          <a:xfrm>
            <a:off x="3636788" y="4350861"/>
            <a:ext cx="70037" cy="54610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44" name="矩形 243">
            <a:extLst>
              <a:ext uri="{FF2B5EF4-FFF2-40B4-BE49-F238E27FC236}">
                <a16:creationId xmlns:a16="http://schemas.microsoft.com/office/drawing/2014/main" id="{0F174D11-6828-4FB2-A8AA-9F5F613A112B}"/>
              </a:ext>
            </a:extLst>
          </p:cNvPr>
          <p:cNvSpPr>
            <a:spLocks noGrp="1"/>
          </p:cNvSpPr>
          <p:nvPr/>
        </p:nvSpPr>
        <p:spPr>
          <a:xfrm>
            <a:off x="3706825" y="4350861"/>
            <a:ext cx="70037" cy="54610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45" name="矩形 244">
            <a:extLst>
              <a:ext uri="{FF2B5EF4-FFF2-40B4-BE49-F238E27FC236}">
                <a16:creationId xmlns:a16="http://schemas.microsoft.com/office/drawing/2014/main" id="{00A10207-BEB2-4A3E-BEFD-E2AD9FDDD4AD}"/>
              </a:ext>
            </a:extLst>
          </p:cNvPr>
          <p:cNvSpPr>
            <a:spLocks noGrp="1"/>
          </p:cNvSpPr>
          <p:nvPr/>
        </p:nvSpPr>
        <p:spPr>
          <a:xfrm>
            <a:off x="3776863" y="4350861"/>
            <a:ext cx="70037" cy="54610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46" name="矩形 245">
            <a:extLst>
              <a:ext uri="{FF2B5EF4-FFF2-40B4-BE49-F238E27FC236}">
                <a16:creationId xmlns:a16="http://schemas.microsoft.com/office/drawing/2014/main" id="{318051AF-E90F-4829-B8C5-BDAAB1A72E27}"/>
              </a:ext>
            </a:extLst>
          </p:cNvPr>
          <p:cNvSpPr>
            <a:spLocks noGrp="1"/>
          </p:cNvSpPr>
          <p:nvPr/>
        </p:nvSpPr>
        <p:spPr>
          <a:xfrm>
            <a:off x="3846900" y="4350861"/>
            <a:ext cx="70037" cy="54610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47" name="矩形 246">
            <a:extLst>
              <a:ext uri="{FF2B5EF4-FFF2-40B4-BE49-F238E27FC236}">
                <a16:creationId xmlns:a16="http://schemas.microsoft.com/office/drawing/2014/main" id="{2B131984-41B6-4E5D-B000-C789AF8B8E2D}"/>
              </a:ext>
            </a:extLst>
          </p:cNvPr>
          <p:cNvSpPr>
            <a:spLocks noGrp="1"/>
          </p:cNvSpPr>
          <p:nvPr/>
        </p:nvSpPr>
        <p:spPr>
          <a:xfrm>
            <a:off x="3916937" y="4350861"/>
            <a:ext cx="70037" cy="54610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48" name="矩形 247">
            <a:extLst>
              <a:ext uri="{FF2B5EF4-FFF2-40B4-BE49-F238E27FC236}">
                <a16:creationId xmlns:a16="http://schemas.microsoft.com/office/drawing/2014/main" id="{E4F9376F-CF81-4A8D-8BA1-C94EA3E9DEE1}"/>
              </a:ext>
            </a:extLst>
          </p:cNvPr>
          <p:cNvSpPr>
            <a:spLocks noGrp="1"/>
          </p:cNvSpPr>
          <p:nvPr/>
        </p:nvSpPr>
        <p:spPr>
          <a:xfrm>
            <a:off x="3286601" y="4405471"/>
            <a:ext cx="70037" cy="54610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49" name="矩形 248">
            <a:extLst>
              <a:ext uri="{FF2B5EF4-FFF2-40B4-BE49-F238E27FC236}">
                <a16:creationId xmlns:a16="http://schemas.microsoft.com/office/drawing/2014/main" id="{F6CC892E-AD51-4222-B514-116099F0B1B3}"/>
              </a:ext>
            </a:extLst>
          </p:cNvPr>
          <p:cNvSpPr>
            <a:spLocks noGrp="1"/>
          </p:cNvSpPr>
          <p:nvPr/>
        </p:nvSpPr>
        <p:spPr>
          <a:xfrm>
            <a:off x="3356639" y="4405471"/>
            <a:ext cx="70037" cy="54610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50" name="矩形 249">
            <a:extLst>
              <a:ext uri="{FF2B5EF4-FFF2-40B4-BE49-F238E27FC236}">
                <a16:creationId xmlns:a16="http://schemas.microsoft.com/office/drawing/2014/main" id="{11E69FFC-F0B8-4A77-8A5C-16D7E0A8BCF7}"/>
              </a:ext>
            </a:extLst>
          </p:cNvPr>
          <p:cNvSpPr>
            <a:spLocks noGrp="1"/>
          </p:cNvSpPr>
          <p:nvPr/>
        </p:nvSpPr>
        <p:spPr>
          <a:xfrm>
            <a:off x="3426676" y="4405471"/>
            <a:ext cx="70037" cy="54610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51" name="矩形 250">
            <a:extLst>
              <a:ext uri="{FF2B5EF4-FFF2-40B4-BE49-F238E27FC236}">
                <a16:creationId xmlns:a16="http://schemas.microsoft.com/office/drawing/2014/main" id="{206ED5E0-F367-4975-A56D-10A472CBBAB9}"/>
              </a:ext>
            </a:extLst>
          </p:cNvPr>
          <p:cNvSpPr>
            <a:spLocks noGrp="1"/>
          </p:cNvSpPr>
          <p:nvPr/>
        </p:nvSpPr>
        <p:spPr>
          <a:xfrm>
            <a:off x="3496713" y="4405471"/>
            <a:ext cx="70037" cy="54610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52" name="矩形 251">
            <a:extLst>
              <a:ext uri="{FF2B5EF4-FFF2-40B4-BE49-F238E27FC236}">
                <a16:creationId xmlns:a16="http://schemas.microsoft.com/office/drawing/2014/main" id="{0CD3705A-3F59-4E72-9789-0FF7EBE2D3AD}"/>
              </a:ext>
            </a:extLst>
          </p:cNvPr>
          <p:cNvSpPr>
            <a:spLocks noGrp="1"/>
          </p:cNvSpPr>
          <p:nvPr/>
        </p:nvSpPr>
        <p:spPr>
          <a:xfrm>
            <a:off x="3566751" y="4405471"/>
            <a:ext cx="70037" cy="54610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53" name="矩形 252">
            <a:extLst>
              <a:ext uri="{FF2B5EF4-FFF2-40B4-BE49-F238E27FC236}">
                <a16:creationId xmlns:a16="http://schemas.microsoft.com/office/drawing/2014/main" id="{457C6B43-AB00-4372-8363-7FEFBCC4F5F7}"/>
              </a:ext>
            </a:extLst>
          </p:cNvPr>
          <p:cNvSpPr>
            <a:spLocks noGrp="1"/>
          </p:cNvSpPr>
          <p:nvPr/>
        </p:nvSpPr>
        <p:spPr>
          <a:xfrm>
            <a:off x="3636788" y="4405471"/>
            <a:ext cx="70037" cy="54610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54" name="矩形 253">
            <a:extLst>
              <a:ext uri="{FF2B5EF4-FFF2-40B4-BE49-F238E27FC236}">
                <a16:creationId xmlns:a16="http://schemas.microsoft.com/office/drawing/2014/main" id="{56DB53A2-C5A4-4B89-AB3D-5CD3B2B3CC0D}"/>
              </a:ext>
            </a:extLst>
          </p:cNvPr>
          <p:cNvSpPr>
            <a:spLocks noGrp="1"/>
          </p:cNvSpPr>
          <p:nvPr/>
        </p:nvSpPr>
        <p:spPr>
          <a:xfrm>
            <a:off x="3706825" y="4405471"/>
            <a:ext cx="70037" cy="54610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55" name="矩形 254">
            <a:extLst>
              <a:ext uri="{FF2B5EF4-FFF2-40B4-BE49-F238E27FC236}">
                <a16:creationId xmlns:a16="http://schemas.microsoft.com/office/drawing/2014/main" id="{A716930F-E32E-4D4C-BEEB-0D7E70199A8B}"/>
              </a:ext>
            </a:extLst>
          </p:cNvPr>
          <p:cNvSpPr>
            <a:spLocks noGrp="1"/>
          </p:cNvSpPr>
          <p:nvPr/>
        </p:nvSpPr>
        <p:spPr>
          <a:xfrm>
            <a:off x="3776863" y="4405471"/>
            <a:ext cx="70037" cy="54610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56" name="矩形 255">
            <a:extLst>
              <a:ext uri="{FF2B5EF4-FFF2-40B4-BE49-F238E27FC236}">
                <a16:creationId xmlns:a16="http://schemas.microsoft.com/office/drawing/2014/main" id="{61B7B1C1-AC32-402A-B43C-317036CEBB62}"/>
              </a:ext>
            </a:extLst>
          </p:cNvPr>
          <p:cNvSpPr>
            <a:spLocks noGrp="1"/>
          </p:cNvSpPr>
          <p:nvPr/>
        </p:nvSpPr>
        <p:spPr>
          <a:xfrm>
            <a:off x="3846900" y="4405471"/>
            <a:ext cx="70037" cy="54610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57" name="矩形 256">
            <a:extLst>
              <a:ext uri="{FF2B5EF4-FFF2-40B4-BE49-F238E27FC236}">
                <a16:creationId xmlns:a16="http://schemas.microsoft.com/office/drawing/2014/main" id="{572A2723-DC02-43C0-8990-D3B5B7719EFF}"/>
              </a:ext>
            </a:extLst>
          </p:cNvPr>
          <p:cNvSpPr>
            <a:spLocks noGrp="1"/>
          </p:cNvSpPr>
          <p:nvPr/>
        </p:nvSpPr>
        <p:spPr>
          <a:xfrm>
            <a:off x="3916937" y="4405471"/>
            <a:ext cx="70037" cy="54610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58" name="32 × 7 action">
            <a:extLst>
              <a:ext uri="{FF2B5EF4-FFF2-40B4-BE49-F238E27FC236}">
                <a16:creationId xmlns:a16="http://schemas.microsoft.com/office/drawing/2014/main" id="{811E1583-0FB7-4A6B-B217-AE91220D1308}"/>
              </a:ext>
            </a:extLst>
          </p:cNvPr>
          <p:cNvSpPr>
            <a:spLocks noGrp="1"/>
          </p:cNvSpPr>
          <p:nvPr/>
        </p:nvSpPr>
        <p:spPr>
          <a:xfrm>
            <a:off x="3286601" y="4173379"/>
            <a:ext cx="700373" cy="1105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77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32 × 7 action</a:t>
            </a:r>
          </a:p>
        </p:txBody>
      </p:sp>
      <p:sp>
        <p:nvSpPr>
          <p:cNvPr id="259" name="矩形 258">
            <a:extLst>
              <a:ext uri="{FF2B5EF4-FFF2-40B4-BE49-F238E27FC236}">
                <a16:creationId xmlns:a16="http://schemas.microsoft.com/office/drawing/2014/main" id="{0C299C5D-31DD-432E-8C06-C2A7B61F72F7}"/>
              </a:ext>
            </a:extLst>
          </p:cNvPr>
          <p:cNvSpPr>
            <a:spLocks noGrp="1"/>
          </p:cNvSpPr>
          <p:nvPr/>
        </p:nvSpPr>
        <p:spPr>
          <a:xfrm>
            <a:off x="3286601" y="4296251"/>
            <a:ext cx="700373" cy="163830"/>
          </a:xfrm>
          <a:prstGeom prst="rect">
            <a:avLst/>
          </a:prstGeom>
          <a:noFill/>
          <a:ln w="7620">
            <a:noFill/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60" name="矩形 259">
            <a:extLst>
              <a:ext uri="{FF2B5EF4-FFF2-40B4-BE49-F238E27FC236}">
                <a16:creationId xmlns:a16="http://schemas.microsoft.com/office/drawing/2014/main" id="{588D3EDA-2958-47B0-8F40-CFB18725AC1E}"/>
              </a:ext>
            </a:extLst>
          </p:cNvPr>
          <p:cNvSpPr>
            <a:spLocks noGrp="1"/>
          </p:cNvSpPr>
          <p:nvPr/>
        </p:nvSpPr>
        <p:spPr>
          <a:xfrm>
            <a:off x="4273677" y="4296251"/>
            <a:ext cx="70037" cy="54610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61" name="矩形 260">
            <a:extLst>
              <a:ext uri="{FF2B5EF4-FFF2-40B4-BE49-F238E27FC236}">
                <a16:creationId xmlns:a16="http://schemas.microsoft.com/office/drawing/2014/main" id="{64D7A120-2A47-40D3-9AAC-1CFD3894CDEB}"/>
              </a:ext>
            </a:extLst>
          </p:cNvPr>
          <p:cNvSpPr>
            <a:spLocks noGrp="1"/>
          </p:cNvSpPr>
          <p:nvPr/>
        </p:nvSpPr>
        <p:spPr>
          <a:xfrm>
            <a:off x="4343714" y="4296251"/>
            <a:ext cx="70037" cy="54610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62" name="矩形 261">
            <a:extLst>
              <a:ext uri="{FF2B5EF4-FFF2-40B4-BE49-F238E27FC236}">
                <a16:creationId xmlns:a16="http://schemas.microsoft.com/office/drawing/2014/main" id="{EFF50A31-8A3B-488D-8A9F-F214B8C73947}"/>
              </a:ext>
            </a:extLst>
          </p:cNvPr>
          <p:cNvSpPr>
            <a:spLocks noGrp="1"/>
          </p:cNvSpPr>
          <p:nvPr/>
        </p:nvSpPr>
        <p:spPr>
          <a:xfrm>
            <a:off x="4413752" y="4296251"/>
            <a:ext cx="70037" cy="54610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63" name="矩形 262">
            <a:extLst>
              <a:ext uri="{FF2B5EF4-FFF2-40B4-BE49-F238E27FC236}">
                <a16:creationId xmlns:a16="http://schemas.microsoft.com/office/drawing/2014/main" id="{8E4AB094-AB59-4F0E-93EF-128ADA4291A9}"/>
              </a:ext>
            </a:extLst>
          </p:cNvPr>
          <p:cNvSpPr>
            <a:spLocks noGrp="1"/>
          </p:cNvSpPr>
          <p:nvPr/>
        </p:nvSpPr>
        <p:spPr>
          <a:xfrm>
            <a:off x="4483789" y="4296251"/>
            <a:ext cx="70037" cy="54610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64" name="矩形 263">
            <a:extLst>
              <a:ext uri="{FF2B5EF4-FFF2-40B4-BE49-F238E27FC236}">
                <a16:creationId xmlns:a16="http://schemas.microsoft.com/office/drawing/2014/main" id="{06FC5F27-3635-49D2-9AF6-A937037CD93A}"/>
              </a:ext>
            </a:extLst>
          </p:cNvPr>
          <p:cNvSpPr>
            <a:spLocks noGrp="1"/>
          </p:cNvSpPr>
          <p:nvPr/>
        </p:nvSpPr>
        <p:spPr>
          <a:xfrm>
            <a:off x="4553826" y="4296251"/>
            <a:ext cx="70037" cy="54610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65" name="矩形 264">
            <a:extLst>
              <a:ext uri="{FF2B5EF4-FFF2-40B4-BE49-F238E27FC236}">
                <a16:creationId xmlns:a16="http://schemas.microsoft.com/office/drawing/2014/main" id="{B72A9549-7E31-41AA-BE8A-E1C61A86C553}"/>
              </a:ext>
            </a:extLst>
          </p:cNvPr>
          <p:cNvSpPr>
            <a:spLocks noGrp="1"/>
          </p:cNvSpPr>
          <p:nvPr/>
        </p:nvSpPr>
        <p:spPr>
          <a:xfrm>
            <a:off x="4623864" y="4296251"/>
            <a:ext cx="70037" cy="54610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66" name="矩形 265">
            <a:extLst>
              <a:ext uri="{FF2B5EF4-FFF2-40B4-BE49-F238E27FC236}">
                <a16:creationId xmlns:a16="http://schemas.microsoft.com/office/drawing/2014/main" id="{8100430F-1F8A-4D50-AABF-C33391660784}"/>
              </a:ext>
            </a:extLst>
          </p:cNvPr>
          <p:cNvSpPr>
            <a:spLocks noGrp="1"/>
          </p:cNvSpPr>
          <p:nvPr/>
        </p:nvSpPr>
        <p:spPr>
          <a:xfrm>
            <a:off x="4693901" y="4296251"/>
            <a:ext cx="70037" cy="54610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67" name="矩形 266">
            <a:extLst>
              <a:ext uri="{FF2B5EF4-FFF2-40B4-BE49-F238E27FC236}">
                <a16:creationId xmlns:a16="http://schemas.microsoft.com/office/drawing/2014/main" id="{6EF41F40-910A-47B5-B84C-2D0124409828}"/>
              </a:ext>
            </a:extLst>
          </p:cNvPr>
          <p:cNvSpPr>
            <a:spLocks noGrp="1"/>
          </p:cNvSpPr>
          <p:nvPr/>
        </p:nvSpPr>
        <p:spPr>
          <a:xfrm>
            <a:off x="4763938" y="4296251"/>
            <a:ext cx="70037" cy="54610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68" name="矩形 267">
            <a:extLst>
              <a:ext uri="{FF2B5EF4-FFF2-40B4-BE49-F238E27FC236}">
                <a16:creationId xmlns:a16="http://schemas.microsoft.com/office/drawing/2014/main" id="{1951E500-8334-4768-B391-BF102A82C627}"/>
              </a:ext>
            </a:extLst>
          </p:cNvPr>
          <p:cNvSpPr>
            <a:spLocks noGrp="1"/>
          </p:cNvSpPr>
          <p:nvPr/>
        </p:nvSpPr>
        <p:spPr>
          <a:xfrm>
            <a:off x="4833976" y="4296251"/>
            <a:ext cx="70037" cy="54610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69" name="矩形 268">
            <a:extLst>
              <a:ext uri="{FF2B5EF4-FFF2-40B4-BE49-F238E27FC236}">
                <a16:creationId xmlns:a16="http://schemas.microsoft.com/office/drawing/2014/main" id="{BF11CB42-8F56-461F-9F3A-80A14D64DEC6}"/>
              </a:ext>
            </a:extLst>
          </p:cNvPr>
          <p:cNvSpPr>
            <a:spLocks noGrp="1"/>
          </p:cNvSpPr>
          <p:nvPr/>
        </p:nvSpPr>
        <p:spPr>
          <a:xfrm>
            <a:off x="4904013" y="4296251"/>
            <a:ext cx="70037" cy="54610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70" name="矩形 269">
            <a:extLst>
              <a:ext uri="{FF2B5EF4-FFF2-40B4-BE49-F238E27FC236}">
                <a16:creationId xmlns:a16="http://schemas.microsoft.com/office/drawing/2014/main" id="{59DE89CC-A794-4BA4-B554-21172BB36A33}"/>
              </a:ext>
            </a:extLst>
          </p:cNvPr>
          <p:cNvSpPr>
            <a:spLocks noGrp="1"/>
          </p:cNvSpPr>
          <p:nvPr/>
        </p:nvSpPr>
        <p:spPr>
          <a:xfrm>
            <a:off x="4273677" y="4350861"/>
            <a:ext cx="70037" cy="54610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71" name="矩形 270">
            <a:extLst>
              <a:ext uri="{FF2B5EF4-FFF2-40B4-BE49-F238E27FC236}">
                <a16:creationId xmlns:a16="http://schemas.microsoft.com/office/drawing/2014/main" id="{B8C01FFF-7F1C-4EED-9ACB-EDEB10A78DC9}"/>
              </a:ext>
            </a:extLst>
          </p:cNvPr>
          <p:cNvSpPr>
            <a:spLocks noGrp="1"/>
          </p:cNvSpPr>
          <p:nvPr/>
        </p:nvSpPr>
        <p:spPr>
          <a:xfrm>
            <a:off x="4343714" y="4350861"/>
            <a:ext cx="70037" cy="54610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72" name="矩形 271">
            <a:extLst>
              <a:ext uri="{FF2B5EF4-FFF2-40B4-BE49-F238E27FC236}">
                <a16:creationId xmlns:a16="http://schemas.microsoft.com/office/drawing/2014/main" id="{42EE7E38-0543-476B-831A-5DB3772A1938}"/>
              </a:ext>
            </a:extLst>
          </p:cNvPr>
          <p:cNvSpPr>
            <a:spLocks noGrp="1"/>
          </p:cNvSpPr>
          <p:nvPr/>
        </p:nvSpPr>
        <p:spPr>
          <a:xfrm>
            <a:off x="4413752" y="4350861"/>
            <a:ext cx="70037" cy="54610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73" name="矩形 272">
            <a:extLst>
              <a:ext uri="{FF2B5EF4-FFF2-40B4-BE49-F238E27FC236}">
                <a16:creationId xmlns:a16="http://schemas.microsoft.com/office/drawing/2014/main" id="{64A961B9-4729-476E-8CAE-E44C133E67D1}"/>
              </a:ext>
            </a:extLst>
          </p:cNvPr>
          <p:cNvSpPr>
            <a:spLocks noGrp="1"/>
          </p:cNvSpPr>
          <p:nvPr/>
        </p:nvSpPr>
        <p:spPr>
          <a:xfrm>
            <a:off x="4483789" y="4350861"/>
            <a:ext cx="70037" cy="54610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74" name="矩形 273">
            <a:extLst>
              <a:ext uri="{FF2B5EF4-FFF2-40B4-BE49-F238E27FC236}">
                <a16:creationId xmlns:a16="http://schemas.microsoft.com/office/drawing/2014/main" id="{A2AC511B-7D1B-41F0-8291-31FE89852AE7}"/>
              </a:ext>
            </a:extLst>
          </p:cNvPr>
          <p:cNvSpPr>
            <a:spLocks noGrp="1"/>
          </p:cNvSpPr>
          <p:nvPr/>
        </p:nvSpPr>
        <p:spPr>
          <a:xfrm>
            <a:off x="4553826" y="4350861"/>
            <a:ext cx="70037" cy="54610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75" name="矩形 274">
            <a:extLst>
              <a:ext uri="{FF2B5EF4-FFF2-40B4-BE49-F238E27FC236}">
                <a16:creationId xmlns:a16="http://schemas.microsoft.com/office/drawing/2014/main" id="{BB0E03B2-FB85-4A75-8D0B-E2CD9CFADA24}"/>
              </a:ext>
            </a:extLst>
          </p:cNvPr>
          <p:cNvSpPr>
            <a:spLocks noGrp="1"/>
          </p:cNvSpPr>
          <p:nvPr/>
        </p:nvSpPr>
        <p:spPr>
          <a:xfrm>
            <a:off x="4623864" y="4350861"/>
            <a:ext cx="70037" cy="54610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76" name="矩形 275">
            <a:extLst>
              <a:ext uri="{FF2B5EF4-FFF2-40B4-BE49-F238E27FC236}">
                <a16:creationId xmlns:a16="http://schemas.microsoft.com/office/drawing/2014/main" id="{7508BC18-91B1-4856-B36E-3DA0EF2F949C}"/>
              </a:ext>
            </a:extLst>
          </p:cNvPr>
          <p:cNvSpPr>
            <a:spLocks noGrp="1"/>
          </p:cNvSpPr>
          <p:nvPr/>
        </p:nvSpPr>
        <p:spPr>
          <a:xfrm>
            <a:off x="4693901" y="4350861"/>
            <a:ext cx="70037" cy="54610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77" name="矩形 276">
            <a:extLst>
              <a:ext uri="{FF2B5EF4-FFF2-40B4-BE49-F238E27FC236}">
                <a16:creationId xmlns:a16="http://schemas.microsoft.com/office/drawing/2014/main" id="{CF4FFEA6-B4AA-4060-B064-EF707E5CA40C}"/>
              </a:ext>
            </a:extLst>
          </p:cNvPr>
          <p:cNvSpPr>
            <a:spLocks noGrp="1"/>
          </p:cNvSpPr>
          <p:nvPr/>
        </p:nvSpPr>
        <p:spPr>
          <a:xfrm>
            <a:off x="4763938" y="4350861"/>
            <a:ext cx="70037" cy="54610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78" name="矩形 277">
            <a:extLst>
              <a:ext uri="{FF2B5EF4-FFF2-40B4-BE49-F238E27FC236}">
                <a16:creationId xmlns:a16="http://schemas.microsoft.com/office/drawing/2014/main" id="{50C9E7A7-608A-4ADC-A131-D3F8351B4C12}"/>
              </a:ext>
            </a:extLst>
          </p:cNvPr>
          <p:cNvSpPr>
            <a:spLocks noGrp="1"/>
          </p:cNvSpPr>
          <p:nvPr/>
        </p:nvSpPr>
        <p:spPr>
          <a:xfrm>
            <a:off x="4833976" y="4350861"/>
            <a:ext cx="70037" cy="54610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79" name="矩形 278">
            <a:extLst>
              <a:ext uri="{FF2B5EF4-FFF2-40B4-BE49-F238E27FC236}">
                <a16:creationId xmlns:a16="http://schemas.microsoft.com/office/drawing/2014/main" id="{3C41D055-1D01-4C70-89A5-725AB2B28FFD}"/>
              </a:ext>
            </a:extLst>
          </p:cNvPr>
          <p:cNvSpPr>
            <a:spLocks noGrp="1"/>
          </p:cNvSpPr>
          <p:nvPr/>
        </p:nvSpPr>
        <p:spPr>
          <a:xfrm>
            <a:off x="4904013" y="4350861"/>
            <a:ext cx="70037" cy="54610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80" name="矩形 279">
            <a:extLst>
              <a:ext uri="{FF2B5EF4-FFF2-40B4-BE49-F238E27FC236}">
                <a16:creationId xmlns:a16="http://schemas.microsoft.com/office/drawing/2014/main" id="{08D62BDF-E606-44AA-8BB9-1608BA86DEF5}"/>
              </a:ext>
            </a:extLst>
          </p:cNvPr>
          <p:cNvSpPr>
            <a:spLocks noGrp="1"/>
          </p:cNvSpPr>
          <p:nvPr/>
        </p:nvSpPr>
        <p:spPr>
          <a:xfrm>
            <a:off x="4273677" y="4405471"/>
            <a:ext cx="70037" cy="54610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81" name="矩形 280">
            <a:extLst>
              <a:ext uri="{FF2B5EF4-FFF2-40B4-BE49-F238E27FC236}">
                <a16:creationId xmlns:a16="http://schemas.microsoft.com/office/drawing/2014/main" id="{A70DCE62-0C4E-4374-9FC2-A10771DF45D1}"/>
              </a:ext>
            </a:extLst>
          </p:cNvPr>
          <p:cNvSpPr>
            <a:spLocks noGrp="1"/>
          </p:cNvSpPr>
          <p:nvPr/>
        </p:nvSpPr>
        <p:spPr>
          <a:xfrm>
            <a:off x="4343714" y="4405471"/>
            <a:ext cx="70037" cy="54610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82" name="矩形 281">
            <a:extLst>
              <a:ext uri="{FF2B5EF4-FFF2-40B4-BE49-F238E27FC236}">
                <a16:creationId xmlns:a16="http://schemas.microsoft.com/office/drawing/2014/main" id="{E3955F66-03C8-45C4-9743-6C97B623237E}"/>
              </a:ext>
            </a:extLst>
          </p:cNvPr>
          <p:cNvSpPr>
            <a:spLocks noGrp="1"/>
          </p:cNvSpPr>
          <p:nvPr/>
        </p:nvSpPr>
        <p:spPr>
          <a:xfrm>
            <a:off x="4413752" y="4405471"/>
            <a:ext cx="70037" cy="54610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83" name="矩形 282">
            <a:extLst>
              <a:ext uri="{FF2B5EF4-FFF2-40B4-BE49-F238E27FC236}">
                <a16:creationId xmlns:a16="http://schemas.microsoft.com/office/drawing/2014/main" id="{B433F87C-C01C-423F-997E-BB25EC6FEB5C}"/>
              </a:ext>
            </a:extLst>
          </p:cNvPr>
          <p:cNvSpPr>
            <a:spLocks noGrp="1"/>
          </p:cNvSpPr>
          <p:nvPr/>
        </p:nvSpPr>
        <p:spPr>
          <a:xfrm>
            <a:off x="4483789" y="4405471"/>
            <a:ext cx="70037" cy="54610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84" name="矩形 283">
            <a:extLst>
              <a:ext uri="{FF2B5EF4-FFF2-40B4-BE49-F238E27FC236}">
                <a16:creationId xmlns:a16="http://schemas.microsoft.com/office/drawing/2014/main" id="{E01E5419-4593-4473-89E4-540148FF2E20}"/>
              </a:ext>
            </a:extLst>
          </p:cNvPr>
          <p:cNvSpPr>
            <a:spLocks noGrp="1"/>
          </p:cNvSpPr>
          <p:nvPr/>
        </p:nvSpPr>
        <p:spPr>
          <a:xfrm>
            <a:off x="4553826" y="4405471"/>
            <a:ext cx="70037" cy="54610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85" name="矩形 284">
            <a:extLst>
              <a:ext uri="{FF2B5EF4-FFF2-40B4-BE49-F238E27FC236}">
                <a16:creationId xmlns:a16="http://schemas.microsoft.com/office/drawing/2014/main" id="{0C6DA4E3-3D7C-40D6-A09B-0D1396D3A805}"/>
              </a:ext>
            </a:extLst>
          </p:cNvPr>
          <p:cNvSpPr>
            <a:spLocks noGrp="1"/>
          </p:cNvSpPr>
          <p:nvPr/>
        </p:nvSpPr>
        <p:spPr>
          <a:xfrm>
            <a:off x="4623864" y="4405471"/>
            <a:ext cx="70037" cy="54610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86" name="矩形 285">
            <a:extLst>
              <a:ext uri="{FF2B5EF4-FFF2-40B4-BE49-F238E27FC236}">
                <a16:creationId xmlns:a16="http://schemas.microsoft.com/office/drawing/2014/main" id="{F97D2097-40CB-4654-BC3B-AE5F3EB01D73}"/>
              </a:ext>
            </a:extLst>
          </p:cNvPr>
          <p:cNvSpPr>
            <a:spLocks noGrp="1"/>
          </p:cNvSpPr>
          <p:nvPr/>
        </p:nvSpPr>
        <p:spPr>
          <a:xfrm>
            <a:off x="4693901" y="4405471"/>
            <a:ext cx="70037" cy="54610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87" name="矩形 286">
            <a:extLst>
              <a:ext uri="{FF2B5EF4-FFF2-40B4-BE49-F238E27FC236}">
                <a16:creationId xmlns:a16="http://schemas.microsoft.com/office/drawing/2014/main" id="{731B5654-1955-4393-BDCB-4D4C1669893B}"/>
              </a:ext>
            </a:extLst>
          </p:cNvPr>
          <p:cNvSpPr>
            <a:spLocks noGrp="1"/>
          </p:cNvSpPr>
          <p:nvPr/>
        </p:nvSpPr>
        <p:spPr>
          <a:xfrm>
            <a:off x="4763938" y="4405471"/>
            <a:ext cx="70037" cy="54610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88" name="矩形 287">
            <a:extLst>
              <a:ext uri="{FF2B5EF4-FFF2-40B4-BE49-F238E27FC236}">
                <a16:creationId xmlns:a16="http://schemas.microsoft.com/office/drawing/2014/main" id="{C9D47E8C-CD72-4DAE-A1D1-1BD8C5FB0698}"/>
              </a:ext>
            </a:extLst>
          </p:cNvPr>
          <p:cNvSpPr>
            <a:spLocks noGrp="1"/>
          </p:cNvSpPr>
          <p:nvPr/>
        </p:nvSpPr>
        <p:spPr>
          <a:xfrm>
            <a:off x="4833976" y="4405471"/>
            <a:ext cx="70037" cy="54610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89" name="矩形 288">
            <a:extLst>
              <a:ext uri="{FF2B5EF4-FFF2-40B4-BE49-F238E27FC236}">
                <a16:creationId xmlns:a16="http://schemas.microsoft.com/office/drawing/2014/main" id="{78C29609-9B7B-4D02-9E47-3EC247BFAECE}"/>
              </a:ext>
            </a:extLst>
          </p:cNvPr>
          <p:cNvSpPr>
            <a:spLocks noGrp="1"/>
          </p:cNvSpPr>
          <p:nvPr/>
        </p:nvSpPr>
        <p:spPr>
          <a:xfrm>
            <a:off x="4904013" y="4405471"/>
            <a:ext cx="70037" cy="54610"/>
          </a:xfrm>
          <a:prstGeom prst="rect">
            <a:avLst/>
          </a:prstGeom>
          <a:solidFill>
            <a:srgbClr val="DCEBFA"/>
          </a:solidFill>
          <a:ln w="7620">
            <a:solidFill>
              <a:srgbClr val="697681"/>
            </a:solidFill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90" name="future latent">
            <a:extLst>
              <a:ext uri="{FF2B5EF4-FFF2-40B4-BE49-F238E27FC236}">
                <a16:creationId xmlns:a16="http://schemas.microsoft.com/office/drawing/2014/main" id="{A32AEB05-F11D-4AB6-A650-7D6B6CC513C9}"/>
              </a:ext>
            </a:extLst>
          </p:cNvPr>
          <p:cNvSpPr>
            <a:spLocks noGrp="1"/>
          </p:cNvSpPr>
          <p:nvPr/>
        </p:nvSpPr>
        <p:spPr>
          <a:xfrm>
            <a:off x="4273677" y="4173379"/>
            <a:ext cx="700373" cy="1105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677" b="1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77" b="1">
                <a:solidFill>
                  <a:srgbClr val="18222F"/>
                </a:solidFill>
                <a:latin typeface="Arial"/>
                <a:ea typeface="Arial"/>
                <a:cs typeface="Arial"/>
              </a:rPr>
              <a:t>future latent</a:t>
            </a:r>
          </a:p>
        </p:txBody>
      </p:sp>
      <p:sp>
        <p:nvSpPr>
          <p:cNvPr id="291" name="矩形 290">
            <a:extLst>
              <a:ext uri="{FF2B5EF4-FFF2-40B4-BE49-F238E27FC236}">
                <a16:creationId xmlns:a16="http://schemas.microsoft.com/office/drawing/2014/main" id="{410433DB-B8CC-4184-98F9-0CEBE59B789E}"/>
              </a:ext>
            </a:extLst>
          </p:cNvPr>
          <p:cNvSpPr>
            <a:spLocks noGrp="1"/>
          </p:cNvSpPr>
          <p:nvPr/>
        </p:nvSpPr>
        <p:spPr>
          <a:xfrm>
            <a:off x="4273677" y="4296251"/>
            <a:ext cx="700373" cy="163830"/>
          </a:xfrm>
          <a:prstGeom prst="rect">
            <a:avLst/>
          </a:prstGeom>
          <a:noFill/>
          <a:ln w="7620">
            <a:noFill/>
          </a:ln>
        </p:spPr>
        <p:txBody>
          <a:bodyPr lIns="28575" tIns="28575" rIns="28575" bIns="28575" anchor="ctr">
            <a:noAutofit/>
          </a:bodyPr>
          <a:lstStyle>
            <a:def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292" name="Single request / single CUDA stream">
            <a:extLst>
              <a:ext uri="{FF2B5EF4-FFF2-40B4-BE49-F238E27FC236}">
                <a16:creationId xmlns:a16="http://schemas.microsoft.com/office/drawing/2014/main" id="{98B9B001-665A-4BE6-BFD5-093092532DD0}"/>
              </a:ext>
            </a:extLst>
          </p:cNvPr>
          <p:cNvSpPr>
            <a:spLocks noGrp="1"/>
          </p:cNvSpPr>
          <p:nvPr/>
        </p:nvSpPr>
        <p:spPr>
          <a:xfrm>
            <a:off x="3212878" y="4521518"/>
            <a:ext cx="1863566" cy="11058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677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677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Single request / single CUDA stream</a:t>
            </a:r>
          </a:p>
        </p:txBody>
      </p:sp>
      <p:sp>
        <p:nvSpPr>
          <p:cNvPr id="293" name="What is optimized">
            <a:extLst>
              <a:ext uri="{FF2B5EF4-FFF2-40B4-BE49-F238E27FC236}">
                <a16:creationId xmlns:a16="http://schemas.microsoft.com/office/drawing/2014/main" id="{1E65D8FA-4007-4035-93AD-114056690AEA}"/>
              </a:ext>
            </a:extLst>
          </p:cNvPr>
          <p:cNvSpPr>
            <a:spLocks noGrp="1"/>
          </p:cNvSpPr>
          <p:nvPr/>
        </p:nvSpPr>
        <p:spPr>
          <a:xfrm>
            <a:off x="5581650" y="1066800"/>
            <a:ext cx="288607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275E"/>
                </a:solidFill>
                <a:latin typeface="Arial"/>
                <a:ea typeface="Arial"/>
                <a:cs typeface="Arial"/>
              </a:rPr>
              <a:t>What is optimized</a:t>
            </a:r>
          </a:p>
        </p:txBody>
      </p:sp>
      <p:sp>
        <p:nvSpPr>
          <p:cNvPr id="294" name="Shape-tuned decoder&#10;&#10;Stable H/U and weight scratch&#10;&#10;Query-local condit">
            <a:extLst>
              <a:ext uri="{FF2B5EF4-FFF2-40B4-BE49-F238E27FC236}">
                <a16:creationId xmlns:a16="http://schemas.microsoft.com/office/drawing/2014/main" id="{4717BFC3-69E4-41FD-B3C6-A590E8D93190}"/>
              </a:ext>
            </a:extLst>
          </p:cNvPr>
          <p:cNvSpPr>
            <a:spLocks noGrp="1"/>
          </p:cNvSpPr>
          <p:nvPr/>
        </p:nvSpPr>
        <p:spPr>
          <a:xfrm>
            <a:off x="5581650" y="1552575"/>
            <a:ext cx="2886075" cy="2181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Shape-tuned decoder</a:t>
            </a:r>
          </a:p>
          <a:p>
            <a:endParaRPr sz="1725" b="0">
              <a:solidFill>
                <a:srgbClr val="18222F"/>
              </a:solidFill>
              <a:latin typeface="Arial"/>
              <a:ea typeface="Arial"/>
              <a:cs typeface="Arial"/>
            </a:endParaRPr>
          </a:p>
          <a:p>
            <a: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Stable H/U and weight scratch</a:t>
            </a:r>
          </a:p>
          <a:p>
            <a:endParaRPr sz="1725" b="0">
              <a:solidFill>
                <a:srgbClr val="18222F"/>
              </a:solidFill>
              <a:latin typeface="Arial"/>
              <a:ea typeface="Arial"/>
              <a:cs typeface="Arial"/>
            </a:endParaRPr>
          </a:p>
          <a:p>
            <a: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Query-local condition cache</a:t>
            </a:r>
          </a:p>
          <a:p>
            <a:endParaRPr sz="1725" b="0">
              <a:solidFill>
                <a:srgbClr val="18222F"/>
              </a:solidFill>
              <a:latin typeface="Arial"/>
              <a:ea typeface="Arial"/>
              <a:cs typeface="Arial"/>
            </a:endParaRPr>
          </a:p>
          <a:p>
            <a: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Manual CUDA Graph replay</a:t>
            </a:r>
          </a:p>
        </p:txBody>
      </p:sp>
      <p:sp>
        <p:nvSpPr>
          <p:cNvPr id="295" name="A4 is dequantized to BF16 before GEMM">
            <a:extLst>
              <a:ext uri="{FF2B5EF4-FFF2-40B4-BE49-F238E27FC236}">
                <a16:creationId xmlns:a16="http://schemas.microsoft.com/office/drawing/2014/main" id="{A77DF766-B8D8-472F-873F-560DCDA04BEC}"/>
              </a:ext>
            </a:extLst>
          </p:cNvPr>
          <p:cNvSpPr>
            <a:spLocks noGrp="1"/>
          </p:cNvSpPr>
          <p:nvPr/>
        </p:nvSpPr>
        <p:spPr>
          <a:xfrm>
            <a:off x="5581650" y="3905250"/>
            <a:ext cx="2886075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00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96813"/>
                </a:solidFill>
                <a:latin typeface="Arial"/>
                <a:ea typeface="Arial"/>
                <a:cs typeface="Arial"/>
              </a:rPr>
              <a:t>A4 is dequantized to BF16 before GEMM</a:t>
            </a:r>
          </a:p>
        </p:txBody>
      </p:sp>
      <p:cxnSp>
        <p:nvCxnSpPr>
          <p:cNvPr id="296" name="连接符: 肘形 295">
            <a:extLst>
              <a:ext uri="{FF2B5EF4-FFF2-40B4-BE49-F238E27FC236}">
                <a16:creationId xmlns:a16="http://schemas.microsoft.com/office/drawing/2014/main" id="{51BEE121-938C-477D-B3BC-C060FB50271D}"/>
              </a:ext>
            </a:extLst>
          </p:cNvPr>
          <p:cNvCxnSpPr>
            <a:stCxn id="51" idx="3"/>
            <a:endCxn id="53" idx="3"/>
          </p:cNvCxnSpPr>
          <p:nvPr/>
        </p:nvCxnSpPr>
        <p:spPr>
          <a:xfrm>
            <a:off x="2681193" y="2271618"/>
            <a:ext cx="228600" cy="522209"/>
          </a:xfrm>
          <a:prstGeom prst="bentConnector4">
            <a:avLst/>
          </a:prstGeom>
          <a:ln w="9525">
            <a:solidFill>
              <a:srgbClr val="18222F"/>
            </a:solidFill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35107799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33400"/>
          </a:xfrm>
          <a:prstGeom prst="rect">
            <a:avLst/>
          </a:prstGeom>
        </p:spPr>
        <p:txBody>
          <a:bodyPr vert="horz" lIns="0" tIns="0" rIns="0" bIns="0" anchor="ctr">
            <a:noAutofit/>
          </a:bodyPr>
          <a:lstStyle>
            <a:def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Runtime: equally optimized BF16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511E0AAD-3338-4E81-A51E-974D25FFD28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79049114"/>
              </p:ext>
            </p:extLst>
          </p:nvPr>
        </p:nvGraphicFramePr>
        <p:xfrm>
          <a:off x="609600" y="1047750"/>
          <a:ext cx="7905750" cy="2247900"/>
        </p:xfrm>
        <a:graphic>
          <a:graphicData uri="http://schemas.openxmlformats.org/drawingml/2006/table">
            <a:tbl>
              <a:tblPr/>
              <a:tblGrid>
                <a:gridCol w="3790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197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Runtime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p50 (ms)</a:t>
                      </a:r>
                    </a:p>
                  </a:txBody>
                  <a:tcPr marL="95250" marR="95250" marT="76200" marB="7620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p95 (ms)</a:t>
                      </a:r>
                    </a:p>
                  </a:txBody>
                  <a:tcPr marL="95250" marR="95250" marT="76200" marB="7620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Peak GB</a:t>
                      </a:r>
                    </a:p>
                  </a:txBody>
                  <a:tcPr marL="95250" marR="95250" marT="76200" marB="7620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r>
                        <a:rPr sz="1500" dirty="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BF16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1,475.3</a:t>
                      </a:r>
                    </a:p>
                  </a:txBody>
                  <a:tcPr marL="95250" marR="95250" marT="76200" marB="7620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1,552.1</a:t>
                      </a:r>
                    </a:p>
                  </a:txBody>
                  <a:tcPr marL="95250" marR="95250" marT="76200" marB="7620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25.131</a:t>
                      </a:r>
                    </a:p>
                  </a:txBody>
                  <a:tcPr marL="95250" marR="95250" marT="76200" marB="7620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r>
                        <a:rPr sz="1500" dirty="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BF16 + cache + Graph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dirty="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540.9</a:t>
                      </a:r>
                    </a:p>
                  </a:txBody>
                  <a:tcPr marL="95250" marR="95250" marT="76200" marB="7620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542.9</a:t>
                      </a:r>
                    </a:p>
                  </a:txBody>
                  <a:tcPr marL="95250" marR="95250" marT="76200" marB="7620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25.488</a:t>
                      </a:r>
                    </a:p>
                  </a:txBody>
                  <a:tcPr marL="95250" marR="95250" marT="76200" marB="7620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4275E"/>
                          </a:solidFill>
                          <a:latin typeface="Arial"/>
                          <a:ea typeface="Arial"/>
                          <a:cs typeface="Arial"/>
                        </a:rPr>
                        <a:t>Q0 C + decoder + buffer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4275E"/>
                          </a:solidFill>
                          <a:latin typeface="Arial"/>
                          <a:ea typeface="Arial"/>
                          <a:cs typeface="Arial"/>
                        </a:rPr>
                        <a:t>896.1</a:t>
                      </a:r>
                    </a:p>
                  </a:txBody>
                  <a:tcPr marL="95250" marR="95250" marT="76200" marB="7620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dirty="0">
                          <a:solidFill>
                            <a:srgbClr val="14275E"/>
                          </a:solidFill>
                          <a:latin typeface="Arial"/>
                          <a:ea typeface="Arial"/>
                          <a:cs typeface="Arial"/>
                        </a:rPr>
                        <a:t>899.2</a:t>
                      </a:r>
                    </a:p>
                  </a:txBody>
                  <a:tcPr marL="95250" marR="95250" marT="76200" marB="7620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dirty="0">
                          <a:solidFill>
                            <a:srgbClr val="14275E"/>
                          </a:solidFill>
                          <a:latin typeface="Arial"/>
                          <a:ea typeface="Arial"/>
                          <a:cs typeface="Arial"/>
                        </a:rPr>
                        <a:t>16.914</a:t>
                      </a:r>
                    </a:p>
                  </a:txBody>
                  <a:tcPr marL="95250" marR="95250" marT="76200" marB="7620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EAF2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33.6% less peak allocated memory; 1.66× the latency">
            <a:extLst>
              <a:ext uri="{FF2B5EF4-FFF2-40B4-BE49-F238E27FC236}">
                <a16:creationId xmlns:a16="http://schemas.microsoft.com/office/drawing/2014/main" id="{C824C4B3-E908-4E18-A248-44265DBAFEBE}"/>
              </a:ext>
            </a:extLst>
          </p:cNvPr>
          <p:cNvSpPr>
            <a:spLocks noGrp="1"/>
          </p:cNvSpPr>
          <p:nvPr/>
        </p:nvSpPr>
        <p:spPr>
          <a:xfrm>
            <a:off x="609600" y="3609975"/>
            <a:ext cx="79057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75E"/>
                </a:solidFill>
                <a:latin typeface="Arial"/>
                <a:ea typeface="Arial"/>
                <a:cs typeface="Arial"/>
              </a:rPr>
              <a:t>33.6% less peak allocated memory; 1.66× the latency</a:t>
            </a:r>
          </a:p>
        </p:txBody>
      </p:sp>
      <p:sp>
        <p:nvSpPr>
          <p:cNvPr id="6" name="vs. BF16 + cache + Graph. The current win is memory, with a remaining ">
            <a:extLst>
              <a:ext uri="{FF2B5EF4-FFF2-40B4-BE49-F238E27FC236}">
                <a16:creationId xmlns:a16="http://schemas.microsoft.com/office/drawing/2014/main" id="{5065DA68-5819-459D-854B-CC5EB7CEC151}"/>
              </a:ext>
            </a:extLst>
          </p:cNvPr>
          <p:cNvSpPr>
            <a:spLocks noGrp="1"/>
          </p:cNvSpPr>
          <p:nvPr/>
        </p:nvSpPr>
        <p:spPr>
          <a:xfrm>
            <a:off x="609600" y="4076700"/>
            <a:ext cx="7905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vs. BF16 + cache + Graph. The current win is memory, with a remaining compute cost</a:t>
            </a:r>
          </a:p>
        </p:txBody>
      </p:sp>
      <p:sp>
        <p:nvSpPr>
          <p:cNvPr id="7" name="Same A100 allocation • 80 fixed queries • 3 warmups • prepared datum →">
            <a:extLst>
              <a:ext uri="{FF2B5EF4-FFF2-40B4-BE49-F238E27FC236}">
                <a16:creationId xmlns:a16="http://schemas.microsoft.com/office/drawing/2014/main" id="{41DD06EC-F0B6-4643-8DD7-7887360FA0BE}"/>
              </a:ext>
            </a:extLst>
          </p:cNvPr>
          <p:cNvSpPr>
            <a:spLocks noGrp="1"/>
          </p:cNvSpPr>
          <p:nvPr/>
        </p:nvSpPr>
        <p:spPr>
          <a:xfrm>
            <a:off x="609600" y="4476750"/>
            <a:ext cx="7905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773"/>
                </a:solidFill>
                <a:latin typeface="Arial"/>
                <a:ea typeface="Arial"/>
                <a:cs typeface="Arial"/>
              </a:rPr>
              <a:t>Same A100 allocation • 80 fixed queries • 3 warmups • prepared datum → synchronized policy return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33400"/>
          </a:xfrm>
          <a:prstGeom prst="rect">
            <a:avLst/>
          </a:prstGeom>
        </p:spPr>
        <p:txBody>
          <a:bodyPr vert="horz" lIns="0" tIns="0" rIns="0" bIns="0" anchor="ctr">
            <a:noAutofit/>
          </a:bodyPr>
          <a:lstStyle>
            <a:def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Engine ablation and remaining GPU work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AF5C5F31-66DD-4909-9B0F-F2177A34A2FF}"/>
              </a:ext>
            </a:extLst>
          </p:cNvPr>
          <p:cNvGraphicFramePr/>
          <p:nvPr/>
        </p:nvGraphicFramePr>
        <p:xfrm>
          <a:off x="609600" y="1047750"/>
          <a:ext cx="7905750" cy="2800350"/>
        </p:xfrm>
        <a:graphic>
          <a:graphicData uri="http://schemas.openxmlformats.org/drawingml/2006/table">
            <a:tbl>
              <a:tblPr/>
              <a:tblGrid>
                <a:gridCol w="4857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67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Runtime step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p50 ms</a:t>
                      </a:r>
                    </a:p>
                  </a:txBody>
                  <a:tcPr marL="95250" marR="95250" marT="76200" marB="7620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Peak GB</a:t>
                      </a:r>
                    </a:p>
                  </a:txBody>
                  <a:tcPr marL="95250" marR="95250" marT="76200" marB="7620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Layer decode, historical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3,532.9</a:t>
                      </a:r>
                    </a:p>
                  </a:txBody>
                  <a:tcPr marL="95250" marR="95250" marT="76200" marB="7620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16.551</a:t>
                      </a:r>
                    </a:p>
                  </a:txBody>
                  <a:tcPr marL="95250" marR="95250" marT="76200" marB="7620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A: stable workspace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3,693.6</a:t>
                      </a:r>
                    </a:p>
                  </a:txBody>
                  <a:tcPr marL="95250" marR="95250" marT="76200" marB="7620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16.592</a:t>
                      </a:r>
                    </a:p>
                  </a:txBody>
                  <a:tcPr marL="95250" marR="95250" marT="76200" marB="7620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B: + condition cache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3,047.0</a:t>
                      </a:r>
                    </a:p>
                  </a:txBody>
                  <a:tcPr marL="95250" marR="95250" marT="76200" marB="7620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16.689</a:t>
                      </a:r>
                    </a:p>
                  </a:txBody>
                  <a:tcPr marL="95250" marR="95250" marT="76200" marB="7620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C: + CUDA Graph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956.9</a:t>
                      </a:r>
                    </a:p>
                  </a:txBody>
                  <a:tcPr marL="95250" marR="95250" marT="76200" marB="7620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16.950</a:t>
                      </a:r>
                    </a:p>
                  </a:txBody>
                  <a:tcPr marL="95250" marR="95250" marT="76200" marB="7620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4275E"/>
                          </a:solidFill>
                          <a:latin typeface="Arial"/>
                          <a:ea typeface="Arial"/>
                          <a:cs typeface="Arial"/>
                        </a:rPr>
                        <a:t>C + tuned decoder + buffer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4275E"/>
                          </a:solidFill>
                          <a:latin typeface="Arial"/>
                          <a:ea typeface="Arial"/>
                          <a:cs typeface="Arial"/>
                        </a:rPr>
                        <a:t>887.1</a:t>
                      </a:r>
                    </a:p>
                  </a:txBody>
                  <a:tcPr marL="95250" marR="95250" marT="76200" marB="7620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4275E"/>
                          </a:solidFill>
                          <a:latin typeface="Arial"/>
                          <a:ea typeface="Arial"/>
                          <a:cs typeface="Arial"/>
                        </a:rPr>
                        <a:t>16.914</a:t>
                      </a:r>
                    </a:p>
                  </a:txBody>
                  <a:tcPr marL="95250" marR="95250" marT="76200" marB="7620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EAF2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After Graph: BF16 GEMM ≈227 ms; decode ≈151 ms; FP32 GEMM ≈100 ms">
            <a:extLst>
              <a:ext uri="{FF2B5EF4-FFF2-40B4-BE49-F238E27FC236}">
                <a16:creationId xmlns:a16="http://schemas.microsoft.com/office/drawing/2014/main" id="{C7B167BD-EB75-4A0A-A6E2-106E080740A1}"/>
              </a:ext>
            </a:extLst>
          </p:cNvPr>
          <p:cNvSpPr>
            <a:spLocks noGrp="1"/>
          </p:cNvSpPr>
          <p:nvPr/>
        </p:nvSpPr>
        <p:spPr>
          <a:xfrm>
            <a:off x="609600" y="4029075"/>
            <a:ext cx="79057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75E"/>
                </a:solidFill>
                <a:latin typeface="Arial"/>
                <a:ea typeface="Arial"/>
                <a:cs typeface="Arial"/>
              </a:rPr>
              <a:t>After Graph: BF16 GEMM ≈227 ms; decode ≈151 ms; FP32 GEMM ≈100 ms</a:t>
            </a:r>
          </a:p>
        </p:txBody>
      </p:sp>
      <p:sp>
        <p:nvSpPr>
          <p:cNvPr id="6" name="Historical measurements across allocations; profiler category totals a">
            <a:extLst>
              <a:ext uri="{FF2B5EF4-FFF2-40B4-BE49-F238E27FC236}">
                <a16:creationId xmlns:a16="http://schemas.microsoft.com/office/drawing/2014/main" id="{89A4EF2B-3FB0-44C8-9BD5-4C4EFB456FA3}"/>
              </a:ext>
            </a:extLst>
          </p:cNvPr>
          <p:cNvSpPr>
            <a:spLocks noGrp="1"/>
          </p:cNvSpPr>
          <p:nvPr/>
        </p:nvSpPr>
        <p:spPr>
          <a:xfrm>
            <a:off x="609600" y="4476750"/>
            <a:ext cx="7905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773"/>
                </a:solidFill>
                <a:latin typeface="Arial"/>
                <a:ea typeface="Arial"/>
                <a:cs typeface="Arial"/>
              </a:rPr>
              <a:t>Historical measurements across allocations; profiler category totals are diagnostic, not an additive latency budget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33400"/>
          </a:xfrm>
          <a:prstGeom prst="rect">
            <a:avLst/>
          </a:prstGeom>
        </p:spPr>
        <p:txBody>
          <a:bodyPr vert="horz" lIns="0" tIns="0" rIns="0" bIns="0" anchor="ctr">
            <a:noAutofit/>
          </a:bodyPr>
          <a:lstStyle>
            <a:def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Transfer to Cosmos Policy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EFAAEF7F-AA5C-4994-90EF-C786D2FF655A}"/>
              </a:ext>
            </a:extLst>
          </p:cNvPr>
          <p:cNvGraphicFramePr/>
          <p:nvPr/>
        </p:nvGraphicFramePr>
        <p:xfrm>
          <a:off x="609600" y="1047750"/>
          <a:ext cx="7905750" cy="2724150"/>
        </p:xfrm>
        <a:graphic>
          <a:graphicData uri="http://schemas.openxmlformats.org/drawingml/2006/table">
            <a:tbl>
              <a:tblPr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0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00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40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Component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Fast-WAM</a:t>
                      </a:r>
                    </a:p>
                  </a:txBody>
                  <a:tcPr marL="95250" marR="95250" marT="76200" marB="7620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Cosmos Policy</a:t>
                      </a:r>
                    </a:p>
                  </a:txBody>
                  <a:tcPr marL="95250" marR="95250" marT="76200" marB="7620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402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Backbone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Video DiT + Action DiT</a:t>
                      </a:r>
                    </a:p>
                  </a:txBody>
                  <a:tcPr marL="95250" marR="95250" marT="76200" marB="7620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Shared joint video DiT</a:t>
                      </a:r>
                    </a:p>
                  </a:txBody>
                  <a:tcPr marL="95250" marR="95250" marT="76200" marB="7620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402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Target weights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614 Linear / 6.016B</a:t>
                      </a:r>
                    </a:p>
                  </a:txBody>
                  <a:tcPr marL="95250" marR="95250" marT="76200" marB="7620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280 Linear / 1.762B</a:t>
                      </a:r>
                    </a:p>
                  </a:txBody>
                  <a:tcPr marL="95250" marR="95250" marT="76200" marB="7620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402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Calibration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C80; R8 → VQ8</a:t>
                      </a:r>
                    </a:p>
                  </a:txBody>
                  <a:tcPr marL="95250" marR="95250" marT="76200" marB="7620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C80; R8 → VQ8</a:t>
                      </a:r>
                    </a:p>
                  </a:txBody>
                  <a:tcPr marL="95250" marR="95250" marT="76200" marB="7620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402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Control readout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Frozen action denoiser</a:t>
                      </a:r>
                    </a:p>
                  </a:txBody>
                  <a:tcPr marL="95250" marR="95250" marT="76200" marB="7620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Frozen joint-DiT suffix</a:t>
                      </a:r>
                    </a:p>
                  </a:txBody>
                  <a:tcPr marL="95250" marR="95250" marT="76200" marB="7620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402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Policy execution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10 video + 10 action steps</a:t>
                      </a:r>
                    </a:p>
                  </a:txBody>
                  <a:tcPr marL="95250" marR="95250" marT="76200" marB="7620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5 NFE; 16-step chunk</a:t>
                      </a:r>
                    </a:p>
                  </a:txBody>
                  <a:tcPr marL="95250" marR="95250" marT="76200" marB="7620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Preserve action and imagined future in each model’s actual readout str">
            <a:extLst>
              <a:ext uri="{FF2B5EF4-FFF2-40B4-BE49-F238E27FC236}">
                <a16:creationId xmlns:a16="http://schemas.microsoft.com/office/drawing/2014/main" id="{937896B8-B574-4907-AA74-B32DD43609F8}"/>
              </a:ext>
            </a:extLst>
          </p:cNvPr>
          <p:cNvSpPr>
            <a:spLocks noGrp="1"/>
          </p:cNvSpPr>
          <p:nvPr/>
        </p:nvSpPr>
        <p:spPr>
          <a:xfrm>
            <a:off x="609600" y="4010025"/>
            <a:ext cx="7905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75E"/>
                </a:solidFill>
                <a:latin typeface="Arial"/>
                <a:ea typeface="Arial"/>
                <a:cs typeface="Arial"/>
              </a:rPr>
              <a:t>Preserve action and imagined future in each model’s actual readout structure</a:t>
            </a:r>
          </a:p>
        </p:txBody>
      </p:sp>
      <p:sp>
        <p:nvSpPr>
          <p:cNvPr id="6" name="Cosmos: direct-policy mode; future slots 6/7, action slot 4; no separa">
            <a:extLst>
              <a:ext uri="{FF2B5EF4-FFF2-40B4-BE49-F238E27FC236}">
                <a16:creationId xmlns:a16="http://schemas.microsoft.com/office/drawing/2014/main" id="{B9AE9B00-9F90-4574-90AF-C89D3351AA20}"/>
              </a:ext>
            </a:extLst>
          </p:cNvPr>
          <p:cNvSpPr>
            <a:spLocks noGrp="1"/>
          </p:cNvSpPr>
          <p:nvPr/>
        </p:nvSpPr>
        <p:spPr>
          <a:xfrm>
            <a:off x="609600" y="4476750"/>
            <a:ext cx="7905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773"/>
                </a:solidFill>
                <a:latin typeface="Arial"/>
                <a:ea typeface="Arial"/>
                <a:cs typeface="Arial"/>
              </a:rPr>
              <a:t>Cosmos: direct-policy mode; future slots 6/7, action slot 4; no separate ActionDiT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33400"/>
          </a:xfrm>
          <a:prstGeom prst="rect">
            <a:avLst/>
          </a:prstGeom>
        </p:spPr>
        <p:txBody>
          <a:bodyPr vert="horz" lIns="0" tIns="0" rIns="0" bIns="0" anchor="ctr">
            <a:noAutofit/>
          </a:bodyPr>
          <a:lstStyle>
            <a:def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Cosmos: accuracy and deployment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55E7112B-28A3-4B37-AAAF-F21CB9ACD4A7}"/>
              </a:ext>
            </a:extLst>
          </p:cNvPr>
          <p:cNvGraphicFramePr/>
          <p:nvPr/>
        </p:nvGraphicFramePr>
        <p:xfrm>
          <a:off x="609600" y="904875"/>
          <a:ext cx="7905750" cy="2609852"/>
        </p:xfrm>
        <a:graphic>
          <a:graphicData uri="http://schemas.openxmlformats.org/drawingml/2006/table">
            <a:tbl>
              <a:tblPr/>
              <a:tblGrid>
                <a:gridCol w="4857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2836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Method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Success / 280</a:t>
                      </a:r>
                    </a:p>
                  </a:txBody>
                  <a:tcPr marL="95250" marR="95250" marT="76200" marB="7620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Rate</a:t>
                      </a:r>
                    </a:p>
                  </a:txBody>
                  <a:tcPr marL="95250" marR="95250" marT="76200" marB="7620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2836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BF16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233</a:t>
                      </a:r>
                    </a:p>
                  </a:txBody>
                  <a:tcPr marL="95250" marR="95250" marT="76200" marB="7620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83.21%</a:t>
                      </a:r>
                    </a:p>
                  </a:txBody>
                  <a:tcPr marL="95250" marR="95250" marT="76200" marB="7620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2836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SpinQuant adapted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221</a:t>
                      </a:r>
                    </a:p>
                  </a:txBody>
                  <a:tcPr marL="95250" marR="95250" marT="76200" marB="7620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78.93%</a:t>
                      </a:r>
                    </a:p>
                  </a:txBody>
                  <a:tcPr marL="95250" marR="95250" marT="76200" marB="7620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2836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QuaRot adapted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227</a:t>
                      </a:r>
                    </a:p>
                  </a:txBody>
                  <a:tcPr marL="95250" marR="95250" marT="76200" marB="7620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81.07%</a:t>
                      </a:r>
                    </a:p>
                  </a:txBody>
                  <a:tcPr marL="95250" marR="95250" marT="76200" marB="7620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2836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SVDQuant adapted (rank 16)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78</a:t>
                      </a:r>
                    </a:p>
                  </a:txBody>
                  <a:tcPr marL="95250" marR="95250" marT="76200" marB="7620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27.86%</a:t>
                      </a:r>
                    </a:p>
                  </a:txBody>
                  <a:tcPr marL="95250" marR="95250" marT="76200" marB="7620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2836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ViDiT-Q adapted (mixed W4/W8)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232</a:t>
                      </a:r>
                    </a:p>
                  </a:txBody>
                  <a:tcPr marL="95250" marR="95250" marT="76200" marB="7620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82.86%</a:t>
                      </a:r>
                    </a:p>
                  </a:txBody>
                  <a:tcPr marL="95250" marR="95250" marT="76200" marB="7620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2836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4275E"/>
                          </a:solidFill>
                          <a:latin typeface="Arial"/>
                          <a:ea typeface="Arial"/>
                          <a:cs typeface="Arial"/>
                        </a:rPr>
                        <a:t>Ours: VQ + reader-KL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4275E"/>
                          </a:solidFill>
                          <a:latin typeface="Arial"/>
                          <a:ea typeface="Arial"/>
                          <a:cs typeface="Arial"/>
                        </a:rPr>
                        <a:t>230</a:t>
                      </a:r>
                    </a:p>
                  </a:txBody>
                  <a:tcPr marL="95250" marR="95250" marT="76200" marB="7620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4275E"/>
                          </a:solidFill>
                          <a:latin typeface="Arial"/>
                          <a:ea typeface="Arial"/>
                          <a:cs typeface="Arial"/>
                        </a:rPr>
                        <a:t>82.14%</a:t>
                      </a:r>
                    </a:p>
                  </a:txBody>
                  <a:tcPr marL="95250" marR="95250" marT="76200" marB="7620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EAF2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Native sampler: 435.7 ms vs BF16 432.6 ms; packed DiT 1.242 vs 3.644 G">
            <a:extLst>
              <a:ext uri="{FF2B5EF4-FFF2-40B4-BE49-F238E27FC236}">
                <a16:creationId xmlns:a16="http://schemas.microsoft.com/office/drawing/2014/main" id="{B8065643-2269-4212-B646-BDBC87E3CBB0}"/>
              </a:ext>
            </a:extLst>
          </p:cNvPr>
          <p:cNvSpPr>
            <a:spLocks noGrp="1"/>
          </p:cNvSpPr>
          <p:nvPr/>
        </p:nvSpPr>
        <p:spPr>
          <a:xfrm>
            <a:off x="609600" y="3743325"/>
            <a:ext cx="7905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75E"/>
                </a:solidFill>
                <a:latin typeface="Arial"/>
                <a:ea typeface="Arial"/>
                <a:cs typeface="Arial"/>
              </a:rPr>
              <a:t>Native sampler: 435.7 ms vs BF16 432.6 ms; packed DiT 1.242 vs 3.644 GiB</a:t>
            </a:r>
          </a:p>
        </p:txBody>
      </p:sp>
      <p:sp>
        <p:nvSpPr>
          <p:cNvPr id="6" name="Closed-loop belongs to the reference checkpoint path. Native timings u">
            <a:extLst>
              <a:ext uri="{FF2B5EF4-FFF2-40B4-BE49-F238E27FC236}">
                <a16:creationId xmlns:a16="http://schemas.microsoft.com/office/drawing/2014/main" id="{81F651B6-8880-4B97-A67B-2EB5302409EE}"/>
              </a:ext>
            </a:extLst>
          </p:cNvPr>
          <p:cNvSpPr>
            <a:spLocks noGrp="1"/>
          </p:cNvSpPr>
          <p:nvPr/>
        </p:nvSpPr>
        <p:spPr>
          <a:xfrm>
            <a:off x="609600" y="4476750"/>
            <a:ext cx="7905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773"/>
                </a:solidFill>
                <a:latin typeface="Arial"/>
                <a:ea typeface="Arial"/>
                <a:cs typeface="Arial"/>
              </a:rPr>
              <a:t>Closed-loop belongs to the reference checkpoint path. Native timings use mixed cohorts; baseline fidelity remains unresolved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33400"/>
          </a:xfrm>
          <a:prstGeom prst="rect">
            <a:avLst/>
          </a:prstGeom>
        </p:spPr>
        <p:txBody>
          <a:bodyPr vert="horz" lIns="0" tIns="0" rIns="0" bIns="0" anchor="ctr">
            <a:noAutofit/>
          </a:bodyPr>
          <a:lstStyle>
            <a:def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550" b="1" dirty="0">
                <a:solidFill>
                  <a:srgbClr val="4C88DE"/>
                </a:solidFill>
                <a:latin typeface="Arial"/>
                <a:ea typeface="Arial"/>
                <a:cs typeface="Arial"/>
              </a:rPr>
              <a:t>Standard LIBERO: 391 / 400 successes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97.75%">
            <a:extLst>
              <a:ext uri="{FF2B5EF4-FFF2-40B4-BE49-F238E27FC236}">
                <a16:creationId xmlns:a16="http://schemas.microsoft.com/office/drawing/2014/main" id="{52AB889E-364D-45F4-8F28-DCA8645995BD}"/>
              </a:ext>
            </a:extLst>
          </p:cNvPr>
          <p:cNvSpPr>
            <a:spLocks noGrp="1"/>
          </p:cNvSpPr>
          <p:nvPr/>
        </p:nvSpPr>
        <p:spPr>
          <a:xfrm>
            <a:off x="609600" y="981075"/>
            <a:ext cx="3095625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54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defPPr>
            <a:lvl1pPr algn="l">
              <a:defRPr sz="54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1pPr>
            <a:lvl2pPr algn="l">
              <a:defRPr sz="54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2pPr>
            <a:lvl3pPr algn="l">
              <a:defRPr sz="54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3pPr>
            <a:lvl4pPr algn="l">
              <a:defRPr sz="54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4pPr>
            <a:lvl5pPr algn="l">
              <a:defRPr sz="54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5pPr>
            <a:lvl6pPr algn="l">
              <a:defRPr sz="54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6pPr>
            <a:lvl7pPr algn="l">
              <a:defRPr sz="54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7pPr>
            <a:lvl8pPr algn="l">
              <a:defRPr sz="54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8pPr>
            <a:lvl9pPr algn="l">
              <a:defRPr sz="54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54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14275E"/>
                </a:solidFill>
                <a:latin typeface="Arial"/>
                <a:ea typeface="Arial"/>
                <a:cs typeface="Arial"/>
              </a:rPr>
              <a:t>97.75%</a:t>
            </a:r>
          </a:p>
        </p:txBody>
      </p:sp>
      <p:sp>
        <p:nvSpPr>
          <p:cNvPr id="5" name="Q0 + C + decoder + buffer&#10;No new training or calibration">
            <a:extLst>
              <a:ext uri="{FF2B5EF4-FFF2-40B4-BE49-F238E27FC236}">
                <a16:creationId xmlns:a16="http://schemas.microsoft.com/office/drawing/2014/main" id="{6AECBAE4-0B05-423C-9095-438F497EE58B}"/>
              </a:ext>
            </a:extLst>
          </p:cNvPr>
          <p:cNvSpPr>
            <a:spLocks noGrp="1"/>
          </p:cNvSpPr>
          <p:nvPr/>
        </p:nvSpPr>
        <p:spPr>
          <a:xfrm>
            <a:off x="657225" y="1981200"/>
            <a:ext cx="3000375" cy="752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725" b="0" dirty="0">
                <a:solidFill>
                  <a:srgbClr val="18222F"/>
                </a:solidFill>
                <a:latin typeface="Arial"/>
                <a:ea typeface="Arial"/>
                <a:cs typeface="Arial"/>
              </a:rPr>
              <a:t>Q0 + C + decoder + buffer</a:t>
            </a:r>
          </a:p>
          <a:p>
            <a: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725" b="0" dirty="0">
                <a:solidFill>
                  <a:srgbClr val="18222F"/>
                </a:solidFill>
                <a:latin typeface="Arial"/>
                <a:ea typeface="Arial"/>
                <a:cs typeface="Arial"/>
              </a:rPr>
              <a:t>No new training or calibration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8BB121B7-9550-42A7-91A7-A3A44722840D}"/>
              </a:ext>
            </a:extLst>
          </p:cNvPr>
          <p:cNvGraphicFramePr/>
          <p:nvPr/>
        </p:nvGraphicFramePr>
        <p:xfrm>
          <a:off x="4000500" y="1066800"/>
          <a:ext cx="4514850" cy="2305050"/>
        </p:xfrm>
        <a:graphic>
          <a:graphicData uri="http://schemas.openxmlformats.org/drawingml/2006/table">
            <a:tbl>
              <a:tblPr/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101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Suite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Success</a:t>
                      </a:r>
                    </a:p>
                  </a:txBody>
                  <a:tcPr marL="95250" marR="95250" marT="76200" marB="7620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Rate</a:t>
                      </a:r>
                    </a:p>
                  </a:txBody>
                  <a:tcPr marL="95250" marR="95250" marT="76200" marB="7620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101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Spatial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98 / 100</a:t>
                      </a:r>
                    </a:p>
                  </a:txBody>
                  <a:tcPr marL="95250" marR="95250" marT="76200" marB="7620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98.00%</a:t>
                      </a:r>
                    </a:p>
                  </a:txBody>
                  <a:tcPr marL="95250" marR="95250" marT="76200" marB="7620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101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Object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99 / 100</a:t>
                      </a:r>
                    </a:p>
                  </a:txBody>
                  <a:tcPr marL="95250" marR="95250" marT="76200" marB="7620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99.00%</a:t>
                      </a:r>
                    </a:p>
                  </a:txBody>
                  <a:tcPr marL="95250" marR="95250" marT="76200" marB="7620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101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Goal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97 / 100</a:t>
                      </a:r>
                    </a:p>
                  </a:txBody>
                  <a:tcPr marL="95250" marR="95250" marT="76200" marB="7620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97.00%</a:t>
                      </a:r>
                    </a:p>
                  </a:txBody>
                  <a:tcPr marL="95250" marR="95250" marT="76200" marB="7620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101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Long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97 / 100</a:t>
                      </a:r>
                    </a:p>
                  </a:txBody>
                  <a:tcPr marL="95250" marR="95250" marT="76200" marB="7620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97.00%</a:t>
                      </a:r>
                    </a:p>
                  </a:txBody>
                  <a:tcPr marL="95250" marR="95250" marT="76200" marB="7620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40 tasks × first 10 official initial states; fixed seed 42">
            <a:extLst>
              <a:ext uri="{FF2B5EF4-FFF2-40B4-BE49-F238E27FC236}">
                <a16:creationId xmlns:a16="http://schemas.microsoft.com/office/drawing/2014/main" id="{A7467622-03E6-4FA2-AEB2-0D5111BA5592}"/>
              </a:ext>
            </a:extLst>
          </p:cNvPr>
          <p:cNvSpPr>
            <a:spLocks noGrp="1"/>
          </p:cNvSpPr>
          <p:nvPr/>
        </p:nvSpPr>
        <p:spPr>
          <a:xfrm>
            <a:off x="609600" y="3638550"/>
            <a:ext cx="79057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pPr>
            <a:r>
              <a:rPr sz="1875" b="1" dirty="0">
                <a:solidFill>
                  <a:srgbClr val="14275E"/>
                </a:solidFill>
                <a:latin typeface="Arial"/>
                <a:ea typeface="Arial"/>
                <a:cs typeface="Arial"/>
              </a:rPr>
              <a:t>40 tasks × first 10 official initial states; fixed seed 42</a:t>
            </a:r>
          </a:p>
        </p:txBody>
      </p:sp>
      <p:sp>
        <p:nvSpPr>
          <p:cNvPr id="8" name="6,415 policy calls; warm policy-call p50 = 899.5 ms">
            <a:extLst>
              <a:ext uri="{FF2B5EF4-FFF2-40B4-BE49-F238E27FC236}">
                <a16:creationId xmlns:a16="http://schemas.microsoft.com/office/drawing/2014/main" id="{C44EABB0-4F9E-43BE-AC08-9C3C9C4B345D}"/>
              </a:ext>
            </a:extLst>
          </p:cNvPr>
          <p:cNvSpPr>
            <a:spLocks noGrp="1"/>
          </p:cNvSpPr>
          <p:nvPr/>
        </p:nvSpPr>
        <p:spPr>
          <a:xfrm>
            <a:off x="609600" y="4076700"/>
            <a:ext cx="7905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725" b="0" dirty="0">
                <a:solidFill>
                  <a:srgbClr val="18222F"/>
                </a:solidFill>
                <a:latin typeface="Arial"/>
                <a:ea typeface="Arial"/>
                <a:cs typeface="Arial"/>
              </a:rPr>
              <a:t>6,415 policy calls; warm policy-call p50 = 899.5 </a:t>
            </a:r>
            <a:r>
              <a:rPr sz="1725" b="0" dirty="0" err="1">
                <a:solidFill>
                  <a:srgbClr val="18222F"/>
                </a:solidFill>
                <a:latin typeface="Arial"/>
                <a:ea typeface="Arial"/>
                <a:cs typeface="Arial"/>
              </a:rPr>
              <a:t>ms</a:t>
            </a:r>
            <a:endParaRPr sz="1725" b="0" dirty="0">
              <a:solidFill>
                <a:srgbClr val="18222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One 400-episode panel; no matched BF16 or quantized baseline on these ">
            <a:extLst>
              <a:ext uri="{FF2B5EF4-FFF2-40B4-BE49-F238E27FC236}">
                <a16:creationId xmlns:a16="http://schemas.microsoft.com/office/drawing/2014/main" id="{D5A6A12A-4219-43C4-9739-4007C4E89EFE}"/>
              </a:ext>
            </a:extLst>
          </p:cNvPr>
          <p:cNvSpPr>
            <a:spLocks noGrp="1"/>
          </p:cNvSpPr>
          <p:nvPr/>
        </p:nvSpPr>
        <p:spPr>
          <a:xfrm>
            <a:off x="609600" y="4476750"/>
            <a:ext cx="7905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pPr>
            <a:r>
              <a:rPr sz="1050" b="0" dirty="0">
                <a:solidFill>
                  <a:srgbClr val="5D6773"/>
                </a:solidFill>
                <a:latin typeface="Arial"/>
                <a:ea typeface="Arial"/>
                <a:cs typeface="Arial"/>
              </a:rPr>
              <a:t>One 400-episode panel; no matched BF16 or quantized baseline on these same 400 slots</a:t>
            </a:r>
            <a:r>
              <a:rPr lang="en-US" dirty="0"/>
              <a:t>;</a:t>
            </a:r>
            <a:r>
              <a:rPr lang="zh-CN" altLang="en-US" dirty="0"/>
              <a:t> </a:t>
            </a:r>
            <a:r>
              <a:rPr lang="en-US" altLang="zh-CN" dirty="0"/>
              <a:t>on</a:t>
            </a:r>
            <a:r>
              <a:rPr lang="zh-CN" altLang="en-US" dirty="0"/>
              <a:t> </a:t>
            </a:r>
            <a:r>
              <a:rPr lang="en-US" altLang="zh-CN" dirty="0" err="1"/>
              <a:t>fastwam-idm</a:t>
            </a:r>
            <a:endParaRPr sz="1050" b="0" dirty="0">
              <a:solidFill>
                <a:srgbClr val="5D6773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33400"/>
          </a:xfrm>
          <a:prstGeom prst="rect">
            <a:avLst/>
          </a:prstGeom>
        </p:spPr>
        <p:txBody>
          <a:bodyPr vert="horz" lIns="0" tIns="0" rIns="0" bIns="0" anchor="ctr">
            <a:noAutofit/>
          </a:bodyPr>
          <a:lstStyle>
            <a:def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A4: numerical error and BF16 computation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583BE116-DE83-48C7-84E0-C4D72FE41F8F}"/>
              </a:ext>
            </a:extLst>
          </p:cNvPr>
          <p:cNvGraphicFramePr/>
          <p:nvPr/>
        </p:nvGraphicFramePr>
        <p:xfrm>
          <a:off x="609600" y="1047750"/>
          <a:ext cx="7905750" cy="2524125"/>
        </p:xfrm>
        <a:graphic>
          <a:graphicData uri="http://schemas.openxmlformats.org/drawingml/2006/table">
            <a:tbl>
              <a:tblPr/>
              <a:tblGrid>
                <a:gridCol w="2381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2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62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482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Layer of the system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Current Q0</a:t>
                      </a:r>
                    </a:p>
                  </a:txBody>
                  <a:tcPr marL="95250" marR="95250" marT="76200" marB="7620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Proposed direction</a:t>
                      </a:r>
                    </a:p>
                  </a:txBody>
                  <a:tcPr marL="95250" marR="95250" marT="76200" marB="7620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Weight storage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~4.27 effective bpw</a:t>
                      </a:r>
                    </a:p>
                  </a:txBody>
                  <a:tcPr marL="95250" marR="95250" marT="76200" marB="7620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Keep compact VQ codes</a:t>
                      </a:r>
                    </a:p>
                  </a:txBody>
                  <a:tcPr marL="95250" marR="95250" marT="76200" marB="7620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Weight operand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Decode to BF16 scratch</a:t>
                      </a:r>
                    </a:p>
                  </a:txBody>
                  <a:tcPr marL="95250" marR="95250" marT="76200" marB="7620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Decode to INT8 tiles</a:t>
                      </a:r>
                    </a:p>
                  </a:txBody>
                  <a:tcPr marL="95250" marR="95250" marT="76200" marB="7620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Activation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A4 → BF16</a:t>
                      </a:r>
                    </a:p>
                  </a:txBody>
                  <a:tcPr marL="95250" marR="95250" marT="76200" marB="7620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A8 → INT8 operand</a:t>
                      </a:r>
                    </a:p>
                  </a:txBody>
                  <a:tcPr marL="95250" marR="95250" marT="76200" marB="7620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Tensor Core arithmetic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BF16 × BF16</a:t>
                      </a:r>
                    </a:p>
                  </a:txBody>
                  <a:tcPr marL="95250" marR="95250" marT="76200" marB="7620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INT8 × INT8 → INT32</a:t>
                      </a:r>
                    </a:p>
                  </a:txBody>
                  <a:tcPr marL="95250" marR="95250" marT="76200" marB="7620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A4 does not currently unlock 4-bit Tensor Core throughput">
            <a:extLst>
              <a:ext uri="{FF2B5EF4-FFF2-40B4-BE49-F238E27FC236}">
                <a16:creationId xmlns:a16="http://schemas.microsoft.com/office/drawing/2014/main" id="{09C1B95F-E699-4712-BD02-653C87A6CDBA}"/>
              </a:ext>
            </a:extLst>
          </p:cNvPr>
          <p:cNvSpPr>
            <a:spLocks noGrp="1"/>
          </p:cNvSpPr>
          <p:nvPr/>
        </p:nvSpPr>
        <p:spPr>
          <a:xfrm>
            <a:off x="609600" y="3876675"/>
            <a:ext cx="79057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950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pPr>
            <a:r>
              <a:rPr sz="1950" b="1" dirty="0">
                <a:solidFill>
                  <a:srgbClr val="B96813"/>
                </a:solidFill>
                <a:latin typeface="Arial"/>
                <a:ea typeface="Arial"/>
                <a:cs typeface="Arial"/>
              </a:rPr>
              <a:t>A4 does not currently unlock 4-bit Tensor Core throughput</a:t>
            </a:r>
          </a:p>
        </p:txBody>
      </p:sp>
      <p:sp>
        <p:nvSpPr>
          <p:cNvPr id="6" name="Storage bitwidth, represented values and arithmetic bitwidth must be r">
            <a:extLst>
              <a:ext uri="{FF2B5EF4-FFF2-40B4-BE49-F238E27FC236}">
                <a16:creationId xmlns:a16="http://schemas.microsoft.com/office/drawing/2014/main" id="{030F7E2B-3FB0-4430-88B0-DB03412D6E99}"/>
              </a:ext>
            </a:extLst>
          </p:cNvPr>
          <p:cNvSpPr>
            <a:spLocks noGrp="1"/>
          </p:cNvSpPr>
          <p:nvPr/>
        </p:nvSpPr>
        <p:spPr>
          <a:xfrm>
            <a:off x="609600" y="4476750"/>
            <a:ext cx="7905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773"/>
                </a:solidFill>
                <a:latin typeface="Arial"/>
                <a:ea typeface="Arial"/>
                <a:cs typeface="Arial"/>
              </a:rPr>
              <a:t>INT8 weight operands → INT8 MMA rate; A4-in-INT8 does not unlock INT4 throughput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33400"/>
          </a:xfrm>
          <a:prstGeom prst="rect">
            <a:avLst/>
          </a:prstGeom>
        </p:spPr>
        <p:txBody>
          <a:bodyPr vert="horz" lIns="0" tIns="0" rIns="0" bIns="0" anchor="ctr">
            <a:noAutofit/>
          </a:bodyPr>
          <a:lstStyle>
            <a:def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A8: fixed-input fidelity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7A3EA7AE-1DB4-4F1A-8716-2B58CADA49C6}"/>
              </a:ext>
            </a:extLst>
          </p:cNvPr>
          <p:cNvGraphicFramePr/>
          <p:nvPr/>
        </p:nvGraphicFramePr>
        <p:xfrm>
          <a:off x="609600" y="1047750"/>
          <a:ext cx="7905750" cy="2506980"/>
        </p:xfrm>
        <a:graphic>
          <a:graphicData uri="http://schemas.openxmlformats.org/drawingml/2006/table">
            <a:tbl>
              <a:tblPr/>
              <a:tblGrid>
                <a:gridCol w="3362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4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4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4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434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Activation / weight path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Motor RMSE ↓</a:t>
                      </a:r>
                    </a:p>
                  </a:txBody>
                  <a:tcPr marL="95250" marR="95250" marT="76200" marB="7620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Future NMSE ↓</a:t>
                      </a:r>
                    </a:p>
                  </a:txBody>
                  <a:tcPr marL="95250" marR="95250" marT="76200" marB="7620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Gripper mismatch</a:t>
                      </a:r>
                    </a:p>
                  </a:txBody>
                  <a:tcPr marL="95250" marR="95250" marT="76200" marB="7620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34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Q0 A4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0.045606</a:t>
                      </a:r>
                    </a:p>
                  </a:txBody>
                  <a:tcPr marL="95250" marR="95250" marT="76200" marB="7620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0.061738</a:t>
                      </a:r>
                    </a:p>
                  </a:txBody>
                  <a:tcPr marL="95250" marR="95250" marT="76200" marB="7620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0.625%</a:t>
                      </a:r>
                    </a:p>
                  </a:txBody>
                  <a:tcPr marL="95250" marR="95250" marT="76200" marB="7620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34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Q0 A16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0.021785</a:t>
                      </a:r>
                    </a:p>
                  </a:txBody>
                  <a:tcPr marL="95250" marR="95250" marT="76200" marB="7620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0.020388</a:t>
                      </a:r>
                    </a:p>
                  </a:txBody>
                  <a:tcPr marL="95250" marR="95250" marT="76200" marB="7620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0.250%</a:t>
                      </a:r>
                    </a:p>
                  </a:txBody>
                  <a:tcPr marL="95250" marR="95250" marT="76200" marB="7620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34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4275E"/>
                          </a:solidFill>
                          <a:latin typeface="Arial"/>
                          <a:ea typeface="Arial"/>
                          <a:cs typeface="Arial"/>
                        </a:rPr>
                        <a:t>Q0 A8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4275E"/>
                          </a:solidFill>
                          <a:latin typeface="Arial"/>
                          <a:ea typeface="Arial"/>
                          <a:cs typeface="Arial"/>
                        </a:rPr>
                        <a:t>0.021604</a:t>
                      </a:r>
                    </a:p>
                  </a:txBody>
                  <a:tcPr marL="95250" marR="95250" marT="76200" marB="7620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4275E"/>
                          </a:solidFill>
                          <a:latin typeface="Arial"/>
                          <a:ea typeface="Arial"/>
                          <a:cs typeface="Arial"/>
                        </a:rPr>
                        <a:t>0.021201</a:t>
                      </a:r>
                    </a:p>
                  </a:txBody>
                  <a:tcPr marL="95250" marR="95250" marT="76200" marB="7620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4275E"/>
                          </a:solidFill>
                          <a:latin typeface="Arial"/>
                          <a:ea typeface="Arial"/>
                          <a:cs typeface="Arial"/>
                        </a:rPr>
                        <a:t>0.250%</a:t>
                      </a:r>
                    </a:p>
                  </a:txBody>
                  <a:tcPr marL="95250" marR="95250" marT="76200" marB="7620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EAF2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34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H-only + INT8 row grid + A8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0.021726</a:t>
                      </a:r>
                    </a:p>
                  </a:txBody>
                  <a:tcPr marL="95250" marR="95250" marT="76200" marB="7620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0.020828</a:t>
                      </a:r>
                    </a:p>
                  </a:txBody>
                  <a:tcPr marL="95250" marR="95250" marT="76200" marB="7620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0.125%</a:t>
                      </a:r>
                    </a:p>
                  </a:txBody>
                  <a:tcPr marL="95250" marR="95250" marT="76200" marB="7620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A4 → A8: −52.6% motor RMSE; −65.7% future NMSE">
            <a:extLst>
              <a:ext uri="{FF2B5EF4-FFF2-40B4-BE49-F238E27FC236}">
                <a16:creationId xmlns:a16="http://schemas.microsoft.com/office/drawing/2014/main" id="{2342A85C-1DF2-476C-A11F-78E8F65E0C98}"/>
              </a:ext>
            </a:extLst>
          </p:cNvPr>
          <p:cNvSpPr>
            <a:spLocks noGrp="1"/>
          </p:cNvSpPr>
          <p:nvPr/>
        </p:nvSpPr>
        <p:spPr>
          <a:xfrm>
            <a:off x="609600" y="3686175"/>
            <a:ext cx="79057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75E"/>
                </a:solidFill>
                <a:latin typeface="Arial"/>
                <a:ea typeface="Arial"/>
                <a:cs typeface="Arial"/>
              </a:rPr>
              <a:t>A4 → A8: −52.6% motor RMSE; −65.7% future NMSE</a:t>
            </a:r>
          </a:p>
        </p:txBody>
      </p:sp>
      <p:sp>
        <p:nvSpPr>
          <p:cNvPr id="6" name="All 40 contexts improve on both metrics vs A4; A8 is close to the A16 ">
            <a:extLst>
              <a:ext uri="{FF2B5EF4-FFF2-40B4-BE49-F238E27FC236}">
                <a16:creationId xmlns:a16="http://schemas.microsoft.com/office/drawing/2014/main" id="{1AA4F400-3142-481E-8938-154EAC2FD5C7}"/>
              </a:ext>
            </a:extLst>
          </p:cNvPr>
          <p:cNvSpPr>
            <a:spLocks noGrp="1"/>
          </p:cNvSpPr>
          <p:nvPr/>
        </p:nvSpPr>
        <p:spPr>
          <a:xfrm>
            <a:off x="609600" y="4086225"/>
            <a:ext cx="7905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7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All 40 contexts improve on both metrics vs A4; A8 is close to the A16 reference</a:t>
            </a:r>
          </a:p>
        </p:txBody>
      </p:sp>
      <p:sp>
        <p:nvSpPr>
          <p:cNvPr id="7" name="Decoded BF16 weights + fake-quant activation; 40 held-out contexts × 2">
            <a:extLst>
              <a:ext uri="{FF2B5EF4-FFF2-40B4-BE49-F238E27FC236}">
                <a16:creationId xmlns:a16="http://schemas.microsoft.com/office/drawing/2014/main" id="{2F4374AE-02DD-41F5-A656-53C2242B6533}"/>
              </a:ext>
            </a:extLst>
          </p:cNvPr>
          <p:cNvSpPr>
            <a:spLocks noGrp="1"/>
          </p:cNvSpPr>
          <p:nvPr/>
        </p:nvSpPr>
        <p:spPr>
          <a:xfrm>
            <a:off x="609600" y="4476750"/>
            <a:ext cx="7905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773"/>
                </a:solidFill>
                <a:latin typeface="Arial"/>
                <a:ea typeface="Arial"/>
                <a:cs typeface="Arial"/>
              </a:rPr>
              <a:t>Decoded BF16 weights + fake-quant activation; 40 held-out contexts × 2 seeds; no native INT8 or new closed-loop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33400"/>
          </a:xfrm>
          <a:prstGeom prst="rect">
            <a:avLst/>
          </a:prstGeom>
        </p:spPr>
        <p:txBody>
          <a:bodyPr vert="horz" lIns="0" tIns="0" rIns="0" bIns="0" anchor="ctr">
            <a:noAutofit/>
          </a:bodyPr>
          <a:lstStyle>
            <a:def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INT8 timing: fusion determines the gain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3307126C-1388-4A14-9784-C6F34C30463A}"/>
              </a:ext>
            </a:extLst>
          </p:cNvPr>
          <p:cNvGraphicFramePr/>
          <p:nvPr/>
        </p:nvGraphicFramePr>
        <p:xfrm>
          <a:off x="609600" y="1047750"/>
          <a:ext cx="7905750" cy="2189799"/>
        </p:xfrm>
        <a:graphic>
          <a:graphicData uri="http://schemas.openxmlformats.org/drawingml/2006/table">
            <a:tbl>
              <a:tblPr/>
              <a:tblGrid>
                <a:gridCol w="297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0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0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52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911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Weighted Linear cost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BF16 ms</a:t>
                      </a:r>
                    </a:p>
                  </a:txBody>
                  <a:tcPr marL="95250" marR="95250" marT="76200" marB="7620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INT8 ms</a:t>
                      </a:r>
                    </a:p>
                  </a:txBody>
                  <a:tcPr marL="95250" marR="95250" marT="76200" marB="7620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INT8 + surrounding ops</a:t>
                      </a:r>
                    </a:p>
                  </a:txBody>
                  <a:tcPr marL="95250" marR="95250" marT="76200" marB="7620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9113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Video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191.1</a:t>
                      </a:r>
                    </a:p>
                  </a:txBody>
                  <a:tcPr marL="95250" marR="95250" marT="76200" marB="7620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110.4</a:t>
                      </a:r>
                    </a:p>
                  </a:txBody>
                  <a:tcPr marL="95250" marR="95250" marT="76200" marB="7620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366.3</a:t>
                      </a:r>
                    </a:p>
                  </a:txBody>
                  <a:tcPr marL="95250" marR="95250" marT="76200" marB="7620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9113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Action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28.4</a:t>
                      </a:r>
                    </a:p>
                  </a:txBody>
                  <a:tcPr marL="95250" marR="95250" marT="76200" marB="7620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30.4</a:t>
                      </a:r>
                    </a:p>
                  </a:txBody>
                  <a:tcPr marL="95250" marR="95250" marT="76200" marB="7620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139.8</a:t>
                      </a:r>
                    </a:p>
                  </a:txBody>
                  <a:tcPr marL="95250" marR="95250" marT="76200" marB="7620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911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4275E"/>
                          </a:solidFill>
                          <a:latin typeface="Arial"/>
                          <a:ea typeface="Arial"/>
                          <a:cs typeface="Arial"/>
                        </a:rPr>
                        <a:t>All target Linears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4275E"/>
                          </a:solidFill>
                          <a:latin typeface="Arial"/>
                          <a:ea typeface="Arial"/>
                          <a:cs typeface="Arial"/>
                        </a:rPr>
                        <a:t>219.5</a:t>
                      </a:r>
                    </a:p>
                  </a:txBody>
                  <a:tcPr marL="95250" marR="95250" marT="76200" marB="7620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4275E"/>
                          </a:solidFill>
                          <a:latin typeface="Arial"/>
                          <a:ea typeface="Arial"/>
                          <a:cs typeface="Arial"/>
                        </a:rPr>
                        <a:t>140.9</a:t>
                      </a:r>
                    </a:p>
                  </a:txBody>
                  <a:tcPr marL="95250" marR="95250" marT="76200" marB="7620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4275E"/>
                          </a:solidFill>
                          <a:latin typeface="Arial"/>
                          <a:ea typeface="Arial"/>
                          <a:cs typeface="Arial"/>
                        </a:rPr>
                        <a:t>506.1</a:t>
                      </a:r>
                    </a:p>
                  </a:txBody>
                  <a:tcPr marL="95250" marR="95250" marT="76200" marB="7620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EAF2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Pure GEMM: 1.56× faster; current surrounding path: 0.43×">
            <a:extLst>
              <a:ext uri="{FF2B5EF4-FFF2-40B4-BE49-F238E27FC236}">
                <a16:creationId xmlns:a16="http://schemas.microsoft.com/office/drawing/2014/main" id="{D6656033-9F77-432D-A60C-9CFE8DB1EA06}"/>
              </a:ext>
            </a:extLst>
          </p:cNvPr>
          <p:cNvSpPr>
            <a:spLocks noGrp="1"/>
          </p:cNvSpPr>
          <p:nvPr/>
        </p:nvSpPr>
        <p:spPr>
          <a:xfrm>
            <a:off x="609600" y="3495675"/>
            <a:ext cx="7905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9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75E"/>
                </a:solidFill>
                <a:latin typeface="Arial"/>
                <a:ea typeface="Arial"/>
                <a:cs typeface="Arial"/>
              </a:rPr>
              <a:t>Pure GEMM: 1.56× faster; current surrounding path: 0.43×</a:t>
            </a:r>
          </a:p>
        </p:txBody>
      </p:sp>
      <p:sp>
        <p:nvSpPr>
          <p:cNvPr id="6" name="Fuse quantization, decode and epilogue; use shape-dependent fallback f">
            <a:extLst>
              <a:ext uri="{FF2B5EF4-FFF2-40B4-BE49-F238E27FC236}">
                <a16:creationId xmlns:a16="http://schemas.microsoft.com/office/drawing/2014/main" id="{D8CC79C7-4FC0-40FA-9B0B-9621BD9F8A61}"/>
              </a:ext>
            </a:extLst>
          </p:cNvPr>
          <p:cNvSpPr>
            <a:spLocks noGrp="1"/>
          </p:cNvSpPr>
          <p:nvPr/>
        </p:nvSpPr>
        <p:spPr>
          <a:xfrm>
            <a:off x="609600" y="3990975"/>
            <a:ext cx="790575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Fuse quantization, decode and epilogue; retain BF16 for small GEMMs</a:t>
            </a:r>
          </a:p>
        </p:txBody>
      </p:sp>
      <p:sp>
        <p:nvSpPr>
          <p:cNvPr id="7" name="Shape microbenchmarks weighted by cached call counts; not a measured n">
            <a:extLst>
              <a:ext uri="{FF2B5EF4-FFF2-40B4-BE49-F238E27FC236}">
                <a16:creationId xmlns:a16="http://schemas.microsoft.com/office/drawing/2014/main" id="{7E0FA1BF-5AC4-46B6-BEAC-95C0387CD520}"/>
              </a:ext>
            </a:extLst>
          </p:cNvPr>
          <p:cNvSpPr>
            <a:spLocks noGrp="1"/>
          </p:cNvSpPr>
          <p:nvPr/>
        </p:nvSpPr>
        <p:spPr>
          <a:xfrm>
            <a:off x="609600" y="4476750"/>
            <a:ext cx="7905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773"/>
                </a:solidFill>
                <a:latin typeface="Arial"/>
                <a:ea typeface="Arial"/>
                <a:cs typeface="Arial"/>
              </a:rPr>
              <a:t>Shape microbenchmarks weighted by cached call counts; not a measured native INT8 full-policy latency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33400"/>
          </a:xfrm>
          <a:prstGeom prst="rect">
            <a:avLst/>
          </a:prstGeom>
        </p:spPr>
        <p:txBody>
          <a:bodyPr vert="horz" lIns="0" tIns="0" rIns="0" bIns="0" anchor="ctr">
            <a:noAutofit/>
          </a:bodyPr>
          <a:lstStyle>
            <a:def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Native INT8: a compatible scale contract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arget execution">
            <a:extLst>
              <a:ext uri="{FF2B5EF4-FFF2-40B4-BE49-F238E27FC236}">
                <a16:creationId xmlns:a16="http://schemas.microsoft.com/office/drawing/2014/main" id="{DF1B4A95-8D68-4E29-8FD2-3C7A2C4534DD}"/>
              </a:ext>
            </a:extLst>
          </p:cNvPr>
          <p:cNvSpPr>
            <a:spLocks noGrp="1"/>
          </p:cNvSpPr>
          <p:nvPr/>
        </p:nvSpPr>
        <p:spPr>
          <a:xfrm>
            <a:off x="609600" y="981075"/>
            <a:ext cx="7905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275E"/>
                </a:solidFill>
                <a:latin typeface="Arial"/>
                <a:ea typeface="Arial"/>
                <a:cs typeface="Arial"/>
              </a:rPr>
              <a:t>Target execution</a:t>
            </a:r>
          </a:p>
        </p:txBody>
      </p:sp>
      <p:sp>
        <p:nvSpPr>
          <p:cNvPr id="5" name="Packed VQ → integer-compatible tile decode → INT8 × INT8 MMA → INT32 a">
            <a:extLst>
              <a:ext uri="{FF2B5EF4-FFF2-40B4-BE49-F238E27FC236}">
                <a16:creationId xmlns:a16="http://schemas.microsoft.com/office/drawing/2014/main" id="{0CD74DA7-051C-4F16-BFA9-4F8093BD00E9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790575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Packed VQ → integer-compatible tile decode → INT8 × INT8 MMA → INT32 accumulation → scaled BF16 output</a:t>
            </a:r>
          </a:p>
        </p:txBody>
      </p:sp>
      <p:sp>
        <p:nvSpPr>
          <p:cNvPr id="6" name="Required representation change">
            <a:extLst>
              <a:ext uri="{FF2B5EF4-FFF2-40B4-BE49-F238E27FC236}">
                <a16:creationId xmlns:a16="http://schemas.microsoft.com/office/drawing/2014/main" id="{2889B18E-91FA-42C5-8809-EF35203A1523}"/>
              </a:ext>
            </a:extLst>
          </p:cNvPr>
          <p:cNvSpPr>
            <a:spLocks noGrp="1"/>
          </p:cNvSpPr>
          <p:nvPr/>
        </p:nvSpPr>
        <p:spPr>
          <a:xfrm>
            <a:off x="609600" y="2324100"/>
            <a:ext cx="7905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275E"/>
                </a:solidFill>
                <a:latin typeface="Arial"/>
                <a:ea typeface="Arial"/>
                <a:cs typeface="Arial"/>
              </a:rPr>
              <a:t>Required representation change</a:t>
            </a:r>
          </a:p>
        </p:txBody>
      </p:sp>
      <p:sp>
        <p:nvSpPr>
          <p:cNvPr id="7" name="Constrain the reconstructed weight to an INT8 grid with a scale that m">
            <a:extLst>
              <a:ext uri="{FF2B5EF4-FFF2-40B4-BE49-F238E27FC236}">
                <a16:creationId xmlns:a16="http://schemas.microsoft.com/office/drawing/2014/main" id="{BCB550C8-474A-42C0-A4AC-79792B062C29}"/>
              </a:ext>
            </a:extLst>
          </p:cNvPr>
          <p:cNvSpPr>
            <a:spLocks noGrp="1"/>
          </p:cNvSpPr>
          <p:nvPr/>
        </p:nvSpPr>
        <p:spPr>
          <a:xfrm>
            <a:off x="609600" y="2724150"/>
            <a:ext cx="790575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Train the reconstructed weights on an INT8 grid with GEMM-compatible scales</a:t>
            </a:r>
          </a:p>
        </p:txBody>
      </p:sp>
      <p:sp>
        <p:nvSpPr>
          <p:cNvPr id="8" name="B32 scales vary along K: one post-GEMM scale is generally invalid">
            <a:extLst>
              <a:ext uri="{FF2B5EF4-FFF2-40B4-BE49-F238E27FC236}">
                <a16:creationId xmlns:a16="http://schemas.microsoft.com/office/drawing/2014/main" id="{EF545F5B-24AD-4AE4-A552-165396E849EE}"/>
              </a:ext>
            </a:extLst>
          </p:cNvPr>
          <p:cNvSpPr>
            <a:spLocks noGrp="1"/>
          </p:cNvSpPr>
          <p:nvPr/>
        </p:nvSpPr>
        <p:spPr>
          <a:xfrm>
            <a:off x="609600" y="3724275"/>
            <a:ext cx="7905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75" b="1">
                <a:solidFill>
                  <a:srgbClr val="B9681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96813"/>
                </a:solidFill>
                <a:latin typeface="Arial"/>
                <a:ea typeface="Arial"/>
                <a:cs typeface="Arial"/>
              </a:rPr>
              <a:t>B32 scales vary along K: one post-GEMM scale is generally invalid</a:t>
            </a:r>
          </a:p>
        </p:txBody>
      </p:sp>
      <p:sp>
        <p:nvSpPr>
          <p:cNvPr id="9" name="Compare GEMM-compatible row scales against groupwise scaled partial ac">
            <a:extLst>
              <a:ext uri="{FF2B5EF4-FFF2-40B4-BE49-F238E27FC236}">
                <a16:creationId xmlns:a16="http://schemas.microsoft.com/office/drawing/2014/main" id="{F433EDBD-E785-4425-AD88-B9180D32178C}"/>
              </a:ext>
            </a:extLst>
          </p:cNvPr>
          <p:cNvSpPr>
            <a:spLocks noGrp="1"/>
          </p:cNvSpPr>
          <p:nvPr/>
        </p:nvSpPr>
        <p:spPr>
          <a:xfrm>
            <a:off x="609600" y="4124325"/>
            <a:ext cx="79057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Compare GEMM-compatible row scales against groupwise scaled partial accumulation</a:t>
            </a:r>
          </a:p>
        </p:txBody>
      </p:sp>
      <p:sp>
        <p:nvSpPr>
          <p:cNvPr id="10" name="A100 dense peak: INT8 624 TOPS vs BF16 312 TFLOPS (theoretical 2×)">
            <a:extLst>
              <a:ext uri="{FF2B5EF4-FFF2-40B4-BE49-F238E27FC236}">
                <a16:creationId xmlns:a16="http://schemas.microsoft.com/office/drawing/2014/main" id="{3F0AD480-46CC-4DEE-9CEB-7440A89B2BF1}"/>
              </a:ext>
            </a:extLst>
          </p:cNvPr>
          <p:cNvSpPr>
            <a:spLocks noGrp="1"/>
          </p:cNvSpPr>
          <p:nvPr/>
        </p:nvSpPr>
        <p:spPr>
          <a:xfrm>
            <a:off x="609600" y="3390900"/>
            <a:ext cx="7905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42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42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4275E"/>
                </a:solidFill>
                <a:latin typeface="Arial"/>
                <a:ea typeface="Arial"/>
                <a:cs typeface="Arial"/>
              </a:rPr>
              <a:t>A100 dense peak: INT8 624 TOPS vs BF16 312 TFLOPS (theoretical 2×)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33400"/>
          </a:xfrm>
          <a:prstGeom prst="rect">
            <a:avLst/>
          </a:prstGeom>
        </p:spPr>
        <p:txBody>
          <a:bodyPr vert="horz" lIns="0" tIns="0" rIns="0" bIns="0" anchor="ctr">
            <a:noAutofit/>
          </a:bodyPr>
          <a:lstStyle>
            <a:def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Comparison matrix: storage and compute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1F822A3A-B9D5-4C15-91DC-DD374F237B62}"/>
              </a:ext>
            </a:extLst>
          </p:cNvPr>
          <p:cNvGraphicFramePr/>
          <p:nvPr/>
        </p:nvGraphicFramePr>
        <p:xfrm>
          <a:off x="609600" y="1047750"/>
          <a:ext cx="7905750" cy="2514600"/>
        </p:xfrm>
        <a:graphic>
          <a:graphicData uri="http://schemas.openxmlformats.org/drawingml/2006/table">
            <a:tbl>
              <a:tblPr/>
              <a:tblGrid>
                <a:gridCol w="2162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0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28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86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Comparison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Storage</a:t>
                      </a:r>
                    </a:p>
                  </a:txBody>
                  <a:tcPr marL="95250" marR="95250" marT="76200" marB="7620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Actual compute</a:t>
                      </a:r>
                    </a:p>
                  </a:txBody>
                  <a:tcPr marL="95250" marR="95250" marT="76200" marB="7620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Question to answer</a:t>
                      </a:r>
                    </a:p>
                  </a:txBody>
                  <a:tcPr marL="95250" marR="95250" marT="76200" marB="7620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Main: W4A8 families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~4 bpw</a:t>
                      </a:r>
                    </a:p>
                  </a:txBody>
                  <a:tcPr marL="95250" marR="95250" marT="76200" marB="7620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INT8 on A100</a:t>
                      </a:r>
                    </a:p>
                  </a:txBody>
                  <a:tcPr marL="95250" marR="95250" marT="76200" marB="7620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Better control / future fidelity?</a:t>
                      </a:r>
                    </a:p>
                  </a:txBody>
                  <a:tcPr marL="95250" marR="95250" marT="76200" marB="7620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W4A4 native variants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~4–4.8 bpw</a:t>
                      </a:r>
                    </a:p>
                  </a:txBody>
                  <a:tcPr marL="95250" marR="95250" marT="76200" marB="7620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INT4 (where supported)</a:t>
                      </a:r>
                    </a:p>
                  </a:txBody>
                  <a:tcPr marL="95250" marR="95250" marT="76200" marB="7620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Accuracy gained at 8-bit compute cost?</a:t>
                      </a:r>
                    </a:p>
                  </a:txBody>
                  <a:tcPr marL="95250" marR="95250" marT="76200" marB="7620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W8A8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~8 bpw</a:t>
                      </a:r>
                    </a:p>
                  </a:txBody>
                  <a:tcPr marL="95250" marR="95250" marT="76200" marB="7620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INT8</a:t>
                      </a:r>
                    </a:p>
                  </a:txBody>
                  <a:tcPr marL="95250" marR="95250" marT="76200" marB="7620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Similar fidelity with ~half weight storage?</a:t>
                      </a:r>
                    </a:p>
                  </a:txBody>
                  <a:tcPr marL="95250" marR="95250" marT="76200" marB="7620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Planned families: SmoothQuant, QServe/QQQ-style, ViDiT-Q and diffusion">
            <a:extLst>
              <a:ext uri="{FF2B5EF4-FFF2-40B4-BE49-F238E27FC236}">
                <a16:creationId xmlns:a16="http://schemas.microsoft.com/office/drawing/2014/main" id="{AD2CE28E-4EA3-424C-9B7E-E0D1C2CADBA5}"/>
              </a:ext>
            </a:extLst>
          </p:cNvPr>
          <p:cNvSpPr>
            <a:spLocks noGrp="1"/>
          </p:cNvSpPr>
          <p:nvPr/>
        </p:nvSpPr>
        <p:spPr>
          <a:xfrm>
            <a:off x="609600" y="3790950"/>
            <a:ext cx="79057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75E"/>
                </a:solidFill>
                <a:latin typeface="Arial"/>
                <a:ea typeface="Arial"/>
                <a:cs typeface="Arial"/>
              </a:rPr>
              <a:t>Planned families: SmoothQuant, QServe/QQQ-style, ViDiT-Q and diffusion PTQ</a:t>
            </a:r>
          </a:p>
        </p:txBody>
      </p:sp>
      <p:sp>
        <p:nvSpPr>
          <p:cNvPr id="6" name="Treat these as adaptation candidates. Count scales, codebooks, residua">
            <a:extLst>
              <a:ext uri="{FF2B5EF4-FFF2-40B4-BE49-F238E27FC236}">
                <a16:creationId xmlns:a16="http://schemas.microsoft.com/office/drawing/2014/main" id="{F0449032-C755-45C0-8A38-FA2F7FF2A67B}"/>
              </a:ext>
            </a:extLst>
          </p:cNvPr>
          <p:cNvSpPr>
            <a:spLocks noGrp="1"/>
          </p:cNvSpPr>
          <p:nvPr/>
        </p:nvSpPr>
        <p:spPr>
          <a:xfrm>
            <a:off x="609600" y="4476750"/>
            <a:ext cx="7905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773"/>
                </a:solidFill>
                <a:latin typeface="Arial"/>
                <a:ea typeface="Arial"/>
                <a:cs typeface="Arial"/>
              </a:rPr>
              <a:t>Treat these as adaptation candidates. Count scales, codebooks, residuals and precision exceptions in effective bpw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33400"/>
          </a:xfrm>
          <a:prstGeom prst="rect">
            <a:avLst/>
          </a:prstGeom>
        </p:spPr>
        <p:txBody>
          <a:bodyPr vert="horz" lIns="0" tIns="0" rIns="0" bIns="0" anchor="ctr">
            <a:noAutofit/>
          </a:bodyPr>
          <a:lstStyle>
            <a:def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Weight-only and low-bpw comparisons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A3DBE8BA-145E-4582-AD28-4D2C402137D4}"/>
              </a:ext>
            </a:extLst>
          </p:cNvPr>
          <p:cNvGraphicFramePr/>
          <p:nvPr/>
        </p:nvGraphicFramePr>
        <p:xfrm>
          <a:off x="609600" y="1047750"/>
          <a:ext cx="7905750" cy="2066925"/>
        </p:xfrm>
        <a:graphic>
          <a:graphicData uri="http://schemas.openxmlformats.org/drawingml/2006/table">
            <a:tbl>
              <a:tblPr/>
              <a:tblGrid>
                <a:gridCol w="1466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8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62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7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8897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Group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Storage / compute</a:t>
                      </a:r>
                    </a:p>
                  </a:txBody>
                  <a:tcPr marL="95250" marR="95250" marT="76200" marB="7620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Candidate families</a:t>
                      </a:r>
                    </a:p>
                  </a:txBody>
                  <a:tcPr marL="95250" marR="95250" marT="76200" marB="7620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Testable claim</a:t>
                      </a:r>
                    </a:p>
                  </a:txBody>
                  <a:tcPr marL="95250" marR="95250" marT="76200" marB="7620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897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Weight-only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~4 bpw / BF16</a:t>
                      </a:r>
                    </a:p>
                  </a:txBody>
                  <a:tcPr marL="95250" marR="95250" marT="76200" marB="7620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GPTQ / AWQ / AQLM / QuIP#</a:t>
                      </a:r>
                    </a:p>
                  </a:txBody>
                  <a:tcPr marL="95250" marR="95250" marT="76200" marB="7620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Same storage, quality–latency tradeoff</a:t>
                      </a:r>
                    </a:p>
                  </a:txBody>
                  <a:tcPr marL="95250" marR="95250" marT="76200" marB="7620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897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Low-bpw + A8</a:t>
                      </a:r>
                    </a:p>
                  </a:txBody>
                  <a:tcPr marL="95250" marR="95250" marT="76200" marB="7620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2–3 bpw / INT8</a:t>
                      </a:r>
                    </a:p>
                  </a:txBody>
                  <a:tcPr marL="95250" marR="95250" marT="76200" marB="7620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Scalar W2/W3; AQLM / QuIP# + A8</a:t>
                      </a:r>
                    </a:p>
                  </a:txBody>
                  <a:tcPr marL="95250" marR="95250" marT="76200" marB="7620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Does VQ retain control at lower storage?</a:t>
                      </a:r>
                    </a:p>
                  </a:txBody>
                  <a:tcPr marL="95250" marR="95250" marT="76200" marB="7620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Method family names do not define an executable backend">
            <a:extLst>
              <a:ext uri="{FF2B5EF4-FFF2-40B4-BE49-F238E27FC236}">
                <a16:creationId xmlns:a16="http://schemas.microsoft.com/office/drawing/2014/main" id="{C68782A6-15FA-4E76-BCB6-5A2235C2534F}"/>
              </a:ext>
            </a:extLst>
          </p:cNvPr>
          <p:cNvSpPr>
            <a:spLocks noGrp="1"/>
          </p:cNvSpPr>
          <p:nvPr/>
        </p:nvSpPr>
        <p:spPr>
          <a:xfrm>
            <a:off x="609600" y="3476625"/>
            <a:ext cx="79057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02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275E"/>
                </a:solidFill>
                <a:latin typeface="Arial"/>
                <a:ea typeface="Arial"/>
                <a:cs typeface="Arial"/>
              </a:rPr>
              <a:t>Method family names do not define an executable backend</a:t>
            </a:r>
          </a:p>
        </p:txBody>
      </p:sp>
      <p:sp>
        <p:nvSpPr>
          <p:cNvPr id="6" name="Separate locally measured points, adapted implementations and publishe">
            <a:extLst>
              <a:ext uri="{FF2B5EF4-FFF2-40B4-BE49-F238E27FC236}">
                <a16:creationId xmlns:a16="http://schemas.microsoft.com/office/drawing/2014/main" id="{9A4F6E56-87DD-46F9-8C4E-9B026692C6DF}"/>
              </a:ext>
            </a:extLst>
          </p:cNvPr>
          <p:cNvSpPr>
            <a:spLocks noGrp="1"/>
          </p:cNvSpPr>
          <p:nvPr/>
        </p:nvSpPr>
        <p:spPr>
          <a:xfrm>
            <a:off x="609600" y="3981450"/>
            <a:ext cx="790575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Separate local measurements, adaptations and published results</a:t>
            </a:r>
          </a:p>
        </p:txBody>
      </p:sp>
      <p:sp>
        <p:nvSpPr>
          <p:cNvPr id="7" name="Do not assume scalar methods collapse at 2–3 bpw; test that hypothesis">
            <a:extLst>
              <a:ext uri="{FF2B5EF4-FFF2-40B4-BE49-F238E27FC236}">
                <a16:creationId xmlns:a16="http://schemas.microsoft.com/office/drawing/2014/main" id="{8A1FB528-C385-4284-8E7A-ED37589AC334}"/>
              </a:ext>
            </a:extLst>
          </p:cNvPr>
          <p:cNvSpPr>
            <a:spLocks noGrp="1"/>
          </p:cNvSpPr>
          <p:nvPr/>
        </p:nvSpPr>
        <p:spPr>
          <a:xfrm>
            <a:off x="609600" y="4476750"/>
            <a:ext cx="7905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773"/>
                </a:solidFill>
                <a:latin typeface="Arial"/>
                <a:ea typeface="Arial"/>
                <a:cs typeface="Arial"/>
              </a:rPr>
              <a:t>Do not assume scalar methods collapse at 2–3 bpw; test that hypothesis on a matched protocol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33400"/>
          </a:xfrm>
          <a:prstGeom prst="rect">
            <a:avLst/>
          </a:prstGeom>
        </p:spPr>
        <p:txBody>
          <a:bodyPr vert="horz" lIns="0" tIns="0" rIns="0" bIns="0" anchor="ctr">
            <a:noAutofit/>
          </a:bodyPr>
          <a:lstStyle>
            <a:def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Causal ablations for INT8-compatible VQ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56B74C23-87EC-483E-B2DD-7D3FAD65829F}"/>
              </a:ext>
            </a:extLst>
          </p:cNvPr>
          <p:cNvGraphicFramePr/>
          <p:nvPr/>
        </p:nvGraphicFramePr>
        <p:xfrm>
          <a:off x="609600" y="1047750"/>
          <a:ext cx="7905750" cy="2893060"/>
        </p:xfrm>
        <a:graphic>
          <a:graphicData uri="http://schemas.openxmlformats.org/drawingml/2006/table">
            <a:tbl>
              <a:tblPr/>
              <a:tblGrid>
                <a:gridCol w="1819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1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5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99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Factor</a:t>
                      </a:r>
                    </a:p>
                  </a:txBody>
                  <a:tcPr marL="85725" marR="85725" marT="47625" marB="47625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Controlled comparison</a:t>
                      </a:r>
                    </a:p>
                  </a:txBody>
                  <a:tcPr marL="85725" marR="85725" marT="47625" marB="47625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Evidence obtained</a:t>
                      </a:r>
                    </a:p>
                  </a:txBody>
                  <a:tcPr marL="85725" marR="85725" marT="47625" marB="47625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Activation precision</a:t>
                      </a:r>
                    </a:p>
                  </a:txBody>
                  <a:tcPr marL="85725" marR="85725" marT="47625" marB="47625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Same Q0: A4 / A8 / A16</a:t>
                      </a:r>
                    </a:p>
                  </a:txBody>
                  <a:tcPr marL="85725" marR="85725" marT="47625" marB="47625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Cost of activation quantization</a:t>
                      </a:r>
                    </a:p>
                  </a:txBody>
                  <a:tcPr marL="85725" marR="85725" marT="47625" marB="47625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Integer grid</a:t>
                      </a:r>
                    </a:p>
                  </a:txBody>
                  <a:tcPr marL="85725" marR="85725" marT="47625" marB="47625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Same coordinates + A8; grid on/off</a:t>
                      </a:r>
                    </a:p>
                  </a:txBody>
                  <a:tcPr marL="85725" marR="85725" marT="47625" marB="47625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Extra error from integer compatibility</a:t>
                      </a:r>
                    </a:p>
                  </a:txBody>
                  <a:tcPr marL="85725" marR="85725" marT="47625" marB="47625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Transform</a:t>
                      </a:r>
                    </a:p>
                  </a:txBody>
                  <a:tcPr marL="85725" marR="85725" marT="47625" marB="47625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Same grid + A8; H-only / H + U</a:t>
                      </a:r>
                    </a:p>
                  </a:txBody>
                  <a:tcPr marL="85725" marR="85725" marT="47625" marB="47625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Quality gain vs transform overhead</a:t>
                      </a:r>
                    </a:p>
                  </a:txBody>
                  <a:tcPr marL="85725" marR="85725" marT="47625" marB="47625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Loss</a:t>
                      </a:r>
                    </a:p>
                  </a:txBody>
                  <a:tcPr marL="85725" marR="85725" marT="47625" marB="47625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Same init / budget: A+Z / A+Z+KL</a:t>
                      </a:r>
                    </a:p>
                  </a:txBody>
                  <a:tcPr marL="85725" marR="85725" marT="47625" marB="47625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Control-readout supervision</a:t>
                      </a:r>
                    </a:p>
                  </a:txBody>
                  <a:tcPr marL="85725" marR="85725" marT="47625" marB="47625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Kernel</a:t>
                      </a:r>
                    </a:p>
                  </a:txBody>
                  <a:tcPr marL="85725" marR="85725" marT="47625" marB="47625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Same numeric path: separate / fused</a:t>
                      </a:r>
                    </a:p>
                  </a:txBody>
                  <a:tcPr marL="85725" marR="85725" marT="47625" marB="47625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Runtime benefit from fusion</a:t>
                      </a:r>
                    </a:p>
                  </a:txBody>
                  <a:tcPr marL="85725" marR="85725" marT="47625" marB="47625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Freeze data, indices, budget and checkpoint rule before evaluation">
            <a:extLst>
              <a:ext uri="{FF2B5EF4-FFF2-40B4-BE49-F238E27FC236}">
                <a16:creationId xmlns:a16="http://schemas.microsoft.com/office/drawing/2014/main" id="{EE28F4CA-421B-4424-A5C1-F71C31280D1A}"/>
              </a:ext>
            </a:extLst>
          </p:cNvPr>
          <p:cNvSpPr>
            <a:spLocks noGrp="1"/>
          </p:cNvSpPr>
          <p:nvPr/>
        </p:nvSpPr>
        <p:spPr>
          <a:xfrm>
            <a:off x="609600" y="4095750"/>
            <a:ext cx="79057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275E"/>
                </a:solidFill>
                <a:latin typeface="Arial"/>
                <a:ea typeface="Arial"/>
                <a:cs typeface="Arial"/>
              </a:rPr>
              <a:t>Freeze data, indices, budget and checkpoint rule before evaluation</a:t>
            </a:r>
          </a:p>
        </p:txBody>
      </p:sp>
      <p:sp>
        <p:nvSpPr>
          <p:cNvPr id="6" name="Cross factor effects only after the single-factor checks; never select">
            <a:extLst>
              <a:ext uri="{FF2B5EF4-FFF2-40B4-BE49-F238E27FC236}">
                <a16:creationId xmlns:a16="http://schemas.microsoft.com/office/drawing/2014/main" id="{7EA25C66-FCA9-4126-AA08-EBDB8574F200}"/>
              </a:ext>
            </a:extLst>
          </p:cNvPr>
          <p:cNvSpPr>
            <a:spLocks noGrp="1"/>
          </p:cNvSpPr>
          <p:nvPr/>
        </p:nvSpPr>
        <p:spPr>
          <a:xfrm>
            <a:off x="609600" y="4476750"/>
            <a:ext cx="7905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773"/>
                </a:solidFill>
                <a:latin typeface="Arial"/>
                <a:ea typeface="Arial"/>
                <a:cs typeface="Arial"/>
              </a:rPr>
              <a:t>Cross factor effects only after the single-factor checks; never select checkpoints on the held-out panel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33400"/>
          </a:xfrm>
          <a:prstGeom prst="rect">
            <a:avLst/>
          </a:prstGeom>
        </p:spPr>
        <p:txBody>
          <a:bodyPr vert="horz" lIns="0" tIns="0" rIns="0" bIns="0" anchor="ctr">
            <a:noAutofit/>
          </a:bodyPr>
          <a:lstStyle>
            <a:def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Experiment plan and decision criteria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FF6BD4D2-FEA5-467D-A438-1A0EB6D5796E}"/>
              </a:ext>
            </a:extLst>
          </p:cNvPr>
          <p:cNvGraphicFramePr/>
          <p:nvPr/>
        </p:nvGraphicFramePr>
        <p:xfrm>
          <a:off x="609600" y="1047750"/>
          <a:ext cx="7905750" cy="2733675"/>
        </p:xfrm>
        <a:graphic>
          <a:graphicData uri="http://schemas.openxmlformats.org/drawingml/2006/table">
            <a:tbl>
              <a:tblPr/>
              <a:tblGrid>
                <a:gridCol w="1638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48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625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Stage</a:t>
                      </a:r>
                    </a:p>
                  </a:txBody>
                  <a:tcPr marL="85725" marR="85725" marT="57150" marB="5715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Protocol</a:t>
                      </a:r>
                    </a:p>
                  </a:txBody>
                  <a:tcPr marL="85725" marR="85725" marT="57150" marB="5715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Decision</a:t>
                      </a:r>
                    </a:p>
                  </a:txBody>
                  <a:tcPr marL="85725" marR="85725" marT="57150" marB="5715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>
                      <a:solidFill>
                        <a:srgbClr val="D4DCE6"/>
                      </a:solidFill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1427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6255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1. Representation</a:t>
                      </a:r>
                    </a:p>
                  </a:txBody>
                  <a:tcPr marL="85725" marR="85725" marT="57150" marB="5715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C80 calibration; frozen 40-context proxy panel</a:t>
                      </a:r>
                    </a:p>
                  </a:txBody>
                  <a:tcPr marL="85725" marR="85725" marT="57150" marB="5715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Preserve action + future fidelity</a:t>
                      </a:r>
                    </a:p>
                  </a:txBody>
                  <a:tcPr marL="85725" marR="85725" marT="57150" marB="5715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6255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2. Native kernel</a:t>
                      </a:r>
                    </a:p>
                  </a:txBody>
                  <a:tcPr marL="85725" marR="85725" marT="57150" marB="5715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Same A100; same queries, cache and Graph</a:t>
                      </a:r>
                    </a:p>
                  </a:txBody>
                  <a:tcPr marL="85725" marR="85725" marT="57150" marB="5715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Beat optimized BF16 latency at lower peak</a:t>
                      </a:r>
                    </a:p>
                  </a:txBody>
                  <a:tcPr marL="85725" marR="85725" marT="57150" marB="5715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6255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3. Closed-loop</a:t>
                      </a:r>
                    </a:p>
                  </a:txBody>
                  <a:tcPr marL="85725" marR="85725" marT="57150" marB="5715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Paired standard LIBERO + perturbation panels</a:t>
                      </a:r>
                    </a:p>
                  </a:txBody>
                  <a:tcPr marL="85725" marR="85725" marT="57150" marB="5715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Confirm the fixed-input gains transfer</a:t>
                      </a:r>
                    </a:p>
                  </a:txBody>
                  <a:tcPr marL="85725" marR="85725" marT="57150" marB="5715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625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4. Replication</a:t>
                      </a:r>
                    </a:p>
                  </a:txBody>
                  <a:tcPr marL="85725" marR="85725" marT="57150" marB="57150" anchor="ctr">
                    <a:lnL w="5715">
                      <a:solidFill>
                        <a:srgbClr val="D4DCE6"/>
                      </a:solidFill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Calibration seeds + GPU timing blocks</a:t>
                      </a:r>
                    </a:p>
                  </a:txBody>
                  <a:tcPr marL="85725" marR="85725" marT="57150" marB="5715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8222F"/>
                          </a:solidFill>
                          <a:latin typeface="Arial"/>
                          <a:ea typeface="Arial"/>
                          <a:cs typeface="Arial"/>
                        </a:rPr>
                        <a:t>Quality / memory / latency frontier</a:t>
                      </a:r>
                    </a:p>
                  </a:txBody>
                  <a:tcPr marL="85725" marR="85725" marT="57150" marB="57150" anchor="ctr">
                    <a:lnL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4DCE6"/>
                      </a:solidFill>
                    </a:lnR>
                    <a:lnT w="5715" cap="flat" cmpd="sng" algn="ctr">
                      <a:solidFill>
                        <a:srgbClr val="D4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4DC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Predeclare success-rate margins; report paired differences and uncerta">
            <a:extLst>
              <a:ext uri="{FF2B5EF4-FFF2-40B4-BE49-F238E27FC236}">
                <a16:creationId xmlns:a16="http://schemas.microsoft.com/office/drawing/2014/main" id="{2E604F9D-C208-4C61-A95D-6261985CEB26}"/>
              </a:ext>
            </a:extLst>
          </p:cNvPr>
          <p:cNvSpPr>
            <a:spLocks noGrp="1"/>
          </p:cNvSpPr>
          <p:nvPr/>
        </p:nvSpPr>
        <p:spPr>
          <a:xfrm>
            <a:off x="609600" y="4010025"/>
            <a:ext cx="7905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75E"/>
                </a:solidFill>
                <a:latin typeface="Arial"/>
                <a:ea typeface="Arial"/>
                <a:cs typeface="Arial"/>
              </a:rPr>
              <a:t>Predefine margins; report paired effects with uncertainty</a:t>
            </a:r>
          </a:p>
        </p:txBody>
      </p:sp>
      <p:sp>
        <p:nvSpPr>
          <p:cNvPr id="6" name="Proposed work only. Interleave timing within GPU/run blocks; retain fa">
            <a:extLst>
              <a:ext uri="{FF2B5EF4-FFF2-40B4-BE49-F238E27FC236}">
                <a16:creationId xmlns:a16="http://schemas.microsoft.com/office/drawing/2014/main" id="{B3C9878D-F9CF-46CC-864E-F9349F73253D}"/>
              </a:ext>
            </a:extLst>
          </p:cNvPr>
          <p:cNvSpPr>
            <a:spLocks noGrp="1"/>
          </p:cNvSpPr>
          <p:nvPr/>
        </p:nvSpPr>
        <p:spPr>
          <a:xfrm>
            <a:off x="609600" y="4476750"/>
            <a:ext cx="7905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050" b="0">
                <a:solidFill>
                  <a:srgbClr val="5D67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773"/>
                </a:solidFill>
                <a:latin typeface="Arial"/>
                <a:ea typeface="Arial"/>
                <a:cs typeface="Arial"/>
              </a:rPr>
              <a:t>Proposed work only. Interleave timing within GPU/run blocks; retain failures and all precision exceptions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33400"/>
          </a:xfrm>
          <a:prstGeom prst="rect">
            <a:avLst/>
          </a:prstGeom>
        </p:spPr>
        <p:txBody>
          <a:bodyPr vert="horz" lIns="0" tIns="0" rIns="0" bIns="0" anchor="ctr">
            <a:noAutofit/>
          </a:bodyPr>
          <a:lstStyle>
            <a:def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255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Current conclusion and discussion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Established">
            <a:extLst>
              <a:ext uri="{FF2B5EF4-FFF2-40B4-BE49-F238E27FC236}">
                <a16:creationId xmlns:a16="http://schemas.microsoft.com/office/drawing/2014/main" id="{576911A5-1FA4-49E1-B4BB-AA56BB1B628D}"/>
              </a:ext>
            </a:extLst>
          </p:cNvPr>
          <p:cNvSpPr>
            <a:spLocks noGrp="1"/>
          </p:cNvSpPr>
          <p:nvPr/>
        </p:nvSpPr>
        <p:spPr>
          <a:xfrm>
            <a:off x="609600" y="981075"/>
            <a:ext cx="7905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275E"/>
                </a:solidFill>
                <a:latin typeface="Arial"/>
                <a:ea typeface="Arial"/>
                <a:cs typeface="Arial"/>
              </a:rPr>
              <a:t>Established</a:t>
            </a:r>
          </a:p>
        </p:txBody>
      </p:sp>
      <p:sp>
        <p:nvSpPr>
          <p:cNvPr id="5" name="Q0 retains strong closed-loop performance and reduces resident memory;">
            <a:extLst>
              <a:ext uri="{FF2B5EF4-FFF2-40B4-BE49-F238E27FC236}">
                <a16:creationId xmlns:a16="http://schemas.microsoft.com/office/drawing/2014/main" id="{35821C82-231E-4663-B0A2-AB4D85DFEB7F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790575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Q0 retains strong closed-loop performance and reduces resident memory; the engine preserves Q0 outputs</a:t>
            </a:r>
          </a:p>
        </p:txBody>
      </p:sp>
      <p:sp>
        <p:nvSpPr>
          <p:cNvPr id="6" name="Remaining limitation">
            <a:extLst>
              <a:ext uri="{FF2B5EF4-FFF2-40B4-BE49-F238E27FC236}">
                <a16:creationId xmlns:a16="http://schemas.microsoft.com/office/drawing/2014/main" id="{89684D24-BE21-49A0-BF75-209EADFA6B25}"/>
              </a:ext>
            </a:extLst>
          </p:cNvPr>
          <p:cNvSpPr>
            <a:spLocks noGrp="1"/>
          </p:cNvSpPr>
          <p:nvPr/>
        </p:nvSpPr>
        <p:spPr>
          <a:xfrm>
            <a:off x="609600" y="2333625"/>
            <a:ext cx="7905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75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275E"/>
                </a:solidFill>
                <a:latin typeface="Arial"/>
                <a:ea typeface="Arial"/>
                <a:cs typeface="Arial"/>
              </a:rPr>
              <a:t>Remaining limitation</a:t>
            </a:r>
          </a:p>
        </p:txBody>
      </p:sp>
      <p:sp>
        <p:nvSpPr>
          <p:cNvPr id="7" name="Current A4 adds quantization error while the actual GEMM stays BF16. O">
            <a:extLst>
              <a:ext uri="{FF2B5EF4-FFF2-40B4-BE49-F238E27FC236}">
                <a16:creationId xmlns:a16="http://schemas.microsoft.com/office/drawing/2014/main" id="{6CA44465-307F-4235-B37B-6A9DE603D03B}"/>
              </a:ext>
            </a:extLst>
          </p:cNvPr>
          <p:cNvSpPr>
            <a:spLocks noGrp="1"/>
          </p:cNvSpPr>
          <p:nvPr/>
        </p:nvSpPr>
        <p:spPr>
          <a:xfrm>
            <a:off x="609600" y="2733675"/>
            <a:ext cx="790575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725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Current A4 adds quantization error while the actual GEMM stays BF16. Optimized BF16 is faster</a:t>
            </a:r>
          </a:p>
        </p:txBody>
      </p:sp>
      <p:sp>
        <p:nvSpPr>
          <p:cNvPr id="8" name="Next target: ~4 bpw VQ storage + A8 + a fused native INT8 path">
            <a:extLst>
              <a:ext uri="{FF2B5EF4-FFF2-40B4-BE49-F238E27FC236}">
                <a16:creationId xmlns:a16="http://schemas.microsoft.com/office/drawing/2014/main" id="{03BDE328-1C0B-4500-9910-C37DE27995A7}"/>
              </a:ext>
            </a:extLst>
          </p:cNvPr>
          <p:cNvSpPr>
            <a:spLocks noGrp="1"/>
          </p:cNvSpPr>
          <p:nvPr/>
        </p:nvSpPr>
        <p:spPr>
          <a:xfrm>
            <a:off x="609600" y="3800475"/>
            <a:ext cx="7905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100" b="1">
                <a:solidFill>
                  <a:srgbClr val="14275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75E"/>
                </a:solidFill>
                <a:latin typeface="Arial"/>
                <a:ea typeface="Arial"/>
                <a:cs typeface="Arial"/>
              </a:rPr>
              <a:t>Next: ~4 bpw VQ storage + A8 + fused INT8</a:t>
            </a:r>
          </a:p>
        </p:txBody>
      </p:sp>
      <p:sp>
        <p:nvSpPr>
          <p:cNvPr id="9" name="The key evidence must combine matched quality, lower memory and measur">
            <a:extLst>
              <a:ext uri="{FF2B5EF4-FFF2-40B4-BE49-F238E27FC236}">
                <a16:creationId xmlns:a16="http://schemas.microsoft.com/office/drawing/2014/main" id="{32778FD9-CBFA-4FC5-AD4C-860EA260179A}"/>
              </a:ext>
            </a:extLst>
          </p:cNvPr>
          <p:cNvSpPr>
            <a:spLocks noGrp="1"/>
          </p:cNvSpPr>
          <p:nvPr/>
        </p:nvSpPr>
        <p:spPr>
          <a:xfrm>
            <a:off x="609600" y="4276725"/>
            <a:ext cx="79057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0">
                <a:solidFill>
                  <a:srgbClr val="18222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8222F"/>
                </a:solidFill>
                <a:latin typeface="Arial"/>
                <a:ea typeface="Arial"/>
                <a:cs typeface="Arial"/>
              </a:rPr>
              <a:t>The key evidence must combine matched quality, lower memory and measured latency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4956</Words>
  <Application>Microsoft Office PowerPoint</Application>
  <DocSecurity>0</DocSecurity>
  <PresentationFormat>全屏显示(16:9)</PresentationFormat>
  <Paragraphs>800</Paragraphs>
  <Slides>23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Microscaling VQ for WAM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#GUO YICHEN#</cp:lastModifiedBy>
  <cp:revision>1</cp:revision>
  <dcterms:created xsi:type="dcterms:W3CDTF">2026-10-28T00:11:17Z</dcterms:created>
  <dcterms:modified xsi:type="dcterms:W3CDTF">2026-10-28T01:15:49Z</dcterms:modified>
</cp:coreProperties>
</file>