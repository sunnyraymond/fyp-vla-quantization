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6765a7d1634328" /><Relationship Type="http://schemas.openxmlformats.org/officeDocument/2006/relationships/extended-properties" Target="/docProps/app.xml" Id="R0237b6b22c3c42cd" /><Relationship Type="http://schemas.openxmlformats.org/officeDocument/2006/relationships/officeDocument" Target="/ppt/presentation.xml" Id="R3e0afd6491864b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f848345c544bf3"/>
  </p:sldMasterIdLst>
  <p:notesMasterIdLst>
    <p:notesMasterId xmlns:r="http://schemas.openxmlformats.org/officeDocument/2006/relationships" r:id="Rff03b11c1746486e"/>
  </p:notesMasterIdLst>
  <p:sldIdLst>
    <p:sldId xmlns:r="http://schemas.openxmlformats.org/officeDocument/2006/relationships" id="256" r:id="R4ddb810ab2e64fbf"/>
    <p:sldId xmlns:r="http://schemas.openxmlformats.org/officeDocument/2006/relationships" id="257" r:id="Rbd30983e623c4b69"/>
    <p:sldId xmlns:r="http://schemas.openxmlformats.org/officeDocument/2006/relationships" id="258" r:id="Rf78ca78a7ac74aca"/>
    <p:sldId xmlns:r="http://schemas.openxmlformats.org/officeDocument/2006/relationships" id="259" r:id="R2b9e720db5b84540"/>
    <p:sldId xmlns:r="http://schemas.openxmlformats.org/officeDocument/2006/relationships" id="260" r:id="Ra964f3ba7215449b"/>
    <p:sldId xmlns:r="http://schemas.openxmlformats.org/officeDocument/2006/relationships" id="261" r:id="Re21174c703004c28"/>
    <p:sldId xmlns:r="http://schemas.openxmlformats.org/officeDocument/2006/relationships" id="262" r:id="R58d2c47ec4464734"/>
    <p:sldId xmlns:r="http://schemas.openxmlformats.org/officeDocument/2006/relationships" id="263" r:id="R111aa8e885f54906"/>
    <p:sldId xmlns:r="http://schemas.openxmlformats.org/officeDocument/2006/relationships" id="264" r:id="Rd51c65ca7a8c4cdb"/>
    <p:sldId xmlns:r="http://schemas.openxmlformats.org/officeDocument/2006/relationships" id="265" r:id="R89633be591db4edd"/>
    <p:sldId xmlns:r="http://schemas.openxmlformats.org/officeDocument/2006/relationships" id="266" r:id="R94991832d8cc442f"/>
    <p:sldId xmlns:r="http://schemas.openxmlformats.org/officeDocument/2006/relationships" id="267" r:id="Rd40bea8251e24cd6"/>
    <p:sldId xmlns:r="http://schemas.openxmlformats.org/officeDocument/2006/relationships" id="268" r:id="R8e61796c72464964"/>
    <p:sldId xmlns:r="http://schemas.openxmlformats.org/officeDocument/2006/relationships" id="269" r:id="R3b31de490a824827"/>
    <p:sldId xmlns:r="http://schemas.openxmlformats.org/officeDocument/2006/relationships" id="270" r:id="R83da63ecceaa4b95"/>
    <p:sldId xmlns:r="http://schemas.openxmlformats.org/officeDocument/2006/relationships" id="271" r:id="R819060e88fdd4c63"/>
    <p:sldId xmlns:r="http://schemas.openxmlformats.org/officeDocument/2006/relationships" id="272" r:id="R7f28cc07413540d1"/>
    <p:sldId xmlns:r="http://schemas.openxmlformats.org/officeDocument/2006/relationships" id="273" r:id="Rc7785912e7834c71"/>
    <p:sldId xmlns:r="http://schemas.openxmlformats.org/officeDocument/2006/relationships" id="274" r:id="R1f44bec2ad384de4"/>
    <p:sldId xmlns:r="http://schemas.openxmlformats.org/officeDocument/2006/relationships" id="275" r:id="R8960992f54c144f2"/>
    <p:sldId xmlns:r="http://schemas.openxmlformats.org/officeDocument/2006/relationships" id="276" r:id="R01ed014c9c354fa9"/>
    <p:sldId xmlns:r="http://schemas.openxmlformats.org/officeDocument/2006/relationships" id="277" r:id="R1652551f09fb4192"/>
    <p:sldId xmlns:r="http://schemas.openxmlformats.org/officeDocument/2006/relationships" id="278" r:id="Rb24f4a182d5f4ba1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e9901ec32a46ee" /><Relationship Type="http://schemas.openxmlformats.org/officeDocument/2006/relationships/slideMaster" Target="/ppt/slideMasters/slideMaster1.xml" Id="R4ef848345c544bf3" /><Relationship Type="http://schemas.openxmlformats.org/officeDocument/2006/relationships/notesMaster" Target="/ppt/notesMasters/notesMaster1.xml" Id="Rff03b11c1746486e" /><Relationship Type="http://schemas.openxmlformats.org/officeDocument/2006/relationships/presProps" Target="/ppt/presProps.xml" Id="R25c741cc753448a7" /><Relationship Type="http://schemas.openxmlformats.org/officeDocument/2006/relationships/viewProps" Target="/ppt/viewProps.xml" Id="R0d024b4118a54fe1" /><Relationship Type="http://schemas.openxmlformats.org/officeDocument/2006/relationships/tableStyles" Target="/ppt/tableStyles.xml" Id="R229978c02b0d4939" /><Relationship Type="http://schemas.openxmlformats.org/officeDocument/2006/relationships/slide" Target="/ppt/slides/slide1.xml" Id="R4ddb810ab2e64fbf" /><Relationship Type="http://schemas.openxmlformats.org/officeDocument/2006/relationships/slide" Target="/ppt/slides/slide2.xml" Id="Rbd30983e623c4b69" /><Relationship Type="http://schemas.openxmlformats.org/officeDocument/2006/relationships/slide" Target="/ppt/slides/slide3.xml" Id="Rf78ca78a7ac74aca" /><Relationship Type="http://schemas.openxmlformats.org/officeDocument/2006/relationships/slide" Target="/ppt/slides/slide4.xml" Id="R2b9e720db5b84540" /><Relationship Type="http://schemas.openxmlformats.org/officeDocument/2006/relationships/slide" Target="/ppt/slides/slide5.xml" Id="Ra964f3ba7215449b" /><Relationship Type="http://schemas.openxmlformats.org/officeDocument/2006/relationships/slide" Target="/ppt/slides/slide6.xml" Id="Re21174c703004c28" /><Relationship Type="http://schemas.openxmlformats.org/officeDocument/2006/relationships/slide" Target="/ppt/slides/slide7.xml" Id="R58d2c47ec4464734" /><Relationship Type="http://schemas.openxmlformats.org/officeDocument/2006/relationships/slide" Target="/ppt/slides/slide8.xml" Id="R111aa8e885f54906" /><Relationship Type="http://schemas.openxmlformats.org/officeDocument/2006/relationships/slide" Target="/ppt/slides/slide9.xml" Id="Rd51c65ca7a8c4cdb" /><Relationship Type="http://schemas.openxmlformats.org/officeDocument/2006/relationships/slide" Target="/ppt/slides/slide10.xml" Id="R89633be591db4edd" /><Relationship Type="http://schemas.openxmlformats.org/officeDocument/2006/relationships/slide" Target="/ppt/slides/slide11.xml" Id="R94991832d8cc442f" /><Relationship Type="http://schemas.openxmlformats.org/officeDocument/2006/relationships/slide" Target="/ppt/slides/slide12.xml" Id="Rd40bea8251e24cd6" /><Relationship Type="http://schemas.openxmlformats.org/officeDocument/2006/relationships/slide" Target="/ppt/slides/slide13.xml" Id="R8e61796c72464964" /><Relationship Type="http://schemas.openxmlformats.org/officeDocument/2006/relationships/slide" Target="/ppt/slides/slide14.xml" Id="R3b31de490a824827" /><Relationship Type="http://schemas.openxmlformats.org/officeDocument/2006/relationships/slide" Target="/ppt/slides/slide15.xml" Id="R83da63ecceaa4b95" /><Relationship Type="http://schemas.openxmlformats.org/officeDocument/2006/relationships/slide" Target="/ppt/slides/slide16.xml" Id="R819060e88fdd4c63" /><Relationship Type="http://schemas.openxmlformats.org/officeDocument/2006/relationships/slide" Target="/ppt/slides/slide17.xml" Id="R7f28cc07413540d1" /><Relationship Type="http://schemas.openxmlformats.org/officeDocument/2006/relationships/slide" Target="/ppt/slides/slide18.xml" Id="Rc7785912e7834c71" /><Relationship Type="http://schemas.openxmlformats.org/officeDocument/2006/relationships/slide" Target="/ppt/slides/slide19.xml" Id="R1f44bec2ad384de4" /><Relationship Type="http://schemas.openxmlformats.org/officeDocument/2006/relationships/slide" Target="/ppt/slides/slide20.xml" Id="R8960992f54c144f2" /><Relationship Type="http://schemas.openxmlformats.org/officeDocument/2006/relationships/slide" Target="/ppt/slides/slide21.xml" Id="R01ed014c9c354fa9" /><Relationship Type="http://schemas.openxmlformats.org/officeDocument/2006/relationships/slide" Target="/ppt/slides/slide22.xml" Id="R1652551f09fb4192" /><Relationship Type="http://schemas.openxmlformats.org/officeDocument/2006/relationships/slide" Target="/ppt/slides/slide23.xml" Id="Rb24f4a182d5f4b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dc27593e8348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1d5f1381234454" /><Relationship Type="http://schemas.openxmlformats.org/officeDocument/2006/relationships/notesMaster" Target="/ppt/notesMasters/notesMaster1.xml" Id="R7608752afb9c46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5f9654eb0a4057" /><Relationship Type="http://schemas.openxmlformats.org/officeDocument/2006/relationships/notesMaster" Target="/ppt/notesMasters/notesMaster1.xml" Id="Rbc2aed6a4bf648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82b6df68994e3c" /><Relationship Type="http://schemas.openxmlformats.org/officeDocument/2006/relationships/notesMaster" Target="/ppt/notesMasters/notesMaster1.xml" Id="R9089e661386746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8a88ca967f4e1d" /><Relationship Type="http://schemas.openxmlformats.org/officeDocument/2006/relationships/notesMaster" Target="/ppt/notesMasters/notesMaster1.xml" Id="Rad4946cd094844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323e97d3624425" /><Relationship Type="http://schemas.openxmlformats.org/officeDocument/2006/relationships/notesMaster" Target="/ppt/notesMasters/notesMaster1.xml" Id="Rb176afc466cb4b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8eb8f49f4a46b1" /><Relationship Type="http://schemas.openxmlformats.org/officeDocument/2006/relationships/notesMaster" Target="/ppt/notesMasters/notesMaster1.xml" Id="R80f9ef59c06145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48b1aa5ca74791" /><Relationship Type="http://schemas.openxmlformats.org/officeDocument/2006/relationships/notesMaster" Target="/ppt/notesMasters/notesMaster1.xml" Id="Rff7124d6966b41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286e72835a436c" /><Relationship Type="http://schemas.openxmlformats.org/officeDocument/2006/relationships/notesMaster" Target="/ppt/notesMasters/notesMaster1.xml" Id="R1d9597e3b8c245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dcba8d9031415a" /><Relationship Type="http://schemas.openxmlformats.org/officeDocument/2006/relationships/notesMaster" Target="/ppt/notesMasters/notesMaster1.xml" Id="Ra905d454143947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e9bf625cfc49dc" /><Relationship Type="http://schemas.openxmlformats.org/officeDocument/2006/relationships/notesMaster" Target="/ppt/notesMasters/notesMaster1.xml" Id="R4a6c2c32353e41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18ada44ff44dde" /><Relationship Type="http://schemas.openxmlformats.org/officeDocument/2006/relationships/notesMaster" Target="/ppt/notesMasters/notesMaster1.xml" Id="R78b217c13f9845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8689027f234173" /><Relationship Type="http://schemas.openxmlformats.org/officeDocument/2006/relationships/notesMaster" Target="/ppt/notesMasters/notesMaster1.xml" Id="R1f0dbf2edf384d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a6b4114d6424909" /><Relationship Type="http://schemas.openxmlformats.org/officeDocument/2006/relationships/notesMaster" Target="/ppt/notesMasters/notesMaster1.xml" Id="R74663c59463141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8af114dc634da5" /><Relationship Type="http://schemas.openxmlformats.org/officeDocument/2006/relationships/notesMaster" Target="/ppt/notesMasters/notesMaster1.xml" Id="R25e89cdf415742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955f59584b4d5a" /><Relationship Type="http://schemas.openxmlformats.org/officeDocument/2006/relationships/notesMaster" Target="/ppt/notesMasters/notesMaster1.xml" Id="R8b2576f1f92345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74e92d099f47fe" /><Relationship Type="http://schemas.openxmlformats.org/officeDocument/2006/relationships/notesMaster" Target="/ppt/notesMasters/notesMaster1.xml" Id="R220e3e18743b4a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695ea0b2964e22" /><Relationship Type="http://schemas.openxmlformats.org/officeDocument/2006/relationships/notesMaster" Target="/ppt/notesMasters/notesMaster1.xml" Id="R19888805ac504f2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961918d3b74064" /><Relationship Type="http://schemas.openxmlformats.org/officeDocument/2006/relationships/notesMaster" Target="/ppt/notesMasters/notesMaster1.xml" Id="R137b7e06d3734d5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d6cb18a020945cf" /><Relationship Type="http://schemas.openxmlformats.org/officeDocument/2006/relationships/notesMaster" Target="/ppt/notesMasters/notesMaster1.xml" Id="Rab0e038cd5404d7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f6740bd4bb949da" /><Relationship Type="http://schemas.openxmlformats.org/officeDocument/2006/relationships/notesMaster" Target="/ppt/notesMasters/notesMaster1.xml" Id="R51a2b294cbd7406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4e550f45d7c4ebd" /><Relationship Type="http://schemas.openxmlformats.org/officeDocument/2006/relationships/notesMaster" Target="/ppt/notesMasters/notesMaster1.xml" Id="Rb1edce322c554ea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4135ab5d6c14253" /><Relationship Type="http://schemas.openxmlformats.org/officeDocument/2006/relationships/notesMaster" Target="/ppt/notesMasters/notesMaster1.xml" Id="Rc7c6fe6764f842d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2280059dd35449d" /><Relationship Type="http://schemas.openxmlformats.org/officeDocument/2006/relationships/notesMaster" Target="/ppt/notesMasters/notesMaster1.xml" Id="R79633972841e45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2026年10月28日组会。汇报当前Q0、部署与跨模型闭环证据，以及面向nativeINT8的定位和实验计划。</a:t>
            </a:r>
          </a:p>
          <a:p xmlns:a="http://schemas.openxmlformats.org/drawingml/2006/main">
            <a:r>
              <a:t>数据截止2026-10-27。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本次汇报先说明目前的Q0与真实部署能力，再报告跨模型和闭环结果，最后提出8-bit计算路线。A8准确率和INT8速度初测已完成，但新INT8 VQ engine尚不能当成完成结果。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Project/experiment/idea-validation/fastwam-libero-engine-20261027/RESULTS.zh.md</a:t>
            </a:r>
          </a:p>
          <a:p xmlns:a="http://schemas.openxmlformats.org/drawingml/2006/main">
            <a:r>
              <a:t>D:/Downloads/Final Year Project/experiment/idea-validation/fastwam-a8-accuracy-20261027/pulled/26029171.pbs101/RESULTS.zh.md</a:t>
            </a:r>
          </a:p>
          <a:p xmlns:a="http://schemas.openxmlformats.org/drawingml/2006/main"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Q0三联总图。先S+signed H128+learned U128在W16A4下校准，再固定R0并拟合VQ0，最后仅更新codebooks/log row gains。R128是局部变换块宽度，不是SVD rank。Indices、B32 exponents和底模不更新。总图为示意，后两页放大关键部分。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Project/experiment/idea-validation/fastwam-vq-r128-c80-loss-pair/protocol.json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这部分把activation与weight的坐标变换配对，实数形式X S^-1 R和W S R保持线性函数等价；实际FP32运算和BF16 cast顺序不能随意合并。双8-bit index表示每4个weight的两个码字，因此基础index成本4bpw，另有scales/books/metadata。图中矩阵为表示示意。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Project/experiment/idea-validation/fastwam-vq-r128-c80-loss-pair/protocol.json</a:t>
            </a:r>
          </a:p>
          <a:p xmlns:a="http://schemas.openxmlformats.org/drawingml/2006/main">
            <a:r>
              <a:t>D:/Downloads/Final Year Project/experiment/idea-validation/fastwam-vq-r128-c80-c-decoder-buffer/RESULTS.zh.md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R0来自C80一次覆盖：8个batch，每batch10 contexts，8次平均梯度更新。R0固定后拟合共同VQ0。matched loss-pair只改变reader KL，两臂各8updates、同C80。同原始BF16 future-to-action reader，把student future的控制后果映射成soft-bin分布；不是模型原生action概率KL。λ=0.04245452683169643，β=0.006083668576461056；first10 motor MSE + clean future NMSE + readerKL。reader校准时冻结但允许对输入future回传梯度，teacher stop-grad。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Project/experiment/idea-validation/fastwam-vq-r128-c80-loss-pair/protocol.json</a:t>
            </a:r>
          </a:p>
          <a:p xmlns:a="http://schemas.openxmlformats.org/drawingml/2006/main">
            <a:r>
              <a:t>D:/Downloads/Final Year Project/experiment/idea-validation/fastwam-vq-r128-c80-loss-pair-plus/RESULTS.zh.md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单独展开reader监督。aT/aQ为teacher与student输出的motor actions；zT/zQ是cleanfuturelatents。各自模型输出action与future是并行输出，不是把action变成future。将两种future输入同一冻结BF16actionreader、在同conditions及solverstate下读出motoraction，GaussianCDF软分bin后KL。reader本身不更新，但对studentfuture保留梯度，传回codebooks和logrowgains。此reader只在校准使用，不增加部署policyreaderforward。teacher所有参考stop-gra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Project/experiment/idea-validation/fastwam-vq-r128-c80-loss-pair/protocol.json</a:t>
            </a:r>
          </a:p>
          <a:p xmlns:a="http://schemas.openxmlformats.org/drawingml/2006/main">
            <a:r>
              <a:t>D:/Downloads/Final Year Project/experiment/idea-validation/fastwam-vq-r128-c80-loss-pair-plus/RESULTS.zh.md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两组同R0和VQ0，只改变KL项，所以这是最清楚的损失配对。+4不是显著性结论；不同扰动不全部改善。camera14→19，robot initial states33→31。BF16 reference是216。该面板是LIBERO-Plus，不能与新标准LIBERO400混用。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Project/experiment/idea-validation/fastwam-vq-r128-c80-loss-pair-plus/RESULTS.zh.md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论文风格engine总图。左为驻留编码与cache，中为每个Linear的真实数据路径，右为查询调度。所有数字数组是示意。U按现有FP32执行，非生成参考图上未经核对的BF16标注。当前始终先写当前整层BF16 weight scratch再cuBLAS，未实现register-only INT8。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Project/experiment/idea-validation/fastwam-vq-r128-c80-c-decoder-buffer/RESULTS.zh.md</a:t>
            </a:r>
          </a:p>
          <a:p xmlns:a="http://schemas.openxmlformats.org/drawingml/2006/main">
            <a:r>
              <a:t>D:/Downloads/Final Year Project/experiment/idea-validation/fastwam-vq-r128-c80-runtime-abc/RESULTS.zh.md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这页放大真实层内数据流。H→U→A4后H/U工作区不再需要，才可给weight decoder复用；不是同时覆盖。3个Graph是video_step、video_prefill和action_step。每query5258逻辑Linear，不能把Graph调用数当成层数。单请求单stream限制需要保留。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Project/experiment/idea-validation/fastwam-vq-r128-c80-c-decoder-buffer/RESULTS.zh.md</a:t>
            </a:r>
          </a:p>
          <a:p xmlns:a="http://schemas.openxmlformats.org/drawingml/2006/main">
            <a:r>
              <a:t>D:/Downloads/Final Year Project/experiment/idea-validation/fastwam-vq-r128-c80-runtime-abc/RESULTS.zh.md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这是今天阶段0新增的同作业公平对照。新BF16 eager1475.3ms、cachegraph540.9、Q0 896.1；Q0/optimizedBF16=1.6567。显存1−16.914/25.488=33.64%。BF16 cacheGraph与eager完整80action差异0，Q0对历史Q0action差异0。不要用之前1.635x相对未优化BF16的结果代表算法本身加速。该计时排除observation preprocessing、环境、load和Graph capture。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A/B/C同allocation，但旧layerdecode和最终decoderbuffer来自别的allocation。A为稳定地址并非独立加速。B query内cache使6436→5258次Linear，C降低提交开销。decoderbuffer对C p50−7.3%；buffer自身0.34%跨作业变化应视为基本持平。诊断query叶kernel类别BF16 GEMM226.973ms，decode150.871ms，FP32 SGEMM99.951ms，不能把intrusive profiler数据直接相加成headline latency。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Project/experiment/idea-validation/fastwam-vq-r128-c80-runtime-abc/RESULTS.zh.md</a:t>
            </a:r>
          </a:p>
          <a:p xmlns:a="http://schemas.openxmlformats.org/drawingml/2006/main">
            <a:r>
              <a:t>D:/Downloads/Final Year Project/experiment/idea-validation/fastwam-vq-r128-c80-c-decoder-buffer/RESULTS.zh.md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迁移使用nvidia/Cosmos-Policy-LIBERO-Predict2-2B的direct policy。Cosmos没有独立action decoder，reader不能生硬照搬Fast-WAM。第3次denoising evaluation前仅替换future slots6/7，同真实solver state和multistep history续跑冻结BF16 suffix，比较读出的motor action。Action slot4保留teacher值并detach。损失full16x6motor+futureviewNMSE+softbinKL，16bin GaussianCDF sigma.375。没有matchedAZ消融，不能把230归为KL单因果收益。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Project/experiment/idea-validation/cosmos-policy-vqwam-20261024/INTERIM_RESULTS.zh.md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六臂各280 paired LIBEROPlus；校准覆盖/预算不等：SpinQuant复用C8，其他C80。SVD差只代表本项目adapted rank16weighted-residual版本，不是官方SVDQuant。native性能另一个协议：BF16 80queries seeds0/1共720samples，ours40contexts seed0共40samples；sampler432.566/435.695ms，storage3.6441/1.2421GiB。DiT-only277.356/433.901ms，速度0.639。四个native baseline fidelity representative4failed/full80missing，不能把原closed-loop贴成native闭环证据。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Project/experiment/idea-validation/cosmos-policy-vqwam-20261024/INTERIM_RESULTS.zh.md</a:t>
            </a:r>
          </a:p>
          <a:p xmlns:a="http://schemas.openxmlformats.org/drawingml/2006/main">
            <a:r>
              <a:t>D:/Downloads/Final Year Project/experiment/idea-validation/cosmos-policy-native-perf-20261025/RESULTS_mixed.zh.md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新标准LIBERO400：spatial98、object99、goal97、long97，共391。不是之前280LIBEROPlus。同releasedOptionalIDM、同Q0final8、engine，0new updates。输出32x7执行前10，每suite40task各10states seed42。4workers complete，4张卡独立action/future anchor都为0。warm899.527ms计时不含observationpreprocessing、environment、load/capture。没有同400BF16，不能和官方2000episode未量化表差距归因量化。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Project/experiment/idea-validation/fastwam-libero-engine-20261027/RESULTS.zh.md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用户提出的关键定位：目前即使engine比eager快，A4最后放回BF16计算，没有A4原生算力红利。A8路线不是把存储改为8bit；VQ仍可约4bpw保存，算子解成8bit执行。A100 INT8 dense624TOPS vs BF16312TFLOPS峰值约2倍；权重进入INT8 operand后，A4塞INT8容器也按INT8 MMA速率，不是INT4峰值。FP8要放在Hopper/Ada等支持硬件另做。</a:t>
            </a:r>
          </a:p>
          <a:p xmlns:a="http://schemas.openxmlformats.org/drawingml/2006/main">
            <a:r>
              <a:t>外部依据：https://images.nvidia.com/aem-dam/en-zz/Solutions/data-center/nvidia-ampere-architecture-whitepaper.pdf</a:t>
            </a:r>
          </a:p>
          <a:p xmlns:a="http://schemas.openxmlformats.org/drawingml/2006/main">
            <a:r>
              <a:t>https://docs.nvidia.com/cuda/parallel-thread-execution/#warp-level-matrix-instructions-mma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Project/experiment/idea-validation/fastwam-vq-r128-c80-c-decoder-buffer/RESULTS.zh.md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1a完成。每臂80query，先seed平均后context、suite等权，独立context40。A4复用QClip原Q0endpoint。Q0A8回收A4相对A16差距100.8%motor/98.0%future，非显著性证明。H_INT8_A8是坐标改写后对decoded权重按行取整的可行性代理，不是训练后的格点约束码本、不是新的nativeengine。这个干预同时改H-only和rowgrid，不能单因果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Project/experiment/idea-validation/fastwam-a8-accuracy-20261027/pulled/26029171.pbs101/RESULTS.zh.md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0shapebench在Graph中测并轮换权重避开L2。video尤其M294较大GEMM受益，action加权0.93x，整体纯GEMM1.558，含外围.434。INT8含外围506ms不能冒充完整policycall；原型尚缺VQ解码融合等。2x峰值不是2xE2E。用已测成本指导设计，而不是承诺register decode必快。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核心数学：当前W_rk=g_r*2^e_rb*(C1+C2)。e随K上的B32组变，所以Y=sum_b s_rb sum_{k in b}xk q_rk，不能先把所有K整型点积相加再乘一个统一scale。必须二选：重新参数化/校准为行scale s_r和合适activation token scale，或每B32/group部分INT32accum再scaled merge，后者增加开销。仅把C1/C2本身round到INT8不够；两码本相加会溢出，rowgain/exponent仍可能离格点。应约束最终reconstruction或整数码本共同scale并处理求和范围。融合寄存器decode是拟议实现，不是已完成。A100原生INT8；FP8支持需换相应GPU并单独验证。</a:t>
            </a:r>
          </a:p>
          <a:p xmlns:a="http://schemas.openxmlformats.org/drawingml/2006/main">
            <a:r>
              <a:t>来源：https://docs.nvidia.com/cuda/cublas/index.html#cublasgemmex</a:t>
            </a:r>
          </a:p>
          <a:p xmlns:a="http://schemas.openxmlformats.org/drawingml/2006/main">
            <a:r>
              <a:t>https://docs.nvidia.com/cuda/parallel-thread-execution/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Project/experiment/idea-validation/fastwam-vq-r128-c80-c-decoder-buffer/RESULTS.zh.md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整理用户截图前三组作为拟议实验矩阵，不代表已实现这些W4A8baseline。主对比要约同storage、同INT8算力；W4A4用更低算力位宽比较质量/速度tradeoff，不能要求必输；W8A8同计算但存储约翻倍，wholemodel峰值不会自动减半。SmoothQuant标准是W8A8，其W4A8版本需明确adaptation；QServe/QQQstyle也要记录适配及outliers。截图列的SteerQuant报告只作外部参照，与本地复现实测分列。PTQ4DiT/Q-DiT/ViDiT-Q是否能本平台实现和质量达标需逐一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用户截图最后两组：weightonly同存储比较有没有INT8收益；低bpw是VQ可能的主场，但不能预先断言标量一定崩。已有AQLM loss-pair负结果不是所有AQLM都失败，且用户此前已明确停止该实验，不能为了此PPT恢复作业。论文报告结果与本地相同GPU/输入/Graph优化实测要分开标识。storage要统计真实有效bits和wholemodelpeak，约一半指targetweights而非整模型显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设计skill原则：samecontexts/teacher/init/index/budget，单因素。现有H_INT8_A8同时变坐标与grid仅可行性代理，后续必须补H-onlynongrid与H+Ugrid等必要2x2实现主效应交互。A4/A8/A16固定输入沿用40contexts2seeds不是80独立样本。stagecalibrate C80用于选超参，heldout只用于预设endpoint。KL对比必须sameVQ0不warmstart旧KL。kernelseparate/fused同数值需允许明确误差阈值，性能不能和accuracycontrol混为一个实验。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Project/experiment/idea-validation/fastwam-a8-accuracy-20261027/pulled/26029171.pbs101/RESULTS.zh.md</a:t>
            </a:r>
          </a:p>
          <a:p xmlns:a="http://schemas.openxmlformats.org/drawingml/2006/main">
            <a:r>
              <a:t>D:/Downloads/Final Year Project/experiment/idea-validation/fastwam-vq-r128-c80-loss-pair-plus/RESULTS.zh.md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这页是方案，不启动新计算。性能按GPU/allocation及测量块blocking并交错/随机arm顺序，分cold load/setup/warmdenoiser/fullpolicy计时。闭环按task和perturbation配对same initialstate+samplerseed，四suite等权。预先规定可接受success下降和关键RMSE/NMSE门槛；当前不凭空报已达到或有power。独立校准seed和GPU重复应分别报告，单cohort不能伪重复。性能门优先optimizedBF16，另外报告相对当前Q0减latency。若INT8在action小矩阵慢采用预先固定混合fallback并计入例外存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Project/experiment/idea-validation/fastwam-int8-speed-20261027/pulled/26028322.pbs101/results/RESULTS.zh.md</a:t>
            </a:r>
          </a:p>
          <a:p xmlns:a="http://schemas.openxmlformats.org/drawingml/2006/main">
            <a:r>
              <a:t>D:/Downloads/Final Year Project/experiment/idea-validation/fastwam-libero-engine-20261027/RESULTS.zh.md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讨论不承诺性能。方法合理性的论证是：主W4A8同storagecompute下质量、W8A8同compute下targetstorage、weightonly同storage下性能、A4/A8/A16因果消融、native融合真正低精度执行。新A8已有proxy支持，INT8周边开销已有反证，所以要融合并正确处理B32scale。没有新作业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Project/experiment/idea-validation/fastwam-vq-r128-c80-loss-pair-plus/RESULTS.zh.md</a:t>
            </a:r>
          </a:p>
          <a:p xmlns:a="http://schemas.openxmlformats.org/drawingml/2006/main">
            <a:r>
              <a:t>D:/Downloads/Final Year Project/experiment/idea-validation/fastwam-vq-r128-c80-c-decoder-buffer/RESULTS.zh.md</a:t>
            </a:r>
          </a:p>
          <a:p xmlns:a="http://schemas.openxmlformats.org/drawingml/2006/main">
            <a:r>
              <a:t>D:/Downloads/Final Year Project/experiment/idea-validation/fastwam-libero-engine-20261027/RESULTS.zh.md</a:t>
            </a:r>
          </a:p>
          <a:p xmlns:a="http://schemas.openxmlformats.org/drawingml/2006/main">
            <a:r>
              <a:t>D:/Downloads/Final Year Project/experiment/idea-validation/fastwam-a8-accuracy-20261027/pulled/26029171.pbs101/RESULTS.zh.md</a:t>
            </a:r>
          </a:p>
          <a:p xmlns:a="http://schemas.openxmlformats.org/drawingml/2006/main"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0921ef15d47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2a623e71c845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19b5a35b24a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295bb12a2742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ac38573c9c44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8c644074b436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898940a734a6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fbc6fa3804f0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a2983795b47e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305176"/>
            <a:ext cx="8229600" cy="1021556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180035"/>
            <a:ext cx="8229600" cy="1125140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91245"/>
            <a:ext cx="4040188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1871068"/>
            <a:ext cx="4040188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1391245"/>
            <a:ext cx="4041775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6" y="1871068"/>
            <a:ext cx="4041775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591463"/>
            <a:ext cx="3008313" cy="8715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591464"/>
            <a:ext cx="5111750" cy="404865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593860"/>
            <a:ext cx="3008313" cy="3046254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459581"/>
            <a:ext cx="5486400" cy="30861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4025503"/>
            <a:ext cx="5486400" cy="60364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6d174e8299a4b7b" /><Relationship Type="http://schemas.openxmlformats.org/officeDocument/2006/relationships/image" Target="/ppt/media/image2.png" Id="R51775f73662e46a5" /><Relationship Type="http://schemas.openxmlformats.org/officeDocument/2006/relationships/theme" Target="/ppt/slideMasters/theme/theme2.xml" Id="R6c01e808c3d84413" /><Relationship Type="http://schemas.openxmlformats.org/officeDocument/2006/relationships/slideLayout" Target="/ppt/slideLayouts/slideLayout1.xml" Id="R58e360f0fdf24a0f" /><Relationship Type="http://schemas.openxmlformats.org/officeDocument/2006/relationships/slideLayout" Target="/ppt/slideLayouts/slideLayout2.xml" Id="R754a368c2e6045b8" /><Relationship Type="http://schemas.openxmlformats.org/officeDocument/2006/relationships/slideLayout" Target="/ppt/slideLayouts/slideLayout3.xml" Id="R72ac23d1f3df4ea9" /><Relationship Type="http://schemas.openxmlformats.org/officeDocument/2006/relationships/slideLayout" Target="/ppt/slideLayouts/slideLayout4.xml" Id="R8d7ffd0e2fb848b8" /><Relationship Type="http://schemas.openxmlformats.org/officeDocument/2006/relationships/slideLayout" Target="/ppt/slideLayouts/slideLayout5.xml" Id="R00dd02b076184d0c" /><Relationship Type="http://schemas.openxmlformats.org/officeDocument/2006/relationships/slideLayout" Target="/ppt/slideLayouts/slideLayout6.xml" Id="R9fc630f6504641dd" /><Relationship Type="http://schemas.openxmlformats.org/officeDocument/2006/relationships/slideLayout" Target="/ppt/slideLayouts/slideLayout7.xml" Id="Rd6aaf85a67964014" /><Relationship Type="http://schemas.openxmlformats.org/officeDocument/2006/relationships/slideLayout" Target="/ppt/slideLayouts/slideLayout8.xml" Id="R3813d3d0128145af" /><Relationship Type="http://schemas.openxmlformats.org/officeDocument/2006/relationships/slideLayout" Target="/ppt/slideLayouts/slideLayout9.xml" Id="R2955509bc80e4a0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22724"/>
            <a:ext cx="8229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416896"/>
            <a:ext cx="8229600" cy="29070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8" name="Picture 3">
            <a:extLst xmlns:a="http://schemas.openxmlformats.org/drawingml/2006/main">
              <a:ext uri="{FF2B5EF4-FFF2-40B4-BE49-F238E27FC236}">
                <a16:creationId xmlns:a16="http://schemas.microsoft.com/office/drawing/2014/main" id="{5CFA3909-1A9E-4F44-8120-17F962E061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174e8299a4b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872762"/>
            <a:ext cx="9144000" cy="285750"/>
          </a:xfrm>
          <a:prstGeom xmlns:a="http://schemas.openxmlformats.org/drawingml/2006/main" prst="rect">
            <a:avLst/>
          </a:prstGeom>
        </p:spPr>
      </p:pic>
      <p:pic>
        <p:nvPicPr>
          <p:cNvPr id="9" name="Picture 7">
            <a:extLst xmlns:a="http://schemas.openxmlformats.org/drawingml/2006/main">
              <a:ext uri="{FF2B5EF4-FFF2-40B4-BE49-F238E27FC236}">
                <a16:creationId xmlns:a16="http://schemas.microsoft.com/office/drawing/2014/main" id="{A71926A4-9099-4150-9CD7-C18F05C430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775f73662e46a5"/>
          <a:srcRect xmlns:a="http://schemas.openxmlformats.org/drawingml/2006/main" l="18865" t="17198" r="0" b="0"/>
          <a:stretch xmlns:a="http://schemas.openxmlformats.org/drawingml/2006/main"/>
        </p:blipFill>
        <p:spPr>
          <a:xfrm xmlns:a="http://schemas.openxmlformats.org/drawingml/2006/main">
            <a:off x="6631259" y="4936272"/>
            <a:ext cx="1801682" cy="15801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e360f0fdf24a0f"/>
    <p:sldLayoutId xmlns:r="http://schemas.openxmlformats.org/officeDocument/2006/relationships" id="2147483650" r:id="R754a368c2e6045b8"/>
    <p:sldLayoutId xmlns:r="http://schemas.openxmlformats.org/officeDocument/2006/relationships" id="2147483651" r:id="R72ac23d1f3df4ea9"/>
    <p:sldLayoutId xmlns:r="http://schemas.openxmlformats.org/officeDocument/2006/relationships" id="2147483652" r:id="R8d7ffd0e2fb848b8"/>
    <p:sldLayoutId xmlns:r="http://schemas.openxmlformats.org/officeDocument/2006/relationships" id="2147483653" r:id="R00dd02b076184d0c"/>
    <p:sldLayoutId xmlns:r="http://schemas.openxmlformats.org/officeDocument/2006/relationships" id="2147483654" r:id="R9fc630f6504641dd"/>
    <p:sldLayoutId xmlns:r="http://schemas.openxmlformats.org/officeDocument/2006/relationships" id="2147483655" r:id="Rd6aaf85a67964014"/>
    <p:sldLayoutId xmlns:r="http://schemas.openxmlformats.org/officeDocument/2006/relationships" id="2147483656" r:id="R3813d3d0128145af"/>
    <p:sldLayoutId xmlns:r="http://schemas.openxmlformats.org/officeDocument/2006/relationships" id="2147483657" r:id="R2955509bc80e4a07"/>
  </p:sldLayoutIdLst>
  <p:hf sldNum="0" hdr="0" dt="0"/>
  <p:txStyles>
    <p:titleStyle>
      <a:lvl1pPr xmlns:a="http://schemas.openxmlformats.org/drawingml/2006/main"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99cf4de9a4f42" /><Relationship Type="http://schemas.openxmlformats.org/officeDocument/2006/relationships/image" Target="/ppt/media/image.jpeg" Id="R9125e6b95cca4d25" /><Relationship Type="http://schemas.openxmlformats.org/officeDocument/2006/relationships/notesSlide" Target="/ppt/notesSlides/notesSlide1.xml" Id="R7abd3a6c564842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822c829f1243a8" /><Relationship Type="http://schemas.openxmlformats.org/officeDocument/2006/relationships/notesSlide" Target="/ppt/notesSlides/notesSlide2.xml" Id="Rede60e812d974c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8cfabe0c5a400c" /><Relationship Type="http://schemas.openxmlformats.org/officeDocument/2006/relationships/notesSlide" Target="/ppt/notesSlides/notesSlide3.xml" Id="R77d2de08fcdd41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3cf654c0ca48bb" /><Relationship Type="http://schemas.openxmlformats.org/officeDocument/2006/relationships/notesSlide" Target="/ppt/notesSlides/notesSlide4.xml" Id="R4dbc3f400eb844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df15c96d4041f6" /><Relationship Type="http://schemas.openxmlformats.org/officeDocument/2006/relationships/notesSlide" Target="/ppt/notesSlides/notesSlide5.xml" Id="R757581df13374b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875673a5e34a33" /><Relationship Type="http://schemas.openxmlformats.org/officeDocument/2006/relationships/notesSlide" Target="/ppt/notesSlides/notesSlide6.xml" Id="Rab07ebb00c1649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79a0e751204e26" /><Relationship Type="http://schemas.openxmlformats.org/officeDocument/2006/relationships/notesSlide" Target="/ppt/notesSlides/notesSlide7.xml" Id="Ra6bbefadb4d74e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f550f3ceb8410a" /><Relationship Type="http://schemas.openxmlformats.org/officeDocument/2006/relationships/notesSlide" Target="/ppt/notesSlides/notesSlide8.xml" Id="Rbcabca26f8de4c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7287ccf20e4473" /><Relationship Type="http://schemas.openxmlformats.org/officeDocument/2006/relationships/notesSlide" Target="/ppt/notesSlides/notesSlide9.xml" Id="R1c1cc700defa47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9c0cc8f2054668" /><Relationship Type="http://schemas.openxmlformats.org/officeDocument/2006/relationships/notesSlide" Target="/ppt/notesSlides/notesSlide10.xml" Id="Rc74b3dcd0c1947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5efe041c57498b" /><Relationship Type="http://schemas.openxmlformats.org/officeDocument/2006/relationships/notesSlide" Target="/ppt/notesSlides/notesSlide11.xml" Id="R023a93376a8c41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36f8ccd5024daf" /><Relationship Type="http://schemas.openxmlformats.org/officeDocument/2006/relationships/notesSlide" Target="/ppt/notesSlides/notesSlide12.xml" Id="R50c52ceea98640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167cadf6984564" /><Relationship Type="http://schemas.openxmlformats.org/officeDocument/2006/relationships/notesSlide" Target="/ppt/notesSlides/notesSlide13.xml" Id="R9d1bef593e1240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2c4ecb15c34e8c" /><Relationship Type="http://schemas.openxmlformats.org/officeDocument/2006/relationships/notesSlide" Target="/ppt/notesSlides/notesSlide14.xml" Id="R7e65dafbf5ef40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55896b699440d2" /><Relationship Type="http://schemas.openxmlformats.org/officeDocument/2006/relationships/notesSlide" Target="/ppt/notesSlides/notesSlide15.xml" Id="R851f7ec5e81942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9569f7aaf64f8e" /><Relationship Type="http://schemas.openxmlformats.org/officeDocument/2006/relationships/notesSlide" Target="/ppt/notesSlides/notesSlide16.xml" Id="R11582cca216642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49f4b0278e41f1" /><Relationship Type="http://schemas.openxmlformats.org/officeDocument/2006/relationships/notesSlide" Target="/ppt/notesSlides/notesSlide17.xml" Id="R125cb06c20f543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06374aabb54faa" /><Relationship Type="http://schemas.openxmlformats.org/officeDocument/2006/relationships/notesSlide" Target="/ppt/notesSlides/notesSlide18.xml" Id="Rb85fd9a4a1e141a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1c073c32fb42a9" /><Relationship Type="http://schemas.openxmlformats.org/officeDocument/2006/relationships/notesSlide" Target="/ppt/notesSlides/notesSlide19.xml" Id="Re0b2764ad76f48a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61a2c616f74ffb" /><Relationship Type="http://schemas.openxmlformats.org/officeDocument/2006/relationships/notesSlide" Target="/ppt/notesSlides/notesSlide20.xml" Id="R6c03a9206b3b433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72be622d5b4ddf" /><Relationship Type="http://schemas.openxmlformats.org/officeDocument/2006/relationships/notesSlide" Target="/ppt/notesSlides/notesSlide21.xml" Id="R19b08f41810f402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65a2edb62b4538" /><Relationship Type="http://schemas.openxmlformats.org/officeDocument/2006/relationships/notesSlide" Target="/ppt/notesSlides/notesSlide22.xml" Id="Rd6a8a8431e084ea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082fc4d4854736" /><Relationship Type="http://schemas.openxmlformats.org/officeDocument/2006/relationships/notesSlide" Target="/ppt/notesSlides/notesSlide23.xml" Id="R9a83b7c7f3424f00" /></Relationships>
</file>

<file path=ppt/slides/slide1.xml><?xml version="1.0" encoding="utf-8"?>
<p:sld xmlns:p="http://schemas.openxmlformats.org/presentationml/2006/main" showMasterSp="0">
  <p:cSld>
    <p:bg>
      <p:bgPr>
        <a:blipFill xmlns:a="http://schemas.openxmlformats.org/drawingml/2006/main" rotWithShape="1">
          <a:blip xmlns:r="http://schemas.openxmlformats.org/officeDocument/2006/relationships" r:embed="R9125e6b95cca4d25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B10D82-12E8-413F-B22E-5B2F140E3AE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756726" y="1866900"/>
            <a:ext cx="5953125" cy="9715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spcBef>
                <a:spcPts val="1800"/>
              </a:spcBef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Microscaling VQ for WAM</a:t>
            </a:r>
            <a:endParaRPr sz="3200" b="1">
              <a:solidFill>
                <a:schemeClr val="bg1"/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372C7A-310D-4A9C-8F84-4CD18CA032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56726" y="3758279"/>
            <a:ext cx="5953125" cy="8572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Raymond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College of Computing and Data Science (CCDS)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28 October 2026</a:t>
            </a:r>
          </a:p>
        </p:txBody>
      </p:sp>
      <p:sp>
        <p:nvSpPr>
          <p:cNvPr id="4" name="Meeting subtitle">
            <a:extLst xmlns:a="http://schemas.openxmlformats.org/drawingml/2006/main">
              <a:ext uri="{FF2B5EF4-FFF2-40B4-BE49-F238E27FC236}">
                <a16:creationId xmlns:a16="http://schemas.microsoft.com/office/drawing/2014/main" id="{A5069BB0-258F-4D92-A186-44EB7B63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2914650"/>
            <a:ext cx="595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Q0, engine and native INT8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Q0 and the deployment question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ompleted">
            <a:extLst xmlns:a="http://schemas.openxmlformats.org/drawingml/2006/main">
              <a:ext uri="{FF2B5EF4-FFF2-40B4-BE49-F238E27FC236}">
                <a16:creationId xmlns:a16="http://schemas.microsoft.com/office/drawing/2014/main" id="{D18311EF-A2DF-48F3-8BBE-8170D3E2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" name="Q0 calibration, a compressed-resident engine, Cosmos transfer and a 40">
            <a:extLst xmlns:a="http://schemas.openxmlformats.org/drawingml/2006/main">
              <a:ext uri="{FF2B5EF4-FFF2-40B4-BE49-F238E27FC236}">
                <a16:creationId xmlns:a16="http://schemas.microsoft.com/office/drawing/2014/main" id="{B519AE6D-16C7-48C5-803D-3FBA6054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90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Q0 calibration, a compressed-resident engine, Cosmos transfer and a 400-episode LIBERO evaluation</a:t>
            </a:r>
          </a:p>
        </p:txBody>
      </p:sp>
      <p:sp>
        <p:nvSpPr>
          <p:cNvPr id="6" name="New evidence">
            <a:extLst xmlns:a="http://schemas.openxmlformats.org/drawingml/2006/main">
              <a:ext uri="{FF2B5EF4-FFF2-40B4-BE49-F238E27FC236}">
                <a16:creationId xmlns:a16="http://schemas.microsoft.com/office/drawing/2014/main" id="{65A88D39-B10D-4478-B511-1E8C8277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New evidence</a:t>
            </a:r>
          </a:p>
        </p:txBody>
      </p:sp>
      <p:sp>
        <p:nvSpPr>
          <p:cNvPr id="7" name="A8 recovers most of the A4 numerical gap. Equally optimized BF16 is st">
            <a:extLst xmlns:a="http://schemas.openxmlformats.org/drawingml/2006/main">
              <a:ext uri="{FF2B5EF4-FFF2-40B4-BE49-F238E27FC236}">
                <a16:creationId xmlns:a16="http://schemas.microsoft.com/office/drawing/2014/main" id="{C6F5BDCF-99AC-4AD7-98B6-BAC3FD85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790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A8 recovers most of the A4 numerical gap. Equally optimized BF16 is still faster than the current engine</a:t>
            </a:r>
          </a:p>
        </p:txBody>
      </p:sp>
      <p:sp>
        <p:nvSpPr>
          <p:cNvPr id="8" name="Next question: can compact VQ storage feed native INT8 compute efficie">
            <a:extLst xmlns:a="http://schemas.openxmlformats.org/drawingml/2006/main">
              <a:ext uri="{FF2B5EF4-FFF2-40B4-BE49-F238E27FC236}">
                <a16:creationId xmlns:a16="http://schemas.microsoft.com/office/drawing/2014/main" id="{3456A9FE-0759-4DC5-B2FA-1F403E67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785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Next question: can compact VQ storage feed native INT8 compute efficiently?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E05AA-973C-442D-BCB3-A0FA4B63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95625"/>
            <a:ext cx="8459153" cy="1707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13520-8C3E-4D21-A825-2EF02DBA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85725"/>
            <a:ext cx="3083004" cy="2955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BC7A0-41F7-40A5-A98D-33280832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5725"/>
            <a:ext cx="5350669" cy="2955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4F13E-DAFE-4578-9AD4-17B7C4656D2A}"/>
              </a:ext>
            </a:extLst>
          </p:cNvPr>
          <p:cNvCxnSpPr>
            <a:stCxn xmlns:a="http://schemas.openxmlformats.org/drawingml/2006/main" id="316" idx="3"/>
            <a:endCxn xmlns:a="http://schemas.openxmlformats.org/drawingml/2006/main" id="332" idx="1"/>
          </p:cNvCxnSpPr>
          <p:nvPr/>
        </p:nvCxnSpPr>
        <p:spPr>
          <a:xfrm xmlns:a="http://schemas.openxmlformats.org/drawingml/2006/main">
            <a:off x="6600388" y="4356855"/>
            <a:ext cx="1048901" cy="254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90F7A-B693-4BF5-8068-3A75CA8E6D66}"/>
              </a:ext>
            </a:extLst>
          </p:cNvPr>
          <p:cNvCxnSpPr>
            <a:stCxn xmlns:a="http://schemas.openxmlformats.org/drawingml/2006/main" id="310" idx="3"/>
            <a:endCxn xmlns:a="http://schemas.openxmlformats.org/drawingml/2006/main" id="324" idx="1"/>
          </p:cNvCxnSpPr>
          <p:nvPr/>
        </p:nvCxnSpPr>
        <p:spPr>
          <a:xfrm xmlns:a="http://schemas.openxmlformats.org/drawingml/2006/main">
            <a:off x="6600388" y="3684199"/>
            <a:ext cx="1048901" cy="254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2A984-1863-4033-98C5-BA6D83357C53}"/>
              </a:ext>
            </a:extLst>
          </p:cNvPr>
          <p:cNvCxnSpPr>
            <a:stCxn xmlns:a="http://schemas.openxmlformats.org/drawingml/2006/main" id="301" idx="3"/>
            <a:endCxn xmlns:a="http://schemas.openxmlformats.org/drawingml/2006/main" id="311" idx="1"/>
          </p:cNvCxnSpPr>
          <p:nvPr/>
        </p:nvCxnSpPr>
        <p:spPr>
          <a:xfrm xmlns:a="http://schemas.openxmlformats.org/drawingml/2006/main">
            <a:off x="5320474" y="4196335"/>
            <a:ext cx="672656" cy="15542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8F989-35DE-4C7A-9349-C1551BE3B8E0}"/>
              </a:ext>
            </a:extLst>
          </p:cNvPr>
          <p:cNvCxnSpPr>
            <a:stCxn xmlns:a="http://schemas.openxmlformats.org/drawingml/2006/main" id="287" idx="3"/>
            <a:endCxn xmlns:a="http://schemas.openxmlformats.org/drawingml/2006/main" id="305" idx="1"/>
          </p:cNvCxnSpPr>
          <p:nvPr/>
        </p:nvCxnSpPr>
        <p:spPr>
          <a:xfrm xmlns:a="http://schemas.openxmlformats.org/drawingml/2006/main">
            <a:off x="5320474" y="3523679"/>
            <a:ext cx="672656" cy="15542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9A2E5-F462-4D14-8710-4625B0B6B395}"/>
              </a:ext>
            </a:extLst>
          </p:cNvPr>
          <p:cNvCxnSpPr>
            <a:stCxn xmlns:a="http://schemas.openxmlformats.org/drawingml/2006/main" id="287" idx="2"/>
            <a:endCxn xmlns:a="http://schemas.openxmlformats.org/drawingml/2006/main" id="301" idx="0"/>
          </p:cNvCxnSpPr>
          <p:nvPr/>
        </p:nvCxnSpPr>
        <p:spPr>
          <a:xfrm xmlns:a="http://schemas.openxmlformats.org/drawingml/2006/main">
            <a:off x="5098804" y="3595021"/>
            <a:ext cx="0" cy="52997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D6773"/>
            </a:solidFill>
            <a:prstDash val="dash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4AFF2-DD4B-4E85-ADF0-FFE19DF33A30}"/>
              </a:ext>
            </a:extLst>
          </p:cNvPr>
          <p:cNvCxnSpPr>
            <a:stCxn xmlns:a="http://schemas.openxmlformats.org/drawingml/2006/main" id="259" idx="2"/>
            <a:endCxn xmlns:a="http://schemas.openxmlformats.org/drawingml/2006/main" id="273" idx="0"/>
          </p:cNvCxnSpPr>
          <p:nvPr/>
        </p:nvCxnSpPr>
        <p:spPr>
          <a:xfrm xmlns:a="http://schemas.openxmlformats.org/drawingml/2006/main">
            <a:off x="3725466" y="3595021"/>
            <a:ext cx="0" cy="52997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D6773"/>
            </a:solidFill>
            <a:prstDash val="dash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43367-E9BE-413B-90C6-5A9882E8C205}"/>
              </a:ext>
            </a:extLst>
          </p:cNvPr>
          <p:cNvCxnSpPr>
            <a:stCxn xmlns:a="http://schemas.openxmlformats.org/drawingml/2006/main" id="245" idx="2"/>
            <a:endCxn xmlns:a="http://schemas.openxmlformats.org/drawingml/2006/main" id="301" idx="2"/>
          </p:cNvCxnSpPr>
          <p:nvPr/>
        </p:nvCxnSpPr>
        <p:spPr>
          <a:xfrm xmlns:a="http://schemas.openxmlformats.org/drawingml/2006/main" flipV="1">
            <a:off x="2893564" y="4267677"/>
            <a:ext cx="2205240" cy="76437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93342-0D04-4066-8767-B1121411DD65}"/>
              </a:ext>
            </a:extLst>
          </p:cNvPr>
          <p:cNvCxnSpPr>
            <a:stCxn xmlns:a="http://schemas.openxmlformats.org/drawingml/2006/main" id="239" idx="0"/>
            <a:endCxn xmlns:a="http://schemas.openxmlformats.org/drawingml/2006/main" id="287" idx="0"/>
          </p:cNvCxnSpPr>
          <p:nvPr/>
        </p:nvCxnSpPr>
        <p:spPr>
          <a:xfrm xmlns:a="http://schemas.openxmlformats.org/drawingml/2006/main" flipV="1">
            <a:off x="2893564" y="3452336"/>
            <a:ext cx="2205240" cy="20384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88C6F-0F5B-4A08-A972-55FAB6AE6D41}"/>
              </a:ext>
            </a:extLst>
          </p:cNvPr>
          <p:cNvCxnSpPr>
            <a:stCxn xmlns:a="http://schemas.openxmlformats.org/drawingml/2006/main" id="245" idx="3"/>
            <a:endCxn xmlns:a="http://schemas.openxmlformats.org/drawingml/2006/main" id="273" idx="1"/>
          </p:cNvCxnSpPr>
          <p:nvPr/>
        </p:nvCxnSpPr>
        <p:spPr>
          <a:xfrm xmlns:a="http://schemas.openxmlformats.org/drawingml/2006/main" flipV="1">
            <a:off x="2921166" y="4196335"/>
            <a:ext cx="595369" cy="4841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98C93-4B61-4B3A-85BC-D298BBD7D469}"/>
              </a:ext>
            </a:extLst>
          </p:cNvPr>
          <p:cNvCxnSpPr>
            <a:stCxn xmlns:a="http://schemas.openxmlformats.org/drawingml/2006/main" id="239" idx="3"/>
            <a:endCxn xmlns:a="http://schemas.openxmlformats.org/drawingml/2006/main" id="259" idx="1"/>
          </p:cNvCxnSpPr>
          <p:nvPr/>
        </p:nvCxnSpPr>
        <p:spPr>
          <a:xfrm xmlns:a="http://schemas.openxmlformats.org/drawingml/2006/main" flipV="1">
            <a:off x="2921166" y="3523679"/>
            <a:ext cx="595369" cy="4841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44086-B51C-499D-BAF9-4BDB5DD152EC}"/>
              </a:ext>
            </a:extLst>
          </p:cNvPr>
          <p:cNvCxnSpPr>
            <a:stCxn xmlns:a="http://schemas.openxmlformats.org/drawingml/2006/main" id="231" idx="3"/>
            <a:endCxn xmlns:a="http://schemas.openxmlformats.org/drawingml/2006/main" id="240" idx="2"/>
          </p:cNvCxnSpPr>
          <p:nvPr/>
        </p:nvCxnSpPr>
        <p:spPr>
          <a:xfrm xmlns:a="http://schemas.openxmlformats.org/drawingml/2006/main">
            <a:off x="1248871" y="3923705"/>
            <a:ext cx="1092640" cy="445889"/>
          </a:xfrm>
          <a:prstGeom xmlns:a="http://schemas.openxmlformats.org/drawingml/2006/main" prst="bentConnector2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9CCA8-F522-49DF-AD07-70B60618FD87}"/>
              </a:ext>
            </a:extLst>
          </p:cNvPr>
          <p:cNvCxnSpPr>
            <a:stCxn xmlns:a="http://schemas.openxmlformats.org/drawingml/2006/main" id="231" idx="3"/>
            <a:endCxn xmlns:a="http://schemas.openxmlformats.org/drawingml/2006/main" id="234" idx="2"/>
          </p:cNvCxnSpPr>
          <p:nvPr/>
        </p:nvCxnSpPr>
        <p:spPr>
          <a:xfrm xmlns:a="http://schemas.openxmlformats.org/drawingml/2006/main" flipV="1">
            <a:off x="1248871" y="3696939"/>
            <a:ext cx="1092640" cy="226765"/>
          </a:xfrm>
          <a:prstGeom xmlns:a="http://schemas.openxmlformats.org/drawingml/2006/main" prst="bentConnector2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2B82F-FB1D-45D5-A024-5C5EBC518F16}"/>
              </a:ext>
            </a:extLst>
          </p:cNvPr>
          <p:cNvCxnSpPr>
            <a:stCxn xmlns:a="http://schemas.openxmlformats.org/drawingml/2006/main" id="224" idx="3"/>
            <a:endCxn xmlns:a="http://schemas.openxmlformats.org/drawingml/2006/main" id="225" idx="1"/>
          </p:cNvCxnSpPr>
          <p:nvPr/>
        </p:nvCxnSpPr>
        <p:spPr>
          <a:xfrm xmlns:a="http://schemas.openxmlformats.org/drawingml/2006/main">
            <a:off x="8011477" y="1991582"/>
            <a:ext cx="9172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EB1CE-B23F-4BCB-8B3F-4C706A411061}"/>
              </a:ext>
            </a:extLst>
          </p:cNvPr>
          <p:cNvCxnSpPr>
            <a:stCxn xmlns:a="http://schemas.openxmlformats.org/drawingml/2006/main" id="223" idx="2"/>
            <a:endCxn xmlns:a="http://schemas.openxmlformats.org/drawingml/2006/main" id="224" idx="2"/>
          </p:cNvCxnSpPr>
          <p:nvPr/>
        </p:nvCxnSpPr>
        <p:spPr>
          <a:xfrm xmlns:a="http://schemas.openxmlformats.org/drawingml/2006/main">
            <a:off x="7086577" y="2190321"/>
            <a:ext cx="64462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937163-71FF-4701-88FB-94C69BF4AC0D}"/>
              </a:ext>
            </a:extLst>
          </p:cNvPr>
          <p:cNvCxnSpPr>
            <a:stCxn xmlns:a="http://schemas.openxmlformats.org/drawingml/2006/main" id="222" idx="2"/>
            <a:endCxn xmlns:a="http://schemas.openxmlformats.org/drawingml/2006/main" id="224" idx="2"/>
          </p:cNvCxnSpPr>
          <p:nvPr/>
        </p:nvCxnSpPr>
        <p:spPr>
          <a:xfrm xmlns:a="http://schemas.openxmlformats.org/drawingml/2006/main">
            <a:off x="6531126" y="2190321"/>
            <a:ext cx="120007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C9B5A-DDF1-41BD-91EF-512B7ECEF821}"/>
              </a:ext>
            </a:extLst>
          </p:cNvPr>
          <p:cNvCxnSpPr>
            <a:stCxn xmlns:a="http://schemas.openxmlformats.org/drawingml/2006/main" id="221" idx="2"/>
            <a:endCxn xmlns:a="http://schemas.openxmlformats.org/drawingml/2006/main" id="224" idx="2"/>
          </p:cNvCxnSpPr>
          <p:nvPr/>
        </p:nvCxnSpPr>
        <p:spPr>
          <a:xfrm xmlns:a="http://schemas.openxmlformats.org/drawingml/2006/main">
            <a:off x="6011347" y="2190321"/>
            <a:ext cx="171985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1944D-35B2-453A-8E82-F16870C82C05}"/>
              </a:ext>
            </a:extLst>
          </p:cNvPr>
          <p:cNvCxnSpPr>
            <a:stCxn xmlns:a="http://schemas.openxmlformats.org/drawingml/2006/main" id="216" idx="3"/>
            <a:endCxn xmlns:a="http://schemas.openxmlformats.org/drawingml/2006/main" id="217" idx="1"/>
          </p:cNvCxnSpPr>
          <p:nvPr/>
        </p:nvCxnSpPr>
        <p:spPr>
          <a:xfrm xmlns:a="http://schemas.openxmlformats.org/drawingml/2006/main">
            <a:off x="7782163" y="957120"/>
            <a:ext cx="18854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056597-AA34-43D3-B775-8E9180AED7FF}"/>
              </a:ext>
            </a:extLst>
          </p:cNvPr>
          <p:cNvCxnSpPr>
            <a:stCxn xmlns:a="http://schemas.openxmlformats.org/drawingml/2006/main" id="215" idx="3"/>
            <a:endCxn xmlns:a="http://schemas.openxmlformats.org/drawingml/2006/main" id="216" idx="1"/>
          </p:cNvCxnSpPr>
          <p:nvPr/>
        </p:nvCxnSpPr>
        <p:spPr>
          <a:xfrm xmlns:a="http://schemas.openxmlformats.org/drawingml/2006/main">
            <a:off x="7175754" y="957120"/>
            <a:ext cx="132493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363F7F-28D4-484A-9F3C-89DE2BC21EEF}"/>
              </a:ext>
            </a:extLst>
          </p:cNvPr>
          <p:cNvCxnSpPr>
            <a:stCxn xmlns:a="http://schemas.openxmlformats.org/drawingml/2006/main" id="214" idx="3"/>
            <a:endCxn xmlns:a="http://schemas.openxmlformats.org/drawingml/2006/main" id="215" idx="1"/>
          </p:cNvCxnSpPr>
          <p:nvPr/>
        </p:nvCxnSpPr>
        <p:spPr>
          <a:xfrm xmlns:a="http://schemas.openxmlformats.org/drawingml/2006/main">
            <a:off x="6620304" y="957120"/>
            <a:ext cx="12230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4D0B23-2069-4A44-92C1-E493132D4B2C}"/>
              </a:ext>
            </a:extLst>
          </p:cNvPr>
          <p:cNvCxnSpPr>
            <a:stCxn xmlns:a="http://schemas.openxmlformats.org/drawingml/2006/main" id="202" idx="2"/>
            <a:endCxn xmlns:a="http://schemas.openxmlformats.org/drawingml/2006/main" id="203" idx="6"/>
          </p:cNvCxnSpPr>
          <p:nvPr/>
        </p:nvCxnSpPr>
        <p:spPr>
          <a:xfrm xmlns:a="http://schemas.openxmlformats.org/drawingml/2006/main" flipH="1">
            <a:off x="5111544" y="2363582"/>
            <a:ext cx="270081" cy="89177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38D08-061B-423F-B282-9A25F418AD42}"/>
              </a:ext>
            </a:extLst>
          </p:cNvPr>
          <p:cNvCxnSpPr>
            <a:stCxn xmlns:a="http://schemas.openxmlformats.org/drawingml/2006/main" id="197" idx="2"/>
            <a:endCxn xmlns:a="http://schemas.openxmlformats.org/drawingml/2006/main" id="203" idx="2"/>
          </p:cNvCxnSpPr>
          <p:nvPr/>
        </p:nvCxnSpPr>
        <p:spPr>
          <a:xfrm xmlns:a="http://schemas.openxmlformats.org/drawingml/2006/main">
            <a:off x="4596861" y="2363582"/>
            <a:ext cx="336327" cy="89177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F8C614-8B3A-4E4E-88EA-9E0F94D6361B}"/>
              </a:ext>
            </a:extLst>
          </p:cNvPr>
          <p:cNvCxnSpPr>
            <a:stCxn xmlns:a="http://schemas.openxmlformats.org/drawingml/2006/main" id="192" idx="2"/>
            <a:endCxn xmlns:a="http://schemas.openxmlformats.org/drawingml/2006/main" id="202" idx="0"/>
          </p:cNvCxnSpPr>
          <p:nvPr/>
        </p:nvCxnSpPr>
        <p:spPr>
          <a:xfrm xmlns:a="http://schemas.openxmlformats.org/drawingml/2006/main">
            <a:off x="5330666" y="2124076"/>
            <a:ext cx="50959" cy="1375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A3BBC5-676E-49E5-9DC8-B84BB64F4A55}"/>
              </a:ext>
            </a:extLst>
          </p:cNvPr>
          <p:cNvCxnSpPr>
            <a:stCxn xmlns:a="http://schemas.openxmlformats.org/drawingml/2006/main" id="191" idx="2"/>
            <a:endCxn xmlns:a="http://schemas.openxmlformats.org/drawingml/2006/main" id="197" idx="0"/>
          </p:cNvCxnSpPr>
          <p:nvPr/>
        </p:nvCxnSpPr>
        <p:spPr>
          <a:xfrm xmlns:a="http://schemas.openxmlformats.org/drawingml/2006/main" flipH="1">
            <a:off x="4596861" y="2124076"/>
            <a:ext cx="56054" cy="1375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9E3600-F433-4BC8-B6D3-3A720FB589A5}"/>
              </a:ext>
            </a:extLst>
          </p:cNvPr>
          <p:cNvCxnSpPr>
            <a:stCxn xmlns:a="http://schemas.openxmlformats.org/drawingml/2006/main" id="190" idx="2"/>
            <a:endCxn xmlns:a="http://schemas.openxmlformats.org/drawingml/2006/main" id="192" idx="0"/>
          </p:cNvCxnSpPr>
          <p:nvPr/>
        </p:nvCxnSpPr>
        <p:spPr>
          <a:xfrm xmlns:a="http://schemas.openxmlformats.org/drawingml/2006/main">
            <a:off x="5330666" y="1726597"/>
            <a:ext cx="0" cy="254794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8960C2-3860-4FD6-B1AB-DFCE8589E16D}"/>
              </a:ext>
            </a:extLst>
          </p:cNvPr>
          <p:cNvCxnSpPr>
            <a:stCxn xmlns:a="http://schemas.openxmlformats.org/drawingml/2006/main" id="172" idx="2"/>
            <a:endCxn xmlns:a="http://schemas.openxmlformats.org/drawingml/2006/main" id="191" idx="0"/>
          </p:cNvCxnSpPr>
          <p:nvPr/>
        </p:nvCxnSpPr>
        <p:spPr>
          <a:xfrm xmlns:a="http://schemas.openxmlformats.org/drawingml/2006/main">
            <a:off x="4652916" y="1726597"/>
            <a:ext cx="0" cy="254794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C54F34-4097-4771-9360-6AB132033A27}"/>
              </a:ext>
            </a:extLst>
          </p:cNvPr>
          <p:cNvCxnSpPr>
            <a:stCxn xmlns:a="http://schemas.openxmlformats.org/drawingml/2006/main" id="135" idx="3"/>
            <a:endCxn xmlns:a="http://schemas.openxmlformats.org/drawingml/2006/main" id="153" idx="1"/>
          </p:cNvCxnSpPr>
          <p:nvPr/>
        </p:nvCxnSpPr>
        <p:spPr>
          <a:xfrm xmlns:a="http://schemas.openxmlformats.org/drawingml/2006/main">
            <a:off x="3215878" y="1497283"/>
            <a:ext cx="407670" cy="2038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C7804C-A1EB-4102-8435-AA9C43A1FB25}"/>
              </a:ext>
            </a:extLst>
          </p:cNvPr>
          <p:cNvCxnSpPr>
            <a:stCxn xmlns:a="http://schemas.openxmlformats.org/drawingml/2006/main" id="134" idx="3"/>
            <a:endCxn xmlns:a="http://schemas.openxmlformats.org/drawingml/2006/main" id="135" idx="1"/>
          </p:cNvCxnSpPr>
          <p:nvPr/>
        </p:nvCxnSpPr>
        <p:spPr>
          <a:xfrm xmlns:a="http://schemas.openxmlformats.org/drawingml/2006/main">
            <a:off x="2736866" y="1497283"/>
            <a:ext cx="107013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619475-E880-41B9-8C3D-DB8EBDF3C25C}"/>
              </a:ext>
            </a:extLst>
          </p:cNvPr>
          <p:cNvCxnSpPr>
            <a:stCxn xmlns:a="http://schemas.openxmlformats.org/drawingml/2006/main" id="133" idx="3"/>
            <a:endCxn xmlns:a="http://schemas.openxmlformats.org/drawingml/2006/main" id="134" idx="1"/>
          </p:cNvCxnSpPr>
          <p:nvPr/>
        </p:nvCxnSpPr>
        <p:spPr>
          <a:xfrm xmlns:a="http://schemas.openxmlformats.org/drawingml/2006/main">
            <a:off x="2237470" y="1497283"/>
            <a:ext cx="8663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324DEB-8C6E-4ABB-B0CD-DF11151930E7}"/>
              </a:ext>
            </a:extLst>
          </p:cNvPr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 flipV="1">
            <a:off x="1799225" y="1497283"/>
            <a:ext cx="142684" cy="152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9AB9E0-9223-4AC4-BDA5-3BFB0FB060FD}"/>
              </a:ext>
            </a:extLst>
          </p:cNvPr>
          <p:cNvCxnSpPr>
            <a:stCxn xmlns:a="http://schemas.openxmlformats.org/drawingml/2006/main" id="71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 flipV="1">
            <a:off x="4438888" y="618244"/>
            <a:ext cx="524875" cy="509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185635-9CCF-41C2-8673-D96B351991D4}"/>
              </a:ext>
            </a:extLst>
          </p:cNvPr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3368755" y="623340"/>
            <a:ext cx="254793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09D811-818E-4222-A847-BE248A144EE9}"/>
              </a:ext>
            </a:extLst>
          </p:cNvPr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2869359" y="623340"/>
            <a:ext cx="11720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1F111C-3DF7-47F9-BBC5-E1D111C10117}"/>
              </a:ext>
            </a:extLst>
          </p:cNvPr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2349579" y="623340"/>
            <a:ext cx="10191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4581A3-9E1F-4100-A301-453E45E467D4}"/>
              </a:ext>
            </a:extLst>
          </p:cNvPr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1763554" y="618244"/>
            <a:ext cx="229314" cy="509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39" name="(a) Paired transforms and microscaling VQ">
            <a:extLst xmlns:a="http://schemas.openxmlformats.org/drawingml/2006/main">
              <a:ext uri="{FF2B5EF4-FFF2-40B4-BE49-F238E27FC236}">
                <a16:creationId xmlns:a16="http://schemas.microsoft.com/office/drawing/2014/main" id="{B1D44710-4D9A-4B32-97EB-0BF2FCA6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9" y="111204"/>
            <a:ext cx="5248751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(a) Paired transforms and microscaling VQ</a:t>
            </a:r>
          </a:p>
        </p:txBody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8CA2FA-195B-4459-8BA1-0576E9109E8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6517" y="315039"/>
            <a:ext cx="5269135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41" name="Activation transform&#10;and quantization&#10;(per token)">
            <a:extLst xmlns:a="http://schemas.openxmlformats.org/drawingml/2006/main">
              <a:ext uri="{FF2B5EF4-FFF2-40B4-BE49-F238E27FC236}">
                <a16:creationId xmlns:a16="http://schemas.microsoft.com/office/drawing/2014/main" id="{D24FBAC0-D2E7-4383-9031-46A881C8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88" y="437340"/>
            <a:ext cx="866299" cy="484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Activation transform</a:t>
            </a:r>
          </a:p>
          <a:p xmlns:a="http://schemas.openxmlformats.org/drawingml/2006/main"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and quantization</a:t>
            </a:r>
          </a:p>
          <a:p xmlns:a="http://schemas.openxmlformats.org/drawingml/2006/main"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(per token)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3978E5-9E6A-4586-A904-BCE3B83C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9E16BA-4ECE-4F59-B65A-DDB57810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63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F6D563-94D6-4D50-AA39-ACB5FBBF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801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0D7CE3-80B4-49BB-B046-FC198D58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239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DB351F-5192-4708-A782-230E25D0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78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194799-0C1E-46FF-9AB5-DEAE406F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116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E638DD-23D0-4519-90E8-618FEB36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46D5CB-1B25-424A-8F28-DDD881B4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63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FADBE5-1F7F-496D-8A9D-95BF8A43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801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FD5B82-A6A2-4771-B265-580B5E0F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239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807AEF-EFF1-409B-AF38-3621D16C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78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49F60E-4D6A-4D07-81FC-42D642AB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116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743498-592D-4512-B45A-9CA62E0B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D33A1B-3475-43DB-B7D4-259E4B78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63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A179BF-C853-4774-A23D-FAD6548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801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327E7D-4C3D-4D91-A8C2-4D6E90E2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239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BF936A-9C82-4642-9ADC-B895AC41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78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7A5BA87-C1C5-47DB-9A4D-7CEA070E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116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0FBD35A-268B-4D55-A9D8-EC846639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86A6CD0-0CA4-4186-BF62-3FE38E91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63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EC4E7F-F2DB-4B5C-8C5D-577EAFC4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801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D285AF9-503B-46F5-911C-386A9C2A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239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EF27DC1-C45A-48DE-879C-DA66E6A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78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0DBDF1F-6668-4587-8490-4F070C2B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116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6" name="X">
            <a:extLst xmlns:a="http://schemas.openxmlformats.org/drawingml/2006/main">
              <a:ext uri="{FF2B5EF4-FFF2-40B4-BE49-F238E27FC236}">
                <a16:creationId xmlns:a16="http://schemas.microsoft.com/office/drawing/2014/main" id="{FDDFE40C-47C9-47B1-B846-4BD9F1B1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752"/>
            <a:ext cx="458629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1E896B8-995E-422D-A19E-A9703F44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52628"/>
            <a:ext cx="458629" cy="331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8" name="S⁻¹">
            <a:extLst xmlns:a="http://schemas.openxmlformats.org/drawingml/2006/main">
              <a:ext uri="{FF2B5EF4-FFF2-40B4-BE49-F238E27FC236}">
                <a16:creationId xmlns:a16="http://schemas.microsoft.com/office/drawing/2014/main" id="{6AB1FB46-371B-4286-8B23-E3A8720C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868" y="457724"/>
            <a:ext cx="356711" cy="331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S⁻¹</a:t>
            </a:r>
          </a:p>
        </p:txBody>
      </p:sp>
      <p:sp>
        <p:nvSpPr>
          <p:cNvPr id="69" name="signed&#10;H128">
            <a:extLst xmlns:a="http://schemas.openxmlformats.org/drawingml/2006/main">
              <a:ext uri="{FF2B5EF4-FFF2-40B4-BE49-F238E27FC236}">
                <a16:creationId xmlns:a16="http://schemas.microsoft.com/office/drawing/2014/main" id="{BC00D83B-DBCD-423F-A07D-B5B75926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497" y="457724"/>
            <a:ext cx="417862" cy="331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signed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70" name="U128">
            <a:extLst xmlns:a="http://schemas.openxmlformats.org/drawingml/2006/main">
              <a:ext uri="{FF2B5EF4-FFF2-40B4-BE49-F238E27FC236}">
                <a16:creationId xmlns:a16="http://schemas.microsoft.com/office/drawing/2014/main" id="{D6165DBF-7007-4E77-82DA-22C18926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564" y="457724"/>
            <a:ext cx="382191" cy="331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71" name="dynamic A4&#10;q ∈ [−7, 7]">
            <a:extLst xmlns:a="http://schemas.openxmlformats.org/drawingml/2006/main">
              <a:ext uri="{FF2B5EF4-FFF2-40B4-BE49-F238E27FC236}">
                <a16:creationId xmlns:a16="http://schemas.microsoft.com/office/drawing/2014/main" id="{5338F087-51A1-4F4F-A792-D05DB76B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548" y="457724"/>
            <a:ext cx="815340" cy="331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dynamic A4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 ∈ [−7, 7]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81B727-C4CC-42CF-9649-AFADD92C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763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2C1E863-5DAF-498A-A9C1-DB4FB11C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201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F665BAF-E057-47A4-885B-A683AD87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640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7B67ACA-91A8-4EC0-97FA-E0FFA2F2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078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C9DC878-AEEF-4616-BA89-72E3ED65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516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EE5C3FE-C96C-4F08-B946-A59EBF71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954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E56C10F-4D0C-49E1-AE1E-72360E61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763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8B9AD25-747F-42A5-9145-9180D138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201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3960F24-6BBB-479A-A035-2510DF82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640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4B280C0-DFBA-487D-98DB-288B0574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078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D992A5F-D1DA-4F64-839F-15653D72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516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ED56E8D-24F3-465F-9B52-06449D65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954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1A85E1F-CB38-490F-A30B-0BACEC31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763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465918C-FC20-4EDD-AF2B-AA6A8CBE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201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1ECF7D9-0231-484C-87BB-CCE0E399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640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1254A3-DD4A-4D3B-8BE4-AD51BFCD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078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CA6E6AC-E0EC-4AAA-8FE9-EC051ADB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516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F62D86E-084F-4CA4-8180-103E9713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954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817C36-C91C-4369-A403-F85BF6E4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763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F99DD8B-9BA2-477E-BAAE-E9A1E2C5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201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22310A6-86FD-4952-B769-EC7F9FB3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640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C0274FC-F568-42F6-B83A-07C5B192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078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42566F5-7700-4D84-985D-533A214A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516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90A687A-BCF5-4D44-B4BD-2CA2BB1F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954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6" name="Xq">
            <a:extLst xmlns:a="http://schemas.openxmlformats.org/drawingml/2006/main">
              <a:ext uri="{FF2B5EF4-FFF2-40B4-BE49-F238E27FC236}">
                <a16:creationId xmlns:a16="http://schemas.microsoft.com/office/drawing/2014/main" id="{B1503449-55D1-4077-8AF4-856B094E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763" y="299752"/>
            <a:ext cx="458629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Xq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0F0317D-F887-43DA-8AF2-25D85FA1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763" y="452628"/>
            <a:ext cx="458629" cy="331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8" name="per-token symmetric quantization; BF16 operand after dequantization">
            <a:extLst xmlns:a="http://schemas.openxmlformats.org/drawingml/2006/main">
              <a:ext uri="{FF2B5EF4-FFF2-40B4-BE49-F238E27FC236}">
                <a16:creationId xmlns:a16="http://schemas.microsoft.com/office/drawing/2014/main" id="{8EBDA5EC-3FF8-4DB9-9C40-64B45C0B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824627"/>
            <a:ext cx="4178618" cy="132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per-token symmetric quantization; BF16 operand after dequantization</a:t>
            </a:r>
          </a:p>
        </p:txBody>
      </p:sp>
      <p:cxnSp>
        <p:nvCxn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8B1A38F-AB4C-4B5B-8A1C-A674C45198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62188" y="1053941"/>
            <a:ext cx="5197793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dash"/>
          </a:ln>
        </p:spPr>
      </p:cxnSp>
      <p:sp>
        <p:nvSpPr>
          <p:cNvPr id="100" name="Weight transform&#10;and microscaling VQ&#10;(per output row)">
            <a:extLst xmlns:a="http://schemas.openxmlformats.org/drawingml/2006/main">
              <a:ext uri="{FF2B5EF4-FFF2-40B4-BE49-F238E27FC236}">
                <a16:creationId xmlns:a16="http://schemas.microsoft.com/office/drawing/2014/main" id="{76A621B7-73F6-44D1-AD43-970DE951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88" y="1298543"/>
            <a:ext cx="891778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Weight transform</a:t>
            </a:r>
          </a:p>
          <a:p xmlns:a="http://schemas.openxmlformats.org/drawingml/2006/main"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and microscaling VQ</a:t>
            </a:r>
          </a:p>
          <a:p xmlns:a="http://schemas.openxmlformats.org/drawingml/2006/main"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(per output row)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14D3059-2283-475C-9EDB-857C4A63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66" y="1283256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7C019BD-7588-4C51-B35E-A1A58443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843" y="1283256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5AF79E5-88AB-4687-A312-C679C62A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719" y="1283256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B34D11C-55BD-4838-AD33-01D2C95D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96" y="1283256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E4007CF-B034-44E3-BD8B-2D42652D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472" y="1283256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90CF69A-20A1-48E6-A370-8AEA63C1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348" y="1283256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760928D-2705-4743-9880-AFA7CE11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66" y="1374981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9B17773-2080-4EA7-A7A9-840DA580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843" y="1374981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23C83B5-A024-4599-A658-24A84361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719" y="1374981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9559B59-D69E-4871-841C-94997BD1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96" y="1374981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472093E-DBE6-4224-A683-D5EF2F30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472" y="1374981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98D980E-D048-401B-92EF-F39A93A5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348" y="1374981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FED59E5-D64D-4367-9E57-2739C03C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66" y="1466707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7174C23-F2E9-4167-B9BE-16D5C458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843" y="1466707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E73AA1E-59A3-4378-B98D-80903F4E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719" y="1466707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E22182D-0CD5-483A-AEB5-932D0770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96" y="1466707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EEC53AA-9314-4E87-B829-90BE8AAE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472" y="1466707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1D4F143-68B9-4B6C-8518-DD6D665F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348" y="1466707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FE938AF-3F7F-4A33-BCC6-89DD7444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66" y="1558433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A766E96-5BD0-4EDC-8A42-2365C9F0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843" y="1558433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DA640E3-91D4-4222-9BEE-72FEC1F7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719" y="1558433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2F74598-3ECE-43CB-98CF-A26975B5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96" y="1558433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E6AEC6E-1110-4F9B-BDD3-2FC115AC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472" y="1558433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2D43A76-B48D-4687-B5E0-E8E38896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348" y="1558433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0D97B14-6113-420D-AA32-E8E47AEF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66" y="1650159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98B2E9A-D667-42BE-BEC8-85E4B740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843" y="1650159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EB3CFAD-0FB1-4951-ADA8-915B31D5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719" y="1650159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AE7F9FE-E3A2-4221-9EDC-E65DA77E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96" y="1650159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0C8E732-728E-4A37-A922-1DF59F60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472" y="1650159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5AB97C4-2199-4E70-AB55-8078676B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348" y="1650159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1" name="W">
            <a:extLst xmlns:a="http://schemas.openxmlformats.org/drawingml/2006/main">
              <a:ext uri="{FF2B5EF4-FFF2-40B4-BE49-F238E27FC236}">
                <a16:creationId xmlns:a16="http://schemas.microsoft.com/office/drawing/2014/main" id="{29A229FC-9773-43FC-994F-3FDD6A72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66" y="1130379"/>
            <a:ext cx="545259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985CEF9-6C88-4EDE-A02B-775BE0FA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66" y="1283256"/>
            <a:ext cx="545259" cy="458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3" name="S">
            <a:extLst xmlns:a="http://schemas.openxmlformats.org/drawingml/2006/main">
              <a:ext uri="{FF2B5EF4-FFF2-40B4-BE49-F238E27FC236}">
                <a16:creationId xmlns:a16="http://schemas.microsoft.com/office/drawing/2014/main" id="{2243E1F2-09B5-4CE6-A742-A1F8959B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909" y="1318927"/>
            <a:ext cx="295561" cy="3567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34" name="signed&#10;H128">
            <a:extLst xmlns:a="http://schemas.openxmlformats.org/drawingml/2006/main">
              <a:ext uri="{FF2B5EF4-FFF2-40B4-BE49-F238E27FC236}">
                <a16:creationId xmlns:a16="http://schemas.microsoft.com/office/drawing/2014/main" id="{8681F840-B47B-4F06-98A6-7BB2E5AC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318927"/>
            <a:ext cx="412766" cy="3567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signed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135" name="U128">
            <a:extLst xmlns:a="http://schemas.openxmlformats.org/drawingml/2006/main">
              <a:ext uri="{FF2B5EF4-FFF2-40B4-BE49-F238E27FC236}">
                <a16:creationId xmlns:a16="http://schemas.microsoft.com/office/drawing/2014/main" id="{2BCE449E-0709-45D6-AD81-E8740D85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79" y="1318927"/>
            <a:ext cx="371999" cy="3567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B79A1BF-D4AC-4B70-87AA-1D9B8F08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548" y="1425940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48FDDDD-E473-433E-AA51-3F24A401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986" y="1425940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FFBE234-E134-41DF-9ABC-6EDC2BD7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24" y="1425940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7AF2DB7-D4ED-4583-823B-C83D7C5F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863" y="1425940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6CA6961-6EC2-43AA-B6DC-B75A389A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301" y="1425940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D0CF9CE-932C-4CCB-952F-84A95335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739" y="1425940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D83F79A-1C02-4561-A2A0-A0C7E0F4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177" y="1425940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DA11FFF-58DB-48E6-8ED8-BC35D003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615" y="1425940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B8FB579-3EA8-4F11-A984-AC4DB3D7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548" y="1517666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AC83E32-5061-49E5-B839-44290FE5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986" y="1517666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2362258-565F-459F-84BA-77C7A947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24" y="1517666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4FF62F8-0899-4B99-B15C-061E4A58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863" y="1517666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03AFFD6-A3BF-4188-9D57-B6BB3F40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301" y="1517666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1FD77E8-E32A-4873-A3AF-194F2054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739" y="1517666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66E43F1-9570-45A3-9A4A-7B2A280F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177" y="1517666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31C20A1-4FF1-45CC-9E2E-920DA35E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615" y="1517666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2" name="d = 4 vectors">
            <a:extLst xmlns:a="http://schemas.openxmlformats.org/drawingml/2006/main">
              <a:ext uri="{FF2B5EF4-FFF2-40B4-BE49-F238E27FC236}">
                <a16:creationId xmlns:a16="http://schemas.microsoft.com/office/drawing/2014/main" id="{0DF971FF-E232-48B4-996B-6B1959A3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548" y="1273064"/>
            <a:ext cx="611505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d = 4 vectors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28BC9FF-F17D-4168-8113-EE96856F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548" y="1425940"/>
            <a:ext cx="611505" cy="18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4" name="reshape&#10;by 4">
            <a:extLst xmlns:a="http://schemas.openxmlformats.org/drawingml/2006/main">
              <a:ext uri="{FF2B5EF4-FFF2-40B4-BE49-F238E27FC236}">
                <a16:creationId xmlns:a16="http://schemas.microsoft.com/office/drawing/2014/main" id="{9F046277-8CE3-4CCC-9F47-CFF128BE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262" y="1344406"/>
            <a:ext cx="356711" cy="331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reshape</a:t>
            </a:r>
          </a:p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by 4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4FECA7A-0370-4F84-BA5D-0CEBE852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1359694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4A40869-5319-40CC-B7D5-07BF56C1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258" y="1359694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2B3794E-FDD6-4D54-AB06-36DADF95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915" y="1359694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9FEF9FD-6BC9-4CEE-9E88-5E5507FE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572" y="1359694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114545E-911D-4FDC-98D7-72F85F7C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1451420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6D3820A-7894-4BFA-926A-BD7361CE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258" y="1451420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BBFB981-3BC8-4920-8340-BCBCB750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915" y="1451420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231D108-97DB-4A8F-B578-A4DDC61E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572" y="1451420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62EFC8C-23CE-4789-994B-6A28605A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1543145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5C036F4-87BA-4DEF-8461-6B4AE278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258" y="1543145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579212D-153E-4D89-BAAC-24ED0B7C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915" y="1543145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BA21E2D-45CB-4346-B4AE-16886F28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572" y="1543145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31898D8-8FBC-467E-9FFB-26DE460F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1634871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7F38521-16F5-4FB4-AEE4-38B5E465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258" y="1634871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056CEE5-EBA3-4378-BF27-E797E57E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915" y="1634871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6070A7C-7144-4334-9C28-EE572F9B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572" y="1634871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1" name="C1: 256 × 4">
            <a:extLst xmlns:a="http://schemas.openxmlformats.org/drawingml/2006/main">
              <a:ext uri="{FF2B5EF4-FFF2-40B4-BE49-F238E27FC236}">
                <a16:creationId xmlns:a16="http://schemas.microsoft.com/office/drawing/2014/main" id="{69CA6367-2041-42A9-AAFE-4BBEB0B0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1206818"/>
            <a:ext cx="458629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C1: 256 × 4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7F5C823-8503-4070-A27A-EDA3D164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1359694"/>
            <a:ext cx="458629" cy="36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13494B5-21A1-4ADE-9187-22F63815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352" y="1359694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5B1338F9-29D4-4049-BA00-22179959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009" y="1359694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98D5C85-9EDF-44FA-8EDF-B1B07071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666" y="1359694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8BAB049-9D9C-47CC-BB67-9725833B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323" y="1359694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38DB336-984E-4FD5-8014-07700EBA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352" y="1451420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A83EEBD-4BC1-4A32-948D-406395C3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009" y="1451420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F5AA8E8-CE3B-4389-B859-68C66410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666" y="1451420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7DC4D634-EFF5-4504-AB96-85954D1F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323" y="1451420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071A514-4E2A-4C6E-8044-2C9BE25E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352" y="1543145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86FAA08-3A9C-4C26-BD9C-3E5205EB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009" y="1543145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2D1C623-5A0B-4C6F-8C13-D7A18ECF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666" y="1543145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E051A4F-6C58-4B3A-8DB3-79B98F3D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323" y="1543145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A517F4D-0DDA-4FF3-9FE5-DD308A3D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352" y="1634871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B9FAEC1A-DAF7-4DC0-85EB-CAFF6D6E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009" y="1634871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DAF422D2-AA3A-4DE2-B5D2-EF0A70E9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666" y="1634871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783D51CB-E10C-424E-8D0A-E4E3B3DC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323" y="1634871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9" name="C2: 256 × 4">
            <a:extLst xmlns:a="http://schemas.openxmlformats.org/drawingml/2006/main">
              <a:ext uri="{FF2B5EF4-FFF2-40B4-BE49-F238E27FC236}">
                <a16:creationId xmlns:a16="http://schemas.microsoft.com/office/drawing/2014/main" id="{88575A5C-6EDD-4607-B238-E24F1C8C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352" y="1206818"/>
            <a:ext cx="458629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C2: 256 × 4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A0FB99E-0471-43E1-9261-960D0825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352" y="1359694"/>
            <a:ext cx="458629" cy="36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1" name="i1">
            <a:extLst xmlns:a="http://schemas.openxmlformats.org/drawingml/2006/main">
              <a:ext uri="{FF2B5EF4-FFF2-40B4-BE49-F238E27FC236}">
                <a16:creationId xmlns:a16="http://schemas.microsoft.com/office/drawing/2014/main" id="{29D5DECE-2BC8-44B2-B4DF-92EE80CC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1981391"/>
            <a:ext cx="458629" cy="142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</a:t>
            </a:r>
          </a:p>
        </p:txBody>
      </p:sp>
      <p:sp>
        <p:nvSpPr>
          <p:cNvPr id="192" name="i2">
            <a:extLst xmlns:a="http://schemas.openxmlformats.org/drawingml/2006/main">
              <a:ext uri="{FF2B5EF4-FFF2-40B4-BE49-F238E27FC236}">
                <a16:creationId xmlns:a16="http://schemas.microsoft.com/office/drawing/2014/main" id="{29519C69-B692-4680-A8C2-A59D3765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352" y="1981391"/>
            <a:ext cx="458629" cy="142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i2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B7BE886E-9065-49C0-9C10-F1D8D968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2261664"/>
            <a:ext cx="86630" cy="101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539BF576-24AD-41ED-AB07-BE6F59E1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230" y="2261664"/>
            <a:ext cx="86630" cy="101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0FA72A0-E5D0-49C0-BEAB-C161647B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860" y="2261664"/>
            <a:ext cx="86630" cy="101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D154D3B-7D0D-4753-B48C-DD5B2781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490" y="2261664"/>
            <a:ext cx="86630" cy="101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05A2EF6-9856-4188-BEE5-0C57B581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2261664"/>
            <a:ext cx="346520" cy="101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AB18293-27B8-4DF2-9544-AD9FD180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365" y="2261664"/>
            <a:ext cx="86630" cy="101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58D14CD-0DA7-4DDE-986C-E9540F39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995" y="2261664"/>
            <a:ext cx="86630" cy="101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86C31189-58AC-4C16-A23B-D026EA58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61664"/>
            <a:ext cx="86630" cy="101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1D0A2BF8-3CBD-4985-A2A4-B381EEA7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255" y="2261664"/>
            <a:ext cx="86630" cy="101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69F3F2B8-9082-4065-9285-B549848A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365" y="2261664"/>
            <a:ext cx="346520" cy="101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D0C697A-FC6E-4E47-A933-BBE77477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8" y="2363581"/>
            <a:ext cx="178356" cy="1783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>
                <a:solidFill>
                  <a:srgbClr val="18222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04" name="two additive codebooks">
            <a:extLst xmlns:a="http://schemas.openxmlformats.org/drawingml/2006/main">
              <a:ext uri="{FF2B5EF4-FFF2-40B4-BE49-F238E27FC236}">
                <a16:creationId xmlns:a16="http://schemas.microsoft.com/office/drawing/2014/main" id="{FEE66DB1-6ADE-45E4-AAB7-B0397C84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048417"/>
            <a:ext cx="1248442" cy="127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two additive codebooks</a:t>
            </a:r>
          </a:p>
        </p:txBody>
      </p:sp>
      <p:sp>
        <p:nvSpPr>
          <p:cNvPr id="205" name="Ŵ[r,b] = gᵣ 2ᵉʳᵇ (C1[i1] + C2[i2])">
            <a:extLst xmlns:a="http://schemas.openxmlformats.org/drawingml/2006/main">
              <a:ext uri="{FF2B5EF4-FFF2-40B4-BE49-F238E27FC236}">
                <a16:creationId xmlns:a16="http://schemas.microsoft.com/office/drawing/2014/main" id="{29D459C6-9F17-4250-BF02-4BB5F8EE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940" y="2022158"/>
            <a:ext cx="2904649" cy="315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124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Ŵ[r,b] = gᵣ 2ᵉʳᵇ (C1[i1] + C2[i2])</a:t>
            </a:r>
          </a:p>
        </p:txBody>
      </p:sp>
      <p:sp>
        <p:nvSpPr>
          <p:cNvPr id="206" name="gᵣ: row gain&#10;(trainable)">
            <a:extLst xmlns:a="http://schemas.openxmlformats.org/drawingml/2006/main">
              <a:ext uri="{FF2B5EF4-FFF2-40B4-BE49-F238E27FC236}">
                <a16:creationId xmlns:a16="http://schemas.microsoft.com/office/drawing/2014/main" id="{1F2CF123-97F1-498E-A704-A0CEE95B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455307"/>
            <a:ext cx="738902" cy="3057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gᵣ: row gain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(trainable)</a:t>
            </a:r>
          </a:p>
        </p:txBody>
      </p:sp>
      <p:sp>
        <p:nvSpPr>
          <p:cNvPr id="207" name="eᵣᵦ: B32 exponent&#10;(stored, frozen)">
            <a:extLst xmlns:a="http://schemas.openxmlformats.org/drawingml/2006/main">
              <a:ext uri="{FF2B5EF4-FFF2-40B4-BE49-F238E27FC236}">
                <a16:creationId xmlns:a16="http://schemas.microsoft.com/office/drawing/2014/main" id="{CB234134-280F-47AC-BDDD-41E3E487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744" y="2455307"/>
            <a:ext cx="1146572" cy="3057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eᵣᵦ: B32 exponent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(stored, frozen)</a:t>
            </a:r>
          </a:p>
        </p:txBody>
      </p:sp>
      <p:sp>
        <p:nvSpPr>
          <p:cNvPr id="208" name="~4.27 effective bpw">
            <a:extLst xmlns:a="http://schemas.openxmlformats.org/drawingml/2006/main">
              <a:ext uri="{FF2B5EF4-FFF2-40B4-BE49-F238E27FC236}">
                <a16:creationId xmlns:a16="http://schemas.microsoft.com/office/drawing/2014/main" id="{36248513-F901-4947-82FC-91781340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151" y="2521553"/>
            <a:ext cx="1885474" cy="203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~4.27 effective bpw</a:t>
            </a:r>
          </a:p>
        </p:txBody>
      </p:sp>
      <p:sp>
        <p:nvSpPr>
          <p:cNvPr id="209" name="Xₜ = X S⁻¹ R,   Wₜ = W S R,   R = H128 U128">
            <a:extLst xmlns:a="http://schemas.openxmlformats.org/drawingml/2006/main">
              <a:ext uri="{FF2B5EF4-FFF2-40B4-BE49-F238E27FC236}">
                <a16:creationId xmlns:a16="http://schemas.microsoft.com/office/drawing/2014/main" id="{7B7BA015-6874-46F5-B481-A2DE5846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88" y="2837498"/>
            <a:ext cx="5197793" cy="163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Xₜ = X S⁻¹ R,   Wₜ = W S R,   R = H128 U128</a:t>
            </a:r>
          </a:p>
        </p:txBody>
      </p:sp>
      <p:sp>
        <p:nvSpPr>
          <p:cNvPr id="210" name="(b) Activation-first calibration">
            <a:extLst xmlns:a="http://schemas.openxmlformats.org/drawingml/2006/main">
              <a:ext uri="{FF2B5EF4-FFF2-40B4-BE49-F238E27FC236}">
                <a16:creationId xmlns:a16="http://schemas.microsoft.com/office/drawing/2014/main" id="{4CDD56C7-A6D1-4C59-B474-B69EF642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334" y="111204"/>
            <a:ext cx="2981087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(b) Activation-first calibration</a:t>
            </a:r>
          </a:p>
        </p:txBody>
      </p:sp>
      <p:cxnSp>
        <p:nvCxn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71F890B2-CD66-46FB-9566-83101FAB54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08142" y="315039"/>
            <a:ext cx="3001470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212" name="Stage 1: learn U128; 8 updates">
            <a:extLst xmlns:a="http://schemas.openxmlformats.org/drawingml/2006/main">
              <a:ext uri="{FF2B5EF4-FFF2-40B4-BE49-F238E27FC236}">
                <a16:creationId xmlns:a16="http://schemas.microsoft.com/office/drawing/2014/main" id="{70DEC2F2-24A9-40D6-A990-A854ADB1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813" y="381286"/>
            <a:ext cx="2930128" cy="2191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Stage 1: learn U128; 8 updates</a:t>
            </a:r>
          </a:p>
        </p:txBody>
      </p:sp>
      <p:sp>
        <p:nvSpPr>
          <p:cNvPr id="213" name="W16A4 • action + future loss">
            <a:extLst xmlns:a="http://schemas.openxmlformats.org/drawingml/2006/main">
              <a:ext uri="{FF2B5EF4-FFF2-40B4-BE49-F238E27FC236}">
                <a16:creationId xmlns:a16="http://schemas.microsoft.com/office/drawing/2014/main" id="{06985B85-C366-48FE-95CC-4E443380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484" y="615696"/>
            <a:ext cx="2828211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W16A4 • action + future loss</a:t>
            </a:r>
          </a:p>
        </p:txBody>
      </p:sp>
      <p:sp>
        <p:nvSpPr>
          <p:cNvPr id="214" name="S&#10;frozen">
            <a:extLst xmlns:a="http://schemas.openxmlformats.org/drawingml/2006/main">
              <a:ext uri="{FF2B5EF4-FFF2-40B4-BE49-F238E27FC236}">
                <a16:creationId xmlns:a16="http://schemas.microsoft.com/office/drawing/2014/main" id="{F6192FD6-AE64-4DB9-BB57-B51BF414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401" y="809339"/>
            <a:ext cx="366903" cy="2955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15" name="H128&#10;frozen">
            <a:extLst xmlns:a="http://schemas.openxmlformats.org/drawingml/2006/main">
              <a:ext uri="{FF2B5EF4-FFF2-40B4-BE49-F238E27FC236}">
                <a16:creationId xmlns:a16="http://schemas.microsoft.com/office/drawing/2014/main" id="{15DA10D6-FBDC-4C19-B370-1BEEA1F9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605" y="809339"/>
            <a:ext cx="433149" cy="2955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16" name="U128&#10;trainable">
            <a:extLst xmlns:a="http://schemas.openxmlformats.org/drawingml/2006/main">
              <a:ext uri="{FF2B5EF4-FFF2-40B4-BE49-F238E27FC236}">
                <a16:creationId xmlns:a16="http://schemas.microsoft.com/office/drawing/2014/main" id="{8D360B99-00B6-45C3-BB87-49C2E131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247" y="809339"/>
            <a:ext cx="473916" cy="2955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sp>
        <p:nvSpPr>
          <p:cNvPr id="217" name="W16A4&#10;student">
            <a:extLst xmlns:a="http://schemas.openxmlformats.org/drawingml/2006/main">
              <a:ext uri="{FF2B5EF4-FFF2-40B4-BE49-F238E27FC236}">
                <a16:creationId xmlns:a16="http://schemas.microsoft.com/office/drawing/2014/main" id="{05DA2179-623E-4819-A8E8-1D11EFB2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711" y="809339"/>
            <a:ext cx="647176" cy="2955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W16A4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218" name="X">
            <a:extLst xmlns:a="http://schemas.openxmlformats.org/drawingml/2006/main">
              <a:ext uri="{FF2B5EF4-FFF2-40B4-BE49-F238E27FC236}">
                <a16:creationId xmlns:a16="http://schemas.microsoft.com/office/drawing/2014/main" id="{2FA4E98F-A811-4BE2-B213-BE68A658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89" y="865394"/>
            <a:ext cx="254794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19" name="Freeze R0 = H128 U128">
            <a:extLst xmlns:a="http://schemas.openxmlformats.org/drawingml/2006/main">
              <a:ext uri="{FF2B5EF4-FFF2-40B4-BE49-F238E27FC236}">
                <a16:creationId xmlns:a16="http://schemas.microsoft.com/office/drawing/2014/main" id="{1B33F502-80E7-469E-AC18-A46F433A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674" y="1217009"/>
            <a:ext cx="2038350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Freeze R0 = H128 U128</a:t>
            </a:r>
          </a:p>
        </p:txBody>
      </p:sp>
      <p:sp>
        <p:nvSpPr>
          <p:cNvPr id="220" name="Stage 2: learn VQ; 8 updates">
            <a:extLst xmlns:a="http://schemas.openxmlformats.org/drawingml/2006/main">
              <a:ext uri="{FF2B5EF4-FFF2-40B4-BE49-F238E27FC236}">
                <a16:creationId xmlns:a16="http://schemas.microsoft.com/office/drawing/2014/main" id="{D2583F95-C1C1-4298-9F4C-74A941DB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813" y="1502378"/>
            <a:ext cx="2930128" cy="2038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Stage 2: learn VQ; 8 updates</a:t>
            </a:r>
          </a:p>
        </p:txBody>
      </p:sp>
      <p:sp>
        <p:nvSpPr>
          <p:cNvPr id="221" name="R0&#10;frozen">
            <a:extLst xmlns:a="http://schemas.openxmlformats.org/drawingml/2006/main">
              <a:ext uri="{FF2B5EF4-FFF2-40B4-BE49-F238E27FC236}">
                <a16:creationId xmlns:a16="http://schemas.microsoft.com/office/drawing/2014/main" id="{A20BF839-77E8-433D-BC82-4CBF9BD0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4772" y="1792843"/>
            <a:ext cx="433149" cy="397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R0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22" name="i1, i2&#10;frozen">
            <a:extLst xmlns:a="http://schemas.openxmlformats.org/drawingml/2006/main">
              <a:ext uri="{FF2B5EF4-FFF2-40B4-BE49-F238E27FC236}">
                <a16:creationId xmlns:a16="http://schemas.microsoft.com/office/drawing/2014/main" id="{251E7AA1-FC1A-41C5-AEA1-2E54C4A7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551" y="1792843"/>
            <a:ext cx="433149" cy="397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i1, i2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23" name="B32 exp.&#10;frozen">
            <a:extLst xmlns:a="http://schemas.openxmlformats.org/drawingml/2006/main">
              <a:ext uri="{FF2B5EF4-FFF2-40B4-BE49-F238E27FC236}">
                <a16:creationId xmlns:a16="http://schemas.microsoft.com/office/drawing/2014/main" id="{A1C446CD-E7BD-4749-9B16-5671CD90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235" y="1792843"/>
            <a:ext cx="514683" cy="397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B32 exp.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24" name="C1, C2&#10;trainable">
            <a:extLst xmlns:a="http://schemas.openxmlformats.org/drawingml/2006/main">
              <a:ext uri="{FF2B5EF4-FFF2-40B4-BE49-F238E27FC236}">
                <a16:creationId xmlns:a16="http://schemas.microsoft.com/office/drawing/2014/main" id="{75A8C067-5A14-49B2-8427-900E5E1F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931" y="1792843"/>
            <a:ext cx="560546" cy="397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C1, C2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sp>
        <p:nvSpPr>
          <p:cNvPr id="225" name="row gains&#10;trainable">
            <a:extLst xmlns:a="http://schemas.openxmlformats.org/drawingml/2006/main">
              <a:ext uri="{FF2B5EF4-FFF2-40B4-BE49-F238E27FC236}">
                <a16:creationId xmlns:a16="http://schemas.microsoft.com/office/drawing/2014/main" id="{C2B248DE-90D5-4DE4-9DFA-B1A43388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3203" y="1792843"/>
            <a:ext cx="560546" cy="397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row gains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cxnSp>
        <p:nvCxn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838AEAC4-F888-4048-BAA4-5F68A5E51B9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96689" y="2358485"/>
            <a:ext cx="2700814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227" name="C80: 40 tasks × 2 demonstrations&#10;Base model frozen • fixed f">
            <a:extLst xmlns:a="http://schemas.openxmlformats.org/drawingml/2006/main">
              <a:ext uri="{FF2B5EF4-FFF2-40B4-BE49-F238E27FC236}">
                <a16:creationId xmlns:a16="http://schemas.microsoft.com/office/drawing/2014/main" id="{EDCE0E0E-94FD-4DF5-81D0-D40394B3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813" y="2582704"/>
            <a:ext cx="2930128" cy="280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C80: 40 tasks × 2 demonstrations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Base model frozen • fixed final update 8</a:t>
            </a:r>
          </a:p>
        </p:txBody>
      </p:sp>
      <p:sp>
        <p:nvSpPr>
          <p:cNvPr id="228" name="Orange: trainable     Gray: frozen">
            <a:extLst xmlns:a="http://schemas.openxmlformats.org/drawingml/2006/main">
              <a:ext uri="{FF2B5EF4-FFF2-40B4-BE49-F238E27FC236}">
                <a16:creationId xmlns:a16="http://schemas.microsoft.com/office/drawing/2014/main" id="{63E4F626-2E63-48BF-ABA9-4B6DA260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963" y="2888456"/>
            <a:ext cx="2318623" cy="127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Orange: trainable     Gray: frozen</a:t>
            </a:r>
          </a:p>
        </p:txBody>
      </p:sp>
      <p:sp>
        <p:nvSpPr>
          <p:cNvPr id="229" name="(c) Task-aware calibration through a frozen future-to-action reader">
            <a:extLst xmlns:a="http://schemas.openxmlformats.org/drawingml/2006/main">
              <a:ext uri="{FF2B5EF4-FFF2-40B4-BE49-F238E27FC236}">
                <a16:creationId xmlns:a16="http://schemas.microsoft.com/office/drawing/2014/main" id="{4DDE11D3-2C11-46F7-BA50-0DB3467C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9" y="3121104"/>
            <a:ext cx="8357235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(c) Task-aware calibration through a frozen future-to-action reader</a:t>
            </a:r>
          </a:p>
        </p:txBody>
      </p:sp>
      <p:cxnSp>
        <p:nvCxn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EF70FA64-367F-4C55-9A61-0A3B026D89E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6517" y="3324939"/>
            <a:ext cx="8377619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231" name="Observation +&#10;instruction + proprio">
            <a:extLst xmlns:a="http://schemas.openxmlformats.org/drawingml/2006/main">
              <a:ext uri="{FF2B5EF4-FFF2-40B4-BE49-F238E27FC236}">
                <a16:creationId xmlns:a16="http://schemas.microsoft.com/office/drawing/2014/main" id="{B994E164-BF7E-41CF-AA93-16040592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80" y="3732609"/>
            <a:ext cx="876491" cy="382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Observation +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instruction + proprio</a:t>
            </a:r>
          </a:p>
        </p:txBody>
      </p:sp>
      <p:sp>
        <p:nvSpPr>
          <p:cNvPr id="232" name="BF16 teacher&#10;(frozen)">
            <a:extLst xmlns:a="http://schemas.openxmlformats.org/drawingml/2006/main">
              <a:ext uri="{FF2B5EF4-FFF2-40B4-BE49-F238E27FC236}">
                <a16:creationId xmlns:a16="http://schemas.microsoft.com/office/drawing/2014/main" id="{956BC51B-D0A4-4EAA-B769-0A25CB7E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801" y="3431953"/>
            <a:ext cx="764381" cy="270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BF16 teacher</a:t>
            </a:r>
          </a:p>
          <a:p xmlns:a="http://schemas.openxmlformats.org/drawingml/2006/main">
            <a: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(frozen)</a:t>
            </a:r>
          </a:p>
        </p:txBody>
      </p:sp>
      <p:sp>
        <p:nvSpPr>
          <p:cNvPr id="233" name="Quantized student Q0&#10;(codebooks + gains&#10;trainable)">
            <a:extLst xmlns:a="http://schemas.openxmlformats.org/drawingml/2006/main">
              <a:ext uri="{FF2B5EF4-FFF2-40B4-BE49-F238E27FC236}">
                <a16:creationId xmlns:a16="http://schemas.microsoft.com/office/drawing/2014/main" id="{84CDAC0E-7ADE-4E05-84D1-4791D08F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267" y="4104608"/>
            <a:ext cx="942737" cy="356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Quantized student Q0</a:t>
            </a:r>
          </a:p>
          <a:p xmlns:a="http://schemas.openxmlformats.org/drawingml/2006/main"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(codebooks + gains</a:t>
            </a:r>
          </a:p>
          <a:p xmlns:a="http://schemas.openxmlformats.org/drawingml/2006/main"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trainable)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D245664-0201-4F20-879C-BC8E9DA2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908" y="3437049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C399FF3F-8B85-4868-87CD-3CA34012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319" y="347272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472AB911-C433-403C-9748-DC18D096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730" y="3437049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10B9FD3-FE57-4160-84D8-E86F3BF1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40" y="347272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FC10802-3F0F-42A5-8753-C71AD1E5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551" y="3437049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74C19CD-A9CF-47FB-92EF-1BD3E048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961" y="347272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FB72D13F-6893-4A91-8342-6582028C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908" y="4109704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4901881E-E3DE-41AD-A0CC-7CBC1A71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319" y="414537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62463D9-758C-4E57-9F6E-75EDD1A8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730" y="4109704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B1310F0-CC01-4D70-82A5-99CDA1F2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40" y="414537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1CAA7135-9834-492F-ADEE-E5023F75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551" y="4109704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13AC8E55-8B29-45F0-B256-FDDA455A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961" y="414537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08C604E-BEEC-4362-881D-1ACAA981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535" y="3452336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04A1F702-4322-4DF0-B8DD-F81AA846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78" y="3452336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427A69BA-E758-4673-BA09-8E28CEBE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822" y="3452336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F98D7D4-0008-4150-87B1-BD33CF61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466" y="3452336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419952E7-3F1C-4AA8-8448-343217F5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109" y="3452336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3DE5D3A3-D719-4DBF-A28F-F3569A4A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753" y="3452336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6F12394F-9295-41F3-9A75-D2EB76B0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535" y="352367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2128738E-989C-4998-9CCF-04327A8D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78" y="352367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878616CA-36A4-42C8-8605-D8848F8E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822" y="352367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D71323FE-5F42-46AB-BFAA-1C2A6B3F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466" y="352367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50529BC0-DFB6-4719-8C1F-6F35DD53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109" y="352367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A5F22600-F5AF-4221-8741-96C60CDC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753" y="352367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8" name="aT">
            <a:extLst xmlns:a="http://schemas.openxmlformats.org/drawingml/2006/main">
              <a:ext uri="{FF2B5EF4-FFF2-40B4-BE49-F238E27FC236}">
                <a16:creationId xmlns:a16="http://schemas.microsoft.com/office/drawing/2014/main" id="{27BD34A8-104F-472A-8F19-A63D0E0B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535" y="3299460"/>
            <a:ext cx="417862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aT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FB71040-4198-4C13-941A-8B0BF2CB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535" y="3452336"/>
            <a:ext cx="417862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ACD2A99-F02B-4C5E-BB3A-4DFD1F5F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535" y="4124992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B00C1709-658E-4DFB-A1C9-CC656529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78" y="4124992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8F4867DF-7E35-4E5C-8192-B36B8F80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822" y="4124992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C27B60AB-8A4A-46DC-8CD4-98CC7339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466" y="4124992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9284560E-3B98-4EA7-9F11-E6447756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109" y="4124992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DA7E5902-F8F9-457F-9BEF-3D7EF9F0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753" y="4124992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0FCE6084-03AE-42DF-A222-195B6B02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535" y="419633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E4B9FD70-CDB1-448E-979E-ECC63AD8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78" y="419633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1FE38B6A-B58A-4CB9-A43D-94433D46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822" y="419633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D20838B-68C0-4FAE-805F-880310B8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466" y="419633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D0641A4E-E8AA-4F31-931D-235DDEB3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109" y="419633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A7862772-671E-42C6-BC0B-F1E711DD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753" y="419633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2" name="aQ">
            <a:extLst xmlns:a="http://schemas.openxmlformats.org/drawingml/2006/main">
              <a:ext uri="{FF2B5EF4-FFF2-40B4-BE49-F238E27FC236}">
                <a16:creationId xmlns:a16="http://schemas.microsoft.com/office/drawing/2014/main" id="{081629B1-8C44-4576-9F8C-2CC2779F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535" y="3972116"/>
            <a:ext cx="417862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aQ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A5B09B5C-6412-48F7-A478-A0F9D47B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535" y="4124992"/>
            <a:ext cx="417862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AC95C98F-B7E1-4F3A-9A3A-B35546B5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33" y="3452336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0E3F1699-0107-47A7-A958-B49FB47C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024" y="3452336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78A97A2D-950B-4B09-8955-EAF5F70F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14" y="3452336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9EA9BC16-82A4-41CF-AC39-08D8AC84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804" y="3452336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8BA88297-7A30-4F1A-BDEE-3927FA5E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694" y="3452336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422785A1-C321-4E4E-A57C-8B7776A2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584" y="3452336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2863208-4C23-4D4D-BCCE-6AB8A868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33" y="352367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65FB5A3D-22D9-4BDA-A0E7-E152C572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024" y="352367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8A03EAD-AF1A-4B7E-926B-114CFDE5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14" y="352367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38E36114-0A77-4445-8B11-AE462290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804" y="352367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50146A58-3114-4912-9457-7D15B4ED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694" y="352367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EFA3A6A0-4789-41AA-B988-6BAF587E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584" y="352367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6" name="zT">
            <a:extLst xmlns:a="http://schemas.openxmlformats.org/drawingml/2006/main">
              <a:ext uri="{FF2B5EF4-FFF2-40B4-BE49-F238E27FC236}">
                <a16:creationId xmlns:a16="http://schemas.microsoft.com/office/drawing/2014/main" id="{C8900A59-9C2F-4CF7-B0A2-8D3B7F4C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33" y="3299460"/>
            <a:ext cx="443341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zT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5B380870-21A9-425E-96F8-06900618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33" y="3452336"/>
            <a:ext cx="443341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CF6A9C86-8017-4A23-945B-208AA79F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33" y="4124992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BCED28B6-73EF-4AE6-9B7C-401462B0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024" y="4124992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315A8A22-EE1F-4919-B7D7-D9078E40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14" y="4124992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808B9139-6382-4BA7-BD86-AA2148E7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804" y="4124992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DEDCB72E-E96C-4D0D-804E-E4C86740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694" y="4124992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79BB659C-AF85-43F7-BE7C-FB6C499D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584" y="4124992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53FA8FB2-4AB0-4849-BEA9-41098E6A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33" y="419633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D6CDBA7E-61E4-4B63-A2C7-75CD5390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024" y="419633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824DD0AB-FE94-45B9-AD76-1683AB5D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14" y="419633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1E98EFFF-4625-4811-A30B-0C6B7260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804" y="419633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7D4E7560-1869-4D5C-87A6-9A50CF9C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694" y="419633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450DED3B-CD77-44B1-9953-8D95B7BC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584" y="419633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0" name="zQ">
            <a:extLst xmlns:a="http://schemas.openxmlformats.org/drawingml/2006/main">
              <a:ext uri="{FF2B5EF4-FFF2-40B4-BE49-F238E27FC236}">
                <a16:creationId xmlns:a16="http://schemas.microsoft.com/office/drawing/2014/main" id="{AA7644D4-CEB5-480E-ACC7-AE22DAF0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33" y="3972116"/>
            <a:ext cx="443341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zQ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F3599045-E55A-459D-AEA4-9BAC27F0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33" y="4124992"/>
            <a:ext cx="443341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2" name="L_action&#10;first-10 motor MSE">
            <a:extLst xmlns:a="http://schemas.openxmlformats.org/drawingml/2006/main">
              <a:ext uri="{FF2B5EF4-FFF2-40B4-BE49-F238E27FC236}">
                <a16:creationId xmlns:a16="http://schemas.microsoft.com/office/drawing/2014/main" id="{01E28B72-6C6C-473D-AC71-6C22EA5F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21" y="3686747"/>
            <a:ext cx="942737" cy="295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L_action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first-10 motor MSE</a:t>
            </a:r>
          </a:p>
        </p:txBody>
      </p:sp>
      <p:sp>
        <p:nvSpPr>
          <p:cNvPr id="303" name="L_future&#10;clean-future NMSE">
            <a:extLst xmlns:a="http://schemas.openxmlformats.org/drawingml/2006/main">
              <a:ext uri="{FF2B5EF4-FFF2-40B4-BE49-F238E27FC236}">
                <a16:creationId xmlns:a16="http://schemas.microsoft.com/office/drawing/2014/main" id="{CD4B7941-6B11-49A3-BBCE-B6BFAF64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228" y="3686747"/>
            <a:ext cx="815340" cy="295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L_future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clean-future NMSE</a:t>
            </a:r>
          </a:p>
        </p:txBody>
      </p:sp>
      <p:sp>
        <p:nvSpPr>
          <p:cNvPr id="304" name="Frozen BF16&#10;action reader">
            <a:extLst xmlns:a="http://schemas.openxmlformats.org/drawingml/2006/main">
              <a:ext uri="{FF2B5EF4-FFF2-40B4-BE49-F238E27FC236}">
                <a16:creationId xmlns:a16="http://schemas.microsoft.com/office/drawing/2014/main" id="{7FB3DC65-B8C9-42AA-8329-E54EEB92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596" y="3309652"/>
            <a:ext cx="738902" cy="214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2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 BF16</a:t>
            </a:r>
          </a:p>
          <a:p xmlns:a="http://schemas.openxmlformats.org/drawingml/2006/main">
            <a: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2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 reader</a:t>
            </a: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9C18611-1711-421C-A354-9EFC9BA4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130" y="3549158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29F1A197-6182-46DE-9F48-35AADEC6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541" y="3584829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CB9C638A-B740-4980-BFA5-5F6E0B31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951" y="3549158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570FC7F3-06FD-4E72-96D1-A0B8CB80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362" y="3584829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6E6C8482-0642-4582-B530-71E2AA04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773" y="3549158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5266D0CE-CEEF-4C4C-89F9-1F78F9E7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183" y="3584829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2F39F452-1328-479F-B1D3-4626FC36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130" y="4221813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9CC49462-6FB9-454B-B9BE-6EB248FE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541" y="425748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5D643ACC-CAA0-4C04-825B-7BEDEDEE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951" y="4221813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8EAF6D69-9583-4573-934D-EF14A3E1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362" y="425748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5BA0D901-6894-4F6D-AC7B-DDCBD78D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773" y="4221813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6C287C28-90AC-46E8-9949-AD7FE48C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183" y="425748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7" name="same frozen reader">
            <a:extLst xmlns:a="http://schemas.openxmlformats.org/drawingml/2006/main">
              <a:ext uri="{FF2B5EF4-FFF2-40B4-BE49-F238E27FC236}">
                <a16:creationId xmlns:a16="http://schemas.microsoft.com/office/drawing/2014/main" id="{ABE850B0-6262-46ED-8D58-3D3070E2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267" y="3977211"/>
            <a:ext cx="789861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same frozen reader</a:t>
            </a:r>
          </a:p>
        </p:txBody>
      </p:sp>
      <p:sp>
        <p:nvSpPr>
          <p:cNvPr id="318" name="pT(a)">
            <a:extLst xmlns:a="http://schemas.openxmlformats.org/drawingml/2006/main">
              <a:ext uri="{FF2B5EF4-FFF2-40B4-BE49-F238E27FC236}">
                <a16:creationId xmlns:a16="http://schemas.microsoft.com/office/drawing/2014/main" id="{CC3B052B-9911-4499-9BC8-28503DF1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099" y="3324939"/>
            <a:ext cx="535067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pT(a)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F0517164-FCA6-4287-85EB-9FA61363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099" y="3651075"/>
            <a:ext cx="61151" cy="61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584449AA-793F-4A96-93F1-5828205B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537" y="3564446"/>
            <a:ext cx="61151" cy="14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30925D60-E1E2-4127-8514-E63EFC76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82912"/>
            <a:ext cx="61151" cy="229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389C9AED-5134-4E76-8EA2-BAF3EA71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413" y="3549158"/>
            <a:ext cx="61151" cy="163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7C710679-3678-4A28-BBC7-9842F042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851" y="3615404"/>
            <a:ext cx="61151" cy="96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C22749EB-306B-4B97-ABDE-F6DE784C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289" y="3661267"/>
            <a:ext cx="61151" cy="509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D8FC3995-CEF5-4C55-8258-FB4A8E673FF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67099" y="3712226"/>
            <a:ext cx="504492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326" name="pQ(a)">
            <a:extLst xmlns:a="http://schemas.openxmlformats.org/drawingml/2006/main">
              <a:ext uri="{FF2B5EF4-FFF2-40B4-BE49-F238E27FC236}">
                <a16:creationId xmlns:a16="http://schemas.microsoft.com/office/drawing/2014/main" id="{0E2F8A00-C1D8-4F7F-99D5-5D3ED7E4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099" y="3997595"/>
            <a:ext cx="535067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pQ(a)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A598CF31-BC08-46D6-BA2E-37478ECE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099" y="4323731"/>
            <a:ext cx="61151" cy="61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FDEA03EE-A266-4839-8E4D-1BD959B0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537" y="4237101"/>
            <a:ext cx="61151" cy="14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72EDDABD-1C0E-4615-B2A3-541F3D90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155567"/>
            <a:ext cx="61151" cy="229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6C5EC445-9C5B-4C1C-8DE5-9D85D2C4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413" y="4221813"/>
            <a:ext cx="61151" cy="163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90060F1E-FC63-45B8-8FA9-153B2804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851" y="4288060"/>
            <a:ext cx="61151" cy="96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0BECF423-FB77-4094-A07D-D988CF5E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289" y="4333923"/>
            <a:ext cx="61151" cy="509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76EFC08B-1EA0-4F4A-9334-B90EB0D51E2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67099" y="4384881"/>
            <a:ext cx="504492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334" name="L_reader-KL&#10;soft-bin action&#10;consistency">
            <a:extLst xmlns:a="http://schemas.openxmlformats.org/drawingml/2006/main">
              <a:ext uri="{FF2B5EF4-FFF2-40B4-BE49-F238E27FC236}">
                <a16:creationId xmlns:a16="http://schemas.microsoft.com/office/drawing/2014/main" id="{EE84F74C-F159-4850-BD88-FEEF89CA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796" y="3727514"/>
            <a:ext cx="800052" cy="356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L_reader-KL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soft-bin action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consistency</a:t>
            </a:r>
          </a:p>
        </p:txBody>
      </p:sp>
      <p:cxnSp>
        <p:nvCxn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2789E490-E573-480F-B45D-0BDB8F309A6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02166" y="3656171"/>
            <a:ext cx="0" cy="72871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cxnSp>
        <p:nvCxn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6F5641EF-BD8B-4237-9DF7-FB2B294F838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92921" y="4553045"/>
            <a:ext cx="4779931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B96813"/>
            </a:solidFill>
            <a:prstDash val="dash"/>
          </a:ln>
        </p:spPr>
      </p:cxnSp>
      <p:cxnSp>
        <p:nvCxn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2DFBC484-CD0A-4489-93F7-C990E8842AB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92921" y="4451128"/>
            <a:ext cx="0" cy="101918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B96813"/>
            </a:solidFill>
            <a:prstDash val="dash"/>
          </a:ln>
        </p:spPr>
      </p:cxnSp>
      <p:sp>
        <p:nvSpPr>
          <p:cNvPr id="338" name="gradient to codebooks + gains">
            <a:extLst xmlns:a="http://schemas.openxmlformats.org/drawingml/2006/main">
              <a:ext uri="{FF2B5EF4-FFF2-40B4-BE49-F238E27FC236}">
                <a16:creationId xmlns:a16="http://schemas.microsoft.com/office/drawing/2014/main" id="{90CE0D69-FC0B-4FD7-B8AA-E1533BEA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383" y="4522470"/>
            <a:ext cx="2446020" cy="127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B96813"/>
                </a:solidFill>
                <a:latin typeface="Arial"/>
                <a:ea typeface="Arial"/>
                <a:cs typeface="Arial"/>
              </a:rPr>
              <a:t>gradient to codebooks + gains</a:t>
            </a:r>
          </a:p>
        </p:txBody>
      </p:sp>
      <p:sp>
        <p:nvSpPr>
          <p:cNvPr id="339" name="L = L_action + λ L_future + β L_reader-KL">
            <a:extLst xmlns:a="http://schemas.openxmlformats.org/drawingml/2006/main">
              <a:ext uri="{FF2B5EF4-FFF2-40B4-BE49-F238E27FC236}">
                <a16:creationId xmlns:a16="http://schemas.microsoft.com/office/drawing/2014/main" id="{5471B35D-4890-4F07-8306-8E4CFC67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440" y="4675346"/>
            <a:ext cx="4586288" cy="127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 = L_action + λ L_future + β L_reader-KL</a:t>
            </a:r>
          </a:p>
        </p:txBody>
      </p:sp>
      <p:sp>
        <p:nvSpPr>
          <p:cNvPr id="340" name="Calibration only">
            <a:extLst xmlns:a="http://schemas.openxmlformats.org/drawingml/2006/main">
              <a:ext uri="{FF2B5EF4-FFF2-40B4-BE49-F238E27FC236}">
                <a16:creationId xmlns:a16="http://schemas.microsoft.com/office/drawing/2014/main" id="{E1715759-F4E5-45C9-B6E1-C9DC045F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289" y="4654963"/>
            <a:ext cx="993696" cy="11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Calibration only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CFFFB-BB4A-43C7-AE94-36282174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6900863" cy="381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180F4-D8C9-49D1-B50E-DF3317ACF110}"/>
              </a:ext>
            </a:extLst>
          </p:cNvPr>
          <p:cNvCxnSpPr>
            <a:stCxn xmlns:a="http://schemas.openxmlformats.org/drawingml/2006/main" id="183" idx="2"/>
            <a:endCxn xmlns:a="http://schemas.openxmlformats.org/drawingml/2006/main" id="184" idx="6"/>
          </p:cNvCxnSpPr>
          <p:nvPr/>
        </p:nvCxnSpPr>
        <p:spPr>
          <a:xfrm xmlns:a="http://schemas.openxmlformats.org/drawingml/2006/main" flipH="1">
            <a:off x="7128796" y="3642646"/>
            <a:ext cx="348330" cy="11501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72D56-90A0-4923-9AAA-1CC364592458}"/>
              </a:ext>
            </a:extLst>
          </p:cNvPr>
          <p:cNvCxnSpPr>
            <a:stCxn xmlns:a="http://schemas.openxmlformats.org/drawingml/2006/main" id="178" idx="2"/>
            <a:endCxn xmlns:a="http://schemas.openxmlformats.org/drawingml/2006/main" id="184" idx="2"/>
          </p:cNvCxnSpPr>
          <p:nvPr/>
        </p:nvCxnSpPr>
        <p:spPr>
          <a:xfrm xmlns:a="http://schemas.openxmlformats.org/drawingml/2006/main">
            <a:off x="6464999" y="3642646"/>
            <a:ext cx="433768" cy="11501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572D9-B375-4689-88CE-68B26B4896CF}"/>
              </a:ext>
            </a:extLst>
          </p:cNvPr>
          <p:cNvCxnSpPr>
            <a:stCxn xmlns:a="http://schemas.openxmlformats.org/drawingml/2006/main" id="173" idx="2"/>
            <a:endCxn xmlns:a="http://schemas.openxmlformats.org/drawingml/2006/main" id="183" idx="0"/>
          </p:cNvCxnSpPr>
          <p:nvPr/>
        </p:nvCxnSpPr>
        <p:spPr>
          <a:xfrm xmlns:a="http://schemas.openxmlformats.org/drawingml/2006/main">
            <a:off x="7411403" y="3333750"/>
            <a:ext cx="65723" cy="17745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7C7D4-5825-4A37-81AA-F4CB240E16E3}"/>
              </a:ext>
            </a:extLst>
          </p:cNvPr>
          <p:cNvCxnSpPr>
            <a:stCxn xmlns:a="http://schemas.openxmlformats.org/drawingml/2006/main" id="172" idx="2"/>
            <a:endCxn xmlns:a="http://schemas.openxmlformats.org/drawingml/2006/main" id="178" idx="0"/>
          </p:cNvCxnSpPr>
          <p:nvPr/>
        </p:nvCxnSpPr>
        <p:spPr>
          <a:xfrm xmlns:a="http://schemas.openxmlformats.org/drawingml/2006/main" flipH="1">
            <a:off x="6464999" y="3333750"/>
            <a:ext cx="72295" cy="17745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A9A3C-A419-41D0-AF3A-A61FEE56F9F7}"/>
              </a:ext>
            </a:extLst>
          </p:cNvPr>
          <p:cNvCxnSpPr>
            <a:stCxn xmlns:a="http://schemas.openxmlformats.org/drawingml/2006/main" id="171" idx="2"/>
            <a:endCxn xmlns:a="http://schemas.openxmlformats.org/drawingml/2006/main" id="173" idx="0"/>
          </p:cNvCxnSpPr>
          <p:nvPr/>
        </p:nvCxnSpPr>
        <p:spPr>
          <a:xfrm xmlns:a="http://schemas.openxmlformats.org/drawingml/2006/main">
            <a:off x="7411403" y="2821115"/>
            <a:ext cx="0" cy="32861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9E054-A53A-4894-B573-7D8FFC929DBE}"/>
              </a:ext>
            </a:extLst>
          </p:cNvPr>
          <p:cNvCxnSpPr>
            <a:stCxn xmlns:a="http://schemas.openxmlformats.org/drawingml/2006/main" id="153" idx="2"/>
            <a:endCxn xmlns:a="http://schemas.openxmlformats.org/drawingml/2006/main" id="172" idx="0"/>
          </p:cNvCxnSpPr>
          <p:nvPr/>
        </p:nvCxnSpPr>
        <p:spPr>
          <a:xfrm xmlns:a="http://schemas.openxmlformats.org/drawingml/2006/main">
            <a:off x="6537294" y="2821115"/>
            <a:ext cx="0" cy="32861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BBCDC-8E0D-480C-8D59-D970B21B5264}"/>
              </a:ext>
            </a:extLst>
          </p:cNvPr>
          <p:cNvCxnSpPr>
            <a:stCxn xmlns:a="http://schemas.openxmlformats.org/drawingml/2006/main" id="116" idx="3"/>
            <a:endCxn xmlns:a="http://schemas.openxmlformats.org/drawingml/2006/main" id="134" idx="1"/>
          </p:cNvCxnSpPr>
          <p:nvPr/>
        </p:nvCxnSpPr>
        <p:spPr>
          <a:xfrm xmlns:a="http://schemas.openxmlformats.org/drawingml/2006/main">
            <a:off x="4683919" y="2525364"/>
            <a:ext cx="525780" cy="262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0AB54-737F-4682-9116-E1C663B5ECA0}"/>
              </a:ext>
            </a:extLst>
          </p:cNvPr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4066127" y="2525364"/>
            <a:ext cx="13801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FD460-3CF4-4559-8DB4-3641274728A3}"/>
              </a:ext>
            </a:extLst>
          </p:cNvPr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3422046" y="2525364"/>
            <a:ext cx="11172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1FDB0-0E8D-4E16-8B8D-F4B104502CFA}"/>
              </a:ext>
            </a:extLst>
          </p:cNvPr>
          <p:cNvCxnSpPr>
            <a:stCxn xmlns:a="http://schemas.openxmlformats.org/drawingml/2006/main" id="113" idx="3"/>
            <a:endCxn xmlns:a="http://schemas.openxmlformats.org/drawingml/2006/main" id="114" idx="1"/>
          </p:cNvCxnSpPr>
          <p:nvPr/>
        </p:nvCxnSpPr>
        <p:spPr>
          <a:xfrm xmlns:a="http://schemas.openxmlformats.org/drawingml/2006/main" flipV="1">
            <a:off x="2856834" y="2525364"/>
            <a:ext cx="184022" cy="1971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30E4D-DF92-4845-B959-D2FC30BF665F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 flipV="1">
            <a:off x="6261259" y="1391650"/>
            <a:ext cx="676942" cy="65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5AA88-88D6-44C8-B0D6-5349329A7E8B}"/>
              </a:ext>
            </a:extLst>
          </p:cNvPr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4881087" y="1398222"/>
            <a:ext cx="32861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E8AB5-1C6A-4BAE-804E-463FE419EB60}"/>
              </a:ext>
            </a:extLst>
          </p:cNvPr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4237006" y="1398222"/>
            <a:ext cx="15116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B1D2F-6809-4707-8E25-3188C02B9DC4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3566637" y="1398222"/>
            <a:ext cx="13144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EAD1A-4413-421C-B1FE-CBFCB695FC86}"/>
              </a:ext>
            </a:extLst>
          </p:cNvPr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2810828" y="1391650"/>
            <a:ext cx="295751" cy="65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Q0: paired transforms and microscaling VQ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(a) Paired transforms and microscaling VQ">
            <a:extLst xmlns:a="http://schemas.openxmlformats.org/drawingml/2006/main">
              <a:ext uri="{FF2B5EF4-FFF2-40B4-BE49-F238E27FC236}">
                <a16:creationId xmlns:a16="http://schemas.microsoft.com/office/drawing/2014/main" id="{CD0956F6-1B3D-4C51-A644-E0B6224C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8" y="737711"/>
            <a:ext cx="6769417" cy="230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39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(a) Paired transforms and microscaling VQ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38CC02-A33B-4194-A2D2-0546CF2E6D6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7453" y="1000601"/>
            <a:ext cx="6795706" cy="0"/>
          </a:xfrm>
          <a:prstGeom xmlns:a="http://schemas.openxmlformats.org/drawingml/2006/main" prst="straightConnector1">
            <a:avLst/>
          </a:prstGeom>
          <a:ln xmlns:a="http://schemas.openxmlformats.org/drawingml/2006/main" w="5258">
            <a:solidFill>
              <a:srgbClr val="697681"/>
            </a:solidFill>
            <a:prstDash val="solid"/>
          </a:ln>
        </p:spPr>
      </p:cxnSp>
      <p:sp>
        <p:nvSpPr>
          <p:cNvPr id="22" name="Activation transform&#10;and quantization&#10;(per token)">
            <a:extLst xmlns:a="http://schemas.openxmlformats.org/drawingml/2006/main">
              <a:ext uri="{FF2B5EF4-FFF2-40B4-BE49-F238E27FC236}">
                <a16:creationId xmlns:a16="http://schemas.microsoft.com/office/drawing/2014/main" id="{22015FC2-C05A-4243-A6FA-9FFE8F17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9" y="1158335"/>
            <a:ext cx="1117283" cy="624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Activation transform</a:t>
            </a:r>
          </a:p>
          <a:p xmlns:a="http://schemas.openxmlformats.org/drawingml/2006/main"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and quantization</a:t>
            </a:r>
          </a:p>
          <a:p xmlns:a="http://schemas.openxmlformats.org/drawingml/2006/main"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(per token)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1EB24-BDA5-41B8-8729-DEE2733F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2E7449-C980-48D4-9610-5A734F87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909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595A9D-E9EF-4E96-B7A8-8FB8151F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493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D73E23-A861-427A-9C5D-66F1092D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076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755834-5C78-40F9-8EA7-B95F5434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60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4ECACA-10D2-4785-A12A-36C8978A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244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CD7A97-1447-466F-BB7D-26A0D696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922CAB-7076-4388-843A-B31C219B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909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BBE93C-0EE1-4BBB-98CF-58F5F770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493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A3694B-E134-44F4-9DED-8B2FD180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076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91FDA6-108E-47FF-AF6A-FB73498C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60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8A7219-5A0D-4CB7-A97A-88137051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244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10EAF8-F144-4652-A711-7B8952EA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187BD4-184E-4F14-9183-DDD3C735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909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668C01-1E7E-4B19-B087-B4D9550E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493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DAFADF-FDB1-4851-AD63-AE3BC84C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076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D959A9-5190-4CB2-A58A-8BDAC700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60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BA0BC4-C535-48E5-9BB0-89525B7B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244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5C1059-7B2D-49D2-AA0C-08F1A449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C6D8E1-07D0-48F4-A406-89D48696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909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CE0852-6340-429F-ABCA-A965A0CA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493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6F9E00-449D-49D7-96D1-AFD1B6F1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076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AE49E2-F5CE-4584-A17E-B7054ED3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60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12A8B0-0936-4F9B-AD2B-B1330F7A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244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7" name="X">
            <a:extLst xmlns:a="http://schemas.openxmlformats.org/drawingml/2006/main">
              <a:ext uri="{FF2B5EF4-FFF2-40B4-BE49-F238E27FC236}">
                <a16:creationId xmlns:a16="http://schemas.microsoft.com/office/drawing/2014/main" id="{4E7921FF-2DA3-4073-8128-6E8389D3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980884"/>
            <a:ext cx="591503" cy="17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5F2C27-CDBA-4160-9A4B-19E4FF39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178052"/>
            <a:ext cx="591503" cy="427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S⁻¹">
            <a:extLst xmlns:a="http://schemas.openxmlformats.org/drawingml/2006/main">
              <a:ext uri="{FF2B5EF4-FFF2-40B4-BE49-F238E27FC236}">
                <a16:creationId xmlns:a16="http://schemas.microsoft.com/office/drawing/2014/main" id="{DFF4C1AC-3BB6-416E-9D7A-128AD63C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6579" y="1184624"/>
            <a:ext cx="460058" cy="4271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294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S⁻¹</a:t>
            </a:r>
          </a:p>
        </p:txBody>
      </p:sp>
      <p:sp>
        <p:nvSpPr>
          <p:cNvPr id="50" name="signed&#10;H128">
            <a:extLst xmlns:a="http://schemas.openxmlformats.org/drawingml/2006/main">
              <a:ext uri="{FF2B5EF4-FFF2-40B4-BE49-F238E27FC236}">
                <a16:creationId xmlns:a16="http://schemas.microsoft.com/office/drawing/2014/main" id="{6ABEC037-0B51-4466-BCE0-7D063524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081" y="1184624"/>
            <a:ext cx="538925" cy="4271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signed</a:t>
            </a:r>
          </a:p>
          <a:p xmlns:a="http://schemas.openxmlformats.org/drawingml/2006/main"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51" name="U128">
            <a:extLst xmlns:a="http://schemas.openxmlformats.org/drawingml/2006/main">
              <a:ext uri="{FF2B5EF4-FFF2-40B4-BE49-F238E27FC236}">
                <a16:creationId xmlns:a16="http://schemas.microsoft.com/office/drawing/2014/main" id="{2CF3342C-3159-4BCE-941C-170FE4DC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168" y="1184624"/>
            <a:ext cx="492919" cy="4271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294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52" name="dynamic A4&#10;q ∈ [−7, 7]">
            <a:extLst xmlns:a="http://schemas.openxmlformats.org/drawingml/2006/main">
              <a:ext uri="{FF2B5EF4-FFF2-40B4-BE49-F238E27FC236}">
                <a16:creationId xmlns:a16="http://schemas.microsoft.com/office/drawing/2014/main" id="{CE75BF7D-A1A0-46EC-89B1-E18148D7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699" y="1184624"/>
            <a:ext cx="1051560" cy="4271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dynamic A4</a:t>
            </a:r>
          </a:p>
          <a:p xmlns:a="http://schemas.openxmlformats.org/drawingml/2006/main"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 ∈ [−7, 7]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18BC5C-603F-4264-B23F-0D020EA2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201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7E1F3E-666F-499B-AEAC-9BAF3C1F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784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E7FFA8-18BD-4C72-933F-A8E9A5D3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368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2966A7-0C6A-46E0-8F0F-39674FBC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952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1C76C94-C52B-4866-8C00-ADE42D9E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535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B83F9D-891F-4CE8-BB25-0BD7ACFD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119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DA1B3CA-E0A1-4E9D-83CF-209B4D1B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201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745FC8-5AB1-40D8-B292-3CB2D432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784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6DAB635-F3B9-4987-899B-083BA799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368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7CE041-5B74-4E38-8FD9-C80077C1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952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867B2D-52B5-4178-8E87-49C03C1B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535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740373-5C5E-45CC-B682-A0F0F4C6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119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D564ED-E64E-4815-97BD-C9BB866F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201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22EF1E-CCED-49AC-8371-71933637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784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79C89DD-D1A1-4775-B060-6D186E57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368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14F02E-890B-4813-B76F-5EB3590C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952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AE48219-0ED0-4274-9755-2CDBA899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535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22D6384-F547-4A07-9FDA-6E07D3BD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119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2F74B1F-8B1D-49B0-B877-49CE7EEA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201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DD06C3-2E45-467D-B770-086CE5E1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784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BE34FD9-F5DC-455E-84EB-5A18576B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368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28BB449-0117-4075-A859-81631520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952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5583F68-B70E-4839-91B5-F3B79559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535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A000CE6-C18C-4423-8E7E-AF752B7E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119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7" name="Xq">
            <a:extLst xmlns:a="http://schemas.openxmlformats.org/drawingml/2006/main">
              <a:ext uri="{FF2B5EF4-FFF2-40B4-BE49-F238E27FC236}">
                <a16:creationId xmlns:a16="http://schemas.microsoft.com/office/drawing/2014/main" id="{B823BAFB-FBEB-4536-94D1-F6338169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201" y="980884"/>
            <a:ext cx="591503" cy="17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Xq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D507C5A-731C-44AF-8512-FB8D7CAE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201" y="1178052"/>
            <a:ext cx="591503" cy="427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9" name="per-token symmetric quantization; BF16 operand after dequantization">
            <a:extLst xmlns:a="http://schemas.openxmlformats.org/drawingml/2006/main">
              <a:ext uri="{FF2B5EF4-FFF2-40B4-BE49-F238E27FC236}">
                <a16:creationId xmlns:a16="http://schemas.microsoft.com/office/drawing/2014/main" id="{7A46199A-1D02-4DD9-92FD-2C7C7F4E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657826"/>
            <a:ext cx="5389245" cy="170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88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per-token symmetric quantization; BF16 operand after dequantization</a:t>
            </a:r>
          </a:p>
        </p:txBody>
      </p:sp>
      <p:cxnSp>
        <p:nvCxn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83F51A7-D74B-4735-BBFD-A01221CE718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3459" y="1953578"/>
            <a:ext cx="6703695" cy="0"/>
          </a:xfrm>
          <a:prstGeom xmlns:a="http://schemas.openxmlformats.org/drawingml/2006/main" prst="straightConnector1">
            <a:avLst/>
          </a:prstGeom>
          <a:ln xmlns:a="http://schemas.openxmlformats.org/drawingml/2006/main" w="5258">
            <a:solidFill>
              <a:srgbClr val="697681"/>
            </a:solidFill>
            <a:prstDash val="dash"/>
          </a:ln>
        </p:spPr>
      </p:cxnSp>
      <p:sp>
        <p:nvSpPr>
          <p:cNvPr id="81" name="Weight transform&#10;and microscaling VQ&#10;(per output row)">
            <a:extLst xmlns:a="http://schemas.openxmlformats.org/drawingml/2006/main">
              <a:ext uri="{FF2B5EF4-FFF2-40B4-BE49-F238E27FC236}">
                <a16:creationId xmlns:a16="http://schemas.microsoft.com/office/drawing/2014/main" id="{9C01A4C9-364D-4FFE-AE25-399BCF5D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9" y="2269046"/>
            <a:ext cx="1150144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Weight transform</a:t>
            </a:r>
          </a:p>
          <a:p xmlns:a="http://schemas.openxmlformats.org/drawingml/2006/main"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and microscaling VQ</a:t>
            </a:r>
          </a:p>
          <a:p xmlns:a="http://schemas.openxmlformats.org/drawingml/2006/main"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(per output row)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74D0556-0062-4616-B4AC-1A3842A4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03" y="22493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A9B1392-22C0-456B-B2B5-A88A5DDA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808" y="22493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301DB4F-C0F6-47DF-BD50-47C0859E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013" y="22493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9E33B4D-816B-4B88-9770-999A364D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218" y="22493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062EC07-0646-41B7-AEB8-7F0423E5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23" y="22493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ADDDA4E-9490-45F8-A214-CA813F17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628" y="22493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03E6ACA-21EC-40D6-9454-40FDF977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03" y="23676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506472D-7592-4B07-94EC-D1FE0A8F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808" y="23676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EE20E91-AF4B-44AF-8D5E-DD5C8951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013" y="23676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8520D3F-089E-4224-8AC0-3D9EF97D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218" y="23676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3DE0D87-3B5A-48E2-B5DE-1F0D169D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23" y="23676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6FB8C4C-CA18-4BD7-9D2D-BE172074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628" y="23676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9639F16-EF95-4CBD-8C37-BEE3B7B4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03" y="24859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64EE02A-F9A2-444D-98C7-FFDF51C6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808" y="24859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444F73A-8CFE-478B-B7DE-0724E76A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013" y="24859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E7B3473-583D-42D2-B828-D154B846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218" y="24859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6C7A882-F379-4E74-B89D-589ECAC0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23" y="24859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ED7041C-C08A-4AC0-B555-4688EF9E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628" y="24859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F1F6253-6685-4A1F-9942-5F3B0ADF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03" y="26042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9DBB5CD-4714-457E-A09A-F79F2DF7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808" y="26042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159F88F-38A3-4600-B30E-7374275A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013" y="26042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9E93A7B-F2AE-4A19-A6DC-AD46E76E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218" y="26042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143EAA9-EA2B-4F94-8158-AE3A53C9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23" y="26042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18094FE-332A-424B-A04B-AD564186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628" y="26042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5EF406C-AAA2-4F8F-8352-CB3D638B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03" y="2722531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5EFF0A9-0F98-412B-BBA3-1B9CCB8A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808" y="2722531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1EA06DF-6F1C-40EA-9EEA-B538334A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013" y="2722531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A8CC898-4C94-4F47-8566-E519BA2A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218" y="2722531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563295C-2492-4F0F-B722-BF5C1DD1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23" y="2722531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46777F7-8B77-4868-BB97-72C1178E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628" y="2722531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W">
            <a:extLst xmlns:a="http://schemas.openxmlformats.org/drawingml/2006/main">
              <a:ext uri="{FF2B5EF4-FFF2-40B4-BE49-F238E27FC236}">
                <a16:creationId xmlns:a16="http://schemas.microsoft.com/office/drawing/2014/main" id="{0C5C3003-9632-4C06-8F2F-00799EF9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03" y="2052161"/>
            <a:ext cx="703231" cy="17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6A9540E-7804-4B0A-995D-17063741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03" y="2249329"/>
            <a:ext cx="703231" cy="591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4" name="S">
            <a:extLst xmlns:a="http://schemas.openxmlformats.org/drawingml/2006/main">
              <a:ext uri="{FF2B5EF4-FFF2-40B4-BE49-F238E27FC236}">
                <a16:creationId xmlns:a16="http://schemas.microsoft.com/office/drawing/2014/main" id="{F5D9172E-F6C3-43F2-A1ED-D5FC68BC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856" y="2295335"/>
            <a:ext cx="381190" cy="4600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294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15" name="signed&#10;H128">
            <a:extLst xmlns:a="http://schemas.openxmlformats.org/drawingml/2006/main">
              <a:ext uri="{FF2B5EF4-FFF2-40B4-BE49-F238E27FC236}">
                <a16:creationId xmlns:a16="http://schemas.microsoft.com/office/drawing/2014/main" id="{9445FE47-87EC-403F-951F-D50A4156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95335"/>
            <a:ext cx="532352" cy="4600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signed</a:t>
            </a:r>
          </a:p>
          <a:p xmlns:a="http://schemas.openxmlformats.org/drawingml/2006/main"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116" name="U128">
            <a:extLst xmlns:a="http://schemas.openxmlformats.org/drawingml/2006/main">
              <a:ext uri="{FF2B5EF4-FFF2-40B4-BE49-F238E27FC236}">
                <a16:creationId xmlns:a16="http://schemas.microsoft.com/office/drawing/2014/main" id="{A82476F9-EBF8-481C-B34A-ECFFCD29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145" y="2295335"/>
            <a:ext cx="479774" cy="4600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294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DF7014D-F143-460C-9AC1-2D2C8A6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699" y="24333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A066565-1845-4844-BC9F-9D57FA5D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283" y="24333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57DD3E3-6ED7-4071-A271-E5A9C582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866" y="24333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4B4E3A8-4449-4F33-91BC-98BD3EB4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33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A93E477-F8D5-4E5F-A2FB-001F5878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034" y="24333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FA88A4D-74FC-419A-9A97-1E0D23E5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618" y="24333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DC104D4-E7E8-4F77-ADB0-8FE8A27E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201" y="24333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0AFB634-A79A-464B-9318-92A8416C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785" y="24333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FD7587B-120E-40FE-B3A6-112D5D90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699" y="25516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2D83539-B71C-4EBE-8B5E-0C3D4678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283" y="25516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F41C1E6-5532-4A31-BB72-D097088A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866" y="25516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6804883-4577-4010-A0D7-6E9ACFAE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516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674B25F-ACAC-4923-8843-601CDF64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034" y="25516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7B494FF-8860-4F19-BE69-610CC5BF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618" y="25516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735C911-ED59-4B59-82EF-66B9D4A7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201" y="25516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642C16F-0F89-40F7-8F27-BB9877E2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785" y="25516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3" name="d = 4 vectors">
            <a:extLst xmlns:a="http://schemas.openxmlformats.org/drawingml/2006/main">
              <a:ext uri="{FF2B5EF4-FFF2-40B4-BE49-F238E27FC236}">
                <a16:creationId xmlns:a16="http://schemas.microsoft.com/office/drawing/2014/main" id="{55D8292B-8796-4CB2-8C71-DF254F86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699" y="2236184"/>
            <a:ext cx="788670" cy="17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d = 4 vectors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6C3525D-56AD-4773-8349-07B2E44F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699" y="2433352"/>
            <a:ext cx="788670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5" name="reshape&#10;by 4">
            <a:extLst xmlns:a="http://schemas.openxmlformats.org/drawingml/2006/main">
              <a:ext uri="{FF2B5EF4-FFF2-40B4-BE49-F238E27FC236}">
                <a16:creationId xmlns:a16="http://schemas.microsoft.com/office/drawing/2014/main" id="{DBA418D9-04BE-4B45-BEBB-7F69BD3D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208" y="2328196"/>
            <a:ext cx="460058" cy="427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reshape</a:t>
            </a:r>
          </a:p>
          <a:p xmlns:a="http://schemas.openxmlformats.org/drawingml/2006/main">
            <a: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by 4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88CB830-634E-4A1C-9030-14F66567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23479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5B85418-2986-4518-9979-8F247D8C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418" y="23479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00270AB-47C7-40DA-A99B-42AE3067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293" y="23479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08D1AD1-B94A-4B8E-ABA4-9DA72F7C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169" y="23479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99B8977-BB3A-44CB-A194-8200F6AB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24662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163A84C-C3F3-4521-937A-61DCA506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418" y="24662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F821DE9-0696-4EEE-AC47-D5269F67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293" y="24662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62302C9-F182-4E90-A036-12949B0B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169" y="24662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FF0D538-5725-4030-907B-CF9AC5CB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25845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BC66C42-892F-4F5E-8F1E-BBADA31E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418" y="25845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C069AB5-6395-40B2-9023-B62E7F97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293" y="25845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3120F32-30B9-4E47-B304-B48FD9E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169" y="25845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2149369-754A-4B3C-BD5F-C66DA995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2702814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6EDBDD9-3688-4B6E-A08D-6AAA3FE8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418" y="2702814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6841219-CF99-4C2F-8DD1-EF478EDD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293" y="2702814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2AC80A8-0FE6-422B-BEFC-F9C1B38E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169" y="2702814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2" name="C1: 256 × 4">
            <a:extLst xmlns:a="http://schemas.openxmlformats.org/drawingml/2006/main">
              <a:ext uri="{FF2B5EF4-FFF2-40B4-BE49-F238E27FC236}">
                <a16:creationId xmlns:a16="http://schemas.microsoft.com/office/drawing/2014/main" id="{907E66FA-58DD-4D9B-92EE-21B28F2A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2150745"/>
            <a:ext cx="591503" cy="17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C1: 256 × 4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BF58E65-763C-488E-A664-F287D594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2347913"/>
            <a:ext cx="591503" cy="473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D09CD8E-83BA-45DE-B2E1-58EA46AE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51" y="23479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BCA38B8-CF26-4FA9-9332-4A8D813A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527" y="23479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D11B647-C83B-4319-9D50-8DCC4315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402" y="23479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DD854F4-BD2E-4BF5-9C83-55D6CF37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278" y="23479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6D475A1-526A-4482-8677-FAD803F2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51" y="24662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BAF95564-C0CE-414F-908A-86BC3070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527" y="24662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839143A-5055-4EB7-A31F-CF1AE2AE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402" y="24662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522AFAD-FF62-4A96-BE3A-FED924CD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278" y="24662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B2FF8EB-4FE7-47F4-8DC2-3ADBDB6D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51" y="25845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EB0208C-AEF5-4CB9-9429-7EA7BF08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527" y="25845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221B306-F928-47E5-8E1E-F6EEEFA5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402" y="25845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D099A0C-FE3E-4425-84C9-CB477668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278" y="25845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67333B7-CFB8-45D6-820A-D3CC3199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51" y="2702814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617EDE4-B47E-4C9A-A75D-9EE6C1E1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527" y="2702814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52BCFDA-6344-4ACC-BEF4-EBCEC55A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402" y="2702814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0CFFB17-EC77-43BF-9B64-21742AF1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278" y="2702814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0" name="C2: 256 × 4">
            <a:extLst xmlns:a="http://schemas.openxmlformats.org/drawingml/2006/main">
              <a:ext uri="{FF2B5EF4-FFF2-40B4-BE49-F238E27FC236}">
                <a16:creationId xmlns:a16="http://schemas.microsoft.com/office/drawing/2014/main" id="{012C2047-FD9E-43EF-AD6E-F324CBAF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51" y="2150745"/>
            <a:ext cx="591503" cy="17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C2: 256 × 4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D3C6E3E-CAF8-4638-B6D8-AD05A840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51" y="2347913"/>
            <a:ext cx="591503" cy="473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2" name="i1">
            <a:extLst xmlns:a="http://schemas.openxmlformats.org/drawingml/2006/main">
              <a:ext uri="{FF2B5EF4-FFF2-40B4-BE49-F238E27FC236}">
                <a16:creationId xmlns:a16="http://schemas.microsoft.com/office/drawing/2014/main" id="{3EEA6AA3-A59C-47A1-AD5E-28F967D1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3149727"/>
            <a:ext cx="591503" cy="184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</a:t>
            </a:r>
          </a:p>
        </p:txBody>
      </p:sp>
      <p:sp>
        <p:nvSpPr>
          <p:cNvPr id="173" name="i2">
            <a:extLst xmlns:a="http://schemas.openxmlformats.org/drawingml/2006/main">
              <a:ext uri="{FF2B5EF4-FFF2-40B4-BE49-F238E27FC236}">
                <a16:creationId xmlns:a16="http://schemas.microsoft.com/office/drawing/2014/main" id="{1BAF2747-CCA7-4170-883F-7771EE5D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51" y="3149727"/>
            <a:ext cx="591503" cy="184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i2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864DCDF-A8C8-4EE2-87DC-51C970AF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3511201"/>
            <a:ext cx="111728" cy="131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A30145F-7E26-4E41-A15C-C60B12A3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270" y="3511201"/>
            <a:ext cx="111728" cy="131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3A437319-08F3-4866-83E8-68ECDBE0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999" y="3511201"/>
            <a:ext cx="111728" cy="131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B1D204A-8388-419A-96ED-1AF76FBB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727" y="3511201"/>
            <a:ext cx="111728" cy="131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F6FDA06-B701-4925-A3FE-E3622CAC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3511201"/>
            <a:ext cx="446913" cy="131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C7CDB23-ED69-4FE4-A6AC-DAF54B44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669" y="3511201"/>
            <a:ext cx="111728" cy="131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7D8260A4-096C-4565-8E11-E5225430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397" y="3511201"/>
            <a:ext cx="111728" cy="131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56AF99D-0563-445F-A1D9-DD82C097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11201"/>
            <a:ext cx="111728" cy="131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739C3F1-4C54-44D4-9515-BDE908E1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853" y="3511201"/>
            <a:ext cx="111728" cy="131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542AF1B-CD34-4225-845F-74A67383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669" y="3511201"/>
            <a:ext cx="446913" cy="131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4C314B7-E6EF-417A-AE90-9B535B40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767" y="3642646"/>
            <a:ext cx="230029" cy="230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397">
                <a:solidFill>
                  <a:srgbClr val="18222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5" name="two additive codebooks">
            <a:extLst xmlns:a="http://schemas.openxmlformats.org/drawingml/2006/main">
              <a:ext uri="{FF2B5EF4-FFF2-40B4-BE49-F238E27FC236}">
                <a16:creationId xmlns:a16="http://schemas.microsoft.com/office/drawing/2014/main" id="{DE947B21-C47E-4865-8356-37D444C3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65770"/>
            <a:ext cx="1610201" cy="164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two additive codebooks</a:t>
            </a:r>
          </a:p>
        </p:txBody>
      </p:sp>
      <p:sp>
        <p:nvSpPr>
          <p:cNvPr id="186" name="Ŵ[r,b] = gᵣ 2ᵉʳᵇ (C1[i1] + C2[i2])">
            <a:extLst xmlns:a="http://schemas.openxmlformats.org/drawingml/2006/main">
              <a:ext uri="{FF2B5EF4-FFF2-40B4-BE49-F238E27FC236}">
                <a16:creationId xmlns:a16="http://schemas.microsoft.com/office/drawing/2014/main" id="{BE250799-A692-4426-A586-EAE78638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568" y="3202305"/>
            <a:ext cx="3746182" cy="407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449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Ŵ[r,b] = gᵣ 2ᵉʳᵇ (C1[i1] + C2[i2])</a:t>
            </a:r>
          </a:p>
        </p:txBody>
      </p:sp>
      <p:sp>
        <p:nvSpPr>
          <p:cNvPr id="187" name="gᵣ: row gain&#10;(trainable)">
            <a:extLst xmlns:a="http://schemas.openxmlformats.org/drawingml/2006/main">
              <a:ext uri="{FF2B5EF4-FFF2-40B4-BE49-F238E27FC236}">
                <a16:creationId xmlns:a16="http://schemas.microsoft.com/office/drawing/2014/main" id="{18A6CFDE-E077-447A-AFC0-ACCDB51C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760946"/>
            <a:ext cx="952976" cy="394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gᵣ: row gain</a:t>
            </a:r>
          </a:p>
          <a:p xmlns:a="http://schemas.openxmlformats.org/drawingml/2006/main">
            <a: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(trainable)</a:t>
            </a:r>
          </a:p>
        </p:txBody>
      </p:sp>
      <p:sp>
        <p:nvSpPr>
          <p:cNvPr id="188" name="eᵣᵦ: B32 exponent&#10;(stored, frozen)">
            <a:extLst xmlns:a="http://schemas.openxmlformats.org/drawingml/2006/main">
              <a:ext uri="{FF2B5EF4-FFF2-40B4-BE49-F238E27FC236}">
                <a16:creationId xmlns:a16="http://schemas.microsoft.com/office/drawing/2014/main" id="{590D781C-3EEC-4F48-BD90-6E00661C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746" y="3760946"/>
            <a:ext cx="1478756" cy="394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eᵣᵦ: B32 exponent</a:t>
            </a:r>
          </a:p>
          <a:p xmlns:a="http://schemas.openxmlformats.org/drawingml/2006/main">
            <a: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(stored, frozen)</a:t>
            </a:r>
          </a:p>
        </p:txBody>
      </p:sp>
      <p:sp>
        <p:nvSpPr>
          <p:cNvPr id="189" name="~4.27 effective bpw">
            <a:extLst xmlns:a="http://schemas.openxmlformats.org/drawingml/2006/main">
              <a:ext uri="{FF2B5EF4-FFF2-40B4-BE49-F238E27FC236}">
                <a16:creationId xmlns:a16="http://schemas.microsoft.com/office/drawing/2014/main" id="{D804C058-C0C1-47CB-B7DE-A00F9F6B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393" y="3846386"/>
            <a:ext cx="2431733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~4.27 effective bpw</a:t>
            </a:r>
          </a:p>
        </p:txBody>
      </p:sp>
      <p:sp>
        <p:nvSpPr>
          <p:cNvPr id="190" name="Xₜ = X S⁻¹ R,   Wₜ = W S R,   R = H128 U128">
            <a:extLst xmlns:a="http://schemas.openxmlformats.org/drawingml/2006/main">
              <a:ext uri="{FF2B5EF4-FFF2-40B4-BE49-F238E27FC236}">
                <a16:creationId xmlns:a16="http://schemas.microsoft.com/office/drawing/2014/main" id="{2BC8A772-7150-4BE2-B297-81737AB0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9" y="4253865"/>
            <a:ext cx="6703695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19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Xₜ = X S⁻¹ R,   Wₜ = W S R,   R = H128 U128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2428B-436C-4E34-A2E8-5B061277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66775"/>
            <a:ext cx="2938939" cy="28174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FA793-B13B-4269-B534-2D45AD461281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2615566" y="2683574"/>
            <a:ext cx="8743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6E55E-7F9A-4D8F-8FA0-393B06024AB7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1733884" y="2873026"/>
            <a:ext cx="61450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EC259-AC34-4CF6-AE4E-30066E09BF82}"/>
              </a:ext>
            </a:extLst>
          </p:cNvPr>
          <p:cNvCxnSpPr>
            <a:stCxn xmlns:a="http://schemas.openxmlformats.org/drawingml/2006/main" id="24" idx="2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1204389" y="2873026"/>
            <a:ext cx="114400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99A7B-CB52-4420-B3DB-1229653540C1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708899" y="2873026"/>
            <a:ext cx="163949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4CA97-2EFF-4A7D-9894-6296E45A71C4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396967" y="1697451"/>
            <a:ext cx="17973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9DE36-1AA8-405D-A67A-1DC20C3E3449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818894" y="1697451"/>
            <a:ext cx="12630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C77EB-BC40-461C-B53F-00CCDB772F7C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289399" y="1697451"/>
            <a:ext cx="11658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Q0: staged calibration and task objectives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(b) Activation-first calibration">
            <a:extLst xmlns:a="http://schemas.openxmlformats.org/drawingml/2006/main">
              <a:ext uri="{FF2B5EF4-FFF2-40B4-BE49-F238E27FC236}">
                <a16:creationId xmlns:a16="http://schemas.microsoft.com/office/drawing/2014/main" id="{21F05C62-E470-4B49-8817-8FA910A3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8" y="891064"/>
            <a:ext cx="2841784" cy="170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(b) Activation-first calibration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285B5-F7A9-419A-80D1-64BA1AA0551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9862" y="1085374"/>
            <a:ext cx="2861215" cy="0"/>
          </a:xfrm>
          <a:prstGeom xmlns:a="http://schemas.openxmlformats.org/drawingml/2006/main" prst="straightConnector1">
            <a:avLst/>
          </a:prstGeom>
          <a:ln xmlns:a="http://schemas.openxmlformats.org/drawingml/2006/main" w="3886">
            <a:solidFill>
              <a:srgbClr val="697681"/>
            </a:solidFill>
            <a:prstDash val="solid"/>
          </a:ln>
        </p:spPr>
      </p:cxnSp>
      <p:sp>
        <p:nvSpPr>
          <p:cNvPr id="14" name="Stage 1: learn U128; 8 updates">
            <a:extLst xmlns:a="http://schemas.openxmlformats.org/drawingml/2006/main">
              <a:ext uri="{FF2B5EF4-FFF2-40B4-BE49-F238E27FC236}">
                <a16:creationId xmlns:a16="http://schemas.microsoft.com/office/drawing/2014/main" id="{286F5332-E968-423E-A579-A2E28EDF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66" y="1148525"/>
            <a:ext cx="2793206" cy="2088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Stage 1: learn U128; 8 updates</a:t>
            </a:r>
          </a:p>
        </p:txBody>
      </p:sp>
      <p:sp>
        <p:nvSpPr>
          <p:cNvPr id="15" name="W16A4 • action + future loss">
            <a:extLst xmlns:a="http://schemas.openxmlformats.org/drawingml/2006/main">
              <a:ext uri="{FF2B5EF4-FFF2-40B4-BE49-F238E27FC236}">
                <a16:creationId xmlns:a16="http://schemas.microsoft.com/office/drawing/2014/main" id="{DF08BE50-D35D-48B6-9D31-A45FA755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71" y="1371981"/>
            <a:ext cx="2696051" cy="131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2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W16A4 • action + future loss</a:t>
            </a:r>
          </a:p>
        </p:txBody>
      </p:sp>
      <p:sp>
        <p:nvSpPr>
          <p:cNvPr id="16" name="S&#10;frozen">
            <a:extLst xmlns:a="http://schemas.openxmlformats.org/drawingml/2006/main">
              <a:ext uri="{FF2B5EF4-FFF2-40B4-BE49-F238E27FC236}">
                <a16:creationId xmlns:a16="http://schemas.microsoft.com/office/drawing/2014/main" id="{1A3723F2-C94D-442D-84D4-A4A6D945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" y="1556576"/>
            <a:ext cx="349758" cy="2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17" name="H128&#10;frozen">
            <a:extLst xmlns:a="http://schemas.openxmlformats.org/drawingml/2006/main">
              <a:ext uri="{FF2B5EF4-FFF2-40B4-BE49-F238E27FC236}">
                <a16:creationId xmlns:a16="http://schemas.microsoft.com/office/drawing/2014/main" id="{375884E7-4DAB-46E9-B0AF-342AC210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985" y="1556576"/>
            <a:ext cx="412909" cy="2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18" name="U128&#10;trainable">
            <a:extLst xmlns:a="http://schemas.openxmlformats.org/drawingml/2006/main">
              <a:ext uri="{FF2B5EF4-FFF2-40B4-BE49-F238E27FC236}">
                <a16:creationId xmlns:a16="http://schemas.microsoft.com/office/drawing/2014/main" id="{334F0B7A-BBBC-467E-82BD-AFCEBDDB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196" y="1556576"/>
            <a:ext cx="451771" cy="2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sp>
        <p:nvSpPr>
          <p:cNvPr id="19" name="W16A4&#10;student">
            <a:extLst xmlns:a="http://schemas.openxmlformats.org/drawingml/2006/main">
              <a:ext uri="{FF2B5EF4-FFF2-40B4-BE49-F238E27FC236}">
                <a16:creationId xmlns:a16="http://schemas.microsoft.com/office/drawing/2014/main" id="{9344F3A6-E07D-47BA-81F8-9BE10FA0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703" y="1556576"/>
            <a:ext cx="616934" cy="2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W16A4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20" name="X">
            <a:extLst xmlns:a="http://schemas.openxmlformats.org/drawingml/2006/main">
              <a:ext uri="{FF2B5EF4-FFF2-40B4-BE49-F238E27FC236}">
                <a16:creationId xmlns:a16="http://schemas.microsoft.com/office/drawing/2014/main" id="{F1271F14-CC91-4E16-8AEA-E3FBA878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9" y="1610011"/>
            <a:ext cx="242888" cy="145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56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1" name="Freeze R0 = H128 U128">
            <a:extLst xmlns:a="http://schemas.openxmlformats.org/drawingml/2006/main">
              <a:ext uri="{FF2B5EF4-FFF2-40B4-BE49-F238E27FC236}">
                <a16:creationId xmlns:a16="http://schemas.microsoft.com/office/drawing/2014/main" id="{6275B649-81A4-4180-8544-2E86D278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8" y="1945196"/>
            <a:ext cx="1943100" cy="170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56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Freeze R0 = H128 U128</a:t>
            </a:r>
          </a:p>
        </p:txBody>
      </p:sp>
      <p:sp>
        <p:nvSpPr>
          <p:cNvPr id="22" name="Stage 2: learn VQ; 8 updates">
            <a:extLst xmlns:a="http://schemas.openxmlformats.org/drawingml/2006/main">
              <a:ext uri="{FF2B5EF4-FFF2-40B4-BE49-F238E27FC236}">
                <a16:creationId xmlns:a16="http://schemas.microsoft.com/office/drawing/2014/main" id="{DA90AA85-DA54-498D-801E-A6E017BE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66" y="2217230"/>
            <a:ext cx="2793206" cy="19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Stage 2: learn VQ; 8 updates</a:t>
            </a:r>
          </a:p>
        </p:txBody>
      </p:sp>
      <p:sp>
        <p:nvSpPr>
          <p:cNvPr id="23" name="R0&#10;frozen">
            <a:extLst xmlns:a="http://schemas.openxmlformats.org/drawingml/2006/main">
              <a:ext uri="{FF2B5EF4-FFF2-40B4-BE49-F238E27FC236}">
                <a16:creationId xmlns:a16="http://schemas.microsoft.com/office/drawing/2014/main" id="{C2969E9E-8A0F-49EA-BF6B-AD413436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4" y="2494121"/>
            <a:ext cx="412909" cy="378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R0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4" name="i1, i2&#10;frozen">
            <a:extLst xmlns:a="http://schemas.openxmlformats.org/drawingml/2006/main">
              <a:ext uri="{FF2B5EF4-FFF2-40B4-BE49-F238E27FC236}">
                <a16:creationId xmlns:a16="http://schemas.microsoft.com/office/drawing/2014/main" id="{E6CDB528-8821-41FB-87CE-8389B09D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34" y="2494121"/>
            <a:ext cx="412909" cy="378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i1, i2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5" name="B32 exp.&#10;frozen">
            <a:extLst xmlns:a="http://schemas.openxmlformats.org/drawingml/2006/main">
              <a:ext uri="{FF2B5EF4-FFF2-40B4-BE49-F238E27FC236}">
                <a16:creationId xmlns:a16="http://schemas.microsoft.com/office/drawing/2014/main" id="{C4BF53F4-89A6-4499-A3F6-CFE45C03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567" y="2494121"/>
            <a:ext cx="490633" cy="378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B32 exp.</a:t>
            </a:r>
          </a:p>
          <a:p xmlns:a="http://schemas.openxmlformats.org/drawingml/2006/main">
            <a: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6" name="C1, C2&#10;trainable">
            <a:extLst xmlns:a="http://schemas.openxmlformats.org/drawingml/2006/main">
              <a:ext uri="{FF2B5EF4-FFF2-40B4-BE49-F238E27FC236}">
                <a16:creationId xmlns:a16="http://schemas.microsoft.com/office/drawing/2014/main" id="{BBD1993B-CC48-4A1A-8EF5-755201C9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213" y="2494121"/>
            <a:ext cx="534353" cy="378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C1, C2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sp>
        <p:nvSpPr>
          <p:cNvPr id="27" name="row gains&#10;trainable">
            <a:extLst xmlns:a="http://schemas.openxmlformats.org/drawingml/2006/main">
              <a:ext uri="{FF2B5EF4-FFF2-40B4-BE49-F238E27FC236}">
                <a16:creationId xmlns:a16="http://schemas.microsoft.com/office/drawing/2014/main" id="{67CECCDD-2C91-4E0A-B282-8E15B6C4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004" y="2494121"/>
            <a:ext cx="534353" cy="378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row gains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C6FEC4-DE24-4BA0-80CD-484C619A679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9599" y="3033332"/>
            <a:ext cx="2574608" cy="0"/>
          </a:xfrm>
          <a:prstGeom xmlns:a="http://schemas.openxmlformats.org/drawingml/2006/main" prst="straightConnector1">
            <a:avLst/>
          </a:prstGeom>
          <a:ln xmlns:a="http://schemas.openxmlformats.org/drawingml/2006/main" w="3886">
            <a:solidFill>
              <a:srgbClr val="697681"/>
            </a:solidFill>
            <a:prstDash val="solid"/>
          </a:ln>
        </p:spPr>
      </p:cxnSp>
      <p:sp>
        <p:nvSpPr>
          <p:cNvPr id="29" name="C80: 40 tasks × 2 demonstrations&#10;Base model frozen • fixed f">
            <a:extLst xmlns:a="http://schemas.openxmlformats.org/drawingml/2006/main">
              <a:ext uri="{FF2B5EF4-FFF2-40B4-BE49-F238E27FC236}">
                <a16:creationId xmlns:a16="http://schemas.microsoft.com/office/drawing/2014/main" id="{D3079A4B-C89F-42B8-8A9F-37000EC1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66" y="3247073"/>
            <a:ext cx="2793206" cy="267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C80: 40 tasks × 2 demonstrations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Base model frozen • fixed final update 8</a:t>
            </a:r>
          </a:p>
        </p:txBody>
      </p:sp>
      <p:sp>
        <p:nvSpPr>
          <p:cNvPr id="30" name="Orange: trainable     Gray: frozen">
            <a:extLst xmlns:a="http://schemas.openxmlformats.org/drawingml/2006/main">
              <a:ext uri="{FF2B5EF4-FFF2-40B4-BE49-F238E27FC236}">
                <a16:creationId xmlns:a16="http://schemas.microsoft.com/office/drawing/2014/main" id="{A55FC272-3D78-499D-8DA1-86971ECE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38538"/>
            <a:ext cx="2210276" cy="121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727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Orange: trainable     Gray: frozen</a:t>
            </a:r>
          </a:p>
        </p:txBody>
      </p:sp>
      <p:sp>
        <p:nvSpPr>
          <p:cNvPr id="31" name="Stage 1">
            <a:extLst xmlns:a="http://schemas.openxmlformats.org/drawingml/2006/main">
              <a:ext uri="{FF2B5EF4-FFF2-40B4-BE49-F238E27FC236}">
                <a16:creationId xmlns:a16="http://schemas.microsoft.com/office/drawing/2014/main" id="{9E03DA7E-9EB1-4FC7-A783-BFBB908D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38400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Stage 1</a:t>
            </a:r>
          </a:p>
        </p:txBody>
      </p:sp>
      <p:sp>
        <p:nvSpPr>
          <p:cNvPr id="32" name="Learn U128 with BF16 weights and A4&#10;8 updates on 8 batches of 10 conte">
            <a:extLst xmlns:a="http://schemas.openxmlformats.org/drawingml/2006/main">
              <a:ext uri="{FF2B5EF4-FFF2-40B4-BE49-F238E27FC236}">
                <a16:creationId xmlns:a16="http://schemas.microsoft.com/office/drawing/2014/main" id="{6D79A3A6-6E61-4166-BF5E-E5BAFCAB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4619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Learn U128 with BF16 weights and A4</a:t>
            </a:r>
          </a:p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8 updates on 8 batches of 10 contexts</a:t>
            </a:r>
          </a:p>
        </p:txBody>
      </p:sp>
      <p:sp>
        <p:nvSpPr>
          <p:cNvPr id="33" name="Stage 2">
            <a:extLst xmlns:a="http://schemas.openxmlformats.org/drawingml/2006/main">
              <a:ext uri="{FF2B5EF4-FFF2-40B4-BE49-F238E27FC236}">
                <a16:creationId xmlns:a16="http://schemas.microsoft.com/office/drawing/2014/main" id="{1FFCFC1C-4BB4-440D-8411-568E3E11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9092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Stage 2</a:t>
            </a:r>
          </a:p>
        </p:txBody>
      </p:sp>
      <p:sp>
        <p:nvSpPr>
          <p:cNvPr id="34" name="Freeze R0; fit VQ0, then tune books + gains&#10;A + Z + frozen-reader soft">
            <a:extLst xmlns:a="http://schemas.openxmlformats.org/drawingml/2006/main">
              <a:ext uri="{FF2B5EF4-FFF2-40B4-BE49-F238E27FC236}">
                <a16:creationId xmlns:a16="http://schemas.microsoft.com/office/drawing/2014/main" id="{F30B10B0-012C-4395-A918-7E0FC8F0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2430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Freeze R0; fit VQ0, then tune books + gains</a:t>
            </a:r>
          </a:p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 + Z + frozen-reader soft-bin KL</a:t>
            </a:r>
          </a:p>
        </p:txBody>
      </p:sp>
      <p:sp>
        <p:nvSpPr>
          <p:cNvPr id="35" name="L = L_action + λ L_future + β L_reader-KL">
            <a:extLst xmlns:a="http://schemas.openxmlformats.org/drawingml/2006/main">
              <a:ext uri="{FF2B5EF4-FFF2-40B4-BE49-F238E27FC236}">
                <a16:creationId xmlns:a16="http://schemas.microsoft.com/office/drawing/2014/main" id="{A25B8934-6783-4A28-BF6C-BC59C41A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066800"/>
            <a:ext cx="476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L = L_action + λ L_future + β L_reader-KL</a:t>
            </a:r>
          </a:p>
        </p:txBody>
      </p:sp>
      <p:sp>
        <p:nvSpPr>
          <p:cNvPr id="36" name="Supervise motor action, clean future and the&#10;action readout of the ima">
            <a:extLst xmlns:a="http://schemas.openxmlformats.org/drawingml/2006/main">
              <a:ext uri="{FF2B5EF4-FFF2-40B4-BE49-F238E27FC236}">
                <a16:creationId xmlns:a16="http://schemas.microsoft.com/office/drawing/2014/main" id="{B7E29ED7-2116-403D-BA15-09EE8CE2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144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Supervise motor action, clean future and the</a:t>
            </a:r>
          </a:p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 readout of the imagined future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B6A08-EF08-4F1D-9C52-CF1D62EE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8459153" cy="1707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AAECD-9267-4667-938F-F12BEDE2D6A4}"/>
              </a:ext>
            </a:extLst>
          </p:cNvPr>
          <p:cNvCxnSpPr>
            <a:stCxn xmlns:a="http://schemas.openxmlformats.org/drawingml/2006/main" id="104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>
            <a:off x="6648013" y="2137530"/>
            <a:ext cx="1048901" cy="254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233D4-C645-470E-A121-F346A8B9CF54}"/>
              </a:ext>
            </a:extLst>
          </p:cNvPr>
          <p:cNvCxnSpPr>
            <a:stCxn xmlns:a="http://schemas.openxmlformats.org/drawingml/2006/main" id="98" idx="3"/>
            <a:endCxn xmlns:a="http://schemas.openxmlformats.org/drawingml/2006/main" id="112" idx="1"/>
          </p:cNvCxnSpPr>
          <p:nvPr/>
        </p:nvCxnSpPr>
        <p:spPr>
          <a:xfrm xmlns:a="http://schemas.openxmlformats.org/drawingml/2006/main">
            <a:off x="6648013" y="1464874"/>
            <a:ext cx="1048901" cy="254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C2A88-0244-45E3-92C3-2ACC0A760B27}"/>
              </a:ext>
            </a:extLst>
          </p:cNvPr>
          <p:cNvCxnSpPr>
            <a:stCxn xmlns:a="http://schemas.openxmlformats.org/drawingml/2006/main" id="89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5368099" y="1977010"/>
            <a:ext cx="672656" cy="15542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7E098-E53C-4E55-9C32-BAFF0B2BB856}"/>
              </a:ext>
            </a:extLst>
          </p:cNvPr>
          <p:cNvCxnSpPr>
            <a:stCxn xmlns:a="http://schemas.openxmlformats.org/drawingml/2006/main" id="75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5368099" y="1304354"/>
            <a:ext cx="672656" cy="15542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ACE73-697E-4C5A-8FEC-9ADE0AE81AFE}"/>
              </a:ext>
            </a:extLst>
          </p:cNvPr>
          <p:cNvCxnSpPr>
            <a:stCxn xmlns:a="http://schemas.openxmlformats.org/drawingml/2006/main" id="75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5146429" y="1375696"/>
            <a:ext cx="0" cy="52997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D6773"/>
            </a:solidFill>
            <a:prstDash val="dash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AEDE2-22C2-46A2-897D-9CF274EC2946}"/>
              </a:ext>
            </a:extLst>
          </p:cNvPr>
          <p:cNvCxnSpPr>
            <a:stCxn xmlns:a="http://schemas.openxmlformats.org/drawingml/2006/main" id="47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3773091" y="1375696"/>
            <a:ext cx="0" cy="52997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D6773"/>
            </a:solidFill>
            <a:prstDash val="dash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F3138-85FB-461C-BF60-F469773512F5}"/>
              </a:ext>
            </a:extLst>
          </p:cNvPr>
          <p:cNvCxnSpPr>
            <a:stCxn xmlns:a="http://schemas.openxmlformats.org/drawingml/2006/main" id="33" idx="2"/>
            <a:endCxn xmlns:a="http://schemas.openxmlformats.org/drawingml/2006/main" id="89" idx="2"/>
          </p:cNvCxnSpPr>
          <p:nvPr/>
        </p:nvCxnSpPr>
        <p:spPr>
          <a:xfrm xmlns:a="http://schemas.openxmlformats.org/drawingml/2006/main" flipV="1">
            <a:off x="2941189" y="2048352"/>
            <a:ext cx="2205240" cy="76437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0811B-B4EC-4C86-9FC0-4E569D28A8CD}"/>
              </a:ext>
            </a:extLst>
          </p:cNvPr>
          <p:cNvCxnSpPr>
            <a:stCxn xmlns:a="http://schemas.openxmlformats.org/drawingml/2006/main" id="27" idx="0"/>
            <a:endCxn xmlns:a="http://schemas.openxmlformats.org/drawingml/2006/main" id="75" idx="0"/>
          </p:cNvCxnSpPr>
          <p:nvPr/>
        </p:nvCxnSpPr>
        <p:spPr>
          <a:xfrm xmlns:a="http://schemas.openxmlformats.org/drawingml/2006/main" flipV="1">
            <a:off x="2941189" y="1233011"/>
            <a:ext cx="2205240" cy="20384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A0439-36C7-496F-8498-6442E745509E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 flipV="1">
            <a:off x="2968791" y="1977010"/>
            <a:ext cx="595369" cy="4841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64201-B99D-41D2-A6B3-BB76DD04D0AF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2968791" y="1304354"/>
            <a:ext cx="595369" cy="4841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F3BF5-9017-416E-B2D4-3665A4A03E11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8" idx="2"/>
          </p:cNvCxnSpPr>
          <p:nvPr/>
        </p:nvCxnSpPr>
        <p:spPr>
          <a:xfrm xmlns:a="http://schemas.openxmlformats.org/drawingml/2006/main">
            <a:off x="1296496" y="1704380"/>
            <a:ext cx="1092640" cy="445889"/>
          </a:xfrm>
          <a:prstGeom xmlns:a="http://schemas.openxmlformats.org/drawingml/2006/main" prst="bentConnector2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FA6C7-E960-4DF9-9681-7AB142D02A66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1296496" y="1477614"/>
            <a:ext cx="1092640" cy="226766"/>
          </a:xfrm>
          <a:prstGeom xmlns:a="http://schemas.openxmlformats.org/drawingml/2006/main" prst="bentConnector2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Q0: frozen-reader supervision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(c) Task-aware calibration through a frozen future-to-action reader">
            <a:extLst xmlns:a="http://schemas.openxmlformats.org/drawingml/2006/main">
              <a:ext uri="{FF2B5EF4-FFF2-40B4-BE49-F238E27FC236}">
                <a16:creationId xmlns:a16="http://schemas.microsoft.com/office/drawing/2014/main" id="{354D63E9-C2CF-4B2C-8201-6147AD7A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4" y="901779"/>
            <a:ext cx="8357235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(c) Task-aware calibration through a frozen future-to-action reader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CA065-D2DD-4976-812F-30F3B0511A6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4142" y="1105614"/>
            <a:ext cx="8377619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19" name="Observation +&#10;instruction + proprio">
            <a:extLst xmlns:a="http://schemas.openxmlformats.org/drawingml/2006/main">
              <a:ext uri="{FF2B5EF4-FFF2-40B4-BE49-F238E27FC236}">
                <a16:creationId xmlns:a16="http://schemas.microsoft.com/office/drawing/2014/main" id="{B767B1CD-3B71-4417-91B9-5255BB3C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05" y="1513284"/>
            <a:ext cx="876491" cy="382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Observation +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instruction + proprio</a:t>
            </a:r>
          </a:p>
        </p:txBody>
      </p:sp>
      <p:sp>
        <p:nvSpPr>
          <p:cNvPr id="20" name="BF16 teacher&#10;(frozen)">
            <a:extLst xmlns:a="http://schemas.openxmlformats.org/drawingml/2006/main">
              <a:ext uri="{FF2B5EF4-FFF2-40B4-BE49-F238E27FC236}">
                <a16:creationId xmlns:a16="http://schemas.microsoft.com/office/drawing/2014/main" id="{5C7A4297-2D99-4C7F-A54F-587B8604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426" y="1212628"/>
            <a:ext cx="764381" cy="270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BF16 teacher</a:t>
            </a:r>
          </a:p>
          <a:p xmlns:a="http://schemas.openxmlformats.org/drawingml/2006/main">
            <a: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(frozen)</a:t>
            </a:r>
          </a:p>
        </p:txBody>
      </p:sp>
      <p:sp>
        <p:nvSpPr>
          <p:cNvPr id="21" name="Quantized student Q0&#10;(codebooks + gains&#10;trainable)">
            <a:extLst xmlns:a="http://schemas.openxmlformats.org/drawingml/2006/main">
              <a:ext uri="{FF2B5EF4-FFF2-40B4-BE49-F238E27FC236}">
                <a16:creationId xmlns:a16="http://schemas.microsoft.com/office/drawing/2014/main" id="{FD0839E7-89F6-4D8A-B3BD-B3615FE9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892" y="1885283"/>
            <a:ext cx="942737" cy="356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Quantized student Q0</a:t>
            </a:r>
          </a:p>
          <a:p xmlns:a="http://schemas.openxmlformats.org/drawingml/2006/main"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(codebooks + gains</a:t>
            </a:r>
          </a:p>
          <a:p xmlns:a="http://schemas.openxmlformats.org/drawingml/2006/main"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trainable)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99FB10-C272-461D-899D-26BB3CFF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3" y="1217724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0E4EC-A48A-4CD5-BB53-F0DA3EEA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944" y="125339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E5D8C-489B-47E9-94BC-29C9C026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355" y="1217724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40C28A-1125-47E3-AC56-617E5082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765" y="125339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036D1-604D-46F9-89EF-3F3EA749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176" y="1217724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81E1D8-BB9E-426C-BB6D-3DB595BB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586" y="125339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DE0338-5908-4AC4-B86C-6E1B7108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3" y="1890379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6A77F6-BAA2-4CC1-9E57-BDA22E67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944" y="192605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8CCEBB-EA35-44D1-9991-52E168DC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355" y="1890379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4363CF-C1FF-40AC-BA3A-5AFD070E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765" y="192605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0EA493-C9AF-4A02-A00E-3DE45B3D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176" y="1890379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94C9C8-9103-44CD-B86D-3E847A26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586" y="192605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F13236-61E7-4930-8927-9F793C58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160" y="1233011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1CB831-4AF2-4754-97DB-933B8D94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803" y="1233011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68A62D-FCD8-4411-A191-4A10DCCD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447" y="1233011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9120EA-6D83-42AB-91B3-31F0DC80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091" y="1233011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F0280A-01C0-4B8D-A566-493A1C16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734" y="1233011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D7A6D2-C06D-4440-8405-DA3776C1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378" y="1233011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47CBCD-8BA0-48CD-A885-D0939F1B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160" y="130435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18963D-5643-44AE-9EC2-2ADCCA00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803" y="130435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760DD6-9CC5-4EBE-8B90-D5C2D228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447" y="130435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49EA52-B4D6-4AFB-B977-0FAD9397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091" y="130435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C5E628-E7EF-47F6-B51C-82585BF8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734" y="130435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EAC230-4D60-4887-A37C-CBD07097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378" y="130435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6" name="aT">
            <a:extLst xmlns:a="http://schemas.openxmlformats.org/drawingml/2006/main">
              <a:ext uri="{FF2B5EF4-FFF2-40B4-BE49-F238E27FC236}">
                <a16:creationId xmlns:a16="http://schemas.microsoft.com/office/drawing/2014/main" id="{F1074D48-242C-494D-B278-FE98E33A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160" y="1080135"/>
            <a:ext cx="417862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A20136-0C47-4DE9-B4A9-60844AF9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160" y="1233011"/>
            <a:ext cx="417862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A1D5C0-F9DD-4CF2-B97F-CB483F45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160" y="1905667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108DDB-B2A0-405E-A62E-B8992D9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803" y="1905667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82649E-8FCF-4650-B014-28AD5F29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447" y="1905667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F79735-0987-4D75-BB30-320ABF52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091" y="1905667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0EC572-688B-412A-94B2-D1C3CF2F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734" y="1905667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E5900E-7FF0-4C14-95E1-8AFB53F9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378" y="1905667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1A1BF2-43B4-456C-964B-2B1D085A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160" y="197700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3375E8-D553-4377-AEF0-699507E5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803" y="197700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951727-68A5-4931-8985-12B99B8C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447" y="197700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BC594A-5D4E-4275-96EE-40C2D29A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091" y="197700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C842C7B-2127-4315-9B9F-B0A3C34B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734" y="197700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6FED51-CE62-4CAB-8405-BEABA24C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378" y="197700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0" name="aQ">
            <a:extLst xmlns:a="http://schemas.openxmlformats.org/drawingml/2006/main">
              <a:ext uri="{FF2B5EF4-FFF2-40B4-BE49-F238E27FC236}">
                <a16:creationId xmlns:a16="http://schemas.microsoft.com/office/drawing/2014/main" id="{EE3BAF6C-5151-4F5A-9A33-2930299A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160" y="1752791"/>
            <a:ext cx="417862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aQ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58C19E-82F7-48B3-B801-6271A83D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160" y="1905667"/>
            <a:ext cx="417862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026442-5F97-4F74-BC69-2340D2E3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758" y="1233011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3C83A00-13C6-459B-B928-4EA4A531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649" y="1233011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28370DF-F13E-42CB-973C-A1A45AFD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539" y="1233011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DAA3859-B4C0-4270-BCD9-557B0D90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29" y="1233011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8339FCE-26C5-4084-8E19-5FCD096F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319" y="1233011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68651F-CE78-45E4-BD28-215B5641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209" y="1233011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6AD2E3-039A-4B77-A1D7-F5E68D68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758" y="130435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F3C63AF-E35B-4A77-B38E-E28951BF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649" y="130435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6D811C-FAEE-45AC-A93F-EA19DE02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539" y="130435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375708-FC72-452C-ADD5-C0E78E62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29" y="130435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3F6B7CD-760E-4812-AAFF-47EB3CF7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319" y="130435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C5C7A99-CAC5-4125-ABE3-DD0134C4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209" y="130435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4" name="zT">
            <a:extLst xmlns:a="http://schemas.openxmlformats.org/drawingml/2006/main">
              <a:ext uri="{FF2B5EF4-FFF2-40B4-BE49-F238E27FC236}">
                <a16:creationId xmlns:a16="http://schemas.microsoft.com/office/drawing/2014/main" id="{C28ECFEF-E3C7-4E07-957A-2CFD1086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758" y="1080135"/>
            <a:ext cx="443341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zT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CFC88C6-E662-4DB1-8766-1F81D955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758" y="1233011"/>
            <a:ext cx="443341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47260B2-793B-42B7-8220-13FDF3DF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758" y="1905667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8E2C46D-0BF9-4DFB-B57E-86E4BE26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649" y="1905667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4D89CEA-F62E-42CD-AE54-E4995C81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539" y="1905667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784B330-9922-4F6C-A427-4EA2697E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29" y="1905667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A2E3DB7-30F7-4CB5-AD8E-4EB51CE4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319" y="1905667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84F4084-8349-48F6-BA2B-C2EC09C8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209" y="1905667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DFA52BE-E0DF-4FE8-92F1-EEE5E349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758" y="197700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13AACC0-79CF-4A98-B871-27C86B0A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649" y="197700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8D31895-DC5B-458F-A9A1-34C0A49B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539" y="197700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F6E9630-1A36-4B6A-BC62-E6395D17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29" y="197700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5CD74CB-641D-4581-BB27-D1C141EF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319" y="197700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DA22E96-AEF0-414E-880D-A491F575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209" y="197700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zQ">
            <a:extLst xmlns:a="http://schemas.openxmlformats.org/drawingml/2006/main">
              <a:ext uri="{FF2B5EF4-FFF2-40B4-BE49-F238E27FC236}">
                <a16:creationId xmlns:a16="http://schemas.microsoft.com/office/drawing/2014/main" id="{68535A85-D795-4255-9876-249CF9BB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758" y="1752791"/>
            <a:ext cx="443341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zQ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C7FDD0F-60A8-4C45-BDBF-3F13DD9B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758" y="1905667"/>
            <a:ext cx="443341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L_action&#10;first-10 motor MSE">
            <a:extLst xmlns:a="http://schemas.openxmlformats.org/drawingml/2006/main">
              <a:ext uri="{FF2B5EF4-FFF2-40B4-BE49-F238E27FC236}">
                <a16:creationId xmlns:a16="http://schemas.microsoft.com/office/drawing/2014/main" id="{4CA0CBC1-6A73-493F-8B0A-B100CA32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446" y="1467422"/>
            <a:ext cx="942737" cy="295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L_action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first-10 motor MSE</a:t>
            </a:r>
          </a:p>
        </p:txBody>
      </p:sp>
      <p:sp>
        <p:nvSpPr>
          <p:cNvPr id="91" name="L_future&#10;clean-future NMSE">
            <a:extLst xmlns:a="http://schemas.openxmlformats.org/drawingml/2006/main">
              <a:ext uri="{FF2B5EF4-FFF2-40B4-BE49-F238E27FC236}">
                <a16:creationId xmlns:a16="http://schemas.microsoft.com/office/drawing/2014/main" id="{79904EB7-4152-400A-8055-FCD70812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853" y="1467422"/>
            <a:ext cx="815340" cy="295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L_future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clean-future NMSE</a:t>
            </a:r>
          </a:p>
        </p:txBody>
      </p:sp>
      <p:sp>
        <p:nvSpPr>
          <p:cNvPr id="92" name="Frozen BF16&#10;action reader">
            <a:extLst xmlns:a="http://schemas.openxmlformats.org/drawingml/2006/main">
              <a:ext uri="{FF2B5EF4-FFF2-40B4-BE49-F238E27FC236}">
                <a16:creationId xmlns:a16="http://schemas.microsoft.com/office/drawing/2014/main" id="{7AB39F6B-D30A-4D13-A7DD-27A4E193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221" y="1090327"/>
            <a:ext cx="738902" cy="214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2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 BF16</a:t>
            </a:r>
          </a:p>
          <a:p xmlns:a="http://schemas.openxmlformats.org/drawingml/2006/main">
            <a: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2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 reader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9B65673-058C-4C5D-B176-A92F02D7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55" y="1329833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4DE0541-07FE-4D13-A987-9171E52D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166" y="1365504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E7D3B0E-6E25-4465-8B61-8A9904F6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576" y="1329833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D51753E-1F14-491C-8896-EA7BECD9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987" y="1365504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1AA19A5-13BB-4939-8B13-5CDA91C4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398" y="1329833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51FE52D-6D51-4756-BB72-6420CE3B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08" y="1365504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3E3FB64-6AB8-4998-8037-B21A8FFE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55" y="2002488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5A19140-731C-42AB-B479-0F69F869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166" y="203816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F6E56CE-EAAB-465D-8517-3C9A427D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576" y="2002488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9337A09-2E4A-417F-B319-FF6C220C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987" y="203816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91C7E35-9268-42AD-8D22-ED9E72E4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398" y="2002488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B241972-8D3A-415D-9D61-6245496B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08" y="203816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5" name="same frozen reader">
            <a:extLst xmlns:a="http://schemas.openxmlformats.org/drawingml/2006/main">
              <a:ext uri="{FF2B5EF4-FFF2-40B4-BE49-F238E27FC236}">
                <a16:creationId xmlns:a16="http://schemas.microsoft.com/office/drawing/2014/main" id="{5288CA19-7B52-4C0E-83AF-D6DE113B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892" y="1757886"/>
            <a:ext cx="789861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same frozen reader</a:t>
            </a:r>
          </a:p>
        </p:txBody>
      </p:sp>
      <p:sp>
        <p:nvSpPr>
          <p:cNvPr id="106" name="pT(a)">
            <a:extLst xmlns:a="http://schemas.openxmlformats.org/drawingml/2006/main">
              <a:ext uri="{FF2B5EF4-FFF2-40B4-BE49-F238E27FC236}">
                <a16:creationId xmlns:a16="http://schemas.microsoft.com/office/drawing/2014/main" id="{008EC1A2-3348-4057-9958-FAEAF2DD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724" y="1105614"/>
            <a:ext cx="535067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pT(a)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9AA54FD-8B99-4420-9110-F00A1171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724" y="1431750"/>
            <a:ext cx="61151" cy="61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48ED1FE-1356-4FD7-BE1A-7C31D12F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162" y="1345121"/>
            <a:ext cx="61151" cy="14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DA35439-B14B-4071-9848-999136BA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63587"/>
            <a:ext cx="61151" cy="229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129A52D-D2FC-4118-87E5-97243068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038" y="1329833"/>
            <a:ext cx="61151" cy="163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839C289-7BE2-45CC-87EF-F06888C1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476" y="1396079"/>
            <a:ext cx="61151" cy="96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CD256F7-76E7-4020-90E8-9AA17B87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14" y="1441942"/>
            <a:ext cx="61151" cy="509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144944A-F9C5-445C-B1C4-121908A9FE7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14724" y="1492901"/>
            <a:ext cx="504492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114" name="pQ(a)">
            <a:extLst xmlns:a="http://schemas.openxmlformats.org/drawingml/2006/main">
              <a:ext uri="{FF2B5EF4-FFF2-40B4-BE49-F238E27FC236}">
                <a16:creationId xmlns:a16="http://schemas.microsoft.com/office/drawing/2014/main" id="{FA27A527-E9FE-4044-A28A-99F93F0C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724" y="1778270"/>
            <a:ext cx="535067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pQ(a)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FDA59E1-855A-4A8A-80AA-F78CEB6F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724" y="2104406"/>
            <a:ext cx="61151" cy="61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3010A14-D0EB-4D33-A375-F8401921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162" y="2017776"/>
            <a:ext cx="61151" cy="14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EA161EF-A968-42A9-B5B1-7C9F74AF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36242"/>
            <a:ext cx="61151" cy="229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33B843C-10B3-4855-A3CE-16D744E3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038" y="2002488"/>
            <a:ext cx="61151" cy="163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38FCD44-1EB8-494E-8C59-B69CCB31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476" y="2068735"/>
            <a:ext cx="61151" cy="96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C77962C-6C18-49C0-A1EB-8590B822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14" y="2114598"/>
            <a:ext cx="61151" cy="509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40B47E2-7F08-42A2-92E4-8B059DB4077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14724" y="2165556"/>
            <a:ext cx="504492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122" name="L_reader-KL&#10;soft-bin action&#10;consistency">
            <a:extLst xmlns:a="http://schemas.openxmlformats.org/drawingml/2006/main">
              <a:ext uri="{FF2B5EF4-FFF2-40B4-BE49-F238E27FC236}">
                <a16:creationId xmlns:a16="http://schemas.microsoft.com/office/drawing/2014/main" id="{B7452DEE-0FC8-4752-BEC5-66DA3A7C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421" y="1508189"/>
            <a:ext cx="800052" cy="356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L_reader-KL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soft-bin action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consistency</a:t>
            </a:r>
          </a:p>
        </p:txBody>
      </p:sp>
      <p:cxnSp>
        <p:nvCxn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EBFA066-9530-4C36-BAAB-0BD5D973CF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49791" y="1436846"/>
            <a:ext cx="0" cy="72871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cxnSp>
        <p:nvCxn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A9924F7-6A82-4255-AC1B-4BC573EACAC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40546" y="2333720"/>
            <a:ext cx="4779931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B96813"/>
            </a:solidFill>
            <a:prstDash val="dash"/>
          </a:ln>
        </p:spPr>
      </p:cxnSp>
      <p:cxnSp>
        <p:nvCxn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5E18E35-97AC-4B05-9527-CD77D88FA7F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40546" y="2231803"/>
            <a:ext cx="0" cy="101918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B96813"/>
            </a:solidFill>
            <a:prstDash val="dash"/>
          </a:ln>
        </p:spPr>
      </p:cxnSp>
      <p:sp>
        <p:nvSpPr>
          <p:cNvPr id="126" name="gradient to codebooks + gains">
            <a:extLst xmlns:a="http://schemas.openxmlformats.org/drawingml/2006/main">
              <a:ext uri="{FF2B5EF4-FFF2-40B4-BE49-F238E27FC236}">
                <a16:creationId xmlns:a16="http://schemas.microsoft.com/office/drawing/2014/main" id="{B93AFA2B-C6D8-4B8C-97B7-85A09E5F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008" y="2303145"/>
            <a:ext cx="2446020" cy="127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B96813"/>
                </a:solidFill>
                <a:latin typeface="Arial"/>
                <a:ea typeface="Arial"/>
                <a:cs typeface="Arial"/>
              </a:rPr>
              <a:t>gradient to codebooks + gains</a:t>
            </a:r>
          </a:p>
        </p:txBody>
      </p:sp>
      <p:sp>
        <p:nvSpPr>
          <p:cNvPr id="127" name="L = L_action + λ L_future + β L_reader-KL">
            <a:extLst xmlns:a="http://schemas.openxmlformats.org/drawingml/2006/main">
              <a:ext uri="{FF2B5EF4-FFF2-40B4-BE49-F238E27FC236}">
                <a16:creationId xmlns:a16="http://schemas.microsoft.com/office/drawing/2014/main" id="{D0F53BDD-722F-40EE-BEF6-AA10328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065" y="2456021"/>
            <a:ext cx="4586288" cy="127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 = L_action + λ L_future + β L_reader-KL</a:t>
            </a:r>
          </a:p>
        </p:txBody>
      </p:sp>
      <p:sp>
        <p:nvSpPr>
          <p:cNvPr id="128" name="Calibration only">
            <a:extLst xmlns:a="http://schemas.openxmlformats.org/drawingml/2006/main">
              <a:ext uri="{FF2B5EF4-FFF2-40B4-BE49-F238E27FC236}">
                <a16:creationId xmlns:a16="http://schemas.microsoft.com/office/drawing/2014/main" id="{FB9ECBC5-3AE9-465B-BF74-C407A9D6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14" y="2435638"/>
            <a:ext cx="993696" cy="11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Calibration only</a:t>
            </a:r>
          </a:p>
        </p:txBody>
      </p:sp>
      <p:graphicFrame>
        <p:nvGraphicFrame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033F954-43B8-4846-82BB-17477926547B}"/>
              </a:ext>
            </a:extLst>
          </p:cNvPr>
          <p:cNvGraphicFramePr/>
          <p:nvPr/>
        </p:nvGraphicFramePr>
        <p:xfrm>
          <a:off xmlns:a="http://schemas.openxmlformats.org/drawingml/2006/main" x="609600" y="2895600"/>
          <a:ext xmlns:a="http://schemas.openxmlformats.org/drawingml/2006/main" cx="7905750" cy="1438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3238500"/>
                <a:gridCol w="3048000"/>
              </a:tblGrid>
              <a:tr h="35956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Objective</a:t>
                      </a:r>
                    </a:p>
                  </a:txBody>
                  <a:tcPr marL="66675" marR="66675" marT="19050" marB="190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Compared quantities</a:t>
                      </a:r>
                    </a:p>
                  </a:txBody>
                  <a:tcPr marL="66675" marR="66675" marT="19050" marB="1905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66675" marR="66675" marT="19050" marB="1905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35956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L_action</a:t>
                      </a:r>
                    </a:p>
                  </a:txBody>
                  <a:tcPr marL="66675" marR="66675" marT="19050" marB="190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First 10 motor actions</a:t>
                      </a:r>
                    </a:p>
                  </a:txBody>
                  <a:tcPr marL="66675" marR="66675" marT="19050" marB="190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Match near-term control</a:t>
                      </a:r>
                    </a:p>
                  </a:txBody>
                  <a:tcPr marL="66675" marR="66675" marT="19050" marB="190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956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L_future</a:t>
                      </a:r>
                    </a:p>
                  </a:txBody>
                  <a:tcPr marL="66675" marR="66675" marT="19050" marB="190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Clean predicted future latent</a:t>
                      </a:r>
                    </a:p>
                  </a:txBody>
                  <a:tcPr marL="66675" marR="66675" marT="19050" marB="190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Preserve imagined future</a:t>
                      </a:r>
                    </a:p>
                  </a:txBody>
                  <a:tcPr marL="66675" marR="66675" marT="19050" marB="190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956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L_reader-KL</a:t>
                      </a:r>
                    </a:p>
                  </a:txBody>
                  <a:tcPr marL="66675" marR="66675" marT="19050" marB="190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Soft-bin motor readout of zT / zQ</a:t>
                      </a:r>
                    </a:p>
                  </a:txBody>
                  <a:tcPr marL="66675" marR="66675" marT="19050" marB="190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Preserve control-relevant future</a:t>
                      </a:r>
                    </a:p>
                  </a:txBody>
                  <a:tcPr marL="66675" marR="66675" marT="19050" marB="190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0" name="Reader parameters are frozen; its input gradient updates the student c">
            <a:extLst xmlns:a="http://schemas.openxmlformats.org/drawingml/2006/main">
              <a:ext uri="{FF2B5EF4-FFF2-40B4-BE49-F238E27FC236}">
                <a16:creationId xmlns:a16="http://schemas.microsoft.com/office/drawing/2014/main" id="{EF7FD4C8-AC25-4583-910D-DFB3DB5A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Reader parameters are frozen; its input gradient updates the student codebooks and row gains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Fast-WAM: paired LIBERO-Plus results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D1040-B63A-4224-B027-BC81D9542A8B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1524000"/>
                <a:gridCol w="1524000"/>
              </a:tblGrid>
              <a:tr h="4800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Success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BF16 reference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216 / 280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77.14%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W16A4 with frozen R0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203 / 280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72.50%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Q0 with A + Z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204 / 280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72.86%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Q0 with A + Z + reader-KL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208 / 280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74.29%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  <p:sp>
        <p:nvSpPr>
          <p:cNvPr id="5" name="Reader-KL: +4 successes over matched A + Z">
            <a:extLst xmlns:a="http://schemas.openxmlformats.org/drawingml/2006/main">
              <a:ext uri="{FF2B5EF4-FFF2-40B4-BE49-F238E27FC236}">
                <a16:creationId xmlns:a16="http://schemas.microsoft.com/office/drawing/2014/main" id="{EB8800CD-10BF-4012-A4C5-F0318DFB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Reader-KL: +4 successes over matched A + Z</a:t>
            </a:r>
          </a:p>
        </p:txBody>
      </p:sp>
      <p:sp>
        <p:nvSpPr>
          <p:cNvPr id="6" name="14 wins / 10 losses / 256 ties; strongest net gain: camera viewpoints ">
            <a:extLst xmlns:a="http://schemas.openxmlformats.org/drawingml/2006/main">
              <a:ext uri="{FF2B5EF4-FFF2-40B4-BE49-F238E27FC236}">
                <a16:creationId xmlns:a16="http://schemas.microsoft.com/office/drawing/2014/main" id="{02A01701-3EF6-483C-A0B0-A29574D2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14 wins / 10 losses / 256 ties; strongest net gain: camera viewpoints (+5/40)</a:t>
            </a:r>
          </a:p>
        </p:txBody>
      </p:sp>
      <p:sp>
        <p:nvSpPr>
          <p:cNvPr id="7" name="Frozen 280-episode perturbation cohort; descriptive paired evidence, o">
            <a:extLst xmlns:a="http://schemas.openxmlformats.org/drawingml/2006/main">
              <a:ext uri="{FF2B5EF4-FFF2-40B4-BE49-F238E27FC236}">
                <a16:creationId xmlns:a16="http://schemas.microsoft.com/office/drawing/2014/main" id="{30E762F0-479D-46A8-B28D-209A8B76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Frozen 280-episode perturbation cohort; descriptive paired evidence, one evaluation panel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26A31-E797-4707-B10F-FEF32AA3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85725"/>
            <a:ext cx="2496979" cy="47136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37851-CCA2-411E-9B9D-355D42EC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85725"/>
            <a:ext cx="2904649" cy="47136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048F6-B5F6-4D0B-A602-EABF2B92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5725"/>
            <a:ext cx="3006566" cy="47136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C7A0D-D1BF-4071-BD69-AA065B3357A4}"/>
              </a:ext>
            </a:extLst>
          </p:cNvPr>
          <p:cNvCxnSpPr>
            <a:stCxn xmlns:a="http://schemas.openxmlformats.org/drawingml/2006/main" id="289" idx="2"/>
            <a:endCxn xmlns:a="http://schemas.openxmlformats.org/drawingml/2006/main" id="292" idx="0"/>
          </p:cNvCxnSpPr>
          <p:nvPr/>
        </p:nvCxnSpPr>
        <p:spPr>
          <a:xfrm xmlns:a="http://schemas.openxmlformats.org/drawingml/2006/main">
            <a:off x="7506415" y="1329119"/>
            <a:ext cx="272629" cy="402574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C0D4B-0ABA-49E0-89B1-961799709125}"/>
              </a:ext>
            </a:extLst>
          </p:cNvPr>
          <p:cNvCxnSpPr>
            <a:stCxn xmlns:a="http://schemas.openxmlformats.org/drawingml/2006/main" id="195" idx="3"/>
            <a:endCxn xmlns:a="http://schemas.openxmlformats.org/drawingml/2006/main" id="212" idx="1"/>
          </p:cNvCxnSpPr>
          <p:nvPr/>
        </p:nvCxnSpPr>
        <p:spPr>
          <a:xfrm xmlns:a="http://schemas.openxmlformats.org/drawingml/2006/main">
            <a:off x="5497068" y="4391740"/>
            <a:ext cx="295561" cy="254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B024D-45B4-434B-A9C2-11DE9921FAEB}"/>
              </a:ext>
            </a:extLst>
          </p:cNvPr>
          <p:cNvCxnSpPr>
            <a:stCxn xmlns:a="http://schemas.openxmlformats.org/drawingml/2006/main" id="194" idx="3"/>
            <a:endCxn xmlns:a="http://schemas.openxmlformats.org/drawingml/2006/main" id="195" idx="1"/>
          </p:cNvCxnSpPr>
          <p:nvPr/>
        </p:nvCxnSpPr>
        <p:spPr>
          <a:xfrm xmlns:a="http://schemas.openxmlformats.org/drawingml/2006/main" flipV="1">
            <a:off x="4299537" y="4391740"/>
            <a:ext cx="356712" cy="12230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B2B7C-B36D-47C2-ABA0-AF0B57DA95A2}"/>
              </a:ext>
            </a:extLst>
          </p:cNvPr>
          <p:cNvCxnSpPr>
            <a:stCxn xmlns:a="http://schemas.openxmlformats.org/drawingml/2006/main" id="193" idx="3"/>
            <a:endCxn xmlns:a="http://schemas.openxmlformats.org/drawingml/2006/main" id="195" idx="1"/>
          </p:cNvCxnSpPr>
          <p:nvPr/>
        </p:nvCxnSpPr>
        <p:spPr>
          <a:xfrm xmlns:a="http://schemas.openxmlformats.org/drawingml/2006/main">
            <a:off x="4299537" y="4243959"/>
            <a:ext cx="356712" cy="14778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E6065-D5D0-4472-A5B3-A4BA528C424E}"/>
              </a:ext>
            </a:extLst>
          </p:cNvPr>
          <p:cNvCxnSpPr>
            <a:stCxn xmlns:a="http://schemas.openxmlformats.org/drawingml/2006/main" id="175" idx="3"/>
            <a:endCxn xmlns:a="http://schemas.openxmlformats.org/drawingml/2006/main" id="189" idx="1"/>
          </p:cNvCxnSpPr>
          <p:nvPr/>
        </p:nvCxnSpPr>
        <p:spPr>
          <a:xfrm xmlns:a="http://schemas.openxmlformats.org/drawingml/2006/main">
            <a:off x="5858876" y="3303771"/>
            <a:ext cx="66245" cy="1273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FFA02-B874-4242-8B8E-A5E63598104D}"/>
              </a:ext>
            </a:extLst>
          </p:cNvPr>
          <p:cNvCxnSpPr>
            <a:stCxn xmlns:a="http://schemas.openxmlformats.org/drawingml/2006/main" id="174" idx="3"/>
            <a:endCxn xmlns:a="http://schemas.openxmlformats.org/drawingml/2006/main" id="175" idx="1"/>
          </p:cNvCxnSpPr>
          <p:nvPr/>
        </p:nvCxnSpPr>
        <p:spPr>
          <a:xfrm xmlns:a="http://schemas.openxmlformats.org/drawingml/2006/main">
            <a:off x="5272850" y="3303771"/>
            <a:ext cx="7643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F2C8E-6D57-4818-B6FA-9817AAAFF4A1}"/>
              </a:ext>
            </a:extLst>
          </p:cNvPr>
          <p:cNvCxnSpPr>
            <a:stCxn xmlns:a="http://schemas.openxmlformats.org/drawingml/2006/main" id="173" idx="3"/>
            <a:endCxn xmlns:a="http://schemas.openxmlformats.org/drawingml/2006/main" id="174" idx="1"/>
          </p:cNvCxnSpPr>
          <p:nvPr/>
        </p:nvCxnSpPr>
        <p:spPr>
          <a:xfrm xmlns:a="http://schemas.openxmlformats.org/drawingml/2006/main">
            <a:off x="4773454" y="3303771"/>
            <a:ext cx="8153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321EF-71E3-4486-9524-3D4C6F9A8A7C}"/>
              </a:ext>
            </a:extLst>
          </p:cNvPr>
          <p:cNvCxnSpPr>
            <a:stCxn xmlns:a="http://schemas.openxmlformats.org/drawingml/2006/main" id="172" idx="3"/>
            <a:endCxn xmlns:a="http://schemas.openxmlformats.org/drawingml/2006/main" id="173" idx="1"/>
          </p:cNvCxnSpPr>
          <p:nvPr/>
        </p:nvCxnSpPr>
        <p:spPr>
          <a:xfrm xmlns:a="http://schemas.openxmlformats.org/drawingml/2006/main">
            <a:off x="4396359" y="3303771"/>
            <a:ext cx="7643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6AC64-D804-449D-98A7-5990B14AE390}"/>
              </a:ext>
            </a:extLst>
          </p:cNvPr>
          <p:cNvCxnSpPr>
            <a:stCxn xmlns:a="http://schemas.openxmlformats.org/drawingml/2006/main" id="171" idx="3"/>
            <a:endCxn xmlns:a="http://schemas.openxmlformats.org/drawingml/2006/main" id="172" idx="1"/>
          </p:cNvCxnSpPr>
          <p:nvPr/>
        </p:nvCxnSpPr>
        <p:spPr>
          <a:xfrm xmlns:a="http://schemas.openxmlformats.org/drawingml/2006/main">
            <a:off x="4014168" y="3303771"/>
            <a:ext cx="8153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2E825-0F38-4A70-A1F6-B60BF5718F18}"/>
              </a:ext>
            </a:extLst>
          </p:cNvPr>
          <p:cNvCxnSpPr>
            <a:stCxn xmlns:a="http://schemas.openxmlformats.org/drawingml/2006/main" id="170" idx="3"/>
            <a:endCxn xmlns:a="http://schemas.openxmlformats.org/drawingml/2006/main" id="171" idx="1"/>
          </p:cNvCxnSpPr>
          <p:nvPr/>
        </p:nvCxnSpPr>
        <p:spPr>
          <a:xfrm xmlns:a="http://schemas.openxmlformats.org/drawingml/2006/main" flipV="1">
            <a:off x="3677841" y="3303771"/>
            <a:ext cx="91725" cy="2802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FB7A2-1947-482A-8E5F-6CFE8F5D2FFC}"/>
              </a:ext>
            </a:extLst>
          </p:cNvPr>
          <p:cNvCxnSpPr>
            <a:stCxn xmlns:a="http://schemas.openxmlformats.org/drawingml/2006/main" id="143" idx="2"/>
            <a:endCxn xmlns:a="http://schemas.openxmlformats.org/drawingml/2006/main" id="149" idx="0"/>
          </p:cNvCxnSpPr>
          <p:nvPr/>
        </p:nvCxnSpPr>
        <p:spPr>
          <a:xfrm xmlns:a="http://schemas.openxmlformats.org/drawingml/2006/main">
            <a:off x="5820656" y="1308735"/>
            <a:ext cx="2548" cy="44843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1FFDB-F880-40FA-A0F4-AC337492B9D5}"/>
              </a:ext>
            </a:extLst>
          </p:cNvPr>
          <p:cNvCxnSpPr>
            <a:stCxn xmlns:a="http://schemas.openxmlformats.org/drawingml/2006/main" id="144" idx="6"/>
            <a:endCxn xmlns:a="http://schemas.openxmlformats.org/drawingml/2006/main" id="149" idx="1"/>
          </p:cNvCxnSpPr>
          <p:nvPr/>
        </p:nvCxnSpPr>
        <p:spPr>
          <a:xfrm xmlns:a="http://schemas.openxmlformats.org/drawingml/2006/main" flipV="1">
            <a:off x="5476684" y="1833610"/>
            <a:ext cx="107014" cy="1273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31767-E875-4DBD-BA2A-188F9B53ADA5}"/>
              </a:ext>
            </a:extLst>
          </p:cNvPr>
          <p:cNvCxnSpPr>
            <a:stCxn xmlns:a="http://schemas.openxmlformats.org/drawingml/2006/main" id="142" idx="2"/>
            <a:endCxn xmlns:a="http://schemas.openxmlformats.org/drawingml/2006/main" id="144" idx="0"/>
          </p:cNvCxnSpPr>
          <p:nvPr/>
        </p:nvCxnSpPr>
        <p:spPr>
          <a:xfrm xmlns:a="http://schemas.openxmlformats.org/drawingml/2006/main">
            <a:off x="5252466" y="1308735"/>
            <a:ext cx="129945" cy="44334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2D044-A5AC-4C1B-8804-4C6AD0A8E436}"/>
              </a:ext>
            </a:extLst>
          </p:cNvPr>
          <p:cNvCxnSpPr>
            <a:stCxn xmlns:a="http://schemas.openxmlformats.org/drawingml/2006/main" id="141" idx="6"/>
            <a:endCxn xmlns:a="http://schemas.openxmlformats.org/drawingml/2006/main" id="144" idx="2"/>
          </p:cNvCxnSpPr>
          <p:nvPr/>
        </p:nvCxnSpPr>
        <p:spPr>
          <a:xfrm xmlns:a="http://schemas.openxmlformats.org/drawingml/2006/main">
            <a:off x="4253674" y="1838706"/>
            <a:ext cx="1034463" cy="7644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C213F-63A6-4602-96EF-408B13FB08B3}"/>
              </a:ext>
            </a:extLst>
          </p:cNvPr>
          <p:cNvCxnSpPr>
            <a:stCxn xmlns:a="http://schemas.openxmlformats.org/drawingml/2006/main" id="140" idx="2"/>
            <a:endCxn xmlns:a="http://schemas.openxmlformats.org/drawingml/2006/main" id="141" idx="6"/>
          </p:cNvCxnSpPr>
          <p:nvPr/>
        </p:nvCxnSpPr>
        <p:spPr>
          <a:xfrm xmlns:a="http://schemas.openxmlformats.org/drawingml/2006/main" flipH="1">
            <a:off x="4253674" y="1660350"/>
            <a:ext cx="326137" cy="178356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D2C46-73CA-46F8-80FB-98D4C91A0D96}"/>
              </a:ext>
            </a:extLst>
          </p:cNvPr>
          <p:cNvCxnSpPr>
            <a:stCxn xmlns:a="http://schemas.openxmlformats.org/drawingml/2006/main" id="134" idx="2"/>
            <a:endCxn xmlns:a="http://schemas.openxmlformats.org/drawingml/2006/main" id="141" idx="2"/>
          </p:cNvCxnSpPr>
          <p:nvPr/>
        </p:nvCxnSpPr>
        <p:spPr>
          <a:xfrm xmlns:a="http://schemas.openxmlformats.org/drawingml/2006/main">
            <a:off x="3744088" y="1660350"/>
            <a:ext cx="315943" cy="178356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AEC39-B249-45B9-BB45-BC3AE241D4E5}"/>
              </a:ext>
            </a:extLst>
          </p:cNvPr>
          <p:cNvCxnSpPr>
            <a:stCxn xmlns:a="http://schemas.openxmlformats.org/drawingml/2006/main" id="128" idx="3"/>
            <a:endCxn xmlns:a="http://schemas.openxmlformats.org/drawingml/2006/main" id="140" idx="0"/>
          </p:cNvCxnSpPr>
          <p:nvPr/>
        </p:nvCxnSpPr>
        <p:spPr>
          <a:xfrm xmlns:a="http://schemas.openxmlformats.org/drawingml/2006/main">
            <a:off x="4432031" y="1160955"/>
            <a:ext cx="147779" cy="346519"/>
          </a:xfrm>
          <a:prstGeom xmlns:a="http://schemas.openxmlformats.org/drawingml/2006/main" prst="bentConnector2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BCEEC-443A-4FBF-BF19-611CE6475D3D}"/>
              </a:ext>
            </a:extLst>
          </p:cNvPr>
          <p:cNvCxnSpPr>
            <a:stCxn xmlns:a="http://schemas.openxmlformats.org/drawingml/2006/main" id="127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 flipH="1">
            <a:off x="3744088" y="1013174"/>
            <a:ext cx="191096" cy="4943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23" name="(a) Compressed resident state">
            <a:extLst xmlns:a="http://schemas.openxmlformats.org/drawingml/2006/main">
              <a:ext uri="{FF2B5EF4-FFF2-40B4-BE49-F238E27FC236}">
                <a16:creationId xmlns:a16="http://schemas.microsoft.com/office/drawing/2014/main" id="{837CEA66-9CCB-4058-B4B2-33719B12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4" y="111204"/>
            <a:ext cx="2904649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(a) Compressed resident state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ECFDAA-7E73-4C67-B57B-730C28FB07B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8892" y="315039"/>
            <a:ext cx="2925032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25" name="Packed weights (resident in GPU memory)">
            <a:extLst xmlns:a="http://schemas.openxmlformats.org/drawingml/2006/main">
              <a:ext uri="{FF2B5EF4-FFF2-40B4-BE49-F238E27FC236}">
                <a16:creationId xmlns:a16="http://schemas.microsoft.com/office/drawing/2014/main" id="{1854A842-A090-4258-A63A-F8356214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51" y="365998"/>
            <a:ext cx="2802731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Packed weights (resident in GPU memory)</a:t>
            </a:r>
          </a:p>
        </p:txBody>
      </p:sp>
      <p:sp>
        <p:nvSpPr>
          <p:cNvPr id="26" name="i1, i2: uint8">
            <a:extLst xmlns:a="http://schemas.openxmlformats.org/drawingml/2006/main">
              <a:ext uri="{FF2B5EF4-FFF2-40B4-BE49-F238E27FC236}">
                <a16:creationId xmlns:a16="http://schemas.microsoft.com/office/drawing/2014/main" id="{47975C20-9A27-460A-AAEE-C4C54AA1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6" y="564737"/>
            <a:ext cx="2598896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i1, i2: uint8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B98DC9-5513-40EC-BB95-64664405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9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F5B350-63DB-4EA6-AE58-06791513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92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D2F2DB-5095-4744-B242-C534FAF7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15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26CEEA-6B0F-463F-89B7-4F8A1B81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437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DA26B8-80B1-4F3B-9659-1B0283A7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560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73A332-15A3-4F64-A9A0-4BBC3901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682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A49EE2-5434-4A82-AD89-3C39585B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65E38D-F896-4594-AA90-F1008B30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928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4B98A4-A22D-4FC3-A7B5-C6F42C7A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050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D8F137-7B45-424C-A5AD-DD1DAB70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173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F0E541-348C-49A5-AC8C-89FD2995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9" y="778764"/>
            <a:ext cx="2191226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" name="i1">
            <a:extLst xmlns:a="http://schemas.openxmlformats.org/drawingml/2006/main">
              <a:ext uri="{FF2B5EF4-FFF2-40B4-BE49-F238E27FC236}">
                <a16:creationId xmlns:a16="http://schemas.microsoft.com/office/drawing/2014/main" id="{A656EF53-4A01-4398-BF0C-9590B5C3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47" y="783860"/>
            <a:ext cx="203835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6388AB-70E2-4FD0-9BBA-ADE5EC14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9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8BD06B-7F97-4AE0-A4ED-7EB74295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92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BF58EE-2B6A-43A5-991F-8FE3B3C7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15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DADF27-8BBB-401B-801D-84090BAE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437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D6B793-EF8B-4D8D-BB7A-BB1379B6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560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585466-25CB-4F3D-832A-39062A6E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682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DE5C2A-2C20-4017-8E83-94BED720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E61F66-C46F-486C-8A36-B49110CF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928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0CB75F-9E7E-4978-87C9-455C8BF5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050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4B49DC-CEC1-4FE9-944B-0AF00D84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173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426F67-24FF-4659-A1DE-AC03142B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9" y="1013174"/>
            <a:ext cx="2191226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0" name="i2">
            <a:extLst xmlns:a="http://schemas.openxmlformats.org/drawingml/2006/main">
              <a:ext uri="{FF2B5EF4-FFF2-40B4-BE49-F238E27FC236}">
                <a16:creationId xmlns:a16="http://schemas.microsoft.com/office/drawing/2014/main" id="{E0496F19-A70F-444B-84FF-329AAB7F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47" y="1013174"/>
            <a:ext cx="203835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i2</a:t>
            </a:r>
          </a:p>
        </p:txBody>
      </p:sp>
      <p:sp>
        <p:nvSpPr>
          <p:cNvPr id="51" name="d = 4">
            <a:extLst xmlns:a="http://schemas.openxmlformats.org/drawingml/2006/main">
              <a:ext uri="{FF2B5EF4-FFF2-40B4-BE49-F238E27FC236}">
                <a16:creationId xmlns:a16="http://schemas.microsoft.com/office/drawing/2014/main" id="{45D7E711-B91D-4DDB-9059-BD1B043C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063" y="855202"/>
            <a:ext cx="382191" cy="244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d = 4</a:t>
            </a:r>
          </a:p>
        </p:txBody>
      </p:sp>
      <p:sp>
        <p:nvSpPr>
          <p:cNvPr id="52" name="C1: 256 × 4, BF16">
            <a:extLst xmlns:a="http://schemas.openxmlformats.org/drawingml/2006/main">
              <a:ext uri="{FF2B5EF4-FFF2-40B4-BE49-F238E27FC236}">
                <a16:creationId xmlns:a16="http://schemas.microsoft.com/office/drawing/2014/main" id="{4FB5C935-B7B8-4B3A-9225-BC516F47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2" y="1293447"/>
            <a:ext cx="1324928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C1: 256 × 4, BF16</a:t>
            </a:r>
          </a:p>
        </p:txBody>
      </p:sp>
      <p:sp>
        <p:nvSpPr>
          <p:cNvPr id="53" name="C2: 256 × 4, BF16">
            <a:extLst xmlns:a="http://schemas.openxmlformats.org/drawingml/2006/main">
              <a:ext uri="{FF2B5EF4-FFF2-40B4-BE49-F238E27FC236}">
                <a16:creationId xmlns:a16="http://schemas.microsoft.com/office/drawing/2014/main" id="{4BBF379E-41CD-47DE-8D92-87A03AD0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559" y="1293447"/>
            <a:ext cx="1324928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C2: 256 × 4, BF16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2E9042-4BB9-43A0-8D5E-847F864C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8" y="1512570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63D8F3-C813-4C23-8D58-81B3B9D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1" y="1512570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9FA999-7F50-4E8D-87B3-FFA6FAD8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13" y="1512570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8D49DD-22B4-411F-9FD9-3F91AE26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135" y="1512570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084EFC-8C62-497A-89EF-212CA6C4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8" y="1650159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EDE630-3728-48D1-9A46-14EAE0A2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1" y="1650159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F796AAA-0631-4C65-80C5-E30F00F1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13" y="1650159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DFF212-4B04-466E-AF08-F1259CF8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135" y="1650159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10F9F8-B7AE-410F-B587-7BA3C9FD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8" y="1787747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E4C83E8-D7D4-488D-8439-19C851D0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1" y="1787747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D19386F-DAEF-42F1-8B07-1314E713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13" y="1787747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18D2E4-35AF-406C-9B14-22D7E9CB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135" y="1787747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D0701C5-B1BF-4D0B-84AD-D677A830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8" y="1925336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A4DB8E7-5BD0-4940-9EEC-6D9859D0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1" y="1925336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0C069B6-98FB-452A-8A41-F90B22C1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13" y="1925336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56DDC62-577A-4780-8DDD-33887667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135" y="1925336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1B39B00-7D27-406E-8D8F-83F96902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8" y="2062925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921AD40-BEAF-4F50-9E45-C18571DF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1" y="2062925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903EBC-12AA-4671-AF74-E34F9096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13" y="2062925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86A7EBF-1DD3-4D84-ACA2-5393F614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135" y="2062925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49AA135-9742-4436-A276-CCBC98E0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8" y="1512570"/>
            <a:ext cx="1248489" cy="687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4A9F77E-CFD5-416C-89A8-FC3B1553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750" y="1512570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FAB414D-4A65-4304-8695-568B147A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873" y="1512570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9DFF786-C48E-47B9-8936-1727270B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995" y="1512570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907BFC1-EBDB-4AAE-9466-04B64A54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117" y="1512570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D69BC52-2EA7-4BA5-B8A2-A36EC90B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750" y="1650159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99E73FC-6137-49B6-9B16-81373394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873" y="1650159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C9671F2-C38E-4789-9AB2-DF56B689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995" y="1650159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4140ADA-35E3-4143-B074-88231D67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117" y="1650159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EBD9E1A-21F9-4FC3-9041-C1699951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750" y="1787747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B3A6FAB-4E03-4FC6-AE60-DB0CC908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873" y="1787747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2F7EC47-27D9-4DFA-A2CB-B1841016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995" y="1787747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95B190F-BC72-4F86-9219-85FFB239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117" y="1787747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1D044EE-9DB1-4860-ADFC-06F42153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750" y="1925336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81BC1B6-8777-4837-996B-8E40443A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873" y="1925336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A1E56BF-887F-4F6D-A4FF-70E158DE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995" y="1925336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548F85F-01EB-46A1-878B-64B418EC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117" y="1925336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1FA047E-9274-49CE-B2FD-5A904C8D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750" y="2062925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A573568-997A-4EAC-A8C9-F1058C0E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873" y="2062925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AD8336B-0B64-4B69-9416-24DE8DAE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995" y="2062925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288FCF8-9682-44B5-A760-1F1385E1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117" y="2062925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40A690F-EE48-498F-BE17-88F52989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750" y="1512570"/>
            <a:ext cx="1248489" cy="687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6" name="row gains: BF16">
            <a:extLst xmlns:a="http://schemas.openxmlformats.org/drawingml/2006/main">
              <a:ext uri="{FF2B5EF4-FFF2-40B4-BE49-F238E27FC236}">
                <a16:creationId xmlns:a16="http://schemas.microsoft.com/office/drawing/2014/main" id="{13170943-A4DB-4EC1-A3A2-971FB8EA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6" y="2287143"/>
            <a:ext cx="1273969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row gains: BF16</a:t>
            </a:r>
          </a:p>
        </p:txBody>
      </p:sp>
      <p:sp>
        <p:nvSpPr>
          <p:cNvPr id="97" name="B32 exponents: uint8">
            <a:extLst xmlns:a="http://schemas.openxmlformats.org/drawingml/2006/main">
              <a:ext uri="{FF2B5EF4-FFF2-40B4-BE49-F238E27FC236}">
                <a16:creationId xmlns:a16="http://schemas.microsoft.com/office/drawing/2014/main" id="{6472F279-6E80-4D07-9096-9BDAC4D4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271" y="2287143"/>
            <a:ext cx="1324928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B32 exponents: uint8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C4826D4-7994-43C7-AD35-82CCBE5D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6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E565E23-6642-44B6-99FF-2A60C59C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54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CD6E2B4-96C8-423C-802E-AE861C7C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82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8D3C7E5-A768-4780-8C33-F530AA8C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10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57D7556-B31F-4FE9-B8CD-E23AE3D1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739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F1DA165-5147-4F68-B409-DBE9CB6A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67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04E8C80-8F87-4A74-825C-D8D1DA39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6" y="2485882"/>
            <a:ext cx="1273969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9104816-8FD5-4966-9B26-43A3046F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559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ED55C71-11FD-4EF8-87E8-53A42E25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887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C41CAAC-66B3-4F1D-B657-1EBECB1F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215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4BA185E-CA1C-4F93-8050-FA21F6B1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9543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BD291C5-A88E-4DB8-A427-5451C99F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871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A74D623-6E0B-488F-8980-3F21B0F8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199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7896E4A-37E9-49A3-8C88-ED6E7FAB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559" y="2485882"/>
            <a:ext cx="1273969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~4.27 effective bpw">
            <a:extLst xmlns:a="http://schemas.openxmlformats.org/drawingml/2006/main">
              <a:ext uri="{FF2B5EF4-FFF2-40B4-BE49-F238E27FC236}">
                <a16:creationId xmlns:a16="http://schemas.microsoft.com/office/drawing/2014/main" id="{402FA44A-BCD4-4A40-B0C7-5BD8D745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8" y="2786539"/>
            <a:ext cx="2395061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124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~4.27 effective bpw</a:t>
            </a:r>
          </a:p>
        </p:txBody>
      </p:sp>
      <p:sp>
        <p:nvSpPr>
          <p:cNvPr id="113" name="Packed target weights; not the whole model">
            <a:extLst xmlns:a="http://schemas.openxmlformats.org/drawingml/2006/main">
              <a:ext uri="{FF2B5EF4-FFF2-40B4-BE49-F238E27FC236}">
                <a16:creationId xmlns:a16="http://schemas.microsoft.com/office/drawing/2014/main" id="{19DF461D-55D3-4084-9BC2-B87B3655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01" y="2964894"/>
            <a:ext cx="2700814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Packed target weights; not the whole model</a:t>
            </a:r>
          </a:p>
        </p:txBody>
      </p:sp>
      <p:cxnSp>
        <p:nvCxn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03B99A1-A529-4E22-A2A7-A7BA2AC3E50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9084" y="3189113"/>
            <a:ext cx="2904649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dash"/>
          </a:ln>
        </p:spPr>
      </p:cxnSp>
      <p:sp>
        <p:nvSpPr>
          <p:cNvPr id="115" name="Transform state (frozen)">
            <a:extLst xmlns:a="http://schemas.openxmlformats.org/drawingml/2006/main">
              <a:ext uri="{FF2B5EF4-FFF2-40B4-BE49-F238E27FC236}">
                <a16:creationId xmlns:a16="http://schemas.microsoft.com/office/drawing/2014/main" id="{368F7BB9-A2AA-4A98-B66C-96FFCD6A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51" y="3245168"/>
            <a:ext cx="2802731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Transform state (frozen)</a:t>
            </a:r>
          </a:p>
        </p:txBody>
      </p:sp>
      <p:sp>
        <p:nvSpPr>
          <p:cNvPr id="116" name="Smooth S">
            <a:extLst xmlns:a="http://schemas.openxmlformats.org/drawingml/2006/main">
              <a:ext uri="{FF2B5EF4-FFF2-40B4-BE49-F238E27FC236}">
                <a16:creationId xmlns:a16="http://schemas.microsoft.com/office/drawing/2014/main" id="{613F545D-CD19-40F2-B81D-9B075E9C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6" y="3474482"/>
            <a:ext cx="789861" cy="3567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Smooth S</a:t>
            </a:r>
          </a:p>
        </p:txBody>
      </p:sp>
      <p:sp>
        <p:nvSpPr>
          <p:cNvPr id="117" name="Signed H128">
            <a:extLst xmlns:a="http://schemas.openxmlformats.org/drawingml/2006/main">
              <a:ext uri="{FF2B5EF4-FFF2-40B4-BE49-F238E27FC236}">
                <a16:creationId xmlns:a16="http://schemas.microsoft.com/office/drawing/2014/main" id="{E4174194-5502-4D6A-83B0-D1BD1EB3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25" y="3474482"/>
            <a:ext cx="830628" cy="3567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Signed H128</a:t>
            </a:r>
          </a:p>
        </p:txBody>
      </p:sp>
      <p:sp>
        <p:nvSpPr>
          <p:cNvPr id="118" name="U128&#10;FP32 execution">
            <a:extLst xmlns:a="http://schemas.openxmlformats.org/drawingml/2006/main">
              <a:ext uri="{FF2B5EF4-FFF2-40B4-BE49-F238E27FC236}">
                <a16:creationId xmlns:a16="http://schemas.microsoft.com/office/drawing/2014/main" id="{6A3C4578-180D-429E-898F-5EF33D07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982" y="3474482"/>
            <a:ext cx="917258" cy="3567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FP32 execution</a:t>
            </a:r>
          </a:p>
        </p:txBody>
      </p:sp>
      <p:sp>
        <p:nvSpPr>
          <p:cNvPr id="119" name="Query-local conditioning cache">
            <a:extLst xmlns:a="http://schemas.openxmlformats.org/drawingml/2006/main">
              <a:ext uri="{FF2B5EF4-FFF2-40B4-BE49-F238E27FC236}">
                <a16:creationId xmlns:a16="http://schemas.microsoft.com/office/drawing/2014/main" id="{10F0C5E6-C32A-4389-83FB-A373BDA6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51" y="3958590"/>
            <a:ext cx="2802731" cy="163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Query-local conditioning cache</a:t>
            </a:r>
          </a:p>
        </p:txBody>
      </p:sp>
      <p:sp>
        <p:nvSpPr>
          <p:cNvPr id="120" name="Text projection + cross-attention K/V&#10;Reuse within one query">
            <a:extLst xmlns:a="http://schemas.openxmlformats.org/drawingml/2006/main">
              <a:ext uri="{FF2B5EF4-FFF2-40B4-BE49-F238E27FC236}">
                <a16:creationId xmlns:a16="http://schemas.microsoft.com/office/drawing/2014/main" id="{B9A8865E-F93B-4769-AF31-729F28E7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6" y="4162425"/>
            <a:ext cx="2700814" cy="331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Text projection + cross-attention K/V</a:t>
            </a:r>
          </a:p>
          <a:p xmlns:a="http://schemas.openxmlformats.org/drawingml/2006/main">
            <a: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Reuse within one query</a:t>
            </a:r>
          </a:p>
        </p:txBody>
      </p:sp>
      <p:sp>
        <p:nvSpPr>
          <p:cNvPr id="121" name="Unquantized T5 / VAE / KV remain BF16">
            <a:extLst xmlns:a="http://schemas.openxmlformats.org/drawingml/2006/main">
              <a:ext uri="{FF2B5EF4-FFF2-40B4-BE49-F238E27FC236}">
                <a16:creationId xmlns:a16="http://schemas.microsoft.com/office/drawing/2014/main" id="{988FD538-14B9-4AA0-98F7-81408F86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63" y="4595574"/>
            <a:ext cx="2828211" cy="132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Unquantized T5 / VAE / KV remain BF16</a:t>
            </a:r>
          </a:p>
        </p:txBody>
      </p:sp>
      <p:sp>
        <p:nvSpPr>
          <p:cNvPr id="122" name="(b) Per-Linear execution">
            <a:extLst xmlns:a="http://schemas.openxmlformats.org/drawingml/2006/main">
              <a:ext uri="{FF2B5EF4-FFF2-40B4-BE49-F238E27FC236}">
                <a16:creationId xmlns:a16="http://schemas.microsoft.com/office/drawing/2014/main" id="{F5C8320B-37B3-4F60-B73B-EED3A791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609" y="111204"/>
            <a:ext cx="2802731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(b) Per-Linear execution</a:t>
            </a:r>
          </a:p>
        </p:txBody>
      </p:sp>
      <p:cxnSp>
        <p:nvCxn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BB43882-D51B-4C43-99AC-F815C97643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36417" y="315039"/>
            <a:ext cx="2823115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124" name="Weight pathway">
            <a:extLst xmlns:a="http://schemas.openxmlformats.org/drawingml/2006/main">
              <a:ext uri="{FF2B5EF4-FFF2-40B4-BE49-F238E27FC236}">
                <a16:creationId xmlns:a16="http://schemas.microsoft.com/office/drawing/2014/main" id="{AE6E3FC1-11CE-47B7-975C-211EC9A0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280" y="365998"/>
            <a:ext cx="2700814" cy="163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Weight pathway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4780318-0273-4E24-850F-38C248B2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759" y="574929"/>
            <a:ext cx="203835" cy="203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6" name="Shape-tuned tile decoder">
            <a:extLst xmlns:a="http://schemas.openxmlformats.org/drawingml/2006/main">
              <a:ext uri="{FF2B5EF4-FFF2-40B4-BE49-F238E27FC236}">
                <a16:creationId xmlns:a16="http://schemas.microsoft.com/office/drawing/2014/main" id="{62FFD74B-E06C-4FAF-A233-48E132E0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600408"/>
            <a:ext cx="2420541" cy="163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Shape-tuned tile decoder</a:t>
            </a:r>
          </a:p>
        </p:txBody>
      </p:sp>
      <p:sp>
        <p:nvSpPr>
          <p:cNvPr id="127" name="i1[r,:]">
            <a:extLst xmlns:a="http://schemas.openxmlformats.org/drawingml/2006/main">
              <a:ext uri="{FF2B5EF4-FFF2-40B4-BE49-F238E27FC236}">
                <a16:creationId xmlns:a16="http://schemas.microsoft.com/office/drawing/2014/main" id="{46DF5694-554D-4F6C-A1AF-F0BB61D2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335" y="850106"/>
            <a:ext cx="993696" cy="163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i1[r,:]</a:t>
            </a:r>
          </a:p>
        </p:txBody>
      </p:sp>
      <p:sp>
        <p:nvSpPr>
          <p:cNvPr id="128" name="i2[r,:]">
            <a:extLst xmlns:a="http://schemas.openxmlformats.org/drawingml/2006/main">
              <a:ext uri="{FF2B5EF4-FFF2-40B4-BE49-F238E27FC236}">
                <a16:creationId xmlns:a16="http://schemas.microsoft.com/office/drawing/2014/main" id="{D2A7124A-A5AA-4531-A0E7-97A78C46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335" y="1079421"/>
            <a:ext cx="993696" cy="163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i2[r,:]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F1DFBC1-BCA3-4F46-819D-0339D9B1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6" y="1507474"/>
            <a:ext cx="135041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3DBDF72-5ECC-4F79-87EC-94FABA14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046" y="1507474"/>
            <a:ext cx="135041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85B2F59-9212-4E8D-8E96-8E9228A5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087" y="1507474"/>
            <a:ext cx="135041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1D3471B-69D0-49EC-A96A-4DD7A246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128" y="1507474"/>
            <a:ext cx="135041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3" name="C1[i1]">
            <a:extLst xmlns:a="http://schemas.openxmlformats.org/drawingml/2006/main">
              <a:ext uri="{FF2B5EF4-FFF2-40B4-BE49-F238E27FC236}">
                <a16:creationId xmlns:a16="http://schemas.microsoft.com/office/drawing/2014/main" id="{BD944C3F-C290-407E-B770-4A4309AA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6" y="1354598"/>
            <a:ext cx="540163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C1[i1]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15B7A6D-DD11-49AD-91C5-4B3B0C4D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6" y="1507474"/>
            <a:ext cx="540163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5321C60-B785-44F1-A117-BF095087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729" y="1507474"/>
            <a:ext cx="135041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BA1A5F8-D89D-454A-BA88-AB242354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770" y="1507474"/>
            <a:ext cx="135041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736EC36-0CBF-4C43-B754-719C41A7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811" y="1507474"/>
            <a:ext cx="135041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8B59D18-1E14-4676-AD86-40E4F33C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51" y="1507474"/>
            <a:ext cx="135041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9" name="C2[i2]">
            <a:extLst xmlns:a="http://schemas.openxmlformats.org/drawingml/2006/main">
              <a:ext uri="{FF2B5EF4-FFF2-40B4-BE49-F238E27FC236}">
                <a16:creationId xmlns:a16="http://schemas.microsoft.com/office/drawing/2014/main" id="{963213D3-4D8C-45F5-926E-80E8D955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729" y="1354598"/>
            <a:ext cx="540163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C2[i2]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8A1076C-FBD1-46CD-B9A5-D64C6A53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729" y="1507474"/>
            <a:ext cx="540163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E065DBB-55E2-4B50-945E-682D4466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031" y="1741884"/>
            <a:ext cx="193643" cy="1936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63">
                <a:solidFill>
                  <a:srgbClr val="18222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42" name="2ᵉ&#10;B32 exp.">
            <a:extLst xmlns:a="http://schemas.openxmlformats.org/drawingml/2006/main">
              <a:ext uri="{FF2B5EF4-FFF2-40B4-BE49-F238E27FC236}">
                <a16:creationId xmlns:a16="http://schemas.microsoft.com/office/drawing/2014/main" id="{02B89242-7D3B-481F-8478-A90CE56E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631" y="982599"/>
            <a:ext cx="407670" cy="3261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2ᵉ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B32 exp.</a:t>
            </a:r>
          </a:p>
        </p:txBody>
      </p:sp>
      <p:sp>
        <p:nvSpPr>
          <p:cNvPr id="143" name="gᵣ&#10;row gain">
            <a:extLst xmlns:a="http://schemas.openxmlformats.org/drawingml/2006/main">
              <a:ext uri="{FF2B5EF4-FFF2-40B4-BE49-F238E27FC236}">
                <a16:creationId xmlns:a16="http://schemas.microsoft.com/office/drawing/2014/main" id="{1FA3C0C4-10D1-4B72-85EF-DD04076A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8602" y="982599"/>
            <a:ext cx="484108" cy="3261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gᵣ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row gain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E28E1AD-16A0-4B08-95AE-5ECEAF21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137" y="1752076"/>
            <a:ext cx="188547" cy="1885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63">
                <a:solidFill>
                  <a:srgbClr val="18222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F191E2A-7166-4328-B489-C5ED3ABA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698" y="1757172"/>
            <a:ext cx="119753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715612C-0ADF-497B-9367-7098A72A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451" y="1757172"/>
            <a:ext cx="119753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ECDDD84-514F-418E-BBE3-4E994F94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204" y="1757172"/>
            <a:ext cx="119753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A71EA26-A9F0-4703-A6B4-8628F57D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2957" y="1757172"/>
            <a:ext cx="119753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ACF3688-183D-4539-A301-58B2B4E7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698" y="1757172"/>
            <a:ext cx="479012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0" name="Ŵ = BF16[gᵣ 2ᵉ (C1[i1] + C2[i2])]">
            <a:extLst xmlns:a="http://schemas.openxmlformats.org/drawingml/2006/main">
              <a:ext uri="{FF2B5EF4-FFF2-40B4-BE49-F238E27FC236}">
                <a16:creationId xmlns:a16="http://schemas.microsoft.com/office/drawing/2014/main" id="{B2DE0D9A-9217-459F-83F0-6AF056B0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951" y="2047637"/>
            <a:ext cx="2649855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 = BF16[gᵣ 2ᵉ (C1[i1] + C2[i2])]</a:t>
            </a:r>
          </a:p>
        </p:txBody>
      </p:sp>
      <p:sp>
        <p:nvSpPr>
          <p:cNvPr id="151" name="Shared BF16 weight scratch&#10;Global memory • one layer • stabl">
            <a:extLst xmlns:a="http://schemas.openxmlformats.org/drawingml/2006/main">
              <a:ext uri="{FF2B5EF4-FFF2-40B4-BE49-F238E27FC236}">
                <a16:creationId xmlns:a16="http://schemas.microsoft.com/office/drawing/2014/main" id="{26712315-56B7-42A4-A66F-B7B89B8E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759" y="2317718"/>
            <a:ext cx="2654951" cy="331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Shared BF16 weight scratch</a:t>
            </a:r>
          </a:p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Global memory • one layer • stable address</a:t>
            </a:r>
          </a:p>
        </p:txBody>
      </p:sp>
      <p:cxnSp>
        <p:nvCxn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7D3A499-F636-4FE3-9206-4A5C4E7ACCD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46609" y="2786539"/>
            <a:ext cx="2802731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dash"/>
          </a:ln>
        </p:spPr>
      </p:cxnSp>
      <p:sp>
        <p:nvSpPr>
          <p:cNvPr id="153" name="Activation pathway (per input X)">
            <a:extLst xmlns:a="http://schemas.openxmlformats.org/drawingml/2006/main">
              <a:ext uri="{FF2B5EF4-FFF2-40B4-BE49-F238E27FC236}">
                <a16:creationId xmlns:a16="http://schemas.microsoft.com/office/drawing/2014/main" id="{C52D29E0-E137-41A9-A7EC-5013B662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280" y="2842593"/>
            <a:ext cx="2700814" cy="163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Activation pathway (per input X)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FD2AC1F-7B38-4F44-938C-AD129C3F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568" y="3214592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4F1E10F-C0CB-47E7-BD42-995BD0FF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622" y="3214592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877BE73-138B-44D3-B6E9-16C91AEA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677" y="3214592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D13F924-6D60-4BDA-85F4-C0ECB135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731" y="3214592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F4EE924-6E27-4352-9B54-9518BD08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786" y="3214592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3D01DB3-9B6F-4178-9F63-0A439555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568" y="3292729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F28BD18-2DF0-4559-A280-8CF6EAF3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622" y="3292729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E4F0793-0CEE-4928-8653-17CB16F6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677" y="3292729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42E0FF2-CC27-48A6-8FEB-CBF86934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731" y="3292729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A8CBCDE-D840-48CF-B874-BD11D495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786" y="3292729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E9F958B-3B09-4FF5-A405-2078024E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568" y="3370866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B4CE91F-F9F5-480F-A198-04C2BEB9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622" y="3370866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4ABA9B3-94A0-4818-A282-A149371E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677" y="3370866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050E419-2A56-4838-A745-426CB61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731" y="3370866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D77DDBF-F5C3-452F-A928-11760E7A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786" y="3370866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9" name="X">
            <a:extLst xmlns:a="http://schemas.openxmlformats.org/drawingml/2006/main">
              <a:ext uri="{FF2B5EF4-FFF2-40B4-BE49-F238E27FC236}">
                <a16:creationId xmlns:a16="http://schemas.microsoft.com/office/drawing/2014/main" id="{951EFBBE-3459-495F-83C6-1693DF5B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568" y="3061716"/>
            <a:ext cx="280273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9E1E8FA-7DD6-41DD-8748-698698AC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568" y="3214592"/>
            <a:ext cx="280273" cy="234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1" name="S⁻¹">
            <a:extLst xmlns:a="http://schemas.openxmlformats.org/drawingml/2006/main">
              <a:ext uri="{FF2B5EF4-FFF2-40B4-BE49-F238E27FC236}">
                <a16:creationId xmlns:a16="http://schemas.microsoft.com/office/drawing/2014/main" id="{93D3C34E-3C35-4B3D-8D6C-9077BE40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566" y="3163634"/>
            <a:ext cx="244602" cy="280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S⁻¹</a:t>
            </a:r>
          </a:p>
        </p:txBody>
      </p:sp>
      <p:sp>
        <p:nvSpPr>
          <p:cNvPr id="172" name="H128">
            <a:extLst xmlns:a="http://schemas.openxmlformats.org/drawingml/2006/main">
              <a:ext uri="{FF2B5EF4-FFF2-40B4-BE49-F238E27FC236}">
                <a16:creationId xmlns:a16="http://schemas.microsoft.com/office/drawing/2014/main" id="{09C237C7-D1FB-44AD-A8CE-8799F2F6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02" y="3163634"/>
            <a:ext cx="300657" cy="280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173" name="U128">
            <a:extLst xmlns:a="http://schemas.openxmlformats.org/drawingml/2006/main">
              <a:ext uri="{FF2B5EF4-FFF2-40B4-BE49-F238E27FC236}">
                <a16:creationId xmlns:a16="http://schemas.microsoft.com/office/drawing/2014/main" id="{96CC400C-2CF1-4F5C-B281-D6305B27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797" y="3163634"/>
            <a:ext cx="300657" cy="280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174" name="round /&#10;clamp A4">
            <a:extLst xmlns:a="http://schemas.openxmlformats.org/drawingml/2006/main">
              <a:ext uri="{FF2B5EF4-FFF2-40B4-BE49-F238E27FC236}">
                <a16:creationId xmlns:a16="http://schemas.microsoft.com/office/drawing/2014/main" id="{AF51A85C-1067-469B-8C5C-EDF619A2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988" y="3163634"/>
            <a:ext cx="417862" cy="280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round /</a:t>
            </a:r>
          </a:p>
          <a:p xmlns:a="http://schemas.openxmlformats.org/drawingml/2006/main">
            <a: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clamp A4</a:t>
            </a:r>
          </a:p>
        </p:txBody>
      </p:sp>
      <p:sp>
        <p:nvSpPr>
          <p:cNvPr id="175" name="dequantize&#10;BF16">
            <a:extLst xmlns:a="http://schemas.openxmlformats.org/drawingml/2006/main">
              <a:ext uri="{FF2B5EF4-FFF2-40B4-BE49-F238E27FC236}">
                <a16:creationId xmlns:a16="http://schemas.microsoft.com/office/drawing/2014/main" id="{7DC2FDEF-FBA5-4569-BCB9-6071332B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88" y="3163634"/>
            <a:ext cx="509588" cy="280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dequantize</a:t>
            </a:r>
          </a:p>
          <a:p xmlns:a="http://schemas.openxmlformats.org/drawingml/2006/main">
            <a: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BF16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D8E7AAA-052D-40E8-96EC-91BBCB71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121" y="3199305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3CA8B897-FCAE-49DF-9D29-CC167A3B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354" y="3199305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AC32D99-D8E5-4778-A162-0D07A0B3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587" y="3199305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9A0CB0E-3651-4305-A266-E2C5EE30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20" y="3199305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5BA075E-A811-401F-81BE-1C77BDC9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121" y="3277441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D51C5D9-9D10-4A0B-99C1-6A483F00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354" y="3277441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C8064DD-7D64-4FB7-9757-BF0A4169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587" y="3277441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35BE36C-6234-4F11-B1E5-4C9BC6F2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20" y="3277441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3A3E018-89DD-47AA-9DCC-E32CAD69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121" y="3355578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363DFA7-EC9A-456C-85E1-5BFD79A7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354" y="3355578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EE2DDF65-3908-46FE-8EF3-5BAA2BD8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587" y="3355578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FFBD0C3-1F1F-42A1-9464-9DDD37C0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20" y="3355578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8" name="X̂">
            <a:extLst xmlns:a="http://schemas.openxmlformats.org/drawingml/2006/main">
              <a:ext uri="{FF2B5EF4-FFF2-40B4-BE49-F238E27FC236}">
                <a16:creationId xmlns:a16="http://schemas.microsoft.com/office/drawing/2014/main" id="{0F67BEF3-D4E9-45CE-88F6-1E6E6DEB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121" y="3046428"/>
            <a:ext cx="208931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X̂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F6AC83DB-81EB-4E3A-AEBA-51EF32BC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121" y="3199305"/>
            <a:ext cx="208931" cy="234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0" name="FP32 H/U scratch reuses weight buffer&#10;H → U → A4 → decode → ">
            <a:extLst xmlns:a="http://schemas.openxmlformats.org/drawingml/2006/main">
              <a:ext uri="{FF2B5EF4-FFF2-40B4-BE49-F238E27FC236}">
                <a16:creationId xmlns:a16="http://schemas.microsoft.com/office/drawing/2014/main" id="{3FBF7E1F-EF95-4E97-9D6D-736F9091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512" y="3622262"/>
            <a:ext cx="2333911" cy="2751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FP32 H/U scratch reuses weight buffer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 → U → A4 → decode → GEMM</a:t>
            </a:r>
          </a:p>
        </p:txBody>
      </p:sp>
      <p:sp>
        <p:nvSpPr>
          <p:cNvPr id="191" name="Compute (GEMM)">
            <a:extLst xmlns:a="http://schemas.openxmlformats.org/drawingml/2006/main">
              <a:ext uri="{FF2B5EF4-FFF2-40B4-BE49-F238E27FC236}">
                <a16:creationId xmlns:a16="http://schemas.microsoft.com/office/drawing/2014/main" id="{4ED6716B-CBD6-464A-AD66-B34B4992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280" y="3999357"/>
            <a:ext cx="2700814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Compute (GEMM)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12BA51C4-570A-46B9-BFAB-CD2AA62E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047" y="4213384"/>
            <a:ext cx="203835" cy="203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63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3" name="Ŵ (BF16)">
            <a:extLst xmlns:a="http://schemas.openxmlformats.org/drawingml/2006/main">
              <a:ext uri="{FF2B5EF4-FFF2-40B4-BE49-F238E27FC236}">
                <a16:creationId xmlns:a16="http://schemas.microsoft.com/office/drawing/2014/main" id="{26DB6EA1-DCDD-4451-B46A-7074D475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152233"/>
            <a:ext cx="596217" cy="183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 (BF16)</a:t>
            </a:r>
          </a:p>
        </p:txBody>
      </p:sp>
      <p:sp>
        <p:nvSpPr>
          <p:cNvPr id="194" name="X̂ (BF16)">
            <a:extLst xmlns:a="http://schemas.openxmlformats.org/drawingml/2006/main">
              <a:ext uri="{FF2B5EF4-FFF2-40B4-BE49-F238E27FC236}">
                <a16:creationId xmlns:a16="http://schemas.microsoft.com/office/drawing/2014/main" id="{BF3BA06E-32C8-4749-B358-461EB74F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422315"/>
            <a:ext cx="596217" cy="183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X̂ (BF16)</a:t>
            </a:r>
          </a:p>
        </p:txBody>
      </p:sp>
      <p:sp>
        <p:nvSpPr>
          <p:cNvPr id="195" name="cuBLAS BF16&#10;GEMM">
            <a:extLst xmlns:a="http://schemas.openxmlformats.org/drawingml/2006/main">
              <a:ext uri="{FF2B5EF4-FFF2-40B4-BE49-F238E27FC236}">
                <a16:creationId xmlns:a16="http://schemas.microsoft.com/office/drawing/2014/main" id="{5AC8E660-3272-4235-9E98-90D6FB97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249" y="4213384"/>
            <a:ext cx="840819" cy="3567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cuBLAS BF16</a:t>
            </a:r>
          </a:p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GEMM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CE495A8-2C68-423E-ADA5-3E41FB8B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629" y="4279630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AC15F453-6F34-4EA4-983C-874E2AB7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779" y="4279630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A455908D-AD2D-490C-A695-FF347B2D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930" y="4279630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D84C86C-D781-4679-8B6E-E7A79BA6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80" y="4279630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360A3771-0D68-42CA-AF24-E486B5FA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231" y="4279630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BC76D33-EC21-41D0-9F65-B4940144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629" y="4356068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1C3B93B-5E82-457F-B25A-E06FD1D9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779" y="4356068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8A75D1C5-3CE5-459C-B7B5-684C2CBF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930" y="4356068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89736C6-F81C-40C9-A927-3AA4ECB9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80" y="4356068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8212A9B-3D06-44F2-99E4-30EE01BD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231" y="4356068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7E0D2414-7344-406C-8753-B7F1AE88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629" y="4432506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3C9ECCC-4BA6-40E9-A428-0399EF26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779" y="4432506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C5B088BD-C41C-4C01-98B1-197D3605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930" y="4432506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67E7CE5-19A8-4F1A-B4EA-3F312BD2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80" y="4432506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1A09F990-59E6-4788-9DF5-B522F39B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231" y="4432506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1" name="Y">
            <a:extLst xmlns:a="http://schemas.openxmlformats.org/drawingml/2006/main">
              <a:ext uri="{FF2B5EF4-FFF2-40B4-BE49-F238E27FC236}">
                <a16:creationId xmlns:a16="http://schemas.microsoft.com/office/drawing/2014/main" id="{51281CE0-F1FD-4C4B-AB50-976631EA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629" y="4126754"/>
            <a:ext cx="305753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EB97E36F-25CE-48D2-B852-785DA5EA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629" y="4279630"/>
            <a:ext cx="305753" cy="229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3" name="Current MMA operands: BF16 × BF16">
            <a:extLst xmlns:a="http://schemas.openxmlformats.org/drawingml/2006/main">
              <a:ext uri="{FF2B5EF4-FFF2-40B4-BE49-F238E27FC236}">
                <a16:creationId xmlns:a16="http://schemas.microsoft.com/office/drawing/2014/main" id="{FBCFB02D-737A-4F9D-822E-08286F1C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799" y="4636341"/>
            <a:ext cx="2293144" cy="127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883" b="1">
                <a:solidFill>
                  <a:srgbClr val="B96813"/>
                </a:solidFill>
                <a:latin typeface="Arial"/>
                <a:ea typeface="Arial"/>
                <a:cs typeface="Arial"/>
              </a:rPr>
              <a:t>Current MMA operands: BF16 × BF16</a:t>
            </a:r>
          </a:p>
        </p:txBody>
      </p:sp>
      <p:sp>
        <p:nvSpPr>
          <p:cNvPr id="214" name="(c) Query execution schedule">
            <a:extLst xmlns:a="http://schemas.openxmlformats.org/drawingml/2006/main">
              <a:ext uri="{FF2B5EF4-FFF2-40B4-BE49-F238E27FC236}">
                <a16:creationId xmlns:a16="http://schemas.microsoft.com/office/drawing/2014/main" id="{A459AE9D-079D-4C44-8D8B-3ABDF1E1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884" y="111204"/>
            <a:ext cx="2395061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(c) Query execution schedule</a:t>
            </a:r>
          </a:p>
        </p:txBody>
      </p:sp>
      <p:cxnSp>
        <p:nvCxn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C5A880E4-2E07-4ABF-901F-8DC33F36BCE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298692" y="315039"/>
            <a:ext cx="2415445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216" name="Prepared GPU datum (single query)">
            <a:extLst xmlns:a="http://schemas.openxmlformats.org/drawingml/2006/main">
              <a:ext uri="{FF2B5EF4-FFF2-40B4-BE49-F238E27FC236}">
                <a16:creationId xmlns:a16="http://schemas.microsoft.com/office/drawing/2014/main" id="{8CA8B72A-A444-4DD6-832C-CE83969D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363" y="376190"/>
            <a:ext cx="2344103" cy="163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Prepared GPU datum (single query)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3E089615-7919-4337-89FF-72ABB24A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034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78AB7B30-A009-4BF8-9ECC-DA92B448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637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2A9E54A-051D-4F43-B1F6-46F97AE2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7239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B1EF4432-A648-46A3-8191-3F773366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842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FDBCDA6-EC1B-45B5-9AC9-8C4795C6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445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B25D123-949C-4670-8786-60D20AAD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047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102821EA-BC2F-4CE0-9836-E9D43F52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650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8C80D94-66E0-4C00-B87B-830AF0B2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252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C3F40DAC-B829-43E8-AC3D-46D3AC48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034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573997D-3A43-4436-920B-556D1012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637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C1C4C33-DC20-410D-B32C-0E98679E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7239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0E9AAB4-1E60-4291-87B2-D58E9D61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842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5F82180-F6F0-4D14-8181-93A01CA4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445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B0CE64D-A778-4E32-9AA8-7C567CD8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047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8609E7A-6FC2-45F2-B21B-8DB85E58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650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03315A30-C0C3-4755-B8E2-9A57018F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252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D2E490D7-E8D8-400E-8F70-B45F64AA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034" y="676847"/>
            <a:ext cx="468821" cy="11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4" name="video latent">
            <a:extLst xmlns:a="http://schemas.openxmlformats.org/drawingml/2006/main">
              <a:ext uri="{FF2B5EF4-FFF2-40B4-BE49-F238E27FC236}">
                <a16:creationId xmlns:a16="http://schemas.microsoft.com/office/drawing/2014/main" id="{1BB0817E-62A4-46C8-8AAA-D36F681A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9651" y="534162"/>
            <a:ext cx="535067" cy="12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 latent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463EA17-B8BC-4DC6-A6E7-54A686D2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252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12AAA2EA-1D3D-4162-9398-CE6E1469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854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B9D6629-FD5C-4ACB-B734-161CC48F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57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6A08E1D2-444C-4B62-86DA-41BAB61B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059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A8F84290-D8B2-4846-9527-03689E41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662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7F2696CD-E2AE-4FBC-B7E6-F166DAC9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264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5CA4D1EA-2E73-4471-8F6F-291AA10E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867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865ABFE9-68CA-4E10-97C0-58430CD8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70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DC3BFB13-68CE-45BA-954C-B8B72667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252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54AE0147-EE64-4A38-941A-111B4868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854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BFC3A5E3-A6BC-4635-905F-81EC02A7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57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85A603CB-BF9F-449B-BD93-2EDDBF41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059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42DF0B9-FF4E-42D4-8AFA-075B6CDA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662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916DA6A9-A0FE-4FF7-83A4-6E3CEF8D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264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79F7B5CC-F0AD-4ABB-BB5F-FAAC404E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867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FF68B44-C2AD-4CF2-8077-1CE06DC9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70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05A3521E-DB33-4D5C-A40F-30E707C6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252" y="676847"/>
            <a:ext cx="468821" cy="11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2" name="action">
            <a:extLst xmlns:a="http://schemas.openxmlformats.org/drawingml/2006/main">
              <a:ext uri="{FF2B5EF4-FFF2-40B4-BE49-F238E27FC236}">
                <a16:creationId xmlns:a16="http://schemas.microsoft.com/office/drawing/2014/main" id="{2527DEC4-5303-4FC9-A424-C3302DE0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868" y="534162"/>
            <a:ext cx="535067" cy="12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E6ED1CD-706F-4F26-8733-B61FC759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469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73ADCC12-C0B8-4827-8437-F920F92D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072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97C3E35D-09CE-4F17-B544-EFB422DC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674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E159999-0AF1-42E9-B1E2-FFA90616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277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221AA672-A911-490D-9300-A95882D8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879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92212BCA-FE5C-4EF5-ACF4-DACE604E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482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FCC451D-5459-4FB1-8857-70474864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4084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7272E74-A391-4836-86BB-9FB5D09A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687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15A29D81-A87F-4E7D-BC61-EA13C007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469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012EDC61-D8CD-4B58-8237-BF74CB12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072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B1F4D7EE-D470-4838-BDA9-9F4A63D4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674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98FF26B0-28DD-45FA-8BCA-0A88B905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277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4AD588B5-0359-4B61-A774-7124CCEC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879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EA294DB-FFB0-4F02-B84A-661C2F74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482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72C052E-5DF5-4623-8976-9435E4D0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4084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339E4374-FA90-47B6-B5B9-E12BA6EB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687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649C5859-9013-4A41-B33B-DC598101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469" y="676847"/>
            <a:ext cx="468821" cy="11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0" name="T5 input">
            <a:extLst xmlns:a="http://schemas.openxmlformats.org/drawingml/2006/main">
              <a:ext uri="{FF2B5EF4-FFF2-40B4-BE49-F238E27FC236}">
                <a16:creationId xmlns:a16="http://schemas.microsoft.com/office/drawing/2014/main" id="{313C3137-64B9-4F3B-A0FF-DF49B968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086" y="534162"/>
            <a:ext cx="535067" cy="12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T5 input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53721272-1B0C-4265-ACFE-F40ADF6E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686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8DFA1CC5-A65B-4D85-9AB8-57C5D914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289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C22353E2-3676-41D3-ABB2-3240FDB7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892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7FE30640-FFBC-405C-AE3A-F9197B16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494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E199C4E7-4FAE-4F8A-A132-11DEF14C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097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EF7E4DC7-C0C3-462B-AFB9-37BD97A6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99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3357FB29-5DD7-4DD2-B3CE-2099393E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302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9D252BB6-1D86-45CD-80B2-B48BB031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904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8F6B1FD2-E92A-4107-8F86-0F8076F3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686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0313717B-797F-4C8F-8D9B-84FB5DBF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289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C2ADD77C-4352-4CC8-A620-6F056CB9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892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1C8C334E-88E0-418B-9C52-C59207F4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494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E35BC293-0204-48BE-869E-48B4719A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097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ACF56F78-6E37-4100-A82F-1778C65D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99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3249A0D0-0E3A-42C1-B399-C41757F5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302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89B2D762-75AB-4BDC-BF57-A76D5A28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904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2566240F-64C5-4E01-882A-3E8D3F41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686" y="676847"/>
            <a:ext cx="468821" cy="11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8" name="other cond.">
            <a:extLst xmlns:a="http://schemas.openxmlformats.org/drawingml/2006/main">
              <a:ext uri="{FF2B5EF4-FFF2-40B4-BE49-F238E27FC236}">
                <a16:creationId xmlns:a16="http://schemas.microsoft.com/office/drawing/2014/main" id="{7F55DAAD-2EC9-46FC-BA82-EF684FF0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303" y="534162"/>
            <a:ext cx="535067" cy="12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other cond.</a:t>
            </a:r>
          </a:p>
        </p:txBody>
      </p:sp>
      <p:sp>
        <p:nvSpPr>
          <p:cNvPr id="289" name="Condition-cache setup (per query)&#10;Run T5, cache projections ">
            <a:extLst xmlns:a="http://schemas.openxmlformats.org/drawingml/2006/main">
              <a:ext uri="{FF2B5EF4-FFF2-40B4-BE49-F238E27FC236}">
                <a16:creationId xmlns:a16="http://schemas.microsoft.com/office/drawing/2014/main" id="{A8DE8E84-AC4A-4FE1-9505-9C609AFB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555" y="982599"/>
            <a:ext cx="2323719" cy="34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Condition-cache setup (per query)</a:t>
            </a:r>
          </a:p>
          <a:p xmlns:a="http://schemas.openxmlformats.org/drawingml/2006/main">
            <a: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Run T5, cache projections and K/V</a:t>
            </a:r>
          </a:p>
        </p:txBody>
      </p:sp>
      <p:sp>
        <p:nvSpPr>
          <p:cNvPr id="290" name="CUDA Graph execution">
            <a:extLst xmlns:a="http://schemas.openxmlformats.org/drawingml/2006/main">
              <a:ext uri="{FF2B5EF4-FFF2-40B4-BE49-F238E27FC236}">
                <a16:creationId xmlns:a16="http://schemas.microsoft.com/office/drawing/2014/main" id="{65756601-D050-468E-8AC6-6EA950B8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363" y="1476899"/>
            <a:ext cx="2344103" cy="157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6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CUDA Graph execution</a:t>
            </a:r>
          </a:p>
        </p:txBody>
      </p:sp>
      <p:sp>
        <p:nvSpPr>
          <p:cNvPr id="291" name="video_step">
            <a:extLst xmlns:a="http://schemas.openxmlformats.org/drawingml/2006/main">
              <a:ext uri="{FF2B5EF4-FFF2-40B4-BE49-F238E27FC236}">
                <a16:creationId xmlns:a16="http://schemas.microsoft.com/office/drawing/2014/main" id="{6A2F8ADF-E6DA-4B2B-9E2C-703A0CF7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843" y="1721549"/>
            <a:ext cx="687705" cy="244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video_step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F7F52B8E-B241-4F6E-B65F-7196A1F4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443" y="1731693"/>
            <a:ext cx="1605201" cy="188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3" name="1">
            <a:extLst xmlns:a="http://schemas.openxmlformats.org/drawingml/2006/main">
              <a:ext uri="{FF2B5EF4-FFF2-40B4-BE49-F238E27FC236}">
                <a16:creationId xmlns:a16="http://schemas.microsoft.com/office/drawing/2014/main" id="{63ED142B-71A7-45D3-8896-EF863E90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827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4" name="2">
            <a:extLst xmlns:a="http://schemas.openxmlformats.org/drawingml/2006/main">
              <a:ext uri="{FF2B5EF4-FFF2-40B4-BE49-F238E27FC236}">
                <a16:creationId xmlns:a16="http://schemas.microsoft.com/office/drawing/2014/main" id="{BD0104A4-E2BF-4AC1-9F10-5F356F9A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703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5" name="3">
            <a:extLst xmlns:a="http://schemas.openxmlformats.org/drawingml/2006/main">
              <a:ext uri="{FF2B5EF4-FFF2-40B4-BE49-F238E27FC236}">
                <a16:creationId xmlns:a16="http://schemas.microsoft.com/office/drawing/2014/main" id="{B83A1B38-D40D-44A1-9AA6-AED10742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79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96" name="4">
            <a:extLst xmlns:a="http://schemas.openxmlformats.org/drawingml/2006/main">
              <a:ext uri="{FF2B5EF4-FFF2-40B4-BE49-F238E27FC236}">
                <a16:creationId xmlns:a16="http://schemas.microsoft.com/office/drawing/2014/main" id="{DAB883FD-C559-445A-B15D-243DA070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456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7" name="5">
            <a:extLst xmlns:a="http://schemas.openxmlformats.org/drawingml/2006/main">
              <a:ext uri="{FF2B5EF4-FFF2-40B4-BE49-F238E27FC236}">
                <a16:creationId xmlns:a16="http://schemas.microsoft.com/office/drawing/2014/main" id="{642DF163-58FF-4D7E-ACA6-CE8A3DC0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332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8" name="6">
            <a:extLst xmlns:a="http://schemas.openxmlformats.org/drawingml/2006/main">
              <a:ext uri="{FF2B5EF4-FFF2-40B4-BE49-F238E27FC236}">
                <a16:creationId xmlns:a16="http://schemas.microsoft.com/office/drawing/2014/main" id="{72C11A6D-67D7-4993-9B80-CC398EC9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1208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9" name="7">
            <a:extLst xmlns:a="http://schemas.openxmlformats.org/drawingml/2006/main">
              <a:ext uri="{FF2B5EF4-FFF2-40B4-BE49-F238E27FC236}">
                <a16:creationId xmlns:a16="http://schemas.microsoft.com/office/drawing/2014/main" id="{F9A27F6D-2370-462C-A985-BE1D57A3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4084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00" name="8">
            <a:extLst xmlns:a="http://schemas.openxmlformats.org/drawingml/2006/main">
              <a:ext uri="{FF2B5EF4-FFF2-40B4-BE49-F238E27FC236}">
                <a16:creationId xmlns:a16="http://schemas.microsoft.com/office/drawing/2014/main" id="{084164BD-AA3F-43AF-BB36-33AC0691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6961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01" name="9">
            <a:extLst xmlns:a="http://schemas.openxmlformats.org/drawingml/2006/main">
              <a:ext uri="{FF2B5EF4-FFF2-40B4-BE49-F238E27FC236}">
                <a16:creationId xmlns:a16="http://schemas.microsoft.com/office/drawing/2014/main" id="{487CC086-9E8E-428D-A7AE-0AC569B8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837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02" name="10">
            <a:extLst xmlns:a="http://schemas.openxmlformats.org/drawingml/2006/main">
              <a:ext uri="{FF2B5EF4-FFF2-40B4-BE49-F238E27FC236}">
                <a16:creationId xmlns:a16="http://schemas.microsoft.com/office/drawing/2014/main" id="{C8192919-D91F-45FD-BB11-052F0476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713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03" name="×10">
            <a:extLst xmlns:a="http://schemas.openxmlformats.org/drawingml/2006/main">
              <a:ext uri="{FF2B5EF4-FFF2-40B4-BE49-F238E27FC236}">
                <a16:creationId xmlns:a16="http://schemas.microsoft.com/office/drawing/2014/main" id="{1655AFB9-DE5C-4ABB-ABD9-D89FA1DF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973" y="1736789"/>
            <a:ext cx="178356" cy="18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×10</a:t>
            </a:r>
          </a:p>
        </p:txBody>
      </p:sp>
      <p:sp>
        <p:nvSpPr>
          <p:cNvPr id="304" name="decode  |  GEMM  |  attention">
            <a:extLst xmlns:a="http://schemas.openxmlformats.org/drawingml/2006/main">
              <a:ext uri="{FF2B5EF4-FFF2-40B4-BE49-F238E27FC236}">
                <a16:creationId xmlns:a16="http://schemas.microsoft.com/office/drawing/2014/main" id="{4ACA45AD-59F7-437C-A06E-79BA06D1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951" y="2149554"/>
            <a:ext cx="1763173" cy="173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decode  |  GEMM  |  attention</a:t>
            </a:r>
          </a:p>
        </p:txBody>
      </p:sp>
      <p:sp>
        <p:nvSpPr>
          <p:cNvPr id="305" name="video_prefill">
            <a:extLst xmlns:a="http://schemas.openxmlformats.org/drawingml/2006/main">
              <a:ext uri="{FF2B5EF4-FFF2-40B4-BE49-F238E27FC236}">
                <a16:creationId xmlns:a16="http://schemas.microsoft.com/office/drawing/2014/main" id="{F4336AE9-9D4C-4415-A7D8-DAA4A3DA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843" y="2506313"/>
            <a:ext cx="687705" cy="244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video_prefill</a:t>
            </a: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77C0EEDC-9543-4552-B6CE-9C124B9B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443" y="2516457"/>
            <a:ext cx="1605201" cy="188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7" name="1">
            <a:extLst xmlns:a="http://schemas.openxmlformats.org/drawingml/2006/main">
              <a:ext uri="{FF2B5EF4-FFF2-40B4-BE49-F238E27FC236}">
                <a16:creationId xmlns:a16="http://schemas.microsoft.com/office/drawing/2014/main" id="{8849C381-DDA5-4628-9804-D46FCFE9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827" y="2531745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8" name="×1">
            <a:extLst xmlns:a="http://schemas.openxmlformats.org/drawingml/2006/main">
              <a:ext uri="{FF2B5EF4-FFF2-40B4-BE49-F238E27FC236}">
                <a16:creationId xmlns:a16="http://schemas.microsoft.com/office/drawing/2014/main" id="{9029DDC9-13F3-437F-BCF3-2C90AA95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973" y="2521553"/>
            <a:ext cx="178356" cy="18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</a:t>
            </a:r>
          </a:p>
        </p:txBody>
      </p:sp>
      <p:sp>
        <p:nvSpPr>
          <p:cNvPr id="309" name="action_step">
            <a:extLst xmlns:a="http://schemas.openxmlformats.org/drawingml/2006/main">
              <a:ext uri="{FF2B5EF4-FFF2-40B4-BE49-F238E27FC236}">
                <a16:creationId xmlns:a16="http://schemas.microsoft.com/office/drawing/2014/main" id="{97E09714-A0ED-4DC3-90C9-3DA3CF03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843" y="2868073"/>
            <a:ext cx="687705" cy="244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action_step</a:t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822E4CF9-D2C3-44D8-B5D7-9A1C6754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443" y="2878265"/>
            <a:ext cx="1605201" cy="188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1" name="1">
            <a:extLst xmlns:a="http://schemas.openxmlformats.org/drawingml/2006/main">
              <a:ext uri="{FF2B5EF4-FFF2-40B4-BE49-F238E27FC236}">
                <a16:creationId xmlns:a16="http://schemas.microsoft.com/office/drawing/2014/main" id="{569CCC5E-F4AF-48BF-A039-0954F976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827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2" name="2">
            <a:extLst xmlns:a="http://schemas.openxmlformats.org/drawingml/2006/main">
              <a:ext uri="{FF2B5EF4-FFF2-40B4-BE49-F238E27FC236}">
                <a16:creationId xmlns:a16="http://schemas.microsoft.com/office/drawing/2014/main" id="{69BEA95D-6FA0-4A9E-B281-2DF5D760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703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3" name="3">
            <a:extLst xmlns:a="http://schemas.openxmlformats.org/drawingml/2006/main">
              <a:ext uri="{FF2B5EF4-FFF2-40B4-BE49-F238E27FC236}">
                <a16:creationId xmlns:a16="http://schemas.microsoft.com/office/drawing/2014/main" id="{937228BE-A687-491F-9CE8-6EE79027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79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4" name="4">
            <a:extLst xmlns:a="http://schemas.openxmlformats.org/drawingml/2006/main">
              <a:ext uri="{FF2B5EF4-FFF2-40B4-BE49-F238E27FC236}">
                <a16:creationId xmlns:a16="http://schemas.microsoft.com/office/drawing/2014/main" id="{7D5D58DC-0CD9-4E5F-BF6A-97A82309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456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5" name="5">
            <a:extLst xmlns:a="http://schemas.openxmlformats.org/drawingml/2006/main">
              <a:ext uri="{FF2B5EF4-FFF2-40B4-BE49-F238E27FC236}">
                <a16:creationId xmlns:a16="http://schemas.microsoft.com/office/drawing/2014/main" id="{11551A0C-B23F-4A60-9E64-E827A0C7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332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6" name="6">
            <a:extLst xmlns:a="http://schemas.openxmlformats.org/drawingml/2006/main">
              <a:ext uri="{FF2B5EF4-FFF2-40B4-BE49-F238E27FC236}">
                <a16:creationId xmlns:a16="http://schemas.microsoft.com/office/drawing/2014/main" id="{75112EED-9DF2-4625-BA77-7AE80B8E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1208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7" name="7">
            <a:extLst xmlns:a="http://schemas.openxmlformats.org/drawingml/2006/main">
              <a:ext uri="{FF2B5EF4-FFF2-40B4-BE49-F238E27FC236}">
                <a16:creationId xmlns:a16="http://schemas.microsoft.com/office/drawing/2014/main" id="{18C455A5-E035-45CD-A847-298914E8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4084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18" name="8">
            <a:extLst xmlns:a="http://schemas.openxmlformats.org/drawingml/2006/main">
              <a:ext uri="{FF2B5EF4-FFF2-40B4-BE49-F238E27FC236}">
                <a16:creationId xmlns:a16="http://schemas.microsoft.com/office/drawing/2014/main" id="{8B290B43-65BD-4ACC-9CF1-35F7C30A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6961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19" name="9">
            <a:extLst xmlns:a="http://schemas.openxmlformats.org/drawingml/2006/main">
              <a:ext uri="{FF2B5EF4-FFF2-40B4-BE49-F238E27FC236}">
                <a16:creationId xmlns:a16="http://schemas.microsoft.com/office/drawing/2014/main" id="{54834D11-135E-4AE5-A441-1060E172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837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20" name="10">
            <a:extLst xmlns:a="http://schemas.openxmlformats.org/drawingml/2006/main">
              <a:ext uri="{FF2B5EF4-FFF2-40B4-BE49-F238E27FC236}">
                <a16:creationId xmlns:a16="http://schemas.microsoft.com/office/drawing/2014/main" id="{72FEF343-186A-40FD-9D09-C6D20E43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713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21" name="×10">
            <a:extLst xmlns:a="http://schemas.openxmlformats.org/drawingml/2006/main">
              <a:ext uri="{FF2B5EF4-FFF2-40B4-BE49-F238E27FC236}">
                <a16:creationId xmlns:a16="http://schemas.microsoft.com/office/drawing/2014/main" id="{2C427690-C3C0-481E-B96D-E90DEEE9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973" y="2883360"/>
            <a:ext cx="178356" cy="18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×10</a:t>
            </a:r>
          </a:p>
        </p:txBody>
      </p:sp>
      <p:sp>
        <p:nvSpPr>
          <p:cNvPr id="322" name="decode  |  GEMM  |  attention">
            <a:extLst xmlns:a="http://schemas.openxmlformats.org/drawingml/2006/main">
              <a:ext uri="{FF2B5EF4-FFF2-40B4-BE49-F238E27FC236}">
                <a16:creationId xmlns:a16="http://schemas.microsoft.com/office/drawing/2014/main" id="{887C63FC-967B-4D01-8B57-E380A969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951" y="3301222"/>
            <a:ext cx="1763173" cy="173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decode  |  GEMM  |  attention</a:t>
            </a:r>
          </a:p>
        </p:txBody>
      </p:sp>
      <p:sp>
        <p:nvSpPr>
          <p:cNvPr id="323" name="5,258 target Linear calls / query">
            <a:extLst xmlns:a="http://schemas.openxmlformats.org/drawingml/2006/main">
              <a:ext uri="{FF2B5EF4-FFF2-40B4-BE49-F238E27FC236}">
                <a16:creationId xmlns:a16="http://schemas.microsoft.com/office/drawing/2014/main" id="{88EC72D4-14EB-4551-BF35-57E3C53B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801" y="3632454"/>
            <a:ext cx="2242185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6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5,258 target Linear calls / query</a:t>
            </a:r>
          </a:p>
        </p:txBody>
      </p:sp>
      <p:sp>
        <p:nvSpPr>
          <p:cNvPr id="324" name="10 video + 1 prefill + 10 action replays">
            <a:extLst xmlns:a="http://schemas.openxmlformats.org/drawingml/2006/main">
              <a:ext uri="{FF2B5EF4-FFF2-40B4-BE49-F238E27FC236}">
                <a16:creationId xmlns:a16="http://schemas.microsoft.com/office/drawing/2014/main" id="{B8423B3C-58E8-4E4C-8D33-EABFA25D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322" y="3810810"/>
            <a:ext cx="2293144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72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10 video + 1 prefill + 10 action replays</a:t>
            </a:r>
          </a:p>
        </p:txBody>
      </p:sp>
      <p:sp>
        <p:nvSpPr>
          <p:cNvPr id="325" name="Outputs">
            <a:extLst xmlns:a="http://schemas.openxmlformats.org/drawingml/2006/main">
              <a:ext uri="{FF2B5EF4-FFF2-40B4-BE49-F238E27FC236}">
                <a16:creationId xmlns:a16="http://schemas.microsoft.com/office/drawing/2014/main" id="{CE8FA6F9-E9D7-4813-BF80-EDA744A0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555" y="4050316"/>
            <a:ext cx="2293144" cy="147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D06B1DFC-858A-4828-868C-1E7F0435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281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FF877D52-BFB0-401A-915A-13CFE94A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420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0B00EA39-02AD-4B7A-A19F-4DD234E6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560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A26F9AB7-7BBE-4DAC-AB9F-6E364F6D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699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03675447-33DF-4DAD-84DA-511BFD4E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38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B4CEB36B-2A33-4DDC-9CA2-BF232E25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978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6399BFB-448C-44D6-A272-AA3056E6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117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AE5E6197-465F-4EFD-B476-76F2CAF3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257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FEDEA4A1-40D1-406D-A120-6FCAA977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3396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8A1F2E10-6C18-4327-92C8-18A1EED6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36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0D48DBFB-D26D-43D6-8E81-242CDC06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281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508DF48F-8DD6-4002-88DE-40C4B492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420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E80C2204-55B5-4249-AFF9-2AC584D9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560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DCEDA763-68D6-4E3D-A20E-06E8084B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699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DA125DF4-412B-4DEE-B1B8-CEE7C8BD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38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C6D4E81B-A240-4E7B-94C4-5F6A30A2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978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86AD2F43-73DC-4AB5-82EF-A248CBB5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117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500A7CEB-0D52-4EF4-9A83-5CB2228D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257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E0D7B64E-E8A8-4EF8-B388-E6D40C1C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3396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5DAD8450-D019-4D8D-999D-D609482E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36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064CC9DB-0AF8-417B-BBFE-1C081B50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281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F65B0567-56B5-49C3-ADBB-1AB462B1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420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782FB324-4D42-4BC7-A0AC-640713C7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560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645CEA9B-FF3E-42CC-85E4-62E89D51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699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E855EDAE-766F-4B28-B499-C5226FFD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38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A24BB107-CEAC-41E8-B2CB-DB511FEB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978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DA9CC54D-0A5B-415F-AC6C-364D04B3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117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79E3F478-A835-4ADF-9C1F-74F5E104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257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9F0F84E4-6C43-4655-8DD4-8E6C88E3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3396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8CD805A6-4FE4-44FF-BEF2-D61BF39B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36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6" name="32 × 7 action">
            <a:extLst xmlns:a="http://schemas.openxmlformats.org/drawingml/2006/main">
              <a:ext uri="{FF2B5EF4-FFF2-40B4-BE49-F238E27FC236}">
                <a16:creationId xmlns:a16="http://schemas.microsoft.com/office/drawing/2014/main" id="{97589D40-4EF4-4E9C-A900-DEBF8FCE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281" y="4187904"/>
            <a:ext cx="871395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32 × 7 action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611DB645-5806-464A-AFD8-9B917DC7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281" y="4340781"/>
            <a:ext cx="871395" cy="203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9ECBF5CE-7088-4038-9E53-F9EF0EBA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387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8CCC1EC6-C503-4788-AAF8-C0A90A6A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526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185B0CF0-2AC6-454C-A298-A31EC2D3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665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1E9D85A7-1135-44C6-B255-9979957D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805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E6F5E880-14AF-485F-AAA3-1BE04E07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944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157E820B-9D4A-4B81-AB2D-965A893A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084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A7249745-3236-476E-B6CE-19FF127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7223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A7D018B2-E4F9-4E5D-9665-B073758A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363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325F9601-DFCF-491A-9283-9BF1715B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502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CA941516-34A7-459A-89D5-C466B404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42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8EDE0608-56B6-492D-B4D5-7DC91141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387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4FFB4F66-1B0E-4A57-A3C6-1647B0AE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526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1ACC8E18-B0FF-4D33-98BC-7E5AD5D9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665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74EBD492-EA97-460C-931C-07EA980E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805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6EC95F9B-A418-4060-BD04-95653B04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944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41FD2164-BDCE-4E79-AE46-D231DD6D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084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288477B6-5E5A-4117-B463-2A0AB13C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7223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A3B50CF2-B894-4308-A84E-27C4ECB8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363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E145DA6A-9187-472B-80FE-F1F592EF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502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66821497-8A0B-44E6-BDF9-8B146776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42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CAC470E1-E773-42D1-875A-D61D0A60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387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78444C05-EBD3-452B-8950-4B0A2A4B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526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466E2637-A822-48FF-9378-A6B735B9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665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D469F753-9BDA-4A02-9357-0DACB7B8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805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4427877F-C5CB-4AFA-99C3-3985E379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944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B6F1D914-882F-40CB-A3AE-357F9057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084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F50D23C2-A01E-4245-9D89-E348D0A4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7223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C9E7220E-3912-48D2-BA50-23B3D07C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363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26A00370-0756-45F8-9FD5-568718C8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502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67EDD235-1063-4E87-A456-FD289616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42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8" name="future latent">
            <a:extLst xmlns:a="http://schemas.openxmlformats.org/drawingml/2006/main">
              <a:ext uri="{FF2B5EF4-FFF2-40B4-BE49-F238E27FC236}">
                <a16:creationId xmlns:a16="http://schemas.microsoft.com/office/drawing/2014/main" id="{777BFF5B-8371-4CAD-8046-9D17B8C6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387" y="4187904"/>
            <a:ext cx="871395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future latent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16FEAE67-E3DE-4E4E-B5AB-2662DB16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387" y="4340781"/>
            <a:ext cx="871395" cy="203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90" name="Single request / single CUDA stream">
            <a:extLst xmlns:a="http://schemas.openxmlformats.org/drawingml/2006/main">
              <a:ext uri="{FF2B5EF4-FFF2-40B4-BE49-F238E27FC236}">
                <a16:creationId xmlns:a16="http://schemas.microsoft.com/office/drawing/2014/main" id="{8E5FC0C0-FEF7-4D53-87D5-A297CB6F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555" y="4621054"/>
            <a:ext cx="2318623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Single request / single CUDA stream</a:t>
            </a:r>
          </a:p>
        </p:txBody>
      </p:sp>
      <p:cxnSp>
        <p:nvCxn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0B0D577C-473A-479F-A676-66B93CC47B8F}"/>
              </a:ext>
            </a:extLst>
          </p:cNvPr>
          <p:cNvCxnSpPr>
            <a:stCxn xmlns:a="http://schemas.openxmlformats.org/drawingml/2006/main" id="149" idx="3"/>
            <a:endCxn xmlns:a="http://schemas.openxmlformats.org/drawingml/2006/main" id="151" idx="3"/>
          </p:cNvCxnSpPr>
          <p:nvPr/>
        </p:nvCxnSpPr>
        <p:spPr>
          <a:xfrm xmlns:a="http://schemas.openxmlformats.org/drawingml/2006/main" flipH="1">
            <a:off x="6062710" y="1833610"/>
            <a:ext cx="0" cy="649724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505A7-808B-42DC-8C1C-4E180E2D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76300"/>
            <a:ext cx="2006918" cy="3788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53157-E399-49F8-816F-E876418D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2334578" cy="3788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2E441-337B-4BB9-AC23-A1B279887A49}"/>
              </a:ext>
            </a:extLst>
          </p:cNvPr>
          <p:cNvCxnSpPr>
            <a:stCxn xmlns:a="http://schemas.openxmlformats.org/drawingml/2006/main" id="191" idx="2"/>
            <a:endCxn xmlns:a="http://schemas.openxmlformats.org/drawingml/2006/main" id="194" idx="0"/>
          </p:cNvCxnSpPr>
          <p:nvPr/>
        </p:nvCxnSpPr>
        <p:spPr>
          <a:xfrm xmlns:a="http://schemas.openxmlformats.org/drawingml/2006/main">
            <a:off x="4146709" y="1875663"/>
            <a:ext cx="219123" cy="323564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C4952-8EB9-4576-B203-41EB7DE0A123}"/>
              </a:ext>
            </a:extLst>
          </p:cNvPr>
          <p:cNvCxnSpPr>
            <a:stCxn xmlns:a="http://schemas.openxmlformats.org/drawingml/2006/main" id="97" idx="3"/>
            <a:endCxn xmlns:a="http://schemas.openxmlformats.org/drawingml/2006/main" id="114" idx="1"/>
          </p:cNvCxnSpPr>
          <p:nvPr/>
        </p:nvCxnSpPr>
        <p:spPr>
          <a:xfrm xmlns:a="http://schemas.openxmlformats.org/drawingml/2006/main">
            <a:off x="2226564" y="4327685"/>
            <a:ext cx="237554" cy="204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5F991-C1F5-4FF3-844E-D38E050BB387}"/>
              </a:ext>
            </a:extLst>
          </p:cNvPr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 flipV="1">
            <a:off x="1264063" y="4327685"/>
            <a:ext cx="286702" cy="9829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15956-2BF9-4376-99A3-E2BD2FD14CB4}"/>
              </a:ext>
            </a:extLst>
          </p:cNvPr>
          <p:cNvCxnSpPr>
            <a:stCxn xmlns:a="http://schemas.openxmlformats.org/drawingml/2006/main" id="95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1264063" y="4208908"/>
            <a:ext cx="286702" cy="11877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F3352-CE9D-4A21-AD31-537638FD9699}"/>
              </a:ext>
            </a:extLst>
          </p:cNvPr>
          <p:cNvCxnSpPr>
            <a:stCxn xmlns:a="http://schemas.openxmlformats.org/drawingml/2006/main" id="77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2517362" y="3453241"/>
            <a:ext cx="53245" cy="1023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AC9F6-62FB-47B3-B694-68B991A42BE5}"/>
              </a:ext>
            </a:extLst>
          </p:cNvPr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2046351" y="3453241"/>
            <a:ext cx="6143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60903-E2FB-4724-8E77-67A30376B22E}"/>
              </a:ext>
            </a:extLst>
          </p:cNvPr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1644967" y="3453241"/>
            <a:ext cx="6553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DD526-01F4-419B-8603-71E25D30592A}"/>
              </a:ext>
            </a:extLst>
          </p:cNvPr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1341882" y="3453241"/>
            <a:ext cx="6143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112E5-C376-40FD-A108-36B0E195BEAD}"/>
              </a:ext>
            </a:extLst>
          </p:cNvPr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1034701" y="3453241"/>
            <a:ext cx="6553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002C9-C5DB-493D-BD0E-ECA269198335}"/>
              </a:ext>
            </a:extLst>
          </p:cNvPr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 flipV="1">
            <a:off x="764381" y="3453241"/>
            <a:ext cx="73724" cy="2252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1FCF9-4C14-4CD5-BDFE-D88B36CA0798}"/>
              </a:ext>
            </a:extLst>
          </p:cNvPr>
          <p:cNvCxnSpPr>
            <a:stCxn xmlns:a="http://schemas.openxmlformats.org/drawingml/2006/main" id="45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2486644" y="1849755"/>
            <a:ext cx="2049" cy="36042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DB075-397D-4A2C-A5D6-43FC192BA7E3}"/>
              </a:ext>
            </a:extLst>
          </p:cNvPr>
          <p:cNvCxnSpPr>
            <a:stCxn xmlns:a="http://schemas.openxmlformats.org/drawingml/2006/main" id="46" idx="6"/>
            <a:endCxn xmlns:a="http://schemas.openxmlformats.org/drawingml/2006/main" id="51" idx="1"/>
          </p:cNvCxnSpPr>
          <p:nvPr/>
        </p:nvCxnSpPr>
        <p:spPr>
          <a:xfrm xmlns:a="http://schemas.openxmlformats.org/drawingml/2006/main" flipV="1">
            <a:off x="2210181" y="2271618"/>
            <a:ext cx="86011" cy="1023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D7985-1717-4B00-AD84-FEDAECC0AC9F}"/>
              </a:ext>
            </a:extLst>
          </p:cNvPr>
          <p:cNvCxnSpPr>
            <a:stCxn xmlns:a="http://schemas.openxmlformats.org/drawingml/2006/main" id="44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2029968" y="1849755"/>
            <a:ext cx="104441" cy="35633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B0C46-725C-496B-8480-FEB82A7AB373}"/>
              </a:ext>
            </a:extLst>
          </p:cNvPr>
          <p:cNvCxnSpPr>
            <a:stCxn xmlns:a="http://schemas.openxmlformats.org/drawingml/2006/main" id="43" idx="6"/>
            <a:endCxn xmlns:a="http://schemas.openxmlformats.org/drawingml/2006/main" id="46" idx="2"/>
          </p:cNvCxnSpPr>
          <p:nvPr/>
        </p:nvCxnSpPr>
        <p:spPr>
          <a:xfrm xmlns:a="http://schemas.openxmlformats.org/drawingml/2006/main">
            <a:off x="1227202" y="2275714"/>
            <a:ext cx="831436" cy="614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04D8B-9915-44D4-9A75-B8DBC91855F3}"/>
              </a:ext>
            </a:extLst>
          </p:cNvPr>
          <p:cNvCxnSpPr>
            <a:stCxn xmlns:a="http://schemas.openxmlformats.org/drawingml/2006/main" id="42" idx="2"/>
            <a:endCxn xmlns:a="http://schemas.openxmlformats.org/drawingml/2006/main" id="43" idx="6"/>
          </p:cNvCxnSpPr>
          <p:nvPr/>
        </p:nvCxnSpPr>
        <p:spPr>
          <a:xfrm xmlns:a="http://schemas.openxmlformats.org/drawingml/2006/main" flipH="1">
            <a:off x="1227202" y="2132362"/>
            <a:ext cx="262127" cy="143352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A48B36-57D9-4A11-9A27-83BA81C2EB0C}"/>
              </a:ext>
            </a:extLst>
          </p:cNvPr>
          <p:cNvCxnSpPr>
            <a:stCxn xmlns:a="http://schemas.openxmlformats.org/drawingml/2006/main" id="36" idx="2"/>
            <a:endCxn xmlns:a="http://schemas.openxmlformats.org/drawingml/2006/main" id="43" idx="2"/>
          </p:cNvCxnSpPr>
          <p:nvPr/>
        </p:nvCxnSpPr>
        <p:spPr>
          <a:xfrm xmlns:a="http://schemas.openxmlformats.org/drawingml/2006/main">
            <a:off x="817626" y="2132362"/>
            <a:ext cx="253937" cy="143352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B8C65-ECF9-431B-BCCF-2AF446FDE8E9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1370552" y="1730978"/>
            <a:ext cx="118777" cy="278511"/>
          </a:xfrm>
          <a:prstGeom xmlns:a="http://schemas.openxmlformats.org/drawingml/2006/main" prst="bentConnector2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7A988B-286C-40D9-9B05-99BC4A6D3A22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817626" y="1612202"/>
            <a:ext cx="153591" cy="39728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Engine: per-Linear execution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(b) Per-Linear execution">
            <a:extLst xmlns:a="http://schemas.openxmlformats.org/drawingml/2006/main">
              <a:ext uri="{FF2B5EF4-FFF2-40B4-BE49-F238E27FC236}">
                <a16:creationId xmlns:a16="http://schemas.microsoft.com/office/drawing/2014/main" id="{4AC583AF-ED54-4E4D-BAB2-A7AA4699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8" y="887254"/>
            <a:ext cx="2252663" cy="143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71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(b) Per-Linear execution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F45FB0-2193-4214-9319-8C14553689E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9966" y="1051084"/>
            <a:ext cx="2269046" cy="0"/>
          </a:xfrm>
          <a:prstGeom xmlns:a="http://schemas.openxmlformats.org/drawingml/2006/main" prst="straightConnector1">
            <a:avLst/>
          </a:prstGeom>
          <a:ln xmlns:a="http://schemas.openxmlformats.org/drawingml/2006/main" w="3277">
            <a:solidFill>
              <a:srgbClr val="697681"/>
            </a:solidFill>
            <a:prstDash val="solid"/>
          </a:ln>
        </p:spPr>
      </p:cxnSp>
      <p:sp>
        <p:nvSpPr>
          <p:cNvPr id="26" name="Weight pathway">
            <a:extLst xmlns:a="http://schemas.openxmlformats.org/drawingml/2006/main">
              <a:ext uri="{FF2B5EF4-FFF2-40B4-BE49-F238E27FC236}">
                <a16:creationId xmlns:a16="http://schemas.microsoft.com/office/drawing/2014/main" id="{1D8A5F59-0206-4F6C-84AB-84AA6B3F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28" y="1092041"/>
            <a:ext cx="2170748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Weight pathway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CD079E-04FC-4525-8C95-5C3A1452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07" y="1259967"/>
            <a:ext cx="163830" cy="163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6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Shape-tuned tile decoder">
            <a:extLst xmlns:a="http://schemas.openxmlformats.org/drawingml/2006/main">
              <a:ext uri="{FF2B5EF4-FFF2-40B4-BE49-F238E27FC236}">
                <a16:creationId xmlns:a16="http://schemas.microsoft.com/office/drawing/2014/main" id="{5C902714-BECB-4D81-9D40-96595245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" y="1280446"/>
            <a:ext cx="1945481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6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Shape-tuned tile decoder</a:t>
            </a:r>
          </a:p>
        </p:txBody>
      </p:sp>
      <p:sp>
        <p:nvSpPr>
          <p:cNvPr id="29" name="i1[r,:]">
            <a:extLst xmlns:a="http://schemas.openxmlformats.org/drawingml/2006/main">
              <a:ext uri="{FF2B5EF4-FFF2-40B4-BE49-F238E27FC236}">
                <a16:creationId xmlns:a16="http://schemas.microsoft.com/office/drawing/2014/main" id="{14FC6047-FE99-486B-9A70-DB122212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81" y="1481138"/>
            <a:ext cx="798671" cy="131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i1[r,:]</a:t>
            </a:r>
          </a:p>
        </p:txBody>
      </p:sp>
      <p:sp>
        <p:nvSpPr>
          <p:cNvPr id="30" name="i2[r,:]">
            <a:extLst xmlns:a="http://schemas.openxmlformats.org/drawingml/2006/main">
              <a:ext uri="{FF2B5EF4-FFF2-40B4-BE49-F238E27FC236}">
                <a16:creationId xmlns:a16="http://schemas.microsoft.com/office/drawing/2014/main" id="{6850E798-B2A8-4027-AB04-FECD596A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81" y="1665446"/>
            <a:ext cx="798671" cy="131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i2[r,:]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49F455-EAAA-4C4C-8721-C2D48FB2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51" y="2009489"/>
            <a:ext cx="108537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6D9DA7-B40A-4D54-816C-A35C8584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89" y="2009489"/>
            <a:ext cx="108537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D23B71-F5EF-4D60-8A20-F3C6E273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26" y="2009489"/>
            <a:ext cx="108537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DE8D73-F31A-4B70-A927-F0E2DD32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163" y="2009489"/>
            <a:ext cx="108537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C1[i1]">
            <a:extLst xmlns:a="http://schemas.openxmlformats.org/drawingml/2006/main">
              <a:ext uri="{FF2B5EF4-FFF2-40B4-BE49-F238E27FC236}">
                <a16:creationId xmlns:a16="http://schemas.microsoft.com/office/drawing/2014/main" id="{4F4DF95C-28A0-4E19-AB3A-F0F43CC9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51" y="1886617"/>
            <a:ext cx="434150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C1[i1]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6F42F8-B9DC-4295-ACC7-EBA2E1EF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51" y="2009489"/>
            <a:ext cx="434150" cy="122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50D54B-B7AC-4D43-B05E-21DA5375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254" y="2009489"/>
            <a:ext cx="108537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B775C8-C4C3-4206-AEB0-A7B8E4F5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92" y="2009489"/>
            <a:ext cx="108537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7B315C-2465-4061-A356-9D588FC3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329" y="2009489"/>
            <a:ext cx="108537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720349-F3E5-4D32-9CA0-0F7B7BA8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866" y="2009489"/>
            <a:ext cx="108537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1" name="C2[i2]">
            <a:extLst xmlns:a="http://schemas.openxmlformats.org/drawingml/2006/main">
              <a:ext uri="{FF2B5EF4-FFF2-40B4-BE49-F238E27FC236}">
                <a16:creationId xmlns:a16="http://schemas.microsoft.com/office/drawing/2014/main" id="{4721E3A4-8456-439A-BF6B-DAED1C54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254" y="1886617"/>
            <a:ext cx="434150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C2[i2]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83A98F-F3BE-4168-A9FE-3C85FC28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254" y="2009489"/>
            <a:ext cx="434150" cy="122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7DA687-15A1-4680-83C7-15B95A53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3" y="2197894"/>
            <a:ext cx="155639" cy="1556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74">
                <a:solidFill>
                  <a:srgbClr val="18222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4" name="2ᵉ&#10;B32 exp.">
            <a:extLst xmlns:a="http://schemas.openxmlformats.org/drawingml/2006/main">
              <a:ext uri="{FF2B5EF4-FFF2-40B4-BE49-F238E27FC236}">
                <a16:creationId xmlns:a16="http://schemas.microsoft.com/office/drawing/2014/main" id="{168E9159-65A7-4219-A50E-C136E244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138" y="1587627"/>
            <a:ext cx="327660" cy="262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2ᵉ</a:t>
            </a:r>
          </a:p>
          <a:p xmlns:a="http://schemas.openxmlformats.org/drawingml/2006/main"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B32 exp.</a:t>
            </a:r>
          </a:p>
        </p:txBody>
      </p:sp>
      <p:sp>
        <p:nvSpPr>
          <p:cNvPr id="45" name="gᵣ&#10;row gain">
            <a:extLst xmlns:a="http://schemas.openxmlformats.org/drawingml/2006/main">
              <a:ext uri="{FF2B5EF4-FFF2-40B4-BE49-F238E27FC236}">
                <a16:creationId xmlns:a16="http://schemas.microsoft.com/office/drawing/2014/main" id="{3D79DA60-34D0-4644-B04D-49A721F4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096" y="1587627"/>
            <a:ext cx="389096" cy="262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gᵣ</a:t>
            </a:r>
          </a:p>
          <a:p xmlns:a="http://schemas.openxmlformats.org/drawingml/2006/main"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row gain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88B230-2F19-469B-B512-5719D942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638" y="2206085"/>
            <a:ext cx="151543" cy="151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74">
                <a:solidFill>
                  <a:srgbClr val="18222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A85201-F69E-463E-951A-6DAA8F61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192" y="2210181"/>
            <a:ext cx="96250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1CA495-D08E-4F31-98F8-19B26259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442" y="2210181"/>
            <a:ext cx="96250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565637-BFCE-4EA5-8251-4375119E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692" y="2210181"/>
            <a:ext cx="96250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22357B-DCDF-41B1-863C-C2ACCD9B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942" y="2210181"/>
            <a:ext cx="96250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AD1024-F4B8-4A4E-BB58-FE84EB5F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192" y="2210181"/>
            <a:ext cx="385001" cy="122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2" name="Ŵ = BF16[gᵣ 2ᵉ (C1[i1] + C2[i2])]">
            <a:extLst xmlns:a="http://schemas.openxmlformats.org/drawingml/2006/main">
              <a:ext uri="{FF2B5EF4-FFF2-40B4-BE49-F238E27FC236}">
                <a16:creationId xmlns:a16="http://schemas.microsoft.com/office/drawing/2014/main" id="{E7A3E5A7-CE41-4E8F-A830-01BCC391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98" y="2443639"/>
            <a:ext cx="2129790" cy="143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 = BF16[gᵣ 2ᵉ (C1[i1] + C2[i2])]</a:t>
            </a:r>
          </a:p>
        </p:txBody>
      </p:sp>
      <p:sp>
        <p:nvSpPr>
          <p:cNvPr id="53" name="Shared BF16 weight scratch&#10;Global memory • one layer • stabl">
            <a:extLst xmlns:a="http://schemas.openxmlformats.org/drawingml/2006/main">
              <a:ext uri="{FF2B5EF4-FFF2-40B4-BE49-F238E27FC236}">
                <a16:creationId xmlns:a16="http://schemas.microsoft.com/office/drawing/2014/main" id="{7E3CC976-4B74-4220-A59B-BD8A2711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07" y="2660714"/>
            <a:ext cx="2133886" cy="266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Shared BF16 weight scratch</a:t>
            </a:r>
          </a:p>
          <a:p xmlns:a="http://schemas.openxmlformats.org/drawingml/2006/main"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Global memory • one layer • stable address</a:t>
            </a:r>
          </a:p>
        </p:txBody>
      </p: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F69A05-0A99-46E3-9688-E11E8F20207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8158" y="3037523"/>
            <a:ext cx="2252663" cy="0"/>
          </a:xfrm>
          <a:prstGeom xmlns:a="http://schemas.openxmlformats.org/drawingml/2006/main" prst="straightConnector1">
            <a:avLst/>
          </a:prstGeom>
          <a:ln xmlns:a="http://schemas.openxmlformats.org/drawingml/2006/main" w="3277">
            <a:solidFill>
              <a:srgbClr val="697681"/>
            </a:solidFill>
            <a:prstDash val="dash"/>
          </a:ln>
        </p:spPr>
      </p:cxnSp>
      <p:sp>
        <p:nvSpPr>
          <p:cNvPr id="55" name="Activation pathway (per input X)">
            <a:extLst xmlns:a="http://schemas.openxmlformats.org/drawingml/2006/main">
              <a:ext uri="{FF2B5EF4-FFF2-40B4-BE49-F238E27FC236}">
                <a16:creationId xmlns:a16="http://schemas.microsoft.com/office/drawing/2014/main" id="{A677A35E-0E51-49E3-A979-5FE5830D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28" y="3082576"/>
            <a:ext cx="2170748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Activation pathway (per input X)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4BAD531-293B-4A22-A6C0-82614006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" y="3381566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DF4160-78F0-4F28-BF9D-4A7BD21B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68" y="3381566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45001A-EDE0-4E74-90FA-1F8CCDB8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22" y="3381566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EDA2B2-EEB2-48F6-8DAA-83284C61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75" y="3381566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67D247-682F-4726-B6D4-ED9709E2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" y="3381566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CAE7FA-8AC6-467D-88EF-BA6BFCA3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" y="3444367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004FD06-5C79-4B48-BEE9-92756787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68" y="3444367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74D071E-E0DF-4832-A6A8-D592938B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22" y="3444367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6BFCADF-3B66-4EF8-9038-19736BF0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75" y="3444367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CAB9C24-9A40-46A0-ADAB-90449EBA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" y="3444367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5F81632-B971-42E9-86C7-7DE7736F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" y="3507169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6501257-659B-4B5F-A492-2943B547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68" y="3507169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59F1257-DA0A-4EFA-B20D-412736D2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22" y="3507169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15CBC42-E1DC-4A89-8B52-1ABA4E99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75" y="3507169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E4362AE-9EC1-463D-B6DF-11A074CB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" y="3507169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1" name="X">
            <a:extLst xmlns:a="http://schemas.openxmlformats.org/drawingml/2006/main">
              <a:ext uri="{FF2B5EF4-FFF2-40B4-BE49-F238E27FC236}">
                <a16:creationId xmlns:a16="http://schemas.microsoft.com/office/drawing/2014/main" id="{3C490304-FA73-484D-ACE1-8EACBC65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" y="3258693"/>
            <a:ext cx="225266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DBEE6C-D91E-4851-9308-629A04AF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" y="3381566"/>
            <a:ext cx="225266" cy="188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3" name="S⁻¹">
            <a:extLst xmlns:a="http://schemas.openxmlformats.org/drawingml/2006/main">
              <a:ext uri="{FF2B5EF4-FFF2-40B4-BE49-F238E27FC236}">
                <a16:creationId xmlns:a16="http://schemas.microsoft.com/office/drawing/2014/main" id="{CD6F4DD8-BFB5-488B-B124-DFAC0E4A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05" y="3340608"/>
            <a:ext cx="196596" cy="2252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S⁻¹</a:t>
            </a:r>
          </a:p>
        </p:txBody>
      </p:sp>
      <p:sp>
        <p:nvSpPr>
          <p:cNvPr id="74" name="H128">
            <a:extLst xmlns:a="http://schemas.openxmlformats.org/drawingml/2006/main">
              <a:ext uri="{FF2B5EF4-FFF2-40B4-BE49-F238E27FC236}">
                <a16:creationId xmlns:a16="http://schemas.microsoft.com/office/drawing/2014/main" id="{9048F093-AEC4-46D3-A464-E77DBA57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33" y="3340608"/>
            <a:ext cx="241649" cy="2252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1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75" name="U128">
            <a:extLst xmlns:a="http://schemas.openxmlformats.org/drawingml/2006/main">
              <a:ext uri="{FF2B5EF4-FFF2-40B4-BE49-F238E27FC236}">
                <a16:creationId xmlns:a16="http://schemas.microsoft.com/office/drawing/2014/main" id="{DF6873D8-BA18-4ADD-9C3C-722C61EF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318" y="3340608"/>
            <a:ext cx="241649" cy="2252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1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76" name="round /&#10;clamp A4">
            <a:extLst xmlns:a="http://schemas.openxmlformats.org/drawingml/2006/main">
              <a:ext uri="{FF2B5EF4-FFF2-40B4-BE49-F238E27FC236}">
                <a16:creationId xmlns:a16="http://schemas.microsoft.com/office/drawing/2014/main" id="{132EFCFD-B6DC-4DE8-AA8B-8B725EA3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499" y="3340608"/>
            <a:ext cx="335852" cy="2252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round /</a:t>
            </a:r>
          </a:p>
          <a:p xmlns:a="http://schemas.openxmlformats.org/drawingml/2006/main">
            <a: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clamp A4</a:t>
            </a:r>
          </a:p>
        </p:txBody>
      </p:sp>
      <p:sp>
        <p:nvSpPr>
          <p:cNvPr id="77" name="dequantize&#10;BF16">
            <a:extLst xmlns:a="http://schemas.openxmlformats.org/drawingml/2006/main">
              <a:ext uri="{FF2B5EF4-FFF2-40B4-BE49-F238E27FC236}">
                <a16:creationId xmlns:a16="http://schemas.microsoft.com/office/drawing/2014/main" id="{E29E2BC6-5D7A-46FB-9DD3-444E5EA5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787" y="3340608"/>
            <a:ext cx="409575" cy="2252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dequantize</a:t>
            </a:r>
          </a:p>
          <a:p xmlns:a="http://schemas.openxmlformats.org/drawingml/2006/main">
            <a: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BF16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4CB7AFB-0B7A-4B5C-8884-BF38F864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607" y="3369278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A2AFDE2-2048-4BDE-AEF4-F63CFCBC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588" y="3369278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B579088-3B4D-44ED-9CC2-3AD129DE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570" y="3369278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5043C5D-DFDA-4B12-BA8A-26B61602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551" y="3369278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4C738D7-82C5-4230-AE0B-E290E84F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607" y="3432080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8595E93-D004-499C-A5EB-3EB0F712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588" y="3432080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EDA2461-3C3A-40F3-B387-31B7E9E0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570" y="3432080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DA193E3-3475-4323-AD85-4155ACA2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551" y="3432080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61491A4-5D41-4009-A067-9DD2AB29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607" y="3494881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0AA7B56-022C-4C17-9AE1-63437CD9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588" y="3494881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706E709-11B8-4BDB-B45D-D66DCDE3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570" y="3494881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E55668E-C2D4-401F-A23F-A7E92046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551" y="3494881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X̂">
            <a:extLst xmlns:a="http://schemas.openxmlformats.org/drawingml/2006/main">
              <a:ext uri="{FF2B5EF4-FFF2-40B4-BE49-F238E27FC236}">
                <a16:creationId xmlns:a16="http://schemas.microsoft.com/office/drawing/2014/main" id="{E0FFE6AA-F9C5-4056-A55F-C4460231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607" y="3246406"/>
            <a:ext cx="167926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X̂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C39AED9-4B12-47C9-BE7D-7A4E312F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607" y="3369278"/>
            <a:ext cx="167926" cy="188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2" name="FP32 H/U scratch reuses weight buffer&#10;H → U → A4 → decode → ">
            <a:extLst xmlns:a="http://schemas.openxmlformats.org/drawingml/2006/main">
              <a:ext uri="{FF2B5EF4-FFF2-40B4-BE49-F238E27FC236}">
                <a16:creationId xmlns:a16="http://schemas.microsoft.com/office/drawing/2014/main" id="{C2BCD0BB-A8EC-4850-9419-CF1500C5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51" y="3709226"/>
            <a:ext cx="1875854" cy="22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FP32 H/U scratch reuses weight buffer</a:t>
            </a:r>
          </a:p>
          <a:p xmlns:a="http://schemas.openxmlformats.org/drawingml/2006/main"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 → U → A4 → decode → GEMM</a:t>
            </a:r>
          </a:p>
        </p:txBody>
      </p:sp>
      <p:sp>
        <p:nvSpPr>
          <p:cNvPr id="93" name="Compute (GEMM)">
            <a:extLst xmlns:a="http://schemas.openxmlformats.org/drawingml/2006/main">
              <a:ext uri="{FF2B5EF4-FFF2-40B4-BE49-F238E27FC236}">
                <a16:creationId xmlns:a16="http://schemas.microsoft.com/office/drawing/2014/main" id="{E00E23DE-6827-431F-B0D3-C58AF155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28" y="4012311"/>
            <a:ext cx="2170748" cy="122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Compute (GEMM)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C66CFED-E726-43BC-91EF-AE4D2771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94" y="4184333"/>
            <a:ext cx="163830" cy="163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74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5" name="Ŵ (BF16)">
            <a:extLst xmlns:a="http://schemas.openxmlformats.org/drawingml/2006/main">
              <a:ext uri="{FF2B5EF4-FFF2-40B4-BE49-F238E27FC236}">
                <a16:creationId xmlns:a16="http://schemas.microsoft.com/office/drawing/2014/main" id="{E91014FE-116F-45CD-AE64-79D46A1B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" y="4135184"/>
            <a:ext cx="479203" cy="1474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 (BF16)</a:t>
            </a:r>
          </a:p>
        </p:txBody>
      </p:sp>
      <p:sp>
        <p:nvSpPr>
          <p:cNvPr id="96" name="X̂ (BF16)">
            <a:extLst xmlns:a="http://schemas.openxmlformats.org/drawingml/2006/main">
              <a:ext uri="{FF2B5EF4-FFF2-40B4-BE49-F238E27FC236}">
                <a16:creationId xmlns:a16="http://schemas.microsoft.com/office/drawing/2014/main" id="{495F34E9-28A5-43BD-B150-F1BF9E2D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" y="4352258"/>
            <a:ext cx="479203" cy="1474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X̂ (BF16)</a:t>
            </a:r>
          </a:p>
        </p:txBody>
      </p:sp>
      <p:sp>
        <p:nvSpPr>
          <p:cNvPr id="97" name="cuBLAS BF16&#10;GEMM">
            <a:extLst xmlns:a="http://schemas.openxmlformats.org/drawingml/2006/main">
              <a:ext uri="{FF2B5EF4-FFF2-40B4-BE49-F238E27FC236}">
                <a16:creationId xmlns:a16="http://schemas.microsoft.com/office/drawing/2014/main" id="{51CF6BE6-8D13-4334-92C7-3AF76249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765" y="4184333"/>
            <a:ext cx="675799" cy="286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cuBLAS BF16</a:t>
            </a:r>
          </a:p>
          <a:p xmlns:a="http://schemas.openxmlformats.org/drawingml/2006/main"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GEMM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A51D668-5DFD-4873-9B05-49AB86A2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118" y="4237577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9621DA5-BE97-4DE1-9D3E-37ADE53B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67" y="4237577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8047D5E-94ED-4E2D-A1A8-0A905810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416" y="4237577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BB0D4D2-DF17-4AB9-BE99-51409497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565" y="4237577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8856775-4A7F-4BB1-B70D-4C0C997C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714" y="4237577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0C3EA26-3D41-4F39-82BF-EA71C053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118" y="4299014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BB9B874-7A66-4871-B0D0-5C1B26ED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67" y="4299014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A7CB09E-E156-46BE-A1A9-6DFAE934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416" y="4299014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6747051-6C88-4C20-AA70-5C496D4C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565" y="4299014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A4E019E-FD34-4447-B87A-A520A506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714" y="4299014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CE4189A-2263-4FE1-8B61-8CD5F565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118" y="4360450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EDB8D51-5B9B-478B-908D-9816003D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67" y="4360450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4F49EE1-B244-4891-BB3C-0D6D3466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416" y="4360450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5FF46E6-8E38-47A5-B9AA-10413F36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565" y="4360450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A2E78AC-6E9B-4FA8-8ED1-CD1B80A2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714" y="4360450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3" name="Y">
            <a:extLst xmlns:a="http://schemas.openxmlformats.org/drawingml/2006/main">
              <a:ext uri="{FF2B5EF4-FFF2-40B4-BE49-F238E27FC236}">
                <a16:creationId xmlns:a16="http://schemas.microsoft.com/office/drawing/2014/main" id="{DD11DE00-96C8-4F7D-8E2D-8392E6DF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118" y="4114705"/>
            <a:ext cx="245745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A8343B7-6B2C-4853-AA1B-0822408A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118" y="4237577"/>
            <a:ext cx="245745" cy="184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5" name="Current MMA operands: BF16 × BF16">
            <a:extLst xmlns:a="http://schemas.openxmlformats.org/drawingml/2006/main">
              <a:ext uri="{FF2B5EF4-FFF2-40B4-BE49-F238E27FC236}">
                <a16:creationId xmlns:a16="http://schemas.microsoft.com/office/drawing/2014/main" id="{837133EA-31F8-45D8-8B0F-B6C6DEA5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39" y="4524280"/>
            <a:ext cx="1843088" cy="102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709" b="1">
                <a:solidFill>
                  <a:srgbClr val="B96813"/>
                </a:solidFill>
                <a:latin typeface="Arial"/>
                <a:ea typeface="Arial"/>
                <a:cs typeface="Arial"/>
              </a:rPr>
              <a:t>Current MMA operands: BF16 × BF16</a:t>
            </a:r>
          </a:p>
        </p:txBody>
      </p:sp>
      <p:sp>
        <p:nvSpPr>
          <p:cNvPr id="116" name="(c) Query execution schedule">
            <a:extLst xmlns:a="http://schemas.openxmlformats.org/drawingml/2006/main">
              <a:ext uri="{FF2B5EF4-FFF2-40B4-BE49-F238E27FC236}">
                <a16:creationId xmlns:a16="http://schemas.microsoft.com/office/drawing/2014/main" id="{D974AFB8-5C4C-4779-9709-F5EB2F80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208" y="896779"/>
            <a:ext cx="1925003" cy="143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71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(c) Query execution schedule</a:t>
            </a:r>
          </a:p>
        </p:txBody>
      </p:sp>
      <p:cxnSp>
        <p:nvCxn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0F342E4-D23F-49A9-BA0D-7C9D3A6F4A7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76016" y="1060609"/>
            <a:ext cx="1941386" cy="0"/>
          </a:xfrm>
          <a:prstGeom xmlns:a="http://schemas.openxmlformats.org/drawingml/2006/main" prst="straightConnector1">
            <a:avLst/>
          </a:prstGeom>
          <a:ln xmlns:a="http://schemas.openxmlformats.org/drawingml/2006/main" w="3277">
            <a:solidFill>
              <a:srgbClr val="697681"/>
            </a:solidFill>
            <a:prstDash val="solid"/>
          </a:ln>
        </p:spPr>
      </p:cxnSp>
      <p:sp>
        <p:nvSpPr>
          <p:cNvPr id="118" name="Prepared GPU datum (single query)">
            <a:extLst xmlns:a="http://schemas.openxmlformats.org/drawingml/2006/main">
              <a:ext uri="{FF2B5EF4-FFF2-40B4-BE49-F238E27FC236}">
                <a16:creationId xmlns:a16="http://schemas.microsoft.com/office/drawing/2014/main" id="{0C6DDBC3-842B-4D3D-8D67-88823975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686" y="1109758"/>
            <a:ext cx="1884045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Prepared GPU datum (single query)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A7E693E-6AE6-4472-90B2-BFDFDB3D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57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0594C03-15AA-406A-9F44-2C3675B4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458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C5776D3-2D31-4E80-ACA9-90F3079D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559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CAB604C-E8E8-4D57-AF87-E12F7445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660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BD63F26-DB38-4265-A4A1-49337FCE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761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477F6E9-232F-4398-B58C-65E3D545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862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7D8AD64-E03F-4E07-ADC4-2FA496E7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963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9A12040-E965-4BD1-86E5-0C25E0C6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064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DF21D86-A410-45D4-BC31-0CFFF514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57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54195E5-FA41-4487-B57D-63213AF3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458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0528FF2-D584-4ACF-96C5-28E3CC5C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559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0EEF241-3E74-41B9-ADC9-4EADB34C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660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637EE9C-DC2D-44B6-A1D3-7E425C8B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761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A0AAD29-AC3F-4610-BB04-B116B21E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862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D628898-5741-4D9F-8553-47174366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963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DB3575D-A91E-45E0-B09A-4BC46F92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064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4E36317-0F3C-4CDA-AA00-942D6CD0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57" y="1351407"/>
            <a:ext cx="376809" cy="94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6" name="video latent">
            <a:extLst xmlns:a="http://schemas.openxmlformats.org/drawingml/2006/main">
              <a:ext uri="{FF2B5EF4-FFF2-40B4-BE49-F238E27FC236}">
                <a16:creationId xmlns:a16="http://schemas.microsoft.com/office/drawing/2014/main" id="{0C4D23B8-9904-469D-B3AF-BCE11DD0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974" y="1236726"/>
            <a:ext cx="430054" cy="98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 latent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9EEEF5F-7A79-4BEE-B501-B8D78438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559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5FDFE17-945B-4D2E-B6C3-1BA4A176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660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222A575-AA9D-481D-B767-BE0A3CEC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761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AF68717-CEE1-4FFD-BB64-7FE2D308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63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818CE29-E410-454F-961F-7BBC9EC3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964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D311505-D24E-4452-A5C8-18F5593E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065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04D4841-7FB2-44EA-A50F-9AE598A1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D748868-DA1C-44F5-8535-85230317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267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46C3141-69BB-409B-850C-0A83AB3F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559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80A9EBA-8D96-4FC7-B115-0254F8D7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660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7C32CF9-465A-4BD0-A346-77449665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761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CAC2479-E169-400F-9D17-14BA507C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63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2DFE2BF-3B8D-4054-9BAD-4EDF3E97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964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9F83D39-9B00-49BF-B9F7-FD1657A8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065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F8AE5F0-D2DA-4169-9AF3-411BE9E5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CF1AC84-2061-4329-950C-DF09A18C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267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459AA2F-64F6-4015-BCD3-1EA6298A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559" y="1351407"/>
            <a:ext cx="376809" cy="94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4" name="action">
            <a:extLst xmlns:a="http://schemas.openxmlformats.org/drawingml/2006/main">
              <a:ext uri="{FF2B5EF4-FFF2-40B4-BE49-F238E27FC236}">
                <a16:creationId xmlns:a16="http://schemas.microsoft.com/office/drawing/2014/main" id="{DD6924F9-6D3C-4E7D-B6A6-A04255FC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176" y="1236726"/>
            <a:ext cx="430054" cy="98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BA7C372-8F87-4B6D-BDED-BAF5FD5D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762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2F165AD-39B6-4BF8-AD58-BAF07119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863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C3A1856-BB63-4216-A085-6FC1DB43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964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1530672-3FED-45A6-81E6-9CF2A307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065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7CEB9AF-0B94-47BD-8CE9-C455AEC1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167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75F6709-170F-4E8D-9C9A-4358DA8A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68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7112A46-4790-47A2-9F82-31241A60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369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9811520-E72F-46C2-BA02-B1D6063C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470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0943257-1E64-4D31-9274-F6531775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762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F20124A-C904-4EFE-AF52-E52E01E4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863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19B16FD-018B-486B-99FD-902DACC1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964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2A093DE-FC65-448E-A264-ACA1F6D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065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C2AC29A-4509-4997-8D99-4CC42E91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167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25C4A41-1A71-4516-AD83-82030FE9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68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D311B0A-98E4-433A-8CD8-E60C79C9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369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C309C7F-72F9-420A-BA05-30E31E97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470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39E0100-B154-4BD2-BF06-57981082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762" y="1351407"/>
            <a:ext cx="376809" cy="94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2" name="T5 input">
            <a:extLst xmlns:a="http://schemas.openxmlformats.org/drawingml/2006/main">
              <a:ext uri="{FF2B5EF4-FFF2-40B4-BE49-F238E27FC236}">
                <a16:creationId xmlns:a16="http://schemas.microsoft.com/office/drawing/2014/main" id="{11B31CA2-EDFE-4013-8C83-F812EEAE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379" y="1236726"/>
            <a:ext cx="430054" cy="98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T5 input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3FCD9EE-36E2-4476-8A66-417548B9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965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EA87DC2-3258-4681-B0FF-C0190084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66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D69A426-845E-4B0F-A228-C047DE97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167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9F921A0-0D8F-483E-83F4-A5BEE3E3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268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A48926B-8F43-424A-99D5-56017B5C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369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855BDB6-6909-4695-A19D-3107CE17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470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1CE7154-9D6E-478B-BE36-E4129D55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571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8A37F99F-0D91-4101-AE19-F782CF6E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73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3EF84D4-B198-4FFC-B51E-A71CFC20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965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35E8B04-9383-45DD-8861-2ADD1F6B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66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7AC74BC-B9B9-4392-9DA9-DB1DC51B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167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3C11F064-DE0B-4A20-8A04-05118743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268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8C8D1103-DB18-49F0-9BE3-1414A0CE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369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1528EC44-8AE3-4BF4-8FB1-DD34280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470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01FEB45-4FFB-4B82-978C-29527356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571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EA4679B-85D7-48B2-9C88-25B5786E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73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CDE4B5F-0069-4847-952A-AD6E4B46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965" y="1351407"/>
            <a:ext cx="376809" cy="94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0" name="other cond.">
            <a:extLst xmlns:a="http://schemas.openxmlformats.org/drawingml/2006/main">
              <a:ext uri="{FF2B5EF4-FFF2-40B4-BE49-F238E27FC236}">
                <a16:creationId xmlns:a16="http://schemas.microsoft.com/office/drawing/2014/main" id="{619B307B-CA5F-4C58-92CD-5606246D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582" y="1236726"/>
            <a:ext cx="430054" cy="98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other cond.</a:t>
            </a:r>
          </a:p>
        </p:txBody>
      </p:sp>
      <p:sp>
        <p:nvSpPr>
          <p:cNvPr id="191" name="Condition-cache setup (per query)&#10;Run T5, cache projections ">
            <a:extLst xmlns:a="http://schemas.openxmlformats.org/drawingml/2006/main">
              <a:ext uri="{FF2B5EF4-FFF2-40B4-BE49-F238E27FC236}">
                <a16:creationId xmlns:a16="http://schemas.microsoft.com/office/drawing/2014/main" id="{D6AFA003-2619-4222-882B-1A701F07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878" y="1597152"/>
            <a:ext cx="1867662" cy="2785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09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Condition-cache setup (per query)</a:t>
            </a:r>
          </a:p>
          <a:p xmlns:a="http://schemas.openxmlformats.org/drawingml/2006/main">
            <a: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09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Run T5, cache projections and K/V</a:t>
            </a:r>
          </a:p>
        </p:txBody>
      </p:sp>
      <p:sp>
        <p:nvSpPr>
          <p:cNvPr id="192" name="CUDA Graph execution">
            <a:extLst xmlns:a="http://schemas.openxmlformats.org/drawingml/2006/main">
              <a:ext uri="{FF2B5EF4-FFF2-40B4-BE49-F238E27FC236}">
                <a16:creationId xmlns:a16="http://schemas.microsoft.com/office/drawing/2014/main" id="{BF971061-121F-407C-A6BB-091DA5FC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686" y="1994440"/>
            <a:ext cx="1884045" cy="126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74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CUDA Graph execution</a:t>
            </a:r>
          </a:p>
        </p:txBody>
      </p:sp>
      <p:sp>
        <p:nvSpPr>
          <p:cNvPr id="193" name="video_step">
            <a:extLst xmlns:a="http://schemas.openxmlformats.org/drawingml/2006/main">
              <a:ext uri="{FF2B5EF4-FFF2-40B4-BE49-F238E27FC236}">
                <a16:creationId xmlns:a16="http://schemas.microsoft.com/office/drawing/2014/main" id="{218C56DD-5412-457B-8026-83A69BA7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165" y="2191036"/>
            <a:ext cx="567690" cy="196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video_step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C0A4AAB-7CF5-438D-8506-085AC263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751" y="2199227"/>
            <a:ext cx="1290161" cy="151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5" name="1">
            <a:extLst xmlns:a="http://schemas.openxmlformats.org/drawingml/2006/main">
              <a:ext uri="{FF2B5EF4-FFF2-40B4-BE49-F238E27FC236}">
                <a16:creationId xmlns:a16="http://schemas.microsoft.com/office/drawing/2014/main" id="{4560ECE9-D222-4DB2-86DD-7567E7C9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134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6" name="2">
            <a:extLst xmlns:a="http://schemas.openxmlformats.org/drawingml/2006/main">
              <a:ext uri="{FF2B5EF4-FFF2-40B4-BE49-F238E27FC236}">
                <a16:creationId xmlns:a16="http://schemas.microsoft.com/office/drawing/2014/main" id="{C5B9293A-5B15-4591-98CE-A22C0066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06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7" name="3">
            <a:extLst xmlns:a="http://schemas.openxmlformats.org/drawingml/2006/main">
              <a:ext uri="{FF2B5EF4-FFF2-40B4-BE49-F238E27FC236}">
                <a16:creationId xmlns:a16="http://schemas.microsoft.com/office/drawing/2014/main" id="{F995DDF3-4BF0-4BFB-BCF0-C4ADBD09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879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8" name="4">
            <a:extLst xmlns:a="http://schemas.openxmlformats.org/drawingml/2006/main">
              <a:ext uri="{FF2B5EF4-FFF2-40B4-BE49-F238E27FC236}">
                <a16:creationId xmlns:a16="http://schemas.microsoft.com/office/drawing/2014/main" id="{73616F6E-B4F6-4834-AD94-5AD780A0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751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9" name="5">
            <a:extLst xmlns:a="http://schemas.openxmlformats.org/drawingml/2006/main">
              <a:ext uri="{FF2B5EF4-FFF2-40B4-BE49-F238E27FC236}">
                <a16:creationId xmlns:a16="http://schemas.microsoft.com/office/drawing/2014/main" id="{02C3A29B-4151-4674-B06A-B05A2B5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624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0" name="6">
            <a:extLst xmlns:a="http://schemas.openxmlformats.org/drawingml/2006/main">
              <a:ext uri="{FF2B5EF4-FFF2-40B4-BE49-F238E27FC236}">
                <a16:creationId xmlns:a16="http://schemas.microsoft.com/office/drawing/2014/main" id="{C42A7355-9F74-4C59-93FF-35A1EA75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496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1" name="7">
            <a:extLst xmlns:a="http://schemas.openxmlformats.org/drawingml/2006/main">
              <a:ext uri="{FF2B5EF4-FFF2-40B4-BE49-F238E27FC236}">
                <a16:creationId xmlns:a16="http://schemas.microsoft.com/office/drawing/2014/main" id="{F37FC142-A057-42DE-80AF-E0BA43EC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369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02" name="8">
            <a:extLst xmlns:a="http://schemas.openxmlformats.org/drawingml/2006/main">
              <a:ext uri="{FF2B5EF4-FFF2-40B4-BE49-F238E27FC236}">
                <a16:creationId xmlns:a16="http://schemas.microsoft.com/office/drawing/2014/main" id="{DD4F1626-5B7C-4F39-A48C-269E0F9C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241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03" name="9">
            <a:extLst xmlns:a="http://schemas.openxmlformats.org/drawingml/2006/main">
              <a:ext uri="{FF2B5EF4-FFF2-40B4-BE49-F238E27FC236}">
                <a16:creationId xmlns:a16="http://schemas.microsoft.com/office/drawing/2014/main" id="{0A18747A-FFFD-4D77-8440-BA164822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114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04" name="10">
            <a:extLst xmlns:a="http://schemas.openxmlformats.org/drawingml/2006/main">
              <a:ext uri="{FF2B5EF4-FFF2-40B4-BE49-F238E27FC236}">
                <a16:creationId xmlns:a16="http://schemas.microsoft.com/office/drawing/2014/main" id="{23672896-49F5-4F70-813D-DA77363A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986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05" name="×10">
            <a:extLst xmlns:a="http://schemas.openxmlformats.org/drawingml/2006/main">
              <a:ext uri="{FF2B5EF4-FFF2-40B4-BE49-F238E27FC236}">
                <a16:creationId xmlns:a16="http://schemas.microsoft.com/office/drawing/2014/main" id="{316790EA-C539-47B2-863F-5A035D64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242" y="2203323"/>
            <a:ext cx="143351" cy="147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×10</a:t>
            </a:r>
          </a:p>
        </p:txBody>
      </p:sp>
      <p:sp>
        <p:nvSpPr>
          <p:cNvPr id="206" name="decode  |  GEMM  |  attention">
            <a:extLst xmlns:a="http://schemas.openxmlformats.org/drawingml/2006/main">
              <a:ext uri="{FF2B5EF4-FFF2-40B4-BE49-F238E27FC236}">
                <a16:creationId xmlns:a16="http://schemas.microsoft.com/office/drawing/2014/main" id="{7A2E7794-E868-44B6-84A4-EDCB94EE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261" y="2535079"/>
            <a:ext cx="1417130" cy="139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decode  |  GEMM  |  attention</a:t>
            </a:r>
          </a:p>
        </p:txBody>
      </p:sp>
      <p:sp>
        <p:nvSpPr>
          <p:cNvPr id="207" name="video_prefill">
            <a:extLst xmlns:a="http://schemas.openxmlformats.org/drawingml/2006/main">
              <a:ext uri="{FF2B5EF4-FFF2-40B4-BE49-F238E27FC236}">
                <a16:creationId xmlns:a16="http://schemas.microsoft.com/office/drawing/2014/main" id="{9E41483D-64DA-48E8-B048-F99B6DCB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165" y="2821781"/>
            <a:ext cx="567690" cy="196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video_prefill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15A79261-1ECB-495A-88C1-648BC414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751" y="2829973"/>
            <a:ext cx="1290161" cy="151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9" name="1">
            <a:extLst xmlns:a="http://schemas.openxmlformats.org/drawingml/2006/main">
              <a:ext uri="{FF2B5EF4-FFF2-40B4-BE49-F238E27FC236}">
                <a16:creationId xmlns:a16="http://schemas.microsoft.com/office/drawing/2014/main" id="{73D1BEA6-90BE-4804-8E23-C3DE3E87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134" y="2842260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0" name="×1">
            <a:extLst xmlns:a="http://schemas.openxmlformats.org/drawingml/2006/main">
              <a:ext uri="{FF2B5EF4-FFF2-40B4-BE49-F238E27FC236}">
                <a16:creationId xmlns:a16="http://schemas.microsoft.com/office/drawing/2014/main" id="{79340516-DFBE-4708-A955-89BC95B8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242" y="2834068"/>
            <a:ext cx="143351" cy="147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</a:t>
            </a:r>
          </a:p>
        </p:txBody>
      </p:sp>
      <p:sp>
        <p:nvSpPr>
          <p:cNvPr id="211" name="action_step">
            <a:extLst xmlns:a="http://schemas.openxmlformats.org/drawingml/2006/main">
              <a:ext uri="{FF2B5EF4-FFF2-40B4-BE49-F238E27FC236}">
                <a16:creationId xmlns:a16="http://schemas.microsoft.com/office/drawing/2014/main" id="{7150D410-5370-43E8-AFF1-9EFA315D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165" y="3112579"/>
            <a:ext cx="567690" cy="196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action_step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DCF9956-288D-4B51-826B-3AE1D6A3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751" y="3120771"/>
            <a:ext cx="1290161" cy="151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3" name="1">
            <a:extLst xmlns:a="http://schemas.openxmlformats.org/drawingml/2006/main">
              <a:ext uri="{FF2B5EF4-FFF2-40B4-BE49-F238E27FC236}">
                <a16:creationId xmlns:a16="http://schemas.microsoft.com/office/drawing/2014/main" id="{A05EF3AE-5077-4697-A22F-B6578A41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134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4" name="2">
            <a:extLst xmlns:a="http://schemas.openxmlformats.org/drawingml/2006/main">
              <a:ext uri="{FF2B5EF4-FFF2-40B4-BE49-F238E27FC236}">
                <a16:creationId xmlns:a16="http://schemas.microsoft.com/office/drawing/2014/main" id="{4269024E-44C3-485A-AF99-A37141B4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06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5" name="3">
            <a:extLst xmlns:a="http://schemas.openxmlformats.org/drawingml/2006/main">
              <a:ext uri="{FF2B5EF4-FFF2-40B4-BE49-F238E27FC236}">
                <a16:creationId xmlns:a16="http://schemas.microsoft.com/office/drawing/2014/main" id="{DDBB3933-88E7-47B3-933B-F42085B2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879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6" name="4">
            <a:extLst xmlns:a="http://schemas.openxmlformats.org/drawingml/2006/main">
              <a:ext uri="{FF2B5EF4-FFF2-40B4-BE49-F238E27FC236}">
                <a16:creationId xmlns:a16="http://schemas.microsoft.com/office/drawing/2014/main" id="{70BB1AFC-3B2F-4D3C-BD6B-CCB4C0E7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751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7" name="5">
            <a:extLst xmlns:a="http://schemas.openxmlformats.org/drawingml/2006/main">
              <a:ext uri="{FF2B5EF4-FFF2-40B4-BE49-F238E27FC236}">
                <a16:creationId xmlns:a16="http://schemas.microsoft.com/office/drawing/2014/main" id="{8F62242B-BE46-49C5-B22D-6A40E181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624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8" name="6">
            <a:extLst xmlns:a="http://schemas.openxmlformats.org/drawingml/2006/main">
              <a:ext uri="{FF2B5EF4-FFF2-40B4-BE49-F238E27FC236}">
                <a16:creationId xmlns:a16="http://schemas.microsoft.com/office/drawing/2014/main" id="{6C6DC703-5BBC-4B34-BC79-19141C44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496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9" name="7">
            <a:extLst xmlns:a="http://schemas.openxmlformats.org/drawingml/2006/main">
              <a:ext uri="{FF2B5EF4-FFF2-40B4-BE49-F238E27FC236}">
                <a16:creationId xmlns:a16="http://schemas.microsoft.com/office/drawing/2014/main" id="{21D72700-2EF3-43A8-ADF9-2EC14EA4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369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20" name="8">
            <a:extLst xmlns:a="http://schemas.openxmlformats.org/drawingml/2006/main">
              <a:ext uri="{FF2B5EF4-FFF2-40B4-BE49-F238E27FC236}">
                <a16:creationId xmlns:a16="http://schemas.microsoft.com/office/drawing/2014/main" id="{DDD45031-1539-4DC3-A735-D5042A8E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241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21" name="9">
            <a:extLst xmlns:a="http://schemas.openxmlformats.org/drawingml/2006/main">
              <a:ext uri="{FF2B5EF4-FFF2-40B4-BE49-F238E27FC236}">
                <a16:creationId xmlns:a16="http://schemas.microsoft.com/office/drawing/2014/main" id="{D3E3D35F-8C15-4BC8-964D-F11AD88F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114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22" name="10">
            <a:extLst xmlns:a="http://schemas.openxmlformats.org/drawingml/2006/main">
              <a:ext uri="{FF2B5EF4-FFF2-40B4-BE49-F238E27FC236}">
                <a16:creationId xmlns:a16="http://schemas.microsoft.com/office/drawing/2014/main" id="{0E66E920-7209-4B73-BAAC-4A1B5249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986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23" name="×10">
            <a:extLst xmlns:a="http://schemas.openxmlformats.org/drawingml/2006/main">
              <a:ext uri="{FF2B5EF4-FFF2-40B4-BE49-F238E27FC236}">
                <a16:creationId xmlns:a16="http://schemas.microsoft.com/office/drawing/2014/main" id="{828EB85A-E6FB-4A62-B935-752C5DD9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242" y="3124867"/>
            <a:ext cx="143351" cy="147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×10</a:t>
            </a:r>
          </a:p>
        </p:txBody>
      </p:sp>
      <p:sp>
        <p:nvSpPr>
          <p:cNvPr id="224" name="decode  |  GEMM  |  attention">
            <a:extLst xmlns:a="http://schemas.openxmlformats.org/drawingml/2006/main">
              <a:ext uri="{FF2B5EF4-FFF2-40B4-BE49-F238E27FC236}">
                <a16:creationId xmlns:a16="http://schemas.microsoft.com/office/drawing/2014/main" id="{A48CF247-79CF-44EB-98D1-BA24DD1F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261" y="3460718"/>
            <a:ext cx="1417130" cy="139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decode  |  GEMM  |  attention</a:t>
            </a:r>
          </a:p>
        </p:txBody>
      </p:sp>
      <p:sp>
        <p:nvSpPr>
          <p:cNvPr id="225" name="5,258 target Linear calls / query">
            <a:extLst xmlns:a="http://schemas.openxmlformats.org/drawingml/2006/main">
              <a:ext uri="{FF2B5EF4-FFF2-40B4-BE49-F238E27FC236}">
                <a16:creationId xmlns:a16="http://schemas.microsoft.com/office/drawing/2014/main" id="{C5D1394A-0F10-4CDD-B837-5143ECDC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123" y="3726942"/>
            <a:ext cx="1802130" cy="143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74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5,258 target Linear calls / query</a:t>
            </a:r>
          </a:p>
        </p:txBody>
      </p:sp>
      <p:sp>
        <p:nvSpPr>
          <p:cNvPr id="226" name="10 video + 1 prefill + 10 action replays">
            <a:extLst xmlns:a="http://schemas.openxmlformats.org/drawingml/2006/main">
              <a:ext uri="{FF2B5EF4-FFF2-40B4-BE49-F238E27FC236}">
                <a16:creationId xmlns:a16="http://schemas.microsoft.com/office/drawing/2014/main" id="{11157A06-CF5F-4A83-82B5-F28A922E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644" y="3870293"/>
            <a:ext cx="1843088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581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10 video + 1 prefill + 10 action replays</a:t>
            </a:r>
          </a:p>
        </p:txBody>
      </p:sp>
      <p:sp>
        <p:nvSpPr>
          <p:cNvPr id="227" name="Outputs">
            <a:extLst xmlns:a="http://schemas.openxmlformats.org/drawingml/2006/main">
              <a:ext uri="{FF2B5EF4-FFF2-40B4-BE49-F238E27FC236}">
                <a16:creationId xmlns:a16="http://schemas.microsoft.com/office/drawing/2014/main" id="{37B1639C-461F-411B-A3A5-EEF21511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878" y="4062794"/>
            <a:ext cx="1843088" cy="118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26A41611-F394-427D-AB44-AED95831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601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8FC25D7E-1081-49D1-9E63-EA05CB56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639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CE9D00D-4E94-48FB-B4E6-B68B59EF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676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3D52F686-AF44-472B-BA6E-CDB0DE8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713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2720024-3A73-43A6-A878-B76660E0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751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BF38B1ED-B07A-488A-B629-9F6DB7F4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788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26A16BB-7CDD-4065-BFCD-49C481E1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825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169D134-6A33-4403-9821-9B9ABB5B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863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7DEDC20C-13C9-4FD5-9A7C-529CB5DE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900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99A7D891-9905-4D56-8A17-9F87408F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937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2F058D62-B81E-4169-B6E8-CF2D1A4A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601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E9D00EFB-F1F5-42B6-A179-1B68C9D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639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4767ABAD-1D43-4B83-B07F-B86B3446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676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018299B-B24B-4A43-BC38-4136782C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713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9D762119-E78F-4153-8BB1-4168DF41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751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879A03A-F546-4AD8-8095-CFA0A1B0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788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F174D11-6828-4FB2-A8AA-9F5F613A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825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00A10207-BEB2-4A3E-BEFD-E2AD9FDD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863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318051AF-E90F-4829-B8C5-BDAAB1A7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900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B131984-41B6-4E5D-B000-C789AF8B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937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E4F9376F-CF81-4A8D-8BA1-C94EA3E9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601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F6CC892E-AD51-4222-B514-116099F0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639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1E69FFC-F0B8-4A77-8A5C-16D7E0A8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676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06ED5E0-F367-4975-A56D-10A472CB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713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0CD3705A-3F59-4E72-9789-0FF7EBE2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751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57C6B43-AB00-4372-8363-7FEFBCC4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788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6DB53A2-C5A4-4B89-AB3D-5CD3B2B3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825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A716930F-E32E-4D4C-BEEB-0D7E7019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863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1B7B1C1-AC32-402A-B43C-317036CE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900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572A2723-DC02-43C0-8990-D3B5B771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937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8" name="32 × 7 action">
            <a:extLst xmlns:a="http://schemas.openxmlformats.org/drawingml/2006/main">
              <a:ext uri="{FF2B5EF4-FFF2-40B4-BE49-F238E27FC236}">
                <a16:creationId xmlns:a16="http://schemas.microsoft.com/office/drawing/2014/main" id="{811E1583-0FB7-4A6B-B217-AE91220D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601" y="4173379"/>
            <a:ext cx="700373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32 × 7 action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0C299C5D-31DD-432E-8C06-C2A7B61F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601" y="4296251"/>
            <a:ext cx="700373" cy="163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588D3EDA-2958-47B0-8F40-CFB18725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677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64D7A120-2A47-40D3-9AAC-1CFD3894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714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FF50A31-8A3B-488D-8A9F-F214B8C7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752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8E4AB094-AB59-4F0E-93EF-128ADA42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789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6FC5F27-3635-49D2-9AF6-A937037C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826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B72A9549-7E31-41AA-BE8A-E1C61A86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864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8100430F-1F8A-4D50-AABF-C3339166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01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EF41F40-910A-47B5-B84C-2D012440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938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1951E500-8334-4768-B391-BF102A82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976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BF11CB42-8F56-461F-9F3A-80A14D64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013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59DE89CC-A794-4BA4-B554-21172BB3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677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B8C01FFF-7F1C-4EED-9ACB-EDEB10A7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714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42EE7E38-0543-476B-831A-5DB3772A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752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64A961B9-4729-476E-8CAE-E44C133E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789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A2AC511B-7D1B-41F0-8291-31FE8985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826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BB0E03B2-FB85-4A75-8D0B-E2CD9CFA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864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7508BC18-91B1-4856-B36E-3DA0EF2F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01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CF4FFEA6-B4AA-4060-B064-EF707E5C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938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50C9E7A7-608A-4ADC-A131-D3F8351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976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3C41D055-1D01-4C70-89A5-725AB2B2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013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08D62BDF-E606-44AA-8BB9-1608BA86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677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70DCE62-0C4E-4374-9FC2-A10771DF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714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E3955F66-03C8-45C4-9743-6C97B62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752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B433F87C-C01C-423F-997E-BB25EC6F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789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E01E5419-4593-4473-89E4-540148FF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826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0C6DA4E3-3D7C-40D6-A09B-0D1396D3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864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F97D2097-40CB-4654-BC3B-AE5F3EB0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01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731B5654-1955-4393-BDCB-4D4C1669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938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C9D47E8C-CD72-4DAE-A1D1-1BD8C5FB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976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8C29609-9B7B-4D02-9E47-3EC247BF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013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0" name="future latent">
            <a:extLst xmlns:a="http://schemas.openxmlformats.org/drawingml/2006/main">
              <a:ext uri="{FF2B5EF4-FFF2-40B4-BE49-F238E27FC236}">
                <a16:creationId xmlns:a16="http://schemas.microsoft.com/office/drawing/2014/main" id="{A32AEB05-F11D-4AB6-A650-7D6B6CC5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677" y="4173379"/>
            <a:ext cx="700373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future latent</a:t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410433DB-B8CC-4184-98F9-0CEBE59B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677" y="4296251"/>
            <a:ext cx="700373" cy="163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2" name="Single request / single CUDA stream">
            <a:extLst xmlns:a="http://schemas.openxmlformats.org/drawingml/2006/main">
              <a:ext uri="{FF2B5EF4-FFF2-40B4-BE49-F238E27FC236}">
                <a16:creationId xmlns:a16="http://schemas.microsoft.com/office/drawing/2014/main" id="{98B9B001-665A-4BE6-BFD5-09309253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878" y="4521518"/>
            <a:ext cx="1863566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Single request / single CUDA stream</a:t>
            </a:r>
          </a:p>
        </p:txBody>
      </p:sp>
      <p:sp>
        <p:nvSpPr>
          <p:cNvPr id="293" name="What is optimized">
            <a:extLst xmlns:a="http://schemas.openxmlformats.org/drawingml/2006/main">
              <a:ext uri="{FF2B5EF4-FFF2-40B4-BE49-F238E27FC236}">
                <a16:creationId xmlns:a16="http://schemas.microsoft.com/office/drawing/2014/main" id="{1E65D8FA-4007-4035-93AD-11405669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066800"/>
            <a:ext cx="2886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What is optimized</a:t>
            </a:r>
          </a:p>
        </p:txBody>
      </p:sp>
      <p:sp>
        <p:nvSpPr>
          <p:cNvPr id="294" name="Shape-tuned decoder&#10;&#10;Stable H/U and weight scratch&#10;&#10;Query-local condit">
            <a:extLst xmlns:a="http://schemas.openxmlformats.org/drawingml/2006/main">
              <a:ext uri="{FF2B5EF4-FFF2-40B4-BE49-F238E27FC236}">
                <a16:creationId xmlns:a16="http://schemas.microsoft.com/office/drawing/2014/main" id="{4717BFC3-69E4-41FD-B3C6-A590E8D9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552575"/>
            <a:ext cx="2886075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Shape-tuned decoder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Stable H/U and weight scratch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Query-local condition cache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Manual CUDA Graph replay</a:t>
            </a:r>
          </a:p>
        </p:txBody>
      </p:sp>
      <p:sp>
        <p:nvSpPr>
          <p:cNvPr id="295" name="A4 is dequantized to BF16 before GEMM">
            <a:extLst xmlns:a="http://schemas.openxmlformats.org/drawingml/2006/main">
              <a:ext uri="{FF2B5EF4-FFF2-40B4-BE49-F238E27FC236}">
                <a16:creationId xmlns:a16="http://schemas.microsoft.com/office/drawing/2014/main" id="{A77DF766-B8D8-472F-873F-560DCDA0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05250"/>
            <a:ext cx="2886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96813"/>
                </a:solidFill>
                <a:latin typeface="Arial"/>
                <a:ea typeface="Arial"/>
                <a:cs typeface="Arial"/>
              </a:rPr>
              <a:t>A4 is dequantized to BF16 before GEMM</a:t>
            </a:r>
          </a:p>
        </p:txBody>
      </p:sp>
      <p:cxnSp>
        <p:nvCxn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51BEE121-938C-477D-B3BC-C060FB50271D}"/>
              </a:ext>
            </a:extLst>
          </p:cNvPr>
          <p:cNvCxnSpPr>
            <a:stCxn xmlns:a="http://schemas.openxmlformats.org/drawingml/2006/main" id="51" idx="3"/>
            <a:endCxn xmlns:a="http://schemas.openxmlformats.org/drawingml/2006/main" id="53" idx="3"/>
          </p:cNvCxnSpPr>
          <p:nvPr/>
        </p:nvCxnSpPr>
        <p:spPr>
          <a:xfrm xmlns:a="http://schemas.openxmlformats.org/drawingml/2006/main">
            <a:off x="2681193" y="2271618"/>
            <a:ext cx="228600" cy="522209"/>
          </a:xfrm>
          <a:prstGeom xmlns:a="http://schemas.openxmlformats.org/drawingml/2006/main" prst="bentConnector4">
            <a:avLst/>
          </a:prstGeom>
          <a:ln xmlns:a="http://schemas.openxmlformats.org/drawingml/2006/main" w="9525">
            <a:solidFill>
              <a:srgbClr val="18222F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Runtime: equally optimized BF16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E0AAD-3338-4E81-A51E-974D25FFD286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90950"/>
                <a:gridCol w="1371600"/>
                <a:gridCol w="1371600"/>
                <a:gridCol w="1371600"/>
              </a:tblGrid>
              <a:tr h="5619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Runtime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p50 (ms)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p95 (ms)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Peak GB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BF16 eager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1,475.3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1,552.1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25.131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BF16 + cache + Graph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540.9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542.9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25.488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Q0 C + decoder + buffer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896.1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899.2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16.914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  <p:sp>
        <p:nvSpPr>
          <p:cNvPr id="5" name="33.6% less peak allocated memory; 1.66× the latency">
            <a:extLst xmlns:a="http://schemas.openxmlformats.org/drawingml/2006/main">
              <a:ext uri="{FF2B5EF4-FFF2-40B4-BE49-F238E27FC236}">
                <a16:creationId xmlns:a16="http://schemas.microsoft.com/office/drawing/2014/main" id="{C824C4B3-E908-4E18-A248-44265DBA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33.6% less peak allocated memory; 1.66× the latency</a:t>
            </a:r>
          </a:p>
        </p:txBody>
      </p:sp>
      <p:sp>
        <p:nvSpPr>
          <p:cNvPr id="6" name="vs. BF16 + cache + Graph. The current win is memory, with a remaining ">
            <a:extLst xmlns:a="http://schemas.openxmlformats.org/drawingml/2006/main">
              <a:ext uri="{FF2B5EF4-FFF2-40B4-BE49-F238E27FC236}">
                <a16:creationId xmlns:a16="http://schemas.microsoft.com/office/drawing/2014/main" id="{5065DA68-5819-459D-854B-CC5EB7CE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vs. BF16 + cache + Graph. The current win is memory, with a remaining compute cost</a:t>
            </a:r>
          </a:p>
        </p:txBody>
      </p:sp>
      <p:sp>
        <p:nvSpPr>
          <p:cNvPr id="7" name="Same A100 allocation • 80 fixed queries • 3 warmups • prepared datum →">
            <a:extLst xmlns:a="http://schemas.openxmlformats.org/drawingml/2006/main">
              <a:ext uri="{FF2B5EF4-FFF2-40B4-BE49-F238E27FC236}">
                <a16:creationId xmlns:a16="http://schemas.microsoft.com/office/drawing/2014/main" id="{41DD06EC-F0B6-4643-8DD7-7887360F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Same A100 allocation • 80 fixed queries • 3 warmups • prepared datum → synchronized policy return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Engine ablation and remaining GPU work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C5F31-66DD-4909-9B0F-F2177A34A2FF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1524000"/>
                <a:gridCol w="1524000"/>
              </a:tblGrid>
              <a:tr h="4667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Runtime step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p50 ms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Peak GB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Layer decode, historical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3,532.9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16.551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A: stable workspace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3,693.6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16.592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B: + condition cache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3,047.0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16.689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C: + CUDA Graph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956.9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16.950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C + tuned decoder + buffer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887.1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16.914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  <p:sp>
        <p:nvSpPr>
          <p:cNvPr id="5" name="After Graph: BF16 GEMM ≈227 ms; decode ≈151 ms; FP32 GEMM ≈100 ms">
            <a:extLst xmlns:a="http://schemas.openxmlformats.org/drawingml/2006/main">
              <a:ext uri="{FF2B5EF4-FFF2-40B4-BE49-F238E27FC236}">
                <a16:creationId xmlns:a16="http://schemas.microsoft.com/office/drawing/2014/main" id="{C7B167BD-EB75-4A0A-A6E2-106E0807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790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After Graph: BF16 GEMM ≈227 ms; decode ≈151 ms; FP32 GEMM ≈100 ms</a:t>
            </a:r>
          </a:p>
        </p:txBody>
      </p:sp>
      <p:sp>
        <p:nvSpPr>
          <p:cNvPr id="6" name="Historical measurements across allocations; profiler category totals a">
            <a:extLst xmlns:a="http://schemas.openxmlformats.org/drawingml/2006/main">
              <a:ext uri="{FF2B5EF4-FFF2-40B4-BE49-F238E27FC236}">
                <a16:creationId xmlns:a16="http://schemas.microsoft.com/office/drawing/2014/main" id="{89A4EF2B-3FB0-44C8-9BD5-4C4EFB45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Historical measurements across allocations; profiler category totals are diagnostic, not an additive latency budget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Transfer to Cosmos Policy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AEF7F-AA5C-4994-90EF-C786D2FF655A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3000375"/>
                <a:gridCol w="3000375"/>
              </a:tblGrid>
              <a:tr h="4540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Fast-WAM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Cosmos Policy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Backbone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Video DiT + Action DiT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Shared joint video DiT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Target weights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614 Linear / 6.016B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280 Linear / 1.762B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Calibration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C80; R8 → VQ8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C80; R8 → VQ8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Control readout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Frozen action denoiser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Frozen joint-DiT suffix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Policy execution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10 video + 10 action steps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5 NFE; 16-step chunk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reserve action and imagined future in each model’s actual readout str">
            <a:extLst xmlns:a="http://schemas.openxmlformats.org/drawingml/2006/main">
              <a:ext uri="{FF2B5EF4-FFF2-40B4-BE49-F238E27FC236}">
                <a16:creationId xmlns:a16="http://schemas.microsoft.com/office/drawing/2014/main" id="{937896B8-B574-4907-AA74-B32DD436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Preserve action and imagined future in each model’s actual readout structure</a:t>
            </a:r>
          </a:p>
        </p:txBody>
      </p:sp>
      <p:sp>
        <p:nvSpPr>
          <p:cNvPr id="6" name="Cosmos: direct-policy mode; future slots 6/7, action slot 4; no separa">
            <a:extLst xmlns:a="http://schemas.openxmlformats.org/drawingml/2006/main">
              <a:ext uri="{FF2B5EF4-FFF2-40B4-BE49-F238E27FC236}">
                <a16:creationId xmlns:a16="http://schemas.microsoft.com/office/drawing/2014/main" id="{B9AE9B00-9F90-4574-90AF-C89D3351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Cosmos: direct-policy mode; future slots 6/7, action slot 4; no separate ActionDiT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Cosmos: accuracy and deployment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7112B-28A3-4B37-AAAF-F21CB9ACD4A7}"/>
              </a:ext>
            </a:extLst>
          </p:cNvPr>
          <p:cNvGraphicFramePr/>
          <p:nvPr/>
        </p:nvGraphicFramePr>
        <p:xfrm>
          <a:off xmlns:a="http://schemas.openxmlformats.org/drawingml/2006/main" x="609600" y="904875"/>
          <a:ext xmlns:a="http://schemas.openxmlformats.org/drawingml/2006/main" cx="7905750" cy="2609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1524000"/>
                <a:gridCol w="1524000"/>
              </a:tblGrid>
              <a:tr h="372836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Success / 280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233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83.21%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SpinQuant adapted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221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78.93%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QuaRot adapted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227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81.07%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SVDQuant adapted (rank 16)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78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27.86%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ViDiT-Q adapted (mixed W4/W8)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232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82.86%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Ours: VQ + reader-KL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230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82.14%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  <p:sp>
        <p:nvSpPr>
          <p:cNvPr id="5" name="Native sampler: 435.7 ms vs BF16 432.6 ms; packed DiT 1.242 vs 3.644 G">
            <a:extLst xmlns:a="http://schemas.openxmlformats.org/drawingml/2006/main">
              <a:ext uri="{FF2B5EF4-FFF2-40B4-BE49-F238E27FC236}">
                <a16:creationId xmlns:a16="http://schemas.microsoft.com/office/drawing/2014/main" id="{B8065643-2269-4212-B646-BDBC87E3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Native sampler: 435.7 ms vs BF16 432.6 ms; packed DiT 1.242 vs 3.644 GiB</a:t>
            </a:r>
          </a:p>
        </p:txBody>
      </p:sp>
      <p:sp>
        <p:nvSpPr>
          <p:cNvPr id="6" name="Closed-loop belongs to the reference checkpoint path. Native timings u">
            <a:extLst xmlns:a="http://schemas.openxmlformats.org/drawingml/2006/main">
              <a:ext uri="{FF2B5EF4-FFF2-40B4-BE49-F238E27FC236}">
                <a16:creationId xmlns:a16="http://schemas.microsoft.com/office/drawing/2014/main" id="{81F651B6-8880-4B97-A67B-2EB53024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Closed-loop belongs to the reference checkpoint path. Native timings use mixed cohorts; baseline fidelity remains unresolved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Standard LIBERO: 391 / 400 successes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97.75%">
            <a:extLst xmlns:a="http://schemas.openxmlformats.org/drawingml/2006/main">
              <a:ext uri="{FF2B5EF4-FFF2-40B4-BE49-F238E27FC236}">
                <a16:creationId xmlns:a16="http://schemas.microsoft.com/office/drawing/2014/main" id="{52AB889E-364D-45F4-8F28-DCA86459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97.75%</a:t>
            </a:r>
          </a:p>
        </p:txBody>
      </p:sp>
      <p:sp>
        <p:nvSpPr>
          <p:cNvPr id="5" name="Q0 + C + decoder + buffer&#10;No new training or calibration">
            <a:extLst xmlns:a="http://schemas.openxmlformats.org/drawingml/2006/main">
              <a:ext uri="{FF2B5EF4-FFF2-40B4-BE49-F238E27FC236}">
                <a16:creationId xmlns:a16="http://schemas.microsoft.com/office/drawing/2014/main" id="{6AECBAE4-0B05-423C-9095-438F497E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81200"/>
            <a:ext cx="3000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Q0 + C + decoder + buffer</a:t>
            </a:r>
          </a:p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No new training or calibration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121B7-9550-42A7-91A7-A3A44722840D}"/>
              </a:ext>
            </a:extLst>
          </p:cNvPr>
          <p:cNvGraphicFramePr/>
          <p:nvPr/>
        </p:nvGraphicFramePr>
        <p:xfrm>
          <a:off xmlns:a="http://schemas.openxmlformats.org/drawingml/2006/main" x="4000500" y="1066800"/>
          <a:ext xmlns:a="http://schemas.openxmlformats.org/drawingml/2006/main" cx="4514850" cy="2305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485900"/>
                <a:gridCol w="1314450"/>
              </a:tblGrid>
              <a:tr h="46101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Suite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Success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98 / 100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98.00%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99 / 100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99.00%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97 / 100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97.00%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97 / 100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97.00%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40 tasks × first 10 official initial states; fixed seed 42">
            <a:extLst xmlns:a="http://schemas.openxmlformats.org/drawingml/2006/main">
              <a:ext uri="{FF2B5EF4-FFF2-40B4-BE49-F238E27FC236}">
                <a16:creationId xmlns:a16="http://schemas.microsoft.com/office/drawing/2014/main" id="{A7467622-03E6-4FA2-AEB2-0D5111BA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40 tasks × first 10 official initial states; fixed seed 42</a:t>
            </a:r>
          </a:p>
        </p:txBody>
      </p:sp>
      <p:sp>
        <p:nvSpPr>
          <p:cNvPr id="8" name="6,415 policy calls; warm policy-call p50 = 899.5 ms">
            <a:extLst xmlns:a="http://schemas.openxmlformats.org/drawingml/2006/main">
              <a:ext uri="{FF2B5EF4-FFF2-40B4-BE49-F238E27FC236}">
                <a16:creationId xmlns:a16="http://schemas.microsoft.com/office/drawing/2014/main" id="{C44EABB0-4F9E-43BE-AC08-9C3C9C4B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790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6,415 policy calls; warm policy-call p50 = 899.5 ms</a:t>
            </a:r>
          </a:p>
        </p:txBody>
      </p:sp>
      <p:sp>
        <p:nvSpPr>
          <p:cNvPr id="9" name="One 400-episode panel; no matched BF16 or quantized baseline on these ">
            <a:extLst xmlns:a="http://schemas.openxmlformats.org/drawingml/2006/main">
              <a:ext uri="{FF2B5EF4-FFF2-40B4-BE49-F238E27FC236}">
                <a16:creationId xmlns:a16="http://schemas.microsoft.com/office/drawing/2014/main" id="{D5A6A12A-4219-43C4-9739-4007C4E8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One 400-episode panel; no matched BF16 or quantized baseline on these same 400 slots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A4: numerical error and BF16 computation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BE116-DE83-48C7-84E0-C4D72FE41F8F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762250"/>
                <a:gridCol w="2762250"/>
              </a:tblGrid>
              <a:tr h="5048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 of the system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Q0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direction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Weight storage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~4.27 effective bpw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Keep compact VQ codes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Weight operand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Decode to BF16 scratch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Decode to INT8 tiles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Activation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A4 → BF16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A8 → INT8 operand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Tensor Core arithmetic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BF16 × BF16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INT8 × INT8 → INT32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A4 does not currently unlock 4-bit Tensor Core throughput">
            <a:extLst xmlns:a="http://schemas.openxmlformats.org/drawingml/2006/main">
              <a:ext uri="{FF2B5EF4-FFF2-40B4-BE49-F238E27FC236}">
                <a16:creationId xmlns:a16="http://schemas.microsoft.com/office/drawing/2014/main" id="{09C1B95F-E699-4712-BD02-653C87A6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6813"/>
                </a:solidFill>
                <a:latin typeface="Arial"/>
                <a:ea typeface="Arial"/>
                <a:cs typeface="Arial"/>
              </a:rPr>
              <a:t>A4 does not currently unlock 4-bit Tensor Core throughput</a:t>
            </a:r>
          </a:p>
        </p:txBody>
      </p:sp>
      <p:sp>
        <p:nvSpPr>
          <p:cNvPr id="6" name="Storage bitwidth, represented values and arithmetic bitwidth must be r">
            <a:extLst xmlns:a="http://schemas.openxmlformats.org/drawingml/2006/main">
              <a:ext uri="{FF2B5EF4-FFF2-40B4-BE49-F238E27FC236}">
                <a16:creationId xmlns:a16="http://schemas.microsoft.com/office/drawing/2014/main" id="{030F7E2B-3FB0-4430-88B0-DB03412D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INT8 weight operands → INT8 MMA rate; A4-in-INT8 does not unlock INT4 throughput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A8: fixed-input fidelity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EA7AE-1DB4-4F1A-8716-2B58CADA49C6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371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62325"/>
                <a:gridCol w="1514475"/>
                <a:gridCol w="1514475"/>
                <a:gridCol w="1514475"/>
              </a:tblGrid>
              <a:tr h="47434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Activation / weight path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NMSE ↓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Gripper mismatch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Q0 A4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0.045606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0.061738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0.625%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Q0 A16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0.021785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0.020388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0.250%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Q0 A8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0.021604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0.021201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0.250%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H-only + INT8 row grid + A8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0.021726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0.020828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0.125%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A4 → A8: −52.6% motor RMSE; −65.7% future NMSE">
            <a:extLst xmlns:a="http://schemas.openxmlformats.org/drawingml/2006/main">
              <a:ext uri="{FF2B5EF4-FFF2-40B4-BE49-F238E27FC236}">
                <a16:creationId xmlns:a16="http://schemas.microsoft.com/office/drawing/2014/main" id="{2342A85C-1DF2-476C-A11F-78E8F65E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A4 → A8: −52.6% motor RMSE; −65.7% future NMSE</a:t>
            </a:r>
          </a:p>
        </p:txBody>
      </p:sp>
      <p:sp>
        <p:nvSpPr>
          <p:cNvPr id="6" name="All 40 contexts improve on both metrics vs A4; A8 is close to the A16 ">
            <a:extLst xmlns:a="http://schemas.openxmlformats.org/drawingml/2006/main">
              <a:ext uri="{FF2B5EF4-FFF2-40B4-BE49-F238E27FC236}">
                <a16:creationId xmlns:a16="http://schemas.microsoft.com/office/drawing/2014/main" id="{1AA4F400-3142-481E-8938-154EAC2F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All 40 contexts improve on both metrics vs A4; A8 is close to the A16 reference</a:t>
            </a:r>
          </a:p>
        </p:txBody>
      </p:sp>
      <p:sp>
        <p:nvSpPr>
          <p:cNvPr id="7" name="Decoded BF16 weights + fake-quant activation; 40 held-out contexts × 2">
            <a:extLst xmlns:a="http://schemas.openxmlformats.org/drawingml/2006/main">
              <a:ext uri="{FF2B5EF4-FFF2-40B4-BE49-F238E27FC236}">
                <a16:creationId xmlns:a16="http://schemas.microsoft.com/office/drawing/2014/main" id="{2F4374AE-02DD-41F5-A656-53C2242B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Decoded BF16 weights + fake-quant activation; 40 held-out contexts × 2 seeds; no native INT8 or new closed-loop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INT8 timing: fusion determines the gain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7126C-1388-4A14-9784-C6F34C30463A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1390650"/>
                <a:gridCol w="1390650"/>
                <a:gridCol w="2152650"/>
              </a:tblGrid>
              <a:tr h="5191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Weighted Linear cost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BF16 ms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INT8 ms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INT8 + surrounding ops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Video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191.1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110.4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366.3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28.4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30.4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139.8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All target Linears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219.5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140.9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506.1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  <p:sp>
        <p:nvSpPr>
          <p:cNvPr id="5" name="Pure GEMM: 1.56× faster; current surrounding path: 0.43×">
            <a:extLst xmlns:a="http://schemas.openxmlformats.org/drawingml/2006/main">
              <a:ext uri="{FF2B5EF4-FFF2-40B4-BE49-F238E27FC236}">
                <a16:creationId xmlns:a16="http://schemas.microsoft.com/office/drawing/2014/main" id="{D6656033-9F77-432D-A60C-9CFE8DB1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Pure GEMM: 1.56× faster; current surrounding path: 0.43×</a:t>
            </a:r>
          </a:p>
        </p:txBody>
      </p:sp>
      <p:sp>
        <p:nvSpPr>
          <p:cNvPr id="6" name="Fuse quantization, decode and epilogue; use shape-dependent fallback f">
            <a:extLst xmlns:a="http://schemas.openxmlformats.org/drawingml/2006/main">
              <a:ext uri="{FF2B5EF4-FFF2-40B4-BE49-F238E27FC236}">
                <a16:creationId xmlns:a16="http://schemas.microsoft.com/office/drawing/2014/main" id="{D8CC79C7-4FC0-40FA-9B0B-9621BD9F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7905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Fuse quantization, decode and epilogue; retain BF16 for small GEMMs</a:t>
            </a:r>
          </a:p>
        </p:txBody>
      </p:sp>
      <p:sp>
        <p:nvSpPr>
          <p:cNvPr id="7" name="Shape microbenchmarks weighted by cached call counts; not a measured n">
            <a:extLst xmlns:a="http://schemas.openxmlformats.org/drawingml/2006/main">
              <a:ext uri="{FF2B5EF4-FFF2-40B4-BE49-F238E27FC236}">
                <a16:creationId xmlns:a16="http://schemas.microsoft.com/office/drawing/2014/main" id="{7E0FA1BF-5AC4-46B6-BEAC-95C0387C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Shape microbenchmarks weighted by cached call counts; not a measured native INT8 full-policy latency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Native INT8: a compatible scale contract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arget execution">
            <a:extLst xmlns:a="http://schemas.openxmlformats.org/drawingml/2006/main">
              <a:ext uri="{FF2B5EF4-FFF2-40B4-BE49-F238E27FC236}">
                <a16:creationId xmlns:a16="http://schemas.microsoft.com/office/drawing/2014/main" id="{DF1B4A95-8D68-4E29-8FD2-3C7A2C45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Target execution</a:t>
            </a:r>
          </a:p>
        </p:txBody>
      </p:sp>
      <p:sp>
        <p:nvSpPr>
          <p:cNvPr id="5" name="Packed VQ → integer-compatible tile decode → INT8 × INT8 MMA → INT32 a">
            <a:extLst xmlns:a="http://schemas.openxmlformats.org/drawingml/2006/main">
              <a:ext uri="{FF2B5EF4-FFF2-40B4-BE49-F238E27FC236}">
                <a16:creationId xmlns:a16="http://schemas.microsoft.com/office/drawing/2014/main" id="{0CD74DA7-051C-4F16-BFA9-4F8093BD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90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Packed VQ → integer-compatible tile decode → INT8 × INT8 MMA → INT32 accumulation → scaled BF16 output</a:t>
            </a:r>
          </a:p>
        </p:txBody>
      </p:sp>
      <p:sp>
        <p:nvSpPr>
          <p:cNvPr id="6" name="Required representation change">
            <a:extLst xmlns:a="http://schemas.openxmlformats.org/drawingml/2006/main">
              <a:ext uri="{FF2B5EF4-FFF2-40B4-BE49-F238E27FC236}">
                <a16:creationId xmlns:a16="http://schemas.microsoft.com/office/drawing/2014/main" id="{2889B18E-91FA-42C5-8809-EF35203A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Required representation change</a:t>
            </a:r>
          </a:p>
        </p:txBody>
      </p:sp>
      <p:sp>
        <p:nvSpPr>
          <p:cNvPr id="7" name="Constrain the reconstructed weight to an INT8 grid with a scale that m">
            <a:extLst xmlns:a="http://schemas.openxmlformats.org/drawingml/2006/main">
              <a:ext uri="{FF2B5EF4-FFF2-40B4-BE49-F238E27FC236}">
                <a16:creationId xmlns:a16="http://schemas.microsoft.com/office/drawing/2014/main" id="{BCB550C8-474A-42C0-A4AC-79792B06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790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 the reconstructed weights on an INT8 grid with GEMM-compatible scales</a:t>
            </a:r>
          </a:p>
        </p:txBody>
      </p:sp>
      <p:sp>
        <p:nvSpPr>
          <p:cNvPr id="8" name="B32 scales vary along K: one post-GEMM scale is generally invalid">
            <a:extLst xmlns:a="http://schemas.openxmlformats.org/drawingml/2006/main">
              <a:ext uri="{FF2B5EF4-FFF2-40B4-BE49-F238E27FC236}">
                <a16:creationId xmlns:a16="http://schemas.microsoft.com/office/drawing/2014/main" id="{EF545F5B-24AD-4AE4-A552-165396E8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6813"/>
                </a:solidFill>
                <a:latin typeface="Arial"/>
                <a:ea typeface="Arial"/>
                <a:cs typeface="Arial"/>
              </a:rPr>
              <a:t>B32 scales vary along K: one post-GEMM scale is generally invalid</a:t>
            </a:r>
          </a:p>
        </p:txBody>
      </p:sp>
      <p:sp>
        <p:nvSpPr>
          <p:cNvPr id="9" name="Compare GEMM-compatible row scales against groupwise scaled partial ac">
            <a:extLst xmlns:a="http://schemas.openxmlformats.org/drawingml/2006/main">
              <a:ext uri="{FF2B5EF4-FFF2-40B4-BE49-F238E27FC236}">
                <a16:creationId xmlns:a16="http://schemas.microsoft.com/office/drawing/2014/main" id="{F433EDBD-E785-4425-AD88-B9180D32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90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Compare GEMM-compatible row scales against groupwise scaled partial accumulation</a:t>
            </a:r>
          </a:p>
        </p:txBody>
      </p:sp>
      <p:sp>
        <p:nvSpPr>
          <p:cNvPr id="10" name="A100 dense peak: INT8 624 TOPS vs BF16 312 TFLOPS (theoretical 2×)">
            <a:extLst xmlns:a="http://schemas.openxmlformats.org/drawingml/2006/main">
              <a:ext uri="{FF2B5EF4-FFF2-40B4-BE49-F238E27FC236}">
                <a16:creationId xmlns:a16="http://schemas.microsoft.com/office/drawing/2014/main" id="{3F0AD480-46CC-4DEE-9CEB-7440A89B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790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A100 dense peak: INT8 624 TOPS vs BF16 312 TFLOPS (theoretical 2×)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Comparison matrix: storage and compute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22A3A-B9D5-4C15-91DC-DD374F237B62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1200150"/>
                <a:gridCol w="1714500"/>
                <a:gridCol w="2828925"/>
              </a:tblGrid>
              <a:tr h="6286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Storage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Actual compute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to answer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Main: W4A8 families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~4 bpw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INT8 on A100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Better control / future fidelity?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W4A4 native variants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~4–4.8 bpw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INT4 (where supported)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Accuracy gained at 8-bit compute cost?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W8A8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~8 bpw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INT8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Similar fidelity with ~half weight storage?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lanned families: SmoothQuant, QServe/QQQ-style, ViDiT-Q and diffusion">
            <a:extLst xmlns:a="http://schemas.openxmlformats.org/drawingml/2006/main">
              <a:ext uri="{FF2B5EF4-FFF2-40B4-BE49-F238E27FC236}">
                <a16:creationId xmlns:a16="http://schemas.microsoft.com/office/drawing/2014/main" id="{AD2CE28E-4EA3-424C-9B7E-E0D1C2CA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790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Planned families: SmoothQuant, QServe/QQQ-style, ViDiT-Q and diffusion PTQ</a:t>
            </a:r>
          </a:p>
        </p:txBody>
      </p:sp>
      <p:sp>
        <p:nvSpPr>
          <p:cNvPr id="6" name="Treat these as adaptation candidates. Count scales, codebooks, residua">
            <a:extLst xmlns:a="http://schemas.openxmlformats.org/drawingml/2006/main">
              <a:ext uri="{FF2B5EF4-FFF2-40B4-BE49-F238E27FC236}">
                <a16:creationId xmlns:a16="http://schemas.microsoft.com/office/drawing/2014/main" id="{F0449032-C755-45C0-8A38-FA2F7FF2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Treat these as adaptation candidates. Count scales, codebooks, residuals and precision exceptions in effective bpw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Weight-only and low-bpw comparisons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BE8BA-145E-4582-AD28-4D2C402137D4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066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850"/>
                <a:gridCol w="1628775"/>
                <a:gridCol w="2362200"/>
                <a:gridCol w="2447925"/>
              </a:tblGrid>
              <a:tr h="6889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Storage / compute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Candidate families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Testable claim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Weight-only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~4 bpw / BF16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GPTQ / AWQ / AQLM / QuIP#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storage, quality–latency tradeoff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Low-bpw + A8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2–3 bpw / INT8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Scalar W2/W3; AQLM / QuIP# + A8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Does VQ retain control at lower storage?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Method family names do not define an executable backend">
            <a:extLst xmlns:a="http://schemas.openxmlformats.org/drawingml/2006/main">
              <a:ext uri="{FF2B5EF4-FFF2-40B4-BE49-F238E27FC236}">
                <a16:creationId xmlns:a16="http://schemas.microsoft.com/office/drawing/2014/main" id="{C68782A6-15FA-4E76-BCB6-5A2235C2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Method family names do not define an executable backend</a:t>
            </a:r>
          </a:p>
        </p:txBody>
      </p:sp>
      <p:sp>
        <p:nvSpPr>
          <p:cNvPr id="6" name="Separate locally measured points, adapted implementations and publishe">
            <a:extLst xmlns:a="http://schemas.openxmlformats.org/drawingml/2006/main">
              <a:ext uri="{FF2B5EF4-FFF2-40B4-BE49-F238E27FC236}">
                <a16:creationId xmlns:a16="http://schemas.microsoft.com/office/drawing/2014/main" id="{9A4F6E56-87DD-46F9-8C4E-9B026692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790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Separate local measurements, adaptations and published results</a:t>
            </a:r>
          </a:p>
        </p:txBody>
      </p:sp>
      <p:sp>
        <p:nvSpPr>
          <p:cNvPr id="7" name="Do not assume scalar methods collapse at 2–3 bpw; test that hypothesis">
            <a:extLst xmlns:a="http://schemas.openxmlformats.org/drawingml/2006/main">
              <a:ext uri="{FF2B5EF4-FFF2-40B4-BE49-F238E27FC236}">
                <a16:creationId xmlns:a16="http://schemas.microsoft.com/office/drawing/2014/main" id="{8A1FB528-C385-4284-8E7A-ED37589A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Do not assume scalar methods collapse at 2–3 bpw; test that hypothesis on a matched protocol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Causal ablations for INT8-compatible VQ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74C23-87EC-483E-B2DD-7D3FAD65829F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819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19275"/>
                <a:gridCol w="3381375"/>
                <a:gridCol w="2705100"/>
              </a:tblGrid>
              <a:tr h="4699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Factor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Controlled comparison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obtained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Activation precision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Q0: A4 / A8 / A16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Cost of activation quantization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Integer grid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coordinates + A8; grid on/off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Extra error from integer compatibility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Transform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grid + A8; H-only / H + U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Quality gain vs transform overhead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Loss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init / budget: A+Z / A+Z+KL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Control-readout supervision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Kernel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numeric path: separate / fused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Runtime benefit from fusion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reeze data, indices, budget and checkpoint rule before evaluation">
            <a:extLst xmlns:a="http://schemas.openxmlformats.org/drawingml/2006/main">
              <a:ext uri="{FF2B5EF4-FFF2-40B4-BE49-F238E27FC236}">
                <a16:creationId xmlns:a16="http://schemas.microsoft.com/office/drawing/2014/main" id="{EE28F4CA-421B-4424-A5C1-F71C3128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7905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Freeze data, indices, budget and checkpoint rule before evaluation</a:t>
            </a:r>
          </a:p>
        </p:txBody>
      </p:sp>
      <p:sp>
        <p:nvSpPr>
          <p:cNvPr id="6" name="Cross factor effects only after the single-factor checks; never select">
            <a:extLst xmlns:a="http://schemas.openxmlformats.org/drawingml/2006/main">
              <a:ext uri="{FF2B5EF4-FFF2-40B4-BE49-F238E27FC236}">
                <a16:creationId xmlns:a16="http://schemas.microsoft.com/office/drawing/2014/main" id="{7EA25C66-FCA9-4126-AA08-EBDB8574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Cross factor effects only after the single-factor checks; never select checkpoints on the held-out panel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Experiment plan and decision criteria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BD4D2-FEA5-467D-A438-1A0EB6D5796E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581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3448050"/>
                <a:gridCol w="2819400"/>
              </a:tblGrid>
              <a:tr h="51625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85725" marR="85725" marT="57150" marB="571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Protocol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1. Representation</a:t>
                      </a:r>
                    </a:p>
                  </a:txBody>
                  <a:tcPr marL="85725" marR="85725" marT="57150" marB="571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C80 calibration; frozen 40-context proxy panel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Preserve action + future fidelity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2. Native kernel</a:t>
                      </a:r>
                    </a:p>
                  </a:txBody>
                  <a:tcPr marL="85725" marR="85725" marT="57150" marB="571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A100; same queries, cache and Graph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Beat optimized BF16 latency at lower peak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3. Closed-loop</a:t>
                      </a:r>
                    </a:p>
                  </a:txBody>
                  <a:tcPr marL="85725" marR="85725" marT="57150" marB="571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Paired standard LIBERO + perturbation panels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Confirm the fixed-input gains transfer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4. Replication</a:t>
                      </a:r>
                    </a:p>
                  </a:txBody>
                  <a:tcPr marL="85725" marR="85725" marT="57150" marB="571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Calibration seeds + GPU timing blocks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Quality / memory / latency frontier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redeclare success-rate margins; report paired differences and uncerta">
            <a:extLst xmlns:a="http://schemas.openxmlformats.org/drawingml/2006/main">
              <a:ext uri="{FF2B5EF4-FFF2-40B4-BE49-F238E27FC236}">
                <a16:creationId xmlns:a16="http://schemas.microsoft.com/office/drawing/2014/main" id="{2E604F9D-C208-4C61-A95D-6261985C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Predefine margins; report paired effects with uncertainty</a:t>
            </a:r>
          </a:p>
        </p:txBody>
      </p:sp>
      <p:sp>
        <p:nvSpPr>
          <p:cNvPr id="6" name="Proposed work only. Interleave timing within GPU/run blocks; retain fa">
            <a:extLst xmlns:a="http://schemas.openxmlformats.org/drawingml/2006/main">
              <a:ext uri="{FF2B5EF4-FFF2-40B4-BE49-F238E27FC236}">
                <a16:creationId xmlns:a16="http://schemas.microsoft.com/office/drawing/2014/main" id="{B3C9878D-F9CF-46CC-864E-F9349F73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Proposed work only. Interleave timing within GPU/run blocks; retain failures and all precision exceptions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Current conclusion and discussion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Established">
            <a:extLst xmlns:a="http://schemas.openxmlformats.org/drawingml/2006/main">
              <a:ext uri="{FF2B5EF4-FFF2-40B4-BE49-F238E27FC236}">
                <a16:creationId xmlns:a16="http://schemas.microsoft.com/office/drawing/2014/main" id="{576911A5-1FA4-49E1-B4BB-AA56BB1B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Established</a:t>
            </a:r>
          </a:p>
        </p:txBody>
      </p:sp>
      <p:sp>
        <p:nvSpPr>
          <p:cNvPr id="5" name="Q0 retains strong closed-loop performance and reduces resident memory;">
            <a:extLst xmlns:a="http://schemas.openxmlformats.org/drawingml/2006/main">
              <a:ext uri="{FF2B5EF4-FFF2-40B4-BE49-F238E27FC236}">
                <a16:creationId xmlns:a16="http://schemas.microsoft.com/office/drawing/2014/main" id="{35821C82-231E-4663-B0A2-AB4D85DF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90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Q0 retains strong closed-loop performance and reduces resident memory; the engine preserves Q0 outputs</a:t>
            </a:r>
          </a:p>
        </p:txBody>
      </p:sp>
      <p:sp>
        <p:nvSpPr>
          <p:cNvPr id="6" name="Remaining limitation">
            <a:extLst xmlns:a="http://schemas.openxmlformats.org/drawingml/2006/main">
              <a:ext uri="{FF2B5EF4-FFF2-40B4-BE49-F238E27FC236}">
                <a16:creationId xmlns:a16="http://schemas.microsoft.com/office/drawing/2014/main" id="{89684D24-BE21-49A0-BF75-209EADFA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Remaining limitation</a:t>
            </a:r>
          </a:p>
        </p:txBody>
      </p:sp>
      <p:sp>
        <p:nvSpPr>
          <p:cNvPr id="7" name="Current A4 adds quantization error while the actual GEMM stays BF16. O">
            <a:extLst xmlns:a="http://schemas.openxmlformats.org/drawingml/2006/main">
              <a:ext uri="{FF2B5EF4-FFF2-40B4-BE49-F238E27FC236}">
                <a16:creationId xmlns:a16="http://schemas.microsoft.com/office/drawing/2014/main" id="{6CA44465-307F-4235-B37B-6A9DE603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790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Current A4 adds quantization error while the actual GEMM stays BF16. Optimized BF16 is faster</a:t>
            </a:r>
          </a:p>
        </p:txBody>
      </p:sp>
      <p:sp>
        <p:nvSpPr>
          <p:cNvPr id="8" name="Next target: ~4 bpw VQ storage + A8 + a fused native INT8 path">
            <a:extLst xmlns:a="http://schemas.openxmlformats.org/drawingml/2006/main">
              <a:ext uri="{FF2B5EF4-FFF2-40B4-BE49-F238E27FC236}">
                <a16:creationId xmlns:a16="http://schemas.microsoft.com/office/drawing/2014/main" id="{03BDE328-1C0B-4500-9910-C37DE279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Next: ~4 bpw VQ storage + A8 + fused INT8</a:t>
            </a:r>
          </a:p>
        </p:txBody>
      </p:sp>
      <p:sp>
        <p:nvSpPr>
          <p:cNvPr id="9" name="The key evidence must combine matched quality, lower memory and measur">
            <a:extLst xmlns:a="http://schemas.openxmlformats.org/drawingml/2006/main">
              <a:ext uri="{FF2B5EF4-FFF2-40B4-BE49-F238E27FC236}">
                <a16:creationId xmlns:a16="http://schemas.microsoft.com/office/drawing/2014/main" id="{32778FD9-CBFA-4FC5-AD4C-860EA260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0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The key evidence must combine matched quality, lower memory and measured latency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2026-10-28T00:11:17.9170000Z</dcterms:created>
  <dcterms:modified xsi:type="dcterms:W3CDTF">2026-10-28T00:11:17.9170000Z</dcterms:modified>
</coreProperties>
</file>